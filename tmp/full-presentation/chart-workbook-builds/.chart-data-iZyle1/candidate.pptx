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3.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4.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5.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6.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7.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8.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notesSlides/notesSlide31.xml" ContentType="application/vnd.openxmlformats-officedocument.presentationml.notesSlide+xml"/>
  <Override PartName="/ppt/slides/slide32.xml" ContentType="application/vnd.openxmlformats-officedocument.presentationml.slide+xml"/>
  <Override PartName="/ppt/slides/charts/chart11.xml" ContentType="application/vnd.openxmlformats-officedocument.drawingml.chart+xml"/>
  <Override PartName="/ppt/notesSlides/notesSlide32.xml" ContentType="application/vnd.openxmlformats-officedocument.presentationml.notesSlide+xml"/>
  <Override PartName="/ppt/slides/slide33.xml" ContentType="application/vnd.openxmlformats-officedocument.presentationml.slide+xml"/>
  <Override PartName="/ppt/slides/charts/chart12.xml" ContentType="application/vnd.openxmlformats-officedocument.drawingml.chart+xml"/>
  <Override PartName="/ppt/notesSlides/notesSlide33.xml" ContentType="application/vnd.openxmlformats-officedocument.presentationml.notesSlide+xml"/>
  <Override PartName="/ppt/slides/slide34.xml" ContentType="application/vnd.openxmlformats-officedocument.presentationml.slide+xml"/>
  <Override PartName="/ppt/slides/charts/chart13.xml" ContentType="application/vnd.openxmlformats-officedocument.drawingml.chart+xml"/>
  <Override PartName="/ppt/notesSlides/notesSlide34.xml" ContentType="application/vnd.openxmlformats-officedocument.presentationml.notesSlide+xml"/>
  <Override PartName="/ppt/slides/slide35.xml" ContentType="application/vnd.openxmlformats-officedocument.presentationml.slide+xml"/>
  <Override PartName="/ppt/slides/charts/chart14.xml" ContentType="application/vnd.openxmlformats-officedocument.drawingml.chart+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ca1b51f925842ab" /><Relationship Type="http://schemas.openxmlformats.org/officeDocument/2006/relationships/extended-properties" Target="/docProps/app.xml" Id="Rd199d7bd28eb4346" /><Relationship Type="http://schemas.openxmlformats.org/officeDocument/2006/relationships/officeDocument" Target="/ppt/presentation.xml" Id="R4a4a531ad01f4691" /></Relationships>
</file>

<file path=ppt/presentation.xml><?xml version="1.0" encoding="utf-8"?>
<p:presentation xmlns:p="http://schemas.openxmlformats.org/presentationml/2006/main">
  <p:sldMasterIdLst>
    <p:sldMasterId xmlns:r="http://schemas.openxmlformats.org/officeDocument/2006/relationships" id="2147483648" r:id="R3bbad8b14b894503"/>
  </p:sldMasterIdLst>
  <p:notesMasterIdLst>
    <p:notesMasterId xmlns:r="http://schemas.openxmlformats.org/officeDocument/2006/relationships" r:id="R421918d0d7b14e1f"/>
  </p:notesMasterIdLst>
  <p:sldIdLst>
    <p:sldId xmlns:r="http://schemas.openxmlformats.org/officeDocument/2006/relationships" id="256" r:id="R6f233d5cd704452d"/>
    <p:sldId xmlns:r="http://schemas.openxmlformats.org/officeDocument/2006/relationships" id="257" r:id="Rccb5fff48f1d4674"/>
    <p:sldId xmlns:r="http://schemas.openxmlformats.org/officeDocument/2006/relationships" id="258" r:id="R3c7e59ef70cc492a"/>
    <p:sldId xmlns:r="http://schemas.openxmlformats.org/officeDocument/2006/relationships" id="259" r:id="R48951dba064c4f0b"/>
    <p:sldId xmlns:r="http://schemas.openxmlformats.org/officeDocument/2006/relationships" id="260" r:id="R63097da4365f4efc"/>
    <p:sldId xmlns:r="http://schemas.openxmlformats.org/officeDocument/2006/relationships" id="261" r:id="R28eb15e84d8241b3"/>
    <p:sldId xmlns:r="http://schemas.openxmlformats.org/officeDocument/2006/relationships" id="262" r:id="Re45e73ce1a6f4ca8"/>
    <p:sldId xmlns:r="http://schemas.openxmlformats.org/officeDocument/2006/relationships" id="263" r:id="Rf22cfff5941f4bb5"/>
    <p:sldId xmlns:r="http://schemas.openxmlformats.org/officeDocument/2006/relationships" id="264" r:id="R2a304a4f315a4c93"/>
    <p:sldId xmlns:r="http://schemas.openxmlformats.org/officeDocument/2006/relationships" id="265" r:id="R87d05335b7e84c12"/>
    <p:sldId xmlns:r="http://schemas.openxmlformats.org/officeDocument/2006/relationships" id="266" r:id="R6d43fcc90bbf4b9b"/>
    <p:sldId xmlns:r="http://schemas.openxmlformats.org/officeDocument/2006/relationships" id="267" r:id="Rf9ed440c40fd4a6f"/>
    <p:sldId xmlns:r="http://schemas.openxmlformats.org/officeDocument/2006/relationships" id="268" r:id="R7dc9f71175864cb7"/>
    <p:sldId xmlns:r="http://schemas.openxmlformats.org/officeDocument/2006/relationships" id="269" r:id="R518c7c411bca4965"/>
    <p:sldId xmlns:r="http://schemas.openxmlformats.org/officeDocument/2006/relationships" id="270" r:id="R341308d38e824391"/>
    <p:sldId xmlns:r="http://schemas.openxmlformats.org/officeDocument/2006/relationships" id="271" r:id="Rc53e2c7c30d241ad"/>
    <p:sldId xmlns:r="http://schemas.openxmlformats.org/officeDocument/2006/relationships" id="272" r:id="Ree294948b0864980"/>
    <p:sldId xmlns:r="http://schemas.openxmlformats.org/officeDocument/2006/relationships" id="273" r:id="R1fefea40bc7248e0"/>
    <p:sldId xmlns:r="http://schemas.openxmlformats.org/officeDocument/2006/relationships" id="274" r:id="R580fd2a8daf64fa8"/>
    <p:sldId xmlns:r="http://schemas.openxmlformats.org/officeDocument/2006/relationships" id="275" r:id="R5ae73befd03d4906"/>
    <p:sldId xmlns:r="http://schemas.openxmlformats.org/officeDocument/2006/relationships" id="276" r:id="R288fd3100aa04ace"/>
    <p:sldId xmlns:r="http://schemas.openxmlformats.org/officeDocument/2006/relationships" id="277" r:id="Rae65189a300e4e90"/>
    <p:sldId xmlns:r="http://schemas.openxmlformats.org/officeDocument/2006/relationships" id="278" r:id="R040b97851ebf45ef"/>
    <p:sldId xmlns:r="http://schemas.openxmlformats.org/officeDocument/2006/relationships" id="279" r:id="R9cca090d6d064585"/>
    <p:sldId xmlns:r="http://schemas.openxmlformats.org/officeDocument/2006/relationships" id="280" r:id="R29d1924d02814baf"/>
    <p:sldId xmlns:r="http://schemas.openxmlformats.org/officeDocument/2006/relationships" id="281" r:id="R4ca4c0398f11407f"/>
    <p:sldId xmlns:r="http://schemas.openxmlformats.org/officeDocument/2006/relationships" id="282" r:id="Re2aeae98c1534006"/>
    <p:sldId xmlns:r="http://schemas.openxmlformats.org/officeDocument/2006/relationships" id="283" r:id="Rbff4edc10fb246c1"/>
    <p:sldId xmlns:r="http://schemas.openxmlformats.org/officeDocument/2006/relationships" id="284" r:id="R22f8ac8b17784d28"/>
    <p:sldId xmlns:r="http://schemas.openxmlformats.org/officeDocument/2006/relationships" id="285" r:id="R3ad95f4d6ee04420"/>
    <p:sldId xmlns:r="http://schemas.openxmlformats.org/officeDocument/2006/relationships" id="286" r:id="Rf75648321c0144e1"/>
    <p:sldId xmlns:r="http://schemas.openxmlformats.org/officeDocument/2006/relationships" id="287" r:id="R85c169344acd4752"/>
    <p:sldId xmlns:r="http://schemas.openxmlformats.org/officeDocument/2006/relationships" id="288" r:id="R8face59b867e4d3b"/>
    <p:sldId xmlns:r="http://schemas.openxmlformats.org/officeDocument/2006/relationships" id="289" r:id="Rcab6ac2b05e64dca"/>
    <p:sldId xmlns:r="http://schemas.openxmlformats.org/officeDocument/2006/relationships" id="290" r:id="Rc13a17c2003c4023"/>
    <p:sldId xmlns:r="http://schemas.openxmlformats.org/officeDocument/2006/relationships" id="291" r:id="Re437687c38274034"/>
    <p:sldId xmlns:r="http://schemas.openxmlformats.org/officeDocument/2006/relationships" id="292" r:id="Rd00c2b5a8d2e40fa"/>
    <p:sldId xmlns:r="http://schemas.openxmlformats.org/officeDocument/2006/relationships" id="293" r:id="Rdd6b1e2e6ab34e32"/>
    <p:sldId xmlns:r="http://schemas.openxmlformats.org/officeDocument/2006/relationships" id="294" r:id="R82a3cbd173914d8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a39f5b3a44344f8" /><Relationship Type="http://schemas.openxmlformats.org/officeDocument/2006/relationships/slideMaster" Target="/ppt/slideMasters/slideMaster1.xml" Id="R3bbad8b14b894503" /><Relationship Type="http://schemas.openxmlformats.org/officeDocument/2006/relationships/notesMaster" Target="/ppt/notesMasters/notesMaster1.xml" Id="R421918d0d7b14e1f" /><Relationship Type="http://schemas.openxmlformats.org/officeDocument/2006/relationships/presProps" Target="/ppt/presProps.xml" Id="Re7806b85b66f4042" /><Relationship Type="http://schemas.openxmlformats.org/officeDocument/2006/relationships/tableStyles" Target="/ppt/tableStyles.xml" Id="Ra396263b2c384140" /><Relationship Type="http://schemas.openxmlformats.org/officeDocument/2006/relationships/slide" Target="/ppt/slides/slide1.xml" Id="R6f233d5cd704452d" /><Relationship Type="http://schemas.openxmlformats.org/officeDocument/2006/relationships/slide" Target="/ppt/slides/slide2.xml" Id="Rccb5fff48f1d4674" /><Relationship Type="http://schemas.openxmlformats.org/officeDocument/2006/relationships/slide" Target="/ppt/slides/slide3.xml" Id="R3c7e59ef70cc492a" /><Relationship Type="http://schemas.openxmlformats.org/officeDocument/2006/relationships/slide" Target="/ppt/slides/slide4.xml" Id="R48951dba064c4f0b" /><Relationship Type="http://schemas.openxmlformats.org/officeDocument/2006/relationships/slide" Target="/ppt/slides/slide5.xml" Id="R63097da4365f4efc" /><Relationship Type="http://schemas.openxmlformats.org/officeDocument/2006/relationships/slide" Target="/ppt/slides/slide6.xml" Id="R28eb15e84d8241b3" /><Relationship Type="http://schemas.openxmlformats.org/officeDocument/2006/relationships/slide" Target="/ppt/slides/slide7.xml" Id="Re45e73ce1a6f4ca8" /><Relationship Type="http://schemas.openxmlformats.org/officeDocument/2006/relationships/slide" Target="/ppt/slides/slide8.xml" Id="Rf22cfff5941f4bb5" /><Relationship Type="http://schemas.openxmlformats.org/officeDocument/2006/relationships/slide" Target="/ppt/slides/slide9.xml" Id="R2a304a4f315a4c93" /><Relationship Type="http://schemas.openxmlformats.org/officeDocument/2006/relationships/slide" Target="/ppt/slides/slide10.xml" Id="R87d05335b7e84c12" /><Relationship Type="http://schemas.openxmlformats.org/officeDocument/2006/relationships/slide" Target="/ppt/slides/slide11.xml" Id="R6d43fcc90bbf4b9b" /><Relationship Type="http://schemas.openxmlformats.org/officeDocument/2006/relationships/slide" Target="/ppt/slides/slide12.xml" Id="Rf9ed440c40fd4a6f" /><Relationship Type="http://schemas.openxmlformats.org/officeDocument/2006/relationships/slide" Target="/ppt/slides/slide13.xml" Id="R7dc9f71175864cb7" /><Relationship Type="http://schemas.openxmlformats.org/officeDocument/2006/relationships/slide" Target="/ppt/slides/slide14.xml" Id="R518c7c411bca4965" /><Relationship Type="http://schemas.openxmlformats.org/officeDocument/2006/relationships/slide" Target="/ppt/slides/slide15.xml" Id="R341308d38e824391" /><Relationship Type="http://schemas.openxmlformats.org/officeDocument/2006/relationships/slide" Target="/ppt/slides/slide16.xml" Id="Rc53e2c7c30d241ad" /><Relationship Type="http://schemas.openxmlformats.org/officeDocument/2006/relationships/slide" Target="/ppt/slides/slide17.xml" Id="Ree294948b0864980" /><Relationship Type="http://schemas.openxmlformats.org/officeDocument/2006/relationships/slide" Target="/ppt/slides/slide18.xml" Id="R1fefea40bc7248e0" /><Relationship Type="http://schemas.openxmlformats.org/officeDocument/2006/relationships/slide" Target="/ppt/slides/slide19.xml" Id="R580fd2a8daf64fa8" /><Relationship Type="http://schemas.openxmlformats.org/officeDocument/2006/relationships/slide" Target="/ppt/slides/slide20.xml" Id="R5ae73befd03d4906" /><Relationship Type="http://schemas.openxmlformats.org/officeDocument/2006/relationships/slide" Target="/ppt/slides/slide21.xml" Id="R288fd3100aa04ace" /><Relationship Type="http://schemas.openxmlformats.org/officeDocument/2006/relationships/slide" Target="/ppt/slides/slide22.xml" Id="Rae65189a300e4e90" /><Relationship Type="http://schemas.openxmlformats.org/officeDocument/2006/relationships/slide" Target="/ppt/slides/slide23.xml" Id="R040b97851ebf45ef" /><Relationship Type="http://schemas.openxmlformats.org/officeDocument/2006/relationships/slide" Target="/ppt/slides/slide24.xml" Id="R9cca090d6d064585" /><Relationship Type="http://schemas.openxmlformats.org/officeDocument/2006/relationships/slide" Target="/ppt/slides/slide25.xml" Id="R29d1924d02814baf" /><Relationship Type="http://schemas.openxmlformats.org/officeDocument/2006/relationships/slide" Target="/ppt/slides/slide26.xml" Id="R4ca4c0398f11407f" /><Relationship Type="http://schemas.openxmlformats.org/officeDocument/2006/relationships/slide" Target="/ppt/slides/slide27.xml" Id="Re2aeae98c1534006" /><Relationship Type="http://schemas.openxmlformats.org/officeDocument/2006/relationships/slide" Target="/ppt/slides/slide28.xml" Id="Rbff4edc10fb246c1" /><Relationship Type="http://schemas.openxmlformats.org/officeDocument/2006/relationships/slide" Target="/ppt/slides/slide29.xml" Id="R22f8ac8b17784d28" /><Relationship Type="http://schemas.openxmlformats.org/officeDocument/2006/relationships/slide" Target="/ppt/slides/slide30.xml" Id="R3ad95f4d6ee04420" /><Relationship Type="http://schemas.openxmlformats.org/officeDocument/2006/relationships/slide" Target="/ppt/slides/slide31.xml" Id="Rf75648321c0144e1" /><Relationship Type="http://schemas.openxmlformats.org/officeDocument/2006/relationships/slide" Target="/ppt/slides/slide32.xml" Id="R85c169344acd4752" /><Relationship Type="http://schemas.openxmlformats.org/officeDocument/2006/relationships/slide" Target="/ppt/slides/slide33.xml" Id="R8face59b867e4d3b" /><Relationship Type="http://schemas.openxmlformats.org/officeDocument/2006/relationships/slide" Target="/ppt/slides/slide34.xml" Id="Rcab6ac2b05e64dca" /><Relationship Type="http://schemas.openxmlformats.org/officeDocument/2006/relationships/slide" Target="/ppt/slides/slide35.xml" Id="Rc13a17c2003c4023" /><Relationship Type="http://schemas.openxmlformats.org/officeDocument/2006/relationships/slide" Target="/ppt/slides/slide36.xml" Id="Re437687c38274034" /><Relationship Type="http://schemas.openxmlformats.org/officeDocument/2006/relationships/slide" Target="/ppt/slides/slide37.xml" Id="Rd00c2b5a8d2e40fa" /><Relationship Type="http://schemas.openxmlformats.org/officeDocument/2006/relationships/slide" Target="/ppt/slides/slide38.xml" Id="Rdd6b1e2e6ab34e32" /><Relationship Type="http://schemas.openxmlformats.org/officeDocument/2006/relationships/slide" Target="/ppt/slides/slide39.xml" Id="R82a3cbd173914d8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f75a21e0e2446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StadtWerke Westhafen">
      <a:dk1>
        <a:srgbClr val="141A21"/>
      </a:dk1>
      <a:lt1>
        <a:srgbClr val="FFFFFF"/>
      </a:lt1>
      <a:dk2>
        <a:srgbClr val="063659"/>
      </a:dk2>
      <a:lt2>
        <a:srgbClr val="F1F4F7"/>
      </a:lt2>
      <a:accent1>
        <a:srgbClr val="084878"/>
      </a:accent1>
      <a:accent2>
        <a:srgbClr val="0090C8"/>
      </a:accent2>
      <a:accent3>
        <a:srgbClr val="0080A0"/>
      </a:accent3>
      <a:accent4>
        <a:srgbClr val="A86505"/>
      </a:accent4>
      <a:accent5>
        <a:srgbClr val="B3261E"/>
      </a:accent5>
      <a:accent6>
        <a:srgbClr val="8C98A6"/>
      </a:accent6>
      <a:hlink>
        <a:srgbClr val="0080A0"/>
      </a:hlink>
      <a:folHlink>
        <a:srgbClr val="084878"/>
      </a:folHlink>
    </a:clrScheme>
    <a:fontScheme name="Office">
      <a:majorFont>
        <a:latin typeface="Calibri Light"/>
        <a:ea typeface="Calibri Light"/>
        <a:cs typeface="Calibri Light"/>
      </a:majorFont>
      <a:minorFont>
        <a:latin typeface="Calibri"/>
        <a:ea typeface="Calibri"/>
        <a:cs typeface="Calibri"/>
      </a:minorFont>
    </a:fontScheme>
    <a:fmtScheme name="StadtWerke Westhafe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58ada7a1ad40a8" /><Relationship Type="http://schemas.openxmlformats.org/officeDocument/2006/relationships/notesMaster" Target="/ppt/notesMasters/notesMaster1.xml" Id="R33c5bceace104e4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b4396b65e641e2" /><Relationship Type="http://schemas.openxmlformats.org/officeDocument/2006/relationships/notesMaster" Target="/ppt/notesMasters/notesMaster1.xml" Id="Rb3aa16aefb724cf4"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74124920b147be" /><Relationship Type="http://schemas.openxmlformats.org/officeDocument/2006/relationships/notesMaster" Target="/ppt/notesMasters/notesMaster1.xml" Id="R8d456f297051425b"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0b49c1b56940cd" /><Relationship Type="http://schemas.openxmlformats.org/officeDocument/2006/relationships/notesMaster" Target="/ppt/notesMasters/notesMaster1.xml" Id="R6827edd38ad44596" /></Relationships>
</file>

<file path=ppt/notesSlides/_rels/notesSlide5.xml.rels>&#65279;<?xml version="1.0" encoding="utf-8"?><Relationships xmlns="http://schemas.openxmlformats.org/package/2006/relationships"><Relationship Type="http://schemas.openxmlformats.org/officeDocument/2006/relationships/slide" Target="/ppt/slides/slide5.xml" Id="R1621e8f7304d4fb6" /><Relationship Type="http://schemas.openxmlformats.org/officeDocument/2006/relationships/notesMaster" Target="/ppt/notesMasters/notesMaster1.xml" Id="R62116b8dc2004806" /></Relationships>
</file>

<file path=ppt/notesSlides/_rels/notesSlide6.xml.rels>&#65279;<?xml version="1.0" encoding="utf-8"?><Relationships xmlns="http://schemas.openxmlformats.org/package/2006/relationships"><Relationship Type="http://schemas.openxmlformats.org/officeDocument/2006/relationships/slide" Target="/ppt/slides/slide6.xml" Id="R8b8bb22d1ab94adc" /><Relationship Type="http://schemas.openxmlformats.org/officeDocument/2006/relationships/notesMaster" Target="/ppt/notesMasters/notesMaster1.xml" Id="Rbca67c08a6844538" /></Relationships>
</file>

<file path=ppt/notesSlides/_rels/notesSlide7.xml.rels>&#65279;<?xml version="1.0" encoding="utf-8"?><Relationships xmlns="http://schemas.openxmlformats.org/package/2006/relationships"><Relationship Type="http://schemas.openxmlformats.org/officeDocument/2006/relationships/slide" Target="/ppt/slides/slide7.xml" Id="R8f639a4d28d74464" /><Relationship Type="http://schemas.openxmlformats.org/officeDocument/2006/relationships/notesMaster" Target="/ppt/notesMasters/notesMaster1.xml" Id="Re1db6603d45a40dc" /></Relationships>
</file>

<file path=ppt/notesSlides/_rels/notesSlide8.xml.rels>&#65279;<?xml version="1.0" encoding="utf-8"?><Relationships xmlns="http://schemas.openxmlformats.org/package/2006/relationships"><Relationship Type="http://schemas.openxmlformats.org/officeDocument/2006/relationships/slide" Target="/ppt/slides/slide8.xml" Id="R728d99b6e91946e7" /><Relationship Type="http://schemas.openxmlformats.org/officeDocument/2006/relationships/notesMaster" Target="/ppt/notesMasters/notesMaster1.xml" Id="R0af5acb334c645d7" /></Relationships>
</file>

<file path=ppt/notesSlides/_rels/notesSlide9.xml.rels>&#65279;<?xml version="1.0" encoding="utf-8"?><Relationships xmlns="http://schemas.openxmlformats.org/package/2006/relationships"><Relationship Type="http://schemas.openxmlformats.org/officeDocument/2006/relationships/slide" Target="/ppt/slides/slide9.xml" Id="R30e4c80a5df94a48" /><Relationship Type="http://schemas.openxmlformats.org/officeDocument/2006/relationships/notesMaster" Target="/ppt/notesMasters/notesMaster1.xml" Id="Rded815649bb9403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bcd7e9dc3cb481d" /><Relationship Type="http://schemas.openxmlformats.org/officeDocument/2006/relationships/notesMaster" Target="/ppt/notesMasters/notesMaster1.xml" Id="R355525f135b444d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599479588ff48d4" /><Relationship Type="http://schemas.openxmlformats.org/officeDocument/2006/relationships/notesMaster" Target="/ppt/notesMasters/notesMaster1.xml" Id="R2b92d509584f42e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3a78cd3c0e6465d" /><Relationship Type="http://schemas.openxmlformats.org/officeDocument/2006/relationships/notesMaster" Target="/ppt/notesMasters/notesMaster1.xml" Id="R1ed5341dfd81474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418b4545a164a33" /><Relationship Type="http://schemas.openxmlformats.org/officeDocument/2006/relationships/notesMaster" Target="/ppt/notesMasters/notesMaster1.xml" Id="R6b30e0382094414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8a80e724b774dd0" /><Relationship Type="http://schemas.openxmlformats.org/officeDocument/2006/relationships/notesMaster" Target="/ppt/notesMasters/notesMaster1.xml" Id="Rbf133d2e287d445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6f2c4e033b54690" /><Relationship Type="http://schemas.openxmlformats.org/officeDocument/2006/relationships/notesMaster" Target="/ppt/notesMasters/notesMaster1.xml" Id="R7ea88812f5e3426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93f5b2be3c4433b" /><Relationship Type="http://schemas.openxmlformats.org/officeDocument/2006/relationships/notesMaster" Target="/ppt/notesMasters/notesMaster1.xml" Id="Raa2b5c5d14434b0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473c067ecc84ad5" /><Relationship Type="http://schemas.openxmlformats.org/officeDocument/2006/relationships/notesMaster" Target="/ppt/notesMasters/notesMaster1.xml" Id="R1e8faae973a84d6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21c4f5f801d4aca" /><Relationship Type="http://schemas.openxmlformats.org/officeDocument/2006/relationships/notesMaster" Target="/ppt/notesMasters/notesMaster1.xml" Id="Rb3762aa6bc4244e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70592af298d4d45" /><Relationship Type="http://schemas.openxmlformats.org/officeDocument/2006/relationships/notesMaster" Target="/ppt/notesMasters/notesMaster1.xml" Id="Rc15f06c97975482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028970f8ab548c7" /><Relationship Type="http://schemas.openxmlformats.org/officeDocument/2006/relationships/notesMaster" Target="/ppt/notesMasters/notesMaster1.xml" Id="Radf72f4ce002400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b2eace854744fe7" /><Relationship Type="http://schemas.openxmlformats.org/officeDocument/2006/relationships/notesMaster" Target="/ppt/notesMasters/notesMaster1.xml" Id="R22cba1d6cd664d9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cacb17582a54fa7" /><Relationship Type="http://schemas.openxmlformats.org/officeDocument/2006/relationships/notesMaster" Target="/ppt/notesMasters/notesMaster1.xml" Id="R89ac4c39ec49458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38a21260eff45f0" /><Relationship Type="http://schemas.openxmlformats.org/officeDocument/2006/relationships/notesMaster" Target="/ppt/notesMasters/notesMaster1.xml" Id="R39104e79b1a04b2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cc01d4d320d423b" /><Relationship Type="http://schemas.openxmlformats.org/officeDocument/2006/relationships/notesMaster" Target="/ppt/notesMasters/notesMaster1.xml" Id="R74ecb3936dc9410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f867ed6b1034014" /><Relationship Type="http://schemas.openxmlformats.org/officeDocument/2006/relationships/notesMaster" Target="/ppt/notesMasters/notesMaster1.xml" Id="R07c0828a66a3420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f3e7253ad024041" /><Relationship Type="http://schemas.openxmlformats.org/officeDocument/2006/relationships/notesMaster" Target="/ppt/notesMasters/notesMaster1.xml" Id="Rd60e8c55381649b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69d0ffe2b1d4d11" /><Relationship Type="http://schemas.openxmlformats.org/officeDocument/2006/relationships/notesMaster" Target="/ppt/notesMasters/notesMaster1.xml" Id="Rffd910ffc561489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1af20d202794433" /><Relationship Type="http://schemas.openxmlformats.org/officeDocument/2006/relationships/notesMaster" Target="/ppt/notesMasters/notesMaster1.xml" Id="R79feb967668b46a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863c216750e4890" /><Relationship Type="http://schemas.openxmlformats.org/officeDocument/2006/relationships/notesMaster" Target="/ppt/notesMasters/notesMaster1.xml" Id="R9bd7dc4efdb6444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e8b072f1f4f440f" /><Relationship Type="http://schemas.openxmlformats.org/officeDocument/2006/relationships/notesMaster" Target="/ppt/notesMasters/notesMaster1.xml" Id="R2b16e80a01c241f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38d627d5a244444" /><Relationship Type="http://schemas.openxmlformats.org/officeDocument/2006/relationships/notesMaster" Target="/ppt/notesMasters/notesMaster1.xml" Id="R000646b1fb66458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95e31c3f28d4d47" /><Relationship Type="http://schemas.openxmlformats.org/officeDocument/2006/relationships/notesMaster" Target="/ppt/notesMasters/notesMaster1.xml" Id="R91fa54bba6254b8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2fc6cf3ed60422a" /><Relationship Type="http://schemas.openxmlformats.org/officeDocument/2006/relationships/notesMaster" Target="/ppt/notesMasters/notesMaster1.xml" Id="R51727df9eee248e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a8df81cbc0f4837" /><Relationship Type="http://schemas.openxmlformats.org/officeDocument/2006/relationships/notesMaster" Target="/ppt/notesMasters/notesMaster1.xml" Id="Rc9fbb38e8bee4ff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628ff4c3df542b5" /><Relationship Type="http://schemas.openxmlformats.org/officeDocument/2006/relationships/notesMaster" Target="/ppt/notesMasters/notesMaster1.xml" Id="R0a13648001ae409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466e0b7f48249f3" /><Relationship Type="http://schemas.openxmlformats.org/officeDocument/2006/relationships/notesMaster" Target="/ppt/notesMasters/notesMaster1.xml" Id="R0ecc69a245dd468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96e349743de4339" /><Relationship Type="http://schemas.openxmlformats.org/officeDocument/2006/relationships/notesMaster" Target="/ppt/notesMasters/notesMaster1.xml" Id="Rc0d01d7f0c524ab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37ee68359274e13" /><Relationship Type="http://schemas.openxmlformats.org/officeDocument/2006/relationships/notesMaster" Target="/ppt/notesMasters/notesMaster1.xml" Id="Rfe5d6ba7decd497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173a5b8e7664cab" /><Relationship Type="http://schemas.openxmlformats.org/officeDocument/2006/relationships/notesMaster" Target="/ppt/notesMasters/notesMaster1.xml" Id="Reeb118960f70434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Wir zeigen, wie wir den Folgemonatsverbrauch je Zähler prognostizieren und anschließend große Abweichungen zur menschlichen Prüfung vorlegen. Die Präsentation verbindet die bereinigte Datenbasis, die Modellentscheidung und den geplanten betrieblichen Ablauf. Unsere Ergebnisse stammen aus dem bereitgestellten Fallprojekt und einem retrospektiven Benchmark; sie belegen noch keinen produktiven Einsatz.</a:t>
            </a:r>
          </a:p>
          <a:p xmlns:a="http://schemas.openxmlformats.org/drawingml/2006/main">
            <a:r>
              <a:t>Unsere Gruppe besteht aus Iana Kraievska, Patrick Olmo Hederer und Kiko Ramon Lukas.</a:t>
            </a:r>
          </a:p>
          <a:p xmlns:a="http://schemas.openxmlformats.org/drawingml/2006/main">
            <a:r>
              <a:t>Quellen: Projektauftrag IHK_Group6-1.pdf und Abschlussbericht, Kapitel 1 und 3.</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Wir beginnen mit dem Geschäftsproblem und der Datenbasis. Danach erklären wir die Analyse, die Modellwahl und die Prüfregel. Zum Schluss zeigen wir, wie ein Pilot den betrieblichen Nutzen messen könnte. Anschließend führen wir gemeinsam durch die Live-Demo.</a:t>
            </a:r>
          </a:p>
          <a:p xmlns:a="http://schemas.openxmlformats.org/drawingml/2006/main">
            <a:r>
              <a:t>Iana erläutert Datenmanagement und Datenqualität. Patrick übernimmt die explorative Analyse und Visualisierung. Kiko verantwortet den ML Canvas, Modellierung und Evaluation. Die Übergaben orientieren sich an diesen Fachgebieten. Detailformeln und zusätzliche Vergleiche stehen im Anhang und werden nur bei Bedarf gezeigt.</a:t>
            </a:r>
          </a:p>
          <a:p xmlns:a="http://schemas.openxmlformats.org/drawingml/2006/main">
            <a:r>
              <a:t>Für die Generalprobe sind 30 Minuten Projektvortrag und 15 Minuten Demo vorgesehen. Grundlage ist die bereitgestellte IHK-Präsentationsvorlage beziehungsweise die Learning Journey zur Prüfungspräsentation.</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Projektauftrag beschreibt StadtWerke Westhafen als Energieversorger im Hamburger Hafengebiet. Die Organisation versorgt 700 gewerbliche, industrielle und kommunale Großkunden. Für die Beschaffung muss sie den Bedarf im kommenden Monat abschätzen. Bisher stützt sich diese Planung stark auf manuelle Fortschreibungen. Ungünstige Abweichungen können kurzfristige Käufe oder Verkäufe am Spotmarkt erforderlich machen.</a:t>
            </a:r>
          </a:p>
          <a:p xmlns:a="http://schemas.openxmlformats.org/drawingml/2006/main">
            <a:r>
              <a:t>Daneben werden ungewöhnliche Verbräuche häufig erst beim Quartalsabschluss bemerkt. Unser Ansatz soll solche Fälle nach jedem Monatsabschluss zur Prüfung vorlegen. Stefan Lechtenberg vertritt die Energiebeschaffung, Anke Bürger das Netzmanagement und Henrik Maaß die Datenanalyse. Eine tatsächliche Kostensenkung haben wir im Projekt noch nicht gemessen.</a:t>
            </a:r>
          </a:p>
          <a:p xmlns:a="http://schemas.openxmlformats.org/drawingml/2006/main">
            <a:r>
              <a:t>Quellen: Projektauftrag, Abschnitte 1 bis 3; Abschlussbericht, Kapitel 1 und Abschnitt 3.4.</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Wir beurteilen den Prototyp auf drei Ebenen. Erstens muss die Datenbasis reproduzierbar sein: Einheiten, Schlüssel und Historie müssen stimmen. Zweitens muss die Prognose auf zeitlich späteren Monaten besser abschneiden als eine einfache Vergleichsregel. Drittens muss verständlich sein, warum ein Zähler-Monat einen Prüfhinweis erhält.</a:t>
            </a:r>
          </a:p>
          <a:p xmlns:a="http://schemas.openxmlformats.org/drawingml/2006/main">
            <a:r>
              <a:t>Als Hauptmetrik verwenden wir den RMSE in kWh. Der MAE ergänzt die mittlere Fehlergröße; R² dient bei Bedarf als weitere Einordnung. Bisher messen wir Prognosefehler und Hinweisvolumen. Prüfzeiten, bestätigte Ursachen und finanzielle Wirkung müssen wir erst in einem Pilotbetrieb erfassen. Der Prototyp besitzt keine produktive Anbindung und entscheidet nicht über Abrechnungen.</a:t>
            </a:r>
          </a:p>
          <a:p xmlns:a="http://schemas.openxmlformats.org/drawingml/2006/main">
            <a:r>
              <a:t>Quelle: Abschlussbericht, Abschnitte 1.4, 3.2 und 4.3 bis 4.4.</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Unsere Verantwortungen verliefen über alle Arbeitsphasen hinweg. Iana war für Datenmanagement und Datenqualität zuständig, Patrick für explorative Analyse und Visualisierung und Kiko für den ML Canvas, Machine Learning und Evaluation. Übergaben und fachliche Entscheidungen haben wir gemeinsam abgestimmt.</a:t>
            </a:r>
          </a:p>
          <a:p xmlns:a="http://schemas.openxmlformats.org/drawingml/2006/main">
            <a:r>
              <a:t>Im ersten Sprint entstand die gemeinsame Datenbasis. Im zweiten Sprint begründeten EDA und Canvas die Zielgröße und die verfügbaren Merkmale. Im dritten Sprint folgten Modellwahl und Kalibrierung. Eine wichtige Anpassung war, die gelieferte Verbrauchshistorie je Zähler neu aus der Vergangenheit aufzubauen.</a:t>
            </a:r>
          </a:p>
          <a:p xmlns:a="http://schemas.openxmlformats.org/drawingml/2006/main">
            <a:r>
              <a:t>Unsere persönlichen Lernpunkte unterscheiden sich: Iana betont die fachliche Bedeutung von Bereinigungsregeln, Patrick die Trennung von Korrelation und Ursache, Kiko die zeitliche Validierung und die Vermeidung von Data Leakage.</a:t>
            </a:r>
          </a:p>
          <a:p xmlns:a="http://schemas.openxmlformats.org/drawingml/2006/main">
            <a:r>
              <a:t>Quelle: Abschlussbericht, Abschnitte 3.1, 3.3, 3.5 und 3.6.</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Rohdatei enthält 16.830 Zeilen und 16 Spalten. Darunter liegen 30 vollständig identische Dubletten. Nach ihrer Entfernung bleiben 16.800 eindeutige Zähler-Monate: 700 Zähler mit jeweils 24 Monaten von Januar 2024 bis Dezember 2025. Der gemeinsame Schlüssel besteht aus Zählerkennung und Monat.</a:t>
            </a:r>
          </a:p>
          <a:p xmlns:a="http://schemas.openxmlformats.org/drawingml/2006/main">
            <a:r>
              <a:t>Neben Verbrauch und Vertragsleistung enthält die Datei Kunden-, Kalender-, Wetter-, Produktions- und Wartungsinformationen. Wir arbeiten mit diesem bereitgestellten Export, nicht mit einer bereits angeschlossenen produktiven Datenquelle. Drei rückblickend rekonstruierte Zielwerte gehören zur explorativen Gesamtsicht, werden aber aus der strikten ML-Bewertung ausgeschlossen.</a:t>
            </a:r>
          </a:p>
          <a:p xmlns:a="http://schemas.openxmlformats.org/drawingml/2006/main">
            <a:r>
              <a:t>Quellen: data/raw/verbrauch.csv, data/raw/260916_verbrauch_bereinigt.csv; überprüfte Zählungen in audit/eda_data.json.</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Zahlen auf dieser Folie beziehen sich auf die 16.800 Zeilen nach Entfernung der Dubletten. 672 Verbrauchswerte stehen als MWh-Text in der Datei. Wir rechnen sie mit dem Faktor 1.000 in kWh um. Dreizehn Schreibweisen des Kundentyps werden auf die drei vorgesehenen Kategorien vereinheitlicht.</a:t>
            </a:r>
          </a:p>
          <a:p xmlns:a="http://schemas.openxmlformats.org/drawingml/2006/main">
            <a:r>
              <a:t>504 fehlende Temperaturwerte und 672 fehlende Produktionsplanwerte sind unterschiedliche Befunde. Sie werden im Cleaning nicht pauschal ersetzt. Drei auffällige Zielwerte konnten wir rückblickend aus der dokumentierten Vormonatsinformation der Folgezeile rekonstruieren. Damit diese spätere Information die Modellbewertung nicht verbessert, schließen wir die drei Fälle dort aus.</a:t>
            </a:r>
          </a:p>
          <a:p xmlns:a="http://schemas.openxmlformats.org/drawingml/2006/main">
            <a:r>
              <a:t>Zusätzlich markieren wir 20 Fälle oberhalb von Vertragsleistung mal Monatsstunden. Diese Überschreitungen brauchen eine fachliche Prüfung. Die Vertragsleistung ist ohne Domänenbestätigung keine zwingende physikalische Obergrenze und ein solcher Fall daher kein bewiesener Messfehler.</a:t>
            </a:r>
          </a:p>
          <a:p xmlns:a="http://schemas.openxmlformats.org/drawingml/2006/main">
            <a:r>
              <a:t>Quelle: audit/eda_data.json; Datenbereinigungsnotebook.</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Datenweg beginnt mit dem CSV-Import und den Prüfungen von Schlüsseln, Datentypen und Einheiten. Auf der gemeinsamen bereinigten Basis trennen wir die explorative Gesamtsicht von den zeitlich zulässigen Daten für die Modellierung. Die Ergebnisse gelangen über einen geprüften JSON-Datenvertrag in das lokale Cockpit.</a:t>
            </a:r>
          </a:p>
          <a:p xmlns:a="http://schemas.openxmlformats.org/drawingml/2006/main">
            <a:r>
              <a:t>Für die EDA bleiben alle 16.800 Monatswerte einschließlich markierter Fälle sichtbar. Für das ML-Training aus 2024 verwenden wir 8.389 Fälle: Von 8.400 Monatswerten entfallen zehn Plausibilitätsflags und ein rekonstruierter Zielwert. Der Benchmark 2025 enthält 8.398 Fälle, weil zwei rekonstruierte Ziele entfallen. Die zehn Plausibilitätsflags aus 2025 bleiben bewusst enthalten. Die Kalibrierung nutzt 1.397 Fälle aus November und Dezember 2024.</a:t>
            </a:r>
          </a:p>
          <a:p xmlns:a="http://schemas.openxmlformats.org/drawingml/2006/main">
            <a:r>
              <a:t>Die gelieferte Drei-Monats-Statistik war für frühere Prognosezeitpunkte ungeeignet. Wir erzeugen die Historienmerkmale deshalb je Zähler ausschließlich aus vorangegangenen Monaten.</a:t>
            </a:r>
          </a:p>
          <a:p xmlns:a="http://schemas.openxmlformats.org/drawingml/2006/main">
            <a:r>
              <a:t>Quellen: Notebook 13; audit/eda_data.json.</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Linien zeigen die monatlichen Gesamtverbräuche des Portfolios in MWh. In beiden Jahren liegen Sommer und früher Herbst niedriger; der Jahresgang ähnelt sich deutlich. Der Gesamtverbrauch beträgt rund 211.568 MWh im Jahr 2024 und 208.691 MWh im Jahr 2025. Das entspricht einem Rückgang um etwa 1,4 Prozent.</a:t>
            </a:r>
          </a:p>
          <a:p xmlns:a="http://schemas.openxmlformats.org/drawingml/2006/main">
            <a:r>
              <a:t>Die Korrelation der zwölf aggregierten Monatswerte beider Jahre beträgt 0,946. Sie beschreibt die Ähnlichkeit des Portfolioverlaufs, beweist aber keine Ursache. Die Grafik enthält alle 16.800 bereinigten Werte einschließlich der Plausibilitätsflags. Die historische EDA darf beide Jahre beschreiben; die spätere Hyperparameterauswahl verwendet ausschließlich 2024.</a:t>
            </a:r>
          </a:p>
          <a:p xmlns:a="http://schemas.openxmlformats.org/drawingml/2006/main">
            <a:r>
              <a:t>Aus diesem Verlauf nehmen wir die saisonale Lage und die bereits bekannte Verbrauchshistorie als plausible Modellinformationen mit.</a:t>
            </a:r>
          </a:p>
          <a:p xmlns:a="http://schemas.openxmlformats.org/drawingml/2006/main">
            <a:r>
              <a:t>Quelle: audit/eda_data.json, charts.monthly.</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Von den 700 Zählern gehören 376 zum Gewerbe, 226 zur Industrie und 98 zum kommunalen Bereich. Die Industrie stellt damit rund 32,3 Prozent der Zähler, aber 68,5 Prozent des Verbrauchs über beide Jahre. Die beiden Balkenarten haben unterschiedliche Bezugsgrößen: Zählerzahl einerseits und gesamte Energiemenge andererseits.</a:t>
            </a:r>
          </a:p>
          <a:p xmlns:a="http://schemas.openxmlformats.org/drawingml/2006/main">
            <a:r>
              <a:t>Die Anschlussgröße ist deshalb bei einem Vergleich der absoluten kWh wichtig. Wir normieren später über die Vertragsleistung. Dass eine Kundengruppe viel Energie verbraucht, macht den Kundentyp noch nicht automatisch zu einem starken zusätzlichen Modellmerkmal. Diesen Beitrag prüfen wir getrennt mit Permutation Importance.</a:t>
            </a:r>
          </a:p>
          <a:p xmlns:a="http://schemas.openxmlformats.org/drawingml/2006/main">
            <a:r>
              <a:t>Quelle: audit/eda_data.json, charts.portfolio. Grundlage sind alle 16.800 bereinigten Monatswerte.</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Canvas beginnt bei der späteren Entscheidung. Die Beschaffung braucht eine Folgemonatsprognose; das Netzmanagement braucht nach Eingang des Istwerts eine begründete Priorisierung auffälliger Fälle. Dafür verbinden wir Verbrauchsdaten mit Vertrags-, Kalender-, Wetter- und Planinformationen.</a:t>
            </a:r>
          </a:p>
          <a:p xmlns:a="http://schemas.openxmlformats.org/drawingml/2006/main">
            <a:r>
              <a:t>Unsere Vorhersage ist eine kontinuierliche Größe: Vollaststunden je Zähler und Monat. Für die Anwender rechnen wir sie wieder in kWh zurück. Die anschließende Prüfregel gehört zum selben Prozess, ist aber keine zweite bereits trainierte Klassifikation.</a:t>
            </a:r>
          </a:p>
          <a:p xmlns:a="http://schemas.openxmlformats.org/drawingml/2006/main">
            <a:r>
              <a:t>Die Wirkung möchten wir an Prognosefehlern, Prüfzeit und bestätigten Ursachen messen. Der bereits gemessene Prognosevorteil ist noch keine nachgewiesene finanzielle Einsparung.</a:t>
            </a:r>
          </a:p>
          <a:p xmlns:a="http://schemas.openxmlformats.org/drawingml/2006/main">
            <a:r>
              <a:t>Quelle: Abschlussbericht, Kapitel 2 und Tabelle A1; Projektauftrag.</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zweite Hälfte des Canvas legt die methodischen und betrieblichen Regeln fest. Die Merkmale müssen zum Prognosezeitpunkt bekannt sein. Wir vergleichen eine lineare Regression und einen Random Forest mit einfachen Baselines. Die Bewertung folgt der Zeitachse.</a:t>
            </a:r>
          </a:p>
          <a:p xmlns:a="http://schemas.openxmlformats.org/drawingml/2006/main">
            <a:r>
              <a:t>Vor Monatsbeginn entsteht die Prognose. Erst nach Eingang des tatsächlichen Monatsverbrauchs können wir ein Residuum berechnen und einen Prüfhinweis erzeugen. Wetterdaten müssen dafür als vorher verfügbare Prognose und Produktions- beziehungsweise Wartungsinformationen als Plan vorliegen. Die tatsächliche Verfügbarkeitskette einer produktiven Anwendung ist noch nicht nachgewiesen.</a:t>
            </a:r>
          </a:p>
          <a:p xmlns:a="http://schemas.openxmlformats.org/drawingml/2006/main">
            <a:r>
              <a:t>Für einen Pilot empfehlen wir monatliche Kontrolle von Fehlern, Datenlücken, Merkmalsverteilungen und Hinweisvolumen. Ein neues Training sollte auf einen belegten Bedarf und eine erneute Prüfung folgen.</a:t>
            </a:r>
          </a:p>
          <a:p xmlns:a="http://schemas.openxmlformats.org/drawingml/2006/main">
            <a:r>
              <a:t>Quelle: Abschlussbericht, Kapitel 2, Abschnitt 4.2 und Abschnitt 4.4.3.</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Ein großer Anschluss verbraucht naturgemäß mehr Kilowattstunden als ein kleiner. Deshalb normalisieren wir den Verbrauch durch die vertragliche Leistung. Vollaststunden sind hier keine gemessene Laufzeit, sondern eine Vergleichsgröße. Das Modell lernt in VLS-Stunden; für die verständliche Bewertung rechnen wir die Prognose anschließend wieder in Kilowattstunden zurück.</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Modell verwendet neun Prädiktoren: vormonat_vls, letzte_3_monate_vls, monat_idx, arbeitstage, feiertage_im_monat, heizgradtage, produktionsplan_index, wartung_aktiv und kundentyp. Die Vertragsleistung dient ausschließlich zur Normierung und Rückrechnung.</a:t>
            </a:r>
          </a:p>
          <a:p xmlns:a="http://schemas.openxmlformats.org/drawingml/2006/main">
            <a:r>
              <a:t>Die beiden Historienmerkmale stammen aus früheren Monaten desselben Zählers. Kalenderinformationen sind vorab bekannt. Heizgradtage dürfen nur als Wetterprognose verwendet werden; Produktion und Wartung müssen geplante Werte sein. Im Pilot müssen diese vorab verfügbaren Versionen nachvollziehbar gespeichert werden. Historische Prognoseversionen sind im Projekt nicht gesondert nachgewiesen.</a:t>
            </a:r>
          </a:p>
          <a:p xmlns:a="http://schemas.openxmlformats.org/drawingml/2006/main">
            <a:r>
              <a:t>Fehlende numerische Merkmale behandelt die Pipeline mit einem Median und Fehlwertindikatoren, die sie nur aus dem jeweiligen Trainingsfold lernt. Den Kundentyp ergänzt sie bei Bedarf mit dem häufigsten Trainingswert und kodiert ihn anschließend mit One-Hot-Encoding. Das lineare Modell standardisiert zusätzlich numerische Werte. IDs, aktuelle Zielwerte, die redundante Roh-Temperatur und der für 2024 nicht verfügbare Vorjahreswert gehören nicht zum finalen Merkmalset.</a:t>
            </a:r>
          </a:p>
          <a:p xmlns:a="http://schemas.openxmlformats.org/drawingml/2006/main">
            <a:r>
              <a:t>Quelle: Notebook 13, Zelle learn-feature-table und Modellpipeline.</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Wir mischen die Zeitreihe nicht zufällig. In jedem Fold lernt das Modell nur aus bereits vergangenen Monaten und wird auf späteren Monaten bewertet. Der Lernbereich wächst dabei von Fold zu Fold. November und Dezember 2024 verwenden wir anschließend nicht zur Modellwahl, sondern zur Festlegung der Fehlergrenze. So verhindern wir, dass Informationen aus der Zukunft in frühere Prognosen geraten.</a:t>
            </a:r>
          </a:p>
          <a:p xmlns:a="http://schemas.openxmlformats.org/drawingml/2006/main">
            <a:r>
              <a:t/>
            </a:r>
          </a:p>
          <a:p xmlns:a="http://schemas.openxmlformats.org/drawingml/2006/main">
            <a:r>
              <a:t>Zeitleiste: Vollständige Monate Jan–Apr/Mai–Jun, Jan–Jun/Jul–Aug und Jan–Aug/Sep–Okt 2024. Kalibrierung Nov–Dez: n=1.397. Entwicklung: n=8.389. Benchmark: n=8.398. Keine zufällige Aufteilung.</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Diagramm zeigt den mittleren RMSE je Modell über drei Zeit-Folds. Random Forest gewinnt im Mittel mit 13.272 kWh. Gegenüber der linearen Regression beträgt der Vorteil rund 2,7 %. Die vollständigen Fold-Werte stehen unten in diesen Notizen, die RF-Einzelfolds im Anhang. Im dritten Fold ist die lineare Regression besser.</a:t>
            </a:r>
          </a:p>
          <a:p xmlns:a="http://schemas.openxmlformats.org/drawingml/2006/main">
            <a:r>
              <a:t/>
            </a:r>
          </a:p>
          <a:p xmlns:a="http://schemas.openxmlformats.org/drawingml/2006/main">
            <a:r>
              <a:t>Korrektur der ursprünglichen Formulierung: RF gewinnt nicht jeden Fold. RMSE-Foldwerte und Standardabweichungen: [{"model":"Vormonat","mean_rmse_kwh":18460.47609298061,"sd_population_kwh":6366.1730527299405,"folds_rmse_kwh":[26814.404020205373,11376.425074254827,17190.599184481634]},{"model":"Bis-zu-3-Monats-Mittel","mean_rmse_kwh":15483.069878822345,"sd_population_kwh":3069.578876365332,"folds_rmse_kwh":[19633.473270545182,12306.012710667008,14509.723655254844]},{"model":"Lineare Regression","mean_rmse_kwh":13643.03595825031,"sd_population_kwh":3471.80693623648,"folds_rmse_kwh":[17834.051987945142,9332.4199137844,13762.63597302139]},{"model":"Random Forest","mean_rmse_kwh":13272.407403235326,"sd_population_kwh":3842.639978730246,"folds_rmse_kwh":[17537.588230078927,8223.484122161364,14056.149857465687]}]. Die Standardabweichung zwischen Folds beschreibt keine Unsicherheit einer einzelnen Prognose.</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Danach prüfen wir die getroffene Modellentscheidung retrospektiv auf 2025. One Step Ahead bedeutet: Für jeden Monat werden nur die zu diesem Zeitpunkt bekannten Informationen verwendet; anschließend wird mit dem eingetroffenen Istwert bewertet. Über 8.398 Zähler-Monate erreicht der Random Forest einen RMSE von 9.188 und einen MAE von 3.725 Kilowattstunden. Gegenüber dem besten einfachen Vergleich, dem Drei-Monats-Mittel, sinkt der RMSE um 15,9 Prozent. Retrospektiv heißt: 2025 ist inzwischen bekannt und daher kein unangesehener Blindtest mehr. Nur der Vormonatsvergleich hat wegen zehn fehlender Werte n = 8.388; die entscheidende Gegenüberstellung zum Drei-Monats-Mittel nutzt dieselben 8.398 Fälle.</a:t>
            </a:r>
          </a:p>
          <a:p xmlns:a="http://schemas.openxmlformats.org/drawingml/2006/main">
            <a:r>
              <a:t/>
            </a:r>
          </a:p>
          <a:p xmlns:a="http://schemas.openxmlformats.org/drawingml/2006/main">
            <a:r>
              <a:t>Beste einfache Baseline: Bis-zu-3-Monats-Mittel. Relativer Vorteil berechnet als 1 − 9188.397030722987 / 10922.440645880763. Vergleichswerte: [{"model":"Vormonat","rmse_kwh":12385.537590520351,"n":8388},{"model":"Bis-zu-3-Monats-Mittel","rmse_kwh":10922.440645880763,"n":8398},{"model":"Lineare Regression","rmse_kwh":9414.216883067555,"n":8398},{"model":"Random Forest","rmse_kwh":9188.397030722987,"n":8398}]. Verfügbarkeit der Eingangsmerkmale muss vor Monatsbeginn sichergestellt werden.</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Für diese Auswertung mischen wir jeweils eine Informationsgruppe zufällig und lassen das trainierte Modell erneut vorhersagen. Steigt der RMSE stark, hat das Modell diese Information zuvor wirksam genutzt. Bei der Verbrauchshistorie steigt er um 7.349 Kilowattstunden – deutlich stärker als bei Produktionsplan oder Wartung. Weil zusammengehörige Spalten gemeinsam gemischt werden, messen wir den Beitrag der ganzen Informationsgruppe. Das ist Modellrelevanz, aber kein Beweis für einen kausalen Zusammenhang. Die Vertragsleistung wird bewusst nicht permutiert: Sie ist der feste Umrechnungsfaktor von VLS zurück in kWh.</a:t>
            </a:r>
          </a:p>
          <a:p xmlns:a="http://schemas.openxmlformats.org/drawingml/2006/main">
            <a:r>
              <a:t/>
            </a:r>
          </a:p>
          <a:p xmlns:a="http://schemas.openxmlformats.org/drawingml/2006/main">
            <a:r>
              <a:t>Gruppierte Permutation Importance auf dem Benchmark 2025 mit drei Wiederholungen. Vertragsleistung bleibt als fester Umrechnungsfaktor VLS → kWh unverändert. Wetter, Produktionsplan und Wartung müssen vor Monatsbeginn verfügbar sein. Einheitlicher Zahlenstand: Notebook 13. Der Bericht verwendet hier teilweise Notebook 12 mit fünf Wiederholungen und deshalb leicht andere Werte bei gleicher Rangfolge.</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Für die Kalibrierung sortieren wir 1.397 absolute Out-of-Fold-Fehler aus November und Dezember 2024 von klein nach groß. Das 99. Perzentil ist eine Position in dieser Liste. Durch die übliche lineare Interpolation liegt die Schwelle bei 144,4 VLS-Stunden. 1.383 Fehler liegen bis zu dieser Grenze und 14 darüber. q99 ist keine Defektwahrscheinlichkeit und nicht automatisch der perfekte Sweet Spot. Es ist eine konservative, nachvollziehbare Pilotentscheidung ohne bereits bestätigte Anomalie-Labels.</a:t>
            </a:r>
          </a:p>
          <a:p xmlns:a="http://schemas.openxmlformats.org/drawingml/2006/main">
            <a:r>
              <a:t/>
            </a:r>
          </a:p>
          <a:p xmlns:a="http://schemas.openxmlformats.org/drawingml/2006/main">
            <a:r>
              <a:t>Exakte Schwelle 144,3547 VLS-h. (1397−1) × 0,99 = 1382,04. Interpolation zwischen Rang 1.383 und 1.384. 1.383 Fehler liegen bis zur Grenze, 14 darüber.</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Monatsbalken zeigen die Verteilung der 114 q99-Prüfhinweise über das Jahr 2025. Das entspricht durchschnittlich 9,5 Hinweisen pro Monat und 1,36 % der bewertbaren Zähler-Monate. Die 2024 kalibrierte Grenze bleibt unverändert. Die Abweichungen sind Arbeitsaufträge zur Prüfung, keine bestätigten Diagnosen.</a:t>
            </a:r>
          </a:p>
          <a:p xmlns:a="http://schemas.openxmlformats.org/drawingml/2006/main">
            <a:r>
              <a:t/>
            </a:r>
          </a:p>
          <a:p xmlns:a="http://schemas.openxmlformats.org/drawingml/2006/main">
            <a:r>
              <a:t>Die Monate 2025 sind anders verteilt als die Kalibrierung, daher beträgt die Hinweisquote 1,36 % und nicht exakt 1 %. Ein fehlender Hinweis ist ebenfalls keine bestätigte Unauffälligkeit. Monatliche Daten: [{"month_key":"2025-01","month_label":"01/2025","alerts":7,"high":3,"low":4,"dq_overlap":2},{"month_key":"2025-02","month_label":"02/2025","alerts":11,"high":2,"low":9,"dq_overlap":1},{"month_key":"2025-03","month_label":"03/2025","alerts":9,"high":5,"low":4,"dq_overlap":1},{"month_key":"2025-04","month_label":"04/2025","alerts":10,"high":6,"low":4,"dq_overlap":3},{"month_key":"2025-05","month_label":"05/2025","alerts":12,"high":7,"low":5,"dq_overlap":0},{"month_key":"2025-06","month_label":"06/2025","alerts":16,"high":11,"low":5,"dq_overlap":1},{"month_key":"2025-07","month_label":"07/2025","alerts":6,"high":5,"low":1,"dq_overlap":1},{"month_key":"2025-08","month_label":"08/2025","alerts":8,"high":6,"low":2,"dq_overlap":0},{"month_key":"2025-09","month_label":"09/2025","alerts":8,"high":5,"low":3,"dq_overlap":0},{"month_key":"2025-10","month_label":"10/2025","alerts":13,"high":9,"low":4,"dq_overlap":0},{"month_key":"2025-11","month_label":"11/2025","alerts":4,"high":2,"low":2,"dq_overlap":0},{"month_key":"2025-12","month_label":"12/2025","alerts":10,"high":7,"low":3,"dq_overlap":1}]</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Beim Zähler ZL-00147 sehen wir im August einen Istverbrauch von 23.563 gegenüber einer Prognose von 7.304 Kilowattstunden. Die Abweichung beträgt plus 16.260 Kilowattstunden beziehungsweise plus 331,8 VLS-Stunden. Geteilt durch die q99-Grenze ergibt das den Faktor plus 2,30: ein Prüfhinweis. Im September liegt der Istwert zwar deutlich unter der Prognose, aber die Abweichung beträgt nur minus 98,5 VLS-Stunden beziehungsweise Faktor minus 0,68. Sie bleibt innerhalb des Bandes. Der Faktor zeigt also die Stärke relativ zur Grenze – er ist keine Wahrscheinlichkeit.</a:t>
            </a:r>
          </a:p>
          <a:p xmlns:a="http://schemas.openxmlformats.org/drawingml/2006/main">
            <a:r>
              <a:t/>
            </a:r>
          </a:p>
          <a:p xmlns:a="http://schemas.openxmlformats.org/drawingml/2006/main">
            <a:r>
              <a:t>August: Ist 23.563,5 kWh, Prognose 7.303,9 kWh, Residuum +16.259,6 kWh = +331,8 VLS-h, Faktor +2,30. September: Ist 5.915,0 kWh, Prognose 10.739,7 kWh, Residuum −4.824,7 kWh = −98,5 VLS-h, Faktor −0,68.</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Ein Hinweis ist zunächst eine Aufforderung zur Prüfung. Wir beginnen bei der Messung: Stimmen Einheit, Zählerzuordnung und Datenübertragung? Danach prüfen wir den betrieblichen Kontext, insbesondere Produktion, geplante Wartung und besondere Ereignisse. Erst anschließend entscheidet der Fachbereich, ob und welche Maßnahme nötig ist.</a:t>
            </a:r>
          </a:p>
          <a:p xmlns:a="http://schemas.openxmlformats.org/drawingml/2006/main">
            <a:r>
              <a:t>Die fachliche Einordnung sollte eine Begründung enthalten. Mögliche Ergebnisse sind eine bestätigte technische Auffälligkeit, ein Mess- oder Datenfehler, eine plausible Betriebsänderung oder ein zunächst unklarer Fall. Das sind vorgeschlagene Prüfkategorien, keine heute vorhandene Ground Truth.</a:t>
            </a:r>
          </a:p>
          <a:p xmlns:a="http://schemas.openxmlformats.org/drawingml/2006/main">
            <a:r>
              <a:t>Damit wir später auch übersehene Fälle untersuchen können, sollten zusätzlich zufällig ausgewählte Monate ohne Hinweis geprüft werden. Dieser Ablauf ist ein Prozessvorschlag und noch kein gemessener Produktivprozess.</a:t>
            </a:r>
          </a:p>
          <a:p xmlns:a="http://schemas.openxmlformats.org/drawingml/2006/main">
            <a:r>
              <a:t>Quellen: Abschlussbericht, Abschnitt 4.5 und Anhang E; Projektauftrag, Abschnitt 8.</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Drei Grenzen sind für die nächste Entscheidung wesentlich. Erstens fehlen bestätigte Anomalielabel. Precision und Recall können wir deshalb nicht belastbar ausweisen. Auch Fälle ohne Hinweis müssen stichprobenartig bewertet werden, damit wir mögliche übersehene Fälle sehen. Die Schwelle basiert außerdem nur auf November und Dezember 2024; ihre Übertragbarkeit auf andere Jahreszeiten ist noch zu prüfen.</a:t>
            </a:r>
          </a:p>
          <a:p xmlns:a="http://schemas.openxmlformats.org/drawingml/2006/main">
            <a:r>
              <a:t>Zweitens müssen Wetter-, Produktions- und Wartungsinformationen zum richtigen Zeitpunkt verfügbar sein. Die bereitgestellte Aufgabe setzt diese Verfügbarkeit voraus, ein produktiver Nachweis fehlt bislang.</a:t>
            </a:r>
          </a:p>
          <a:p xmlns:a="http://schemas.openxmlformats.org/drawingml/2006/main">
            <a:r>
              <a:t>Drittens bleibt die Verantwortung beim Fachbereich. Für eine spätere Anbindung empfehlen wir begrenzte Zugriffsrechte, dokumentierte Entscheidungen und festgelegte Aufbewahrung. Zähler-IDs machen Daten nicht automatisch anonym. Fehler und Hinweisquoten sollten zusätzlich nach Kundentyp und Anschlussgröße geprüft werden. Eine validierte Fairnessbewertung oder eine Datenschutzfreigabe behaupten wir damit nicht.</a:t>
            </a:r>
          </a:p>
          <a:p xmlns:a="http://schemas.openxmlformats.org/drawingml/2006/main">
            <a:r>
              <a:t>Quellen: Projektauftrag, Abschnitt 8; Abschlussbericht, Abschnitte 1.4 und 4.4.</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Wir empfehlen einen begrenzten Schattenpilot mit ausgewählten Zählern. Die neuen Prognosen und Hinweise laufen zunächst parallel zum bisherigen Prozess und lösen keine automatische Entscheidung aus. Vor dem Start müssen Datenversionen, Verantwortlichkeiten und verfügbare Prüfkapazität feststehen.</a:t>
            </a:r>
          </a:p>
          <a:p xmlns:a="http://schemas.openxmlformats.org/drawingml/2006/main">
            <a:r>
              <a:t>Im Pilot vergleichen wir Modell und Baselines und erfassen Hinweisvolumen, Bearbeitungszeit sowie bestätigte Ursachen. Gemeinsam mit den Fachbereichen legen wir vorab fest, welche Qualität, welcher Aufwand und welche Datenabdeckung für eine Fortführung erforderlich sind.</a:t>
            </a:r>
          </a:p>
          <a:p xmlns:a="http://schemas.openxmlformats.org/drawingml/2006/main">
            <a:r>
              <a:t>Bei Drift, Datenänderungen oder Qualitätsverlust prüfen wir zuerst die Ursache. Ein neues Training oder eine veränderte Schwelle braucht anschließend eine erneute getrennte Validierung. Erst mit belegten Preis-, Zeit- und Ergebnisdaten lässt sich die wirtschaftliche Wirkung bewerten.</a:t>
            </a:r>
          </a:p>
          <a:p xmlns:a="http://schemas.openxmlformats.org/drawingml/2006/main">
            <a:r>
              <a:t>Quelle: Abschlussbericht, Abschnitte 3.7 und 4.4.3.</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Drei Ergebnisse können wir belegen: eine reproduzierbare Grundlage mit 16.800 Zähler-Monaten, einen um 15,9 Prozent geringeren RMSE gegenüber der besten einfachen Baseline im Benchmark 2025 und durchschnittlich 9,5 Hinweise pro Monat beim q99-Szenario.</a:t>
            </a:r>
          </a:p>
          <a:p xmlns:a="http://schemas.openxmlformats.org/drawingml/2006/main">
            <a:r>
              <a:t>Die Erkennungsqualität bestätigter Defekte sowie Zeit- und Euro-Einsparungen sind noch offen. Deshalb empfehlen wir einen menschlich begleiteten Pilotbetrieb und eine strukturierte Erfassung fachlicher Rückmeldungen. Mit genügend belastbaren Labels könnte später eine eigene Klassifikationsaufgabe die Priorisierung ergänzen. Sie müsste separat validiert werden.</a:t>
            </a:r>
          </a:p>
          <a:p xmlns:a="http://schemas.openxmlformats.org/drawingml/2006/main">
            <a:r>
              <a:t>Die Prognose priorisiert die Prüfung; sie stellt keine Diagnose.</a:t>
            </a:r>
          </a:p>
          <a:p xmlns:a="http://schemas.openxmlformats.org/drawingml/2006/main">
            <a:r>
              <a:t>Quellen: Abschlussbericht, Abschnitte 3.7 und 4.3 bis 4.4; Notebook 13 und Dashboard-Export.</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der Demo gehen wir den Datenweg gemeinsam durch: zwei Minuten Rohdaten, drei Minuten Bereinigung, drei Minuten EDA, vier Minuten Modellierung, zwei Minuten Cockpit und eine Minute Puffer für Rückfragen. Jede Person zeigt ihren eigenen Verantwortungsbereich und erklärt die wesentliche Entscheidung hinter dem Ergebnis.</a:t>
            </a:r>
          </a:p>
          <a:p xmlns:a="http://schemas.openxmlformats.org/drawingml/2006/main">
            <a:r>
              <a:t>Vor dem Termin öffnen wir Notebooks, Daten und das lokale Cockpit. Gespeicherte Notebook-Ergebnisse erlauben uns, den Ablauf ohne lange Wartezeit auf einen vollständigen Trainingslauf zu erklären. Falls eine Live-Ausführung nicht funktioniert, stehen diese Ergebnisse sowie die Diagramme und der folgende Screenshot als Fallback bereit. Bereits gespeicherte Ergebnisse kennzeichnen wir dabei klar.</a:t>
            </a:r>
          </a:p>
          <a:p xmlns:a="http://schemas.openxmlformats.org/drawingml/2006/main">
            <a:r>
              <a:t>Quelle: bereitgestellte Präsentationsvorlage und Learning Journey zur 30-Minuten-Präsentation und 15-Minuten-Demo.</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Wir öffnen die lokale Anomalieansicht und prüfen zunächst den Zeitraum 2025 und die aktive q99-Schwelle. Danach zeigen wir die priorisierte Liste und wählen einen hohen sowie einen niedrigen Fall aus.</a:t>
            </a:r>
          </a:p>
          <a:p xmlns:a="http://schemas.openxmlformats.org/drawingml/2006/main">
            <a:r>
              <a:t>Bei ZL-00147 im August erklären wir Istwert, Prognose, Richtung und Schwellenfaktor. Anschließend prüfen wir den Kontext und zeigen, wie eine begründete fachliche Einordnung dokumentiert werden kann. Diese Rückmeldung wäre später die Grundlage für bestätigte Labels.</a:t>
            </a:r>
          </a:p>
          <a:p xmlns:a="http://schemas.openxmlformats.org/drawingml/2006/main">
            <a:r>
              <a:t>Die Oberfläche verwendet den retrospektiven Projektexport und besitzt keine produktive Systemanbindung. Der Screenshot dient als Rückfallebene; für eine Interaktion öffnen wir das Cockpit im lokalen Browser.</a:t>
            </a:r>
          </a:p>
          <a:p xmlns:a="http://schemas.openxmlformats.org/drawingml/2006/main">
            <a:r>
              <a:t>Quelle: brand/design-system/ui_kits/energie-cockpit und Abschlussbericht, Anhang E.</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Vielen Dank. Wir freuen uns auf Ihre Fragen zu den Daten, der Modellentscheidung und der möglichen Umsetzung.</a:t>
            </a:r>
          </a:p>
          <a:p xmlns:a="http://schemas.openxmlformats.org/drawingml/2006/main">
            <a:r>
              <a:t>Für das Fachgespräch können wir insbesondere erklären, warum wir zeitliche Folds statt eines Zufallssplits verwenden, weshalb VLS die Zielgröße bilden und wie wir zukünftige Information aus den Eingaben heraushalten. Weitere Fragen betreffen die Aussagekraft ohne bestätigte Labels und die Erfolgsmessung im Pilot.</a:t>
            </a:r>
          </a:p>
          <a:p xmlns:a="http://schemas.openxmlformats.org/drawingml/2006/main">
            <a:r>
              <a:t>Die folgenden Folien enthalten Vertiefungen. Sie sind nicht Bestandteil des regulären 30-Minuten-Hauptvortrags.</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Detailtabelle verwendet eine einheitliche Bezugsbasis: 16.800 Zeilen nach Entfernung der Dubletten. Nur die Anzahl der 30 Dubletten bezieht sich auf die ursprünglichen 16.830 Rohzeilen.</a:t>
            </a:r>
          </a:p>
          <a:p xmlns:a="http://schemas.openxmlformats.org/drawingml/2006/main">
            <a:r>
              <a:t>Dadurch unterscheiden sich zwei Zählungen von der alten Vorlage. Dort stehen 505 abweichende Kundentyp-Schreibweisen und 11.316 nicht im ISO-Format angegebene Monate. Nach der Deduplizierung sind es 504 beziehungsweise 11.298. Auch die MWh-Texte werden auf der deduplizierten Basis gezählt; hier sind es 672. Die Befunde können sich in einer Zeile überschneiden und dürfen nicht zu einer Gesamtfehlerquote addiert werden.</a:t>
            </a:r>
          </a:p>
          <a:p xmlns:a="http://schemas.openxmlformats.org/drawingml/2006/main">
            <a:r>
              <a:t>Die drei Zielwerte 0, −50 und −1.000 rekonstruieren wir rückblickend aus der dokumentierten Information der Folgezeile. Für die strikte ML-Bewertung schließen wir diese Fälle aus.</a:t>
            </a:r>
          </a:p>
          <a:p xmlns:a="http://schemas.openxmlformats.org/drawingml/2006/main">
            <a:r>
              <a:t>Quellen: unveränderte Rohdatei, Datenbereinigungsnotebook und audit/eda_data.json, quality_findings.</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Tabelle beschreibt die bereinigte Datenbasis vor der ML-Neuberechnung. Dort fehlen 700 Vormonatswerte am Beginn der Zeitreihen und 8.400 Vorjahreswerte für 2024, weil 2023 nicht zum Datensatz gehört. Nach dem Ausblenden der Plausibilitätsfälle und der Neuberechnung der Historie enthält die ML-Datei 719 fehlende Vormonatswerte und 8.410 fehlende Vorjahreswerte. Die Zahlen gehören also zu unterschiedlichen Verarbeitungsschritten.</a:t>
            </a:r>
          </a:p>
          <a:p xmlns:a="http://schemas.openxmlformats.org/drawingml/2006/main">
            <a:r>
              <a:t>Besonders auffällig war das gelieferte Drei-Monats-Mittel: Schon im Januar 2024 waren 699 von 700 Werten gefüllt, obwohl die notwendige Vorhistorie im Projekt nicht prüfbar vorlag. Wir übernehmen diese Statistik nicht, sondern berechnen das Mittel je Zähler aus bis zu drei bekannten Vormonaten neu. Im Januar bleiben deshalb alle 700 Werte leer. In späteren Monaten verwenden wir nur die jeweils verfügbare gültige Historie. Die 504 Temperaturlücken werden nicht pauschal ergänzt; das finale Merkmalset verwendet Heizgradtage. Fehlende Produktionsplanwerte behandelt die Pipeline mit einem ausschließlich im Trainingsfold gelernten Median und einem Fehlwertindikator.</a:t>
            </a:r>
          </a:p>
          <a:p xmlns:a="http://schemas.openxmlformats.org/drawingml/2006/main">
            <a:r>
              <a:t>Die 20 Fälle über Vertragsleistung mal Monatsstunden verteilen sich mit jeweils zehn auf die beiden Jahre. Ohne fachliche Bestätigung sind das Plausibilitätsflags, keine bewiesenen Messfehler. Die zehn Fälle aus 2024 bleiben außerhalb des Trainings, die zehn Fälle aus 2025 bewusst im Benchmark. Diese Markierung ist von den drei rekonstruierten Zielwerten zu unterscheiden.</a:t>
            </a:r>
          </a:p>
          <a:p xmlns:a="http://schemas.openxmlformats.org/drawingml/2006/main">
            <a:r>
              <a:t>Quellen: audit/eda_data.json und Notebook 13.</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Links sehen wir den Median der monatlichen kWh je Kundentyp. Rechts sehen wir den Median nach Division durch die jeweilige Vertragsleistung, also in VLS-Stunden. Die beiden Diagramme haben unterschiedliche Einheiten und Skalen.</a:t>
            </a:r>
          </a:p>
          <a:p xmlns:a="http://schemas.openxmlformats.org/drawingml/2006/main">
            <a:r>
              <a:t>Auf Basis aller 16.800 bereinigten Werte beträgt das Verhältnis Industrie zu Gewerbe beim kWh-Median etwa 5,22. Bei den VLS-Medianen sinkt es auf etwa 1,085. Die normierten Mediane liegen bei rund 159,7 Stunden für Gewerbe, 173,2 für Industrie und 169,9 für Kommunal. Das zeigt den verringerten Größeneffekt, beweist aber für sich noch keinen Modellvorteil.</a:t>
            </a:r>
          </a:p>
          <a:p xmlns:a="http://schemas.openxmlformats.org/drawingml/2006/main">
            <a:r>
              <a:t>Diese beschreibende Auswertung enthält auch die 20 Plausibilitätsflags. ältere EDA-Darstellungen verwenden teilweise eine um diese Fälle reduzierte Basis und können geringfügig andere Werte ergeben. VLS sind eine rechnerische Normierung und keine gemessene Betriebsdauer.</a:t>
            </a:r>
          </a:p>
          <a:p xmlns:a="http://schemas.openxmlformats.org/drawingml/2006/main">
            <a:r>
              <a:t>Quelle: audit/eda_data.json, charts.normalization.</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MAE sagt anschaulich, wie groß die absolute Abweichung im Durchschnitt ist. Beim RMSE werden die Fehler zuerst quadriert; dadurch wirken große Einzelfehler stärker. Das passt zu unserem Ziel, erhebliche Fehlprognosen nicht zu verdecken. Deshalb entscheiden wir die Modelle mit dem RMSE und ergänzen den leichter interpretierbaren MAE. R² lasse ich aus dieser didaktischen Geschichte heraus, weil es für die Kernaussage nicht nötig ist.</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Hier vergleichen wir fair denselben Modelltyp und bewerten beide Varianten in Kilowattstunden. Die VLS-Variante erreicht 9.188 statt rund 9.800 Kilowattstunden RMSE. Das sind 6,2 Prozent weniger. Daraus folgt nicht, dass VLS immer überlegen sind; es ist das Ergebnis dieses Datensatzes und unseres Versuchsaufbaus.</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Sensitivitätsanalyse verändert nicht das Modell und trainiert nichts neu. Sie verschiebt nur die betriebliche Fehlergrenze. Eine niedrigere Grenze erzeugt mehr Hinweise und erhöht die Chance, relevante Fälle zu sehen, aber auch den Prüfaufwand. q99 ist unsere konservative Pilotannahme. Welcher Punkt langfristig richtig ist, muss der Fachbereich anhand verfügbarer Prüfkapazität und später bestätigter Labels entscheiden.</a:t>
            </a:r>
          </a:p>
          <a:p xmlns:a="http://schemas.openxmlformats.org/drawingml/2006/main">
            <a:r>
              <a:t/>
            </a:r>
          </a:p>
          <a:p xmlns:a="http://schemas.openxmlformats.org/drawingml/2006/main">
            <a:r>
              <a:t>q99 ist eine dokumentierte Pilotannahme. q99,5 ergibt exakt 69/12 = 5,75 Hinweise pro Monat, gerundet 5,8. Weitere Werte: [{"quantile":0.95,"percentile":95,"threshold_vls":67.9943,"alerts":400,"alerts_per_month":33.3333,"meters_affected":265,"high":248,"low":152},{"quantile":0.975,"percentile":97.5,"threshold_vls":82.4304,"alerts":256,"alerts_per_month":21.3333,"meters_affected":197,"high":149,"low":107},{"quantile":0.99,"percentile":99,"threshold_vls":144.3547,"alerts":114,"alerts_per_month":9.5,"meters_affected":107,"high":68,"low":46},{"quantile":0.995,"percentile":99.5,"threshold_vls":196.2984,"alerts":69,"alerts_per_month":5.75,"meters_affected":66,"high":58,"low":11}]</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Balken zeigen die drei RF-Fold-Ergebnisse. Fold 2 erzielt den kleinsten RMSE. Die Zeiträume unterscheiden sich, daher lässt sich der Unterschied nicht allein auf die Trainingsmenge zurückführen. Die Tabelle dokumentiert die gewählten Hyperparameter.</a:t>
            </a:r>
          </a:p>
          <a:p xmlns:a="http://schemas.openxmlformats.org/drawingml/2006/main">
            <a:r>
              <a:t/>
            </a:r>
          </a:p>
          <a:p xmlns:a="http://schemas.openxmlformats.org/drawingml/2006/main">
            <a:r>
              <a:t>Korrigierte Rundung Fold 2: 8.223 kWh, exakter Wert 8223.484122161364. Konfiguration: Baumtiefe 8 begrenzt spezielle Regeln; mindestens 5 Fälle pro Blatt; Merkmalsanteil 0,7 fördert Unterschiede zwischen Bäumen; 300 Bäume stabilisieren das Ensemble; Seed 42 gewährleistet Reproduzierbarkeit.</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lineare Regression ist unsere verständliche Referenz; der Random Forest kann zusätzlich nichtlineare Zusammenhänge abbilden. Statt einer unnötig großen Grid Search haben wir acht fachlich kontrollierte Kombinationen im gleichen zeitlichen Validierungsrahmen geprüft. Das sind 24 Fits. Gewonnen hat die Kombination mit dem niedrigsten mittleren RMSE – das Testjahr 2025 hatte auf diese Wahl keinen Einfluss.</a:t>
            </a:r>
          </a:p>
          <a:p xmlns:a="http://schemas.openxmlformats.org/drawingml/2006/main">
            <a:r>
              <a:t/>
            </a:r>
          </a:p>
          <a:p xmlns:a="http://schemas.openxmlformats.org/drawingml/2006/main">
            <a:r>
              <a:t>Suchraum: max_depth [8,None], min_samples_leaf [5,20], max_features [0.7,1.0], also 8 Konfigurationen × 3 Zeit-Folds = 24 Fits. n_estimators=300, random_state=42. 2025 beeinflusst keine Hyperparameterauswahl.</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Begriffe dürfen nicht gleichgesetzt werden. Ein statistischer Ausreißer ist lediglich ungewöhnlich gegenüber einer Verteilung. Unsere Methode betrachtet dagegen die Abweichung zwischen Istwert und individueller Modellprognose. Wird die q99-Grenze überschritten, entsteht ein Prüfhinweis. Erst eine menschliche Untersuchung kann daraus eine bestätigte Anomalie machen. Ohne solche Ground-Truth-Labels wären Precision und Recall erfunden; zusätzlich sollten auch zufällig ausgewählte Fälle ohne Hinweis geprüft werden, damit später nicht nur die Trefferquote, sondern auch übersehene Fälle beurteilt werden können.</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Für einen belastbaren ROI fehlen im Datensatz die Prozesskosten und bestätigte finanzielle Wirkungen. Die Tabelle ist deshalb ausschließlich ein transparentes Aufwandsszenario. Die durchschnittlichen 9,5 Hinweise pro Monat stammen aus dem Benchmark 2025. Zehn, zwanzig oder dreißig Minuten je Hinweis sind ausdrücklich angenommene Bearbeitungszeiten, keine Messwerte.</a:t>
            </a:r>
          </a:p>
          <a:p xmlns:a="http://schemas.openxmlformats.org/drawingml/2006/main">
            <a:r>
              <a:t>Die reine Rechnung ergibt rund 1,6, 3,2 oder 4,8 Stunden pro Monat. Nicht enthalten sind Stichproben ohne Hinweis, Nachverfolgung, Infrastruktur, Integration, Modelltraining oder Wartung. Aus diesen Werten folgt keine Einsparung.</a:t>
            </a:r>
          </a:p>
          <a:p xmlns:a="http://schemas.openxmlformats.org/drawingml/2006/main">
            <a:r>
              <a:t>Im Pilot müssen wir tatsächliche Bearbeitungszeiten und Folgeschritte erfassen, Ursachen bestätigen und Betriebs-, Integrations- sowie Pflegekosten bestimmen. Für die Beschaffungswirkung brauchen wir zusätzlich Mengenprognosen und reale Preise.</a:t>
            </a:r>
          </a:p>
          <a:p xmlns:a="http://schemas.openxmlformats.org/drawingml/2006/main">
            <a:r>
              <a:t>Quellen: Hinweisvolumen aus Notebook 13 und Dashboard-Export; Zeitansätze als ausdrücklich gekennzeichnete Szenarioannahmen.</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Unsere Aussagen bleiben den jeweiligen Projektquellen zugeordnet. Auftrag und Teamkontext stammen aus dem Fallbrief und Abschlussbericht. Die hier gezeigte EDA verwendet alle 16.800 bereinigten Zeilen; abweichende ältere EDA-Stände können auf einer gefilterten Basis mit 16.780 Zeilen beruhen.</a:t>
            </a:r>
          </a:p>
          <a:p xmlns:a="http://schemas.openxmlformats.org/drawingml/2006/main">
            <a:r>
              <a:t>Die ML-Diagramme der beiden neuen Präsentationen verwenden einheitlich Notebook 13. Bei der gruppierten Permutation Importance nutzt dieses Notebook drei Wiederholungen. Der Bericht verwendet Notebook 12 mit fünf Wiederholungen und leicht anderen Zahlen; die Rangfolge der Informationsgruppen bleibt gleich. Die betreffenden Diagrammnotizen nennen diesen Unterschied ausdrücklich.</a:t>
            </a:r>
          </a:p>
          <a:p xmlns:a="http://schemas.openxmlformats.org/drawingml/2006/main">
            <a:r>
              <a:t>Der Cockpit-Export dient zum Abgleich von Prognosen, Schwellen und Hinweiszahlen. Die Datumsangaben in Bericht und Vorlage sind widersprüchlich; ein aktueller Prüfungstermin ist deshalb nicht angegeben.</a:t>
            </a:r>
          </a:p>
          <a:p xmlns:a="http://schemas.openxmlformats.org/drawingml/2006/main">
            <a:r>
              <a:t>Quellen und genaue Auswertungsdefinitionen sind in den Foliennotizen sowie in audit/project_facts.json und audit/eda_data.json dokumentiert.</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3cbcf01019411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572724683b4517" /><Relationship Type="http://schemas.openxmlformats.org/officeDocument/2006/relationships/slideLayout" Target="/ppt/slideLayouts/slideLayout1.xml" Id="R581ace83ae4844e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81ace83ae4844e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StadtWerke Westhafen">
      <a:dk1>
        <a:srgbClr val="141A21"/>
      </a:dk1>
      <a:lt1>
        <a:srgbClr val="FFFFFF"/>
      </a:lt1>
      <a:dk2>
        <a:srgbClr val="063659"/>
      </a:dk2>
      <a:lt2>
        <a:srgbClr val="F1F4F7"/>
      </a:lt2>
      <a:accent1>
        <a:srgbClr val="084878"/>
      </a:accent1>
      <a:accent2>
        <a:srgbClr val="0090C8"/>
      </a:accent2>
      <a:accent3>
        <a:srgbClr val="0080A0"/>
      </a:accent3>
      <a:accent4>
        <a:srgbClr val="A86505"/>
      </a:accent4>
      <a:accent5>
        <a:srgbClr val="B3261E"/>
      </a:accent5>
      <a:accent6>
        <a:srgbClr val="8C98A6"/>
      </a:accent6>
      <a:hlink>
        <a:srgbClr val="0080A0"/>
      </a:hlink>
      <a:folHlink>
        <a:srgbClr val="084878"/>
      </a:folHlink>
    </a:clrScheme>
    <a:fontScheme name="Office">
      <a:majorFont>
        <a:latin typeface="Calibri Light"/>
        <a:ea typeface="Calibri Light"/>
        <a:cs typeface="Calibri Light"/>
      </a:majorFont>
      <a:minorFont>
        <a:latin typeface="Calibri"/>
        <a:ea typeface="Calibri"/>
        <a:cs typeface="Calibri"/>
      </a:minorFont>
    </a:fontScheme>
    <a:fmtScheme name="StadtWerke Westhafe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733bb6c092d42fe" /><Relationship Type="http://schemas.openxmlformats.org/officeDocument/2006/relationships/image" Target="/ppt/media/image.png" Id="R7d9bdb312e114786" /><Relationship Type="http://schemas.openxmlformats.org/officeDocument/2006/relationships/notesSlide" Target="/ppt/notesSlides/notesSlide1.xml" Id="Rb81410c7735c4c1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905fcf25e964a2f" /><Relationship Type="http://schemas.openxmlformats.org/officeDocument/2006/relationships/image" Target="/ppt/media/image2.png" Id="R90fae26eda794fbd" /><Relationship Type="http://schemas.openxmlformats.org/officeDocument/2006/relationships/notesSlide" Target="/ppt/notesSlides/notesSlide2.xml" Id="Re7cc3080bf73487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98e7363cf4f4e7c" /><Relationship Type="http://schemas.openxmlformats.org/officeDocument/2006/relationships/image" Target="/ppt/media/image3.png" Id="Rb71ba8b071564300" /><Relationship Type="http://schemas.openxmlformats.org/officeDocument/2006/relationships/notesSlide" Target="/ppt/notesSlides/notesSlide3.xml" Id="Rbe049ffcc79a497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4bb631ba8fd4f69" /><Relationship Type="http://schemas.openxmlformats.org/officeDocument/2006/relationships/image" Target="/ppt/media/image4.png" Id="R504ff7759c1b4dd0" /><Relationship Type="http://schemas.openxmlformats.org/officeDocument/2006/relationships/notesSlide" Target="/ppt/notesSlides/notesSlide4.xml" Id="R73147551e1884c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0e5fd28957e47b8" /><Relationship Type="http://schemas.openxmlformats.org/officeDocument/2006/relationships/image" Target="/ppt/media/image5.png" Id="Rcf83cba2c36742cb" /><Relationship Type="http://schemas.openxmlformats.org/officeDocument/2006/relationships/notesSlide" Target="/ppt/notesSlides/notesSlide5.xml" Id="R8490a1c7ae2b454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70236ea9e314217" /><Relationship Type="http://schemas.openxmlformats.org/officeDocument/2006/relationships/image" Target="/ppt/media/image6.png" Id="R678bc0936b7340ad" /><Relationship Type="http://schemas.openxmlformats.org/officeDocument/2006/relationships/notesSlide" Target="/ppt/notesSlides/notesSlide6.xml" Id="R01a235ead8064a1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d3ffa59a9344f68" /><Relationship Type="http://schemas.openxmlformats.org/officeDocument/2006/relationships/image" Target="/ppt/media/image7.png" Id="R23718d7b96ca4114" /><Relationship Type="http://schemas.openxmlformats.org/officeDocument/2006/relationships/notesSlide" Target="/ppt/notesSlides/notesSlide7.xml" Id="R4eba3ed961a04e8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ec5f4aa30cd4907" /><Relationship Type="http://schemas.openxmlformats.org/officeDocument/2006/relationships/image" Target="/ppt/media/image8.png" Id="Rd2ab32421a5b4b4f" /><Relationship Type="http://schemas.openxmlformats.org/officeDocument/2006/relationships/notesSlide" Target="/ppt/notesSlides/notesSlide8.xml" Id="R76a46366915c4ed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6b97d6525a74bdf" /><Relationship Type="http://schemas.openxmlformats.org/officeDocument/2006/relationships/image" Target="/ppt/media/image9.png" Id="Rcea6e7fa1e0d47d2" /><Relationship Type="http://schemas.openxmlformats.org/officeDocument/2006/relationships/chart" Target="/ppt/slides/charts/chart1.xml" Id="R142470c998554bca" /><Relationship Type="http://schemas.openxmlformats.org/officeDocument/2006/relationships/notesSlide" Target="/ppt/notesSlides/notesSlide9.xml" Id="R02eaaf0abfad4cb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121dc8e6dca476e" /><Relationship Type="http://schemas.openxmlformats.org/officeDocument/2006/relationships/image" Target="/ppt/media/image10.png" Id="R8533c5cd3f804555" /><Relationship Type="http://schemas.openxmlformats.org/officeDocument/2006/relationships/chart" Target="/ppt/slides/charts/chart2.xml" Id="R4ff95d50aeb04c5c" /><Relationship Type="http://schemas.openxmlformats.org/officeDocument/2006/relationships/notesSlide" Target="/ppt/notesSlides/notesSlide10.xml" Id="R40c8b174883c41a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ab583607a214c86" /><Relationship Type="http://schemas.openxmlformats.org/officeDocument/2006/relationships/image" Target="/ppt/media/image11.png" Id="Rd789147272fa43fc" /><Relationship Type="http://schemas.openxmlformats.org/officeDocument/2006/relationships/notesSlide" Target="/ppt/notesSlides/notesSlide11.xml" Id="R674654c68bbb467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3591180b6f34567" /><Relationship Type="http://schemas.openxmlformats.org/officeDocument/2006/relationships/image" Target="/ppt/media/image12.png" Id="Red20eff57ae74549" /><Relationship Type="http://schemas.openxmlformats.org/officeDocument/2006/relationships/notesSlide" Target="/ppt/notesSlides/notesSlide12.xml" Id="R912ebcb58c7f48d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31c62d2548346b3" /><Relationship Type="http://schemas.openxmlformats.org/officeDocument/2006/relationships/image" Target="/ppt/media/image13.png" Id="Rdb7586dc453a4fbd" /><Relationship Type="http://schemas.openxmlformats.org/officeDocument/2006/relationships/notesSlide" Target="/ppt/notesSlides/notesSlide13.xml" Id="R478866813a63418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be29d278fd9438e" /><Relationship Type="http://schemas.openxmlformats.org/officeDocument/2006/relationships/image" Target="/ppt/media/image14.png" Id="R6cda29ffae8b48b8" /><Relationship Type="http://schemas.openxmlformats.org/officeDocument/2006/relationships/notesSlide" Target="/ppt/notesSlides/notesSlide14.xml" Id="Re5b4796e09d44fe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10fc83758bc4cf1" /><Relationship Type="http://schemas.openxmlformats.org/officeDocument/2006/relationships/image" Target="/ppt/media/image15.png" Id="Rd78c2bb72dba4d89" /><Relationship Type="http://schemas.openxmlformats.org/officeDocument/2006/relationships/notesSlide" Target="/ppt/notesSlides/notesSlide15.xml" Id="R211b727bcd1f418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5e910d9a9924ee1" /><Relationship Type="http://schemas.openxmlformats.org/officeDocument/2006/relationships/image" Target="/ppt/media/image16.png" Id="Rbe3c476a7de74074" /><Relationship Type="http://schemas.openxmlformats.org/officeDocument/2006/relationships/chart" Target="/ppt/slides/charts/chart3.xml" Id="Ra56c6898053548a8" /><Relationship Type="http://schemas.openxmlformats.org/officeDocument/2006/relationships/notesSlide" Target="/ppt/notesSlides/notesSlide16.xml" Id="Reb4c51732dfc4f1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445cb1a63874ecb" /><Relationship Type="http://schemas.openxmlformats.org/officeDocument/2006/relationships/image" Target="/ppt/media/image17.png" Id="R1f1bb3a43d9a4350" /><Relationship Type="http://schemas.openxmlformats.org/officeDocument/2006/relationships/chart" Target="/ppt/slides/charts/chart4.xml" Id="Rdeee0d7444cc4400" /><Relationship Type="http://schemas.openxmlformats.org/officeDocument/2006/relationships/notesSlide" Target="/ppt/notesSlides/notesSlide17.xml" Id="R63d20aff73174b3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4f38ce3dfb44c95" /><Relationship Type="http://schemas.openxmlformats.org/officeDocument/2006/relationships/image" Target="/ppt/media/image18.png" Id="R3e4000d8f1ba423b" /><Relationship Type="http://schemas.openxmlformats.org/officeDocument/2006/relationships/chart" Target="/ppt/slides/charts/chart5.xml" Id="R557296273a914a74" /><Relationship Type="http://schemas.openxmlformats.org/officeDocument/2006/relationships/notesSlide" Target="/ppt/notesSlides/notesSlide18.xml" Id="R58ddea5be5f44d7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0843b866b01466e" /><Relationship Type="http://schemas.openxmlformats.org/officeDocument/2006/relationships/image" Target="/ppt/media/image19.png" Id="R930e5a2778de4f92" /><Relationship Type="http://schemas.openxmlformats.org/officeDocument/2006/relationships/chart" Target="/ppt/slides/charts/chart6.xml" Id="Raa952ebed0ab4e7e" /><Relationship Type="http://schemas.openxmlformats.org/officeDocument/2006/relationships/notesSlide" Target="/ppt/notesSlides/notesSlide19.xml" Id="Rc652be4dcb34485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f7dcfc539494148" /><Relationship Type="http://schemas.openxmlformats.org/officeDocument/2006/relationships/image" Target="/ppt/media/image20.png" Id="R26a7fc4093e44ff6" /><Relationship Type="http://schemas.openxmlformats.org/officeDocument/2006/relationships/chart" Target="/ppt/slides/charts/chart7.xml" Id="R551c95e8f86044e1" /><Relationship Type="http://schemas.openxmlformats.org/officeDocument/2006/relationships/notesSlide" Target="/ppt/notesSlides/notesSlide20.xml" Id="R891c584b9bda4d0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28abf4f1ada4bb7" /><Relationship Type="http://schemas.openxmlformats.org/officeDocument/2006/relationships/image" Target="/ppt/media/image21.png" Id="R21fff741da0a42b3" /><Relationship Type="http://schemas.openxmlformats.org/officeDocument/2006/relationships/chart" Target="/ppt/slides/charts/chart8.xml" Id="Rd9209147f5f941ae" /><Relationship Type="http://schemas.openxmlformats.org/officeDocument/2006/relationships/notesSlide" Target="/ppt/notesSlides/notesSlide21.xml" Id="R83e4f1df4128492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1f76ad3f77143f8" /><Relationship Type="http://schemas.openxmlformats.org/officeDocument/2006/relationships/image" Target="/ppt/media/image22.png" Id="R1ed30f7884c64280" /><Relationship Type="http://schemas.openxmlformats.org/officeDocument/2006/relationships/notesSlide" Target="/ppt/notesSlides/notesSlide22.xml" Id="Re1245019be594a6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74b148de65d43f6" /><Relationship Type="http://schemas.openxmlformats.org/officeDocument/2006/relationships/image" Target="/ppt/media/image23.png" Id="R02eeb5bc39d64b3f" /><Relationship Type="http://schemas.openxmlformats.org/officeDocument/2006/relationships/notesSlide" Target="/ppt/notesSlides/notesSlide23.xml" Id="Rb5a26a83147d4be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84cdde6d6524373" /><Relationship Type="http://schemas.openxmlformats.org/officeDocument/2006/relationships/image" Target="/ppt/media/image24.png" Id="R1ddb233cdf284637" /><Relationship Type="http://schemas.openxmlformats.org/officeDocument/2006/relationships/notesSlide" Target="/ppt/notesSlides/notesSlide24.xml" Id="Re62768c1fdd34b9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b595f42f10c4c67" /><Relationship Type="http://schemas.openxmlformats.org/officeDocument/2006/relationships/notesSlide" Target="/ppt/notesSlides/notesSlide25.xml" Id="R9f4de1f951a64c6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20ca4b143a4479a" /><Relationship Type="http://schemas.openxmlformats.org/officeDocument/2006/relationships/image" Target="/ppt/media/image25.png" Id="R58ae0a883e0941e8" /><Relationship Type="http://schemas.openxmlformats.org/officeDocument/2006/relationships/notesSlide" Target="/ppt/notesSlides/notesSlide26.xml" Id="Ra30c84d6805d432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c51be29e27f4536" /><Relationship Type="http://schemas.openxmlformats.org/officeDocument/2006/relationships/image" Target="/ppt/media/image26.png" Id="R6c7bd3f18eeb4da5" /><Relationship Type="http://schemas.openxmlformats.org/officeDocument/2006/relationships/image" Target="/ppt/media/image27.png" Id="R672dabf3a63245f1" /><Relationship Type="http://schemas.openxmlformats.org/officeDocument/2006/relationships/hyperlink" Target="http://127.0.0.1:4173/design-system/ui_kits/energie-cockpit/index.html?screen=anomalien" TargetMode="External" Id="Rd82456c217414a1d" /><Relationship Type="http://schemas.openxmlformats.org/officeDocument/2006/relationships/notesSlide" Target="/ppt/notesSlides/notesSlide27.xml" Id="R06300ea8216b40e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ef503e959f54443" /><Relationship Type="http://schemas.openxmlformats.org/officeDocument/2006/relationships/notesSlide" Target="/ppt/notesSlides/notesSlide28.xml" Id="Rff45d2cbb8df41f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94e8aa549cd46e6" /><Relationship Type="http://schemas.openxmlformats.org/officeDocument/2006/relationships/image" Target="/ppt/media/image28.png" Id="R6a6ca3166916494b" /><Relationship Type="http://schemas.openxmlformats.org/officeDocument/2006/relationships/notesSlide" Target="/ppt/notesSlides/notesSlide29.xml" Id="R5ca9a3690dad4fb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735dae5b979e4f19" /><Relationship Type="http://schemas.openxmlformats.org/officeDocument/2006/relationships/image" Target="/ppt/media/image29.png" Id="R6e5c72ca67a14aa6" /><Relationship Type="http://schemas.openxmlformats.org/officeDocument/2006/relationships/notesSlide" Target="/ppt/notesSlides/notesSlide30.xml" Id="Rb78d8616c565448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c5b6c79c03ea44b7" /><Relationship Type="http://schemas.openxmlformats.org/officeDocument/2006/relationships/image" Target="/ppt/media/image30.png" Id="R8635dbee6e08493e" /><Relationship Type="http://schemas.openxmlformats.org/officeDocument/2006/relationships/chart" Target="/ppt/slides/charts/chart9.xml" Id="R181fdc3bf59442b4" /><Relationship Type="http://schemas.openxmlformats.org/officeDocument/2006/relationships/chart" Target="/ppt/slides/charts/chart10.xml" Id="R4255a46c0f644f35" /><Relationship Type="http://schemas.openxmlformats.org/officeDocument/2006/relationships/notesSlide" Target="/ppt/notesSlides/notesSlide31.xml" Id="Rf89c6e3fad5e44a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dfc366b798244075" /><Relationship Type="http://schemas.openxmlformats.org/officeDocument/2006/relationships/image" Target="/ppt/media/image31.png" Id="Rc3fccb64088047e5" /><Relationship Type="http://schemas.openxmlformats.org/officeDocument/2006/relationships/chart" Target="/ppt/slides/charts/chart11.xml" Id="Rd2ab99cff8f542f0" /><Relationship Type="http://schemas.openxmlformats.org/officeDocument/2006/relationships/notesSlide" Target="/ppt/notesSlides/notesSlide32.xml" Id="Rf6297346ae64408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bd5cebe2a6664aed" /><Relationship Type="http://schemas.openxmlformats.org/officeDocument/2006/relationships/image" Target="/ppt/media/image32.png" Id="R64c1291710424653" /><Relationship Type="http://schemas.openxmlformats.org/officeDocument/2006/relationships/chart" Target="/ppt/slides/charts/chart12.xml" Id="Rb5ee4a6185844057" /><Relationship Type="http://schemas.openxmlformats.org/officeDocument/2006/relationships/notesSlide" Target="/ppt/notesSlides/notesSlide33.xml" Id="R3499c9d9dc14454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61c11325ff794477" /><Relationship Type="http://schemas.openxmlformats.org/officeDocument/2006/relationships/image" Target="/ppt/media/image33.png" Id="R1ad18769be224188" /><Relationship Type="http://schemas.openxmlformats.org/officeDocument/2006/relationships/chart" Target="/ppt/slides/charts/chart13.xml" Id="R4dadb30f8b124bb3" /><Relationship Type="http://schemas.openxmlformats.org/officeDocument/2006/relationships/notesSlide" Target="/ppt/notesSlides/notesSlide34.xml" Id="Rbbe1b94bdaf843d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2906fa40109742e3" /><Relationship Type="http://schemas.openxmlformats.org/officeDocument/2006/relationships/image" Target="/ppt/media/image34.png" Id="R14476c53a67e4b70" /><Relationship Type="http://schemas.openxmlformats.org/officeDocument/2006/relationships/chart" Target="/ppt/slides/charts/chart14.xml" Id="R3dbf2e14f962470b" /><Relationship Type="http://schemas.openxmlformats.org/officeDocument/2006/relationships/notesSlide" Target="/ppt/notesSlides/notesSlide35.xml" Id="R608448c70dce4da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e0a744ebedbf4371" /><Relationship Type="http://schemas.openxmlformats.org/officeDocument/2006/relationships/image" Target="/ppt/media/image35.png" Id="Rcce80fc7784a4f7f" /><Relationship Type="http://schemas.openxmlformats.org/officeDocument/2006/relationships/notesSlide" Target="/ppt/notesSlides/notesSlide36.xml" Id="R402c7b3dce7643e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718ccca3c4d5466b" /><Relationship Type="http://schemas.openxmlformats.org/officeDocument/2006/relationships/image" Target="/ppt/media/image36.png" Id="R288eeb0edfb44d97" /><Relationship Type="http://schemas.openxmlformats.org/officeDocument/2006/relationships/notesSlide" Target="/ppt/notesSlides/notesSlide37.xml" Id="R5545252c1ac8488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97cff7ac2f1848d4" /><Relationship Type="http://schemas.openxmlformats.org/officeDocument/2006/relationships/image" Target="/ppt/media/image37.png" Id="R411708b61d1149f8" /><Relationship Type="http://schemas.openxmlformats.org/officeDocument/2006/relationships/notesSlide" Target="/ppt/notesSlides/notesSlide38.xml" Id="R43fd80061f4c487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a44ad2d12ce84c32" /><Relationship Type="http://schemas.openxmlformats.org/officeDocument/2006/relationships/image" Target="/ppt/media/image38.png" Id="Rfa09a96b1a1c4345" /><Relationship Type="http://schemas.openxmlformats.org/officeDocument/2006/relationships/notesSlide" Target="/ppt/notesSlides/notesSlide39.xml" Id="R6877048bb8ff49d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_rels/chart13.xml.rels><Relationships xmlns="http://schemas.openxmlformats.org/package/2006/relationships"><Relationship Id="rIdChartSnapshot1" Type="http://schemas.openxmlformats.org/officeDocument/2006/relationships/package" Target="../../embeddings/chart-data-snapshot-013.xlsx"/></Relationships>
</file>

<file path=ppt/slides/charts/_rels/chart14.xml.rels><Relationships xmlns="http://schemas.openxmlformats.org/package/2006/relationships"><Relationship Id="rIdChartSnapshot1" Type="http://schemas.openxmlformats.org/officeDocument/2006/relationships/package" Target="../../embeddings/chart-data-snapshot-014.xlsx"/></Relationships>
</file>

<file path=ppt/slides/charts/chart1.xml><?xml version="1.0" encoding="utf-8"?>
<c:chartSpace xmlns:c="http://schemas.openxmlformats.org/drawingml/2006/chart" xmlns:r="http://schemas.openxmlformats.org/officeDocument/2006/relationships">
  <c:lang val="de-DE"/>
  <c:chart>
    <c:plotArea>
      <c:lineChart>
        <c:grouping val="standard"/>
        <c:varyColors val="0"/>
        <c:ser>
          <c:idx val="0"/>
          <c:order val="0"/>
          <c:tx>
            <c:v>2024</c:v>
          </c:tx>
          <c:spPr>
            <a:solidFill xmlns:a="http://schemas.openxmlformats.org/drawingml/2006/main">
              <a:srgbClr val="8C98A6"/>
            </a:solidFill>
            <a:ln xmlns:a="http://schemas.openxmlformats.org/drawingml/2006/main" w="23813">
              <a:solidFill>
                <a:srgbClr val="8C98A6"/>
              </a:solidFill>
              <a:prstDash val="solid"/>
            </a:ln>
          </c:spPr>
          <c:marker>
            <c:symbol val="circle"/>
            <c:size val="5"/>
            <c:spPr>
              <a:solidFill xmlns:a="http://schemas.openxmlformats.org/drawingml/2006/main">
                <a:srgbClr val="8C98A6"/>
              </a:solidFill>
            </c:spPr>
          </c:marker>
          <c:cat>
            <c:strRef>
              <c:f>'Chart Data'!$A$2:$A$13</c:f>
              <c:strCache>
                <c:ptCount val="12"/>
                <c:pt idx="0">
                  <c:v>Jan</c:v>
                </c:pt>
                <c:pt idx="1">
                  <c:v>Feb</c:v>
                </c:pt>
                <c:pt idx="2">
                  <c:v>Mär</c:v>
                </c:pt>
                <c:pt idx="3">
                  <c:v>Apr</c:v>
                </c:pt>
                <c:pt idx="4">
                  <c:v>Mai</c:v>
                </c:pt>
                <c:pt idx="5">
                  <c:v>Jun</c:v>
                </c:pt>
                <c:pt idx="6">
                  <c:v>Jul</c:v>
                </c:pt>
                <c:pt idx="7">
                  <c:v>Aug</c:v>
                </c:pt>
                <c:pt idx="8">
                  <c:v>Sep</c:v>
                </c:pt>
                <c:pt idx="9">
                  <c:v>Okt</c:v>
                </c:pt>
                <c:pt idx="10">
                  <c:v>Nov</c:v>
                </c:pt>
                <c:pt idx="11">
                  <c:v>Dez</c:v>
                </c:pt>
              </c:strCache>
            </c:strRef>
          </c:cat>
          <c:val>
            <c:numRef>
              <c:f>'Chart Data'!$B$2:$B$13</c:f>
              <c:numCache>
                <c:formatCode>0</c:formatCode>
                <c:ptCount val="12"/>
                <c:pt idx="0">
                  <c:v>20297.503983</c:v>
                </c:pt>
                <c:pt idx="1">
                  <c:v>19411.23225</c:v>
                </c:pt>
                <c:pt idx="2">
                  <c:v>19323.683921</c:v>
                </c:pt>
                <c:pt idx="3">
                  <c:v>20055.264908</c:v>
                </c:pt>
                <c:pt idx="4">
                  <c:v>20293.716328</c:v>
                </c:pt>
                <c:pt idx="5">
                  <c:v>15978.576873</c:v>
                </c:pt>
                <c:pt idx="6">
                  <c:v>16695.890068</c:v>
                </c:pt>
                <c:pt idx="7">
                  <c:v>15088.767716</c:v>
                </c:pt>
                <c:pt idx="8">
                  <c:v>14454.974719</c:v>
                </c:pt>
                <c:pt idx="9">
                  <c:v>16454.399758</c:v>
                </c:pt>
                <c:pt idx="10">
                  <c:v>15577.52901</c:v>
                </c:pt>
                <c:pt idx="11">
                  <c:v>17936.640595</c:v>
                </c:pt>
              </c:numCache>
            </c:numRef>
          </c:val>
          <c:smooth val="0"/>
        </c:ser>
        <c:ser>
          <c:idx val="1"/>
          <c:order val="1"/>
          <c:tx>
            <c:v>2025</c:v>
          </c:tx>
          <c:spPr>
            <a:solidFill xmlns:a="http://schemas.openxmlformats.org/drawingml/2006/main">
              <a:srgbClr val="084878"/>
            </a:solidFill>
            <a:ln xmlns:a="http://schemas.openxmlformats.org/drawingml/2006/main" w="33338">
              <a:solidFill>
                <a:srgbClr val="084878"/>
              </a:solidFill>
              <a:prstDash val="solid"/>
            </a:ln>
          </c:spPr>
          <c:marker>
            <c:symbol val="circle"/>
            <c:size val="6"/>
            <c:spPr>
              <a:solidFill xmlns:a="http://schemas.openxmlformats.org/drawingml/2006/main">
                <a:srgbClr val="084878"/>
              </a:solidFill>
            </c:spPr>
          </c:marker>
          <c:cat>
            <c:strRef>
              <c:f>'Chart Data'!$C$2:$C$13</c:f>
              <c:strCache>
                <c:ptCount val="12"/>
                <c:pt idx="0">
                  <c:v>Jan</c:v>
                </c:pt>
                <c:pt idx="1">
                  <c:v>Feb</c:v>
                </c:pt>
                <c:pt idx="2">
                  <c:v>Mär</c:v>
                </c:pt>
                <c:pt idx="3">
                  <c:v>Apr</c:v>
                </c:pt>
                <c:pt idx="4">
                  <c:v>Mai</c:v>
                </c:pt>
                <c:pt idx="5">
                  <c:v>Jun</c:v>
                </c:pt>
                <c:pt idx="6">
                  <c:v>Jul</c:v>
                </c:pt>
                <c:pt idx="7">
                  <c:v>Aug</c:v>
                </c:pt>
                <c:pt idx="8">
                  <c:v>Sep</c:v>
                </c:pt>
                <c:pt idx="9">
                  <c:v>Okt</c:v>
                </c:pt>
                <c:pt idx="10">
                  <c:v>Nov</c:v>
                </c:pt>
                <c:pt idx="11">
                  <c:v>Dez</c:v>
                </c:pt>
              </c:strCache>
            </c:strRef>
          </c:cat>
          <c:val>
            <c:numRef>
              <c:f>'Chart Data'!$D$2:$D$13</c:f>
              <c:numCache>
                <c:formatCode>0</c:formatCode>
                <c:ptCount val="12"/>
                <c:pt idx="0">
                  <c:v>19972.764155</c:v>
                </c:pt>
                <c:pt idx="1">
                  <c:v>18222.895006</c:v>
                </c:pt>
                <c:pt idx="2">
                  <c:v>19425.475874</c:v>
                </c:pt>
                <c:pt idx="3">
                  <c:v>20012.680711</c:v>
                </c:pt>
                <c:pt idx="4">
                  <c:v>18939.456107</c:v>
                </c:pt>
                <c:pt idx="5">
                  <c:v>16378.726712</c:v>
                </c:pt>
                <c:pt idx="6">
                  <c:v>16894.22593</c:v>
                </c:pt>
                <c:pt idx="7">
                  <c:v>14304.106831</c:v>
                </c:pt>
                <c:pt idx="8">
                  <c:v>14771.076967</c:v>
                </c:pt>
                <c:pt idx="9">
                  <c:v>15791.231879</c:v>
                </c:pt>
                <c:pt idx="10">
                  <c:v>14988.584489</c:v>
                </c:pt>
                <c:pt idx="11">
                  <c:v>18989.764809</c:v>
                </c:pt>
              </c:numCache>
            </c:numRef>
          </c:val>
          <c:smooth val="0"/>
        </c:ser>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50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Monatsverbrauch (MWh)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00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de-DE"/>
  <c:chart>
    <c:plotArea>
      <c:barChart>
        <c:barDir val="col"/>
        <c:grouping val="clustered"/>
        <c:varyColors val="0"/>
        <c:ser>
          <c:idx val="0"/>
          <c:order val="0"/>
          <c:tx>
            <c:v>Anteil Zähler</c:v>
          </c:tx>
          <c:spPr>
            <a:solidFill xmlns:a="http://schemas.openxmlformats.org/drawingml/2006/main">
              <a:srgbClr val="8C98A6"/>
            </a:solidFill>
            <a:ln xmlns:a="http://schemas.openxmlformats.org/drawingml/2006/main" w="0">
              <a:noFill/>
            </a:ln>
          </c:spPr>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53,7 %</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32,3 %</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14,0 %</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dLbl>
          </c:dLbls>
          <c:cat>
            <c:strRef>
              <c:f>'Chart Data'!$A$2:$A$4</c:f>
              <c:strCache>
                <c:ptCount val="3"/>
                <c:pt idx="0">
                  <c:v>Gewerbe</c:v>
                </c:pt>
                <c:pt idx="1">
                  <c:v>Industrie</c:v>
                </c:pt>
                <c:pt idx="2">
                  <c:v>Kommunal</c:v>
                </c:pt>
              </c:strCache>
            </c:strRef>
          </c:cat>
          <c:val>
            <c:numRef>
              <c:f>'Chart Data'!$B$2:$B$4</c:f>
              <c:numCache>
                <c:formatCode>0.0" %"</c:formatCode>
                <c:ptCount val="3"/>
                <c:pt idx="0">
                  <c:v>53.714286</c:v>
                </c:pt>
                <c:pt idx="1">
                  <c:v>32.285714</c:v>
                </c:pt>
                <c:pt idx="2">
                  <c:v>14</c:v>
                </c:pt>
              </c:numCache>
            </c:numRef>
          </c:val>
        </c:ser>
        <c:ser>
          <c:idx val="1"/>
          <c:order val="1"/>
          <c:tx>
            <c:v>Anteil Verbrauch</c:v>
          </c:tx>
          <c:spPr>
            <a:solidFill xmlns:a="http://schemas.openxmlformats.org/drawingml/2006/main">
              <a:srgbClr val="084878"/>
            </a:solidFill>
            <a:ln xmlns:a="http://schemas.openxmlformats.org/drawingml/2006/main" w="0">
              <a:noFill/>
            </a:ln>
          </c:spPr>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22,5 %</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68,5 %</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9,0 %</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dLbl>
          </c:dLbls>
          <c:cat>
            <c:strRef>
              <c:f>'Chart Data'!$C$2:$C$4</c:f>
              <c:strCache>
                <c:ptCount val="3"/>
                <c:pt idx="0">
                  <c:v>Gewerbe</c:v>
                </c:pt>
                <c:pt idx="1">
                  <c:v>Industrie</c:v>
                </c:pt>
                <c:pt idx="2">
                  <c:v>Kommunal</c:v>
                </c:pt>
              </c:strCache>
            </c:strRef>
          </c:cat>
          <c:val>
            <c:numRef>
              <c:f>'Chart Data'!$D$2:$D$4</c:f>
              <c:numCache>
                <c:formatCode>0.0" %"</c:formatCode>
                <c:ptCount val="3"/>
                <c:pt idx="0">
                  <c:v>22.489612</c:v>
                </c:pt>
                <c:pt idx="1">
                  <c:v>68.475104</c:v>
                </c:pt>
                <c:pt idx="2">
                  <c:v>9.035284</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9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8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Anteil (%)</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quot; %&quot;"/>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2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de-DE"/>
  <c:chart>
    <c:plotArea>
      <c:barChart>
        <c:barDir val="bar"/>
        <c:grouping val="clustered"/>
        <c:varyColors val="0"/>
        <c:ser>
          <c:idx val="0"/>
          <c:order val="0"/>
          <c:tx>
            <c:v>RMSE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8C98A6"/>
              </a:solidFill>
              <a:ln xmlns:a="http://schemas.openxmlformats.org/drawingml/2006/main" w="0">
                <a:noFill/>
              </a:ln>
            </c:spPr>
          </c:dPt>
          <c:dPt>
            <c:idx val="2"/>
            <c:invertIfNegative val="0"/>
            <c:spPr>
              <a:solidFill xmlns:a="http://schemas.openxmlformats.org/drawingml/2006/main">
                <a:srgbClr val="084878"/>
              </a:solidFill>
              <a:ln xmlns:a="http://schemas.openxmlformats.org/drawingml/2006/main" w="0">
                <a:noFill/>
              </a:ln>
            </c:spPr>
          </c:dPt>
          <c:dPt>
            <c:idx val="3"/>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18.460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15.483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13.643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13.272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Data'!$A$2:$A$5</c:f>
              <c:strCache>
                <c:ptCount val="4"/>
                <c:pt idx="0">
                  <c:v>Vormonat</c:v>
                </c:pt>
                <c:pt idx="1">
                  <c:v>Mittel bis 3 Monate</c:v>
                </c:pt>
                <c:pt idx="2">
                  <c:v>Lineare Regression</c:v>
                </c:pt>
                <c:pt idx="3">
                  <c:v>Random Forest</c:v>
                </c:pt>
              </c:strCache>
            </c:strRef>
          </c:cat>
          <c:val>
            <c:numRef>
              <c:f>'Chart Data'!$B$2:$B$5</c:f>
              <c:numCache>
                <c:formatCode>#,##0</c:formatCode>
                <c:ptCount val="4"/>
                <c:pt idx="0">
                  <c:v>18460.476093</c:v>
                </c:pt>
                <c:pt idx="1">
                  <c:v>15483.069879</c:v>
                </c:pt>
                <c:pt idx="2">
                  <c:v>13643.035958</c:v>
                </c:pt>
                <c:pt idx="3">
                  <c:v>13272.407403</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E4E9EF"/>
              </a:solidFill>
              <a:prstDash val="solid"/>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in val="0"/>
          <c:max val="22000"/>
        </c:scaling>
        <c:delete val="0"/>
        <c:axPos val="b"/>
        <c:numFmt formatCode="0" sourceLinked="0"/>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de-DE"/>
  <c:chart>
    <c:plotArea>
      <c:barChart>
        <c:barDir val="bar"/>
        <c:grouping val="clustered"/>
        <c:varyColors val="0"/>
        <c:ser>
          <c:idx val="0"/>
          <c:order val="0"/>
          <c:tx>
            <c:v>RMSE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8C98A6"/>
              </a:solidFill>
              <a:ln xmlns:a="http://schemas.openxmlformats.org/drawingml/2006/main" w="0">
                <a:noFill/>
              </a:ln>
            </c:spPr>
          </c:dPt>
          <c:dPt>
            <c:idx val="2"/>
            <c:invertIfNegative val="0"/>
            <c:spPr>
              <a:solidFill xmlns:a="http://schemas.openxmlformats.org/drawingml/2006/main">
                <a:srgbClr val="084878"/>
              </a:solidFill>
              <a:ln xmlns:a="http://schemas.openxmlformats.org/drawingml/2006/main" w="0">
                <a:noFill/>
              </a:ln>
            </c:spPr>
          </c:dPt>
          <c:dPt>
            <c:idx val="3"/>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12.386</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10.922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9.414</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9.188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Data'!$A$2:$A$5</c:f>
              <c:strCache>
                <c:ptCount val="4"/>
                <c:pt idx="0">
                  <c:v>Vormonat</c:v>
                </c:pt>
                <c:pt idx="1">
                  <c:v>Mittel bis 3 Monate</c:v>
                </c:pt>
                <c:pt idx="2">
                  <c:v>Lineare Regression</c:v>
                </c:pt>
                <c:pt idx="3">
                  <c:v>Random Forest</c:v>
                </c:pt>
              </c:strCache>
            </c:strRef>
          </c:cat>
          <c:val>
            <c:numRef>
              <c:f>'Chart Data'!$B$2:$B$5</c:f>
              <c:numCache>
                <c:formatCode>#,##0</c:formatCode>
                <c:ptCount val="4"/>
                <c:pt idx="0">
                  <c:v>12385.537591</c:v>
                </c:pt>
                <c:pt idx="1">
                  <c:v>10922.440646</c:v>
                </c:pt>
                <c:pt idx="2">
                  <c:v>9414.216883</c:v>
                </c:pt>
                <c:pt idx="3">
                  <c:v>9188.397031</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E4E9EF"/>
              </a:solidFill>
              <a:prstDash val="solid"/>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in val="0"/>
          <c:max val="17000"/>
        </c:scaling>
        <c:delete val="0"/>
        <c:axPos val="b"/>
        <c:numFmt formatCode="0" sourceLinked="0"/>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de-DE"/>
  <c:chart>
    <c:plotArea>
      <c:barChart>
        <c:barDir val="bar"/>
        <c:grouping val="clustered"/>
        <c:varyColors val="0"/>
        <c:ser>
          <c:idx val="0"/>
          <c:order val="0"/>
          <c:tx>
            <c:v>RMSE-Anstieg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8C98A6"/>
              </a:solidFill>
              <a:ln xmlns:a="http://schemas.openxmlformats.org/drawingml/2006/main" w="0">
                <a:noFill/>
              </a:ln>
            </c:spPr>
          </c:dPt>
          <c:dPt>
            <c:idx val="2"/>
            <c:invertIfNegative val="0"/>
            <c:spPr>
              <a:solidFill xmlns:a="http://schemas.openxmlformats.org/drawingml/2006/main">
                <a:srgbClr val="8C98A6"/>
              </a:solidFill>
              <a:ln xmlns:a="http://schemas.openxmlformats.org/drawingml/2006/main" w="0">
                <a:noFill/>
              </a:ln>
            </c:spPr>
          </c:dPt>
          <c:dPt>
            <c:idx val="3"/>
            <c:invertIfNegative val="0"/>
            <c:spPr>
              <a:solidFill xmlns:a="http://schemas.openxmlformats.org/drawingml/2006/main">
                <a:srgbClr val="8C98A6"/>
              </a:solidFill>
              <a:ln xmlns:a="http://schemas.openxmlformats.org/drawingml/2006/main" w="0">
                <a:noFill/>
              </a:ln>
            </c:spPr>
          </c:dPt>
          <c:dPt>
            <c:idx val="4"/>
            <c:invertIfNegative val="0"/>
            <c:spPr>
              <a:solidFill xmlns:a="http://schemas.openxmlformats.org/drawingml/2006/main">
                <a:srgbClr val="8C98A6"/>
              </a:solidFill>
              <a:ln xmlns:a="http://schemas.openxmlformats.org/drawingml/2006/main" w="0">
                <a:noFill/>
              </a:ln>
            </c:spPr>
          </c:dPt>
          <c:dPt>
            <c:idx val="5"/>
            <c:invertIfNegative val="0"/>
            <c:spPr>
              <a:solidFill xmlns:a="http://schemas.openxmlformats.org/drawingml/2006/main">
                <a:srgbClr val="8C98A6"/>
              </a:solidFill>
              <a:ln xmlns:a="http://schemas.openxmlformats.org/drawingml/2006/main" w="0">
                <a:noFill/>
              </a:ln>
            </c:spPr>
          </c:dPt>
          <c:dPt>
            <c:idx val="6"/>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5</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115</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193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232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578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5"/>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717</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6"/>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7.349</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Data'!$A$2:$A$8</c:f>
              <c:strCache>
                <c:ptCount val="7"/>
                <c:pt idx="0">
                  <c:v>Kundentyp</c:v>
                </c:pt>
                <c:pt idx="1">
                  <c:v>Jahreszeit</c:v>
                </c:pt>
                <c:pt idx="2">
                  <c:v>Wetterprognose</c:v>
                </c:pt>
                <c:pt idx="3">
                  <c:v>Kalender</c:v>
                </c:pt>
                <c:pt idx="4">
                  <c:v>Wartung</c:v>
                </c:pt>
                <c:pt idx="5">
                  <c:v>Produktionsplan</c:v>
                </c:pt>
                <c:pt idx="6">
                  <c:v>Verbrauchshistorie</c:v>
                </c:pt>
              </c:strCache>
            </c:strRef>
          </c:cat>
          <c:val>
            <c:numRef>
              <c:f>'Chart Data'!$B$2:$B$8</c:f>
              <c:numCache>
                <c:formatCode>#,##0</c:formatCode>
                <c:ptCount val="7"/>
                <c:pt idx="0">
                  <c:v>4.814823</c:v>
                </c:pt>
                <c:pt idx="1">
                  <c:v>115.485278</c:v>
                </c:pt>
                <c:pt idx="2">
                  <c:v>192.599091</c:v>
                </c:pt>
                <c:pt idx="3">
                  <c:v>232.448917</c:v>
                </c:pt>
                <c:pt idx="4">
                  <c:v>577.745193</c:v>
                </c:pt>
                <c:pt idx="5">
                  <c:v>716.603171</c:v>
                </c:pt>
                <c:pt idx="6">
                  <c:v>7349.010964</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48"/>
        <c:axId val="48650112"/>
        <c:axId val="48672768"/>
      </c:barChart>
      <c:catAx>
        <c:axId val="48650112"/>
        <c:scaling>
          <c:orientation val="minMax"/>
        </c:scaling>
        <c:delete val="0"/>
        <c:axPos val="l"/>
        <c:majorGridlines>
          <c:spPr>
            <a:ln xmlns:a="http://schemas.openxmlformats.org/drawingml/2006/main" w="9525">
              <a:solidFill>
                <a:srgbClr val="E4E9EF"/>
              </a:solidFill>
              <a:prstDash val="solid"/>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in val="0"/>
          <c:max val="8500"/>
        </c:scaling>
        <c:delete val="0"/>
        <c:axPos val="b"/>
        <c:numFmt formatCode="0" sourceLinked="0"/>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2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de-DE"/>
  <c:chart>
    <c:plotArea>
      <c:scatterChart>
        <c:scatterStyle val="line"/>
        <c:ser>
          <c:idx val="0"/>
          <c:order val="0"/>
          <c:tx>
            <c:v>Kalibrierungsfehler</c:v>
          </c:tx>
          <c:spPr>
            <a:ln xmlns:a="http://schemas.openxmlformats.org/drawingml/2006/main" w="28575">
              <a:solidFill>
                <a:srgbClr val="084878"/>
              </a:solidFill>
              <a:prstDash val="solid"/>
            </a:ln>
          </c:spPr>
          <c:marker>
            <c:symbol val="none"/>
          </c:marker>
          <c:xVal>
            <c:numRef>
              <c:f>'Chart Data'!$A$2:$A$1384</c:f>
              <c:numCache>
                <c:formatCode>General</c:formatCode>
                <c:ptCount val="1383"/>
                <c:pt idx="0">
                  <c:v>0</c:v>
                </c:pt>
                <c:pt idx="1">
                  <c:v>0.071633</c:v>
                </c:pt>
                <c:pt idx="2">
                  <c:v>0.143266</c:v>
                </c:pt>
                <c:pt idx="3">
                  <c:v>0.2149</c:v>
                </c:pt>
                <c:pt idx="4">
                  <c:v>0.286533</c:v>
                </c:pt>
                <c:pt idx="5">
                  <c:v>0.358166</c:v>
                </c:pt>
                <c:pt idx="6">
                  <c:v>0.429799</c:v>
                </c:pt>
                <c:pt idx="7">
                  <c:v>0.501433</c:v>
                </c:pt>
                <c:pt idx="8">
                  <c:v>0.573066</c:v>
                </c:pt>
                <c:pt idx="9">
                  <c:v>0.644699</c:v>
                </c:pt>
                <c:pt idx="10">
                  <c:v>0.716332</c:v>
                </c:pt>
                <c:pt idx="11">
                  <c:v>0.787966</c:v>
                </c:pt>
                <c:pt idx="12">
                  <c:v>0.859599</c:v>
                </c:pt>
                <c:pt idx="13">
                  <c:v>0.931232</c:v>
                </c:pt>
                <c:pt idx="14">
                  <c:v>1.002865</c:v>
                </c:pt>
                <c:pt idx="15">
                  <c:v>1.074499</c:v>
                </c:pt>
                <c:pt idx="16">
                  <c:v>1.146132</c:v>
                </c:pt>
                <c:pt idx="17">
                  <c:v>1.217765</c:v>
                </c:pt>
                <c:pt idx="18">
                  <c:v>1.289398</c:v>
                </c:pt>
                <c:pt idx="19">
                  <c:v>1.361032</c:v>
                </c:pt>
                <c:pt idx="20">
                  <c:v>1.432665</c:v>
                </c:pt>
                <c:pt idx="21">
                  <c:v>1.504298</c:v>
                </c:pt>
                <c:pt idx="22">
                  <c:v>1.575931</c:v>
                </c:pt>
                <c:pt idx="23">
                  <c:v>1.647564</c:v>
                </c:pt>
                <c:pt idx="24">
                  <c:v>1.719198</c:v>
                </c:pt>
                <c:pt idx="25">
                  <c:v>1.790831</c:v>
                </c:pt>
                <c:pt idx="26">
                  <c:v>1.862464</c:v>
                </c:pt>
                <c:pt idx="27">
                  <c:v>1.934097</c:v>
                </c:pt>
                <c:pt idx="28">
                  <c:v>2.005731</c:v>
                </c:pt>
                <c:pt idx="29">
                  <c:v>2.077364</c:v>
                </c:pt>
                <c:pt idx="30">
                  <c:v>2.148997</c:v>
                </c:pt>
                <c:pt idx="31">
                  <c:v>2.22063</c:v>
                </c:pt>
                <c:pt idx="32">
                  <c:v>2.292264</c:v>
                </c:pt>
                <c:pt idx="33">
                  <c:v>2.363897</c:v>
                </c:pt>
                <c:pt idx="34">
                  <c:v>2.43553</c:v>
                </c:pt>
                <c:pt idx="35">
                  <c:v>2.507163</c:v>
                </c:pt>
                <c:pt idx="36">
                  <c:v>2.578797</c:v>
                </c:pt>
                <c:pt idx="37">
                  <c:v>2.65043</c:v>
                </c:pt>
                <c:pt idx="38">
                  <c:v>2.722063</c:v>
                </c:pt>
                <c:pt idx="39">
                  <c:v>2.793696</c:v>
                </c:pt>
                <c:pt idx="40">
                  <c:v>2.86533</c:v>
                </c:pt>
                <c:pt idx="41">
                  <c:v>2.936963</c:v>
                </c:pt>
                <c:pt idx="42">
                  <c:v>3.008596</c:v>
                </c:pt>
                <c:pt idx="43">
                  <c:v>3.080229</c:v>
                </c:pt>
                <c:pt idx="44">
                  <c:v>3.151862</c:v>
                </c:pt>
                <c:pt idx="45">
                  <c:v>3.223496</c:v>
                </c:pt>
                <c:pt idx="46">
                  <c:v>3.295129</c:v>
                </c:pt>
                <c:pt idx="47">
                  <c:v>3.366762</c:v>
                </c:pt>
                <c:pt idx="48">
                  <c:v>3.438395</c:v>
                </c:pt>
                <c:pt idx="49">
                  <c:v>3.510029</c:v>
                </c:pt>
                <c:pt idx="50">
                  <c:v>3.581662</c:v>
                </c:pt>
                <c:pt idx="51">
                  <c:v>3.653295</c:v>
                </c:pt>
                <c:pt idx="52">
                  <c:v>3.724928</c:v>
                </c:pt>
                <c:pt idx="53">
                  <c:v>3.796562</c:v>
                </c:pt>
                <c:pt idx="54">
                  <c:v>3.868195</c:v>
                </c:pt>
                <c:pt idx="55">
                  <c:v>3.939828</c:v>
                </c:pt>
                <c:pt idx="56">
                  <c:v>4.011461</c:v>
                </c:pt>
                <c:pt idx="57">
                  <c:v>4.083095</c:v>
                </c:pt>
                <c:pt idx="58">
                  <c:v>4.154728</c:v>
                </c:pt>
                <c:pt idx="59">
                  <c:v>4.226361</c:v>
                </c:pt>
                <c:pt idx="60">
                  <c:v>4.297994</c:v>
                </c:pt>
                <c:pt idx="61">
                  <c:v>4.369628</c:v>
                </c:pt>
                <c:pt idx="62">
                  <c:v>4.441261</c:v>
                </c:pt>
                <c:pt idx="63">
                  <c:v>4.512894</c:v>
                </c:pt>
                <c:pt idx="64">
                  <c:v>4.584527</c:v>
                </c:pt>
                <c:pt idx="65">
                  <c:v>4.65616</c:v>
                </c:pt>
                <c:pt idx="66">
                  <c:v>4.727794</c:v>
                </c:pt>
                <c:pt idx="67">
                  <c:v>4.799427</c:v>
                </c:pt>
                <c:pt idx="68">
                  <c:v>4.87106</c:v>
                </c:pt>
                <c:pt idx="69">
                  <c:v>4.942693</c:v>
                </c:pt>
                <c:pt idx="70">
                  <c:v>5.014327</c:v>
                </c:pt>
                <c:pt idx="71">
                  <c:v>5.08596</c:v>
                </c:pt>
                <c:pt idx="72">
                  <c:v>5.157593</c:v>
                </c:pt>
                <c:pt idx="73">
                  <c:v>5.229226</c:v>
                </c:pt>
                <c:pt idx="74">
                  <c:v>5.30086</c:v>
                </c:pt>
                <c:pt idx="75">
                  <c:v>5.372493</c:v>
                </c:pt>
                <c:pt idx="76">
                  <c:v>5.444126</c:v>
                </c:pt>
                <c:pt idx="77">
                  <c:v>5.515759</c:v>
                </c:pt>
                <c:pt idx="78">
                  <c:v>5.587393</c:v>
                </c:pt>
                <c:pt idx="79">
                  <c:v>5.659026</c:v>
                </c:pt>
                <c:pt idx="80">
                  <c:v>5.730659</c:v>
                </c:pt>
                <c:pt idx="81">
                  <c:v>5.802292</c:v>
                </c:pt>
                <c:pt idx="82">
                  <c:v>5.873926</c:v>
                </c:pt>
                <c:pt idx="83">
                  <c:v>5.945559</c:v>
                </c:pt>
                <c:pt idx="84">
                  <c:v>6.017192</c:v>
                </c:pt>
                <c:pt idx="85">
                  <c:v>6.088825</c:v>
                </c:pt>
                <c:pt idx="86">
                  <c:v>6.160458</c:v>
                </c:pt>
                <c:pt idx="87">
                  <c:v>6.232092</c:v>
                </c:pt>
                <c:pt idx="88">
                  <c:v>6.303725</c:v>
                </c:pt>
                <c:pt idx="89">
                  <c:v>6.375358</c:v>
                </c:pt>
                <c:pt idx="90">
                  <c:v>6.446991</c:v>
                </c:pt>
                <c:pt idx="91">
                  <c:v>6.518625</c:v>
                </c:pt>
                <c:pt idx="92">
                  <c:v>6.590258</c:v>
                </c:pt>
                <c:pt idx="93">
                  <c:v>6.661891</c:v>
                </c:pt>
                <c:pt idx="94">
                  <c:v>6.733524</c:v>
                </c:pt>
                <c:pt idx="95">
                  <c:v>6.805158</c:v>
                </c:pt>
                <c:pt idx="96">
                  <c:v>6.876791</c:v>
                </c:pt>
                <c:pt idx="97">
                  <c:v>6.948424</c:v>
                </c:pt>
                <c:pt idx="98">
                  <c:v>7.020057</c:v>
                </c:pt>
                <c:pt idx="99">
                  <c:v>7.091691</c:v>
                </c:pt>
                <c:pt idx="100">
                  <c:v>7.163324</c:v>
                </c:pt>
                <c:pt idx="101">
                  <c:v>7.234957</c:v>
                </c:pt>
                <c:pt idx="102">
                  <c:v>7.30659</c:v>
                </c:pt>
                <c:pt idx="103">
                  <c:v>7.378223</c:v>
                </c:pt>
                <c:pt idx="104">
                  <c:v>7.449857</c:v>
                </c:pt>
                <c:pt idx="105">
                  <c:v>7.52149</c:v>
                </c:pt>
                <c:pt idx="106">
                  <c:v>7.593123</c:v>
                </c:pt>
                <c:pt idx="107">
                  <c:v>7.664756</c:v>
                </c:pt>
                <c:pt idx="108">
                  <c:v>7.73639</c:v>
                </c:pt>
                <c:pt idx="109">
                  <c:v>7.808023</c:v>
                </c:pt>
                <c:pt idx="110">
                  <c:v>7.879656</c:v>
                </c:pt>
                <c:pt idx="111">
                  <c:v>7.951289</c:v>
                </c:pt>
                <c:pt idx="112">
                  <c:v>8.022923</c:v>
                </c:pt>
                <c:pt idx="113">
                  <c:v>8.094556</c:v>
                </c:pt>
                <c:pt idx="114">
                  <c:v>8.166189</c:v>
                </c:pt>
                <c:pt idx="115">
                  <c:v>8.237822</c:v>
                </c:pt>
                <c:pt idx="116">
                  <c:v>8.309456</c:v>
                </c:pt>
                <c:pt idx="117">
                  <c:v>8.381089</c:v>
                </c:pt>
                <c:pt idx="118">
                  <c:v>8.452722</c:v>
                </c:pt>
                <c:pt idx="119">
                  <c:v>8.524355</c:v>
                </c:pt>
                <c:pt idx="120">
                  <c:v>8.595989</c:v>
                </c:pt>
                <c:pt idx="121">
                  <c:v>8.667622</c:v>
                </c:pt>
                <c:pt idx="122">
                  <c:v>8.739255</c:v>
                </c:pt>
                <c:pt idx="123">
                  <c:v>8.810888</c:v>
                </c:pt>
                <c:pt idx="124">
                  <c:v>8.882521</c:v>
                </c:pt>
                <c:pt idx="125">
                  <c:v>8.954155</c:v>
                </c:pt>
                <c:pt idx="126">
                  <c:v>9.025788</c:v>
                </c:pt>
                <c:pt idx="127">
                  <c:v>9.097421</c:v>
                </c:pt>
                <c:pt idx="128">
                  <c:v>9.169054</c:v>
                </c:pt>
                <c:pt idx="129">
                  <c:v>9.240688</c:v>
                </c:pt>
                <c:pt idx="130">
                  <c:v>9.312321</c:v>
                </c:pt>
                <c:pt idx="131">
                  <c:v>9.383954</c:v>
                </c:pt>
                <c:pt idx="132">
                  <c:v>9.455587</c:v>
                </c:pt>
                <c:pt idx="133">
                  <c:v>9.527221</c:v>
                </c:pt>
                <c:pt idx="134">
                  <c:v>9.598854</c:v>
                </c:pt>
                <c:pt idx="135">
                  <c:v>9.670487</c:v>
                </c:pt>
                <c:pt idx="136">
                  <c:v>9.74212</c:v>
                </c:pt>
                <c:pt idx="137">
                  <c:v>9.813754</c:v>
                </c:pt>
                <c:pt idx="138">
                  <c:v>9.885387</c:v>
                </c:pt>
                <c:pt idx="139">
                  <c:v>9.95702</c:v>
                </c:pt>
                <c:pt idx="140">
                  <c:v>10.028653</c:v>
                </c:pt>
                <c:pt idx="141">
                  <c:v>10.100287</c:v>
                </c:pt>
                <c:pt idx="142">
                  <c:v>10.17192</c:v>
                </c:pt>
                <c:pt idx="143">
                  <c:v>10.243553</c:v>
                </c:pt>
                <c:pt idx="144">
                  <c:v>10.315186</c:v>
                </c:pt>
                <c:pt idx="145">
                  <c:v>10.386819</c:v>
                </c:pt>
                <c:pt idx="146">
                  <c:v>10.458453</c:v>
                </c:pt>
                <c:pt idx="147">
                  <c:v>10.530086</c:v>
                </c:pt>
                <c:pt idx="148">
                  <c:v>10.601719</c:v>
                </c:pt>
                <c:pt idx="149">
                  <c:v>10.673352</c:v>
                </c:pt>
                <c:pt idx="150">
                  <c:v>10.744986</c:v>
                </c:pt>
                <c:pt idx="151">
                  <c:v>10.816619</c:v>
                </c:pt>
                <c:pt idx="152">
                  <c:v>10.888252</c:v>
                </c:pt>
                <c:pt idx="153">
                  <c:v>10.959885</c:v>
                </c:pt>
                <c:pt idx="154">
                  <c:v>11.031519</c:v>
                </c:pt>
                <c:pt idx="155">
                  <c:v>11.103152</c:v>
                </c:pt>
                <c:pt idx="156">
                  <c:v>11.174785</c:v>
                </c:pt>
                <c:pt idx="157">
                  <c:v>11.246418</c:v>
                </c:pt>
                <c:pt idx="158">
                  <c:v>11.318052</c:v>
                </c:pt>
                <c:pt idx="159">
                  <c:v>11.389685</c:v>
                </c:pt>
                <c:pt idx="160">
                  <c:v>11.461318</c:v>
                </c:pt>
                <c:pt idx="161">
                  <c:v>11.532951</c:v>
                </c:pt>
                <c:pt idx="162">
                  <c:v>11.604585</c:v>
                </c:pt>
                <c:pt idx="163">
                  <c:v>11.676218</c:v>
                </c:pt>
                <c:pt idx="164">
                  <c:v>11.747851</c:v>
                </c:pt>
                <c:pt idx="165">
                  <c:v>11.819484</c:v>
                </c:pt>
                <c:pt idx="166">
                  <c:v>11.891117</c:v>
                </c:pt>
                <c:pt idx="167">
                  <c:v>11.962751</c:v>
                </c:pt>
                <c:pt idx="168">
                  <c:v>12.034384</c:v>
                </c:pt>
                <c:pt idx="169">
                  <c:v>12.106017</c:v>
                </c:pt>
                <c:pt idx="170">
                  <c:v>12.17765</c:v>
                </c:pt>
                <c:pt idx="171">
                  <c:v>12.249284</c:v>
                </c:pt>
                <c:pt idx="172">
                  <c:v>12.320917</c:v>
                </c:pt>
                <c:pt idx="173">
                  <c:v>12.39255</c:v>
                </c:pt>
                <c:pt idx="174">
                  <c:v>12.464183</c:v>
                </c:pt>
                <c:pt idx="175">
                  <c:v>12.535817</c:v>
                </c:pt>
                <c:pt idx="176">
                  <c:v>12.60745</c:v>
                </c:pt>
                <c:pt idx="177">
                  <c:v>12.679083</c:v>
                </c:pt>
                <c:pt idx="178">
                  <c:v>12.750716</c:v>
                </c:pt>
                <c:pt idx="179">
                  <c:v>12.82235</c:v>
                </c:pt>
                <c:pt idx="180">
                  <c:v>12.893983</c:v>
                </c:pt>
                <c:pt idx="181">
                  <c:v>12.965616</c:v>
                </c:pt>
                <c:pt idx="182">
                  <c:v>13.037249</c:v>
                </c:pt>
                <c:pt idx="183">
                  <c:v>13.108883</c:v>
                </c:pt>
                <c:pt idx="184">
                  <c:v>13.180516</c:v>
                </c:pt>
                <c:pt idx="185">
                  <c:v>13.252149</c:v>
                </c:pt>
                <c:pt idx="186">
                  <c:v>13.323782</c:v>
                </c:pt>
                <c:pt idx="187">
                  <c:v>13.395415</c:v>
                </c:pt>
                <c:pt idx="188">
                  <c:v>13.467049</c:v>
                </c:pt>
                <c:pt idx="189">
                  <c:v>13.538682</c:v>
                </c:pt>
                <c:pt idx="190">
                  <c:v>13.610315</c:v>
                </c:pt>
                <c:pt idx="191">
                  <c:v>13.681948</c:v>
                </c:pt>
                <c:pt idx="192">
                  <c:v>13.753582</c:v>
                </c:pt>
                <c:pt idx="193">
                  <c:v>13.825215</c:v>
                </c:pt>
                <c:pt idx="194">
                  <c:v>13.896848</c:v>
                </c:pt>
                <c:pt idx="195">
                  <c:v>13.968481</c:v>
                </c:pt>
                <c:pt idx="196">
                  <c:v>14.040115</c:v>
                </c:pt>
                <c:pt idx="197">
                  <c:v>14.111748</c:v>
                </c:pt>
                <c:pt idx="198">
                  <c:v>14.183381</c:v>
                </c:pt>
                <c:pt idx="199">
                  <c:v>14.255014</c:v>
                </c:pt>
                <c:pt idx="200">
                  <c:v>14.326648</c:v>
                </c:pt>
                <c:pt idx="201">
                  <c:v>14.398281</c:v>
                </c:pt>
                <c:pt idx="202">
                  <c:v>14.469914</c:v>
                </c:pt>
                <c:pt idx="203">
                  <c:v>14.541547</c:v>
                </c:pt>
                <c:pt idx="204">
                  <c:v>14.613181</c:v>
                </c:pt>
                <c:pt idx="205">
                  <c:v>14.684814</c:v>
                </c:pt>
                <c:pt idx="206">
                  <c:v>14.756447</c:v>
                </c:pt>
                <c:pt idx="207">
                  <c:v>14.82808</c:v>
                </c:pt>
                <c:pt idx="208">
                  <c:v>14.899713</c:v>
                </c:pt>
                <c:pt idx="209">
                  <c:v>14.971347</c:v>
                </c:pt>
                <c:pt idx="210">
                  <c:v>15.04298</c:v>
                </c:pt>
                <c:pt idx="211">
                  <c:v>15.114613</c:v>
                </c:pt>
                <c:pt idx="212">
                  <c:v>15.186246</c:v>
                </c:pt>
                <c:pt idx="213">
                  <c:v>15.25788</c:v>
                </c:pt>
                <c:pt idx="214">
                  <c:v>15.329513</c:v>
                </c:pt>
                <c:pt idx="215">
                  <c:v>15.401146</c:v>
                </c:pt>
                <c:pt idx="216">
                  <c:v>15.472779</c:v>
                </c:pt>
                <c:pt idx="217">
                  <c:v>15.544413</c:v>
                </c:pt>
                <c:pt idx="218">
                  <c:v>15.616046</c:v>
                </c:pt>
                <c:pt idx="219">
                  <c:v>15.687679</c:v>
                </c:pt>
                <c:pt idx="220">
                  <c:v>15.759312</c:v>
                </c:pt>
                <c:pt idx="221">
                  <c:v>15.830946</c:v>
                </c:pt>
                <c:pt idx="222">
                  <c:v>15.902579</c:v>
                </c:pt>
                <c:pt idx="223">
                  <c:v>15.974212</c:v>
                </c:pt>
                <c:pt idx="224">
                  <c:v>16.045845</c:v>
                </c:pt>
                <c:pt idx="225">
                  <c:v>16.117479</c:v>
                </c:pt>
                <c:pt idx="226">
                  <c:v>16.189112</c:v>
                </c:pt>
                <c:pt idx="227">
                  <c:v>16.260745</c:v>
                </c:pt>
                <c:pt idx="228">
                  <c:v>16.332378</c:v>
                </c:pt>
                <c:pt idx="229">
                  <c:v>16.404011</c:v>
                </c:pt>
                <c:pt idx="230">
                  <c:v>16.475645</c:v>
                </c:pt>
                <c:pt idx="231">
                  <c:v>16.547278</c:v>
                </c:pt>
                <c:pt idx="232">
                  <c:v>16.618911</c:v>
                </c:pt>
                <c:pt idx="233">
                  <c:v>16.690544</c:v>
                </c:pt>
                <c:pt idx="234">
                  <c:v>16.762178</c:v>
                </c:pt>
                <c:pt idx="235">
                  <c:v>16.833811</c:v>
                </c:pt>
                <c:pt idx="236">
                  <c:v>16.905444</c:v>
                </c:pt>
                <c:pt idx="237">
                  <c:v>16.977077</c:v>
                </c:pt>
                <c:pt idx="238">
                  <c:v>17.048711</c:v>
                </c:pt>
                <c:pt idx="239">
                  <c:v>17.120344</c:v>
                </c:pt>
                <c:pt idx="240">
                  <c:v>17.191977</c:v>
                </c:pt>
                <c:pt idx="241">
                  <c:v>17.26361</c:v>
                </c:pt>
                <c:pt idx="242">
                  <c:v>17.335244</c:v>
                </c:pt>
                <c:pt idx="243">
                  <c:v>17.406877</c:v>
                </c:pt>
                <c:pt idx="244">
                  <c:v>17.47851</c:v>
                </c:pt>
                <c:pt idx="245">
                  <c:v>17.550143</c:v>
                </c:pt>
                <c:pt idx="246">
                  <c:v>17.621777</c:v>
                </c:pt>
                <c:pt idx="247">
                  <c:v>17.69341</c:v>
                </c:pt>
                <c:pt idx="248">
                  <c:v>17.765043</c:v>
                </c:pt>
                <c:pt idx="249">
                  <c:v>17.836676</c:v>
                </c:pt>
                <c:pt idx="250">
                  <c:v>17.908309</c:v>
                </c:pt>
                <c:pt idx="251">
                  <c:v>17.979943</c:v>
                </c:pt>
                <c:pt idx="252">
                  <c:v>18.051576</c:v>
                </c:pt>
                <c:pt idx="253">
                  <c:v>18.123209</c:v>
                </c:pt>
                <c:pt idx="254">
                  <c:v>18.194842</c:v>
                </c:pt>
                <c:pt idx="255">
                  <c:v>18.266476</c:v>
                </c:pt>
                <c:pt idx="256">
                  <c:v>18.338109</c:v>
                </c:pt>
                <c:pt idx="257">
                  <c:v>18.409742</c:v>
                </c:pt>
                <c:pt idx="258">
                  <c:v>18.481375</c:v>
                </c:pt>
                <c:pt idx="259">
                  <c:v>18.553009</c:v>
                </c:pt>
                <c:pt idx="260">
                  <c:v>18.624642</c:v>
                </c:pt>
                <c:pt idx="261">
                  <c:v>18.696275</c:v>
                </c:pt>
                <c:pt idx="262">
                  <c:v>18.767908</c:v>
                </c:pt>
                <c:pt idx="263">
                  <c:v>18.839542</c:v>
                </c:pt>
                <c:pt idx="264">
                  <c:v>18.911175</c:v>
                </c:pt>
                <c:pt idx="265">
                  <c:v>18.982808</c:v>
                </c:pt>
                <c:pt idx="266">
                  <c:v>19.054441</c:v>
                </c:pt>
                <c:pt idx="267">
                  <c:v>19.126074</c:v>
                </c:pt>
                <c:pt idx="268">
                  <c:v>19.197708</c:v>
                </c:pt>
                <c:pt idx="269">
                  <c:v>19.269341</c:v>
                </c:pt>
                <c:pt idx="270">
                  <c:v>19.340974</c:v>
                </c:pt>
                <c:pt idx="271">
                  <c:v>19.412607</c:v>
                </c:pt>
                <c:pt idx="272">
                  <c:v>19.484241</c:v>
                </c:pt>
                <c:pt idx="273">
                  <c:v>19.555874</c:v>
                </c:pt>
                <c:pt idx="274">
                  <c:v>19.627507</c:v>
                </c:pt>
                <c:pt idx="275">
                  <c:v>19.69914</c:v>
                </c:pt>
                <c:pt idx="276">
                  <c:v>19.770774</c:v>
                </c:pt>
                <c:pt idx="277">
                  <c:v>19.842407</c:v>
                </c:pt>
                <c:pt idx="278">
                  <c:v>19.91404</c:v>
                </c:pt>
                <c:pt idx="279">
                  <c:v>19.985673</c:v>
                </c:pt>
                <c:pt idx="280">
                  <c:v>20.057307</c:v>
                </c:pt>
                <c:pt idx="281">
                  <c:v>20.12894</c:v>
                </c:pt>
                <c:pt idx="282">
                  <c:v>20.200573</c:v>
                </c:pt>
                <c:pt idx="283">
                  <c:v>20.272206</c:v>
                </c:pt>
                <c:pt idx="284">
                  <c:v>20.34384</c:v>
                </c:pt>
                <c:pt idx="285">
                  <c:v>20.415473</c:v>
                </c:pt>
                <c:pt idx="286">
                  <c:v>20.487106</c:v>
                </c:pt>
                <c:pt idx="287">
                  <c:v>20.558739</c:v>
                </c:pt>
                <c:pt idx="288">
                  <c:v>20.630372</c:v>
                </c:pt>
                <c:pt idx="289">
                  <c:v>20.702006</c:v>
                </c:pt>
                <c:pt idx="290">
                  <c:v>20.773639</c:v>
                </c:pt>
                <c:pt idx="291">
                  <c:v>20.845272</c:v>
                </c:pt>
                <c:pt idx="292">
                  <c:v>20.916905</c:v>
                </c:pt>
                <c:pt idx="293">
                  <c:v>20.988539</c:v>
                </c:pt>
                <c:pt idx="294">
                  <c:v>21.060172</c:v>
                </c:pt>
                <c:pt idx="295">
                  <c:v>21.131805</c:v>
                </c:pt>
                <c:pt idx="296">
                  <c:v>21.203438</c:v>
                </c:pt>
                <c:pt idx="297">
                  <c:v>21.275072</c:v>
                </c:pt>
                <c:pt idx="298">
                  <c:v>21.346705</c:v>
                </c:pt>
                <c:pt idx="299">
                  <c:v>21.418338</c:v>
                </c:pt>
                <c:pt idx="300">
                  <c:v>21.489971</c:v>
                </c:pt>
                <c:pt idx="301">
                  <c:v>21.561605</c:v>
                </c:pt>
                <c:pt idx="302">
                  <c:v>21.633238</c:v>
                </c:pt>
                <c:pt idx="303">
                  <c:v>21.704871</c:v>
                </c:pt>
                <c:pt idx="304">
                  <c:v>21.776504</c:v>
                </c:pt>
                <c:pt idx="305">
                  <c:v>21.848138</c:v>
                </c:pt>
                <c:pt idx="306">
                  <c:v>21.919771</c:v>
                </c:pt>
                <c:pt idx="307">
                  <c:v>21.991404</c:v>
                </c:pt>
                <c:pt idx="308">
                  <c:v>22.063037</c:v>
                </c:pt>
                <c:pt idx="309">
                  <c:v>22.13467</c:v>
                </c:pt>
                <c:pt idx="310">
                  <c:v>22.206304</c:v>
                </c:pt>
                <c:pt idx="311">
                  <c:v>22.277937</c:v>
                </c:pt>
                <c:pt idx="312">
                  <c:v>22.34957</c:v>
                </c:pt>
                <c:pt idx="313">
                  <c:v>22.421203</c:v>
                </c:pt>
                <c:pt idx="314">
                  <c:v>22.492837</c:v>
                </c:pt>
                <c:pt idx="315">
                  <c:v>22.56447</c:v>
                </c:pt>
                <c:pt idx="316">
                  <c:v>22.636103</c:v>
                </c:pt>
                <c:pt idx="317">
                  <c:v>22.707736</c:v>
                </c:pt>
                <c:pt idx="318">
                  <c:v>22.77937</c:v>
                </c:pt>
                <c:pt idx="319">
                  <c:v>22.851003</c:v>
                </c:pt>
                <c:pt idx="320">
                  <c:v>22.922636</c:v>
                </c:pt>
                <c:pt idx="321">
                  <c:v>22.994269</c:v>
                </c:pt>
                <c:pt idx="322">
                  <c:v>23.065903</c:v>
                </c:pt>
                <c:pt idx="323">
                  <c:v>23.137536</c:v>
                </c:pt>
                <c:pt idx="324">
                  <c:v>23.209169</c:v>
                </c:pt>
                <c:pt idx="325">
                  <c:v>23.280802</c:v>
                </c:pt>
                <c:pt idx="326">
                  <c:v>23.352436</c:v>
                </c:pt>
                <c:pt idx="327">
                  <c:v>23.424069</c:v>
                </c:pt>
                <c:pt idx="328">
                  <c:v>23.495702</c:v>
                </c:pt>
                <c:pt idx="329">
                  <c:v>23.567335</c:v>
                </c:pt>
                <c:pt idx="330">
                  <c:v>23.638968</c:v>
                </c:pt>
                <c:pt idx="331">
                  <c:v>23.710602</c:v>
                </c:pt>
                <c:pt idx="332">
                  <c:v>23.782235</c:v>
                </c:pt>
                <c:pt idx="333">
                  <c:v>23.853868</c:v>
                </c:pt>
                <c:pt idx="334">
                  <c:v>23.925501</c:v>
                </c:pt>
                <c:pt idx="335">
                  <c:v>23.997135</c:v>
                </c:pt>
                <c:pt idx="336">
                  <c:v>24.068768</c:v>
                </c:pt>
                <c:pt idx="337">
                  <c:v>24.140401</c:v>
                </c:pt>
                <c:pt idx="338">
                  <c:v>24.212034</c:v>
                </c:pt>
                <c:pt idx="339">
                  <c:v>24.283668</c:v>
                </c:pt>
                <c:pt idx="340">
                  <c:v>24.355301</c:v>
                </c:pt>
                <c:pt idx="341">
                  <c:v>24.426934</c:v>
                </c:pt>
                <c:pt idx="342">
                  <c:v>24.498567</c:v>
                </c:pt>
                <c:pt idx="343">
                  <c:v>24.570201</c:v>
                </c:pt>
                <c:pt idx="344">
                  <c:v>24.641834</c:v>
                </c:pt>
                <c:pt idx="345">
                  <c:v>24.713467</c:v>
                </c:pt>
                <c:pt idx="346">
                  <c:v>24.7851</c:v>
                </c:pt>
                <c:pt idx="347">
                  <c:v>24.856734</c:v>
                </c:pt>
                <c:pt idx="348">
                  <c:v>24.928367</c:v>
                </c:pt>
                <c:pt idx="349">
                  <c:v>25</c:v>
                </c:pt>
                <c:pt idx="350">
                  <c:v>25.071633</c:v>
                </c:pt>
                <c:pt idx="351">
                  <c:v>25.143266</c:v>
                </c:pt>
                <c:pt idx="352">
                  <c:v>25.2149</c:v>
                </c:pt>
                <c:pt idx="353">
                  <c:v>25.286533</c:v>
                </c:pt>
                <c:pt idx="354">
                  <c:v>25.358166</c:v>
                </c:pt>
                <c:pt idx="355">
                  <c:v>25.429799</c:v>
                </c:pt>
                <c:pt idx="356">
                  <c:v>25.501433</c:v>
                </c:pt>
                <c:pt idx="357">
                  <c:v>25.573066</c:v>
                </c:pt>
                <c:pt idx="358">
                  <c:v>25.644699</c:v>
                </c:pt>
                <c:pt idx="359">
                  <c:v>25.716332</c:v>
                </c:pt>
                <c:pt idx="360">
                  <c:v>25.787966</c:v>
                </c:pt>
                <c:pt idx="361">
                  <c:v>25.859599</c:v>
                </c:pt>
                <c:pt idx="362">
                  <c:v>25.931232</c:v>
                </c:pt>
                <c:pt idx="363">
                  <c:v>26.002865</c:v>
                </c:pt>
                <c:pt idx="364">
                  <c:v>26.074499</c:v>
                </c:pt>
                <c:pt idx="365">
                  <c:v>26.146132</c:v>
                </c:pt>
                <c:pt idx="366">
                  <c:v>26.217765</c:v>
                </c:pt>
                <c:pt idx="367">
                  <c:v>26.289398</c:v>
                </c:pt>
                <c:pt idx="368">
                  <c:v>26.361032</c:v>
                </c:pt>
                <c:pt idx="369">
                  <c:v>26.432665</c:v>
                </c:pt>
                <c:pt idx="370">
                  <c:v>26.504298</c:v>
                </c:pt>
                <c:pt idx="371">
                  <c:v>26.575931</c:v>
                </c:pt>
                <c:pt idx="372">
                  <c:v>26.647564</c:v>
                </c:pt>
                <c:pt idx="373">
                  <c:v>26.719198</c:v>
                </c:pt>
                <c:pt idx="374">
                  <c:v>26.790831</c:v>
                </c:pt>
                <c:pt idx="375">
                  <c:v>26.862464</c:v>
                </c:pt>
                <c:pt idx="376">
                  <c:v>26.934097</c:v>
                </c:pt>
                <c:pt idx="377">
                  <c:v>27.005731</c:v>
                </c:pt>
                <c:pt idx="378">
                  <c:v>27.077364</c:v>
                </c:pt>
                <c:pt idx="379">
                  <c:v>27.148997</c:v>
                </c:pt>
                <c:pt idx="380">
                  <c:v>27.22063</c:v>
                </c:pt>
                <c:pt idx="381">
                  <c:v>27.292264</c:v>
                </c:pt>
                <c:pt idx="382">
                  <c:v>27.363897</c:v>
                </c:pt>
                <c:pt idx="383">
                  <c:v>27.43553</c:v>
                </c:pt>
                <c:pt idx="384">
                  <c:v>27.507163</c:v>
                </c:pt>
                <c:pt idx="385">
                  <c:v>27.578797</c:v>
                </c:pt>
                <c:pt idx="386">
                  <c:v>27.65043</c:v>
                </c:pt>
                <c:pt idx="387">
                  <c:v>27.722063</c:v>
                </c:pt>
                <c:pt idx="388">
                  <c:v>27.793696</c:v>
                </c:pt>
                <c:pt idx="389">
                  <c:v>27.86533</c:v>
                </c:pt>
                <c:pt idx="390">
                  <c:v>27.936963</c:v>
                </c:pt>
                <c:pt idx="391">
                  <c:v>28.008596</c:v>
                </c:pt>
                <c:pt idx="392">
                  <c:v>28.080229</c:v>
                </c:pt>
                <c:pt idx="393">
                  <c:v>28.151862</c:v>
                </c:pt>
                <c:pt idx="394">
                  <c:v>28.223496</c:v>
                </c:pt>
                <c:pt idx="395">
                  <c:v>28.295129</c:v>
                </c:pt>
                <c:pt idx="396">
                  <c:v>28.366762</c:v>
                </c:pt>
                <c:pt idx="397">
                  <c:v>28.438395</c:v>
                </c:pt>
                <c:pt idx="398">
                  <c:v>28.510029</c:v>
                </c:pt>
                <c:pt idx="399">
                  <c:v>28.581662</c:v>
                </c:pt>
                <c:pt idx="400">
                  <c:v>28.653295</c:v>
                </c:pt>
                <c:pt idx="401">
                  <c:v>28.724928</c:v>
                </c:pt>
                <c:pt idx="402">
                  <c:v>28.796562</c:v>
                </c:pt>
                <c:pt idx="403">
                  <c:v>28.868195</c:v>
                </c:pt>
                <c:pt idx="404">
                  <c:v>28.939828</c:v>
                </c:pt>
                <c:pt idx="405">
                  <c:v>29.011461</c:v>
                </c:pt>
                <c:pt idx="406">
                  <c:v>29.083095</c:v>
                </c:pt>
                <c:pt idx="407">
                  <c:v>29.154728</c:v>
                </c:pt>
                <c:pt idx="408">
                  <c:v>29.226361</c:v>
                </c:pt>
                <c:pt idx="409">
                  <c:v>29.297994</c:v>
                </c:pt>
                <c:pt idx="410">
                  <c:v>29.369628</c:v>
                </c:pt>
                <c:pt idx="411">
                  <c:v>29.441261</c:v>
                </c:pt>
                <c:pt idx="412">
                  <c:v>29.512894</c:v>
                </c:pt>
                <c:pt idx="413">
                  <c:v>29.584527</c:v>
                </c:pt>
                <c:pt idx="414">
                  <c:v>29.65616</c:v>
                </c:pt>
                <c:pt idx="415">
                  <c:v>29.727794</c:v>
                </c:pt>
                <c:pt idx="416">
                  <c:v>29.799427</c:v>
                </c:pt>
                <c:pt idx="417">
                  <c:v>29.87106</c:v>
                </c:pt>
                <c:pt idx="418">
                  <c:v>29.942693</c:v>
                </c:pt>
                <c:pt idx="419">
                  <c:v>30.014327</c:v>
                </c:pt>
                <c:pt idx="420">
                  <c:v>30.08596</c:v>
                </c:pt>
                <c:pt idx="421">
                  <c:v>30.157593</c:v>
                </c:pt>
                <c:pt idx="422">
                  <c:v>30.229226</c:v>
                </c:pt>
                <c:pt idx="423">
                  <c:v>30.30086</c:v>
                </c:pt>
                <c:pt idx="424">
                  <c:v>30.372493</c:v>
                </c:pt>
                <c:pt idx="425">
                  <c:v>30.444126</c:v>
                </c:pt>
                <c:pt idx="426">
                  <c:v>30.515759</c:v>
                </c:pt>
                <c:pt idx="427">
                  <c:v>30.587393</c:v>
                </c:pt>
                <c:pt idx="428">
                  <c:v>30.659026</c:v>
                </c:pt>
                <c:pt idx="429">
                  <c:v>30.730659</c:v>
                </c:pt>
                <c:pt idx="430">
                  <c:v>30.802292</c:v>
                </c:pt>
                <c:pt idx="431">
                  <c:v>30.873926</c:v>
                </c:pt>
                <c:pt idx="432">
                  <c:v>30.945559</c:v>
                </c:pt>
                <c:pt idx="433">
                  <c:v>31.017192</c:v>
                </c:pt>
                <c:pt idx="434">
                  <c:v>31.088825</c:v>
                </c:pt>
                <c:pt idx="435">
                  <c:v>31.160458</c:v>
                </c:pt>
                <c:pt idx="436">
                  <c:v>31.232092</c:v>
                </c:pt>
                <c:pt idx="437">
                  <c:v>31.303725</c:v>
                </c:pt>
                <c:pt idx="438">
                  <c:v>31.375358</c:v>
                </c:pt>
                <c:pt idx="439">
                  <c:v>31.446991</c:v>
                </c:pt>
                <c:pt idx="440">
                  <c:v>31.518625</c:v>
                </c:pt>
                <c:pt idx="441">
                  <c:v>31.590258</c:v>
                </c:pt>
                <c:pt idx="442">
                  <c:v>31.661891</c:v>
                </c:pt>
                <c:pt idx="443">
                  <c:v>31.733524</c:v>
                </c:pt>
                <c:pt idx="444">
                  <c:v>31.805158</c:v>
                </c:pt>
                <c:pt idx="445">
                  <c:v>31.876791</c:v>
                </c:pt>
                <c:pt idx="446">
                  <c:v>31.948424</c:v>
                </c:pt>
                <c:pt idx="447">
                  <c:v>32.020057</c:v>
                </c:pt>
                <c:pt idx="448">
                  <c:v>32.091691</c:v>
                </c:pt>
                <c:pt idx="449">
                  <c:v>32.163324</c:v>
                </c:pt>
                <c:pt idx="450">
                  <c:v>32.234957</c:v>
                </c:pt>
                <c:pt idx="451">
                  <c:v>32.30659</c:v>
                </c:pt>
                <c:pt idx="452">
                  <c:v>32.378223</c:v>
                </c:pt>
                <c:pt idx="453">
                  <c:v>32.449857</c:v>
                </c:pt>
                <c:pt idx="454">
                  <c:v>32.52149</c:v>
                </c:pt>
                <c:pt idx="455">
                  <c:v>32.593123</c:v>
                </c:pt>
                <c:pt idx="456">
                  <c:v>32.664756</c:v>
                </c:pt>
                <c:pt idx="457">
                  <c:v>32.73639</c:v>
                </c:pt>
                <c:pt idx="458">
                  <c:v>32.808023</c:v>
                </c:pt>
                <c:pt idx="459">
                  <c:v>32.879656</c:v>
                </c:pt>
                <c:pt idx="460">
                  <c:v>32.951289</c:v>
                </c:pt>
                <c:pt idx="461">
                  <c:v>33.022923</c:v>
                </c:pt>
                <c:pt idx="462">
                  <c:v>33.094556</c:v>
                </c:pt>
                <c:pt idx="463">
                  <c:v>33.166189</c:v>
                </c:pt>
                <c:pt idx="464">
                  <c:v>33.237822</c:v>
                </c:pt>
                <c:pt idx="465">
                  <c:v>33.309456</c:v>
                </c:pt>
                <c:pt idx="466">
                  <c:v>33.381089</c:v>
                </c:pt>
                <c:pt idx="467">
                  <c:v>33.452722</c:v>
                </c:pt>
                <c:pt idx="468">
                  <c:v>33.524355</c:v>
                </c:pt>
                <c:pt idx="469">
                  <c:v>33.595989</c:v>
                </c:pt>
                <c:pt idx="470">
                  <c:v>33.667622</c:v>
                </c:pt>
                <c:pt idx="471">
                  <c:v>33.739255</c:v>
                </c:pt>
                <c:pt idx="472">
                  <c:v>33.810888</c:v>
                </c:pt>
                <c:pt idx="473">
                  <c:v>33.882521</c:v>
                </c:pt>
                <c:pt idx="474">
                  <c:v>33.954155</c:v>
                </c:pt>
                <c:pt idx="475">
                  <c:v>34.025788</c:v>
                </c:pt>
                <c:pt idx="476">
                  <c:v>34.097421</c:v>
                </c:pt>
                <c:pt idx="477">
                  <c:v>34.169054</c:v>
                </c:pt>
                <c:pt idx="478">
                  <c:v>34.240688</c:v>
                </c:pt>
                <c:pt idx="479">
                  <c:v>34.312321</c:v>
                </c:pt>
                <c:pt idx="480">
                  <c:v>34.383954</c:v>
                </c:pt>
                <c:pt idx="481">
                  <c:v>34.455587</c:v>
                </c:pt>
                <c:pt idx="482">
                  <c:v>34.527221</c:v>
                </c:pt>
                <c:pt idx="483">
                  <c:v>34.598854</c:v>
                </c:pt>
                <c:pt idx="484">
                  <c:v>34.670487</c:v>
                </c:pt>
                <c:pt idx="485">
                  <c:v>34.74212</c:v>
                </c:pt>
                <c:pt idx="486">
                  <c:v>34.813754</c:v>
                </c:pt>
                <c:pt idx="487">
                  <c:v>34.885387</c:v>
                </c:pt>
                <c:pt idx="488">
                  <c:v>34.95702</c:v>
                </c:pt>
                <c:pt idx="489">
                  <c:v>35.028653</c:v>
                </c:pt>
                <c:pt idx="490">
                  <c:v>35.100287</c:v>
                </c:pt>
                <c:pt idx="491">
                  <c:v>35.17192</c:v>
                </c:pt>
                <c:pt idx="492">
                  <c:v>35.243553</c:v>
                </c:pt>
                <c:pt idx="493">
                  <c:v>35.315186</c:v>
                </c:pt>
                <c:pt idx="494">
                  <c:v>35.386819</c:v>
                </c:pt>
                <c:pt idx="495">
                  <c:v>35.458453</c:v>
                </c:pt>
                <c:pt idx="496">
                  <c:v>35.530086</c:v>
                </c:pt>
                <c:pt idx="497">
                  <c:v>35.601719</c:v>
                </c:pt>
                <c:pt idx="498">
                  <c:v>35.673352</c:v>
                </c:pt>
                <c:pt idx="499">
                  <c:v>35.744986</c:v>
                </c:pt>
                <c:pt idx="500">
                  <c:v>35.816619</c:v>
                </c:pt>
                <c:pt idx="501">
                  <c:v>35.888252</c:v>
                </c:pt>
                <c:pt idx="502">
                  <c:v>35.959885</c:v>
                </c:pt>
                <c:pt idx="503">
                  <c:v>36.031519</c:v>
                </c:pt>
                <c:pt idx="504">
                  <c:v>36.103152</c:v>
                </c:pt>
                <c:pt idx="505">
                  <c:v>36.174785</c:v>
                </c:pt>
                <c:pt idx="506">
                  <c:v>36.246418</c:v>
                </c:pt>
                <c:pt idx="507">
                  <c:v>36.318052</c:v>
                </c:pt>
                <c:pt idx="508">
                  <c:v>36.389685</c:v>
                </c:pt>
                <c:pt idx="509">
                  <c:v>36.461318</c:v>
                </c:pt>
                <c:pt idx="510">
                  <c:v>36.532951</c:v>
                </c:pt>
                <c:pt idx="511">
                  <c:v>36.604585</c:v>
                </c:pt>
                <c:pt idx="512">
                  <c:v>36.676218</c:v>
                </c:pt>
                <c:pt idx="513">
                  <c:v>36.747851</c:v>
                </c:pt>
                <c:pt idx="514">
                  <c:v>36.819484</c:v>
                </c:pt>
                <c:pt idx="515">
                  <c:v>36.891117</c:v>
                </c:pt>
                <c:pt idx="516">
                  <c:v>36.962751</c:v>
                </c:pt>
                <c:pt idx="517">
                  <c:v>37.034384</c:v>
                </c:pt>
                <c:pt idx="518">
                  <c:v>37.106017</c:v>
                </c:pt>
                <c:pt idx="519">
                  <c:v>37.17765</c:v>
                </c:pt>
                <c:pt idx="520">
                  <c:v>37.249284</c:v>
                </c:pt>
                <c:pt idx="521">
                  <c:v>37.320917</c:v>
                </c:pt>
                <c:pt idx="522">
                  <c:v>37.39255</c:v>
                </c:pt>
                <c:pt idx="523">
                  <c:v>37.464183</c:v>
                </c:pt>
                <c:pt idx="524">
                  <c:v>37.535817</c:v>
                </c:pt>
                <c:pt idx="525">
                  <c:v>37.60745</c:v>
                </c:pt>
                <c:pt idx="526">
                  <c:v>37.679083</c:v>
                </c:pt>
                <c:pt idx="527">
                  <c:v>37.750716</c:v>
                </c:pt>
                <c:pt idx="528">
                  <c:v>37.82235</c:v>
                </c:pt>
                <c:pt idx="529">
                  <c:v>37.893983</c:v>
                </c:pt>
                <c:pt idx="530">
                  <c:v>37.965616</c:v>
                </c:pt>
                <c:pt idx="531">
                  <c:v>38.037249</c:v>
                </c:pt>
                <c:pt idx="532">
                  <c:v>38.108883</c:v>
                </c:pt>
                <c:pt idx="533">
                  <c:v>38.180516</c:v>
                </c:pt>
                <c:pt idx="534">
                  <c:v>38.252149</c:v>
                </c:pt>
                <c:pt idx="535">
                  <c:v>38.323782</c:v>
                </c:pt>
                <c:pt idx="536">
                  <c:v>38.395415</c:v>
                </c:pt>
                <c:pt idx="537">
                  <c:v>38.467049</c:v>
                </c:pt>
                <c:pt idx="538">
                  <c:v>38.538682</c:v>
                </c:pt>
                <c:pt idx="539">
                  <c:v>38.610315</c:v>
                </c:pt>
                <c:pt idx="540">
                  <c:v>38.681948</c:v>
                </c:pt>
                <c:pt idx="541">
                  <c:v>38.753582</c:v>
                </c:pt>
                <c:pt idx="542">
                  <c:v>38.825215</c:v>
                </c:pt>
                <c:pt idx="543">
                  <c:v>38.896848</c:v>
                </c:pt>
                <c:pt idx="544">
                  <c:v>38.968481</c:v>
                </c:pt>
                <c:pt idx="545">
                  <c:v>39.040115</c:v>
                </c:pt>
                <c:pt idx="546">
                  <c:v>39.111748</c:v>
                </c:pt>
                <c:pt idx="547">
                  <c:v>39.183381</c:v>
                </c:pt>
                <c:pt idx="548">
                  <c:v>39.255014</c:v>
                </c:pt>
                <c:pt idx="549">
                  <c:v>39.326648</c:v>
                </c:pt>
                <c:pt idx="550">
                  <c:v>39.398281</c:v>
                </c:pt>
                <c:pt idx="551">
                  <c:v>39.469914</c:v>
                </c:pt>
                <c:pt idx="552">
                  <c:v>39.541547</c:v>
                </c:pt>
                <c:pt idx="553">
                  <c:v>39.613181</c:v>
                </c:pt>
                <c:pt idx="554">
                  <c:v>39.684814</c:v>
                </c:pt>
                <c:pt idx="555">
                  <c:v>39.756447</c:v>
                </c:pt>
                <c:pt idx="556">
                  <c:v>39.82808</c:v>
                </c:pt>
                <c:pt idx="557">
                  <c:v>39.899713</c:v>
                </c:pt>
                <c:pt idx="558">
                  <c:v>39.971347</c:v>
                </c:pt>
                <c:pt idx="559">
                  <c:v>40.04298</c:v>
                </c:pt>
                <c:pt idx="560">
                  <c:v>40.114613</c:v>
                </c:pt>
                <c:pt idx="561">
                  <c:v>40.186246</c:v>
                </c:pt>
                <c:pt idx="562">
                  <c:v>40.25788</c:v>
                </c:pt>
                <c:pt idx="563">
                  <c:v>40.329513</c:v>
                </c:pt>
                <c:pt idx="564">
                  <c:v>40.401146</c:v>
                </c:pt>
                <c:pt idx="565">
                  <c:v>40.472779</c:v>
                </c:pt>
                <c:pt idx="566">
                  <c:v>40.544413</c:v>
                </c:pt>
                <c:pt idx="567">
                  <c:v>40.616046</c:v>
                </c:pt>
                <c:pt idx="568">
                  <c:v>40.687679</c:v>
                </c:pt>
                <c:pt idx="569">
                  <c:v>40.759312</c:v>
                </c:pt>
                <c:pt idx="570">
                  <c:v>40.830946</c:v>
                </c:pt>
                <c:pt idx="571">
                  <c:v>40.902579</c:v>
                </c:pt>
                <c:pt idx="572">
                  <c:v>40.974212</c:v>
                </c:pt>
                <c:pt idx="573">
                  <c:v>41.045845</c:v>
                </c:pt>
                <c:pt idx="574">
                  <c:v>41.117479</c:v>
                </c:pt>
                <c:pt idx="575">
                  <c:v>41.189112</c:v>
                </c:pt>
                <c:pt idx="576">
                  <c:v>41.260745</c:v>
                </c:pt>
                <c:pt idx="577">
                  <c:v>41.332378</c:v>
                </c:pt>
                <c:pt idx="578">
                  <c:v>41.404011</c:v>
                </c:pt>
                <c:pt idx="579">
                  <c:v>41.475645</c:v>
                </c:pt>
                <c:pt idx="580">
                  <c:v>41.547278</c:v>
                </c:pt>
                <c:pt idx="581">
                  <c:v>41.618911</c:v>
                </c:pt>
                <c:pt idx="582">
                  <c:v>41.690544</c:v>
                </c:pt>
                <c:pt idx="583">
                  <c:v>41.762178</c:v>
                </c:pt>
                <c:pt idx="584">
                  <c:v>41.833811</c:v>
                </c:pt>
                <c:pt idx="585">
                  <c:v>41.905444</c:v>
                </c:pt>
                <c:pt idx="586">
                  <c:v>41.977077</c:v>
                </c:pt>
                <c:pt idx="587">
                  <c:v>42.048711</c:v>
                </c:pt>
                <c:pt idx="588">
                  <c:v>42.120344</c:v>
                </c:pt>
                <c:pt idx="589">
                  <c:v>42.191977</c:v>
                </c:pt>
                <c:pt idx="590">
                  <c:v>42.26361</c:v>
                </c:pt>
                <c:pt idx="591">
                  <c:v>42.335244</c:v>
                </c:pt>
                <c:pt idx="592">
                  <c:v>42.406877</c:v>
                </c:pt>
                <c:pt idx="593">
                  <c:v>42.47851</c:v>
                </c:pt>
                <c:pt idx="594">
                  <c:v>42.550143</c:v>
                </c:pt>
                <c:pt idx="595">
                  <c:v>42.621777</c:v>
                </c:pt>
                <c:pt idx="596">
                  <c:v>42.69341</c:v>
                </c:pt>
                <c:pt idx="597">
                  <c:v>42.765043</c:v>
                </c:pt>
                <c:pt idx="598">
                  <c:v>42.836676</c:v>
                </c:pt>
                <c:pt idx="599">
                  <c:v>42.908309</c:v>
                </c:pt>
                <c:pt idx="600">
                  <c:v>42.979943</c:v>
                </c:pt>
                <c:pt idx="601">
                  <c:v>43.051576</c:v>
                </c:pt>
                <c:pt idx="602">
                  <c:v>43.123209</c:v>
                </c:pt>
                <c:pt idx="603">
                  <c:v>43.194842</c:v>
                </c:pt>
                <c:pt idx="604">
                  <c:v>43.266476</c:v>
                </c:pt>
                <c:pt idx="605">
                  <c:v>43.338109</c:v>
                </c:pt>
                <c:pt idx="606">
                  <c:v>43.409742</c:v>
                </c:pt>
                <c:pt idx="607">
                  <c:v>43.481375</c:v>
                </c:pt>
                <c:pt idx="608">
                  <c:v>43.553009</c:v>
                </c:pt>
                <c:pt idx="609">
                  <c:v>43.624642</c:v>
                </c:pt>
                <c:pt idx="610">
                  <c:v>43.696275</c:v>
                </c:pt>
                <c:pt idx="611">
                  <c:v>43.767908</c:v>
                </c:pt>
                <c:pt idx="612">
                  <c:v>43.839542</c:v>
                </c:pt>
                <c:pt idx="613">
                  <c:v>43.911175</c:v>
                </c:pt>
                <c:pt idx="614">
                  <c:v>43.982808</c:v>
                </c:pt>
                <c:pt idx="615">
                  <c:v>44.054441</c:v>
                </c:pt>
                <c:pt idx="616">
                  <c:v>44.126074</c:v>
                </c:pt>
                <c:pt idx="617">
                  <c:v>44.197708</c:v>
                </c:pt>
                <c:pt idx="618">
                  <c:v>44.269341</c:v>
                </c:pt>
                <c:pt idx="619">
                  <c:v>44.340974</c:v>
                </c:pt>
                <c:pt idx="620">
                  <c:v>44.412607</c:v>
                </c:pt>
                <c:pt idx="621">
                  <c:v>44.484241</c:v>
                </c:pt>
                <c:pt idx="622">
                  <c:v>44.555874</c:v>
                </c:pt>
                <c:pt idx="623">
                  <c:v>44.627507</c:v>
                </c:pt>
                <c:pt idx="624">
                  <c:v>44.69914</c:v>
                </c:pt>
                <c:pt idx="625">
                  <c:v>44.770774</c:v>
                </c:pt>
                <c:pt idx="626">
                  <c:v>44.842407</c:v>
                </c:pt>
                <c:pt idx="627">
                  <c:v>44.91404</c:v>
                </c:pt>
                <c:pt idx="628">
                  <c:v>44.985673</c:v>
                </c:pt>
                <c:pt idx="629">
                  <c:v>45.057307</c:v>
                </c:pt>
                <c:pt idx="630">
                  <c:v>45.12894</c:v>
                </c:pt>
                <c:pt idx="631">
                  <c:v>45.200573</c:v>
                </c:pt>
                <c:pt idx="632">
                  <c:v>45.272206</c:v>
                </c:pt>
                <c:pt idx="633">
                  <c:v>45.34384</c:v>
                </c:pt>
                <c:pt idx="634">
                  <c:v>45.415473</c:v>
                </c:pt>
                <c:pt idx="635">
                  <c:v>45.487106</c:v>
                </c:pt>
                <c:pt idx="636">
                  <c:v>45.558739</c:v>
                </c:pt>
                <c:pt idx="637">
                  <c:v>45.630372</c:v>
                </c:pt>
                <c:pt idx="638">
                  <c:v>45.702006</c:v>
                </c:pt>
                <c:pt idx="639">
                  <c:v>45.773639</c:v>
                </c:pt>
                <c:pt idx="640">
                  <c:v>45.845272</c:v>
                </c:pt>
                <c:pt idx="641">
                  <c:v>45.916905</c:v>
                </c:pt>
                <c:pt idx="642">
                  <c:v>45.988539</c:v>
                </c:pt>
                <c:pt idx="643">
                  <c:v>46.060172</c:v>
                </c:pt>
                <c:pt idx="644">
                  <c:v>46.131805</c:v>
                </c:pt>
                <c:pt idx="645">
                  <c:v>46.203438</c:v>
                </c:pt>
                <c:pt idx="646">
                  <c:v>46.275072</c:v>
                </c:pt>
                <c:pt idx="647">
                  <c:v>46.346705</c:v>
                </c:pt>
                <c:pt idx="648">
                  <c:v>46.418338</c:v>
                </c:pt>
                <c:pt idx="649">
                  <c:v>46.489971</c:v>
                </c:pt>
                <c:pt idx="650">
                  <c:v>46.561605</c:v>
                </c:pt>
                <c:pt idx="651">
                  <c:v>46.633238</c:v>
                </c:pt>
                <c:pt idx="652">
                  <c:v>46.704871</c:v>
                </c:pt>
                <c:pt idx="653">
                  <c:v>46.776504</c:v>
                </c:pt>
                <c:pt idx="654">
                  <c:v>46.848138</c:v>
                </c:pt>
                <c:pt idx="655">
                  <c:v>46.919771</c:v>
                </c:pt>
                <c:pt idx="656">
                  <c:v>46.991404</c:v>
                </c:pt>
                <c:pt idx="657">
                  <c:v>47.063037</c:v>
                </c:pt>
                <c:pt idx="658">
                  <c:v>47.13467</c:v>
                </c:pt>
                <c:pt idx="659">
                  <c:v>47.206304</c:v>
                </c:pt>
                <c:pt idx="660">
                  <c:v>47.277937</c:v>
                </c:pt>
                <c:pt idx="661">
                  <c:v>47.34957</c:v>
                </c:pt>
                <c:pt idx="662">
                  <c:v>47.421203</c:v>
                </c:pt>
                <c:pt idx="663">
                  <c:v>47.492837</c:v>
                </c:pt>
                <c:pt idx="664">
                  <c:v>47.56447</c:v>
                </c:pt>
                <c:pt idx="665">
                  <c:v>47.636103</c:v>
                </c:pt>
                <c:pt idx="666">
                  <c:v>47.707736</c:v>
                </c:pt>
                <c:pt idx="667">
                  <c:v>47.77937</c:v>
                </c:pt>
                <c:pt idx="668">
                  <c:v>47.851003</c:v>
                </c:pt>
                <c:pt idx="669">
                  <c:v>47.922636</c:v>
                </c:pt>
                <c:pt idx="670">
                  <c:v>47.994269</c:v>
                </c:pt>
                <c:pt idx="671">
                  <c:v>48.065903</c:v>
                </c:pt>
                <c:pt idx="672">
                  <c:v>48.137536</c:v>
                </c:pt>
                <c:pt idx="673">
                  <c:v>48.209169</c:v>
                </c:pt>
                <c:pt idx="674">
                  <c:v>48.280802</c:v>
                </c:pt>
                <c:pt idx="675">
                  <c:v>48.352436</c:v>
                </c:pt>
                <c:pt idx="676">
                  <c:v>48.424069</c:v>
                </c:pt>
                <c:pt idx="677">
                  <c:v>48.495702</c:v>
                </c:pt>
                <c:pt idx="678">
                  <c:v>48.567335</c:v>
                </c:pt>
                <c:pt idx="679">
                  <c:v>48.638968</c:v>
                </c:pt>
                <c:pt idx="680">
                  <c:v>48.710602</c:v>
                </c:pt>
                <c:pt idx="681">
                  <c:v>48.782235</c:v>
                </c:pt>
                <c:pt idx="682">
                  <c:v>48.853868</c:v>
                </c:pt>
                <c:pt idx="683">
                  <c:v>48.925501</c:v>
                </c:pt>
                <c:pt idx="684">
                  <c:v>48.997135</c:v>
                </c:pt>
                <c:pt idx="685">
                  <c:v>49.068768</c:v>
                </c:pt>
                <c:pt idx="686">
                  <c:v>49.140401</c:v>
                </c:pt>
                <c:pt idx="687">
                  <c:v>49.212034</c:v>
                </c:pt>
                <c:pt idx="688">
                  <c:v>49.283668</c:v>
                </c:pt>
                <c:pt idx="689">
                  <c:v>49.355301</c:v>
                </c:pt>
                <c:pt idx="690">
                  <c:v>49.426934</c:v>
                </c:pt>
                <c:pt idx="691">
                  <c:v>49.498567</c:v>
                </c:pt>
                <c:pt idx="692">
                  <c:v>49.570201</c:v>
                </c:pt>
                <c:pt idx="693">
                  <c:v>49.641834</c:v>
                </c:pt>
                <c:pt idx="694">
                  <c:v>49.713467</c:v>
                </c:pt>
                <c:pt idx="695">
                  <c:v>49.7851</c:v>
                </c:pt>
                <c:pt idx="696">
                  <c:v>49.856734</c:v>
                </c:pt>
                <c:pt idx="697">
                  <c:v>49.928367</c:v>
                </c:pt>
                <c:pt idx="698">
                  <c:v>50</c:v>
                </c:pt>
                <c:pt idx="699">
                  <c:v>50.071633</c:v>
                </c:pt>
                <c:pt idx="700">
                  <c:v>50.143266</c:v>
                </c:pt>
                <c:pt idx="701">
                  <c:v>50.2149</c:v>
                </c:pt>
                <c:pt idx="702">
                  <c:v>50.286533</c:v>
                </c:pt>
                <c:pt idx="703">
                  <c:v>50.358166</c:v>
                </c:pt>
                <c:pt idx="704">
                  <c:v>50.429799</c:v>
                </c:pt>
                <c:pt idx="705">
                  <c:v>50.501433</c:v>
                </c:pt>
                <c:pt idx="706">
                  <c:v>50.573066</c:v>
                </c:pt>
                <c:pt idx="707">
                  <c:v>50.644699</c:v>
                </c:pt>
                <c:pt idx="708">
                  <c:v>50.716332</c:v>
                </c:pt>
                <c:pt idx="709">
                  <c:v>50.787966</c:v>
                </c:pt>
                <c:pt idx="710">
                  <c:v>50.859599</c:v>
                </c:pt>
                <c:pt idx="711">
                  <c:v>50.931232</c:v>
                </c:pt>
                <c:pt idx="712">
                  <c:v>51.002865</c:v>
                </c:pt>
                <c:pt idx="713">
                  <c:v>51.074499</c:v>
                </c:pt>
                <c:pt idx="714">
                  <c:v>51.146132</c:v>
                </c:pt>
                <c:pt idx="715">
                  <c:v>51.217765</c:v>
                </c:pt>
                <c:pt idx="716">
                  <c:v>51.289398</c:v>
                </c:pt>
                <c:pt idx="717">
                  <c:v>51.361032</c:v>
                </c:pt>
                <c:pt idx="718">
                  <c:v>51.432665</c:v>
                </c:pt>
                <c:pt idx="719">
                  <c:v>51.504298</c:v>
                </c:pt>
                <c:pt idx="720">
                  <c:v>51.575931</c:v>
                </c:pt>
                <c:pt idx="721">
                  <c:v>51.647564</c:v>
                </c:pt>
                <c:pt idx="722">
                  <c:v>51.719198</c:v>
                </c:pt>
                <c:pt idx="723">
                  <c:v>51.790831</c:v>
                </c:pt>
                <c:pt idx="724">
                  <c:v>51.862464</c:v>
                </c:pt>
                <c:pt idx="725">
                  <c:v>51.934097</c:v>
                </c:pt>
                <c:pt idx="726">
                  <c:v>52.005731</c:v>
                </c:pt>
                <c:pt idx="727">
                  <c:v>52.077364</c:v>
                </c:pt>
                <c:pt idx="728">
                  <c:v>52.148997</c:v>
                </c:pt>
                <c:pt idx="729">
                  <c:v>52.22063</c:v>
                </c:pt>
                <c:pt idx="730">
                  <c:v>52.292264</c:v>
                </c:pt>
                <c:pt idx="731">
                  <c:v>52.363897</c:v>
                </c:pt>
                <c:pt idx="732">
                  <c:v>52.43553</c:v>
                </c:pt>
                <c:pt idx="733">
                  <c:v>52.507163</c:v>
                </c:pt>
                <c:pt idx="734">
                  <c:v>52.578797</c:v>
                </c:pt>
                <c:pt idx="735">
                  <c:v>52.65043</c:v>
                </c:pt>
                <c:pt idx="736">
                  <c:v>52.722063</c:v>
                </c:pt>
                <c:pt idx="737">
                  <c:v>52.793696</c:v>
                </c:pt>
                <c:pt idx="738">
                  <c:v>52.86533</c:v>
                </c:pt>
                <c:pt idx="739">
                  <c:v>52.936963</c:v>
                </c:pt>
                <c:pt idx="740">
                  <c:v>53.008596</c:v>
                </c:pt>
                <c:pt idx="741">
                  <c:v>53.080229</c:v>
                </c:pt>
                <c:pt idx="742">
                  <c:v>53.151862</c:v>
                </c:pt>
                <c:pt idx="743">
                  <c:v>53.223496</c:v>
                </c:pt>
                <c:pt idx="744">
                  <c:v>53.295129</c:v>
                </c:pt>
                <c:pt idx="745">
                  <c:v>53.366762</c:v>
                </c:pt>
                <c:pt idx="746">
                  <c:v>53.438395</c:v>
                </c:pt>
                <c:pt idx="747">
                  <c:v>53.510029</c:v>
                </c:pt>
                <c:pt idx="748">
                  <c:v>53.581662</c:v>
                </c:pt>
                <c:pt idx="749">
                  <c:v>53.653295</c:v>
                </c:pt>
                <c:pt idx="750">
                  <c:v>53.724928</c:v>
                </c:pt>
                <c:pt idx="751">
                  <c:v>53.796562</c:v>
                </c:pt>
                <c:pt idx="752">
                  <c:v>53.868195</c:v>
                </c:pt>
                <c:pt idx="753">
                  <c:v>53.939828</c:v>
                </c:pt>
                <c:pt idx="754">
                  <c:v>54.011461</c:v>
                </c:pt>
                <c:pt idx="755">
                  <c:v>54.083095</c:v>
                </c:pt>
                <c:pt idx="756">
                  <c:v>54.154728</c:v>
                </c:pt>
                <c:pt idx="757">
                  <c:v>54.226361</c:v>
                </c:pt>
                <c:pt idx="758">
                  <c:v>54.297994</c:v>
                </c:pt>
                <c:pt idx="759">
                  <c:v>54.369628</c:v>
                </c:pt>
                <c:pt idx="760">
                  <c:v>54.441261</c:v>
                </c:pt>
                <c:pt idx="761">
                  <c:v>54.512894</c:v>
                </c:pt>
                <c:pt idx="762">
                  <c:v>54.584527</c:v>
                </c:pt>
                <c:pt idx="763">
                  <c:v>54.65616</c:v>
                </c:pt>
                <c:pt idx="764">
                  <c:v>54.727794</c:v>
                </c:pt>
                <c:pt idx="765">
                  <c:v>54.799427</c:v>
                </c:pt>
                <c:pt idx="766">
                  <c:v>54.87106</c:v>
                </c:pt>
                <c:pt idx="767">
                  <c:v>54.942693</c:v>
                </c:pt>
                <c:pt idx="768">
                  <c:v>55.014327</c:v>
                </c:pt>
                <c:pt idx="769">
                  <c:v>55.08596</c:v>
                </c:pt>
                <c:pt idx="770">
                  <c:v>55.157593</c:v>
                </c:pt>
                <c:pt idx="771">
                  <c:v>55.229226</c:v>
                </c:pt>
                <c:pt idx="772">
                  <c:v>55.30086</c:v>
                </c:pt>
                <c:pt idx="773">
                  <c:v>55.372493</c:v>
                </c:pt>
                <c:pt idx="774">
                  <c:v>55.444126</c:v>
                </c:pt>
                <c:pt idx="775">
                  <c:v>55.515759</c:v>
                </c:pt>
                <c:pt idx="776">
                  <c:v>55.587393</c:v>
                </c:pt>
                <c:pt idx="777">
                  <c:v>55.659026</c:v>
                </c:pt>
                <c:pt idx="778">
                  <c:v>55.730659</c:v>
                </c:pt>
                <c:pt idx="779">
                  <c:v>55.802292</c:v>
                </c:pt>
                <c:pt idx="780">
                  <c:v>55.873926</c:v>
                </c:pt>
                <c:pt idx="781">
                  <c:v>55.945559</c:v>
                </c:pt>
                <c:pt idx="782">
                  <c:v>56.017192</c:v>
                </c:pt>
                <c:pt idx="783">
                  <c:v>56.088825</c:v>
                </c:pt>
                <c:pt idx="784">
                  <c:v>56.160458</c:v>
                </c:pt>
                <c:pt idx="785">
                  <c:v>56.232092</c:v>
                </c:pt>
                <c:pt idx="786">
                  <c:v>56.303725</c:v>
                </c:pt>
                <c:pt idx="787">
                  <c:v>56.375358</c:v>
                </c:pt>
                <c:pt idx="788">
                  <c:v>56.446991</c:v>
                </c:pt>
                <c:pt idx="789">
                  <c:v>56.518625</c:v>
                </c:pt>
                <c:pt idx="790">
                  <c:v>56.590258</c:v>
                </c:pt>
                <c:pt idx="791">
                  <c:v>56.661891</c:v>
                </c:pt>
                <c:pt idx="792">
                  <c:v>56.733524</c:v>
                </c:pt>
                <c:pt idx="793">
                  <c:v>56.805158</c:v>
                </c:pt>
                <c:pt idx="794">
                  <c:v>56.876791</c:v>
                </c:pt>
                <c:pt idx="795">
                  <c:v>56.948424</c:v>
                </c:pt>
                <c:pt idx="796">
                  <c:v>57.020057</c:v>
                </c:pt>
                <c:pt idx="797">
                  <c:v>57.091691</c:v>
                </c:pt>
                <c:pt idx="798">
                  <c:v>57.163324</c:v>
                </c:pt>
                <c:pt idx="799">
                  <c:v>57.234957</c:v>
                </c:pt>
                <c:pt idx="800">
                  <c:v>57.30659</c:v>
                </c:pt>
                <c:pt idx="801">
                  <c:v>57.378223</c:v>
                </c:pt>
                <c:pt idx="802">
                  <c:v>57.449857</c:v>
                </c:pt>
                <c:pt idx="803">
                  <c:v>57.52149</c:v>
                </c:pt>
                <c:pt idx="804">
                  <c:v>57.593123</c:v>
                </c:pt>
                <c:pt idx="805">
                  <c:v>57.664756</c:v>
                </c:pt>
                <c:pt idx="806">
                  <c:v>57.73639</c:v>
                </c:pt>
                <c:pt idx="807">
                  <c:v>57.808023</c:v>
                </c:pt>
                <c:pt idx="808">
                  <c:v>57.879656</c:v>
                </c:pt>
                <c:pt idx="809">
                  <c:v>57.951289</c:v>
                </c:pt>
                <c:pt idx="810">
                  <c:v>58.022923</c:v>
                </c:pt>
                <c:pt idx="811">
                  <c:v>58.094556</c:v>
                </c:pt>
                <c:pt idx="812">
                  <c:v>58.166189</c:v>
                </c:pt>
                <c:pt idx="813">
                  <c:v>58.237822</c:v>
                </c:pt>
                <c:pt idx="814">
                  <c:v>58.309456</c:v>
                </c:pt>
                <c:pt idx="815">
                  <c:v>58.381089</c:v>
                </c:pt>
                <c:pt idx="816">
                  <c:v>58.452722</c:v>
                </c:pt>
                <c:pt idx="817">
                  <c:v>58.524355</c:v>
                </c:pt>
                <c:pt idx="818">
                  <c:v>58.595989</c:v>
                </c:pt>
                <c:pt idx="819">
                  <c:v>58.667622</c:v>
                </c:pt>
                <c:pt idx="820">
                  <c:v>58.739255</c:v>
                </c:pt>
                <c:pt idx="821">
                  <c:v>58.810888</c:v>
                </c:pt>
                <c:pt idx="822">
                  <c:v>58.882521</c:v>
                </c:pt>
                <c:pt idx="823">
                  <c:v>58.954155</c:v>
                </c:pt>
                <c:pt idx="824">
                  <c:v>59.025788</c:v>
                </c:pt>
                <c:pt idx="825">
                  <c:v>59.097421</c:v>
                </c:pt>
                <c:pt idx="826">
                  <c:v>59.169054</c:v>
                </c:pt>
                <c:pt idx="827">
                  <c:v>59.240688</c:v>
                </c:pt>
                <c:pt idx="828">
                  <c:v>59.312321</c:v>
                </c:pt>
                <c:pt idx="829">
                  <c:v>59.383954</c:v>
                </c:pt>
                <c:pt idx="830">
                  <c:v>59.455587</c:v>
                </c:pt>
                <c:pt idx="831">
                  <c:v>59.527221</c:v>
                </c:pt>
                <c:pt idx="832">
                  <c:v>59.598854</c:v>
                </c:pt>
                <c:pt idx="833">
                  <c:v>59.670487</c:v>
                </c:pt>
                <c:pt idx="834">
                  <c:v>59.74212</c:v>
                </c:pt>
                <c:pt idx="835">
                  <c:v>59.813754</c:v>
                </c:pt>
                <c:pt idx="836">
                  <c:v>59.885387</c:v>
                </c:pt>
                <c:pt idx="837">
                  <c:v>59.95702</c:v>
                </c:pt>
                <c:pt idx="838">
                  <c:v>60.028653</c:v>
                </c:pt>
                <c:pt idx="839">
                  <c:v>60.100287</c:v>
                </c:pt>
                <c:pt idx="840">
                  <c:v>60.17192</c:v>
                </c:pt>
                <c:pt idx="841">
                  <c:v>60.243553</c:v>
                </c:pt>
                <c:pt idx="842">
                  <c:v>60.315186</c:v>
                </c:pt>
                <c:pt idx="843">
                  <c:v>60.386819</c:v>
                </c:pt>
                <c:pt idx="844">
                  <c:v>60.458453</c:v>
                </c:pt>
                <c:pt idx="845">
                  <c:v>60.530086</c:v>
                </c:pt>
                <c:pt idx="846">
                  <c:v>60.601719</c:v>
                </c:pt>
                <c:pt idx="847">
                  <c:v>60.673352</c:v>
                </c:pt>
                <c:pt idx="848">
                  <c:v>60.744986</c:v>
                </c:pt>
                <c:pt idx="849">
                  <c:v>60.816619</c:v>
                </c:pt>
                <c:pt idx="850">
                  <c:v>60.888252</c:v>
                </c:pt>
                <c:pt idx="851">
                  <c:v>60.959885</c:v>
                </c:pt>
                <c:pt idx="852">
                  <c:v>61.031519</c:v>
                </c:pt>
                <c:pt idx="853">
                  <c:v>61.103152</c:v>
                </c:pt>
                <c:pt idx="854">
                  <c:v>61.174785</c:v>
                </c:pt>
                <c:pt idx="855">
                  <c:v>61.246418</c:v>
                </c:pt>
                <c:pt idx="856">
                  <c:v>61.318052</c:v>
                </c:pt>
                <c:pt idx="857">
                  <c:v>61.389685</c:v>
                </c:pt>
                <c:pt idx="858">
                  <c:v>61.461318</c:v>
                </c:pt>
                <c:pt idx="859">
                  <c:v>61.532951</c:v>
                </c:pt>
                <c:pt idx="860">
                  <c:v>61.604585</c:v>
                </c:pt>
                <c:pt idx="861">
                  <c:v>61.676218</c:v>
                </c:pt>
                <c:pt idx="862">
                  <c:v>61.747851</c:v>
                </c:pt>
                <c:pt idx="863">
                  <c:v>61.819484</c:v>
                </c:pt>
                <c:pt idx="864">
                  <c:v>61.891117</c:v>
                </c:pt>
                <c:pt idx="865">
                  <c:v>61.962751</c:v>
                </c:pt>
                <c:pt idx="866">
                  <c:v>62.034384</c:v>
                </c:pt>
                <c:pt idx="867">
                  <c:v>62.106017</c:v>
                </c:pt>
                <c:pt idx="868">
                  <c:v>62.17765</c:v>
                </c:pt>
                <c:pt idx="869">
                  <c:v>62.249284</c:v>
                </c:pt>
                <c:pt idx="870">
                  <c:v>62.320917</c:v>
                </c:pt>
                <c:pt idx="871">
                  <c:v>62.39255</c:v>
                </c:pt>
                <c:pt idx="872">
                  <c:v>62.464183</c:v>
                </c:pt>
                <c:pt idx="873">
                  <c:v>62.535817</c:v>
                </c:pt>
                <c:pt idx="874">
                  <c:v>62.60745</c:v>
                </c:pt>
                <c:pt idx="875">
                  <c:v>62.679083</c:v>
                </c:pt>
                <c:pt idx="876">
                  <c:v>62.750716</c:v>
                </c:pt>
                <c:pt idx="877">
                  <c:v>62.82235</c:v>
                </c:pt>
                <c:pt idx="878">
                  <c:v>62.893983</c:v>
                </c:pt>
                <c:pt idx="879">
                  <c:v>62.965616</c:v>
                </c:pt>
                <c:pt idx="880">
                  <c:v>63.037249</c:v>
                </c:pt>
                <c:pt idx="881">
                  <c:v>63.108883</c:v>
                </c:pt>
                <c:pt idx="882">
                  <c:v>63.180516</c:v>
                </c:pt>
                <c:pt idx="883">
                  <c:v>63.252149</c:v>
                </c:pt>
                <c:pt idx="884">
                  <c:v>63.323782</c:v>
                </c:pt>
                <c:pt idx="885">
                  <c:v>63.395415</c:v>
                </c:pt>
                <c:pt idx="886">
                  <c:v>63.467049</c:v>
                </c:pt>
                <c:pt idx="887">
                  <c:v>63.538682</c:v>
                </c:pt>
                <c:pt idx="888">
                  <c:v>63.610315</c:v>
                </c:pt>
                <c:pt idx="889">
                  <c:v>63.681948</c:v>
                </c:pt>
                <c:pt idx="890">
                  <c:v>63.753582</c:v>
                </c:pt>
                <c:pt idx="891">
                  <c:v>63.825215</c:v>
                </c:pt>
                <c:pt idx="892">
                  <c:v>63.896848</c:v>
                </c:pt>
                <c:pt idx="893">
                  <c:v>63.968481</c:v>
                </c:pt>
                <c:pt idx="894">
                  <c:v>64.040115</c:v>
                </c:pt>
                <c:pt idx="895">
                  <c:v>64.111748</c:v>
                </c:pt>
                <c:pt idx="896">
                  <c:v>64.183381</c:v>
                </c:pt>
                <c:pt idx="897">
                  <c:v>64.255014</c:v>
                </c:pt>
                <c:pt idx="898">
                  <c:v>64.326648</c:v>
                </c:pt>
                <c:pt idx="899">
                  <c:v>64.398281</c:v>
                </c:pt>
                <c:pt idx="900">
                  <c:v>64.469914</c:v>
                </c:pt>
                <c:pt idx="901">
                  <c:v>64.541547</c:v>
                </c:pt>
                <c:pt idx="902">
                  <c:v>64.613181</c:v>
                </c:pt>
                <c:pt idx="903">
                  <c:v>64.684814</c:v>
                </c:pt>
                <c:pt idx="904">
                  <c:v>64.756447</c:v>
                </c:pt>
                <c:pt idx="905">
                  <c:v>64.82808</c:v>
                </c:pt>
                <c:pt idx="906">
                  <c:v>64.899713</c:v>
                </c:pt>
                <c:pt idx="907">
                  <c:v>64.971347</c:v>
                </c:pt>
                <c:pt idx="908">
                  <c:v>65.04298</c:v>
                </c:pt>
                <c:pt idx="909">
                  <c:v>65.114613</c:v>
                </c:pt>
                <c:pt idx="910">
                  <c:v>65.186246</c:v>
                </c:pt>
                <c:pt idx="911">
                  <c:v>65.25788</c:v>
                </c:pt>
                <c:pt idx="912">
                  <c:v>65.329513</c:v>
                </c:pt>
                <c:pt idx="913">
                  <c:v>65.401146</c:v>
                </c:pt>
                <c:pt idx="914">
                  <c:v>65.472779</c:v>
                </c:pt>
                <c:pt idx="915">
                  <c:v>65.544413</c:v>
                </c:pt>
                <c:pt idx="916">
                  <c:v>65.616046</c:v>
                </c:pt>
                <c:pt idx="917">
                  <c:v>65.687679</c:v>
                </c:pt>
                <c:pt idx="918">
                  <c:v>65.759312</c:v>
                </c:pt>
                <c:pt idx="919">
                  <c:v>65.830946</c:v>
                </c:pt>
                <c:pt idx="920">
                  <c:v>65.902579</c:v>
                </c:pt>
                <c:pt idx="921">
                  <c:v>65.974212</c:v>
                </c:pt>
                <c:pt idx="922">
                  <c:v>66.045845</c:v>
                </c:pt>
                <c:pt idx="923">
                  <c:v>66.117479</c:v>
                </c:pt>
                <c:pt idx="924">
                  <c:v>66.189112</c:v>
                </c:pt>
                <c:pt idx="925">
                  <c:v>66.260745</c:v>
                </c:pt>
                <c:pt idx="926">
                  <c:v>66.332378</c:v>
                </c:pt>
                <c:pt idx="927">
                  <c:v>66.404011</c:v>
                </c:pt>
                <c:pt idx="928">
                  <c:v>66.475645</c:v>
                </c:pt>
                <c:pt idx="929">
                  <c:v>66.547278</c:v>
                </c:pt>
                <c:pt idx="930">
                  <c:v>66.618911</c:v>
                </c:pt>
                <c:pt idx="931">
                  <c:v>66.690544</c:v>
                </c:pt>
                <c:pt idx="932">
                  <c:v>66.762178</c:v>
                </c:pt>
                <c:pt idx="933">
                  <c:v>66.833811</c:v>
                </c:pt>
                <c:pt idx="934">
                  <c:v>66.905444</c:v>
                </c:pt>
                <c:pt idx="935">
                  <c:v>66.977077</c:v>
                </c:pt>
                <c:pt idx="936">
                  <c:v>67.048711</c:v>
                </c:pt>
                <c:pt idx="937">
                  <c:v>67.120344</c:v>
                </c:pt>
                <c:pt idx="938">
                  <c:v>67.191977</c:v>
                </c:pt>
                <c:pt idx="939">
                  <c:v>67.26361</c:v>
                </c:pt>
                <c:pt idx="940">
                  <c:v>67.335244</c:v>
                </c:pt>
                <c:pt idx="941">
                  <c:v>67.406877</c:v>
                </c:pt>
                <c:pt idx="942">
                  <c:v>67.47851</c:v>
                </c:pt>
                <c:pt idx="943">
                  <c:v>67.550143</c:v>
                </c:pt>
                <c:pt idx="944">
                  <c:v>67.621777</c:v>
                </c:pt>
                <c:pt idx="945">
                  <c:v>67.69341</c:v>
                </c:pt>
                <c:pt idx="946">
                  <c:v>67.765043</c:v>
                </c:pt>
                <c:pt idx="947">
                  <c:v>67.836676</c:v>
                </c:pt>
                <c:pt idx="948">
                  <c:v>67.908309</c:v>
                </c:pt>
                <c:pt idx="949">
                  <c:v>67.979943</c:v>
                </c:pt>
                <c:pt idx="950">
                  <c:v>68.051576</c:v>
                </c:pt>
                <c:pt idx="951">
                  <c:v>68.123209</c:v>
                </c:pt>
                <c:pt idx="952">
                  <c:v>68.194842</c:v>
                </c:pt>
                <c:pt idx="953">
                  <c:v>68.266476</c:v>
                </c:pt>
                <c:pt idx="954">
                  <c:v>68.338109</c:v>
                </c:pt>
                <c:pt idx="955">
                  <c:v>68.409742</c:v>
                </c:pt>
                <c:pt idx="956">
                  <c:v>68.481375</c:v>
                </c:pt>
                <c:pt idx="957">
                  <c:v>68.553009</c:v>
                </c:pt>
                <c:pt idx="958">
                  <c:v>68.624642</c:v>
                </c:pt>
                <c:pt idx="959">
                  <c:v>68.696275</c:v>
                </c:pt>
                <c:pt idx="960">
                  <c:v>68.767908</c:v>
                </c:pt>
                <c:pt idx="961">
                  <c:v>68.839542</c:v>
                </c:pt>
                <c:pt idx="962">
                  <c:v>68.911175</c:v>
                </c:pt>
                <c:pt idx="963">
                  <c:v>68.982808</c:v>
                </c:pt>
                <c:pt idx="964">
                  <c:v>69.054441</c:v>
                </c:pt>
                <c:pt idx="965">
                  <c:v>69.126074</c:v>
                </c:pt>
                <c:pt idx="966">
                  <c:v>69.197708</c:v>
                </c:pt>
                <c:pt idx="967">
                  <c:v>69.269341</c:v>
                </c:pt>
                <c:pt idx="968">
                  <c:v>69.340974</c:v>
                </c:pt>
                <c:pt idx="969">
                  <c:v>69.412607</c:v>
                </c:pt>
                <c:pt idx="970">
                  <c:v>69.484241</c:v>
                </c:pt>
                <c:pt idx="971">
                  <c:v>69.555874</c:v>
                </c:pt>
                <c:pt idx="972">
                  <c:v>69.627507</c:v>
                </c:pt>
                <c:pt idx="973">
                  <c:v>69.69914</c:v>
                </c:pt>
                <c:pt idx="974">
                  <c:v>69.770774</c:v>
                </c:pt>
                <c:pt idx="975">
                  <c:v>69.842407</c:v>
                </c:pt>
                <c:pt idx="976">
                  <c:v>69.91404</c:v>
                </c:pt>
                <c:pt idx="977">
                  <c:v>69.985673</c:v>
                </c:pt>
                <c:pt idx="978">
                  <c:v>70.057307</c:v>
                </c:pt>
                <c:pt idx="979">
                  <c:v>70.12894</c:v>
                </c:pt>
                <c:pt idx="980">
                  <c:v>70.200573</c:v>
                </c:pt>
                <c:pt idx="981">
                  <c:v>70.272206</c:v>
                </c:pt>
                <c:pt idx="982">
                  <c:v>70.34384</c:v>
                </c:pt>
                <c:pt idx="983">
                  <c:v>70.415473</c:v>
                </c:pt>
                <c:pt idx="984">
                  <c:v>70.487106</c:v>
                </c:pt>
                <c:pt idx="985">
                  <c:v>70.558739</c:v>
                </c:pt>
                <c:pt idx="986">
                  <c:v>70.630372</c:v>
                </c:pt>
                <c:pt idx="987">
                  <c:v>70.702006</c:v>
                </c:pt>
                <c:pt idx="988">
                  <c:v>70.773639</c:v>
                </c:pt>
                <c:pt idx="989">
                  <c:v>70.845272</c:v>
                </c:pt>
                <c:pt idx="990">
                  <c:v>70.916905</c:v>
                </c:pt>
                <c:pt idx="991">
                  <c:v>70.988539</c:v>
                </c:pt>
                <c:pt idx="992">
                  <c:v>71.060172</c:v>
                </c:pt>
                <c:pt idx="993">
                  <c:v>71.131805</c:v>
                </c:pt>
                <c:pt idx="994">
                  <c:v>71.203438</c:v>
                </c:pt>
                <c:pt idx="995">
                  <c:v>71.275072</c:v>
                </c:pt>
                <c:pt idx="996">
                  <c:v>71.346705</c:v>
                </c:pt>
                <c:pt idx="997">
                  <c:v>71.418338</c:v>
                </c:pt>
                <c:pt idx="998">
                  <c:v>71.489971</c:v>
                </c:pt>
                <c:pt idx="999">
                  <c:v>71.561605</c:v>
                </c:pt>
                <c:pt idx="1000">
                  <c:v>71.633238</c:v>
                </c:pt>
                <c:pt idx="1001">
                  <c:v>71.704871</c:v>
                </c:pt>
                <c:pt idx="1002">
                  <c:v>71.776504</c:v>
                </c:pt>
                <c:pt idx="1003">
                  <c:v>71.848138</c:v>
                </c:pt>
                <c:pt idx="1004">
                  <c:v>71.919771</c:v>
                </c:pt>
                <c:pt idx="1005">
                  <c:v>71.991404</c:v>
                </c:pt>
                <c:pt idx="1006">
                  <c:v>72.063037</c:v>
                </c:pt>
                <c:pt idx="1007">
                  <c:v>72.13467</c:v>
                </c:pt>
                <c:pt idx="1008">
                  <c:v>72.206304</c:v>
                </c:pt>
                <c:pt idx="1009">
                  <c:v>72.277937</c:v>
                </c:pt>
                <c:pt idx="1010">
                  <c:v>72.34957</c:v>
                </c:pt>
                <c:pt idx="1011">
                  <c:v>72.421203</c:v>
                </c:pt>
                <c:pt idx="1012">
                  <c:v>72.492837</c:v>
                </c:pt>
                <c:pt idx="1013">
                  <c:v>72.56447</c:v>
                </c:pt>
                <c:pt idx="1014">
                  <c:v>72.636103</c:v>
                </c:pt>
                <c:pt idx="1015">
                  <c:v>72.707736</c:v>
                </c:pt>
                <c:pt idx="1016">
                  <c:v>72.77937</c:v>
                </c:pt>
                <c:pt idx="1017">
                  <c:v>72.851003</c:v>
                </c:pt>
                <c:pt idx="1018">
                  <c:v>72.922636</c:v>
                </c:pt>
                <c:pt idx="1019">
                  <c:v>72.994269</c:v>
                </c:pt>
                <c:pt idx="1020">
                  <c:v>73.065903</c:v>
                </c:pt>
                <c:pt idx="1021">
                  <c:v>73.137536</c:v>
                </c:pt>
                <c:pt idx="1022">
                  <c:v>73.209169</c:v>
                </c:pt>
                <c:pt idx="1023">
                  <c:v>73.280802</c:v>
                </c:pt>
                <c:pt idx="1024">
                  <c:v>73.352436</c:v>
                </c:pt>
                <c:pt idx="1025">
                  <c:v>73.424069</c:v>
                </c:pt>
                <c:pt idx="1026">
                  <c:v>73.495702</c:v>
                </c:pt>
                <c:pt idx="1027">
                  <c:v>73.567335</c:v>
                </c:pt>
                <c:pt idx="1028">
                  <c:v>73.638968</c:v>
                </c:pt>
                <c:pt idx="1029">
                  <c:v>73.710602</c:v>
                </c:pt>
                <c:pt idx="1030">
                  <c:v>73.782235</c:v>
                </c:pt>
                <c:pt idx="1031">
                  <c:v>73.853868</c:v>
                </c:pt>
                <c:pt idx="1032">
                  <c:v>73.925501</c:v>
                </c:pt>
                <c:pt idx="1033">
                  <c:v>73.997135</c:v>
                </c:pt>
                <c:pt idx="1034">
                  <c:v>74.068768</c:v>
                </c:pt>
                <c:pt idx="1035">
                  <c:v>74.140401</c:v>
                </c:pt>
                <c:pt idx="1036">
                  <c:v>74.212034</c:v>
                </c:pt>
                <c:pt idx="1037">
                  <c:v>74.283668</c:v>
                </c:pt>
                <c:pt idx="1038">
                  <c:v>74.355301</c:v>
                </c:pt>
                <c:pt idx="1039">
                  <c:v>74.426934</c:v>
                </c:pt>
                <c:pt idx="1040">
                  <c:v>74.498567</c:v>
                </c:pt>
                <c:pt idx="1041">
                  <c:v>74.570201</c:v>
                </c:pt>
                <c:pt idx="1042">
                  <c:v>74.641834</c:v>
                </c:pt>
                <c:pt idx="1043">
                  <c:v>74.713467</c:v>
                </c:pt>
                <c:pt idx="1044">
                  <c:v>74.7851</c:v>
                </c:pt>
                <c:pt idx="1045">
                  <c:v>74.856734</c:v>
                </c:pt>
                <c:pt idx="1046">
                  <c:v>74.928367</c:v>
                </c:pt>
                <c:pt idx="1047">
                  <c:v>75</c:v>
                </c:pt>
                <c:pt idx="1048">
                  <c:v>75.071633</c:v>
                </c:pt>
                <c:pt idx="1049">
                  <c:v>75.143266</c:v>
                </c:pt>
                <c:pt idx="1050">
                  <c:v>75.2149</c:v>
                </c:pt>
                <c:pt idx="1051">
                  <c:v>75.286533</c:v>
                </c:pt>
                <c:pt idx="1052">
                  <c:v>75.358166</c:v>
                </c:pt>
                <c:pt idx="1053">
                  <c:v>75.429799</c:v>
                </c:pt>
                <c:pt idx="1054">
                  <c:v>75.501433</c:v>
                </c:pt>
                <c:pt idx="1055">
                  <c:v>75.573066</c:v>
                </c:pt>
                <c:pt idx="1056">
                  <c:v>75.644699</c:v>
                </c:pt>
                <c:pt idx="1057">
                  <c:v>75.716332</c:v>
                </c:pt>
                <c:pt idx="1058">
                  <c:v>75.787966</c:v>
                </c:pt>
                <c:pt idx="1059">
                  <c:v>75.859599</c:v>
                </c:pt>
                <c:pt idx="1060">
                  <c:v>75.931232</c:v>
                </c:pt>
                <c:pt idx="1061">
                  <c:v>76.002865</c:v>
                </c:pt>
                <c:pt idx="1062">
                  <c:v>76.074499</c:v>
                </c:pt>
                <c:pt idx="1063">
                  <c:v>76.146132</c:v>
                </c:pt>
                <c:pt idx="1064">
                  <c:v>76.217765</c:v>
                </c:pt>
                <c:pt idx="1065">
                  <c:v>76.289398</c:v>
                </c:pt>
                <c:pt idx="1066">
                  <c:v>76.361032</c:v>
                </c:pt>
                <c:pt idx="1067">
                  <c:v>76.432665</c:v>
                </c:pt>
                <c:pt idx="1068">
                  <c:v>76.504298</c:v>
                </c:pt>
                <c:pt idx="1069">
                  <c:v>76.575931</c:v>
                </c:pt>
                <c:pt idx="1070">
                  <c:v>76.647564</c:v>
                </c:pt>
                <c:pt idx="1071">
                  <c:v>76.719198</c:v>
                </c:pt>
                <c:pt idx="1072">
                  <c:v>76.790831</c:v>
                </c:pt>
                <c:pt idx="1073">
                  <c:v>76.862464</c:v>
                </c:pt>
                <c:pt idx="1074">
                  <c:v>76.934097</c:v>
                </c:pt>
                <c:pt idx="1075">
                  <c:v>77.005731</c:v>
                </c:pt>
                <c:pt idx="1076">
                  <c:v>77.077364</c:v>
                </c:pt>
                <c:pt idx="1077">
                  <c:v>77.148997</c:v>
                </c:pt>
                <c:pt idx="1078">
                  <c:v>77.22063</c:v>
                </c:pt>
                <c:pt idx="1079">
                  <c:v>77.292264</c:v>
                </c:pt>
                <c:pt idx="1080">
                  <c:v>77.363897</c:v>
                </c:pt>
                <c:pt idx="1081">
                  <c:v>77.43553</c:v>
                </c:pt>
                <c:pt idx="1082">
                  <c:v>77.507163</c:v>
                </c:pt>
                <c:pt idx="1083">
                  <c:v>77.578797</c:v>
                </c:pt>
                <c:pt idx="1084">
                  <c:v>77.65043</c:v>
                </c:pt>
                <c:pt idx="1085">
                  <c:v>77.722063</c:v>
                </c:pt>
                <c:pt idx="1086">
                  <c:v>77.793696</c:v>
                </c:pt>
                <c:pt idx="1087">
                  <c:v>77.86533</c:v>
                </c:pt>
                <c:pt idx="1088">
                  <c:v>77.936963</c:v>
                </c:pt>
                <c:pt idx="1089">
                  <c:v>78.008596</c:v>
                </c:pt>
                <c:pt idx="1090">
                  <c:v>78.080229</c:v>
                </c:pt>
                <c:pt idx="1091">
                  <c:v>78.151862</c:v>
                </c:pt>
                <c:pt idx="1092">
                  <c:v>78.223496</c:v>
                </c:pt>
                <c:pt idx="1093">
                  <c:v>78.295129</c:v>
                </c:pt>
                <c:pt idx="1094">
                  <c:v>78.366762</c:v>
                </c:pt>
                <c:pt idx="1095">
                  <c:v>78.438395</c:v>
                </c:pt>
                <c:pt idx="1096">
                  <c:v>78.510029</c:v>
                </c:pt>
                <c:pt idx="1097">
                  <c:v>78.581662</c:v>
                </c:pt>
                <c:pt idx="1098">
                  <c:v>78.653295</c:v>
                </c:pt>
                <c:pt idx="1099">
                  <c:v>78.724928</c:v>
                </c:pt>
                <c:pt idx="1100">
                  <c:v>78.796562</c:v>
                </c:pt>
                <c:pt idx="1101">
                  <c:v>78.868195</c:v>
                </c:pt>
                <c:pt idx="1102">
                  <c:v>78.939828</c:v>
                </c:pt>
                <c:pt idx="1103">
                  <c:v>79.011461</c:v>
                </c:pt>
                <c:pt idx="1104">
                  <c:v>79.083095</c:v>
                </c:pt>
                <c:pt idx="1105">
                  <c:v>79.154728</c:v>
                </c:pt>
                <c:pt idx="1106">
                  <c:v>79.226361</c:v>
                </c:pt>
                <c:pt idx="1107">
                  <c:v>79.297994</c:v>
                </c:pt>
                <c:pt idx="1108">
                  <c:v>79.369628</c:v>
                </c:pt>
                <c:pt idx="1109">
                  <c:v>79.441261</c:v>
                </c:pt>
                <c:pt idx="1110">
                  <c:v>79.512894</c:v>
                </c:pt>
                <c:pt idx="1111">
                  <c:v>79.584527</c:v>
                </c:pt>
                <c:pt idx="1112">
                  <c:v>79.65616</c:v>
                </c:pt>
                <c:pt idx="1113">
                  <c:v>79.727794</c:v>
                </c:pt>
                <c:pt idx="1114">
                  <c:v>79.799427</c:v>
                </c:pt>
                <c:pt idx="1115">
                  <c:v>79.87106</c:v>
                </c:pt>
                <c:pt idx="1116">
                  <c:v>79.942693</c:v>
                </c:pt>
                <c:pt idx="1117">
                  <c:v>80.014327</c:v>
                </c:pt>
                <c:pt idx="1118">
                  <c:v>80.08596</c:v>
                </c:pt>
                <c:pt idx="1119">
                  <c:v>80.157593</c:v>
                </c:pt>
                <c:pt idx="1120">
                  <c:v>80.229226</c:v>
                </c:pt>
                <c:pt idx="1121">
                  <c:v>80.30086</c:v>
                </c:pt>
                <c:pt idx="1122">
                  <c:v>80.372493</c:v>
                </c:pt>
                <c:pt idx="1123">
                  <c:v>80.444126</c:v>
                </c:pt>
                <c:pt idx="1124">
                  <c:v>80.515759</c:v>
                </c:pt>
                <c:pt idx="1125">
                  <c:v>80.587393</c:v>
                </c:pt>
                <c:pt idx="1126">
                  <c:v>80.659026</c:v>
                </c:pt>
                <c:pt idx="1127">
                  <c:v>80.730659</c:v>
                </c:pt>
                <c:pt idx="1128">
                  <c:v>80.802292</c:v>
                </c:pt>
                <c:pt idx="1129">
                  <c:v>80.873926</c:v>
                </c:pt>
                <c:pt idx="1130">
                  <c:v>80.945559</c:v>
                </c:pt>
                <c:pt idx="1131">
                  <c:v>81.017192</c:v>
                </c:pt>
                <c:pt idx="1132">
                  <c:v>81.088825</c:v>
                </c:pt>
                <c:pt idx="1133">
                  <c:v>81.160458</c:v>
                </c:pt>
                <c:pt idx="1134">
                  <c:v>81.232092</c:v>
                </c:pt>
                <c:pt idx="1135">
                  <c:v>81.303725</c:v>
                </c:pt>
                <c:pt idx="1136">
                  <c:v>81.375358</c:v>
                </c:pt>
                <c:pt idx="1137">
                  <c:v>81.446991</c:v>
                </c:pt>
                <c:pt idx="1138">
                  <c:v>81.518625</c:v>
                </c:pt>
                <c:pt idx="1139">
                  <c:v>81.590258</c:v>
                </c:pt>
                <c:pt idx="1140">
                  <c:v>81.661891</c:v>
                </c:pt>
                <c:pt idx="1141">
                  <c:v>81.733524</c:v>
                </c:pt>
                <c:pt idx="1142">
                  <c:v>81.805158</c:v>
                </c:pt>
                <c:pt idx="1143">
                  <c:v>81.876791</c:v>
                </c:pt>
                <c:pt idx="1144">
                  <c:v>81.948424</c:v>
                </c:pt>
                <c:pt idx="1145">
                  <c:v>82.020057</c:v>
                </c:pt>
                <c:pt idx="1146">
                  <c:v>82.091691</c:v>
                </c:pt>
                <c:pt idx="1147">
                  <c:v>82.163324</c:v>
                </c:pt>
                <c:pt idx="1148">
                  <c:v>82.234957</c:v>
                </c:pt>
                <c:pt idx="1149">
                  <c:v>82.30659</c:v>
                </c:pt>
                <c:pt idx="1150">
                  <c:v>82.378223</c:v>
                </c:pt>
                <c:pt idx="1151">
                  <c:v>82.449857</c:v>
                </c:pt>
                <c:pt idx="1152">
                  <c:v>82.52149</c:v>
                </c:pt>
                <c:pt idx="1153">
                  <c:v>82.593123</c:v>
                </c:pt>
                <c:pt idx="1154">
                  <c:v>82.664756</c:v>
                </c:pt>
                <c:pt idx="1155">
                  <c:v>82.73639</c:v>
                </c:pt>
                <c:pt idx="1156">
                  <c:v>82.808023</c:v>
                </c:pt>
                <c:pt idx="1157">
                  <c:v>82.879656</c:v>
                </c:pt>
                <c:pt idx="1158">
                  <c:v>82.951289</c:v>
                </c:pt>
                <c:pt idx="1159">
                  <c:v>83.022923</c:v>
                </c:pt>
                <c:pt idx="1160">
                  <c:v>83.094556</c:v>
                </c:pt>
                <c:pt idx="1161">
                  <c:v>83.166189</c:v>
                </c:pt>
                <c:pt idx="1162">
                  <c:v>83.237822</c:v>
                </c:pt>
                <c:pt idx="1163">
                  <c:v>83.309456</c:v>
                </c:pt>
                <c:pt idx="1164">
                  <c:v>83.381089</c:v>
                </c:pt>
                <c:pt idx="1165">
                  <c:v>83.452722</c:v>
                </c:pt>
                <c:pt idx="1166">
                  <c:v>83.524355</c:v>
                </c:pt>
                <c:pt idx="1167">
                  <c:v>83.595989</c:v>
                </c:pt>
                <c:pt idx="1168">
                  <c:v>83.667622</c:v>
                </c:pt>
                <c:pt idx="1169">
                  <c:v>83.739255</c:v>
                </c:pt>
                <c:pt idx="1170">
                  <c:v>83.810888</c:v>
                </c:pt>
                <c:pt idx="1171">
                  <c:v>83.882521</c:v>
                </c:pt>
                <c:pt idx="1172">
                  <c:v>83.954155</c:v>
                </c:pt>
                <c:pt idx="1173">
                  <c:v>84.025788</c:v>
                </c:pt>
                <c:pt idx="1174">
                  <c:v>84.097421</c:v>
                </c:pt>
                <c:pt idx="1175">
                  <c:v>84.169054</c:v>
                </c:pt>
                <c:pt idx="1176">
                  <c:v>84.240688</c:v>
                </c:pt>
                <c:pt idx="1177">
                  <c:v>84.312321</c:v>
                </c:pt>
                <c:pt idx="1178">
                  <c:v>84.383954</c:v>
                </c:pt>
                <c:pt idx="1179">
                  <c:v>84.455587</c:v>
                </c:pt>
                <c:pt idx="1180">
                  <c:v>84.527221</c:v>
                </c:pt>
                <c:pt idx="1181">
                  <c:v>84.598854</c:v>
                </c:pt>
                <c:pt idx="1182">
                  <c:v>84.670487</c:v>
                </c:pt>
                <c:pt idx="1183">
                  <c:v>84.74212</c:v>
                </c:pt>
                <c:pt idx="1184">
                  <c:v>84.813754</c:v>
                </c:pt>
                <c:pt idx="1185">
                  <c:v>84.885387</c:v>
                </c:pt>
                <c:pt idx="1186">
                  <c:v>84.95702</c:v>
                </c:pt>
                <c:pt idx="1187">
                  <c:v>85.028653</c:v>
                </c:pt>
                <c:pt idx="1188">
                  <c:v>85.100287</c:v>
                </c:pt>
                <c:pt idx="1189">
                  <c:v>85.17192</c:v>
                </c:pt>
                <c:pt idx="1190">
                  <c:v>85.243553</c:v>
                </c:pt>
                <c:pt idx="1191">
                  <c:v>85.315186</c:v>
                </c:pt>
                <c:pt idx="1192">
                  <c:v>85.386819</c:v>
                </c:pt>
                <c:pt idx="1193">
                  <c:v>85.458453</c:v>
                </c:pt>
                <c:pt idx="1194">
                  <c:v>85.530086</c:v>
                </c:pt>
                <c:pt idx="1195">
                  <c:v>85.601719</c:v>
                </c:pt>
                <c:pt idx="1196">
                  <c:v>85.673352</c:v>
                </c:pt>
                <c:pt idx="1197">
                  <c:v>85.744986</c:v>
                </c:pt>
                <c:pt idx="1198">
                  <c:v>85.816619</c:v>
                </c:pt>
                <c:pt idx="1199">
                  <c:v>85.888252</c:v>
                </c:pt>
                <c:pt idx="1200">
                  <c:v>85.959885</c:v>
                </c:pt>
                <c:pt idx="1201">
                  <c:v>86.031519</c:v>
                </c:pt>
                <c:pt idx="1202">
                  <c:v>86.103152</c:v>
                </c:pt>
                <c:pt idx="1203">
                  <c:v>86.174785</c:v>
                </c:pt>
                <c:pt idx="1204">
                  <c:v>86.246418</c:v>
                </c:pt>
                <c:pt idx="1205">
                  <c:v>86.318052</c:v>
                </c:pt>
                <c:pt idx="1206">
                  <c:v>86.389685</c:v>
                </c:pt>
                <c:pt idx="1207">
                  <c:v>86.461318</c:v>
                </c:pt>
                <c:pt idx="1208">
                  <c:v>86.532951</c:v>
                </c:pt>
                <c:pt idx="1209">
                  <c:v>86.604585</c:v>
                </c:pt>
                <c:pt idx="1210">
                  <c:v>86.676218</c:v>
                </c:pt>
                <c:pt idx="1211">
                  <c:v>86.747851</c:v>
                </c:pt>
                <c:pt idx="1212">
                  <c:v>86.819484</c:v>
                </c:pt>
                <c:pt idx="1213">
                  <c:v>86.891117</c:v>
                </c:pt>
                <c:pt idx="1214">
                  <c:v>86.962751</c:v>
                </c:pt>
                <c:pt idx="1215">
                  <c:v>87.034384</c:v>
                </c:pt>
                <c:pt idx="1216">
                  <c:v>87.106017</c:v>
                </c:pt>
                <c:pt idx="1217">
                  <c:v>87.17765</c:v>
                </c:pt>
                <c:pt idx="1218">
                  <c:v>87.249284</c:v>
                </c:pt>
                <c:pt idx="1219">
                  <c:v>87.320917</c:v>
                </c:pt>
                <c:pt idx="1220">
                  <c:v>87.39255</c:v>
                </c:pt>
                <c:pt idx="1221">
                  <c:v>87.464183</c:v>
                </c:pt>
                <c:pt idx="1222">
                  <c:v>87.535817</c:v>
                </c:pt>
                <c:pt idx="1223">
                  <c:v>87.60745</c:v>
                </c:pt>
                <c:pt idx="1224">
                  <c:v>87.679083</c:v>
                </c:pt>
                <c:pt idx="1225">
                  <c:v>87.750716</c:v>
                </c:pt>
                <c:pt idx="1226">
                  <c:v>87.82235</c:v>
                </c:pt>
                <c:pt idx="1227">
                  <c:v>87.893983</c:v>
                </c:pt>
                <c:pt idx="1228">
                  <c:v>87.965616</c:v>
                </c:pt>
                <c:pt idx="1229">
                  <c:v>88.037249</c:v>
                </c:pt>
                <c:pt idx="1230">
                  <c:v>88.108883</c:v>
                </c:pt>
                <c:pt idx="1231">
                  <c:v>88.180516</c:v>
                </c:pt>
                <c:pt idx="1232">
                  <c:v>88.252149</c:v>
                </c:pt>
                <c:pt idx="1233">
                  <c:v>88.323782</c:v>
                </c:pt>
                <c:pt idx="1234">
                  <c:v>88.395415</c:v>
                </c:pt>
                <c:pt idx="1235">
                  <c:v>88.467049</c:v>
                </c:pt>
                <c:pt idx="1236">
                  <c:v>88.538682</c:v>
                </c:pt>
                <c:pt idx="1237">
                  <c:v>88.610315</c:v>
                </c:pt>
                <c:pt idx="1238">
                  <c:v>88.681948</c:v>
                </c:pt>
                <c:pt idx="1239">
                  <c:v>88.753582</c:v>
                </c:pt>
                <c:pt idx="1240">
                  <c:v>88.825215</c:v>
                </c:pt>
                <c:pt idx="1241">
                  <c:v>88.896848</c:v>
                </c:pt>
                <c:pt idx="1242">
                  <c:v>88.968481</c:v>
                </c:pt>
                <c:pt idx="1243">
                  <c:v>89.040115</c:v>
                </c:pt>
                <c:pt idx="1244">
                  <c:v>89.111748</c:v>
                </c:pt>
                <c:pt idx="1245">
                  <c:v>89.183381</c:v>
                </c:pt>
                <c:pt idx="1246">
                  <c:v>89.255014</c:v>
                </c:pt>
                <c:pt idx="1247">
                  <c:v>89.326648</c:v>
                </c:pt>
                <c:pt idx="1248">
                  <c:v>89.398281</c:v>
                </c:pt>
                <c:pt idx="1249">
                  <c:v>89.469914</c:v>
                </c:pt>
                <c:pt idx="1250">
                  <c:v>89.541547</c:v>
                </c:pt>
                <c:pt idx="1251">
                  <c:v>89.613181</c:v>
                </c:pt>
                <c:pt idx="1252">
                  <c:v>89.684814</c:v>
                </c:pt>
                <c:pt idx="1253">
                  <c:v>89.756447</c:v>
                </c:pt>
                <c:pt idx="1254">
                  <c:v>89.82808</c:v>
                </c:pt>
                <c:pt idx="1255">
                  <c:v>89.899713</c:v>
                </c:pt>
                <c:pt idx="1256">
                  <c:v>89.971347</c:v>
                </c:pt>
                <c:pt idx="1257">
                  <c:v>90.04298</c:v>
                </c:pt>
                <c:pt idx="1258">
                  <c:v>90.114613</c:v>
                </c:pt>
                <c:pt idx="1259">
                  <c:v>90.186246</c:v>
                </c:pt>
                <c:pt idx="1260">
                  <c:v>90.25788</c:v>
                </c:pt>
                <c:pt idx="1261">
                  <c:v>90.329513</c:v>
                </c:pt>
                <c:pt idx="1262">
                  <c:v>90.401146</c:v>
                </c:pt>
                <c:pt idx="1263">
                  <c:v>90.472779</c:v>
                </c:pt>
                <c:pt idx="1264">
                  <c:v>90.544413</c:v>
                </c:pt>
                <c:pt idx="1265">
                  <c:v>90.616046</c:v>
                </c:pt>
                <c:pt idx="1266">
                  <c:v>90.687679</c:v>
                </c:pt>
                <c:pt idx="1267">
                  <c:v>90.759312</c:v>
                </c:pt>
                <c:pt idx="1268">
                  <c:v>90.830946</c:v>
                </c:pt>
                <c:pt idx="1269">
                  <c:v>90.902579</c:v>
                </c:pt>
                <c:pt idx="1270">
                  <c:v>90.974212</c:v>
                </c:pt>
                <c:pt idx="1271">
                  <c:v>91.045845</c:v>
                </c:pt>
                <c:pt idx="1272">
                  <c:v>91.117479</c:v>
                </c:pt>
                <c:pt idx="1273">
                  <c:v>91.189112</c:v>
                </c:pt>
                <c:pt idx="1274">
                  <c:v>91.260745</c:v>
                </c:pt>
                <c:pt idx="1275">
                  <c:v>91.332378</c:v>
                </c:pt>
                <c:pt idx="1276">
                  <c:v>91.404011</c:v>
                </c:pt>
                <c:pt idx="1277">
                  <c:v>91.475645</c:v>
                </c:pt>
                <c:pt idx="1278">
                  <c:v>91.547278</c:v>
                </c:pt>
                <c:pt idx="1279">
                  <c:v>91.618911</c:v>
                </c:pt>
                <c:pt idx="1280">
                  <c:v>91.690544</c:v>
                </c:pt>
                <c:pt idx="1281">
                  <c:v>91.762178</c:v>
                </c:pt>
                <c:pt idx="1282">
                  <c:v>91.833811</c:v>
                </c:pt>
                <c:pt idx="1283">
                  <c:v>91.905444</c:v>
                </c:pt>
                <c:pt idx="1284">
                  <c:v>91.977077</c:v>
                </c:pt>
                <c:pt idx="1285">
                  <c:v>92.048711</c:v>
                </c:pt>
                <c:pt idx="1286">
                  <c:v>92.120344</c:v>
                </c:pt>
                <c:pt idx="1287">
                  <c:v>92.191977</c:v>
                </c:pt>
                <c:pt idx="1288">
                  <c:v>92.26361</c:v>
                </c:pt>
                <c:pt idx="1289">
                  <c:v>92.335244</c:v>
                </c:pt>
                <c:pt idx="1290">
                  <c:v>92.406877</c:v>
                </c:pt>
                <c:pt idx="1291">
                  <c:v>92.47851</c:v>
                </c:pt>
                <c:pt idx="1292">
                  <c:v>92.550143</c:v>
                </c:pt>
                <c:pt idx="1293">
                  <c:v>92.621777</c:v>
                </c:pt>
                <c:pt idx="1294">
                  <c:v>92.69341</c:v>
                </c:pt>
                <c:pt idx="1295">
                  <c:v>92.765043</c:v>
                </c:pt>
                <c:pt idx="1296">
                  <c:v>92.836676</c:v>
                </c:pt>
                <c:pt idx="1297">
                  <c:v>92.908309</c:v>
                </c:pt>
                <c:pt idx="1298">
                  <c:v>92.979943</c:v>
                </c:pt>
                <c:pt idx="1299">
                  <c:v>93.051576</c:v>
                </c:pt>
                <c:pt idx="1300">
                  <c:v>93.123209</c:v>
                </c:pt>
                <c:pt idx="1301">
                  <c:v>93.194842</c:v>
                </c:pt>
                <c:pt idx="1302">
                  <c:v>93.266476</c:v>
                </c:pt>
                <c:pt idx="1303">
                  <c:v>93.338109</c:v>
                </c:pt>
                <c:pt idx="1304">
                  <c:v>93.409742</c:v>
                </c:pt>
                <c:pt idx="1305">
                  <c:v>93.481375</c:v>
                </c:pt>
                <c:pt idx="1306">
                  <c:v>93.553009</c:v>
                </c:pt>
                <c:pt idx="1307">
                  <c:v>93.624642</c:v>
                </c:pt>
                <c:pt idx="1308">
                  <c:v>93.696275</c:v>
                </c:pt>
                <c:pt idx="1309">
                  <c:v>93.767908</c:v>
                </c:pt>
                <c:pt idx="1310">
                  <c:v>93.839542</c:v>
                </c:pt>
                <c:pt idx="1311">
                  <c:v>93.911175</c:v>
                </c:pt>
                <c:pt idx="1312">
                  <c:v>93.982808</c:v>
                </c:pt>
                <c:pt idx="1313">
                  <c:v>94.054441</c:v>
                </c:pt>
                <c:pt idx="1314">
                  <c:v>94.126074</c:v>
                </c:pt>
                <c:pt idx="1315">
                  <c:v>94.197708</c:v>
                </c:pt>
                <c:pt idx="1316">
                  <c:v>94.269341</c:v>
                </c:pt>
                <c:pt idx="1317">
                  <c:v>94.340974</c:v>
                </c:pt>
                <c:pt idx="1318">
                  <c:v>94.412607</c:v>
                </c:pt>
                <c:pt idx="1319">
                  <c:v>94.484241</c:v>
                </c:pt>
                <c:pt idx="1320">
                  <c:v>94.555874</c:v>
                </c:pt>
                <c:pt idx="1321">
                  <c:v>94.627507</c:v>
                </c:pt>
                <c:pt idx="1322">
                  <c:v>94.69914</c:v>
                </c:pt>
                <c:pt idx="1323">
                  <c:v>94.770774</c:v>
                </c:pt>
                <c:pt idx="1324">
                  <c:v>94.842407</c:v>
                </c:pt>
                <c:pt idx="1325">
                  <c:v>94.91404</c:v>
                </c:pt>
                <c:pt idx="1326">
                  <c:v>94.985673</c:v>
                </c:pt>
                <c:pt idx="1327">
                  <c:v>95.057307</c:v>
                </c:pt>
                <c:pt idx="1328">
                  <c:v>95.12894</c:v>
                </c:pt>
                <c:pt idx="1329">
                  <c:v>95.200573</c:v>
                </c:pt>
                <c:pt idx="1330">
                  <c:v>95.272206</c:v>
                </c:pt>
                <c:pt idx="1331">
                  <c:v>95.34384</c:v>
                </c:pt>
                <c:pt idx="1332">
                  <c:v>95.415473</c:v>
                </c:pt>
                <c:pt idx="1333">
                  <c:v>95.487106</c:v>
                </c:pt>
                <c:pt idx="1334">
                  <c:v>95.558739</c:v>
                </c:pt>
                <c:pt idx="1335">
                  <c:v>95.630372</c:v>
                </c:pt>
                <c:pt idx="1336">
                  <c:v>95.702006</c:v>
                </c:pt>
                <c:pt idx="1337">
                  <c:v>95.773639</c:v>
                </c:pt>
                <c:pt idx="1338">
                  <c:v>95.845272</c:v>
                </c:pt>
                <c:pt idx="1339">
                  <c:v>95.916905</c:v>
                </c:pt>
                <c:pt idx="1340">
                  <c:v>95.988539</c:v>
                </c:pt>
                <c:pt idx="1341">
                  <c:v>96.060172</c:v>
                </c:pt>
                <c:pt idx="1342">
                  <c:v>96.131805</c:v>
                </c:pt>
                <c:pt idx="1343">
                  <c:v>96.203438</c:v>
                </c:pt>
                <c:pt idx="1344">
                  <c:v>96.275072</c:v>
                </c:pt>
                <c:pt idx="1345">
                  <c:v>96.346705</c:v>
                </c:pt>
                <c:pt idx="1346">
                  <c:v>96.418338</c:v>
                </c:pt>
                <c:pt idx="1347">
                  <c:v>96.489971</c:v>
                </c:pt>
                <c:pt idx="1348">
                  <c:v>96.561605</c:v>
                </c:pt>
                <c:pt idx="1349">
                  <c:v>96.633238</c:v>
                </c:pt>
                <c:pt idx="1350">
                  <c:v>96.704871</c:v>
                </c:pt>
                <c:pt idx="1351">
                  <c:v>96.776504</c:v>
                </c:pt>
                <c:pt idx="1352">
                  <c:v>96.848138</c:v>
                </c:pt>
                <c:pt idx="1353">
                  <c:v>96.919771</c:v>
                </c:pt>
                <c:pt idx="1354">
                  <c:v>96.991404</c:v>
                </c:pt>
                <c:pt idx="1355">
                  <c:v>97.063037</c:v>
                </c:pt>
                <c:pt idx="1356">
                  <c:v>97.13467</c:v>
                </c:pt>
                <c:pt idx="1357">
                  <c:v>97.206304</c:v>
                </c:pt>
                <c:pt idx="1358">
                  <c:v>97.277937</c:v>
                </c:pt>
                <c:pt idx="1359">
                  <c:v>97.34957</c:v>
                </c:pt>
                <c:pt idx="1360">
                  <c:v>97.421203</c:v>
                </c:pt>
                <c:pt idx="1361">
                  <c:v>97.492837</c:v>
                </c:pt>
                <c:pt idx="1362">
                  <c:v>97.56447</c:v>
                </c:pt>
                <c:pt idx="1363">
                  <c:v>97.636103</c:v>
                </c:pt>
                <c:pt idx="1364">
                  <c:v>97.707736</c:v>
                </c:pt>
                <c:pt idx="1365">
                  <c:v>97.77937</c:v>
                </c:pt>
                <c:pt idx="1366">
                  <c:v>97.851003</c:v>
                </c:pt>
                <c:pt idx="1367">
                  <c:v>97.922636</c:v>
                </c:pt>
                <c:pt idx="1368">
                  <c:v>97.994269</c:v>
                </c:pt>
                <c:pt idx="1369">
                  <c:v>98.065903</c:v>
                </c:pt>
                <c:pt idx="1370">
                  <c:v>98.137536</c:v>
                </c:pt>
                <c:pt idx="1371">
                  <c:v>98.209169</c:v>
                </c:pt>
                <c:pt idx="1372">
                  <c:v>98.280802</c:v>
                </c:pt>
                <c:pt idx="1373">
                  <c:v>98.352436</c:v>
                </c:pt>
                <c:pt idx="1374">
                  <c:v>98.424069</c:v>
                </c:pt>
                <c:pt idx="1375">
                  <c:v>98.495702</c:v>
                </c:pt>
                <c:pt idx="1376">
                  <c:v>98.567335</c:v>
                </c:pt>
                <c:pt idx="1377">
                  <c:v>98.638968</c:v>
                </c:pt>
                <c:pt idx="1378">
                  <c:v>98.710602</c:v>
                </c:pt>
                <c:pt idx="1379">
                  <c:v>98.782235</c:v>
                </c:pt>
                <c:pt idx="1380">
                  <c:v>98.853868</c:v>
                </c:pt>
                <c:pt idx="1381">
                  <c:v>98.925501</c:v>
                </c:pt>
                <c:pt idx="1382">
                  <c:v>98.997135</c:v>
                </c:pt>
              </c:numCache>
            </c:numRef>
          </c:xVal>
          <c:yVal>
            <c:numRef>
              <c:f>'Chart Data'!$B$2:$B$1384</c:f>
              <c:numCache>
                <c:formatCode>0</c:formatCode>
                <c:ptCount val="1383"/>
                <c:pt idx="0">
                  <c:v>0.074063</c:v>
                </c:pt>
                <c:pt idx="1">
                  <c:v>0.10168</c:v>
                </c:pt>
                <c:pt idx="2">
                  <c:v>0.122361</c:v>
                </c:pt>
                <c:pt idx="3">
                  <c:v>0.123075</c:v>
                </c:pt>
                <c:pt idx="4">
                  <c:v>0.13234</c:v>
                </c:pt>
                <c:pt idx="5">
                  <c:v>0.149769</c:v>
                </c:pt>
                <c:pt idx="6">
                  <c:v>0.160592</c:v>
                </c:pt>
                <c:pt idx="7">
                  <c:v>0.170239</c:v>
                </c:pt>
                <c:pt idx="8">
                  <c:v>0.202513</c:v>
                </c:pt>
                <c:pt idx="9">
                  <c:v>0.208871</c:v>
                </c:pt>
                <c:pt idx="10">
                  <c:v>0.25598</c:v>
                </c:pt>
                <c:pt idx="11">
                  <c:v>0.256398</c:v>
                </c:pt>
                <c:pt idx="12">
                  <c:v>0.273532</c:v>
                </c:pt>
                <c:pt idx="13">
                  <c:v>0.274496</c:v>
                </c:pt>
                <c:pt idx="14">
                  <c:v>0.298573</c:v>
                </c:pt>
                <c:pt idx="15">
                  <c:v>0.32731</c:v>
                </c:pt>
                <c:pt idx="16">
                  <c:v>0.358124</c:v>
                </c:pt>
                <c:pt idx="17">
                  <c:v>0.362722</c:v>
                </c:pt>
                <c:pt idx="18">
                  <c:v>0.47892</c:v>
                </c:pt>
                <c:pt idx="19">
                  <c:v>0.480873</c:v>
                </c:pt>
                <c:pt idx="20">
                  <c:v>0.488923</c:v>
                </c:pt>
                <c:pt idx="21">
                  <c:v>0.591098</c:v>
                </c:pt>
                <c:pt idx="22">
                  <c:v>0.621675</c:v>
                </c:pt>
                <c:pt idx="23">
                  <c:v>0.623876</c:v>
                </c:pt>
                <c:pt idx="24">
                  <c:v>0.624936</c:v>
                </c:pt>
                <c:pt idx="25">
                  <c:v>0.629891</c:v>
                </c:pt>
                <c:pt idx="26">
                  <c:v>0.634735</c:v>
                </c:pt>
                <c:pt idx="27">
                  <c:v>0.645313</c:v>
                </c:pt>
                <c:pt idx="28">
                  <c:v>0.661026</c:v>
                </c:pt>
                <c:pt idx="29">
                  <c:v>0.676546</c:v>
                </c:pt>
                <c:pt idx="30">
                  <c:v>0.707809</c:v>
                </c:pt>
                <c:pt idx="31">
                  <c:v>0.714084</c:v>
                </c:pt>
                <c:pt idx="32">
                  <c:v>0.730236</c:v>
                </c:pt>
                <c:pt idx="33">
                  <c:v>0.742447</c:v>
                </c:pt>
                <c:pt idx="34">
                  <c:v>0.756339</c:v>
                </c:pt>
                <c:pt idx="35">
                  <c:v>0.778325</c:v>
                </c:pt>
                <c:pt idx="36">
                  <c:v>0.808702</c:v>
                </c:pt>
                <c:pt idx="37">
                  <c:v>0.838675</c:v>
                </c:pt>
                <c:pt idx="38">
                  <c:v>0.839736</c:v>
                </c:pt>
                <c:pt idx="39">
                  <c:v>0.849276</c:v>
                </c:pt>
                <c:pt idx="40">
                  <c:v>0.851524</c:v>
                </c:pt>
                <c:pt idx="41">
                  <c:v>0.856725</c:v>
                </c:pt>
                <c:pt idx="42">
                  <c:v>0.864667</c:v>
                </c:pt>
                <c:pt idx="43">
                  <c:v>0.865939</c:v>
                </c:pt>
                <c:pt idx="44">
                  <c:v>0.87297</c:v>
                </c:pt>
                <c:pt idx="45">
                  <c:v>0.873432</c:v>
                </c:pt>
                <c:pt idx="46">
                  <c:v>0.902403</c:v>
                </c:pt>
                <c:pt idx="47">
                  <c:v>0.903866</c:v>
                </c:pt>
                <c:pt idx="48">
                  <c:v>0.930764</c:v>
                </c:pt>
                <c:pt idx="49">
                  <c:v>0.932915</c:v>
                </c:pt>
                <c:pt idx="50">
                  <c:v>0.979796</c:v>
                </c:pt>
                <c:pt idx="51">
                  <c:v>0.997989</c:v>
                </c:pt>
                <c:pt idx="52">
                  <c:v>1.049799</c:v>
                </c:pt>
                <c:pt idx="53">
                  <c:v>1.066616</c:v>
                </c:pt>
                <c:pt idx="54">
                  <c:v>1.079524</c:v>
                </c:pt>
                <c:pt idx="55">
                  <c:v>1.094579</c:v>
                </c:pt>
                <c:pt idx="56">
                  <c:v>1.115353</c:v>
                </c:pt>
                <c:pt idx="57">
                  <c:v>1.148629</c:v>
                </c:pt>
                <c:pt idx="58">
                  <c:v>1.153707</c:v>
                </c:pt>
                <c:pt idx="59">
                  <c:v>1.156396</c:v>
                </c:pt>
                <c:pt idx="60">
                  <c:v>1.177901</c:v>
                </c:pt>
                <c:pt idx="61">
                  <c:v>1.179819</c:v>
                </c:pt>
                <c:pt idx="62">
                  <c:v>1.275826</c:v>
                </c:pt>
                <c:pt idx="63">
                  <c:v>1.286637</c:v>
                </c:pt>
                <c:pt idx="64">
                  <c:v>1.302479</c:v>
                </c:pt>
                <c:pt idx="65">
                  <c:v>1.335516</c:v>
                </c:pt>
                <c:pt idx="66">
                  <c:v>1.353884</c:v>
                </c:pt>
                <c:pt idx="67">
                  <c:v>1.359208</c:v>
                </c:pt>
                <c:pt idx="68">
                  <c:v>1.363998</c:v>
                </c:pt>
                <c:pt idx="69">
                  <c:v>1.365619</c:v>
                </c:pt>
                <c:pt idx="70">
                  <c:v>1.36866</c:v>
                </c:pt>
                <c:pt idx="71">
                  <c:v>1.372426</c:v>
                </c:pt>
                <c:pt idx="72">
                  <c:v>1.373521</c:v>
                </c:pt>
                <c:pt idx="73">
                  <c:v>1.373875</c:v>
                </c:pt>
                <c:pt idx="74">
                  <c:v>1.408512</c:v>
                </c:pt>
                <c:pt idx="75">
                  <c:v>1.443736</c:v>
                </c:pt>
                <c:pt idx="76">
                  <c:v>1.466817</c:v>
                </c:pt>
                <c:pt idx="77">
                  <c:v>1.502224</c:v>
                </c:pt>
                <c:pt idx="78">
                  <c:v>1.550747</c:v>
                </c:pt>
                <c:pt idx="79">
                  <c:v>1.563165</c:v>
                </c:pt>
                <c:pt idx="80">
                  <c:v>1.566698</c:v>
                </c:pt>
                <c:pt idx="81">
                  <c:v>1.569078</c:v>
                </c:pt>
                <c:pt idx="82">
                  <c:v>1.589844</c:v>
                </c:pt>
                <c:pt idx="83">
                  <c:v>1.598386</c:v>
                </c:pt>
                <c:pt idx="84">
                  <c:v>1.604579</c:v>
                </c:pt>
                <c:pt idx="85">
                  <c:v>1.604638</c:v>
                </c:pt>
                <c:pt idx="86">
                  <c:v>1.609216</c:v>
                </c:pt>
                <c:pt idx="87">
                  <c:v>1.643241</c:v>
                </c:pt>
                <c:pt idx="88">
                  <c:v>1.653407</c:v>
                </c:pt>
                <c:pt idx="89">
                  <c:v>1.699918</c:v>
                </c:pt>
                <c:pt idx="90">
                  <c:v>1.716804</c:v>
                </c:pt>
                <c:pt idx="91">
                  <c:v>1.751301</c:v>
                </c:pt>
                <c:pt idx="92">
                  <c:v>1.767935</c:v>
                </c:pt>
                <c:pt idx="93">
                  <c:v>1.769072</c:v>
                </c:pt>
                <c:pt idx="94">
                  <c:v>1.790859</c:v>
                </c:pt>
                <c:pt idx="95">
                  <c:v>1.852598</c:v>
                </c:pt>
                <c:pt idx="96">
                  <c:v>1.869897</c:v>
                </c:pt>
                <c:pt idx="97">
                  <c:v>1.920231</c:v>
                </c:pt>
                <c:pt idx="98">
                  <c:v>1.923721</c:v>
                </c:pt>
                <c:pt idx="99">
                  <c:v>1.940062</c:v>
                </c:pt>
                <c:pt idx="100">
                  <c:v>1.953036</c:v>
                </c:pt>
                <c:pt idx="101">
                  <c:v>1.959063</c:v>
                </c:pt>
                <c:pt idx="102">
                  <c:v>2.031325</c:v>
                </c:pt>
                <c:pt idx="103">
                  <c:v>2.093242</c:v>
                </c:pt>
                <c:pt idx="104">
                  <c:v>2.117823</c:v>
                </c:pt>
                <c:pt idx="105">
                  <c:v>2.124449</c:v>
                </c:pt>
                <c:pt idx="106">
                  <c:v>2.125573</c:v>
                </c:pt>
                <c:pt idx="107">
                  <c:v>2.138536</c:v>
                </c:pt>
                <c:pt idx="108">
                  <c:v>2.195973</c:v>
                </c:pt>
                <c:pt idx="109">
                  <c:v>2.198638</c:v>
                </c:pt>
                <c:pt idx="110">
                  <c:v>2.2004</c:v>
                </c:pt>
                <c:pt idx="111">
                  <c:v>2.201298</c:v>
                </c:pt>
                <c:pt idx="112">
                  <c:v>2.220092</c:v>
                </c:pt>
                <c:pt idx="113">
                  <c:v>2.220718</c:v>
                </c:pt>
                <c:pt idx="114">
                  <c:v>2.24866</c:v>
                </c:pt>
                <c:pt idx="115">
                  <c:v>2.250249</c:v>
                </c:pt>
                <c:pt idx="116">
                  <c:v>2.310612</c:v>
                </c:pt>
                <c:pt idx="117">
                  <c:v>2.329288</c:v>
                </c:pt>
                <c:pt idx="118">
                  <c:v>2.337501</c:v>
                </c:pt>
                <c:pt idx="119">
                  <c:v>2.345849</c:v>
                </c:pt>
                <c:pt idx="120">
                  <c:v>2.357046</c:v>
                </c:pt>
                <c:pt idx="121">
                  <c:v>2.363517</c:v>
                </c:pt>
                <c:pt idx="122">
                  <c:v>2.380007</c:v>
                </c:pt>
                <c:pt idx="123">
                  <c:v>2.381148</c:v>
                </c:pt>
                <c:pt idx="124">
                  <c:v>2.464741</c:v>
                </c:pt>
                <c:pt idx="125">
                  <c:v>2.47501</c:v>
                </c:pt>
                <c:pt idx="126">
                  <c:v>2.478349</c:v>
                </c:pt>
                <c:pt idx="127">
                  <c:v>2.484062</c:v>
                </c:pt>
                <c:pt idx="128">
                  <c:v>2.493168</c:v>
                </c:pt>
                <c:pt idx="129">
                  <c:v>2.562177</c:v>
                </c:pt>
                <c:pt idx="130">
                  <c:v>2.58601</c:v>
                </c:pt>
                <c:pt idx="131">
                  <c:v>2.591679</c:v>
                </c:pt>
                <c:pt idx="132">
                  <c:v>2.596194</c:v>
                </c:pt>
                <c:pt idx="133">
                  <c:v>2.602994</c:v>
                </c:pt>
                <c:pt idx="134">
                  <c:v>2.629162</c:v>
                </c:pt>
                <c:pt idx="135">
                  <c:v>2.644999</c:v>
                </c:pt>
                <c:pt idx="136">
                  <c:v>2.645854</c:v>
                </c:pt>
                <c:pt idx="137">
                  <c:v>2.651683</c:v>
                </c:pt>
                <c:pt idx="138">
                  <c:v>2.667022</c:v>
                </c:pt>
                <c:pt idx="139">
                  <c:v>2.723263</c:v>
                </c:pt>
                <c:pt idx="140">
                  <c:v>2.74329</c:v>
                </c:pt>
                <c:pt idx="141">
                  <c:v>2.750025</c:v>
                </c:pt>
                <c:pt idx="142">
                  <c:v>2.836995</c:v>
                </c:pt>
                <c:pt idx="143">
                  <c:v>2.848707</c:v>
                </c:pt>
                <c:pt idx="144">
                  <c:v>2.861724</c:v>
                </c:pt>
                <c:pt idx="145">
                  <c:v>2.862164</c:v>
                </c:pt>
                <c:pt idx="146">
                  <c:v>2.862558</c:v>
                </c:pt>
                <c:pt idx="147">
                  <c:v>2.880513</c:v>
                </c:pt>
                <c:pt idx="148">
                  <c:v>2.893939</c:v>
                </c:pt>
                <c:pt idx="149">
                  <c:v>2.901592</c:v>
                </c:pt>
                <c:pt idx="150">
                  <c:v>2.974212</c:v>
                </c:pt>
                <c:pt idx="151">
                  <c:v>3.006975</c:v>
                </c:pt>
                <c:pt idx="152">
                  <c:v>3.020058</c:v>
                </c:pt>
                <c:pt idx="153">
                  <c:v>3.027074</c:v>
                </c:pt>
                <c:pt idx="154">
                  <c:v>3.034031</c:v>
                </c:pt>
                <c:pt idx="155">
                  <c:v>3.086079</c:v>
                </c:pt>
                <c:pt idx="156">
                  <c:v>3.139005</c:v>
                </c:pt>
                <c:pt idx="157">
                  <c:v>3.199812</c:v>
                </c:pt>
                <c:pt idx="158">
                  <c:v>3.231611</c:v>
                </c:pt>
                <c:pt idx="159">
                  <c:v>3.246865</c:v>
                </c:pt>
                <c:pt idx="160">
                  <c:v>3.269041</c:v>
                </c:pt>
                <c:pt idx="161">
                  <c:v>3.277751</c:v>
                </c:pt>
                <c:pt idx="162">
                  <c:v>3.279589</c:v>
                </c:pt>
                <c:pt idx="163">
                  <c:v>3.33233</c:v>
                </c:pt>
                <c:pt idx="164">
                  <c:v>3.337362</c:v>
                </c:pt>
                <c:pt idx="165">
                  <c:v>3.34206</c:v>
                </c:pt>
                <c:pt idx="166">
                  <c:v>3.402035</c:v>
                </c:pt>
                <c:pt idx="167">
                  <c:v>3.41801</c:v>
                </c:pt>
                <c:pt idx="168">
                  <c:v>3.441594</c:v>
                </c:pt>
                <c:pt idx="169">
                  <c:v>3.443067</c:v>
                </c:pt>
                <c:pt idx="170">
                  <c:v>3.448067</c:v>
                </c:pt>
                <c:pt idx="171">
                  <c:v>3.455612</c:v>
                </c:pt>
                <c:pt idx="172">
                  <c:v>3.552123</c:v>
                </c:pt>
                <c:pt idx="173">
                  <c:v>3.558472</c:v>
                </c:pt>
                <c:pt idx="174">
                  <c:v>3.558518</c:v>
                </c:pt>
                <c:pt idx="175">
                  <c:v>3.616367</c:v>
                </c:pt>
                <c:pt idx="176">
                  <c:v>3.635792</c:v>
                </c:pt>
                <c:pt idx="177">
                  <c:v>3.724643</c:v>
                </c:pt>
                <c:pt idx="178">
                  <c:v>3.747973</c:v>
                </c:pt>
                <c:pt idx="179">
                  <c:v>3.805934</c:v>
                </c:pt>
                <c:pt idx="180">
                  <c:v>3.82158</c:v>
                </c:pt>
                <c:pt idx="181">
                  <c:v>3.864983</c:v>
                </c:pt>
                <c:pt idx="182">
                  <c:v>3.866865</c:v>
                </c:pt>
                <c:pt idx="183">
                  <c:v>3.867864</c:v>
                </c:pt>
                <c:pt idx="184">
                  <c:v>3.881586</c:v>
                </c:pt>
                <c:pt idx="185">
                  <c:v>3.881845</c:v>
                </c:pt>
                <c:pt idx="186">
                  <c:v>3.889347</c:v>
                </c:pt>
                <c:pt idx="187">
                  <c:v>3.952748</c:v>
                </c:pt>
                <c:pt idx="188">
                  <c:v>3.972043</c:v>
                </c:pt>
                <c:pt idx="189">
                  <c:v>3.985654</c:v>
                </c:pt>
                <c:pt idx="190">
                  <c:v>3.989587</c:v>
                </c:pt>
                <c:pt idx="191">
                  <c:v>4.009683</c:v>
                </c:pt>
                <c:pt idx="192">
                  <c:v>4.010924</c:v>
                </c:pt>
                <c:pt idx="193">
                  <c:v>4.024994</c:v>
                </c:pt>
                <c:pt idx="194">
                  <c:v>4.065516</c:v>
                </c:pt>
                <c:pt idx="195">
                  <c:v>4.065899</c:v>
                </c:pt>
                <c:pt idx="196">
                  <c:v>4.129956</c:v>
                </c:pt>
                <c:pt idx="197">
                  <c:v>4.137948</c:v>
                </c:pt>
                <c:pt idx="198">
                  <c:v>4.145487</c:v>
                </c:pt>
                <c:pt idx="199">
                  <c:v>4.157549</c:v>
                </c:pt>
                <c:pt idx="200">
                  <c:v>4.158449</c:v>
                </c:pt>
                <c:pt idx="201">
                  <c:v>4.165634</c:v>
                </c:pt>
                <c:pt idx="202">
                  <c:v>4.176273</c:v>
                </c:pt>
                <c:pt idx="203">
                  <c:v>4.213488</c:v>
                </c:pt>
                <c:pt idx="204">
                  <c:v>4.240371</c:v>
                </c:pt>
                <c:pt idx="205">
                  <c:v>4.24736</c:v>
                </c:pt>
                <c:pt idx="206">
                  <c:v>4.296014</c:v>
                </c:pt>
                <c:pt idx="207">
                  <c:v>4.31863</c:v>
                </c:pt>
                <c:pt idx="208">
                  <c:v>4.323059</c:v>
                </c:pt>
                <c:pt idx="209">
                  <c:v>4.39389</c:v>
                </c:pt>
                <c:pt idx="210">
                  <c:v>4.396559</c:v>
                </c:pt>
                <c:pt idx="211">
                  <c:v>4.40445</c:v>
                </c:pt>
                <c:pt idx="212">
                  <c:v>4.40583</c:v>
                </c:pt>
                <c:pt idx="213">
                  <c:v>4.425343</c:v>
                </c:pt>
                <c:pt idx="214">
                  <c:v>4.429155</c:v>
                </c:pt>
                <c:pt idx="215">
                  <c:v>4.437195</c:v>
                </c:pt>
                <c:pt idx="216">
                  <c:v>4.439972</c:v>
                </c:pt>
                <c:pt idx="217">
                  <c:v>4.451241</c:v>
                </c:pt>
                <c:pt idx="218">
                  <c:v>4.462614</c:v>
                </c:pt>
                <c:pt idx="219">
                  <c:v>4.486371</c:v>
                </c:pt>
                <c:pt idx="220">
                  <c:v>4.541952</c:v>
                </c:pt>
                <c:pt idx="221">
                  <c:v>4.54655</c:v>
                </c:pt>
                <c:pt idx="222">
                  <c:v>4.556931</c:v>
                </c:pt>
                <c:pt idx="223">
                  <c:v>4.588121</c:v>
                </c:pt>
                <c:pt idx="224">
                  <c:v>4.63244</c:v>
                </c:pt>
                <c:pt idx="225">
                  <c:v>4.656779</c:v>
                </c:pt>
                <c:pt idx="226">
                  <c:v>4.700098</c:v>
                </c:pt>
                <c:pt idx="227">
                  <c:v>4.716936</c:v>
                </c:pt>
                <c:pt idx="228">
                  <c:v>4.724667</c:v>
                </c:pt>
                <c:pt idx="229">
                  <c:v>4.785473</c:v>
                </c:pt>
                <c:pt idx="230">
                  <c:v>4.82029</c:v>
                </c:pt>
                <c:pt idx="231">
                  <c:v>4.829223</c:v>
                </c:pt>
                <c:pt idx="232">
                  <c:v>4.838882</c:v>
                </c:pt>
                <c:pt idx="233">
                  <c:v>4.840524</c:v>
                </c:pt>
                <c:pt idx="234">
                  <c:v>4.864472</c:v>
                </c:pt>
                <c:pt idx="235">
                  <c:v>4.873679</c:v>
                </c:pt>
                <c:pt idx="236">
                  <c:v>4.904031</c:v>
                </c:pt>
                <c:pt idx="237">
                  <c:v>4.909099</c:v>
                </c:pt>
                <c:pt idx="238">
                  <c:v>5.037439</c:v>
                </c:pt>
                <c:pt idx="239">
                  <c:v>5.04642</c:v>
                </c:pt>
                <c:pt idx="240">
                  <c:v>5.047333</c:v>
                </c:pt>
                <c:pt idx="241">
                  <c:v>5.057794</c:v>
                </c:pt>
                <c:pt idx="242">
                  <c:v>5.074031</c:v>
                </c:pt>
                <c:pt idx="243">
                  <c:v>5.126696</c:v>
                </c:pt>
                <c:pt idx="244">
                  <c:v>5.136834</c:v>
                </c:pt>
                <c:pt idx="245">
                  <c:v>5.170483</c:v>
                </c:pt>
                <c:pt idx="246">
                  <c:v>5.191144</c:v>
                </c:pt>
                <c:pt idx="247">
                  <c:v>5.228687</c:v>
                </c:pt>
                <c:pt idx="248">
                  <c:v>5.238738</c:v>
                </c:pt>
                <c:pt idx="249">
                  <c:v>5.298432</c:v>
                </c:pt>
                <c:pt idx="250">
                  <c:v>5.301872</c:v>
                </c:pt>
                <c:pt idx="251">
                  <c:v>5.318917</c:v>
                </c:pt>
                <c:pt idx="252">
                  <c:v>5.326122</c:v>
                </c:pt>
                <c:pt idx="253">
                  <c:v>5.354759</c:v>
                </c:pt>
                <c:pt idx="254">
                  <c:v>5.376868</c:v>
                </c:pt>
                <c:pt idx="255">
                  <c:v>5.391544</c:v>
                </c:pt>
                <c:pt idx="256">
                  <c:v>5.406865</c:v>
                </c:pt>
                <c:pt idx="257">
                  <c:v>5.413975</c:v>
                </c:pt>
                <c:pt idx="258">
                  <c:v>5.46623</c:v>
                </c:pt>
                <c:pt idx="259">
                  <c:v>5.47722</c:v>
                </c:pt>
                <c:pt idx="260">
                  <c:v>5.479139</c:v>
                </c:pt>
                <c:pt idx="261">
                  <c:v>5.522149</c:v>
                </c:pt>
                <c:pt idx="262">
                  <c:v>5.553282</c:v>
                </c:pt>
                <c:pt idx="263">
                  <c:v>5.556096</c:v>
                </c:pt>
                <c:pt idx="264">
                  <c:v>5.571771</c:v>
                </c:pt>
                <c:pt idx="265">
                  <c:v>5.58831</c:v>
                </c:pt>
                <c:pt idx="266">
                  <c:v>5.604507</c:v>
                </c:pt>
                <c:pt idx="267">
                  <c:v>5.676697</c:v>
                </c:pt>
                <c:pt idx="268">
                  <c:v>5.720914</c:v>
                </c:pt>
                <c:pt idx="269">
                  <c:v>5.73443</c:v>
                </c:pt>
                <c:pt idx="270">
                  <c:v>5.739066</c:v>
                </c:pt>
                <c:pt idx="271">
                  <c:v>5.747654</c:v>
                </c:pt>
                <c:pt idx="272">
                  <c:v>5.763401</c:v>
                </c:pt>
                <c:pt idx="273">
                  <c:v>5.806361</c:v>
                </c:pt>
                <c:pt idx="274">
                  <c:v>5.871997</c:v>
                </c:pt>
                <c:pt idx="275">
                  <c:v>5.903453</c:v>
                </c:pt>
                <c:pt idx="276">
                  <c:v>5.939947</c:v>
                </c:pt>
                <c:pt idx="277">
                  <c:v>5.943639</c:v>
                </c:pt>
                <c:pt idx="278">
                  <c:v>5.968718</c:v>
                </c:pt>
                <c:pt idx="279">
                  <c:v>5.973613</c:v>
                </c:pt>
                <c:pt idx="280">
                  <c:v>5.975837</c:v>
                </c:pt>
                <c:pt idx="281">
                  <c:v>5.982207</c:v>
                </c:pt>
                <c:pt idx="282">
                  <c:v>6.008827</c:v>
                </c:pt>
                <c:pt idx="283">
                  <c:v>6.016818</c:v>
                </c:pt>
                <c:pt idx="284">
                  <c:v>6.056481</c:v>
                </c:pt>
                <c:pt idx="285">
                  <c:v>6.094753</c:v>
                </c:pt>
                <c:pt idx="286">
                  <c:v>6.181563</c:v>
                </c:pt>
                <c:pt idx="287">
                  <c:v>6.183276</c:v>
                </c:pt>
                <c:pt idx="288">
                  <c:v>6.195421</c:v>
                </c:pt>
                <c:pt idx="289">
                  <c:v>6.267874</c:v>
                </c:pt>
                <c:pt idx="290">
                  <c:v>6.280889</c:v>
                </c:pt>
                <c:pt idx="291">
                  <c:v>6.303236</c:v>
                </c:pt>
                <c:pt idx="292">
                  <c:v>6.308329</c:v>
                </c:pt>
                <c:pt idx="293">
                  <c:v>6.311747</c:v>
                </c:pt>
                <c:pt idx="294">
                  <c:v>6.367031</c:v>
                </c:pt>
                <c:pt idx="295">
                  <c:v>6.444759</c:v>
                </c:pt>
                <c:pt idx="296">
                  <c:v>6.525359</c:v>
                </c:pt>
                <c:pt idx="297">
                  <c:v>6.532115</c:v>
                </c:pt>
                <c:pt idx="298">
                  <c:v>6.573925</c:v>
                </c:pt>
                <c:pt idx="299">
                  <c:v>6.639748</c:v>
                </c:pt>
                <c:pt idx="300">
                  <c:v>6.64621</c:v>
                </c:pt>
                <c:pt idx="301">
                  <c:v>6.652274</c:v>
                </c:pt>
                <c:pt idx="302">
                  <c:v>6.662596</c:v>
                </c:pt>
                <c:pt idx="303">
                  <c:v>6.673444</c:v>
                </c:pt>
                <c:pt idx="304">
                  <c:v>6.684315</c:v>
                </c:pt>
                <c:pt idx="305">
                  <c:v>6.699499</c:v>
                </c:pt>
                <c:pt idx="306">
                  <c:v>6.743915</c:v>
                </c:pt>
                <c:pt idx="307">
                  <c:v>6.791652</c:v>
                </c:pt>
                <c:pt idx="308">
                  <c:v>6.808975</c:v>
                </c:pt>
                <c:pt idx="309">
                  <c:v>6.88451</c:v>
                </c:pt>
                <c:pt idx="310">
                  <c:v>6.902755</c:v>
                </c:pt>
                <c:pt idx="311">
                  <c:v>6.917001</c:v>
                </c:pt>
                <c:pt idx="312">
                  <c:v>6.919652</c:v>
                </c:pt>
                <c:pt idx="313">
                  <c:v>6.919717</c:v>
                </c:pt>
                <c:pt idx="314">
                  <c:v>6.920785</c:v>
                </c:pt>
                <c:pt idx="315">
                  <c:v>6.946536</c:v>
                </c:pt>
                <c:pt idx="316">
                  <c:v>6.951299</c:v>
                </c:pt>
                <c:pt idx="317">
                  <c:v>6.992772</c:v>
                </c:pt>
                <c:pt idx="318">
                  <c:v>7.006458</c:v>
                </c:pt>
                <c:pt idx="319">
                  <c:v>7.039172</c:v>
                </c:pt>
                <c:pt idx="320">
                  <c:v>7.046025</c:v>
                </c:pt>
                <c:pt idx="321">
                  <c:v>7.05026</c:v>
                </c:pt>
                <c:pt idx="322">
                  <c:v>7.05423</c:v>
                </c:pt>
                <c:pt idx="323">
                  <c:v>7.075004</c:v>
                </c:pt>
                <c:pt idx="324">
                  <c:v>7.111886</c:v>
                </c:pt>
                <c:pt idx="325">
                  <c:v>7.111932</c:v>
                </c:pt>
                <c:pt idx="326">
                  <c:v>7.123059</c:v>
                </c:pt>
                <c:pt idx="327">
                  <c:v>7.123612</c:v>
                </c:pt>
                <c:pt idx="328">
                  <c:v>7.125028</c:v>
                </c:pt>
                <c:pt idx="329">
                  <c:v>7.140189</c:v>
                </c:pt>
                <c:pt idx="330">
                  <c:v>7.141122</c:v>
                </c:pt>
                <c:pt idx="331">
                  <c:v>7.146659</c:v>
                </c:pt>
                <c:pt idx="332">
                  <c:v>7.173486</c:v>
                </c:pt>
                <c:pt idx="333">
                  <c:v>7.177356</c:v>
                </c:pt>
                <c:pt idx="334">
                  <c:v>7.183936</c:v>
                </c:pt>
                <c:pt idx="335">
                  <c:v>7.220026</c:v>
                </c:pt>
                <c:pt idx="336">
                  <c:v>7.255366</c:v>
                </c:pt>
                <c:pt idx="337">
                  <c:v>7.268292</c:v>
                </c:pt>
                <c:pt idx="338">
                  <c:v>7.316063</c:v>
                </c:pt>
                <c:pt idx="339">
                  <c:v>7.321114</c:v>
                </c:pt>
                <c:pt idx="340">
                  <c:v>7.333587</c:v>
                </c:pt>
                <c:pt idx="341">
                  <c:v>7.333611</c:v>
                </c:pt>
                <c:pt idx="342">
                  <c:v>7.366598</c:v>
                </c:pt>
                <c:pt idx="343">
                  <c:v>7.39016</c:v>
                </c:pt>
                <c:pt idx="344">
                  <c:v>7.402771</c:v>
                </c:pt>
                <c:pt idx="345">
                  <c:v>7.438299</c:v>
                </c:pt>
                <c:pt idx="346">
                  <c:v>7.456717</c:v>
                </c:pt>
                <c:pt idx="347">
                  <c:v>7.470313</c:v>
                </c:pt>
                <c:pt idx="348">
                  <c:v>7.477882</c:v>
                </c:pt>
                <c:pt idx="349">
                  <c:v>7.498538</c:v>
                </c:pt>
                <c:pt idx="350">
                  <c:v>7.507435</c:v>
                </c:pt>
                <c:pt idx="351">
                  <c:v>7.514924</c:v>
                </c:pt>
                <c:pt idx="352">
                  <c:v>7.523135</c:v>
                </c:pt>
                <c:pt idx="353">
                  <c:v>7.530235</c:v>
                </c:pt>
                <c:pt idx="354">
                  <c:v>7.547758</c:v>
                </c:pt>
                <c:pt idx="355">
                  <c:v>7.552418</c:v>
                </c:pt>
                <c:pt idx="356">
                  <c:v>7.566478</c:v>
                </c:pt>
                <c:pt idx="357">
                  <c:v>7.567628</c:v>
                </c:pt>
                <c:pt idx="358">
                  <c:v>7.571779</c:v>
                </c:pt>
                <c:pt idx="359">
                  <c:v>7.613197</c:v>
                </c:pt>
                <c:pt idx="360">
                  <c:v>7.625457</c:v>
                </c:pt>
                <c:pt idx="361">
                  <c:v>7.6638</c:v>
                </c:pt>
                <c:pt idx="362">
                  <c:v>7.68841</c:v>
                </c:pt>
                <c:pt idx="363">
                  <c:v>7.726861</c:v>
                </c:pt>
                <c:pt idx="364">
                  <c:v>7.763278</c:v>
                </c:pt>
                <c:pt idx="365">
                  <c:v>7.773972</c:v>
                </c:pt>
                <c:pt idx="366">
                  <c:v>7.794978</c:v>
                </c:pt>
                <c:pt idx="367">
                  <c:v>7.808241</c:v>
                </c:pt>
                <c:pt idx="368">
                  <c:v>7.908847</c:v>
                </c:pt>
                <c:pt idx="369">
                  <c:v>7.919945</c:v>
                </c:pt>
                <c:pt idx="370">
                  <c:v>7.97486</c:v>
                </c:pt>
                <c:pt idx="371">
                  <c:v>8.004405</c:v>
                </c:pt>
                <c:pt idx="372">
                  <c:v>8.006939</c:v>
                </c:pt>
                <c:pt idx="373">
                  <c:v>8.027317</c:v>
                </c:pt>
                <c:pt idx="374">
                  <c:v>8.038745</c:v>
                </c:pt>
                <c:pt idx="375">
                  <c:v>8.087088</c:v>
                </c:pt>
                <c:pt idx="376">
                  <c:v>8.091116</c:v>
                </c:pt>
                <c:pt idx="377">
                  <c:v>8.1201</c:v>
                </c:pt>
                <c:pt idx="378">
                  <c:v>8.134548</c:v>
                </c:pt>
                <c:pt idx="379">
                  <c:v>8.138873</c:v>
                </c:pt>
                <c:pt idx="380">
                  <c:v>8.172163</c:v>
                </c:pt>
                <c:pt idx="381">
                  <c:v>8.184527</c:v>
                </c:pt>
                <c:pt idx="382">
                  <c:v>8.235703</c:v>
                </c:pt>
                <c:pt idx="383">
                  <c:v>8.28292</c:v>
                </c:pt>
                <c:pt idx="384">
                  <c:v>8.319531</c:v>
                </c:pt>
                <c:pt idx="385">
                  <c:v>8.349408</c:v>
                </c:pt>
                <c:pt idx="386">
                  <c:v>8.350212</c:v>
                </c:pt>
                <c:pt idx="387">
                  <c:v>8.369866</c:v>
                </c:pt>
                <c:pt idx="388">
                  <c:v>8.388021</c:v>
                </c:pt>
                <c:pt idx="389">
                  <c:v>8.392095</c:v>
                </c:pt>
                <c:pt idx="390">
                  <c:v>8.405623</c:v>
                </c:pt>
                <c:pt idx="391">
                  <c:v>8.418038</c:v>
                </c:pt>
                <c:pt idx="392">
                  <c:v>8.495994</c:v>
                </c:pt>
                <c:pt idx="393">
                  <c:v>8.516471</c:v>
                </c:pt>
                <c:pt idx="394">
                  <c:v>8.539448</c:v>
                </c:pt>
                <c:pt idx="395">
                  <c:v>8.542032</c:v>
                </c:pt>
                <c:pt idx="396">
                  <c:v>8.558976</c:v>
                </c:pt>
                <c:pt idx="397">
                  <c:v>8.585311</c:v>
                </c:pt>
                <c:pt idx="398">
                  <c:v>8.624843</c:v>
                </c:pt>
                <c:pt idx="399">
                  <c:v>8.652141</c:v>
                </c:pt>
                <c:pt idx="400">
                  <c:v>8.679923</c:v>
                </c:pt>
                <c:pt idx="401">
                  <c:v>8.685341</c:v>
                </c:pt>
                <c:pt idx="402">
                  <c:v>8.699151</c:v>
                </c:pt>
                <c:pt idx="403">
                  <c:v>8.701663</c:v>
                </c:pt>
                <c:pt idx="404">
                  <c:v>8.714784</c:v>
                </c:pt>
                <c:pt idx="405">
                  <c:v>8.725955</c:v>
                </c:pt>
                <c:pt idx="406">
                  <c:v>8.732433</c:v>
                </c:pt>
                <c:pt idx="407">
                  <c:v>8.775366</c:v>
                </c:pt>
                <c:pt idx="408">
                  <c:v>8.830471</c:v>
                </c:pt>
                <c:pt idx="409">
                  <c:v>8.90382</c:v>
                </c:pt>
                <c:pt idx="410">
                  <c:v>8.92762</c:v>
                </c:pt>
                <c:pt idx="411">
                  <c:v>8.949271</c:v>
                </c:pt>
                <c:pt idx="412">
                  <c:v>8.960259</c:v>
                </c:pt>
                <c:pt idx="413">
                  <c:v>8.979473</c:v>
                </c:pt>
                <c:pt idx="414">
                  <c:v>9.011916</c:v>
                </c:pt>
                <c:pt idx="415">
                  <c:v>9.017035</c:v>
                </c:pt>
                <c:pt idx="416">
                  <c:v>9.041245</c:v>
                </c:pt>
                <c:pt idx="417">
                  <c:v>9.100744</c:v>
                </c:pt>
                <c:pt idx="418">
                  <c:v>9.113187</c:v>
                </c:pt>
                <c:pt idx="419">
                  <c:v>9.146028</c:v>
                </c:pt>
                <c:pt idx="420">
                  <c:v>9.151114</c:v>
                </c:pt>
                <c:pt idx="421">
                  <c:v>9.189524</c:v>
                </c:pt>
                <c:pt idx="422">
                  <c:v>9.194176</c:v>
                </c:pt>
                <c:pt idx="423">
                  <c:v>9.309632</c:v>
                </c:pt>
                <c:pt idx="424">
                  <c:v>9.309729</c:v>
                </c:pt>
                <c:pt idx="425">
                  <c:v>9.377033</c:v>
                </c:pt>
                <c:pt idx="426">
                  <c:v>9.408323</c:v>
                </c:pt>
                <c:pt idx="427">
                  <c:v>9.427963</c:v>
                </c:pt>
                <c:pt idx="428">
                  <c:v>9.498729</c:v>
                </c:pt>
                <c:pt idx="429">
                  <c:v>9.521335</c:v>
                </c:pt>
                <c:pt idx="430">
                  <c:v>9.531792</c:v>
                </c:pt>
                <c:pt idx="431">
                  <c:v>9.533666</c:v>
                </c:pt>
                <c:pt idx="432">
                  <c:v>9.578016</c:v>
                </c:pt>
                <c:pt idx="433">
                  <c:v>9.612884</c:v>
                </c:pt>
                <c:pt idx="434">
                  <c:v>9.732547</c:v>
                </c:pt>
                <c:pt idx="435">
                  <c:v>9.759302</c:v>
                </c:pt>
                <c:pt idx="436">
                  <c:v>9.760576</c:v>
                </c:pt>
                <c:pt idx="437">
                  <c:v>9.80052</c:v>
                </c:pt>
                <c:pt idx="438">
                  <c:v>9.800985</c:v>
                </c:pt>
                <c:pt idx="439">
                  <c:v>9.831352</c:v>
                </c:pt>
                <c:pt idx="440">
                  <c:v>9.908622</c:v>
                </c:pt>
                <c:pt idx="441">
                  <c:v>9.96595</c:v>
                </c:pt>
                <c:pt idx="442">
                  <c:v>9.967754</c:v>
                </c:pt>
                <c:pt idx="443">
                  <c:v>9.978729</c:v>
                </c:pt>
                <c:pt idx="444">
                  <c:v>10.003426</c:v>
                </c:pt>
                <c:pt idx="445">
                  <c:v>10.006079</c:v>
                </c:pt>
                <c:pt idx="446">
                  <c:v>10.044686</c:v>
                </c:pt>
                <c:pt idx="447">
                  <c:v>10.054412</c:v>
                </c:pt>
                <c:pt idx="448">
                  <c:v>10.057947</c:v>
                </c:pt>
                <c:pt idx="449">
                  <c:v>10.075136</c:v>
                </c:pt>
                <c:pt idx="450">
                  <c:v>10.097741</c:v>
                </c:pt>
                <c:pt idx="451">
                  <c:v>10.104248</c:v>
                </c:pt>
                <c:pt idx="452">
                  <c:v>10.110948</c:v>
                </c:pt>
                <c:pt idx="453">
                  <c:v>10.113337</c:v>
                </c:pt>
                <c:pt idx="454">
                  <c:v>10.117138</c:v>
                </c:pt>
                <c:pt idx="455">
                  <c:v>10.139347</c:v>
                </c:pt>
                <c:pt idx="456">
                  <c:v>10.140547</c:v>
                </c:pt>
                <c:pt idx="457">
                  <c:v>10.14513</c:v>
                </c:pt>
                <c:pt idx="458">
                  <c:v>10.152196</c:v>
                </c:pt>
                <c:pt idx="459">
                  <c:v>10.183705</c:v>
                </c:pt>
                <c:pt idx="460">
                  <c:v>10.207632</c:v>
                </c:pt>
                <c:pt idx="461">
                  <c:v>10.219217</c:v>
                </c:pt>
                <c:pt idx="462">
                  <c:v>10.230325</c:v>
                </c:pt>
                <c:pt idx="463">
                  <c:v>10.275287</c:v>
                </c:pt>
                <c:pt idx="464">
                  <c:v>10.332274</c:v>
                </c:pt>
                <c:pt idx="465">
                  <c:v>10.345707</c:v>
                </c:pt>
                <c:pt idx="466">
                  <c:v>10.359459</c:v>
                </c:pt>
                <c:pt idx="467">
                  <c:v>10.399126</c:v>
                </c:pt>
                <c:pt idx="468">
                  <c:v>10.404199</c:v>
                </c:pt>
                <c:pt idx="469">
                  <c:v>10.404619</c:v>
                </c:pt>
                <c:pt idx="470">
                  <c:v>10.407507</c:v>
                </c:pt>
                <c:pt idx="471">
                  <c:v>10.431244</c:v>
                </c:pt>
                <c:pt idx="472">
                  <c:v>10.433302</c:v>
                </c:pt>
                <c:pt idx="473">
                  <c:v>10.433843</c:v>
                </c:pt>
                <c:pt idx="474">
                  <c:v>10.490552</c:v>
                </c:pt>
                <c:pt idx="475">
                  <c:v>10.498891</c:v>
                </c:pt>
                <c:pt idx="476">
                  <c:v>10.575527</c:v>
                </c:pt>
                <c:pt idx="477">
                  <c:v>10.591732</c:v>
                </c:pt>
                <c:pt idx="478">
                  <c:v>10.592377</c:v>
                </c:pt>
                <c:pt idx="479">
                  <c:v>10.623232</c:v>
                </c:pt>
                <c:pt idx="480">
                  <c:v>10.629455</c:v>
                </c:pt>
                <c:pt idx="481">
                  <c:v>10.642613</c:v>
                </c:pt>
                <c:pt idx="482">
                  <c:v>10.648992</c:v>
                </c:pt>
                <c:pt idx="483">
                  <c:v>10.665305</c:v>
                </c:pt>
                <c:pt idx="484">
                  <c:v>10.66895</c:v>
                </c:pt>
                <c:pt idx="485">
                  <c:v>10.695359</c:v>
                </c:pt>
                <c:pt idx="486">
                  <c:v>10.754207</c:v>
                </c:pt>
                <c:pt idx="487">
                  <c:v>10.773954</c:v>
                </c:pt>
                <c:pt idx="488">
                  <c:v>10.827752</c:v>
                </c:pt>
                <c:pt idx="489">
                  <c:v>10.837762</c:v>
                </c:pt>
                <c:pt idx="490">
                  <c:v>10.847499</c:v>
                </c:pt>
                <c:pt idx="491">
                  <c:v>10.861282</c:v>
                </c:pt>
                <c:pt idx="492">
                  <c:v>10.866889</c:v>
                </c:pt>
                <c:pt idx="493">
                  <c:v>10.889401</c:v>
                </c:pt>
                <c:pt idx="494">
                  <c:v>10.890543</c:v>
                </c:pt>
                <c:pt idx="495">
                  <c:v>10.897883</c:v>
                </c:pt>
                <c:pt idx="496">
                  <c:v>10.908772</c:v>
                </c:pt>
                <c:pt idx="497">
                  <c:v>10.92299</c:v>
                </c:pt>
                <c:pt idx="498">
                  <c:v>10.949866</c:v>
                </c:pt>
                <c:pt idx="499">
                  <c:v>10.958282</c:v>
                </c:pt>
                <c:pt idx="500">
                  <c:v>10.969241</c:v>
                </c:pt>
                <c:pt idx="501">
                  <c:v>10.970805</c:v>
                </c:pt>
                <c:pt idx="502">
                  <c:v>10.985996</c:v>
                </c:pt>
                <c:pt idx="503">
                  <c:v>11.00495</c:v>
                </c:pt>
                <c:pt idx="504">
                  <c:v>11.035333</c:v>
                </c:pt>
                <c:pt idx="505">
                  <c:v>11.083191</c:v>
                </c:pt>
                <c:pt idx="506">
                  <c:v>11.084373</c:v>
                </c:pt>
                <c:pt idx="507">
                  <c:v>11.131095</c:v>
                </c:pt>
                <c:pt idx="508">
                  <c:v>11.189386</c:v>
                </c:pt>
                <c:pt idx="509">
                  <c:v>11.212912</c:v>
                </c:pt>
                <c:pt idx="510">
                  <c:v>11.274452</c:v>
                </c:pt>
                <c:pt idx="511">
                  <c:v>11.287484</c:v>
                </c:pt>
                <c:pt idx="512">
                  <c:v>11.318615</c:v>
                </c:pt>
                <c:pt idx="513">
                  <c:v>11.393612</c:v>
                </c:pt>
                <c:pt idx="514">
                  <c:v>11.477614</c:v>
                </c:pt>
                <c:pt idx="515">
                  <c:v>11.509896</c:v>
                </c:pt>
                <c:pt idx="516">
                  <c:v>11.513029</c:v>
                </c:pt>
                <c:pt idx="517">
                  <c:v>11.553176</c:v>
                </c:pt>
                <c:pt idx="518">
                  <c:v>11.657465</c:v>
                </c:pt>
                <c:pt idx="519">
                  <c:v>11.662881</c:v>
                </c:pt>
                <c:pt idx="520">
                  <c:v>11.676361</c:v>
                </c:pt>
                <c:pt idx="521">
                  <c:v>11.688391</c:v>
                </c:pt>
                <c:pt idx="522">
                  <c:v>11.699072</c:v>
                </c:pt>
                <c:pt idx="523">
                  <c:v>11.718598</c:v>
                </c:pt>
                <c:pt idx="524">
                  <c:v>11.734943</c:v>
                </c:pt>
                <c:pt idx="525">
                  <c:v>11.802845</c:v>
                </c:pt>
                <c:pt idx="526">
                  <c:v>11.814479</c:v>
                </c:pt>
                <c:pt idx="527">
                  <c:v>11.82215</c:v>
                </c:pt>
                <c:pt idx="528">
                  <c:v>11.831087</c:v>
                </c:pt>
                <c:pt idx="529">
                  <c:v>11.882783</c:v>
                </c:pt>
                <c:pt idx="530">
                  <c:v>11.888016</c:v>
                </c:pt>
                <c:pt idx="531">
                  <c:v>11.898216</c:v>
                </c:pt>
                <c:pt idx="532">
                  <c:v>11.938534</c:v>
                </c:pt>
                <c:pt idx="533">
                  <c:v>11.96067</c:v>
                </c:pt>
                <c:pt idx="534">
                  <c:v>11.965077</c:v>
                </c:pt>
                <c:pt idx="535">
                  <c:v>11.990708</c:v>
                </c:pt>
                <c:pt idx="536">
                  <c:v>12.103327</c:v>
                </c:pt>
                <c:pt idx="537">
                  <c:v>12.106784</c:v>
                </c:pt>
                <c:pt idx="538">
                  <c:v>12.126337</c:v>
                </c:pt>
                <c:pt idx="539">
                  <c:v>12.157506</c:v>
                </c:pt>
                <c:pt idx="540">
                  <c:v>12.157676</c:v>
                </c:pt>
                <c:pt idx="541">
                  <c:v>12.158092</c:v>
                </c:pt>
                <c:pt idx="542">
                  <c:v>12.221011</c:v>
                </c:pt>
                <c:pt idx="543">
                  <c:v>12.225929</c:v>
                </c:pt>
                <c:pt idx="544">
                  <c:v>12.308912</c:v>
                </c:pt>
                <c:pt idx="545">
                  <c:v>12.330724</c:v>
                </c:pt>
                <c:pt idx="546">
                  <c:v>12.354507</c:v>
                </c:pt>
                <c:pt idx="547">
                  <c:v>12.385367</c:v>
                </c:pt>
                <c:pt idx="548">
                  <c:v>12.426234</c:v>
                </c:pt>
                <c:pt idx="549">
                  <c:v>12.429406</c:v>
                </c:pt>
                <c:pt idx="550">
                  <c:v>12.43748</c:v>
                </c:pt>
                <c:pt idx="551">
                  <c:v>12.484032</c:v>
                </c:pt>
                <c:pt idx="552">
                  <c:v>12.489192</c:v>
                </c:pt>
                <c:pt idx="553">
                  <c:v>12.498284</c:v>
                </c:pt>
                <c:pt idx="554">
                  <c:v>12.508572</c:v>
                </c:pt>
                <c:pt idx="555">
                  <c:v>12.523975</c:v>
                </c:pt>
                <c:pt idx="556">
                  <c:v>12.562512</c:v>
                </c:pt>
                <c:pt idx="557">
                  <c:v>12.571814</c:v>
                </c:pt>
                <c:pt idx="558">
                  <c:v>12.62449</c:v>
                </c:pt>
                <c:pt idx="559">
                  <c:v>12.744729</c:v>
                </c:pt>
                <c:pt idx="560">
                  <c:v>12.776075</c:v>
                </c:pt>
                <c:pt idx="561">
                  <c:v>12.804771</c:v>
                </c:pt>
                <c:pt idx="562">
                  <c:v>12.86488</c:v>
                </c:pt>
                <c:pt idx="563">
                  <c:v>12.939765</c:v>
                </c:pt>
                <c:pt idx="564">
                  <c:v>12.954153</c:v>
                </c:pt>
                <c:pt idx="565">
                  <c:v>12.961096</c:v>
                </c:pt>
                <c:pt idx="566">
                  <c:v>12.963766</c:v>
                </c:pt>
                <c:pt idx="567">
                  <c:v>12.975807</c:v>
                </c:pt>
                <c:pt idx="568">
                  <c:v>12.980186</c:v>
                </c:pt>
                <c:pt idx="569">
                  <c:v>12.9911</c:v>
                </c:pt>
                <c:pt idx="570">
                  <c:v>13.060506</c:v>
                </c:pt>
                <c:pt idx="571">
                  <c:v>13.064198</c:v>
                </c:pt>
                <c:pt idx="572">
                  <c:v>13.078977</c:v>
                </c:pt>
                <c:pt idx="573">
                  <c:v>13.179767</c:v>
                </c:pt>
                <c:pt idx="574">
                  <c:v>13.243661</c:v>
                </c:pt>
                <c:pt idx="575">
                  <c:v>13.336827</c:v>
                </c:pt>
                <c:pt idx="576">
                  <c:v>13.344174</c:v>
                </c:pt>
                <c:pt idx="577">
                  <c:v>13.353501</c:v>
                </c:pt>
                <c:pt idx="578">
                  <c:v>13.364728</c:v>
                </c:pt>
                <c:pt idx="579">
                  <c:v>13.414034</c:v>
                </c:pt>
                <c:pt idx="580">
                  <c:v>13.421126</c:v>
                </c:pt>
                <c:pt idx="581">
                  <c:v>13.444013</c:v>
                </c:pt>
                <c:pt idx="582">
                  <c:v>13.460994</c:v>
                </c:pt>
                <c:pt idx="583">
                  <c:v>13.462741</c:v>
                </c:pt>
                <c:pt idx="584">
                  <c:v>13.479214</c:v>
                </c:pt>
                <c:pt idx="585">
                  <c:v>13.509581</c:v>
                </c:pt>
                <c:pt idx="586">
                  <c:v>13.565309</c:v>
                </c:pt>
                <c:pt idx="587">
                  <c:v>13.619668</c:v>
                </c:pt>
                <c:pt idx="588">
                  <c:v>13.632652</c:v>
                </c:pt>
                <c:pt idx="589">
                  <c:v>13.644048</c:v>
                </c:pt>
                <c:pt idx="590">
                  <c:v>13.66756</c:v>
                </c:pt>
                <c:pt idx="591">
                  <c:v>13.68395</c:v>
                </c:pt>
                <c:pt idx="592">
                  <c:v>13.724235</c:v>
                </c:pt>
                <c:pt idx="593">
                  <c:v>13.7492</c:v>
                </c:pt>
                <c:pt idx="594">
                  <c:v>13.754677</c:v>
                </c:pt>
                <c:pt idx="595">
                  <c:v>13.755088</c:v>
                </c:pt>
                <c:pt idx="596">
                  <c:v>13.761632</c:v>
                </c:pt>
                <c:pt idx="597">
                  <c:v>13.782597</c:v>
                </c:pt>
                <c:pt idx="598">
                  <c:v>13.855507</c:v>
                </c:pt>
                <c:pt idx="599">
                  <c:v>13.875305</c:v>
                </c:pt>
                <c:pt idx="600">
                  <c:v>13.967909</c:v>
                </c:pt>
                <c:pt idx="601">
                  <c:v>14.04654</c:v>
                </c:pt>
                <c:pt idx="602">
                  <c:v>14.072459</c:v>
                </c:pt>
                <c:pt idx="603">
                  <c:v>14.110137</c:v>
                </c:pt>
                <c:pt idx="604">
                  <c:v>14.111339</c:v>
                </c:pt>
                <c:pt idx="605">
                  <c:v>14.121102</c:v>
                </c:pt>
                <c:pt idx="606">
                  <c:v>14.149062</c:v>
                </c:pt>
                <c:pt idx="607">
                  <c:v>14.172389</c:v>
                </c:pt>
                <c:pt idx="608">
                  <c:v>14.227535</c:v>
                </c:pt>
                <c:pt idx="609">
                  <c:v>14.265568</c:v>
                </c:pt>
                <c:pt idx="610">
                  <c:v>14.330045</c:v>
                </c:pt>
                <c:pt idx="611">
                  <c:v>14.353979</c:v>
                </c:pt>
                <c:pt idx="612">
                  <c:v>14.457941</c:v>
                </c:pt>
                <c:pt idx="613">
                  <c:v>14.493737</c:v>
                </c:pt>
                <c:pt idx="614">
                  <c:v>14.515733</c:v>
                </c:pt>
                <c:pt idx="615">
                  <c:v>14.531266</c:v>
                </c:pt>
                <c:pt idx="616">
                  <c:v>14.556477</c:v>
                </c:pt>
                <c:pt idx="617">
                  <c:v>14.577935</c:v>
                </c:pt>
                <c:pt idx="618">
                  <c:v>14.58149</c:v>
                </c:pt>
                <c:pt idx="619">
                  <c:v>14.644095</c:v>
                </c:pt>
                <c:pt idx="620">
                  <c:v>14.669055</c:v>
                </c:pt>
                <c:pt idx="621">
                  <c:v>14.684946</c:v>
                </c:pt>
                <c:pt idx="622">
                  <c:v>14.715789</c:v>
                </c:pt>
                <c:pt idx="623">
                  <c:v>14.72803</c:v>
                </c:pt>
                <c:pt idx="624">
                  <c:v>14.746146</c:v>
                </c:pt>
                <c:pt idx="625">
                  <c:v>14.797269</c:v>
                </c:pt>
                <c:pt idx="626">
                  <c:v>14.812991</c:v>
                </c:pt>
                <c:pt idx="627">
                  <c:v>14.816681</c:v>
                </c:pt>
                <c:pt idx="628">
                  <c:v>14.98735</c:v>
                </c:pt>
                <c:pt idx="629">
                  <c:v>15.071953</c:v>
                </c:pt>
                <c:pt idx="630">
                  <c:v>15.07513</c:v>
                </c:pt>
                <c:pt idx="631">
                  <c:v>15.077338</c:v>
                </c:pt>
                <c:pt idx="632">
                  <c:v>15.138794</c:v>
                </c:pt>
                <c:pt idx="633">
                  <c:v>15.233488</c:v>
                </c:pt>
                <c:pt idx="634">
                  <c:v>15.244202</c:v>
                </c:pt>
                <c:pt idx="635">
                  <c:v>15.361112</c:v>
                </c:pt>
                <c:pt idx="636">
                  <c:v>15.412284</c:v>
                </c:pt>
                <c:pt idx="637">
                  <c:v>15.4285</c:v>
                </c:pt>
                <c:pt idx="638">
                  <c:v>15.441745</c:v>
                </c:pt>
                <c:pt idx="639">
                  <c:v>15.478505</c:v>
                </c:pt>
                <c:pt idx="640">
                  <c:v>15.478771</c:v>
                </c:pt>
                <c:pt idx="641">
                  <c:v>15.49603</c:v>
                </c:pt>
                <c:pt idx="642">
                  <c:v>15.521923</c:v>
                </c:pt>
                <c:pt idx="643">
                  <c:v>15.584782</c:v>
                </c:pt>
                <c:pt idx="644">
                  <c:v>15.599848</c:v>
                </c:pt>
                <c:pt idx="645">
                  <c:v>15.625691</c:v>
                </c:pt>
                <c:pt idx="646">
                  <c:v>15.639932</c:v>
                </c:pt>
                <c:pt idx="647">
                  <c:v>15.673049</c:v>
                </c:pt>
                <c:pt idx="648">
                  <c:v>15.676513</c:v>
                </c:pt>
                <c:pt idx="649">
                  <c:v>15.698817</c:v>
                </c:pt>
                <c:pt idx="650">
                  <c:v>15.718009</c:v>
                </c:pt>
                <c:pt idx="651">
                  <c:v>15.783288</c:v>
                </c:pt>
                <c:pt idx="652">
                  <c:v>15.796232</c:v>
                </c:pt>
                <c:pt idx="653">
                  <c:v>15.800496</c:v>
                </c:pt>
                <c:pt idx="654">
                  <c:v>15.819228</c:v>
                </c:pt>
                <c:pt idx="655">
                  <c:v>15.821568</c:v>
                </c:pt>
                <c:pt idx="656">
                  <c:v>15.823325</c:v>
                </c:pt>
                <c:pt idx="657">
                  <c:v>15.847903</c:v>
                </c:pt>
                <c:pt idx="658">
                  <c:v>15.869986</c:v>
                </c:pt>
                <c:pt idx="659">
                  <c:v>15.871947</c:v>
                </c:pt>
                <c:pt idx="660">
                  <c:v>15.909344</c:v>
                </c:pt>
                <c:pt idx="661">
                  <c:v>15.923795</c:v>
                </c:pt>
                <c:pt idx="662">
                  <c:v>15.97058</c:v>
                </c:pt>
                <c:pt idx="663">
                  <c:v>15.984188</c:v>
                </c:pt>
                <c:pt idx="664">
                  <c:v>15.986826</c:v>
                </c:pt>
                <c:pt idx="665">
                  <c:v>16.016354</c:v>
                </c:pt>
                <c:pt idx="666">
                  <c:v>16.020133</c:v>
                </c:pt>
                <c:pt idx="667">
                  <c:v>16.111316</c:v>
                </c:pt>
                <c:pt idx="668">
                  <c:v>16.116802</c:v>
                </c:pt>
                <c:pt idx="669">
                  <c:v>16.174967</c:v>
                </c:pt>
                <c:pt idx="670">
                  <c:v>16.226243</c:v>
                </c:pt>
                <c:pt idx="671">
                  <c:v>16.240227</c:v>
                </c:pt>
                <c:pt idx="672">
                  <c:v>16.327205</c:v>
                </c:pt>
                <c:pt idx="673">
                  <c:v>16.375093</c:v>
                </c:pt>
                <c:pt idx="674">
                  <c:v>16.397363</c:v>
                </c:pt>
                <c:pt idx="675">
                  <c:v>16.408992</c:v>
                </c:pt>
                <c:pt idx="676">
                  <c:v>16.451475</c:v>
                </c:pt>
                <c:pt idx="677">
                  <c:v>16.500569</c:v>
                </c:pt>
                <c:pt idx="678">
                  <c:v>16.528255</c:v>
                </c:pt>
                <c:pt idx="679">
                  <c:v>16.594634</c:v>
                </c:pt>
                <c:pt idx="680">
                  <c:v>16.646581</c:v>
                </c:pt>
                <c:pt idx="681">
                  <c:v>16.695899</c:v>
                </c:pt>
                <c:pt idx="682">
                  <c:v>16.722697</c:v>
                </c:pt>
                <c:pt idx="683">
                  <c:v>16.728148</c:v>
                </c:pt>
                <c:pt idx="684">
                  <c:v>16.79203</c:v>
                </c:pt>
                <c:pt idx="685">
                  <c:v>16.805155</c:v>
                </c:pt>
                <c:pt idx="686">
                  <c:v>16.8332</c:v>
                </c:pt>
                <c:pt idx="687">
                  <c:v>16.892012</c:v>
                </c:pt>
                <c:pt idx="688">
                  <c:v>16.930459</c:v>
                </c:pt>
                <c:pt idx="689">
                  <c:v>16.932114</c:v>
                </c:pt>
                <c:pt idx="690">
                  <c:v>16.940567</c:v>
                </c:pt>
                <c:pt idx="691">
                  <c:v>17.079918</c:v>
                </c:pt>
                <c:pt idx="692">
                  <c:v>17.086912</c:v>
                </c:pt>
                <c:pt idx="693">
                  <c:v>17.100842</c:v>
                </c:pt>
                <c:pt idx="694">
                  <c:v>17.106102</c:v>
                </c:pt>
                <c:pt idx="695">
                  <c:v>17.145387</c:v>
                </c:pt>
                <c:pt idx="696">
                  <c:v>17.211153</c:v>
                </c:pt>
                <c:pt idx="697">
                  <c:v>17.222872</c:v>
                </c:pt>
                <c:pt idx="698">
                  <c:v>17.294705</c:v>
                </c:pt>
                <c:pt idx="699">
                  <c:v>17.427346</c:v>
                </c:pt>
                <c:pt idx="700">
                  <c:v>17.455989</c:v>
                </c:pt>
                <c:pt idx="701">
                  <c:v>17.473753</c:v>
                </c:pt>
                <c:pt idx="702">
                  <c:v>17.490711</c:v>
                </c:pt>
                <c:pt idx="703">
                  <c:v>17.523292</c:v>
                </c:pt>
                <c:pt idx="704">
                  <c:v>17.603324</c:v>
                </c:pt>
                <c:pt idx="705">
                  <c:v>17.654766</c:v>
                </c:pt>
                <c:pt idx="706">
                  <c:v>17.731563</c:v>
                </c:pt>
                <c:pt idx="707">
                  <c:v>17.741503</c:v>
                </c:pt>
                <c:pt idx="708">
                  <c:v>17.74469</c:v>
                </c:pt>
                <c:pt idx="709">
                  <c:v>17.785825</c:v>
                </c:pt>
                <c:pt idx="710">
                  <c:v>17.839221</c:v>
                </c:pt>
                <c:pt idx="711">
                  <c:v>17.839939</c:v>
                </c:pt>
                <c:pt idx="712">
                  <c:v>17.844476</c:v>
                </c:pt>
                <c:pt idx="713">
                  <c:v>17.93381</c:v>
                </c:pt>
                <c:pt idx="714">
                  <c:v>17.971109</c:v>
                </c:pt>
                <c:pt idx="715">
                  <c:v>18.017982</c:v>
                </c:pt>
                <c:pt idx="716">
                  <c:v>18.055521</c:v>
                </c:pt>
                <c:pt idx="717">
                  <c:v>18.060545</c:v>
                </c:pt>
                <c:pt idx="718">
                  <c:v>18.060932</c:v>
                </c:pt>
                <c:pt idx="719">
                  <c:v>18.083679</c:v>
                </c:pt>
                <c:pt idx="720">
                  <c:v>18.182548</c:v>
                </c:pt>
                <c:pt idx="721">
                  <c:v>18.200278</c:v>
                </c:pt>
                <c:pt idx="722">
                  <c:v>18.206908</c:v>
                </c:pt>
                <c:pt idx="723">
                  <c:v>18.286728</c:v>
                </c:pt>
                <c:pt idx="724">
                  <c:v>18.318064</c:v>
                </c:pt>
                <c:pt idx="725">
                  <c:v>18.342115</c:v>
                </c:pt>
                <c:pt idx="726">
                  <c:v>18.344671</c:v>
                </c:pt>
                <c:pt idx="727">
                  <c:v>18.355144</c:v>
                </c:pt>
                <c:pt idx="728">
                  <c:v>18.365359</c:v>
                </c:pt>
                <c:pt idx="729">
                  <c:v>18.388126</c:v>
                </c:pt>
                <c:pt idx="730">
                  <c:v>18.409301</c:v>
                </c:pt>
                <c:pt idx="731">
                  <c:v>18.418206</c:v>
                </c:pt>
                <c:pt idx="732">
                  <c:v>18.464677</c:v>
                </c:pt>
                <c:pt idx="733">
                  <c:v>18.473283</c:v>
                </c:pt>
                <c:pt idx="734">
                  <c:v>18.506042</c:v>
                </c:pt>
                <c:pt idx="735">
                  <c:v>18.673269</c:v>
                </c:pt>
                <c:pt idx="736">
                  <c:v>18.730803</c:v>
                </c:pt>
                <c:pt idx="737">
                  <c:v>18.769675</c:v>
                </c:pt>
                <c:pt idx="738">
                  <c:v>18.77594</c:v>
                </c:pt>
                <c:pt idx="739">
                  <c:v>18.802428</c:v>
                </c:pt>
                <c:pt idx="740">
                  <c:v>18.822419</c:v>
                </c:pt>
                <c:pt idx="741">
                  <c:v>18.862015</c:v>
                </c:pt>
                <c:pt idx="742">
                  <c:v>18.885096</c:v>
                </c:pt>
                <c:pt idx="743">
                  <c:v>18.906926</c:v>
                </c:pt>
                <c:pt idx="744">
                  <c:v>18.923791</c:v>
                </c:pt>
                <c:pt idx="745">
                  <c:v>18.954247</c:v>
                </c:pt>
                <c:pt idx="746">
                  <c:v>18.978579</c:v>
                </c:pt>
                <c:pt idx="747">
                  <c:v>18.998621</c:v>
                </c:pt>
                <c:pt idx="748">
                  <c:v>19.000975</c:v>
                </c:pt>
                <c:pt idx="749">
                  <c:v>19.078715</c:v>
                </c:pt>
                <c:pt idx="750">
                  <c:v>19.097849</c:v>
                </c:pt>
                <c:pt idx="751">
                  <c:v>19.274947</c:v>
                </c:pt>
                <c:pt idx="752">
                  <c:v>19.282827</c:v>
                </c:pt>
                <c:pt idx="753">
                  <c:v>19.293851</c:v>
                </c:pt>
                <c:pt idx="754">
                  <c:v>19.305019</c:v>
                </c:pt>
                <c:pt idx="755">
                  <c:v>19.307588</c:v>
                </c:pt>
                <c:pt idx="756">
                  <c:v>19.334372</c:v>
                </c:pt>
                <c:pt idx="757">
                  <c:v>19.399872</c:v>
                </c:pt>
                <c:pt idx="758">
                  <c:v>19.400771</c:v>
                </c:pt>
                <c:pt idx="759">
                  <c:v>19.417874</c:v>
                </c:pt>
                <c:pt idx="760">
                  <c:v>19.45091</c:v>
                </c:pt>
                <c:pt idx="761">
                  <c:v>19.475686</c:v>
                </c:pt>
                <c:pt idx="762">
                  <c:v>19.5089</c:v>
                </c:pt>
                <c:pt idx="763">
                  <c:v>19.510027</c:v>
                </c:pt>
                <c:pt idx="764">
                  <c:v>19.547135</c:v>
                </c:pt>
                <c:pt idx="765">
                  <c:v>19.56008</c:v>
                </c:pt>
                <c:pt idx="766">
                  <c:v>19.577351</c:v>
                </c:pt>
                <c:pt idx="767">
                  <c:v>19.595425</c:v>
                </c:pt>
                <c:pt idx="768">
                  <c:v>19.608975</c:v>
                </c:pt>
                <c:pt idx="769">
                  <c:v>19.618471</c:v>
                </c:pt>
                <c:pt idx="770">
                  <c:v>19.646028</c:v>
                </c:pt>
                <c:pt idx="771">
                  <c:v>19.67668</c:v>
                </c:pt>
                <c:pt idx="772">
                  <c:v>19.780231</c:v>
                </c:pt>
                <c:pt idx="773">
                  <c:v>19.788607</c:v>
                </c:pt>
                <c:pt idx="774">
                  <c:v>19.79306</c:v>
                </c:pt>
                <c:pt idx="775">
                  <c:v>19.815714</c:v>
                </c:pt>
                <c:pt idx="776">
                  <c:v>19.837588</c:v>
                </c:pt>
                <c:pt idx="777">
                  <c:v>19.844306</c:v>
                </c:pt>
                <c:pt idx="778">
                  <c:v>19.909114</c:v>
                </c:pt>
                <c:pt idx="779">
                  <c:v>19.915787</c:v>
                </c:pt>
                <c:pt idx="780">
                  <c:v>19.958754</c:v>
                </c:pt>
                <c:pt idx="781">
                  <c:v>19.963028</c:v>
                </c:pt>
                <c:pt idx="782">
                  <c:v>19.999552</c:v>
                </c:pt>
                <c:pt idx="783">
                  <c:v>20.059894</c:v>
                </c:pt>
                <c:pt idx="784">
                  <c:v>20.115365</c:v>
                </c:pt>
                <c:pt idx="785">
                  <c:v>20.156021</c:v>
                </c:pt>
                <c:pt idx="786">
                  <c:v>20.260016</c:v>
                </c:pt>
                <c:pt idx="787">
                  <c:v>20.277648</c:v>
                </c:pt>
                <c:pt idx="788">
                  <c:v>20.280621</c:v>
                </c:pt>
                <c:pt idx="789">
                  <c:v>20.284558</c:v>
                </c:pt>
                <c:pt idx="790">
                  <c:v>20.341962</c:v>
                </c:pt>
                <c:pt idx="791">
                  <c:v>20.380277</c:v>
                </c:pt>
                <c:pt idx="792">
                  <c:v>20.398997</c:v>
                </c:pt>
                <c:pt idx="793">
                  <c:v>20.442445</c:v>
                </c:pt>
                <c:pt idx="794">
                  <c:v>20.445076</c:v>
                </c:pt>
                <c:pt idx="795">
                  <c:v>20.568679</c:v>
                </c:pt>
                <c:pt idx="796">
                  <c:v>20.583777</c:v>
                </c:pt>
                <c:pt idx="797">
                  <c:v>20.603179</c:v>
                </c:pt>
                <c:pt idx="798">
                  <c:v>20.617445</c:v>
                </c:pt>
                <c:pt idx="799">
                  <c:v>20.61945</c:v>
                </c:pt>
                <c:pt idx="800">
                  <c:v>20.640183</c:v>
                </c:pt>
                <c:pt idx="801">
                  <c:v>20.676923</c:v>
                </c:pt>
                <c:pt idx="802">
                  <c:v>20.692184</c:v>
                </c:pt>
                <c:pt idx="803">
                  <c:v>20.719219</c:v>
                </c:pt>
                <c:pt idx="804">
                  <c:v>20.719973</c:v>
                </c:pt>
                <c:pt idx="805">
                  <c:v>20.792844</c:v>
                </c:pt>
                <c:pt idx="806">
                  <c:v>20.81379</c:v>
                </c:pt>
                <c:pt idx="807">
                  <c:v>20.834863</c:v>
                </c:pt>
                <c:pt idx="808">
                  <c:v>20.881473</c:v>
                </c:pt>
                <c:pt idx="809">
                  <c:v>20.911841</c:v>
                </c:pt>
                <c:pt idx="810">
                  <c:v>20.93808</c:v>
                </c:pt>
                <c:pt idx="811">
                  <c:v>20.950412</c:v>
                </c:pt>
                <c:pt idx="812">
                  <c:v>20.952775</c:v>
                </c:pt>
                <c:pt idx="813">
                  <c:v>20.979225</c:v>
                </c:pt>
                <c:pt idx="814">
                  <c:v>20.996892</c:v>
                </c:pt>
                <c:pt idx="815">
                  <c:v>21.008796</c:v>
                </c:pt>
                <c:pt idx="816">
                  <c:v>21.018899</c:v>
                </c:pt>
                <c:pt idx="817">
                  <c:v>21.022962</c:v>
                </c:pt>
                <c:pt idx="818">
                  <c:v>21.040636</c:v>
                </c:pt>
                <c:pt idx="819">
                  <c:v>21.054345</c:v>
                </c:pt>
                <c:pt idx="820">
                  <c:v>21.108293</c:v>
                </c:pt>
                <c:pt idx="821">
                  <c:v>21.121415</c:v>
                </c:pt>
                <c:pt idx="822">
                  <c:v>21.252524</c:v>
                </c:pt>
                <c:pt idx="823">
                  <c:v>21.271739</c:v>
                </c:pt>
                <c:pt idx="824">
                  <c:v>21.318769</c:v>
                </c:pt>
                <c:pt idx="825">
                  <c:v>21.362426</c:v>
                </c:pt>
                <c:pt idx="826">
                  <c:v>21.367304</c:v>
                </c:pt>
                <c:pt idx="827">
                  <c:v>21.378582</c:v>
                </c:pt>
                <c:pt idx="828">
                  <c:v>21.465233</c:v>
                </c:pt>
                <c:pt idx="829">
                  <c:v>21.503202</c:v>
                </c:pt>
                <c:pt idx="830">
                  <c:v>21.509449</c:v>
                </c:pt>
                <c:pt idx="831">
                  <c:v>21.535312</c:v>
                </c:pt>
                <c:pt idx="832">
                  <c:v>21.565189</c:v>
                </c:pt>
                <c:pt idx="833">
                  <c:v>21.75666</c:v>
                </c:pt>
                <c:pt idx="834">
                  <c:v>21.77128</c:v>
                </c:pt>
                <c:pt idx="835">
                  <c:v>21.806191</c:v>
                </c:pt>
                <c:pt idx="836">
                  <c:v>21.832154</c:v>
                </c:pt>
                <c:pt idx="837">
                  <c:v>21.8477</c:v>
                </c:pt>
                <c:pt idx="838">
                  <c:v>21.861864</c:v>
                </c:pt>
                <c:pt idx="839">
                  <c:v>21.897551</c:v>
                </c:pt>
                <c:pt idx="840">
                  <c:v>21.929551</c:v>
                </c:pt>
                <c:pt idx="841">
                  <c:v>21.940298</c:v>
                </c:pt>
                <c:pt idx="842">
                  <c:v>22.015586</c:v>
                </c:pt>
                <c:pt idx="843">
                  <c:v>22.016785</c:v>
                </c:pt>
                <c:pt idx="844">
                  <c:v>22.029215</c:v>
                </c:pt>
                <c:pt idx="845">
                  <c:v>22.040974</c:v>
                </c:pt>
                <c:pt idx="846">
                  <c:v>22.13027</c:v>
                </c:pt>
                <c:pt idx="847">
                  <c:v>22.164527</c:v>
                </c:pt>
                <c:pt idx="848">
                  <c:v>22.223608</c:v>
                </c:pt>
                <c:pt idx="849">
                  <c:v>22.223626</c:v>
                </c:pt>
                <c:pt idx="850">
                  <c:v>22.280102</c:v>
                </c:pt>
                <c:pt idx="851">
                  <c:v>22.384682</c:v>
                </c:pt>
                <c:pt idx="852">
                  <c:v>22.402607</c:v>
                </c:pt>
                <c:pt idx="853">
                  <c:v>22.451127</c:v>
                </c:pt>
                <c:pt idx="854">
                  <c:v>22.504563</c:v>
                </c:pt>
                <c:pt idx="855">
                  <c:v>22.606997</c:v>
                </c:pt>
                <c:pt idx="856">
                  <c:v>22.676583</c:v>
                </c:pt>
                <c:pt idx="857">
                  <c:v>22.705629</c:v>
                </c:pt>
                <c:pt idx="858">
                  <c:v>22.710279</c:v>
                </c:pt>
                <c:pt idx="859">
                  <c:v>22.716697</c:v>
                </c:pt>
                <c:pt idx="860">
                  <c:v>22.783955</c:v>
                </c:pt>
                <c:pt idx="861">
                  <c:v>22.788048</c:v>
                </c:pt>
                <c:pt idx="862">
                  <c:v>22.861492</c:v>
                </c:pt>
                <c:pt idx="863">
                  <c:v>22.890571</c:v>
                </c:pt>
                <c:pt idx="864">
                  <c:v>23.017506</c:v>
                </c:pt>
                <c:pt idx="865">
                  <c:v>23.186713</c:v>
                </c:pt>
                <c:pt idx="866">
                  <c:v>23.205757</c:v>
                </c:pt>
                <c:pt idx="867">
                  <c:v>23.221423</c:v>
                </c:pt>
                <c:pt idx="868">
                  <c:v>23.327652</c:v>
                </c:pt>
                <c:pt idx="869">
                  <c:v>23.331629</c:v>
                </c:pt>
                <c:pt idx="870">
                  <c:v>23.367448</c:v>
                </c:pt>
                <c:pt idx="871">
                  <c:v>23.380469</c:v>
                </c:pt>
                <c:pt idx="872">
                  <c:v>23.381164</c:v>
                </c:pt>
                <c:pt idx="873">
                  <c:v>23.417462</c:v>
                </c:pt>
                <c:pt idx="874">
                  <c:v>23.418188</c:v>
                </c:pt>
                <c:pt idx="875">
                  <c:v>23.420528</c:v>
                </c:pt>
                <c:pt idx="876">
                  <c:v>23.43917</c:v>
                </c:pt>
                <c:pt idx="877">
                  <c:v>23.459868</c:v>
                </c:pt>
                <c:pt idx="878">
                  <c:v>23.485842</c:v>
                </c:pt>
                <c:pt idx="879">
                  <c:v>23.52123</c:v>
                </c:pt>
                <c:pt idx="880">
                  <c:v>23.52631</c:v>
                </c:pt>
                <c:pt idx="881">
                  <c:v>23.599687</c:v>
                </c:pt>
                <c:pt idx="882">
                  <c:v>23.600207</c:v>
                </c:pt>
                <c:pt idx="883">
                  <c:v>23.606129</c:v>
                </c:pt>
                <c:pt idx="884">
                  <c:v>23.610745</c:v>
                </c:pt>
                <c:pt idx="885">
                  <c:v>23.640933</c:v>
                </c:pt>
                <c:pt idx="886">
                  <c:v>23.651833</c:v>
                </c:pt>
                <c:pt idx="887">
                  <c:v>23.659413</c:v>
                </c:pt>
                <c:pt idx="888">
                  <c:v>23.722715</c:v>
                </c:pt>
                <c:pt idx="889">
                  <c:v>23.745911</c:v>
                </c:pt>
                <c:pt idx="890">
                  <c:v>23.74961</c:v>
                </c:pt>
                <c:pt idx="891">
                  <c:v>23.756898</c:v>
                </c:pt>
                <c:pt idx="892">
                  <c:v>23.805067</c:v>
                </c:pt>
                <c:pt idx="893">
                  <c:v>23.876151</c:v>
                </c:pt>
                <c:pt idx="894">
                  <c:v>23.931575</c:v>
                </c:pt>
                <c:pt idx="895">
                  <c:v>23.931739</c:v>
                </c:pt>
                <c:pt idx="896">
                  <c:v>23.939562</c:v>
                </c:pt>
                <c:pt idx="897">
                  <c:v>23.952428</c:v>
                </c:pt>
                <c:pt idx="898">
                  <c:v>23.957774</c:v>
                </c:pt>
                <c:pt idx="899">
                  <c:v>23.995254</c:v>
                </c:pt>
                <c:pt idx="900">
                  <c:v>23.995993</c:v>
                </c:pt>
                <c:pt idx="901">
                  <c:v>24.013098</c:v>
                </c:pt>
                <c:pt idx="902">
                  <c:v>24.04569</c:v>
                </c:pt>
                <c:pt idx="903">
                  <c:v>24.052946</c:v>
                </c:pt>
                <c:pt idx="904">
                  <c:v>24.083826</c:v>
                </c:pt>
                <c:pt idx="905">
                  <c:v>24.109002</c:v>
                </c:pt>
                <c:pt idx="906">
                  <c:v>24.131401</c:v>
                </c:pt>
                <c:pt idx="907">
                  <c:v>24.188498</c:v>
                </c:pt>
                <c:pt idx="908">
                  <c:v>24.239193</c:v>
                </c:pt>
                <c:pt idx="909">
                  <c:v>24.245005</c:v>
                </c:pt>
                <c:pt idx="910">
                  <c:v>24.267085</c:v>
                </c:pt>
                <c:pt idx="911">
                  <c:v>24.562007</c:v>
                </c:pt>
                <c:pt idx="912">
                  <c:v>24.642774</c:v>
                </c:pt>
                <c:pt idx="913">
                  <c:v>24.663515</c:v>
                </c:pt>
                <c:pt idx="914">
                  <c:v>24.834428</c:v>
                </c:pt>
                <c:pt idx="915">
                  <c:v>24.95046</c:v>
                </c:pt>
                <c:pt idx="916">
                  <c:v>24.958571</c:v>
                </c:pt>
                <c:pt idx="917">
                  <c:v>25.021754</c:v>
                </c:pt>
                <c:pt idx="918">
                  <c:v>25.074983</c:v>
                </c:pt>
                <c:pt idx="919">
                  <c:v>25.154161</c:v>
                </c:pt>
                <c:pt idx="920">
                  <c:v>25.190367</c:v>
                </c:pt>
                <c:pt idx="921">
                  <c:v>25.296459</c:v>
                </c:pt>
                <c:pt idx="922">
                  <c:v>25.38015</c:v>
                </c:pt>
                <c:pt idx="923">
                  <c:v>25.440944</c:v>
                </c:pt>
                <c:pt idx="924">
                  <c:v>25.443492</c:v>
                </c:pt>
                <c:pt idx="925">
                  <c:v>25.451118</c:v>
                </c:pt>
                <c:pt idx="926">
                  <c:v>25.464947</c:v>
                </c:pt>
                <c:pt idx="927">
                  <c:v>25.575027</c:v>
                </c:pt>
                <c:pt idx="928">
                  <c:v>25.622692</c:v>
                </c:pt>
                <c:pt idx="929">
                  <c:v>25.642177</c:v>
                </c:pt>
                <c:pt idx="930">
                  <c:v>25.686395</c:v>
                </c:pt>
                <c:pt idx="931">
                  <c:v>25.688132</c:v>
                </c:pt>
                <c:pt idx="932">
                  <c:v>25.728285</c:v>
                </c:pt>
                <c:pt idx="933">
                  <c:v>25.735856</c:v>
                </c:pt>
                <c:pt idx="934">
                  <c:v>25.738327</c:v>
                </c:pt>
                <c:pt idx="935">
                  <c:v>25.76559</c:v>
                </c:pt>
                <c:pt idx="936">
                  <c:v>25.765674</c:v>
                </c:pt>
                <c:pt idx="937">
                  <c:v>25.84548</c:v>
                </c:pt>
                <c:pt idx="938">
                  <c:v>25.855136</c:v>
                </c:pt>
                <c:pt idx="939">
                  <c:v>25.867176</c:v>
                </c:pt>
                <c:pt idx="940">
                  <c:v>25.873257</c:v>
                </c:pt>
                <c:pt idx="941">
                  <c:v>25.879842</c:v>
                </c:pt>
                <c:pt idx="942">
                  <c:v>25.886721</c:v>
                </c:pt>
                <c:pt idx="943">
                  <c:v>25.925547</c:v>
                </c:pt>
                <c:pt idx="944">
                  <c:v>25.94131</c:v>
                </c:pt>
                <c:pt idx="945">
                  <c:v>25.957679</c:v>
                </c:pt>
                <c:pt idx="946">
                  <c:v>26.066286</c:v>
                </c:pt>
                <c:pt idx="947">
                  <c:v>26.122715</c:v>
                </c:pt>
                <c:pt idx="948">
                  <c:v>26.321472</c:v>
                </c:pt>
                <c:pt idx="949">
                  <c:v>26.333762</c:v>
                </c:pt>
                <c:pt idx="950">
                  <c:v>26.360346</c:v>
                </c:pt>
                <c:pt idx="951">
                  <c:v>26.37372</c:v>
                </c:pt>
                <c:pt idx="952">
                  <c:v>26.422914</c:v>
                </c:pt>
                <c:pt idx="953">
                  <c:v>26.443797</c:v>
                </c:pt>
                <c:pt idx="954">
                  <c:v>26.494737</c:v>
                </c:pt>
                <c:pt idx="955">
                  <c:v>26.530916</c:v>
                </c:pt>
                <c:pt idx="956">
                  <c:v>26.584964</c:v>
                </c:pt>
                <c:pt idx="957">
                  <c:v>26.691951</c:v>
                </c:pt>
                <c:pt idx="958">
                  <c:v>26.701696</c:v>
                </c:pt>
                <c:pt idx="959">
                  <c:v>26.720337</c:v>
                </c:pt>
                <c:pt idx="960">
                  <c:v>26.751619</c:v>
                </c:pt>
                <c:pt idx="961">
                  <c:v>26.760732</c:v>
                </c:pt>
                <c:pt idx="962">
                  <c:v>26.763646</c:v>
                </c:pt>
                <c:pt idx="963">
                  <c:v>26.848654</c:v>
                </c:pt>
                <c:pt idx="964">
                  <c:v>26.853719</c:v>
                </c:pt>
                <c:pt idx="965">
                  <c:v>26.899923</c:v>
                </c:pt>
                <c:pt idx="966">
                  <c:v>26.907074</c:v>
                </c:pt>
                <c:pt idx="967">
                  <c:v>26.9232</c:v>
                </c:pt>
                <c:pt idx="968">
                  <c:v>26.938278</c:v>
                </c:pt>
                <c:pt idx="969">
                  <c:v>27.018075</c:v>
                </c:pt>
                <c:pt idx="970">
                  <c:v>27.082231</c:v>
                </c:pt>
                <c:pt idx="971">
                  <c:v>27.085479</c:v>
                </c:pt>
                <c:pt idx="972">
                  <c:v>27.089926</c:v>
                </c:pt>
                <c:pt idx="973">
                  <c:v>27.190791</c:v>
                </c:pt>
                <c:pt idx="974">
                  <c:v>27.196797</c:v>
                </c:pt>
                <c:pt idx="975">
                  <c:v>27.270157</c:v>
                </c:pt>
                <c:pt idx="976">
                  <c:v>27.464849</c:v>
                </c:pt>
                <c:pt idx="977">
                  <c:v>27.574859</c:v>
                </c:pt>
                <c:pt idx="978">
                  <c:v>27.576561</c:v>
                </c:pt>
                <c:pt idx="979">
                  <c:v>27.577725</c:v>
                </c:pt>
                <c:pt idx="980">
                  <c:v>27.679922</c:v>
                </c:pt>
                <c:pt idx="981">
                  <c:v>27.680769</c:v>
                </c:pt>
                <c:pt idx="982">
                  <c:v>27.690311</c:v>
                </c:pt>
                <c:pt idx="983">
                  <c:v>27.738566</c:v>
                </c:pt>
                <c:pt idx="984">
                  <c:v>27.795825</c:v>
                </c:pt>
                <c:pt idx="985">
                  <c:v>27.88387</c:v>
                </c:pt>
                <c:pt idx="986">
                  <c:v>28.013529</c:v>
                </c:pt>
                <c:pt idx="987">
                  <c:v>28.022085</c:v>
                </c:pt>
                <c:pt idx="988">
                  <c:v>28.060414</c:v>
                </c:pt>
                <c:pt idx="989">
                  <c:v>28.103495</c:v>
                </c:pt>
                <c:pt idx="990">
                  <c:v>28.107225</c:v>
                </c:pt>
                <c:pt idx="991">
                  <c:v>28.21657</c:v>
                </c:pt>
                <c:pt idx="992">
                  <c:v>28.279632</c:v>
                </c:pt>
                <c:pt idx="993">
                  <c:v>28.415006</c:v>
                </c:pt>
                <c:pt idx="994">
                  <c:v>28.474838</c:v>
                </c:pt>
                <c:pt idx="995">
                  <c:v>28.501257</c:v>
                </c:pt>
                <c:pt idx="996">
                  <c:v>28.502871</c:v>
                </c:pt>
                <c:pt idx="997">
                  <c:v>28.505321</c:v>
                </c:pt>
                <c:pt idx="998">
                  <c:v>28.59984</c:v>
                </c:pt>
                <c:pt idx="999">
                  <c:v>28.617378</c:v>
                </c:pt>
                <c:pt idx="1000">
                  <c:v>28.641969</c:v>
                </c:pt>
                <c:pt idx="1001">
                  <c:v>28.642241</c:v>
                </c:pt>
                <c:pt idx="1002">
                  <c:v>28.664439</c:v>
                </c:pt>
                <c:pt idx="1003">
                  <c:v>28.677086</c:v>
                </c:pt>
                <c:pt idx="1004">
                  <c:v>28.698909</c:v>
                </c:pt>
                <c:pt idx="1005">
                  <c:v>28.775012</c:v>
                </c:pt>
                <c:pt idx="1006">
                  <c:v>28.821046</c:v>
                </c:pt>
                <c:pt idx="1007">
                  <c:v>28.989422</c:v>
                </c:pt>
                <c:pt idx="1008">
                  <c:v>28.999558</c:v>
                </c:pt>
                <c:pt idx="1009">
                  <c:v>29.122589</c:v>
                </c:pt>
                <c:pt idx="1010">
                  <c:v>29.150499</c:v>
                </c:pt>
                <c:pt idx="1011">
                  <c:v>29.213602</c:v>
                </c:pt>
                <c:pt idx="1012">
                  <c:v>29.289402</c:v>
                </c:pt>
                <c:pt idx="1013">
                  <c:v>29.427409</c:v>
                </c:pt>
                <c:pt idx="1014">
                  <c:v>29.44726</c:v>
                </c:pt>
                <c:pt idx="1015">
                  <c:v>29.44731</c:v>
                </c:pt>
                <c:pt idx="1016">
                  <c:v>29.608621</c:v>
                </c:pt>
                <c:pt idx="1017">
                  <c:v>29.694118</c:v>
                </c:pt>
                <c:pt idx="1018">
                  <c:v>29.699004</c:v>
                </c:pt>
                <c:pt idx="1019">
                  <c:v>29.720618</c:v>
                </c:pt>
                <c:pt idx="1020">
                  <c:v>29.739448</c:v>
                </c:pt>
                <c:pt idx="1021">
                  <c:v>29.838948</c:v>
                </c:pt>
                <c:pt idx="1022">
                  <c:v>29.861005</c:v>
                </c:pt>
                <c:pt idx="1023">
                  <c:v>29.957839</c:v>
                </c:pt>
                <c:pt idx="1024">
                  <c:v>29.994065</c:v>
                </c:pt>
                <c:pt idx="1025">
                  <c:v>30.00321</c:v>
                </c:pt>
                <c:pt idx="1026">
                  <c:v>30.066918</c:v>
                </c:pt>
                <c:pt idx="1027">
                  <c:v>30.083179</c:v>
                </c:pt>
                <c:pt idx="1028">
                  <c:v>30.097743</c:v>
                </c:pt>
                <c:pt idx="1029">
                  <c:v>30.126904</c:v>
                </c:pt>
                <c:pt idx="1030">
                  <c:v>30.158637</c:v>
                </c:pt>
                <c:pt idx="1031">
                  <c:v>30.161152</c:v>
                </c:pt>
                <c:pt idx="1032">
                  <c:v>30.172066</c:v>
                </c:pt>
                <c:pt idx="1033">
                  <c:v>30.214203</c:v>
                </c:pt>
                <c:pt idx="1034">
                  <c:v>30.339946</c:v>
                </c:pt>
                <c:pt idx="1035">
                  <c:v>30.47801</c:v>
                </c:pt>
                <c:pt idx="1036">
                  <c:v>30.54907</c:v>
                </c:pt>
                <c:pt idx="1037">
                  <c:v>30.562619</c:v>
                </c:pt>
                <c:pt idx="1038">
                  <c:v>30.603225</c:v>
                </c:pt>
                <c:pt idx="1039">
                  <c:v>30.702743</c:v>
                </c:pt>
                <c:pt idx="1040">
                  <c:v>30.709188</c:v>
                </c:pt>
                <c:pt idx="1041">
                  <c:v>30.723652</c:v>
                </c:pt>
                <c:pt idx="1042">
                  <c:v>30.740659</c:v>
                </c:pt>
                <c:pt idx="1043">
                  <c:v>30.777381</c:v>
                </c:pt>
                <c:pt idx="1044">
                  <c:v>30.99321</c:v>
                </c:pt>
                <c:pt idx="1045">
                  <c:v>31.007274</c:v>
                </c:pt>
                <c:pt idx="1046">
                  <c:v>31.007404</c:v>
                </c:pt>
                <c:pt idx="1047">
                  <c:v>31.05342</c:v>
                </c:pt>
                <c:pt idx="1048">
                  <c:v>31.065498</c:v>
                </c:pt>
                <c:pt idx="1049">
                  <c:v>31.070312</c:v>
                </c:pt>
                <c:pt idx="1050">
                  <c:v>31.103638</c:v>
                </c:pt>
                <c:pt idx="1051">
                  <c:v>31.421296</c:v>
                </c:pt>
                <c:pt idx="1052">
                  <c:v>31.472323</c:v>
                </c:pt>
                <c:pt idx="1053">
                  <c:v>31.496203</c:v>
                </c:pt>
                <c:pt idx="1054">
                  <c:v>31.565282</c:v>
                </c:pt>
                <c:pt idx="1055">
                  <c:v>31.652401</c:v>
                </c:pt>
                <c:pt idx="1056">
                  <c:v>31.668256</c:v>
                </c:pt>
                <c:pt idx="1057">
                  <c:v>31.698078</c:v>
                </c:pt>
                <c:pt idx="1058">
                  <c:v>31.721069</c:v>
                </c:pt>
                <c:pt idx="1059">
                  <c:v>31.729779</c:v>
                </c:pt>
                <c:pt idx="1060">
                  <c:v>31.738425</c:v>
                </c:pt>
                <c:pt idx="1061">
                  <c:v>31.791635</c:v>
                </c:pt>
                <c:pt idx="1062">
                  <c:v>32.005716</c:v>
                </c:pt>
                <c:pt idx="1063">
                  <c:v>32.054434</c:v>
                </c:pt>
                <c:pt idx="1064">
                  <c:v>32.104779</c:v>
                </c:pt>
                <c:pt idx="1065">
                  <c:v>32.145078</c:v>
                </c:pt>
                <c:pt idx="1066">
                  <c:v>32.309837</c:v>
                </c:pt>
                <c:pt idx="1067">
                  <c:v>32.323465</c:v>
                </c:pt>
                <c:pt idx="1068">
                  <c:v>32.42149</c:v>
                </c:pt>
                <c:pt idx="1069">
                  <c:v>32.524802</c:v>
                </c:pt>
                <c:pt idx="1070">
                  <c:v>32.604147</c:v>
                </c:pt>
                <c:pt idx="1071">
                  <c:v>32.647822</c:v>
                </c:pt>
                <c:pt idx="1072">
                  <c:v>32.694758</c:v>
                </c:pt>
                <c:pt idx="1073">
                  <c:v>32.718941</c:v>
                </c:pt>
                <c:pt idx="1074">
                  <c:v>32.738686</c:v>
                </c:pt>
                <c:pt idx="1075">
                  <c:v>32.821558</c:v>
                </c:pt>
                <c:pt idx="1076">
                  <c:v>32.860624</c:v>
                </c:pt>
                <c:pt idx="1077">
                  <c:v>33.011828</c:v>
                </c:pt>
                <c:pt idx="1078">
                  <c:v>33.254792</c:v>
                </c:pt>
                <c:pt idx="1079">
                  <c:v>33.266007</c:v>
                </c:pt>
                <c:pt idx="1080">
                  <c:v>33.543027</c:v>
                </c:pt>
                <c:pt idx="1081">
                  <c:v>33.571052</c:v>
                </c:pt>
                <c:pt idx="1082">
                  <c:v>33.626742</c:v>
                </c:pt>
                <c:pt idx="1083">
                  <c:v>33.702581</c:v>
                </c:pt>
                <c:pt idx="1084">
                  <c:v>33.714681</c:v>
                </c:pt>
                <c:pt idx="1085">
                  <c:v>33.718946</c:v>
                </c:pt>
                <c:pt idx="1086">
                  <c:v>33.827755</c:v>
                </c:pt>
                <c:pt idx="1087">
                  <c:v>33.834071</c:v>
                </c:pt>
                <c:pt idx="1088">
                  <c:v>33.924292</c:v>
                </c:pt>
                <c:pt idx="1089">
                  <c:v>33.934979</c:v>
                </c:pt>
                <c:pt idx="1090">
                  <c:v>33.963298</c:v>
                </c:pt>
                <c:pt idx="1091">
                  <c:v>34.048422</c:v>
                </c:pt>
                <c:pt idx="1092">
                  <c:v>34.130407</c:v>
                </c:pt>
                <c:pt idx="1093">
                  <c:v>34.225103</c:v>
                </c:pt>
                <c:pt idx="1094">
                  <c:v>34.263431</c:v>
                </c:pt>
                <c:pt idx="1095">
                  <c:v>34.345805</c:v>
                </c:pt>
                <c:pt idx="1096">
                  <c:v>34.366292</c:v>
                </c:pt>
                <c:pt idx="1097">
                  <c:v>34.601135</c:v>
                </c:pt>
                <c:pt idx="1098">
                  <c:v>34.610317</c:v>
                </c:pt>
                <c:pt idx="1099">
                  <c:v>34.622856</c:v>
                </c:pt>
                <c:pt idx="1100">
                  <c:v>34.706893</c:v>
                </c:pt>
                <c:pt idx="1101">
                  <c:v>34.707506</c:v>
                </c:pt>
                <c:pt idx="1102">
                  <c:v>34.768033</c:v>
                </c:pt>
                <c:pt idx="1103">
                  <c:v>34.984209</c:v>
                </c:pt>
                <c:pt idx="1104">
                  <c:v>35.002671</c:v>
                </c:pt>
                <c:pt idx="1105">
                  <c:v>35.059258</c:v>
                </c:pt>
                <c:pt idx="1106">
                  <c:v>35.090622</c:v>
                </c:pt>
                <c:pt idx="1107">
                  <c:v>35.144216</c:v>
                </c:pt>
                <c:pt idx="1108">
                  <c:v>35.146915</c:v>
                </c:pt>
                <c:pt idx="1109">
                  <c:v>35.349341</c:v>
                </c:pt>
                <c:pt idx="1110">
                  <c:v>35.417494</c:v>
                </c:pt>
                <c:pt idx="1111">
                  <c:v>35.423498</c:v>
                </c:pt>
                <c:pt idx="1112">
                  <c:v>35.633709</c:v>
                </c:pt>
                <c:pt idx="1113">
                  <c:v>35.800483</c:v>
                </c:pt>
                <c:pt idx="1114">
                  <c:v>35.802011</c:v>
                </c:pt>
                <c:pt idx="1115">
                  <c:v>35.899049</c:v>
                </c:pt>
                <c:pt idx="1116">
                  <c:v>35.918733</c:v>
                </c:pt>
                <c:pt idx="1117">
                  <c:v>36.041644</c:v>
                </c:pt>
                <c:pt idx="1118">
                  <c:v>36.169134</c:v>
                </c:pt>
                <c:pt idx="1119">
                  <c:v>36.197426</c:v>
                </c:pt>
                <c:pt idx="1120">
                  <c:v>36.200762</c:v>
                </c:pt>
                <c:pt idx="1121">
                  <c:v>36.206949</c:v>
                </c:pt>
                <c:pt idx="1122">
                  <c:v>36.304164</c:v>
                </c:pt>
                <c:pt idx="1123">
                  <c:v>36.314927</c:v>
                </c:pt>
                <c:pt idx="1124">
                  <c:v>36.386824</c:v>
                </c:pt>
                <c:pt idx="1125">
                  <c:v>36.402142</c:v>
                </c:pt>
                <c:pt idx="1126">
                  <c:v>36.451608</c:v>
                </c:pt>
                <c:pt idx="1127">
                  <c:v>36.582051</c:v>
                </c:pt>
                <c:pt idx="1128">
                  <c:v>36.618438</c:v>
                </c:pt>
                <c:pt idx="1129">
                  <c:v>36.652345</c:v>
                </c:pt>
                <c:pt idx="1130">
                  <c:v>36.694545</c:v>
                </c:pt>
                <c:pt idx="1131">
                  <c:v>36.878937</c:v>
                </c:pt>
                <c:pt idx="1132">
                  <c:v>36.914856</c:v>
                </c:pt>
                <c:pt idx="1133">
                  <c:v>36.988007</c:v>
                </c:pt>
                <c:pt idx="1134">
                  <c:v>37.034164</c:v>
                </c:pt>
                <c:pt idx="1135">
                  <c:v>37.17089</c:v>
                </c:pt>
                <c:pt idx="1136">
                  <c:v>37.196732</c:v>
                </c:pt>
                <c:pt idx="1137">
                  <c:v>37.199585</c:v>
                </c:pt>
                <c:pt idx="1138">
                  <c:v>37.200766</c:v>
                </c:pt>
                <c:pt idx="1139">
                  <c:v>37.227347</c:v>
                </c:pt>
                <c:pt idx="1140">
                  <c:v>37.304543</c:v>
                </c:pt>
                <c:pt idx="1141">
                  <c:v>37.450198</c:v>
                </c:pt>
                <c:pt idx="1142">
                  <c:v>37.554315</c:v>
                </c:pt>
                <c:pt idx="1143">
                  <c:v>37.704875</c:v>
                </c:pt>
                <c:pt idx="1144">
                  <c:v>37.79041</c:v>
                </c:pt>
                <c:pt idx="1145">
                  <c:v>37.835529</c:v>
                </c:pt>
                <c:pt idx="1146">
                  <c:v>37.875939</c:v>
                </c:pt>
                <c:pt idx="1147">
                  <c:v>37.925265</c:v>
                </c:pt>
                <c:pt idx="1148">
                  <c:v>38.000066</c:v>
                </c:pt>
                <c:pt idx="1149">
                  <c:v>38.047331</c:v>
                </c:pt>
                <c:pt idx="1150">
                  <c:v>38.06528</c:v>
                </c:pt>
                <c:pt idx="1151">
                  <c:v>38.083976</c:v>
                </c:pt>
                <c:pt idx="1152">
                  <c:v>38.348726</c:v>
                </c:pt>
                <c:pt idx="1153">
                  <c:v>38.389408</c:v>
                </c:pt>
                <c:pt idx="1154">
                  <c:v>38.547234</c:v>
                </c:pt>
                <c:pt idx="1155">
                  <c:v>38.599636</c:v>
                </c:pt>
                <c:pt idx="1156">
                  <c:v>38.697922</c:v>
                </c:pt>
                <c:pt idx="1157">
                  <c:v>38.919924</c:v>
                </c:pt>
                <c:pt idx="1158">
                  <c:v>38.929377</c:v>
                </c:pt>
                <c:pt idx="1159">
                  <c:v>39.074027</c:v>
                </c:pt>
                <c:pt idx="1160">
                  <c:v>39.42298</c:v>
                </c:pt>
                <c:pt idx="1161">
                  <c:v>39.502906</c:v>
                </c:pt>
                <c:pt idx="1162">
                  <c:v>39.532715</c:v>
                </c:pt>
                <c:pt idx="1163">
                  <c:v>39.581365</c:v>
                </c:pt>
                <c:pt idx="1164">
                  <c:v>39.664956</c:v>
                </c:pt>
                <c:pt idx="1165">
                  <c:v>39.678757</c:v>
                </c:pt>
                <c:pt idx="1166">
                  <c:v>40.034661</c:v>
                </c:pt>
                <c:pt idx="1167">
                  <c:v>40.102751</c:v>
                </c:pt>
                <c:pt idx="1168">
                  <c:v>40.224865</c:v>
                </c:pt>
                <c:pt idx="1169">
                  <c:v>40.286162</c:v>
                </c:pt>
                <c:pt idx="1170">
                  <c:v>40.362396</c:v>
                </c:pt>
                <c:pt idx="1171">
                  <c:v>40.380844</c:v>
                </c:pt>
                <c:pt idx="1172">
                  <c:v>40.420651</c:v>
                </c:pt>
                <c:pt idx="1173">
                  <c:v>40.456329</c:v>
                </c:pt>
                <c:pt idx="1174">
                  <c:v>40.688649</c:v>
                </c:pt>
                <c:pt idx="1175">
                  <c:v>40.803783</c:v>
                </c:pt>
                <c:pt idx="1176">
                  <c:v>40.816909</c:v>
                </c:pt>
                <c:pt idx="1177">
                  <c:v>41.00423</c:v>
                </c:pt>
                <c:pt idx="1178">
                  <c:v>41.097423</c:v>
                </c:pt>
                <c:pt idx="1179">
                  <c:v>41.10642</c:v>
                </c:pt>
                <c:pt idx="1180">
                  <c:v>41.117465</c:v>
                </c:pt>
                <c:pt idx="1181">
                  <c:v>41.155544</c:v>
                </c:pt>
                <c:pt idx="1182">
                  <c:v>41.208874</c:v>
                </c:pt>
                <c:pt idx="1183">
                  <c:v>41.268792</c:v>
                </c:pt>
                <c:pt idx="1184">
                  <c:v>41.378885</c:v>
                </c:pt>
                <c:pt idx="1185">
                  <c:v>41.516276</c:v>
                </c:pt>
                <c:pt idx="1186">
                  <c:v>41.630268</c:v>
                </c:pt>
                <c:pt idx="1187">
                  <c:v>41.722949</c:v>
                </c:pt>
                <c:pt idx="1188">
                  <c:v>41.746543</c:v>
                </c:pt>
                <c:pt idx="1189">
                  <c:v>41.767179</c:v>
                </c:pt>
                <c:pt idx="1190">
                  <c:v>41.868078</c:v>
                </c:pt>
                <c:pt idx="1191">
                  <c:v>41.952492</c:v>
                </c:pt>
                <c:pt idx="1192">
                  <c:v>42.403865</c:v>
                </c:pt>
                <c:pt idx="1193">
                  <c:v>42.430029</c:v>
                </c:pt>
                <c:pt idx="1194">
                  <c:v>42.586569</c:v>
                </c:pt>
                <c:pt idx="1195">
                  <c:v>42.614933</c:v>
                </c:pt>
                <c:pt idx="1196">
                  <c:v>42.845781</c:v>
                </c:pt>
                <c:pt idx="1197">
                  <c:v>42.986682</c:v>
                </c:pt>
                <c:pt idx="1198">
                  <c:v>43.272283</c:v>
                </c:pt>
                <c:pt idx="1199">
                  <c:v>43.333614</c:v>
                </c:pt>
                <c:pt idx="1200">
                  <c:v>43.387799</c:v>
                </c:pt>
                <c:pt idx="1201">
                  <c:v>43.446271</c:v>
                </c:pt>
                <c:pt idx="1202">
                  <c:v>43.478359</c:v>
                </c:pt>
                <c:pt idx="1203">
                  <c:v>43.57677</c:v>
                </c:pt>
                <c:pt idx="1204">
                  <c:v>43.927987</c:v>
                </c:pt>
                <c:pt idx="1205">
                  <c:v>43.940703</c:v>
                </c:pt>
                <c:pt idx="1206">
                  <c:v>43.980713</c:v>
                </c:pt>
                <c:pt idx="1207">
                  <c:v>43.988217</c:v>
                </c:pt>
                <c:pt idx="1208">
                  <c:v>44.074843</c:v>
                </c:pt>
                <c:pt idx="1209">
                  <c:v>44.270522</c:v>
                </c:pt>
                <c:pt idx="1210">
                  <c:v>44.604289</c:v>
                </c:pt>
                <c:pt idx="1211">
                  <c:v>44.714218</c:v>
                </c:pt>
                <c:pt idx="1212">
                  <c:v>44.725378</c:v>
                </c:pt>
                <c:pt idx="1213">
                  <c:v>44.826676</c:v>
                </c:pt>
                <c:pt idx="1214">
                  <c:v>44.835839</c:v>
                </c:pt>
                <c:pt idx="1215">
                  <c:v>44.881801</c:v>
                </c:pt>
                <c:pt idx="1216">
                  <c:v>44.925124</c:v>
                </c:pt>
                <c:pt idx="1217">
                  <c:v>45.069636</c:v>
                </c:pt>
                <c:pt idx="1218">
                  <c:v>45.087304</c:v>
                </c:pt>
                <c:pt idx="1219">
                  <c:v>45.097308</c:v>
                </c:pt>
                <c:pt idx="1220">
                  <c:v>45.112175</c:v>
                </c:pt>
                <c:pt idx="1221">
                  <c:v>45.148384</c:v>
                </c:pt>
                <c:pt idx="1222">
                  <c:v>45.504557</c:v>
                </c:pt>
                <c:pt idx="1223">
                  <c:v>45.721101</c:v>
                </c:pt>
                <c:pt idx="1224">
                  <c:v>45.754518</c:v>
                </c:pt>
                <c:pt idx="1225">
                  <c:v>45.819705</c:v>
                </c:pt>
                <c:pt idx="1226">
                  <c:v>45.852261</c:v>
                </c:pt>
                <c:pt idx="1227">
                  <c:v>45.963354</c:v>
                </c:pt>
                <c:pt idx="1228">
                  <c:v>46.046571</c:v>
                </c:pt>
                <c:pt idx="1229">
                  <c:v>46.275921</c:v>
                </c:pt>
                <c:pt idx="1230">
                  <c:v>46.51527</c:v>
                </c:pt>
                <c:pt idx="1231">
                  <c:v>46.762451</c:v>
                </c:pt>
                <c:pt idx="1232">
                  <c:v>46.887415</c:v>
                </c:pt>
                <c:pt idx="1233">
                  <c:v>46.948374</c:v>
                </c:pt>
                <c:pt idx="1234">
                  <c:v>47.013037</c:v>
                </c:pt>
                <c:pt idx="1235">
                  <c:v>47.109066</c:v>
                </c:pt>
                <c:pt idx="1236">
                  <c:v>47.139168</c:v>
                </c:pt>
                <c:pt idx="1237">
                  <c:v>47.274515</c:v>
                </c:pt>
                <c:pt idx="1238">
                  <c:v>47.388052</c:v>
                </c:pt>
                <c:pt idx="1239">
                  <c:v>47.517704</c:v>
                </c:pt>
                <c:pt idx="1240">
                  <c:v>47.528915</c:v>
                </c:pt>
                <c:pt idx="1241">
                  <c:v>47.657363</c:v>
                </c:pt>
                <c:pt idx="1242">
                  <c:v>47.769003</c:v>
                </c:pt>
                <c:pt idx="1243">
                  <c:v>47.961038</c:v>
                </c:pt>
                <c:pt idx="1244">
                  <c:v>47.966548</c:v>
                </c:pt>
                <c:pt idx="1245">
                  <c:v>48.091029</c:v>
                </c:pt>
                <c:pt idx="1246">
                  <c:v>48.152759</c:v>
                </c:pt>
                <c:pt idx="1247">
                  <c:v>48.286771</c:v>
                </c:pt>
                <c:pt idx="1248">
                  <c:v>48.421016</c:v>
                </c:pt>
                <c:pt idx="1249">
                  <c:v>48.618609</c:v>
                </c:pt>
                <c:pt idx="1250">
                  <c:v>48.637427</c:v>
                </c:pt>
                <c:pt idx="1251">
                  <c:v>48.929024</c:v>
                </c:pt>
                <c:pt idx="1252">
                  <c:v>49.180384</c:v>
                </c:pt>
                <c:pt idx="1253">
                  <c:v>49.726297</c:v>
                </c:pt>
                <c:pt idx="1254">
                  <c:v>49.73903</c:v>
                </c:pt>
                <c:pt idx="1255">
                  <c:v>49.819157</c:v>
                </c:pt>
                <c:pt idx="1256">
                  <c:v>50.066007</c:v>
                </c:pt>
                <c:pt idx="1257">
                  <c:v>50.215785</c:v>
                </c:pt>
                <c:pt idx="1258">
                  <c:v>50.321559</c:v>
                </c:pt>
                <c:pt idx="1259">
                  <c:v>50.416989</c:v>
                </c:pt>
                <c:pt idx="1260">
                  <c:v>50.606773</c:v>
                </c:pt>
                <c:pt idx="1261">
                  <c:v>50.643543</c:v>
                </c:pt>
                <c:pt idx="1262">
                  <c:v>50.810566</c:v>
                </c:pt>
                <c:pt idx="1263">
                  <c:v>51.278742</c:v>
                </c:pt>
                <c:pt idx="1264">
                  <c:v>51.426876</c:v>
                </c:pt>
                <c:pt idx="1265">
                  <c:v>51.522833</c:v>
                </c:pt>
                <c:pt idx="1266">
                  <c:v>51.640948</c:v>
                </c:pt>
                <c:pt idx="1267">
                  <c:v>51.743231</c:v>
                </c:pt>
                <c:pt idx="1268">
                  <c:v>51.930468</c:v>
                </c:pt>
                <c:pt idx="1269">
                  <c:v>52.033368</c:v>
                </c:pt>
                <c:pt idx="1270">
                  <c:v>52.249417</c:v>
                </c:pt>
                <c:pt idx="1271">
                  <c:v>52.549872</c:v>
                </c:pt>
                <c:pt idx="1272">
                  <c:v>52.733055</c:v>
                </c:pt>
                <c:pt idx="1273">
                  <c:v>52.981258</c:v>
                </c:pt>
                <c:pt idx="1274">
                  <c:v>53.021104</c:v>
                </c:pt>
                <c:pt idx="1275">
                  <c:v>53.303568</c:v>
                </c:pt>
                <c:pt idx="1276">
                  <c:v>53.432743</c:v>
                </c:pt>
                <c:pt idx="1277">
                  <c:v>53.637059</c:v>
                </c:pt>
                <c:pt idx="1278">
                  <c:v>53.874961</c:v>
                </c:pt>
                <c:pt idx="1279">
                  <c:v>53.953105</c:v>
                </c:pt>
                <c:pt idx="1280">
                  <c:v>54.346132</c:v>
                </c:pt>
                <c:pt idx="1281">
                  <c:v>54.736022</c:v>
                </c:pt>
                <c:pt idx="1282">
                  <c:v>54.803434</c:v>
                </c:pt>
                <c:pt idx="1283">
                  <c:v>55.509671</c:v>
                </c:pt>
                <c:pt idx="1284">
                  <c:v>55.621787</c:v>
                </c:pt>
                <c:pt idx="1285">
                  <c:v>55.654852</c:v>
                </c:pt>
                <c:pt idx="1286">
                  <c:v>55.737577</c:v>
                </c:pt>
                <c:pt idx="1287">
                  <c:v>55.743809</c:v>
                </c:pt>
                <c:pt idx="1288">
                  <c:v>56.043956</c:v>
                </c:pt>
                <c:pt idx="1289">
                  <c:v>56.345733</c:v>
                </c:pt>
                <c:pt idx="1290">
                  <c:v>56.522499</c:v>
                </c:pt>
                <c:pt idx="1291">
                  <c:v>56.662172</c:v>
                </c:pt>
                <c:pt idx="1292">
                  <c:v>56.762624</c:v>
                </c:pt>
                <c:pt idx="1293">
                  <c:v>56.959139</c:v>
                </c:pt>
                <c:pt idx="1294">
                  <c:v>57.10291</c:v>
                </c:pt>
                <c:pt idx="1295">
                  <c:v>57.130965</c:v>
                </c:pt>
                <c:pt idx="1296">
                  <c:v>57.750645</c:v>
                </c:pt>
                <c:pt idx="1297">
                  <c:v>58.321199</c:v>
                </c:pt>
                <c:pt idx="1298">
                  <c:v>58.322616</c:v>
                </c:pt>
                <c:pt idx="1299">
                  <c:v>58.347696</c:v>
                </c:pt>
                <c:pt idx="1300">
                  <c:v>58.438845</c:v>
                </c:pt>
                <c:pt idx="1301">
                  <c:v>58.527645</c:v>
                </c:pt>
                <c:pt idx="1302">
                  <c:v>58.845353</c:v>
                </c:pt>
                <c:pt idx="1303">
                  <c:v>59.113628</c:v>
                </c:pt>
                <c:pt idx="1304">
                  <c:v>59.12022</c:v>
                </c:pt>
                <c:pt idx="1305">
                  <c:v>59.342695</c:v>
                </c:pt>
                <c:pt idx="1306">
                  <c:v>59.781414</c:v>
                </c:pt>
                <c:pt idx="1307">
                  <c:v>60.035989</c:v>
                </c:pt>
                <c:pt idx="1308">
                  <c:v>60.564482</c:v>
                </c:pt>
                <c:pt idx="1309">
                  <c:v>61.198916</c:v>
                </c:pt>
                <c:pt idx="1310">
                  <c:v>61.212857</c:v>
                </c:pt>
                <c:pt idx="1311">
                  <c:v>61.625281</c:v>
                </c:pt>
                <c:pt idx="1312">
                  <c:v>62.017228</c:v>
                </c:pt>
                <c:pt idx="1313">
                  <c:v>62.09421</c:v>
                </c:pt>
                <c:pt idx="1314">
                  <c:v>62.422089</c:v>
                </c:pt>
                <c:pt idx="1315">
                  <c:v>62.576416</c:v>
                </c:pt>
                <c:pt idx="1316">
                  <c:v>62.860656</c:v>
                </c:pt>
                <c:pt idx="1317">
                  <c:v>62.973071</c:v>
                </c:pt>
                <c:pt idx="1318">
                  <c:v>63.098342</c:v>
                </c:pt>
                <c:pt idx="1319">
                  <c:v>63.778197</c:v>
                </c:pt>
                <c:pt idx="1320">
                  <c:v>65.068291</c:v>
                </c:pt>
                <c:pt idx="1321">
                  <c:v>65.720418</c:v>
                </c:pt>
                <c:pt idx="1322">
                  <c:v>66.18722</c:v>
                </c:pt>
                <c:pt idx="1323">
                  <c:v>66.917244</c:v>
                </c:pt>
                <c:pt idx="1324">
                  <c:v>67.565449</c:v>
                </c:pt>
                <c:pt idx="1325">
                  <c:v>67.829516</c:v>
                </c:pt>
                <c:pt idx="1326">
                  <c:v>67.940702</c:v>
                </c:pt>
                <c:pt idx="1327">
                  <c:v>68.208583</c:v>
                </c:pt>
                <c:pt idx="1328">
                  <c:v>69.238621</c:v>
                </c:pt>
                <c:pt idx="1329">
                  <c:v>69.33493</c:v>
                </c:pt>
                <c:pt idx="1330">
                  <c:v>69.365661</c:v>
                </c:pt>
                <c:pt idx="1331">
                  <c:v>70.185575</c:v>
                </c:pt>
                <c:pt idx="1332">
                  <c:v>70.385486</c:v>
                </c:pt>
                <c:pt idx="1333">
                  <c:v>70.472578</c:v>
                </c:pt>
                <c:pt idx="1334">
                  <c:v>70.855458</c:v>
                </c:pt>
                <c:pt idx="1335">
                  <c:v>71.164659</c:v>
                </c:pt>
                <c:pt idx="1336">
                  <c:v>71.75699</c:v>
                </c:pt>
                <c:pt idx="1337">
                  <c:v>71.808053</c:v>
                </c:pt>
                <c:pt idx="1338">
                  <c:v>71.94092</c:v>
                </c:pt>
                <c:pt idx="1339">
                  <c:v>72.257103</c:v>
                </c:pt>
                <c:pt idx="1340">
                  <c:v>72.644921</c:v>
                </c:pt>
                <c:pt idx="1341">
                  <c:v>72.667543</c:v>
                </c:pt>
                <c:pt idx="1342">
                  <c:v>73.162659</c:v>
                </c:pt>
                <c:pt idx="1343">
                  <c:v>73.358466</c:v>
                </c:pt>
                <c:pt idx="1344">
                  <c:v>75.154396</c:v>
                </c:pt>
                <c:pt idx="1345">
                  <c:v>75.334363</c:v>
                </c:pt>
                <c:pt idx="1346">
                  <c:v>76.208328</c:v>
                </c:pt>
                <c:pt idx="1347">
                  <c:v>76.911611</c:v>
                </c:pt>
                <c:pt idx="1348">
                  <c:v>77.713411</c:v>
                </c:pt>
                <c:pt idx="1349">
                  <c:v>77.897362</c:v>
                </c:pt>
                <c:pt idx="1350">
                  <c:v>78.012193</c:v>
                </c:pt>
                <c:pt idx="1351">
                  <c:v>78.22776</c:v>
                </c:pt>
                <c:pt idx="1352">
                  <c:v>78.342928</c:v>
                </c:pt>
                <c:pt idx="1353">
                  <c:v>79.093138</c:v>
                </c:pt>
                <c:pt idx="1354">
                  <c:v>79.53983</c:v>
                </c:pt>
                <c:pt idx="1355">
                  <c:v>79.919075</c:v>
                </c:pt>
                <c:pt idx="1356">
                  <c:v>80.375108</c:v>
                </c:pt>
                <c:pt idx="1357">
                  <c:v>80.603132</c:v>
                </c:pt>
                <c:pt idx="1358">
                  <c:v>80.918398</c:v>
                </c:pt>
                <c:pt idx="1359">
                  <c:v>81.658797</c:v>
                </c:pt>
                <c:pt idx="1360">
                  <c:v>82.395272</c:v>
                </c:pt>
                <c:pt idx="1361">
                  <c:v>82.412928</c:v>
                </c:pt>
                <c:pt idx="1362">
                  <c:v>82.587649</c:v>
                </c:pt>
                <c:pt idx="1363">
                  <c:v>86.647641</c:v>
                </c:pt>
                <c:pt idx="1364">
                  <c:v>87.120468</c:v>
                </c:pt>
                <c:pt idx="1365">
                  <c:v>88.439628</c:v>
                </c:pt>
                <c:pt idx="1366">
                  <c:v>89.033761</c:v>
                </c:pt>
                <c:pt idx="1367">
                  <c:v>89.690795</c:v>
                </c:pt>
                <c:pt idx="1368">
                  <c:v>91.269406</c:v>
                </c:pt>
                <c:pt idx="1369">
                  <c:v>91.766447</c:v>
                </c:pt>
                <c:pt idx="1370">
                  <c:v>92.130102</c:v>
                </c:pt>
                <c:pt idx="1371">
                  <c:v>92.528915</c:v>
                </c:pt>
                <c:pt idx="1372">
                  <c:v>93.793507</c:v>
                </c:pt>
                <c:pt idx="1373">
                  <c:v>97.557322</c:v>
                </c:pt>
                <c:pt idx="1374">
                  <c:v>100.469976</c:v>
                </c:pt>
                <c:pt idx="1375">
                  <c:v>102.047971</c:v>
                </c:pt>
                <c:pt idx="1376">
                  <c:v>108.828202</c:v>
                </c:pt>
                <c:pt idx="1377">
                  <c:v>111.547853</c:v>
                </c:pt>
                <c:pt idx="1378">
                  <c:v>121.616428</c:v>
                </c:pt>
                <c:pt idx="1379">
                  <c:v>127.181399</c:v>
                </c:pt>
                <c:pt idx="1380">
                  <c:v>134.15469</c:v>
                </c:pt>
                <c:pt idx="1381">
                  <c:v>143.516494</c:v>
                </c:pt>
                <c:pt idx="1382">
                  <c:v>144.22146</c:v>
                </c:pt>
              </c:numCache>
            </c:numRef>
          </c:yVal>
        </c:ser>
        <c:ser>
          <c:idx val="1"/>
          <c:order val="1"/>
          <c:tx>
            <c:v>Oberhalb der Schwelle</c:v>
          </c:tx>
          <c:spPr>
            <a:ln xmlns:a="http://schemas.openxmlformats.org/drawingml/2006/main" w="28575">
              <a:solidFill>
                <a:srgbClr val="B3261E"/>
              </a:solidFill>
              <a:prstDash val="solid"/>
            </a:ln>
          </c:spPr>
          <c:marker>
            <c:symbol val="none"/>
          </c:marker>
          <c:xVal>
            <c:numRef>
              <c:f>'Chart Data'!$C$2:$C$16</c:f>
              <c:numCache>
                <c:formatCode>General</c:formatCode>
                <c:ptCount val="15"/>
                <c:pt idx="0">
                  <c:v>98.997135</c:v>
                </c:pt>
                <c:pt idx="1">
                  <c:v>99.068768</c:v>
                </c:pt>
                <c:pt idx="2">
                  <c:v>99.140401</c:v>
                </c:pt>
                <c:pt idx="3">
                  <c:v>99.212034</c:v>
                </c:pt>
                <c:pt idx="4">
                  <c:v>99.283668</c:v>
                </c:pt>
                <c:pt idx="5">
                  <c:v>99.355301</c:v>
                </c:pt>
                <c:pt idx="6">
                  <c:v>99.426934</c:v>
                </c:pt>
                <c:pt idx="7">
                  <c:v>99.498567</c:v>
                </c:pt>
                <c:pt idx="8">
                  <c:v>99.570201</c:v>
                </c:pt>
                <c:pt idx="9">
                  <c:v>99.641834</c:v>
                </c:pt>
                <c:pt idx="10">
                  <c:v>99.713467</c:v>
                </c:pt>
                <c:pt idx="11">
                  <c:v>99.7851</c:v>
                </c:pt>
                <c:pt idx="12">
                  <c:v>99.856734</c:v>
                </c:pt>
                <c:pt idx="13">
                  <c:v>99.928367</c:v>
                </c:pt>
                <c:pt idx="14">
                  <c:v>100</c:v>
                </c:pt>
              </c:numCache>
            </c:numRef>
          </c:xVal>
          <c:yVal>
            <c:numRef>
              <c:f>'Chart Data'!$D$2:$D$16</c:f>
              <c:numCache>
                <c:formatCode>0</c:formatCode>
                <c:ptCount val="15"/>
                <c:pt idx="0">
                  <c:v>144.22146</c:v>
                </c:pt>
                <c:pt idx="1">
                  <c:v>147.552574</c:v>
                </c:pt>
                <c:pt idx="2">
                  <c:v>150.125268</c:v>
                </c:pt>
                <c:pt idx="3">
                  <c:v>151.639044</c:v>
                </c:pt>
                <c:pt idx="4">
                  <c:v>163.035531</c:v>
                </c:pt>
                <c:pt idx="5">
                  <c:v>170.278047</c:v>
                </c:pt>
                <c:pt idx="6">
                  <c:v>194.276935</c:v>
                </c:pt>
                <c:pt idx="7">
                  <c:v>196.152573</c:v>
                </c:pt>
                <c:pt idx="8">
                  <c:v>203.441668</c:v>
                </c:pt>
                <c:pt idx="9">
                  <c:v>216.302834</c:v>
                </c:pt>
                <c:pt idx="10">
                  <c:v>296.298351</c:v>
                </c:pt>
                <c:pt idx="11">
                  <c:v>319.815587</c:v>
                </c:pt>
                <c:pt idx="12">
                  <c:v>425.738501</c:v>
                </c:pt>
                <c:pt idx="13">
                  <c:v>460.610531</c:v>
                </c:pt>
                <c:pt idx="14">
                  <c:v>481.744893</c:v>
                </c:pt>
              </c:numCache>
            </c:numRef>
          </c:yVal>
        </c:ser>
        <c:ser>
          <c:idx val="2"/>
          <c:order val="2"/>
          <c:tx>
            <c:v>99-%-Schwelle</c:v>
          </c:tx>
          <c:spPr>
            <a:ln xmlns:a="http://schemas.openxmlformats.org/drawingml/2006/main" w="19050">
              <a:solidFill>
                <a:srgbClr val="A86505"/>
              </a:solidFill>
              <a:prstDash val="sysDot"/>
            </a:ln>
          </c:spPr>
          <c:marker>
            <c:symbol val="none"/>
          </c:marker>
          <c:xVal>
            <c:numRef>
              <c:f>'Chart Data'!$E$2:$E$3</c:f>
              <c:numCache>
                <c:formatCode>General</c:formatCode>
                <c:ptCount val="2"/>
                <c:pt idx="0">
                  <c:v>0</c:v>
                </c:pt>
                <c:pt idx="1">
                  <c:v>100</c:v>
                </c:pt>
              </c:numCache>
            </c:numRef>
          </c:xVal>
          <c:yVal>
            <c:numRef>
              <c:f>'Chart Data'!$F$2:$F$3</c:f>
              <c:numCache>
                <c:formatCode>0</c:formatCode>
                <c:ptCount val="2"/>
                <c:pt idx="0">
                  <c:v>144.354705</c:v>
                </c:pt>
                <c:pt idx="1">
                  <c:v>144.354705</c:v>
                </c:pt>
              </c:numCache>
            </c:numRef>
          </c:yVal>
        </c:ser>
        <c:axId val="48650112"/>
        <c:axId val="48672768"/>
      </c:scatterChart>
      <c:valAx>
        <c:axId val="48672768"/>
        <c:scaling>
          <c:orientation val="minMax"/>
          <c:max val="5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Absoluter Fehler (VLS-h)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majorUnit val="100"/>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Perzentil der Kalibrierungsfehler</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quot; %&quot;"/>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majorUnit val="2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de-DE"/>
  <c:chart>
    <c:plotArea>
      <c:barChart>
        <c:barDir val="col"/>
        <c:grouping val="clustered"/>
        <c:varyColors val="0"/>
        <c:ser>
          <c:idx val="0"/>
          <c:order val="0"/>
          <c:tx>
            <c:v>Prüfhinweise</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084878"/>
              </a:solidFill>
              <a:ln xmlns:a="http://schemas.openxmlformats.org/drawingml/2006/main" w="0">
                <a:noFill/>
              </a:ln>
            </c:spPr>
          </c:dPt>
          <c:dPt>
            <c:idx val="1"/>
            <c:invertIfNegative val="0"/>
            <c:spPr>
              <a:solidFill xmlns:a="http://schemas.openxmlformats.org/drawingml/2006/main">
                <a:srgbClr val="084878"/>
              </a:solidFill>
              <a:ln xmlns:a="http://schemas.openxmlformats.org/drawingml/2006/main" w="0">
                <a:noFill/>
              </a:ln>
            </c:spPr>
          </c:dPt>
          <c:dPt>
            <c:idx val="2"/>
            <c:invertIfNegative val="0"/>
            <c:spPr>
              <a:solidFill xmlns:a="http://schemas.openxmlformats.org/drawingml/2006/main">
                <a:srgbClr val="084878"/>
              </a:solidFill>
              <a:ln xmlns:a="http://schemas.openxmlformats.org/drawingml/2006/main" w="0">
                <a:noFill/>
              </a:ln>
            </c:spPr>
          </c:dPt>
          <c:dPt>
            <c:idx val="3"/>
            <c:invertIfNegative val="0"/>
            <c:spPr>
              <a:solidFill xmlns:a="http://schemas.openxmlformats.org/drawingml/2006/main">
                <a:srgbClr val="084878"/>
              </a:solidFill>
              <a:ln xmlns:a="http://schemas.openxmlformats.org/drawingml/2006/main" w="0">
                <a:noFill/>
              </a:ln>
            </c:spPr>
          </c:dPt>
          <c:dPt>
            <c:idx val="4"/>
            <c:invertIfNegative val="0"/>
            <c:spPr>
              <a:solidFill xmlns:a="http://schemas.openxmlformats.org/drawingml/2006/main">
                <a:srgbClr val="084878"/>
              </a:solidFill>
              <a:ln xmlns:a="http://schemas.openxmlformats.org/drawingml/2006/main" w="0">
                <a:noFill/>
              </a:ln>
            </c:spPr>
          </c:dPt>
          <c:dPt>
            <c:idx val="5"/>
            <c:invertIfNegative val="0"/>
            <c:spPr>
              <a:solidFill xmlns:a="http://schemas.openxmlformats.org/drawingml/2006/main">
                <a:srgbClr val="B3261E"/>
              </a:solidFill>
              <a:ln xmlns:a="http://schemas.openxmlformats.org/drawingml/2006/main" w="0">
                <a:noFill/>
              </a:ln>
            </c:spPr>
          </c:dPt>
          <c:dPt>
            <c:idx val="6"/>
            <c:invertIfNegative val="0"/>
            <c:spPr>
              <a:solidFill xmlns:a="http://schemas.openxmlformats.org/drawingml/2006/main">
                <a:srgbClr val="084878"/>
              </a:solidFill>
              <a:ln xmlns:a="http://schemas.openxmlformats.org/drawingml/2006/main" w="0">
                <a:noFill/>
              </a:ln>
            </c:spPr>
          </c:dPt>
          <c:dPt>
            <c:idx val="7"/>
            <c:invertIfNegative val="0"/>
            <c:spPr>
              <a:solidFill xmlns:a="http://schemas.openxmlformats.org/drawingml/2006/main">
                <a:srgbClr val="084878"/>
              </a:solidFill>
              <a:ln xmlns:a="http://schemas.openxmlformats.org/drawingml/2006/main" w="0">
                <a:noFill/>
              </a:ln>
            </c:spPr>
          </c:dPt>
          <c:dPt>
            <c:idx val="8"/>
            <c:invertIfNegative val="0"/>
            <c:spPr>
              <a:solidFill xmlns:a="http://schemas.openxmlformats.org/drawingml/2006/main">
                <a:srgbClr val="084878"/>
              </a:solidFill>
              <a:ln xmlns:a="http://schemas.openxmlformats.org/drawingml/2006/main" w="0">
                <a:noFill/>
              </a:ln>
            </c:spPr>
          </c:dPt>
          <c:dPt>
            <c:idx val="9"/>
            <c:invertIfNegative val="0"/>
            <c:spPr>
              <a:solidFill xmlns:a="http://schemas.openxmlformats.org/drawingml/2006/main">
                <a:srgbClr val="084878"/>
              </a:solidFill>
              <a:ln xmlns:a="http://schemas.openxmlformats.org/drawingml/2006/main" w="0">
                <a:noFill/>
              </a:ln>
            </c:spPr>
          </c:dPt>
          <c:dPt>
            <c:idx val="10"/>
            <c:invertIfNegative val="0"/>
            <c:spPr>
              <a:solidFill xmlns:a="http://schemas.openxmlformats.org/drawingml/2006/main">
                <a:srgbClr val="084878"/>
              </a:solidFill>
              <a:ln xmlns:a="http://schemas.openxmlformats.org/drawingml/2006/main" w="0">
                <a:noFill/>
              </a:ln>
            </c:spPr>
          </c:dPt>
          <c:dPt>
            <c:idx val="11"/>
            <c:invertIfNegative val="0"/>
            <c:spPr>
              <a:solidFill xmlns:a="http://schemas.openxmlformats.org/drawingml/2006/main">
                <a:srgbClr val="084878"/>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7</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11</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5"/>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16</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6"/>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6</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7"/>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8"/>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9"/>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4</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Data'!$A$2:$A$13</c:f>
              <c:strCache>
                <c:ptCount val="12"/>
                <c:pt idx="0">
                  <c:v>Jan</c:v>
                </c:pt>
                <c:pt idx="1">
                  <c:v>Feb</c:v>
                </c:pt>
                <c:pt idx="2">
                  <c:v>Mär</c:v>
                </c:pt>
                <c:pt idx="3">
                  <c:v>Apr</c:v>
                </c:pt>
                <c:pt idx="4">
                  <c:v>Mai</c:v>
                </c:pt>
                <c:pt idx="5">
                  <c:v>Jun</c:v>
                </c:pt>
                <c:pt idx="6">
                  <c:v>Jul</c:v>
                </c:pt>
                <c:pt idx="7">
                  <c:v>Aug</c:v>
                </c:pt>
                <c:pt idx="8">
                  <c:v>Sep</c:v>
                </c:pt>
                <c:pt idx="9">
                  <c:v>Okt</c:v>
                </c:pt>
                <c:pt idx="10">
                  <c:v>Nov</c:v>
                </c:pt>
                <c:pt idx="11">
                  <c:v>Dez</c:v>
                </c:pt>
              </c:strCache>
            </c:strRef>
          </c:cat>
          <c:val>
            <c:numRef>
              <c:f>'Chart Data'!$B$2:$B$13</c:f>
              <c:numCache>
                <c:formatCode>#,##0</c:formatCode>
                <c:ptCount val="12"/>
                <c:pt idx="0">
                  <c:v>7</c:v>
                </c:pt>
                <c:pt idx="1">
                  <c:v>11</c:v>
                </c:pt>
                <c:pt idx="2">
                  <c:v>9</c:v>
                </c:pt>
                <c:pt idx="3">
                  <c:v>10</c:v>
                </c:pt>
                <c:pt idx="4">
                  <c:v>12</c:v>
                </c:pt>
                <c:pt idx="5">
                  <c:v>16</c:v>
                </c:pt>
                <c:pt idx="6">
                  <c:v>6</c:v>
                </c:pt>
                <c:pt idx="7">
                  <c:v>8</c:v>
                </c:pt>
                <c:pt idx="8">
                  <c:v>8</c:v>
                </c:pt>
                <c:pt idx="9">
                  <c:v>13</c:v>
                </c:pt>
                <c:pt idx="10">
                  <c:v>4</c:v>
                </c:pt>
                <c:pt idx="11">
                  <c:v>10</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Prüfhinweise</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de-DE"/>
  <c:chart>
    <c:plotArea>
      <c:lineChart>
        <c:grouping val="standard"/>
        <c:varyColors val="0"/>
        <c:ser>
          <c:idx val="0"/>
          <c:order val="0"/>
          <c:tx>
            <c:v>Ist</c:v>
          </c:tx>
          <c:spPr>
            <a:solidFill xmlns:a="http://schemas.openxmlformats.org/drawingml/2006/main">
              <a:srgbClr val="084878"/>
            </a:solidFill>
            <a:ln xmlns:a="http://schemas.openxmlformats.org/drawingml/2006/main" w="28575">
              <a:solidFill>
                <a:srgbClr val="084878"/>
              </a:solidFill>
              <a:prstDash val="solid"/>
            </a:ln>
          </c:spPr>
          <c:marker>
            <c:symbol val="circle"/>
            <c:size val="6"/>
            <c:spPr>
              <a:solidFill xmlns:a="http://schemas.openxmlformats.org/drawingml/2006/main">
                <a:srgbClr val="084878"/>
              </a:solidFill>
            </c:spPr>
          </c:marker>
          <c:dPt>
            <c:idx val="7"/>
            <c:spPr>
              <a:solidFill xmlns:a="http://schemas.openxmlformats.org/drawingml/2006/main">
                <a:srgbClr val="B3261E"/>
              </a:solidFill>
              <a:ln xmlns:a="http://schemas.openxmlformats.org/drawingml/2006/main" w="19050">
                <a:solidFill>
                  <a:srgbClr val="B3261E"/>
                </a:solidFill>
              </a:ln>
            </c:spPr>
          </c:dPt>
          <c:dLbls>
            <c:dLbl>
              <c:idx val="7"/>
              <c:tx>
                <c:rich>
                  <a:bodyPr xmlns:a="http://schemas.openxmlformats.org/drawingml/2006/main"/>
                  <a:lstStyle xmlns:a="http://schemas.openxmlformats.org/drawingml/2006/main"/>
                  <a:p xmlns:a="http://schemas.openxmlformats.org/drawingml/2006/main">
                    <a:r>
                      <a:rPr sz="1725" b="1">
                        <a:solidFill>
                          <a:srgbClr val="B3261E"/>
                        </a:solidFill>
                        <a:latin typeface="IBM Plex Sans"/>
                        <a:ea typeface="IBM Plex Sans"/>
                        <a:cs typeface="IBM Plex Sans"/>
                      </a:rPr>
                      <a:t>23.563</a:t>
                    </a:r>
                  </a:p>
                </c:rich>
              </c:tx>
              <c:txPr>
                <a:bodyPr xmlns:a="http://schemas.openxmlformats.org/drawingml/2006/main" anchorCtr="1"/>
                <a:lstStyle xmlns:a="http://schemas.openxmlformats.org/drawingml/2006/main"/>
                <a:p xmlns:a="http://schemas.openxmlformats.org/drawingml/2006/main">
                  <a:pPr>
                    <a:defRPr sz="1725" b="1">
                      <a:solidFill>
                        <a:srgbClr val="B3261E"/>
                      </a:solidFill>
                      <a:latin typeface="IBM Plex Sans"/>
                      <a:ea typeface="IBM Plex Sans"/>
                      <a:cs typeface="IBM Plex Sans"/>
                    </a:defRPr>
                  </a:pPr>
                </a:p>
              </c:txPr>
              <c:showLegendKey val="0"/>
              <c:showVal val="1"/>
              <c:showCatName val="0"/>
              <c:showSerName val="0"/>
              <c:showPercent val="0"/>
              <c:showBubbleSize val="0"/>
            </c:dLbl>
          </c:dLbls>
          <c:cat>
            <c:strRef>
              <c:f>'Chart Data'!$A$2:$A$13</c:f>
              <c:strCache>
                <c:ptCount val="12"/>
                <c:pt idx="0">
                  <c:v>Jan</c:v>
                </c:pt>
                <c:pt idx="1">
                  <c:v>Feb</c:v>
                </c:pt>
                <c:pt idx="2">
                  <c:v>Mär</c:v>
                </c:pt>
                <c:pt idx="3">
                  <c:v>Apr</c:v>
                </c:pt>
                <c:pt idx="4">
                  <c:v>Mai</c:v>
                </c:pt>
                <c:pt idx="5">
                  <c:v>Jun</c:v>
                </c:pt>
                <c:pt idx="6">
                  <c:v>Jul</c:v>
                </c:pt>
                <c:pt idx="7">
                  <c:v>Aug</c:v>
                </c:pt>
                <c:pt idx="8">
                  <c:v>Sep</c:v>
                </c:pt>
                <c:pt idx="9">
                  <c:v>Okt</c:v>
                </c:pt>
                <c:pt idx="10">
                  <c:v>Nov</c:v>
                </c:pt>
                <c:pt idx="11">
                  <c:v>Dez</c:v>
                </c:pt>
              </c:strCache>
            </c:strRef>
          </c:cat>
          <c:val>
            <c:numRef>
              <c:f>'Chart Data'!$B$2:$B$13</c:f>
              <c:numCache>
                <c:formatCode>#,##0</c:formatCode>
                <c:ptCount val="12"/>
                <c:pt idx="0">
                  <c:v>8866</c:v>
                </c:pt>
                <c:pt idx="1">
                  <c:v>8334</c:v>
                </c:pt>
                <c:pt idx="2">
                  <c:v>9538</c:v>
                </c:pt>
                <c:pt idx="3">
                  <c:v>9577</c:v>
                </c:pt>
                <c:pt idx="4">
                  <c:v>7268</c:v>
                </c:pt>
                <c:pt idx="5">
                  <c:v>6517</c:v>
                </c:pt>
                <c:pt idx="6">
                  <c:v>8837</c:v>
                </c:pt>
                <c:pt idx="7">
                  <c:v>23563.490116</c:v>
                </c:pt>
                <c:pt idx="8">
                  <c:v>5915</c:v>
                </c:pt>
                <c:pt idx="9">
                  <c:v>6566</c:v>
                </c:pt>
                <c:pt idx="10">
                  <c:v>6543</c:v>
                </c:pt>
                <c:pt idx="11">
                  <c:v>8585</c:v>
                </c:pt>
              </c:numCache>
            </c:numRef>
          </c:val>
          <c:smooth val="0"/>
        </c:ser>
        <c:ser>
          <c:idx val="1"/>
          <c:order val="1"/>
          <c:tx>
            <c:v>Prognose</c:v>
          </c:tx>
          <c:spPr>
            <a:solidFill xmlns:a="http://schemas.openxmlformats.org/drawingml/2006/main">
              <a:srgbClr val="0090C8"/>
            </a:solidFill>
            <a:ln xmlns:a="http://schemas.openxmlformats.org/drawingml/2006/main" w="28575">
              <a:solidFill>
                <a:srgbClr val="0090C8"/>
              </a:solidFill>
              <a:prstDash val="dash"/>
            </a:ln>
          </c:spPr>
          <c:marker>
            <c:symbol val="none"/>
          </c:marker>
          <c:cat>
            <c:strRef>
              <c:f>'Chart Data'!$C$2:$C$13</c:f>
              <c:strCache>
                <c:ptCount val="12"/>
                <c:pt idx="0">
                  <c:v>Jan</c:v>
                </c:pt>
                <c:pt idx="1">
                  <c:v>Feb</c:v>
                </c:pt>
                <c:pt idx="2">
                  <c:v>Mär</c:v>
                </c:pt>
                <c:pt idx="3">
                  <c:v>Apr</c:v>
                </c:pt>
                <c:pt idx="4">
                  <c:v>Mai</c:v>
                </c:pt>
                <c:pt idx="5">
                  <c:v>Jun</c:v>
                </c:pt>
                <c:pt idx="6">
                  <c:v>Jul</c:v>
                </c:pt>
                <c:pt idx="7">
                  <c:v>Aug</c:v>
                </c:pt>
                <c:pt idx="8">
                  <c:v>Sep</c:v>
                </c:pt>
                <c:pt idx="9">
                  <c:v>Okt</c:v>
                </c:pt>
                <c:pt idx="10">
                  <c:v>Nov</c:v>
                </c:pt>
                <c:pt idx="11">
                  <c:v>Dez</c:v>
                </c:pt>
              </c:strCache>
            </c:strRef>
          </c:cat>
          <c:val>
            <c:numRef>
              <c:f>'Chart Data'!$D$2:$D$13</c:f>
              <c:numCache>
                <c:formatCode>#,##0</c:formatCode>
                <c:ptCount val="12"/>
                <c:pt idx="0">
                  <c:v>8255.372408</c:v>
                </c:pt>
                <c:pt idx="1">
                  <c:v>8531.276384</c:v>
                </c:pt>
                <c:pt idx="2">
                  <c:v>9566.461669</c:v>
                </c:pt>
                <c:pt idx="3">
                  <c:v>10061.702172</c:v>
                </c:pt>
                <c:pt idx="4">
                  <c:v>9628.242893</c:v>
                </c:pt>
                <c:pt idx="5">
                  <c:v>7954.364071</c:v>
                </c:pt>
                <c:pt idx="6">
                  <c:v>7284.76654</c:v>
                </c:pt>
                <c:pt idx="7">
                  <c:v>7303.898358</c:v>
                </c:pt>
                <c:pt idx="8">
                  <c:v>10739.709291</c:v>
                </c:pt>
                <c:pt idx="9">
                  <c:v>8459.14479</c:v>
                </c:pt>
                <c:pt idx="10">
                  <c:v>9083.968456</c:v>
                </c:pt>
                <c:pt idx="11">
                  <c:v>7594.805811</c:v>
                </c:pt>
              </c:numCache>
            </c:numRef>
          </c:val>
          <c:smooth val="0"/>
        </c:ser>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50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Verbrauch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00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de-DE"/>
  <c:chart>
    <c:plotArea>
      <c:barChart>
        <c:barDir val="col"/>
        <c:grouping val="clustered"/>
        <c:varyColors val="0"/>
        <c:ser>
          <c:idx val="0"/>
          <c:order val="0"/>
          <c:tx>
            <c:v>Median Verbrauch (kWh)</c:v>
          </c:tx>
          <c:spPr>
            <a:solidFill xmlns:a="http://schemas.openxmlformats.org/drawingml/2006/main">
              <a:srgbClr val="084878"/>
            </a:solidFill>
            <a:ln xmlns:a="http://schemas.openxmlformats.org/drawingml/2006/main" w="0">
              <a:noFill/>
            </a:ln>
          </c:spPr>
          <c:dPt>
            <c:idx val="0"/>
            <c:invertIfNegative val="0"/>
            <c:spPr>
              <a:solidFill xmlns:a="http://schemas.openxmlformats.org/drawingml/2006/main">
                <a:srgbClr val="0080A0"/>
              </a:solidFill>
              <a:ln xmlns:a="http://schemas.openxmlformats.org/drawingml/2006/main" w="0">
                <a:noFill/>
              </a:ln>
            </c:spPr>
          </c:dPt>
          <c:dPt>
            <c:idx val="1"/>
            <c:invertIfNegative val="0"/>
            <c:spPr>
              <a:solidFill xmlns:a="http://schemas.openxmlformats.org/drawingml/2006/main">
                <a:srgbClr val="084878"/>
              </a:solidFill>
              <a:ln xmlns:a="http://schemas.openxmlformats.org/drawingml/2006/main" w="0">
                <a:noFill/>
              </a:ln>
            </c:spPr>
          </c:dPt>
          <c:dPt>
            <c:idx val="2"/>
            <c:invertIfNegative val="0"/>
            <c:spPr>
              <a:solidFill xmlns:a="http://schemas.openxmlformats.org/drawingml/2006/main">
                <a:srgbClr val="2F7A33"/>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8.532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44.528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14.281</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dLbl>
          </c:dLbls>
          <c:cat>
            <c:strRef>
              <c:f>'Chart Data'!$A$2:$A$4</c:f>
              <c:strCache>
                <c:ptCount val="3"/>
                <c:pt idx="0">
                  <c:v>Gewerbe</c:v>
                </c:pt>
                <c:pt idx="1">
                  <c:v>Industrie</c:v>
                </c:pt>
                <c:pt idx="2">
                  <c:v>Kommunal</c:v>
                </c:pt>
              </c:strCache>
            </c:strRef>
          </c:cat>
          <c:val>
            <c:numRef>
              <c:f>'Chart Data'!$B$2:$B$4</c:f>
              <c:numCache>
                <c:formatCode>0</c:formatCode>
                <c:ptCount val="3"/>
                <c:pt idx="0">
                  <c:v>8531.5</c:v>
                </c:pt>
                <c:pt idx="1">
                  <c:v>44527.5</c:v>
                </c:pt>
                <c:pt idx="2">
                  <c:v>14281</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600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Median Verbrauch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20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de-DE"/>
  <c:chart>
    <c:plotArea>
      <c:barChart>
        <c:barDir val="col"/>
        <c:grouping val="clustered"/>
        <c:varyColors val="0"/>
        <c:ser>
          <c:idx val="0"/>
          <c:order val="0"/>
          <c:tx>
            <c:v>Median Volllaststunden (h)</c:v>
          </c:tx>
          <c:spPr>
            <a:solidFill xmlns:a="http://schemas.openxmlformats.org/drawingml/2006/main">
              <a:srgbClr val="084878"/>
            </a:solidFill>
            <a:ln xmlns:a="http://schemas.openxmlformats.org/drawingml/2006/main" w="0">
              <a:noFill/>
            </a:ln>
          </c:spPr>
          <c:dPt>
            <c:idx val="0"/>
            <c:invertIfNegative val="0"/>
            <c:spPr>
              <a:solidFill xmlns:a="http://schemas.openxmlformats.org/drawingml/2006/main">
                <a:srgbClr val="0080A0"/>
              </a:solidFill>
              <a:ln xmlns:a="http://schemas.openxmlformats.org/drawingml/2006/main" w="0">
                <a:noFill/>
              </a:ln>
            </c:spPr>
          </c:dPt>
          <c:dPt>
            <c:idx val="1"/>
            <c:invertIfNegative val="0"/>
            <c:spPr>
              <a:solidFill xmlns:a="http://schemas.openxmlformats.org/drawingml/2006/main">
                <a:srgbClr val="084878"/>
              </a:solidFill>
              <a:ln xmlns:a="http://schemas.openxmlformats.org/drawingml/2006/main" w="0">
                <a:noFill/>
              </a:ln>
            </c:spPr>
          </c:dPt>
          <c:dPt>
            <c:idx val="2"/>
            <c:invertIfNegative val="0"/>
            <c:spPr>
              <a:solidFill xmlns:a="http://schemas.openxmlformats.org/drawingml/2006/main">
                <a:srgbClr val="2F7A33"/>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159,7</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173,2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169,9</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dLbl>
          </c:dLbls>
          <c:cat>
            <c:strRef>
              <c:f>'Chart Data'!$A$2:$A$4</c:f>
              <c:strCache>
                <c:ptCount val="3"/>
                <c:pt idx="0">
                  <c:v>Gewerbe</c:v>
                </c:pt>
                <c:pt idx="1">
                  <c:v>Industrie</c:v>
                </c:pt>
                <c:pt idx="2">
                  <c:v>Kommunal</c:v>
                </c:pt>
              </c:strCache>
            </c:strRef>
          </c:cat>
          <c:val>
            <c:numRef>
              <c:f>'Chart Data'!$B$2:$B$4</c:f>
              <c:numCache>
                <c:formatCode>0.0</c:formatCode>
                <c:ptCount val="3"/>
                <c:pt idx="0">
                  <c:v>159.679806</c:v>
                </c:pt>
                <c:pt idx="1">
                  <c:v>173.174976</c:v>
                </c:pt>
                <c:pt idx="2">
                  <c:v>169.912733</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Median Volllaststunden (h)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de-DE"/>
  <c:chart>
    <c:plotArea>
      <c:barChart>
        <c:barDir val="col"/>
        <c:grouping val="clustered"/>
        <c:varyColors val="0"/>
        <c:ser>
          <c:idx val="0"/>
          <c:order val="0"/>
          <c:tx>
            <c:v>MAE</c:v>
          </c:tx>
          <c:spPr>
            <a:solidFill xmlns:a="http://schemas.openxmlformats.org/drawingml/2006/main">
              <a:srgbClr val="084878"/>
            </a:solidFill>
            <a:ln xmlns:a="http://schemas.openxmlformats.org/drawingml/2006/main" w="0">
              <a:noFill/>
            </a:ln>
          </c:spPr>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Data'!$A$2:$A$3</c:f>
              <c:strCache>
                <c:ptCount val="2"/>
                <c:pt idx="0">
                  <c:v>A: gleichmäßige Fehler</c:v>
                </c:pt>
                <c:pt idx="1">
                  <c:v>B: ein großer Fehler</c:v>
                </c:pt>
              </c:strCache>
            </c:strRef>
          </c:cat>
          <c:val>
            <c:numRef>
              <c:f>'Chart Data'!$B$2:$B$3</c:f>
              <c:numCache>
                <c:formatCode>0</c:formatCode>
                <c:ptCount val="2"/>
                <c:pt idx="0">
                  <c:v>10</c:v>
                </c:pt>
                <c:pt idx="1">
                  <c:v>10</c:v>
                </c:pt>
              </c:numCache>
            </c:numRef>
          </c:val>
        </c:ser>
        <c:ser>
          <c:idx val="1"/>
          <c:order val="1"/>
          <c:tx>
            <c:v>RMSE</c:v>
          </c:tx>
          <c:spPr>
            <a:solidFill xmlns:a="http://schemas.openxmlformats.org/drawingml/2006/main">
              <a:srgbClr val="0080A0"/>
            </a:solidFill>
            <a:ln xmlns:a="http://schemas.openxmlformats.org/drawingml/2006/main" w="0">
              <a:noFill/>
            </a:ln>
          </c:spPr>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20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Data'!$C$2:$C$3</c:f>
              <c:strCache>
                <c:ptCount val="2"/>
                <c:pt idx="0">
                  <c:v>A: gleichmäßige Fehler</c:v>
                </c:pt>
                <c:pt idx="1">
                  <c:v>B: ein großer Fehler</c:v>
                </c:pt>
              </c:strCache>
            </c:strRef>
          </c:cat>
          <c:val>
            <c:numRef>
              <c:f>'Chart Data'!$D$2:$D$3</c:f>
              <c:numCache>
                <c:formatCode>0</c:formatCode>
                <c:ptCount val="2"/>
                <c:pt idx="0">
                  <c:v>10</c:v>
                </c:pt>
                <c:pt idx="1">
                  <c:v>20</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5"/>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Kennzahlenwert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de-DE"/>
  <c:chart>
    <c:plotArea>
      <c:barChart>
        <c:barDir val="col"/>
        <c:grouping val="clustered"/>
        <c:varyColors val="0"/>
        <c:ser>
          <c:idx val="0"/>
          <c:order val="0"/>
          <c:tx>
            <c:v>RMSE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9.800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9.188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Data'!$A$2:$A$3</c:f>
              <c:strCache>
                <c:ptCount val="2"/>
                <c:pt idx="0">
                  <c:v>Direkt in kWh</c:v>
                </c:pt>
                <c:pt idx="1">
                  <c:v>VLS, zurück in kWh</c:v>
                </c:pt>
              </c:strCache>
            </c:strRef>
          </c:cat>
          <c:val>
            <c:numRef>
              <c:f>'Chart Data'!$B$2:$B$3</c:f>
              <c:numCache>
                <c:formatCode>#,##0</c:formatCode>
                <c:ptCount val="2"/>
                <c:pt idx="0">
                  <c:v>9799.9091</c:v>
                </c:pt>
                <c:pt idx="1">
                  <c:v>9188.397031</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120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RMSE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4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de-DE"/>
  <c:chart>
    <c:plotArea>
      <c:barChart>
        <c:barDir val="col"/>
        <c:grouping val="clustered"/>
        <c:varyColors val="0"/>
        <c:ser>
          <c:idx val="0"/>
          <c:order val="0"/>
          <c:tx>
            <c:v>Prüfhinweise je Monat</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8C98A6"/>
              </a:solidFill>
              <a:ln xmlns:a="http://schemas.openxmlformats.org/drawingml/2006/main" w="0">
                <a:noFill/>
              </a:ln>
            </c:spPr>
          </c:dPt>
          <c:dPt>
            <c:idx val="2"/>
            <c:invertIfNegative val="0"/>
            <c:spPr>
              <a:solidFill xmlns:a="http://schemas.openxmlformats.org/drawingml/2006/main">
                <a:srgbClr val="A86505"/>
              </a:solidFill>
              <a:ln xmlns:a="http://schemas.openxmlformats.org/drawingml/2006/main" w="0">
                <a:noFill/>
              </a:ln>
            </c:spPr>
          </c:dPt>
          <c:dPt>
            <c:idx val="3"/>
            <c:invertIfNegative val="0"/>
            <c:spPr>
              <a:solidFill xmlns:a="http://schemas.openxmlformats.org/drawingml/2006/main">
                <a:srgbClr val="8C98A6"/>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33,3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21,3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9,5</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5,8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Data'!$A$2:$A$5</c:f>
              <c:strCache>
                <c:ptCount val="4"/>
                <c:pt idx="0">
                  <c:v>95 %</c:v>
                </c:pt>
                <c:pt idx="1">
                  <c:v>97,5 %</c:v>
                </c:pt>
                <c:pt idx="2">
                  <c:v>99 %</c:v>
                </c:pt>
                <c:pt idx="3">
                  <c:v>99,5 %</c:v>
                </c:pt>
              </c:strCache>
            </c:strRef>
          </c:cat>
          <c:val>
            <c:numRef>
              <c:f>'Chart Data'!$B$2:$B$5</c:f>
              <c:numCache>
                <c:formatCode>#,##0.0</c:formatCode>
                <c:ptCount val="4"/>
                <c:pt idx="0">
                  <c:v>33.333333</c:v>
                </c:pt>
                <c:pt idx="1">
                  <c:v>21.333333</c:v>
                </c:pt>
                <c:pt idx="2">
                  <c:v>9.5</c:v>
                </c:pt>
                <c:pt idx="3">
                  <c:v>5.75</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88"/>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4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Prüfhinweise je Monat</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4.xml><?xml version="1.0" encoding="utf-8"?>
<c:chartSpace xmlns:c="http://schemas.openxmlformats.org/drawingml/2006/chart" xmlns:r="http://schemas.openxmlformats.org/officeDocument/2006/relationships">
  <c:lang val="de-DE"/>
  <c:chart>
    <c:plotArea>
      <c:barChart>
        <c:barDir val="col"/>
        <c:grouping val="clustered"/>
        <c:varyColors val="0"/>
        <c:ser>
          <c:idx val="0"/>
          <c:order val="0"/>
          <c:tx>
            <c:v>RMSE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0080A0"/>
              </a:solidFill>
              <a:ln xmlns:a="http://schemas.openxmlformats.org/drawingml/2006/main" w="0">
                <a:noFill/>
              </a:ln>
            </c:spPr>
          </c:dPt>
          <c:dPt>
            <c:idx val="1"/>
            <c:invertIfNegative val="0"/>
            <c:spPr>
              <a:solidFill xmlns:a="http://schemas.openxmlformats.org/drawingml/2006/main">
                <a:srgbClr val="0080A0"/>
              </a:solidFill>
              <a:ln xmlns:a="http://schemas.openxmlformats.org/drawingml/2006/main" w="0">
                <a:noFill/>
              </a:ln>
            </c:spPr>
          </c:dPt>
          <c:dPt>
            <c:idx val="2"/>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17.538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8.223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14.056</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Data'!$A$2:$A$4</c:f>
              <c:strCache>
                <c:ptCount val="3"/>
                <c:pt idx="0">
                  <c:v>Fold 1</c:v>
                </c:pt>
                <c:pt idx="1">
                  <c:v>Fold 2</c:v>
                </c:pt>
                <c:pt idx="2">
                  <c:v>Fold 3</c:v>
                </c:pt>
              </c:strCache>
            </c:strRef>
          </c:cat>
          <c:val>
            <c:numRef>
              <c:f>'Chart Data'!$B$2:$B$4</c:f>
              <c:numCache>
                <c:formatCode>#,##0</c:formatCode>
                <c:ptCount val="3"/>
                <c:pt idx="0">
                  <c:v>17537.58823</c:v>
                </c:pt>
                <c:pt idx="1">
                  <c:v>8223.484122</c:v>
                </c:pt>
                <c:pt idx="2">
                  <c:v>14056.149857</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20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RMSE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63659"/>
        </a:solidFill>
      </p:bgPr>
    </p:bg>
    <p:spTree>
      <p:nvGrpSpPr>
        <p:cNvPr id="1" name=""/>
        <p:cNvGrpSpPr/>
        <p:nvPr/>
      </p:nvGrpSpPr>
      <p:grpSpPr>
        <a:xfrm xmlns:a="http://schemas.openxmlformats.org/drawingml/2006/main"/>
      </p:grpSpPr>
      <p:sp>
        <p:nvSpPr>
          <p:cNvPr id="10" name="block-1">
            <a:extLst xmlns:a="http://schemas.openxmlformats.org/drawingml/2006/main">
              <a:ext uri="{FF2B5EF4-FFF2-40B4-BE49-F238E27FC236}">
                <a16:creationId xmlns:a16="http://schemas.microsoft.com/office/drawing/2014/main" id="{B6F7DB7C-BC36-476E-8C52-9B9244AB944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31607C"/>
          </a:solidFill>
          <a:ln xmlns:a="http://schemas.openxmlformats.org/drawingml/2006/main" w="0">
            <a:noFill/>
          </a:ln>
        </p:spPr>
      </p:sp>
      <p:sp>
        <p:nvSpPr>
          <p:cNvPr id="2" name="block-2">
            <a:extLst xmlns:a="http://schemas.openxmlformats.org/drawingml/2006/main">
              <a:ext uri="{FF2B5EF4-FFF2-40B4-BE49-F238E27FC236}">
                <a16:creationId xmlns:a16="http://schemas.microsoft.com/office/drawing/2014/main" id="{44663CA2-69CB-4DBA-B5E9-F4BADE11DDEC}"/>
              </a:ext>
            </a:extLst>
          </p:cNvPr>
          <p:cNvSpPr>
            <a:spLocks xmlns:a="http://schemas.openxmlformats.org/drawingml/2006/main" noGrp="1"/>
          </p:cNvSpPr>
          <p:nvPr/>
        </p:nvSpPr>
        <p:spPr>
          <a:xfrm xmlns:a="http://schemas.openxmlformats.org/drawingml/2006/main">
            <a:off x="609600"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SWW / IHK-Projekt</a:t>
            </a:r>
          </a:p>
        </p:txBody>
      </p:sp>
      <p:sp>
        <p:nvSpPr>
          <p:cNvPr id="3" name="block-3">
            <a:extLst xmlns:a="http://schemas.openxmlformats.org/drawingml/2006/main">
              <a:ext uri="{FF2B5EF4-FFF2-40B4-BE49-F238E27FC236}">
                <a16:creationId xmlns:a16="http://schemas.microsoft.com/office/drawing/2014/main" id="{65E4E36B-EA0F-470A-A21E-B8D67E1AB4F9}"/>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01 / 39</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d9bdb312e114786"/>
          <a:stretch xmlns:a="http://schemas.openxmlformats.org/drawingml/2006/main"/>
        </p:blipFill>
        <p:spPr>
          <a:xfrm xmlns:a="http://schemas.openxmlformats.org/drawingml/2006/main">
            <a:off x="9525000" y="611829"/>
            <a:ext cx="1676400" cy="1881491"/>
          </a:xfrm>
          <a:prstGeom xmlns:a="http://schemas.openxmlformats.org/drawingml/2006/main" prst="rect">
            <a:avLst/>
          </a:prstGeom>
        </p:spPr>
      </p:pic>
      <p:sp>
        <p:nvSpPr>
          <p:cNvPr id="5" name="block-4">
            <a:extLst xmlns:a="http://schemas.openxmlformats.org/drawingml/2006/main">
              <a:ext uri="{FF2B5EF4-FFF2-40B4-BE49-F238E27FC236}">
                <a16:creationId xmlns:a16="http://schemas.microsoft.com/office/drawing/2014/main" id="{D2EAC771-AC71-4F27-8AD3-1CD16945236F}"/>
              </a:ext>
            </a:extLst>
          </p:cNvPr>
          <p:cNvSpPr>
            <a:spLocks xmlns:a="http://schemas.openxmlformats.org/drawingml/2006/main" noGrp="1"/>
          </p:cNvSpPr>
          <p:nvPr/>
        </p:nvSpPr>
        <p:spPr>
          <a:xfrm xmlns:a="http://schemas.openxmlformats.org/drawingml/2006/main">
            <a:off x="609600" y="8763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99D7E5"/>
                </a:solidFill>
                <a:latin typeface="IBM Plex Sans"/>
                <a:ea typeface="IBM Plex Sans"/>
                <a:cs typeface="IBM Plex Sans"/>
              </a:defRPr>
            </a:pPr>
            <a:r>
              <a:rPr sz="1500" b="1">
                <a:solidFill>
                  <a:srgbClr val="99D7E5"/>
                </a:solidFill>
                <a:latin typeface="IBM Plex Sans"/>
                <a:ea typeface="IBM Plex Sans"/>
                <a:cs typeface="IBM Plex Sans"/>
              </a:rPr>
              <a:t>STADTWERKE WESTHAFEN / GRUPPE 6</a:t>
            </a:r>
          </a:p>
        </p:txBody>
      </p:sp>
      <p:sp>
        <p:nvSpPr>
          <p:cNvPr id="6" name="block-5">
            <a:extLst xmlns:a="http://schemas.openxmlformats.org/drawingml/2006/main">
              <a:ext uri="{FF2B5EF4-FFF2-40B4-BE49-F238E27FC236}">
                <a16:creationId xmlns:a16="http://schemas.microsoft.com/office/drawing/2014/main" id="{52AA7477-6E26-4630-94BE-EC3A7EF8D4C8}"/>
              </a:ext>
            </a:extLst>
          </p:cNvPr>
          <p:cNvSpPr>
            <a:spLocks xmlns:a="http://schemas.openxmlformats.org/drawingml/2006/main" noGrp="1"/>
          </p:cNvSpPr>
          <p:nvPr/>
        </p:nvSpPr>
        <p:spPr>
          <a:xfrm xmlns:a="http://schemas.openxmlformats.org/drawingml/2006/main">
            <a:off x="609600" y="1819275"/>
            <a:ext cx="1028700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FFFFFF"/>
                </a:solidFill>
                <a:latin typeface="IBM Plex Sans"/>
                <a:ea typeface="IBM Plex Sans"/>
                <a:cs typeface="IBM Plex Sans"/>
              </a:defRPr>
            </a:pPr>
            <a:r>
              <a:rPr sz="4800" b="1">
                <a:solidFill>
                  <a:srgbClr val="FFFFFF"/>
                </a:solidFill>
                <a:latin typeface="IBM Plex Sans"/>
                <a:ea typeface="IBM Plex Sans"/>
                <a:cs typeface="IBM Plex Sans"/>
              </a:rPr>
              <a:t>Energie besser planen.</a:t>
            </a:r>
          </a:p>
          <a:p xmlns:a="http://schemas.openxmlformats.org/drawingml/2006/main">
            <a:pPr>
              <a:defRPr sz="4800" b="1">
                <a:solidFill>
                  <a:srgbClr val="FFFFFF"/>
                </a:solidFill>
                <a:latin typeface="IBM Plex Sans"/>
                <a:ea typeface="IBM Plex Sans"/>
                <a:cs typeface="IBM Plex Sans"/>
              </a:defRPr>
            </a:pPr>
            <a:r>
              <a:rPr sz="4800" b="1">
                <a:solidFill>
                  <a:srgbClr val="FFFFFF"/>
                </a:solidFill>
                <a:latin typeface="IBM Plex Sans"/>
                <a:ea typeface="IBM Plex Sans"/>
                <a:cs typeface="IBM Plex Sans"/>
              </a:rPr>
              <a:t>Abweichungen</a:t>
            </a:r>
          </a:p>
          <a:p xmlns:a="http://schemas.openxmlformats.org/drawingml/2006/main">
            <a:pPr>
              <a:defRPr sz="4800" b="1">
                <a:solidFill>
                  <a:srgbClr val="FFFFFF"/>
                </a:solidFill>
                <a:latin typeface="IBM Plex Sans"/>
                <a:ea typeface="IBM Plex Sans"/>
                <a:cs typeface="IBM Plex Sans"/>
              </a:defRPr>
            </a:pPr>
            <a:r>
              <a:rPr sz="4800" b="1">
                <a:solidFill>
                  <a:srgbClr val="FFFFFF"/>
                </a:solidFill>
                <a:latin typeface="IBM Plex Sans"/>
                <a:ea typeface="IBM Plex Sans"/>
                <a:cs typeface="IBM Plex Sans"/>
              </a:rPr>
              <a:t>gezielt prüfen.</a:t>
            </a:r>
          </a:p>
        </p:txBody>
      </p:sp>
      <p:sp>
        <p:nvSpPr>
          <p:cNvPr id="7" name="block-6">
            <a:extLst xmlns:a="http://schemas.openxmlformats.org/drawingml/2006/main">
              <a:ext uri="{FF2B5EF4-FFF2-40B4-BE49-F238E27FC236}">
                <a16:creationId xmlns:a16="http://schemas.microsoft.com/office/drawing/2014/main" id="{570D4349-CE2D-4593-931D-DE6EC3A6115A}"/>
              </a:ext>
            </a:extLst>
          </p:cNvPr>
          <p:cNvSpPr>
            <a:spLocks xmlns:a="http://schemas.openxmlformats.org/drawingml/2006/main" noGrp="1"/>
          </p:cNvSpPr>
          <p:nvPr/>
        </p:nvSpPr>
        <p:spPr>
          <a:xfrm xmlns:a="http://schemas.openxmlformats.org/drawingml/2006/main">
            <a:off x="647700" y="4514850"/>
            <a:ext cx="10810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BED6E8"/>
                </a:solidFill>
                <a:latin typeface="IBM Plex Sans"/>
                <a:ea typeface="IBM Plex Sans"/>
                <a:cs typeface="IBM Plex Sans"/>
              </a:defRPr>
            </a:pPr>
            <a:r>
              <a:rPr sz="2250" b="0">
                <a:solidFill>
                  <a:srgbClr val="BED6E8"/>
                </a:solidFill>
                <a:latin typeface="IBM Plex Sans"/>
                <a:ea typeface="IBM Plex Sans"/>
                <a:cs typeface="IBM Plex Sans"/>
              </a:rPr>
              <a:t>Von verlässlichen Daten zur prüfbaren Entscheidung</a:t>
            </a:r>
          </a:p>
        </p:txBody>
      </p:sp>
      <p:sp>
        <p:nvSpPr>
          <p:cNvPr id="8" name="block-7">
            <a:extLst xmlns:a="http://schemas.openxmlformats.org/drawingml/2006/main">
              <a:ext uri="{FF2B5EF4-FFF2-40B4-BE49-F238E27FC236}">
                <a16:creationId xmlns:a16="http://schemas.microsoft.com/office/drawing/2014/main" id="{A9BDEB2D-DCB7-460F-98A4-302793431E06}"/>
              </a:ext>
            </a:extLst>
          </p:cNvPr>
          <p:cNvSpPr>
            <a:spLocks xmlns:a="http://schemas.openxmlformats.org/drawingml/2006/main" noGrp="1"/>
          </p:cNvSpPr>
          <p:nvPr/>
        </p:nvSpPr>
        <p:spPr>
          <a:xfrm xmlns:a="http://schemas.openxmlformats.org/drawingml/2006/main">
            <a:off x="647700" y="5353050"/>
            <a:ext cx="609600" cy="38100"/>
          </a:xfrm>
          <a:prstGeom xmlns:a="http://schemas.openxmlformats.org/drawingml/2006/main" prst="rect">
            <a:avLst/>
          </a:prstGeom>
          <a:solidFill xmlns:a="http://schemas.openxmlformats.org/drawingml/2006/main">
            <a:srgbClr val="99D7E5"/>
          </a:solidFill>
          <a:ln xmlns:a="http://schemas.openxmlformats.org/drawingml/2006/main" w="0">
            <a:noFill/>
          </a:ln>
        </p:spPr>
      </p:sp>
      <p:sp>
        <p:nvSpPr>
          <p:cNvPr id="9" name="block-8">
            <a:extLst xmlns:a="http://schemas.openxmlformats.org/drawingml/2006/main">
              <a:ext uri="{FF2B5EF4-FFF2-40B4-BE49-F238E27FC236}">
                <a16:creationId xmlns:a16="http://schemas.microsoft.com/office/drawing/2014/main" id="{ED1E468E-0306-4D02-9394-7AA3694AAF25}"/>
              </a:ext>
            </a:extLst>
          </p:cNvPr>
          <p:cNvSpPr>
            <a:spLocks xmlns:a="http://schemas.openxmlformats.org/drawingml/2006/main" noGrp="1"/>
          </p:cNvSpPr>
          <p:nvPr/>
        </p:nvSpPr>
        <p:spPr>
          <a:xfrm xmlns:a="http://schemas.openxmlformats.org/drawingml/2006/main">
            <a:off x="1485900" y="5238750"/>
            <a:ext cx="1009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Iana Kraievska · Patrick Olmo Hederer · Kiko Ramon Lukas</a:t>
            </a:r>
          </a:p>
        </p:txBody>
      </p:sp>
    </p:spTree>
    <p:extLst>
      <p:ext uri="{BB962C8B-B14F-4D97-AF65-F5344CB8AC3E}">
        <p14:creationId xmlns:p14="http://schemas.microsoft.com/office/powerpoint/2010/main" val="195249598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block-9">
            <a:extLst xmlns:a="http://schemas.openxmlformats.org/drawingml/2006/main">
              <a:ext uri="{FF2B5EF4-FFF2-40B4-BE49-F238E27FC236}">
                <a16:creationId xmlns:a16="http://schemas.microsoft.com/office/drawing/2014/main" id="{79393D89-0BB9-42AF-AE8D-AE19600EADFE}"/>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ORIENTIERUNG</a:t>
            </a:r>
          </a:p>
        </p:txBody>
      </p:sp>
      <p:sp>
        <p:nvSpPr>
          <p:cNvPr id="2" name="block-10">
            <a:extLst xmlns:a="http://schemas.openxmlformats.org/drawingml/2006/main">
              <a:ext uri="{FF2B5EF4-FFF2-40B4-BE49-F238E27FC236}">
                <a16:creationId xmlns:a16="http://schemas.microsoft.com/office/drawing/2014/main" id="{B34E988F-36AF-4444-A4C2-D0B338803326}"/>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Der Weg vom Geschäftsproblem zur Entscheidung</a:t>
            </a:r>
          </a:p>
        </p:txBody>
      </p:sp>
      <p:sp>
        <p:nvSpPr>
          <p:cNvPr id="3" name="block-11">
            <a:extLst xmlns:a="http://schemas.openxmlformats.org/drawingml/2006/main">
              <a:ext uri="{FF2B5EF4-FFF2-40B4-BE49-F238E27FC236}">
                <a16:creationId xmlns:a16="http://schemas.microsoft.com/office/drawing/2014/main" id="{747590D7-514A-49FA-BE4A-C07EEF03D878}"/>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30 Minuten Projektvortrag · 15 Minuten Live-Demo · anschließend Fachgespräch</a:t>
            </a:r>
          </a:p>
        </p:txBody>
      </p:sp>
      <p:sp>
        <p:nvSpPr>
          <p:cNvPr id="4" name="block-12">
            <a:extLst xmlns:a="http://schemas.openxmlformats.org/drawingml/2006/main">
              <a:ext uri="{FF2B5EF4-FFF2-40B4-BE49-F238E27FC236}">
                <a16:creationId xmlns:a16="http://schemas.microsoft.com/office/drawing/2014/main" id="{118C196A-EC64-49B3-A8AE-78162BC6E97F}"/>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90fae26eda794fbd"/>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3">
            <a:extLst xmlns:a="http://schemas.openxmlformats.org/drawingml/2006/main">
              <a:ext uri="{FF2B5EF4-FFF2-40B4-BE49-F238E27FC236}">
                <a16:creationId xmlns:a16="http://schemas.microsoft.com/office/drawing/2014/main" id="{AB6D411C-2B31-48FA-88C5-00D7D7F83B78}"/>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14">
            <a:extLst xmlns:a="http://schemas.openxmlformats.org/drawingml/2006/main">
              <a:ext uri="{FF2B5EF4-FFF2-40B4-BE49-F238E27FC236}">
                <a16:creationId xmlns:a16="http://schemas.microsoft.com/office/drawing/2014/main" id="{DB6AFAD2-11C0-46F9-82EC-DF678ECC1302}"/>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02 / 39</a:t>
            </a:r>
          </a:p>
        </p:txBody>
      </p:sp>
      <p:sp>
        <p:nvSpPr>
          <p:cNvPr id="8" name="block-15">
            <a:extLst xmlns:a="http://schemas.openxmlformats.org/drawingml/2006/main">
              <a:ext uri="{FF2B5EF4-FFF2-40B4-BE49-F238E27FC236}">
                <a16:creationId xmlns:a16="http://schemas.microsoft.com/office/drawing/2014/main" id="{D926A804-8596-415A-967C-BDB92BAB58E6}"/>
              </a:ext>
            </a:extLst>
          </p:cNvPr>
          <p:cNvSpPr>
            <a:spLocks xmlns:a="http://schemas.openxmlformats.org/drawingml/2006/main" noGrp="1"/>
          </p:cNvSpPr>
          <p:nvPr/>
        </p:nvSpPr>
        <p:spPr>
          <a:xfrm xmlns:a="http://schemas.openxmlformats.org/drawingml/2006/main">
            <a:off x="609600" y="2524125"/>
            <a:ext cx="733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080A0"/>
                </a:solidFill>
                <a:latin typeface="Geist Mono"/>
                <a:ea typeface="Geist Mono"/>
                <a:cs typeface="Geist Mono"/>
              </a:defRPr>
            </a:pPr>
            <a:r>
              <a:rPr sz="2325" b="1">
                <a:solidFill>
                  <a:srgbClr val="0080A0"/>
                </a:solidFill>
                <a:latin typeface="Geist Mono"/>
                <a:ea typeface="Geist Mono"/>
                <a:cs typeface="Geist Mono"/>
              </a:rPr>
              <a:t>01</a:t>
            </a:r>
          </a:p>
        </p:txBody>
      </p:sp>
      <p:sp>
        <p:nvSpPr>
          <p:cNvPr id="9" name="block-16">
            <a:extLst xmlns:a="http://schemas.openxmlformats.org/drawingml/2006/main">
              <a:ext uri="{FF2B5EF4-FFF2-40B4-BE49-F238E27FC236}">
                <a16:creationId xmlns:a16="http://schemas.microsoft.com/office/drawing/2014/main" id="{43363CF0-8D68-4523-A2E0-A5A4F815B9C4}"/>
              </a:ext>
            </a:extLst>
          </p:cNvPr>
          <p:cNvSpPr>
            <a:spLocks xmlns:a="http://schemas.openxmlformats.org/drawingml/2006/main" noGrp="1"/>
          </p:cNvSpPr>
          <p:nvPr/>
        </p:nvSpPr>
        <p:spPr>
          <a:xfrm xmlns:a="http://schemas.openxmlformats.org/drawingml/2006/main">
            <a:off x="1609725" y="2524125"/>
            <a:ext cx="352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63659"/>
                </a:solidFill>
                <a:latin typeface="IBM Plex Sans"/>
                <a:ea typeface="IBM Plex Sans"/>
                <a:cs typeface="IBM Plex Sans"/>
              </a:defRPr>
            </a:pPr>
            <a:r>
              <a:rPr sz="2250" b="1">
                <a:solidFill>
                  <a:srgbClr val="063659"/>
                </a:solidFill>
                <a:latin typeface="IBM Plex Sans"/>
                <a:ea typeface="IBM Plex Sans"/>
                <a:cs typeface="IBM Plex Sans"/>
              </a:rPr>
              <a:t>Auftrag &amp; Daten</a:t>
            </a:r>
          </a:p>
        </p:txBody>
      </p:sp>
      <p:sp>
        <p:nvSpPr>
          <p:cNvPr id="10" name="block-17">
            <a:extLst xmlns:a="http://schemas.openxmlformats.org/drawingml/2006/main">
              <a:ext uri="{FF2B5EF4-FFF2-40B4-BE49-F238E27FC236}">
                <a16:creationId xmlns:a16="http://schemas.microsoft.com/office/drawing/2014/main" id="{F4E92103-27EF-46BB-9F1A-1A255F7C0D92}"/>
              </a:ext>
            </a:extLst>
          </p:cNvPr>
          <p:cNvSpPr>
            <a:spLocks xmlns:a="http://schemas.openxmlformats.org/drawingml/2006/main" noGrp="1"/>
          </p:cNvSpPr>
          <p:nvPr/>
        </p:nvSpPr>
        <p:spPr>
          <a:xfrm xmlns:a="http://schemas.openxmlformats.org/drawingml/2006/main">
            <a:off x="5238750" y="2543175"/>
            <a:ext cx="4667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Ausgangslage, Qualität und Muster</a:t>
            </a:r>
          </a:p>
        </p:txBody>
      </p:sp>
      <p:sp>
        <p:nvSpPr>
          <p:cNvPr id="11" name="block-18">
            <a:extLst xmlns:a="http://schemas.openxmlformats.org/drawingml/2006/main">
              <a:ext uri="{FF2B5EF4-FFF2-40B4-BE49-F238E27FC236}">
                <a16:creationId xmlns:a16="http://schemas.microsoft.com/office/drawing/2014/main" id="{B866B081-BEEE-4015-937B-4F8A4FCE1FD2}"/>
              </a:ext>
            </a:extLst>
          </p:cNvPr>
          <p:cNvSpPr>
            <a:spLocks xmlns:a="http://schemas.openxmlformats.org/drawingml/2006/main" noGrp="1"/>
          </p:cNvSpPr>
          <p:nvPr/>
        </p:nvSpPr>
        <p:spPr>
          <a:xfrm xmlns:a="http://schemas.openxmlformats.org/drawingml/2006/main">
            <a:off x="10287000" y="2543175"/>
            <a:ext cx="129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75" b="1">
                <a:solidFill>
                  <a:srgbClr val="0080A0"/>
                </a:solidFill>
                <a:latin typeface="IBM Plex Sans"/>
                <a:ea typeface="IBM Plex Sans"/>
                <a:cs typeface="IBM Plex Sans"/>
              </a:defRPr>
            </a:pPr>
            <a:r>
              <a:rPr sz="1875" b="1">
                <a:solidFill>
                  <a:srgbClr val="0080A0"/>
                </a:solidFill>
                <a:latin typeface="IBM Plex Sans"/>
                <a:ea typeface="IBM Plex Sans"/>
                <a:cs typeface="IBM Plex Sans"/>
              </a:rPr>
              <a:t>8 Min.</a:t>
            </a:r>
          </a:p>
        </p:txBody>
      </p:sp>
      <p:sp>
        <p:nvSpPr>
          <p:cNvPr id="12" name="block-19">
            <a:extLst xmlns:a="http://schemas.openxmlformats.org/drawingml/2006/main">
              <a:ext uri="{FF2B5EF4-FFF2-40B4-BE49-F238E27FC236}">
                <a16:creationId xmlns:a16="http://schemas.microsoft.com/office/drawing/2014/main" id="{2B2BF5A7-420C-43C5-8DBA-EE8F128B93D2}"/>
              </a:ext>
            </a:extLst>
          </p:cNvPr>
          <p:cNvSpPr>
            <a:spLocks xmlns:a="http://schemas.openxmlformats.org/drawingml/2006/main" noGrp="1"/>
          </p:cNvSpPr>
          <p:nvPr/>
        </p:nvSpPr>
        <p:spPr>
          <a:xfrm xmlns:a="http://schemas.openxmlformats.org/drawingml/2006/main">
            <a:off x="1609725" y="3105150"/>
            <a:ext cx="99726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3" name="block-20">
            <a:extLst xmlns:a="http://schemas.openxmlformats.org/drawingml/2006/main">
              <a:ext uri="{FF2B5EF4-FFF2-40B4-BE49-F238E27FC236}">
                <a16:creationId xmlns:a16="http://schemas.microsoft.com/office/drawing/2014/main" id="{0F2EF88B-36EA-4F26-BA89-7B7C400E6684}"/>
              </a:ext>
            </a:extLst>
          </p:cNvPr>
          <p:cNvSpPr>
            <a:spLocks xmlns:a="http://schemas.openxmlformats.org/drawingml/2006/main" noGrp="1"/>
          </p:cNvSpPr>
          <p:nvPr/>
        </p:nvSpPr>
        <p:spPr>
          <a:xfrm xmlns:a="http://schemas.openxmlformats.org/drawingml/2006/main">
            <a:off x="609600" y="3248025"/>
            <a:ext cx="733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080A0"/>
                </a:solidFill>
                <a:latin typeface="Geist Mono"/>
                <a:ea typeface="Geist Mono"/>
                <a:cs typeface="Geist Mono"/>
              </a:defRPr>
            </a:pPr>
            <a:r>
              <a:rPr sz="2325" b="1">
                <a:solidFill>
                  <a:srgbClr val="0080A0"/>
                </a:solidFill>
                <a:latin typeface="Geist Mono"/>
                <a:ea typeface="Geist Mono"/>
                <a:cs typeface="Geist Mono"/>
              </a:rPr>
              <a:t>02</a:t>
            </a:r>
          </a:p>
        </p:txBody>
      </p:sp>
      <p:sp>
        <p:nvSpPr>
          <p:cNvPr id="14" name="block-21">
            <a:extLst xmlns:a="http://schemas.openxmlformats.org/drawingml/2006/main">
              <a:ext uri="{FF2B5EF4-FFF2-40B4-BE49-F238E27FC236}">
                <a16:creationId xmlns:a16="http://schemas.microsoft.com/office/drawing/2014/main" id="{703B32DC-BC7F-425A-90BC-6BA412D5561A}"/>
              </a:ext>
            </a:extLst>
          </p:cNvPr>
          <p:cNvSpPr>
            <a:spLocks xmlns:a="http://schemas.openxmlformats.org/drawingml/2006/main" noGrp="1"/>
          </p:cNvSpPr>
          <p:nvPr/>
        </p:nvSpPr>
        <p:spPr>
          <a:xfrm xmlns:a="http://schemas.openxmlformats.org/drawingml/2006/main">
            <a:off x="1609725" y="3248025"/>
            <a:ext cx="352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63659"/>
                </a:solidFill>
                <a:latin typeface="IBM Plex Sans"/>
                <a:ea typeface="IBM Plex Sans"/>
                <a:cs typeface="IBM Plex Sans"/>
              </a:defRPr>
            </a:pPr>
            <a:r>
              <a:rPr sz="2250" b="1">
                <a:solidFill>
                  <a:srgbClr val="063659"/>
                </a:solidFill>
                <a:latin typeface="IBM Plex Sans"/>
                <a:ea typeface="IBM Plex Sans"/>
                <a:cs typeface="IBM Plex Sans"/>
              </a:rPr>
              <a:t>Modell &amp; Prüfung</a:t>
            </a:r>
          </a:p>
        </p:txBody>
      </p:sp>
      <p:sp>
        <p:nvSpPr>
          <p:cNvPr id="15" name="block-22">
            <a:extLst xmlns:a="http://schemas.openxmlformats.org/drawingml/2006/main">
              <a:ext uri="{FF2B5EF4-FFF2-40B4-BE49-F238E27FC236}">
                <a16:creationId xmlns:a16="http://schemas.microsoft.com/office/drawing/2014/main" id="{DA2DFB4E-EE09-4D22-9BA3-F2F94C45E8BA}"/>
              </a:ext>
            </a:extLst>
          </p:cNvPr>
          <p:cNvSpPr>
            <a:spLocks xmlns:a="http://schemas.openxmlformats.org/drawingml/2006/main" noGrp="1"/>
          </p:cNvSpPr>
          <p:nvPr/>
        </p:nvSpPr>
        <p:spPr>
          <a:xfrm xmlns:a="http://schemas.openxmlformats.org/drawingml/2006/main">
            <a:off x="5238750" y="3267075"/>
            <a:ext cx="4667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Validierung, Ergebnis und Prüfhinweise</a:t>
            </a:r>
          </a:p>
        </p:txBody>
      </p:sp>
      <p:sp>
        <p:nvSpPr>
          <p:cNvPr id="16" name="block-23">
            <a:extLst xmlns:a="http://schemas.openxmlformats.org/drawingml/2006/main">
              <a:ext uri="{FF2B5EF4-FFF2-40B4-BE49-F238E27FC236}">
                <a16:creationId xmlns:a16="http://schemas.microsoft.com/office/drawing/2014/main" id="{41DD4597-5D4F-46A2-B408-905FA8CDCCAA}"/>
              </a:ext>
            </a:extLst>
          </p:cNvPr>
          <p:cNvSpPr>
            <a:spLocks xmlns:a="http://schemas.openxmlformats.org/drawingml/2006/main" noGrp="1"/>
          </p:cNvSpPr>
          <p:nvPr/>
        </p:nvSpPr>
        <p:spPr>
          <a:xfrm xmlns:a="http://schemas.openxmlformats.org/drawingml/2006/main">
            <a:off x="10287000" y="3267075"/>
            <a:ext cx="129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75" b="1">
                <a:solidFill>
                  <a:srgbClr val="0080A0"/>
                </a:solidFill>
                <a:latin typeface="IBM Plex Sans"/>
                <a:ea typeface="IBM Plex Sans"/>
                <a:cs typeface="IBM Plex Sans"/>
              </a:defRPr>
            </a:pPr>
            <a:r>
              <a:rPr sz="1875" b="1">
                <a:solidFill>
                  <a:srgbClr val="0080A0"/>
                </a:solidFill>
                <a:latin typeface="IBM Plex Sans"/>
                <a:ea typeface="IBM Plex Sans"/>
                <a:cs typeface="IBM Plex Sans"/>
              </a:rPr>
              <a:t>14 Min.</a:t>
            </a:r>
          </a:p>
        </p:txBody>
      </p:sp>
      <p:sp>
        <p:nvSpPr>
          <p:cNvPr id="17" name="block-24">
            <a:extLst xmlns:a="http://schemas.openxmlformats.org/drawingml/2006/main">
              <a:ext uri="{FF2B5EF4-FFF2-40B4-BE49-F238E27FC236}">
                <a16:creationId xmlns:a16="http://schemas.microsoft.com/office/drawing/2014/main" id="{22FB9176-3089-4E95-B6E7-4E65AE291AD3}"/>
              </a:ext>
            </a:extLst>
          </p:cNvPr>
          <p:cNvSpPr>
            <a:spLocks xmlns:a="http://schemas.openxmlformats.org/drawingml/2006/main" noGrp="1"/>
          </p:cNvSpPr>
          <p:nvPr/>
        </p:nvSpPr>
        <p:spPr>
          <a:xfrm xmlns:a="http://schemas.openxmlformats.org/drawingml/2006/main">
            <a:off x="1609725" y="3829050"/>
            <a:ext cx="99726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8" name="block-25">
            <a:extLst xmlns:a="http://schemas.openxmlformats.org/drawingml/2006/main">
              <a:ext uri="{FF2B5EF4-FFF2-40B4-BE49-F238E27FC236}">
                <a16:creationId xmlns:a16="http://schemas.microsoft.com/office/drawing/2014/main" id="{56CBADE9-765C-4F6A-82C2-C2C685DAD2CE}"/>
              </a:ext>
            </a:extLst>
          </p:cNvPr>
          <p:cNvSpPr>
            <a:spLocks xmlns:a="http://schemas.openxmlformats.org/drawingml/2006/main" noGrp="1"/>
          </p:cNvSpPr>
          <p:nvPr/>
        </p:nvSpPr>
        <p:spPr>
          <a:xfrm xmlns:a="http://schemas.openxmlformats.org/drawingml/2006/main">
            <a:off x="609600" y="3971925"/>
            <a:ext cx="733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080A0"/>
                </a:solidFill>
                <a:latin typeface="Geist Mono"/>
                <a:ea typeface="Geist Mono"/>
                <a:cs typeface="Geist Mono"/>
              </a:defRPr>
            </a:pPr>
            <a:r>
              <a:rPr sz="2325" b="1">
                <a:solidFill>
                  <a:srgbClr val="0080A0"/>
                </a:solidFill>
                <a:latin typeface="Geist Mono"/>
                <a:ea typeface="Geist Mono"/>
                <a:cs typeface="Geist Mono"/>
              </a:rPr>
              <a:t>03</a:t>
            </a:r>
          </a:p>
        </p:txBody>
      </p:sp>
      <p:sp>
        <p:nvSpPr>
          <p:cNvPr id="19" name="block-26">
            <a:extLst xmlns:a="http://schemas.openxmlformats.org/drawingml/2006/main">
              <a:ext uri="{FF2B5EF4-FFF2-40B4-BE49-F238E27FC236}">
                <a16:creationId xmlns:a16="http://schemas.microsoft.com/office/drawing/2014/main" id="{8E823E8B-7A08-4780-87F6-F76C9B8A8DE1}"/>
              </a:ext>
            </a:extLst>
          </p:cNvPr>
          <p:cNvSpPr>
            <a:spLocks xmlns:a="http://schemas.openxmlformats.org/drawingml/2006/main" noGrp="1"/>
          </p:cNvSpPr>
          <p:nvPr/>
        </p:nvSpPr>
        <p:spPr>
          <a:xfrm xmlns:a="http://schemas.openxmlformats.org/drawingml/2006/main">
            <a:off x="1609725" y="3971925"/>
            <a:ext cx="352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63659"/>
                </a:solidFill>
                <a:latin typeface="IBM Plex Sans"/>
                <a:ea typeface="IBM Plex Sans"/>
                <a:cs typeface="IBM Plex Sans"/>
              </a:defRPr>
            </a:pPr>
            <a:r>
              <a:rPr sz="2250" b="1">
                <a:solidFill>
                  <a:srgbClr val="063659"/>
                </a:solidFill>
                <a:latin typeface="IBM Plex Sans"/>
                <a:ea typeface="IBM Plex Sans"/>
                <a:cs typeface="IBM Plex Sans"/>
              </a:rPr>
              <a:t>Pilot &amp; Nutzen</a:t>
            </a:r>
          </a:p>
        </p:txBody>
      </p:sp>
      <p:sp>
        <p:nvSpPr>
          <p:cNvPr id="20" name="block-27">
            <a:extLst xmlns:a="http://schemas.openxmlformats.org/drawingml/2006/main">
              <a:ext uri="{FF2B5EF4-FFF2-40B4-BE49-F238E27FC236}">
                <a16:creationId xmlns:a16="http://schemas.microsoft.com/office/drawing/2014/main" id="{B478E2E6-1FF8-470D-9AC4-F250A8AFC9B7}"/>
              </a:ext>
            </a:extLst>
          </p:cNvPr>
          <p:cNvSpPr>
            <a:spLocks xmlns:a="http://schemas.openxmlformats.org/drawingml/2006/main" noGrp="1"/>
          </p:cNvSpPr>
          <p:nvPr/>
        </p:nvSpPr>
        <p:spPr>
          <a:xfrm xmlns:a="http://schemas.openxmlformats.org/drawingml/2006/main">
            <a:off x="5238750" y="3990975"/>
            <a:ext cx="4667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Grenzen, Umsetzung und Fazit</a:t>
            </a:r>
          </a:p>
        </p:txBody>
      </p:sp>
      <p:sp>
        <p:nvSpPr>
          <p:cNvPr id="21" name="block-28">
            <a:extLst xmlns:a="http://schemas.openxmlformats.org/drawingml/2006/main">
              <a:ext uri="{FF2B5EF4-FFF2-40B4-BE49-F238E27FC236}">
                <a16:creationId xmlns:a16="http://schemas.microsoft.com/office/drawing/2014/main" id="{5777F6D7-B0EA-4862-88D6-BEC578069017}"/>
              </a:ext>
            </a:extLst>
          </p:cNvPr>
          <p:cNvSpPr>
            <a:spLocks xmlns:a="http://schemas.openxmlformats.org/drawingml/2006/main" noGrp="1"/>
          </p:cNvSpPr>
          <p:nvPr/>
        </p:nvSpPr>
        <p:spPr>
          <a:xfrm xmlns:a="http://schemas.openxmlformats.org/drawingml/2006/main">
            <a:off x="10287000" y="3990975"/>
            <a:ext cx="129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75" b="1">
                <a:solidFill>
                  <a:srgbClr val="0080A0"/>
                </a:solidFill>
                <a:latin typeface="IBM Plex Sans"/>
                <a:ea typeface="IBM Plex Sans"/>
                <a:cs typeface="IBM Plex Sans"/>
              </a:defRPr>
            </a:pPr>
            <a:r>
              <a:rPr sz="1875" b="1">
                <a:solidFill>
                  <a:srgbClr val="0080A0"/>
                </a:solidFill>
                <a:latin typeface="IBM Plex Sans"/>
                <a:ea typeface="IBM Plex Sans"/>
                <a:cs typeface="IBM Plex Sans"/>
              </a:rPr>
              <a:t>8 Min.</a:t>
            </a:r>
          </a:p>
        </p:txBody>
      </p:sp>
      <p:sp>
        <p:nvSpPr>
          <p:cNvPr id="22" name="block-29">
            <a:extLst xmlns:a="http://schemas.openxmlformats.org/drawingml/2006/main">
              <a:ext uri="{FF2B5EF4-FFF2-40B4-BE49-F238E27FC236}">
                <a16:creationId xmlns:a16="http://schemas.microsoft.com/office/drawing/2014/main" id="{D52A88AB-D8F9-4746-B6BB-C746CC9F859F}"/>
              </a:ext>
            </a:extLst>
          </p:cNvPr>
          <p:cNvSpPr>
            <a:spLocks xmlns:a="http://schemas.openxmlformats.org/drawingml/2006/main" noGrp="1"/>
          </p:cNvSpPr>
          <p:nvPr/>
        </p:nvSpPr>
        <p:spPr>
          <a:xfrm xmlns:a="http://schemas.openxmlformats.org/drawingml/2006/main">
            <a:off x="1609725" y="4552950"/>
            <a:ext cx="99726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3" name="block-30">
            <a:extLst xmlns:a="http://schemas.openxmlformats.org/drawingml/2006/main">
              <a:ext uri="{FF2B5EF4-FFF2-40B4-BE49-F238E27FC236}">
                <a16:creationId xmlns:a16="http://schemas.microsoft.com/office/drawing/2014/main" id="{2F7B2AAB-FFD0-4B74-A8E8-E029BAF260C5}"/>
              </a:ext>
            </a:extLst>
          </p:cNvPr>
          <p:cNvSpPr>
            <a:spLocks xmlns:a="http://schemas.openxmlformats.org/drawingml/2006/main" noGrp="1"/>
          </p:cNvSpPr>
          <p:nvPr/>
        </p:nvSpPr>
        <p:spPr>
          <a:xfrm xmlns:a="http://schemas.openxmlformats.org/drawingml/2006/main">
            <a:off x="609600" y="4695825"/>
            <a:ext cx="733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080A0"/>
                </a:solidFill>
                <a:latin typeface="Geist Mono"/>
                <a:ea typeface="Geist Mono"/>
                <a:cs typeface="Geist Mono"/>
              </a:defRPr>
            </a:pPr>
            <a:r>
              <a:rPr sz="2325" b="1">
                <a:solidFill>
                  <a:srgbClr val="0080A0"/>
                </a:solidFill>
                <a:latin typeface="Geist Mono"/>
                <a:ea typeface="Geist Mono"/>
                <a:cs typeface="Geist Mono"/>
              </a:rPr>
              <a:t>04</a:t>
            </a:r>
          </a:p>
        </p:txBody>
      </p:sp>
      <p:sp>
        <p:nvSpPr>
          <p:cNvPr id="24" name="block-31">
            <a:extLst xmlns:a="http://schemas.openxmlformats.org/drawingml/2006/main">
              <a:ext uri="{FF2B5EF4-FFF2-40B4-BE49-F238E27FC236}">
                <a16:creationId xmlns:a16="http://schemas.microsoft.com/office/drawing/2014/main" id="{C0E7D19C-94A4-4A67-B61E-274A01C3FB36}"/>
              </a:ext>
            </a:extLst>
          </p:cNvPr>
          <p:cNvSpPr>
            <a:spLocks xmlns:a="http://schemas.openxmlformats.org/drawingml/2006/main" noGrp="1"/>
          </p:cNvSpPr>
          <p:nvPr/>
        </p:nvSpPr>
        <p:spPr>
          <a:xfrm xmlns:a="http://schemas.openxmlformats.org/drawingml/2006/main">
            <a:off x="1609725" y="4695825"/>
            <a:ext cx="352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63659"/>
                </a:solidFill>
                <a:latin typeface="IBM Plex Sans"/>
                <a:ea typeface="IBM Plex Sans"/>
                <a:cs typeface="IBM Plex Sans"/>
              </a:defRPr>
            </a:pPr>
            <a:r>
              <a:rPr sz="2250" b="1">
                <a:solidFill>
                  <a:srgbClr val="063659"/>
                </a:solidFill>
                <a:latin typeface="IBM Plex Sans"/>
                <a:ea typeface="IBM Plex Sans"/>
                <a:cs typeface="IBM Plex Sans"/>
              </a:rPr>
              <a:t>Live-Demo</a:t>
            </a:r>
          </a:p>
        </p:txBody>
      </p:sp>
      <p:sp>
        <p:nvSpPr>
          <p:cNvPr id="25" name="block-32">
            <a:extLst xmlns:a="http://schemas.openxmlformats.org/drawingml/2006/main">
              <a:ext uri="{FF2B5EF4-FFF2-40B4-BE49-F238E27FC236}">
                <a16:creationId xmlns:a16="http://schemas.microsoft.com/office/drawing/2014/main" id="{D57AFF59-C597-4B6F-A8A4-D20191D74238}"/>
              </a:ext>
            </a:extLst>
          </p:cNvPr>
          <p:cNvSpPr>
            <a:spLocks xmlns:a="http://schemas.openxmlformats.org/drawingml/2006/main" noGrp="1"/>
          </p:cNvSpPr>
          <p:nvPr/>
        </p:nvSpPr>
        <p:spPr>
          <a:xfrm xmlns:a="http://schemas.openxmlformats.org/drawingml/2006/main">
            <a:off x="5238750" y="4714875"/>
            <a:ext cx="4667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Datenweg und dokumentierter Prüffall</a:t>
            </a:r>
          </a:p>
        </p:txBody>
      </p:sp>
      <p:sp>
        <p:nvSpPr>
          <p:cNvPr id="26" name="block-33">
            <a:extLst xmlns:a="http://schemas.openxmlformats.org/drawingml/2006/main">
              <a:ext uri="{FF2B5EF4-FFF2-40B4-BE49-F238E27FC236}">
                <a16:creationId xmlns:a16="http://schemas.microsoft.com/office/drawing/2014/main" id="{72AEB16A-9299-4EB5-9781-DFF4D689391E}"/>
              </a:ext>
            </a:extLst>
          </p:cNvPr>
          <p:cNvSpPr>
            <a:spLocks xmlns:a="http://schemas.openxmlformats.org/drawingml/2006/main" noGrp="1"/>
          </p:cNvSpPr>
          <p:nvPr/>
        </p:nvSpPr>
        <p:spPr>
          <a:xfrm xmlns:a="http://schemas.openxmlformats.org/drawingml/2006/main">
            <a:off x="10287000" y="4714875"/>
            <a:ext cx="129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75" b="1">
                <a:solidFill>
                  <a:srgbClr val="0080A0"/>
                </a:solidFill>
                <a:latin typeface="IBM Plex Sans"/>
                <a:ea typeface="IBM Plex Sans"/>
                <a:cs typeface="IBM Plex Sans"/>
              </a:defRPr>
            </a:pPr>
            <a:r>
              <a:rPr sz="1875" b="1">
                <a:solidFill>
                  <a:srgbClr val="0080A0"/>
                </a:solidFill>
                <a:latin typeface="IBM Plex Sans"/>
                <a:ea typeface="IBM Plex Sans"/>
                <a:cs typeface="IBM Plex Sans"/>
              </a:rPr>
              <a:t>15 Min.</a:t>
            </a:r>
          </a:p>
        </p:txBody>
      </p:sp>
      <p:sp>
        <p:nvSpPr>
          <p:cNvPr id="27" name="block-34">
            <a:extLst xmlns:a="http://schemas.openxmlformats.org/drawingml/2006/main">
              <a:ext uri="{FF2B5EF4-FFF2-40B4-BE49-F238E27FC236}">
                <a16:creationId xmlns:a16="http://schemas.microsoft.com/office/drawing/2014/main" id="{53796520-EA2E-4A92-9028-00975563850B}"/>
              </a:ext>
            </a:extLst>
          </p:cNvPr>
          <p:cNvSpPr>
            <a:spLocks xmlns:a="http://schemas.openxmlformats.org/drawingml/2006/main" noGrp="1"/>
          </p:cNvSpPr>
          <p:nvPr/>
        </p:nvSpPr>
        <p:spPr>
          <a:xfrm xmlns:a="http://schemas.openxmlformats.org/drawingml/2006/main">
            <a:off x="1609725" y="5276850"/>
            <a:ext cx="99726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Tree>
    <p:extLst>
      <p:ext uri="{BB962C8B-B14F-4D97-AF65-F5344CB8AC3E}">
        <p14:creationId xmlns:p14="http://schemas.microsoft.com/office/powerpoint/2010/main" val="51974536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block-35">
            <a:extLst xmlns:a="http://schemas.openxmlformats.org/drawingml/2006/main">
              <a:ext uri="{FF2B5EF4-FFF2-40B4-BE49-F238E27FC236}">
                <a16:creationId xmlns:a16="http://schemas.microsoft.com/office/drawing/2014/main" id="{B0A5B4E2-253A-481E-A237-2195F267F58A}"/>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01 / AUSGANGSLAGE</a:t>
            </a:r>
          </a:p>
        </p:txBody>
      </p:sp>
      <p:sp>
        <p:nvSpPr>
          <p:cNvPr id="2" name="block-36">
            <a:extLst xmlns:a="http://schemas.openxmlformats.org/drawingml/2006/main">
              <a:ext uri="{FF2B5EF4-FFF2-40B4-BE49-F238E27FC236}">
                <a16:creationId xmlns:a16="http://schemas.microsoft.com/office/drawing/2014/main" id="{9271317E-8DD7-40FC-8BAB-5F8EA8968CAF}"/>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Zwei Entscheidungen brauchen bessere Daten</a:t>
            </a:r>
          </a:p>
        </p:txBody>
      </p:sp>
      <p:sp>
        <p:nvSpPr>
          <p:cNvPr id="3" name="block-37">
            <a:extLst xmlns:a="http://schemas.openxmlformats.org/drawingml/2006/main">
              <a:ext uri="{FF2B5EF4-FFF2-40B4-BE49-F238E27FC236}">
                <a16:creationId xmlns:a16="http://schemas.microsoft.com/office/drawing/2014/main" id="{ADABE3DF-EB8F-4D9D-91FB-DB47C380862D}"/>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SWW versorgt 700 gewerbliche, industrielle und kommunale Anschlüsse.</a:t>
            </a:r>
          </a:p>
        </p:txBody>
      </p:sp>
      <p:sp>
        <p:nvSpPr>
          <p:cNvPr id="4" name="block-38">
            <a:extLst xmlns:a="http://schemas.openxmlformats.org/drawingml/2006/main">
              <a:ext uri="{FF2B5EF4-FFF2-40B4-BE49-F238E27FC236}">
                <a16:creationId xmlns:a16="http://schemas.microsoft.com/office/drawing/2014/main" id="{ACB2F070-ECAD-489E-BD41-97F9B5C33A0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b71ba8b071564300"/>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39">
            <a:extLst xmlns:a="http://schemas.openxmlformats.org/drawingml/2006/main">
              <a:ext uri="{FF2B5EF4-FFF2-40B4-BE49-F238E27FC236}">
                <a16:creationId xmlns:a16="http://schemas.microsoft.com/office/drawing/2014/main" id="{AB0C8EA0-BF5D-4065-992F-05A4E000A5E2}"/>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40">
            <a:extLst xmlns:a="http://schemas.openxmlformats.org/drawingml/2006/main">
              <a:ext uri="{FF2B5EF4-FFF2-40B4-BE49-F238E27FC236}">
                <a16:creationId xmlns:a16="http://schemas.microsoft.com/office/drawing/2014/main" id="{C020AB41-4EA3-4D27-8B5A-FFCB9497938D}"/>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03 / 39</a:t>
            </a:r>
          </a:p>
        </p:txBody>
      </p:sp>
      <p:sp>
        <p:nvSpPr>
          <p:cNvPr id="8" name="block-41">
            <a:extLst xmlns:a="http://schemas.openxmlformats.org/drawingml/2006/main">
              <a:ext uri="{FF2B5EF4-FFF2-40B4-BE49-F238E27FC236}">
                <a16:creationId xmlns:a16="http://schemas.microsoft.com/office/drawing/2014/main" id="{8B617C86-97B3-4224-864F-F7D5E004FDE6}"/>
              </a:ext>
            </a:extLst>
          </p:cNvPr>
          <p:cNvSpPr>
            <a:spLocks xmlns:a="http://schemas.openxmlformats.org/drawingml/2006/main" noGrp="1"/>
          </p:cNvSpPr>
          <p:nvPr/>
        </p:nvSpPr>
        <p:spPr>
          <a:xfrm xmlns:a="http://schemas.openxmlformats.org/drawingml/2006/main">
            <a:off x="609600" y="262890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0080A0"/>
                </a:solidFill>
                <a:latin typeface="IBM Plex Sans"/>
                <a:ea typeface="IBM Plex Sans"/>
                <a:cs typeface="IBM Plex Sans"/>
              </a:defRPr>
            </a:pPr>
            <a:r>
              <a:rPr sz="1425" b="1">
                <a:solidFill>
                  <a:srgbClr val="0080A0"/>
                </a:solidFill>
                <a:latin typeface="IBM Plex Sans"/>
                <a:ea typeface="IBM Plex Sans"/>
                <a:cs typeface="IBM Plex Sans"/>
              </a:rPr>
              <a:t>BESCHAFFUNG</a:t>
            </a:r>
          </a:p>
        </p:txBody>
      </p:sp>
      <p:sp>
        <p:nvSpPr>
          <p:cNvPr id="9" name="block-42">
            <a:extLst xmlns:a="http://schemas.openxmlformats.org/drawingml/2006/main">
              <a:ext uri="{FF2B5EF4-FFF2-40B4-BE49-F238E27FC236}">
                <a16:creationId xmlns:a16="http://schemas.microsoft.com/office/drawing/2014/main" id="{AE9AECB6-C646-4CF0-9FCE-4A948A93B1A9}"/>
              </a:ext>
            </a:extLst>
          </p:cNvPr>
          <p:cNvSpPr>
            <a:spLocks xmlns:a="http://schemas.openxmlformats.org/drawingml/2006/main" noGrp="1"/>
          </p:cNvSpPr>
          <p:nvPr/>
        </p:nvSpPr>
        <p:spPr>
          <a:xfrm xmlns:a="http://schemas.openxmlformats.org/drawingml/2006/main">
            <a:off x="609600" y="308610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063659"/>
                </a:solidFill>
                <a:latin typeface="IBM Plex Sans"/>
                <a:ea typeface="IBM Plex Sans"/>
                <a:cs typeface="IBM Plex Sans"/>
              </a:defRPr>
            </a:pPr>
            <a:r>
              <a:rPr sz="2850" b="1">
                <a:solidFill>
                  <a:srgbClr val="063659"/>
                </a:solidFill>
                <a:latin typeface="IBM Plex Sans"/>
                <a:ea typeface="IBM Plex Sans"/>
                <a:cs typeface="IBM Plex Sans"/>
              </a:rPr>
              <a:t>Was wird nächsten</a:t>
            </a:r>
          </a:p>
          <a:p xmlns:a="http://schemas.openxmlformats.org/drawingml/2006/main">
            <a:pPr>
              <a:defRPr sz="2850" b="1">
                <a:solidFill>
                  <a:srgbClr val="063659"/>
                </a:solidFill>
                <a:latin typeface="IBM Plex Sans"/>
                <a:ea typeface="IBM Plex Sans"/>
                <a:cs typeface="IBM Plex Sans"/>
              </a:defRPr>
            </a:pPr>
            <a:r>
              <a:rPr sz="2850" b="1">
                <a:solidFill>
                  <a:srgbClr val="063659"/>
                </a:solidFill>
                <a:latin typeface="IBM Plex Sans"/>
                <a:ea typeface="IBM Plex Sans"/>
                <a:cs typeface="IBM Plex Sans"/>
              </a:rPr>
              <a:t>Monat benötigt?</a:t>
            </a:r>
          </a:p>
        </p:txBody>
      </p:sp>
      <p:sp>
        <p:nvSpPr>
          <p:cNvPr id="10" name="block-43">
            <a:extLst xmlns:a="http://schemas.openxmlformats.org/drawingml/2006/main">
              <a:ext uri="{FF2B5EF4-FFF2-40B4-BE49-F238E27FC236}">
                <a16:creationId xmlns:a16="http://schemas.microsoft.com/office/drawing/2014/main" id="{8673A7D8-63BC-44B2-9C9C-891A4ADD7762}"/>
              </a:ext>
            </a:extLst>
          </p:cNvPr>
          <p:cNvSpPr>
            <a:spLocks xmlns:a="http://schemas.openxmlformats.org/drawingml/2006/main" noGrp="1"/>
          </p:cNvSpPr>
          <p:nvPr/>
        </p:nvSpPr>
        <p:spPr>
          <a:xfrm xmlns:a="http://schemas.openxmlformats.org/drawingml/2006/main">
            <a:off x="609600" y="4400550"/>
            <a:ext cx="50768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Manuelle Fortschreibung erschwert</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eine konsistente Planung.</a:t>
            </a:r>
          </a:p>
        </p:txBody>
      </p:sp>
      <p:sp>
        <p:nvSpPr>
          <p:cNvPr id="11" name="block-44">
            <a:extLst xmlns:a="http://schemas.openxmlformats.org/drawingml/2006/main">
              <a:ext uri="{FF2B5EF4-FFF2-40B4-BE49-F238E27FC236}">
                <a16:creationId xmlns:a16="http://schemas.microsoft.com/office/drawing/2014/main" id="{BFB1202D-C816-4E02-96E3-4BCA8138A4F3}"/>
              </a:ext>
            </a:extLst>
          </p:cNvPr>
          <p:cNvSpPr>
            <a:spLocks xmlns:a="http://schemas.openxmlformats.org/drawingml/2006/main" noGrp="1"/>
          </p:cNvSpPr>
          <p:nvPr/>
        </p:nvSpPr>
        <p:spPr>
          <a:xfrm xmlns:a="http://schemas.openxmlformats.org/drawingml/2006/main">
            <a:off x="5962650" y="2552700"/>
            <a:ext cx="9525" cy="2800350"/>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2" name="block-45">
            <a:extLst xmlns:a="http://schemas.openxmlformats.org/drawingml/2006/main">
              <a:ext uri="{FF2B5EF4-FFF2-40B4-BE49-F238E27FC236}">
                <a16:creationId xmlns:a16="http://schemas.microsoft.com/office/drawing/2014/main" id="{90AA46CC-D6E9-4704-89D9-8B4041B1C1DF}"/>
              </a:ext>
            </a:extLst>
          </p:cNvPr>
          <p:cNvSpPr>
            <a:spLocks xmlns:a="http://schemas.openxmlformats.org/drawingml/2006/main" noGrp="1"/>
          </p:cNvSpPr>
          <p:nvPr/>
        </p:nvSpPr>
        <p:spPr>
          <a:xfrm xmlns:a="http://schemas.openxmlformats.org/drawingml/2006/main">
            <a:off x="6477000" y="2628900"/>
            <a:ext cx="5105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0080A0"/>
                </a:solidFill>
                <a:latin typeface="IBM Plex Sans"/>
                <a:ea typeface="IBM Plex Sans"/>
                <a:cs typeface="IBM Plex Sans"/>
              </a:defRPr>
            </a:pPr>
            <a:r>
              <a:rPr sz="1425" b="1">
                <a:solidFill>
                  <a:srgbClr val="0080A0"/>
                </a:solidFill>
                <a:latin typeface="IBM Plex Sans"/>
                <a:ea typeface="IBM Plex Sans"/>
                <a:cs typeface="IBM Plex Sans"/>
              </a:rPr>
              <a:t>NETZ &amp; ABRECHNUNG</a:t>
            </a:r>
          </a:p>
        </p:txBody>
      </p:sp>
      <p:sp>
        <p:nvSpPr>
          <p:cNvPr id="13" name="block-46">
            <a:extLst xmlns:a="http://schemas.openxmlformats.org/drawingml/2006/main">
              <a:ext uri="{FF2B5EF4-FFF2-40B4-BE49-F238E27FC236}">
                <a16:creationId xmlns:a16="http://schemas.microsoft.com/office/drawing/2014/main" id="{179B2FEB-CA34-4343-B594-A5F0AEF954CB}"/>
              </a:ext>
            </a:extLst>
          </p:cNvPr>
          <p:cNvSpPr>
            <a:spLocks xmlns:a="http://schemas.openxmlformats.org/drawingml/2006/main" noGrp="1"/>
          </p:cNvSpPr>
          <p:nvPr/>
        </p:nvSpPr>
        <p:spPr>
          <a:xfrm xmlns:a="http://schemas.openxmlformats.org/drawingml/2006/main">
            <a:off x="6477000" y="3086100"/>
            <a:ext cx="5105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063659"/>
                </a:solidFill>
                <a:latin typeface="IBM Plex Sans"/>
                <a:ea typeface="IBM Plex Sans"/>
                <a:cs typeface="IBM Plex Sans"/>
              </a:defRPr>
            </a:pPr>
            <a:r>
              <a:rPr sz="2850" b="1">
                <a:solidFill>
                  <a:srgbClr val="063659"/>
                </a:solidFill>
                <a:latin typeface="IBM Plex Sans"/>
                <a:ea typeface="IBM Plex Sans"/>
                <a:cs typeface="IBM Plex Sans"/>
              </a:rPr>
              <a:t>Welche Abweichung</a:t>
            </a:r>
          </a:p>
          <a:p xmlns:a="http://schemas.openxmlformats.org/drawingml/2006/main">
            <a:pPr>
              <a:defRPr sz="2850" b="1">
                <a:solidFill>
                  <a:srgbClr val="063659"/>
                </a:solidFill>
                <a:latin typeface="IBM Plex Sans"/>
                <a:ea typeface="IBM Plex Sans"/>
                <a:cs typeface="IBM Plex Sans"/>
              </a:defRPr>
            </a:pPr>
            <a:r>
              <a:rPr sz="2850" b="1">
                <a:solidFill>
                  <a:srgbClr val="063659"/>
                </a:solidFill>
                <a:latin typeface="IBM Plex Sans"/>
                <a:ea typeface="IBM Plex Sans"/>
                <a:cs typeface="IBM Plex Sans"/>
              </a:rPr>
              <a:t>muss geprüft werden?</a:t>
            </a:r>
          </a:p>
        </p:txBody>
      </p:sp>
      <p:sp>
        <p:nvSpPr>
          <p:cNvPr id="14" name="block-47">
            <a:extLst xmlns:a="http://schemas.openxmlformats.org/drawingml/2006/main">
              <a:ext uri="{FF2B5EF4-FFF2-40B4-BE49-F238E27FC236}">
                <a16:creationId xmlns:a16="http://schemas.microsoft.com/office/drawing/2014/main" id="{AE013A67-1D38-49BF-A790-31B05D3CFAF6}"/>
              </a:ext>
            </a:extLst>
          </p:cNvPr>
          <p:cNvSpPr>
            <a:spLocks xmlns:a="http://schemas.openxmlformats.org/drawingml/2006/main" noGrp="1"/>
          </p:cNvSpPr>
          <p:nvPr/>
        </p:nvSpPr>
        <p:spPr>
          <a:xfrm xmlns:a="http://schemas.openxmlformats.org/drawingml/2006/main">
            <a:off x="6477000" y="4400550"/>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Auffälligkeiten werden teilweise</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erst quartalsweise sichtbar.</a:t>
            </a:r>
          </a:p>
        </p:txBody>
      </p:sp>
      <p:sp>
        <p:nvSpPr>
          <p:cNvPr id="15" name="block-48">
            <a:extLst xmlns:a="http://schemas.openxmlformats.org/drawingml/2006/main">
              <a:ext uri="{FF2B5EF4-FFF2-40B4-BE49-F238E27FC236}">
                <a16:creationId xmlns:a16="http://schemas.microsoft.com/office/drawing/2014/main" id="{AB439BBC-C9A1-4F87-9C13-B74FB16BB1F3}"/>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6" name="block-49">
            <a:extLst xmlns:a="http://schemas.openxmlformats.org/drawingml/2006/main">
              <a:ext uri="{FF2B5EF4-FFF2-40B4-BE49-F238E27FC236}">
                <a16:creationId xmlns:a16="http://schemas.microsoft.com/office/drawing/2014/main" id="{A819DC0D-B3D1-496E-A931-FB2062357620}"/>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Ziel: monatlich prognostizieren und ungewöhnliche Fälle gezielt prüfen.</a:t>
            </a:r>
          </a:p>
        </p:txBody>
      </p:sp>
    </p:spTree>
    <p:extLst>
      <p:ext uri="{BB962C8B-B14F-4D97-AF65-F5344CB8AC3E}">
        <p14:creationId xmlns:p14="http://schemas.microsoft.com/office/powerpoint/2010/main" val="27591192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block-50">
            <a:extLst xmlns:a="http://schemas.openxmlformats.org/drawingml/2006/main">
              <a:ext uri="{FF2B5EF4-FFF2-40B4-BE49-F238E27FC236}">
                <a16:creationId xmlns:a16="http://schemas.microsoft.com/office/drawing/2014/main" id="{01EDC572-A331-44DF-962F-70A0E7044672}"/>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01 / PROJEKTZIEL</a:t>
            </a:r>
          </a:p>
        </p:txBody>
      </p:sp>
      <p:sp>
        <p:nvSpPr>
          <p:cNvPr id="2" name="block-51">
            <a:extLst xmlns:a="http://schemas.openxmlformats.org/drawingml/2006/main">
              <a:ext uri="{FF2B5EF4-FFF2-40B4-BE49-F238E27FC236}">
                <a16:creationId xmlns:a16="http://schemas.microsoft.com/office/drawing/2014/main" id="{D97912B9-E2B8-4E16-9DFC-5F52122A4C6D}"/>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Der Erfolg muss überprüfbar sein</a:t>
            </a:r>
          </a:p>
        </p:txBody>
      </p:sp>
      <p:sp>
        <p:nvSpPr>
          <p:cNvPr id="3" name="block-52">
            <a:extLst xmlns:a="http://schemas.openxmlformats.org/drawingml/2006/main">
              <a:ext uri="{FF2B5EF4-FFF2-40B4-BE49-F238E27FC236}">
                <a16:creationId xmlns:a16="http://schemas.microsoft.com/office/drawing/2014/main" id="{9AAC602F-4370-4D8C-8FCC-D74524AA8FE9}"/>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Der Prototyp verbindet eine Prognose mit einem dokumentierten Prüfprozess.</a:t>
            </a:r>
          </a:p>
        </p:txBody>
      </p:sp>
      <p:sp>
        <p:nvSpPr>
          <p:cNvPr id="4" name="block-53">
            <a:extLst xmlns:a="http://schemas.openxmlformats.org/drawingml/2006/main">
              <a:ext uri="{FF2B5EF4-FFF2-40B4-BE49-F238E27FC236}">
                <a16:creationId xmlns:a16="http://schemas.microsoft.com/office/drawing/2014/main" id="{F7BCD75E-0E65-418C-B152-512DFF6E7F2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504ff7759c1b4dd0"/>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54">
            <a:extLst xmlns:a="http://schemas.openxmlformats.org/drawingml/2006/main">
              <a:ext uri="{FF2B5EF4-FFF2-40B4-BE49-F238E27FC236}">
                <a16:creationId xmlns:a16="http://schemas.microsoft.com/office/drawing/2014/main" id="{C0470B3C-BDD9-47DF-8C39-9BCB0C659EE9}"/>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55">
            <a:extLst xmlns:a="http://schemas.openxmlformats.org/drawingml/2006/main">
              <a:ext uri="{FF2B5EF4-FFF2-40B4-BE49-F238E27FC236}">
                <a16:creationId xmlns:a16="http://schemas.microsoft.com/office/drawing/2014/main" id="{9379A32C-1935-4531-B753-F07740A4C288}"/>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04 / 39</a:t>
            </a:r>
          </a:p>
        </p:txBody>
      </p:sp>
      <p:sp>
        <p:nvSpPr>
          <p:cNvPr id="8" name="block-56">
            <a:extLst xmlns:a="http://schemas.openxmlformats.org/drawingml/2006/main">
              <a:ext uri="{FF2B5EF4-FFF2-40B4-BE49-F238E27FC236}">
                <a16:creationId xmlns:a16="http://schemas.microsoft.com/office/drawing/2014/main" id="{F48E01A5-8731-4058-A246-E261EA017E6D}"/>
              </a:ext>
            </a:extLst>
          </p:cNvPr>
          <p:cNvSpPr>
            <a:spLocks xmlns:a="http://schemas.openxmlformats.org/drawingml/2006/main" noGrp="1"/>
          </p:cNvSpPr>
          <p:nvPr/>
        </p:nvSpPr>
        <p:spPr>
          <a:xfrm xmlns:a="http://schemas.openxmlformats.org/drawingml/2006/main">
            <a:off x="609600" y="2562225"/>
            <a:ext cx="314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50" b="1">
                <a:solidFill>
                  <a:srgbClr val="0080A0"/>
                </a:solidFill>
                <a:latin typeface="Geist Mono"/>
                <a:ea typeface="Geist Mono"/>
                <a:cs typeface="Geist Mono"/>
              </a:defRPr>
            </a:pPr>
            <a:r>
              <a:rPr sz="4350" b="1">
                <a:solidFill>
                  <a:srgbClr val="0080A0"/>
                </a:solidFill>
                <a:latin typeface="Geist Mono"/>
                <a:ea typeface="Geist Mono"/>
                <a:cs typeface="Geist Mono"/>
              </a:rPr>
              <a:t>01</a:t>
            </a:r>
          </a:p>
        </p:txBody>
      </p:sp>
      <p:sp>
        <p:nvSpPr>
          <p:cNvPr id="9" name="block-57">
            <a:extLst xmlns:a="http://schemas.openxmlformats.org/drawingml/2006/main">
              <a:ext uri="{FF2B5EF4-FFF2-40B4-BE49-F238E27FC236}">
                <a16:creationId xmlns:a16="http://schemas.microsoft.com/office/drawing/2014/main" id="{CBA61423-FB14-4524-917C-A36A3811A922}"/>
              </a:ext>
            </a:extLst>
          </p:cNvPr>
          <p:cNvSpPr>
            <a:spLocks xmlns:a="http://schemas.openxmlformats.org/drawingml/2006/main" noGrp="1"/>
          </p:cNvSpPr>
          <p:nvPr/>
        </p:nvSpPr>
        <p:spPr>
          <a:xfrm xmlns:a="http://schemas.openxmlformats.org/drawingml/2006/main">
            <a:off x="609600" y="3438525"/>
            <a:ext cx="3286125"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0" name="block-58">
            <a:extLst xmlns:a="http://schemas.openxmlformats.org/drawingml/2006/main">
              <a:ext uri="{FF2B5EF4-FFF2-40B4-BE49-F238E27FC236}">
                <a16:creationId xmlns:a16="http://schemas.microsoft.com/office/drawing/2014/main" id="{B134CE00-73C0-43C9-B606-2969C56B1BD1}"/>
              </a:ext>
            </a:extLst>
          </p:cNvPr>
          <p:cNvSpPr>
            <a:spLocks xmlns:a="http://schemas.openxmlformats.org/drawingml/2006/main" noGrp="1"/>
          </p:cNvSpPr>
          <p:nvPr/>
        </p:nvSpPr>
        <p:spPr>
          <a:xfrm xmlns:a="http://schemas.openxmlformats.org/drawingml/2006/main">
            <a:off x="609600" y="3695700"/>
            <a:ext cx="333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63659"/>
                </a:solidFill>
                <a:latin typeface="IBM Plex Sans"/>
                <a:ea typeface="IBM Plex Sans"/>
                <a:cs typeface="IBM Plex Sans"/>
              </a:defRPr>
            </a:pPr>
            <a:r>
              <a:rPr sz="2250" b="1">
                <a:solidFill>
                  <a:srgbClr val="063659"/>
                </a:solidFill>
                <a:latin typeface="IBM Plex Sans"/>
                <a:ea typeface="IBM Plex Sans"/>
                <a:cs typeface="IBM Plex Sans"/>
              </a:rPr>
              <a:t>Verlässliche Basis</a:t>
            </a:r>
          </a:p>
        </p:txBody>
      </p:sp>
      <p:sp>
        <p:nvSpPr>
          <p:cNvPr id="11" name="block-59">
            <a:extLst xmlns:a="http://schemas.openxmlformats.org/drawingml/2006/main">
              <a:ext uri="{FF2B5EF4-FFF2-40B4-BE49-F238E27FC236}">
                <a16:creationId xmlns:a16="http://schemas.microsoft.com/office/drawing/2014/main" id="{EF0B630F-FAD1-4B60-AE0F-A8C68C2A723B}"/>
              </a:ext>
            </a:extLst>
          </p:cNvPr>
          <p:cNvSpPr>
            <a:spLocks xmlns:a="http://schemas.openxmlformats.org/drawingml/2006/main" noGrp="1"/>
          </p:cNvSpPr>
          <p:nvPr/>
        </p:nvSpPr>
        <p:spPr>
          <a:xfrm xmlns:a="http://schemas.openxmlformats.org/drawingml/2006/main">
            <a:off x="609600" y="4276725"/>
            <a:ext cx="3333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Einheiten, Schlüssel und</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Historie reproduzierbar</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aufbereiten.</a:t>
            </a:r>
          </a:p>
        </p:txBody>
      </p:sp>
      <p:sp>
        <p:nvSpPr>
          <p:cNvPr id="12" name="block-60">
            <a:extLst xmlns:a="http://schemas.openxmlformats.org/drawingml/2006/main">
              <a:ext uri="{FF2B5EF4-FFF2-40B4-BE49-F238E27FC236}">
                <a16:creationId xmlns:a16="http://schemas.microsoft.com/office/drawing/2014/main" id="{45EC0ECF-4293-428A-8D05-5675213D531F}"/>
              </a:ext>
            </a:extLst>
          </p:cNvPr>
          <p:cNvSpPr>
            <a:spLocks xmlns:a="http://schemas.openxmlformats.org/drawingml/2006/main" noGrp="1"/>
          </p:cNvSpPr>
          <p:nvPr/>
        </p:nvSpPr>
        <p:spPr>
          <a:xfrm xmlns:a="http://schemas.openxmlformats.org/drawingml/2006/main">
            <a:off x="4362450" y="2562225"/>
            <a:ext cx="314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50" b="1">
                <a:solidFill>
                  <a:srgbClr val="0080A0"/>
                </a:solidFill>
                <a:latin typeface="Geist Mono"/>
                <a:ea typeface="Geist Mono"/>
                <a:cs typeface="Geist Mono"/>
              </a:defRPr>
            </a:pPr>
            <a:r>
              <a:rPr sz="4350" b="1">
                <a:solidFill>
                  <a:srgbClr val="0080A0"/>
                </a:solidFill>
                <a:latin typeface="Geist Mono"/>
                <a:ea typeface="Geist Mono"/>
                <a:cs typeface="Geist Mono"/>
              </a:rPr>
              <a:t>02</a:t>
            </a:r>
          </a:p>
        </p:txBody>
      </p:sp>
      <p:sp>
        <p:nvSpPr>
          <p:cNvPr id="13" name="block-61">
            <a:extLst xmlns:a="http://schemas.openxmlformats.org/drawingml/2006/main">
              <a:ext uri="{FF2B5EF4-FFF2-40B4-BE49-F238E27FC236}">
                <a16:creationId xmlns:a16="http://schemas.microsoft.com/office/drawing/2014/main" id="{E1C22F30-51B9-44D8-B39C-05A86C64377A}"/>
              </a:ext>
            </a:extLst>
          </p:cNvPr>
          <p:cNvSpPr>
            <a:spLocks xmlns:a="http://schemas.openxmlformats.org/drawingml/2006/main" noGrp="1"/>
          </p:cNvSpPr>
          <p:nvPr/>
        </p:nvSpPr>
        <p:spPr>
          <a:xfrm xmlns:a="http://schemas.openxmlformats.org/drawingml/2006/main">
            <a:off x="4362450" y="3438525"/>
            <a:ext cx="3286125"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4" name="block-62">
            <a:extLst xmlns:a="http://schemas.openxmlformats.org/drawingml/2006/main">
              <a:ext uri="{FF2B5EF4-FFF2-40B4-BE49-F238E27FC236}">
                <a16:creationId xmlns:a16="http://schemas.microsoft.com/office/drawing/2014/main" id="{A86F1C24-C963-4452-92EA-39822CD25B42}"/>
              </a:ext>
            </a:extLst>
          </p:cNvPr>
          <p:cNvSpPr>
            <a:spLocks xmlns:a="http://schemas.openxmlformats.org/drawingml/2006/main" noGrp="1"/>
          </p:cNvSpPr>
          <p:nvPr/>
        </p:nvSpPr>
        <p:spPr>
          <a:xfrm xmlns:a="http://schemas.openxmlformats.org/drawingml/2006/main">
            <a:off x="4362450" y="3695700"/>
            <a:ext cx="333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63659"/>
                </a:solidFill>
                <a:latin typeface="IBM Plex Sans"/>
                <a:ea typeface="IBM Plex Sans"/>
                <a:cs typeface="IBM Plex Sans"/>
              </a:defRPr>
            </a:pPr>
            <a:r>
              <a:rPr sz="2250" b="1">
                <a:solidFill>
                  <a:srgbClr val="063659"/>
                </a:solidFill>
                <a:latin typeface="IBM Plex Sans"/>
                <a:ea typeface="IBM Plex Sans"/>
                <a:cs typeface="IBM Plex Sans"/>
              </a:rPr>
              <a:t>Messbare Prognose</a:t>
            </a:r>
          </a:p>
        </p:txBody>
      </p:sp>
      <p:sp>
        <p:nvSpPr>
          <p:cNvPr id="15" name="block-63">
            <a:extLst xmlns:a="http://schemas.openxmlformats.org/drawingml/2006/main">
              <a:ext uri="{FF2B5EF4-FFF2-40B4-BE49-F238E27FC236}">
                <a16:creationId xmlns:a16="http://schemas.microsoft.com/office/drawing/2014/main" id="{52D691A2-3172-4DD7-AFAE-943C03375F45}"/>
              </a:ext>
            </a:extLst>
          </p:cNvPr>
          <p:cNvSpPr>
            <a:spLocks xmlns:a="http://schemas.openxmlformats.org/drawingml/2006/main" noGrp="1"/>
          </p:cNvSpPr>
          <p:nvPr/>
        </p:nvSpPr>
        <p:spPr>
          <a:xfrm xmlns:a="http://schemas.openxmlformats.org/drawingml/2006/main">
            <a:off x="4362450" y="4276725"/>
            <a:ext cx="3333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Gegen einfache Baselines</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auf zeitlich späteren</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Monaten bewerten.</a:t>
            </a:r>
          </a:p>
        </p:txBody>
      </p:sp>
      <p:sp>
        <p:nvSpPr>
          <p:cNvPr id="16" name="block-64">
            <a:extLst xmlns:a="http://schemas.openxmlformats.org/drawingml/2006/main">
              <a:ext uri="{FF2B5EF4-FFF2-40B4-BE49-F238E27FC236}">
                <a16:creationId xmlns:a16="http://schemas.microsoft.com/office/drawing/2014/main" id="{10EF50C8-12C8-41F3-B287-AB3194B8E37B}"/>
              </a:ext>
            </a:extLst>
          </p:cNvPr>
          <p:cNvSpPr>
            <a:spLocks xmlns:a="http://schemas.openxmlformats.org/drawingml/2006/main" noGrp="1"/>
          </p:cNvSpPr>
          <p:nvPr/>
        </p:nvSpPr>
        <p:spPr>
          <a:xfrm xmlns:a="http://schemas.openxmlformats.org/drawingml/2006/main">
            <a:off x="8115300" y="2562225"/>
            <a:ext cx="314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50" b="1">
                <a:solidFill>
                  <a:srgbClr val="0080A0"/>
                </a:solidFill>
                <a:latin typeface="Geist Mono"/>
                <a:ea typeface="Geist Mono"/>
                <a:cs typeface="Geist Mono"/>
              </a:defRPr>
            </a:pPr>
            <a:r>
              <a:rPr sz="4350" b="1">
                <a:solidFill>
                  <a:srgbClr val="0080A0"/>
                </a:solidFill>
                <a:latin typeface="Geist Mono"/>
                <a:ea typeface="Geist Mono"/>
                <a:cs typeface="Geist Mono"/>
              </a:rPr>
              <a:t>03</a:t>
            </a:r>
          </a:p>
        </p:txBody>
      </p:sp>
      <p:sp>
        <p:nvSpPr>
          <p:cNvPr id="17" name="block-65">
            <a:extLst xmlns:a="http://schemas.openxmlformats.org/drawingml/2006/main">
              <a:ext uri="{FF2B5EF4-FFF2-40B4-BE49-F238E27FC236}">
                <a16:creationId xmlns:a16="http://schemas.microsoft.com/office/drawing/2014/main" id="{067166A4-0E40-477F-8670-1890038870D4}"/>
              </a:ext>
            </a:extLst>
          </p:cNvPr>
          <p:cNvSpPr>
            <a:spLocks xmlns:a="http://schemas.openxmlformats.org/drawingml/2006/main" noGrp="1"/>
          </p:cNvSpPr>
          <p:nvPr/>
        </p:nvSpPr>
        <p:spPr>
          <a:xfrm xmlns:a="http://schemas.openxmlformats.org/drawingml/2006/main">
            <a:off x="8115300" y="3438525"/>
            <a:ext cx="3286125"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8" name="block-66">
            <a:extLst xmlns:a="http://schemas.openxmlformats.org/drawingml/2006/main">
              <a:ext uri="{FF2B5EF4-FFF2-40B4-BE49-F238E27FC236}">
                <a16:creationId xmlns:a16="http://schemas.microsoft.com/office/drawing/2014/main" id="{2B5A807E-9D14-4FF8-B5D9-401FC9E07395}"/>
              </a:ext>
            </a:extLst>
          </p:cNvPr>
          <p:cNvSpPr>
            <a:spLocks xmlns:a="http://schemas.openxmlformats.org/drawingml/2006/main" noGrp="1"/>
          </p:cNvSpPr>
          <p:nvPr/>
        </p:nvSpPr>
        <p:spPr>
          <a:xfrm xmlns:a="http://schemas.openxmlformats.org/drawingml/2006/main">
            <a:off x="8115300" y="3695700"/>
            <a:ext cx="333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63659"/>
                </a:solidFill>
                <a:latin typeface="IBM Plex Sans"/>
                <a:ea typeface="IBM Plex Sans"/>
                <a:cs typeface="IBM Plex Sans"/>
              </a:defRPr>
            </a:pPr>
            <a:r>
              <a:rPr sz="2250" b="1">
                <a:solidFill>
                  <a:srgbClr val="063659"/>
                </a:solidFill>
                <a:latin typeface="IBM Plex Sans"/>
                <a:ea typeface="IBM Plex Sans"/>
                <a:cs typeface="IBM Plex Sans"/>
              </a:rPr>
              <a:t>Prüfbarer Hinweis</a:t>
            </a:r>
          </a:p>
        </p:txBody>
      </p:sp>
      <p:sp>
        <p:nvSpPr>
          <p:cNvPr id="19" name="block-67">
            <a:extLst xmlns:a="http://schemas.openxmlformats.org/drawingml/2006/main">
              <a:ext uri="{FF2B5EF4-FFF2-40B4-BE49-F238E27FC236}">
                <a16:creationId xmlns:a16="http://schemas.microsoft.com/office/drawing/2014/main" id="{DC0818F9-3F7E-47B7-B461-6A5452B8A6BC}"/>
              </a:ext>
            </a:extLst>
          </p:cNvPr>
          <p:cNvSpPr>
            <a:spLocks xmlns:a="http://schemas.openxmlformats.org/drawingml/2006/main" noGrp="1"/>
          </p:cNvSpPr>
          <p:nvPr/>
        </p:nvSpPr>
        <p:spPr>
          <a:xfrm xmlns:a="http://schemas.openxmlformats.org/drawingml/2006/main">
            <a:off x="8115300" y="4276725"/>
            <a:ext cx="3333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Abweichung und Grenze</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sichtbar machen;</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Entscheidung festhalten.</a:t>
            </a:r>
          </a:p>
        </p:txBody>
      </p:sp>
      <p:sp>
        <p:nvSpPr>
          <p:cNvPr id="20" name="block-68">
            <a:extLst xmlns:a="http://schemas.openxmlformats.org/drawingml/2006/main">
              <a:ext uri="{FF2B5EF4-FFF2-40B4-BE49-F238E27FC236}">
                <a16:creationId xmlns:a16="http://schemas.microsoft.com/office/drawing/2014/main" id="{30C82CA3-5045-442B-9266-E255D6C8E01F}"/>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1" name="block-69">
            <a:extLst xmlns:a="http://schemas.openxmlformats.org/drawingml/2006/main">
              <a:ext uri="{FF2B5EF4-FFF2-40B4-BE49-F238E27FC236}">
                <a16:creationId xmlns:a16="http://schemas.microsoft.com/office/drawing/2014/main" id="{53826971-647E-480B-A6D1-CAE83814F26D}"/>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Gemessen: Prognosefehler und Hinweisvolumen. Betriebsnutzen folgt im Pilot.</a:t>
            </a:r>
          </a:p>
        </p:txBody>
      </p:sp>
    </p:spTree>
    <p:extLst>
      <p:ext uri="{BB962C8B-B14F-4D97-AF65-F5344CB8AC3E}">
        <p14:creationId xmlns:p14="http://schemas.microsoft.com/office/powerpoint/2010/main" val="25705933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block-70">
            <a:extLst xmlns:a="http://schemas.openxmlformats.org/drawingml/2006/main">
              <a:ext uri="{FF2B5EF4-FFF2-40B4-BE49-F238E27FC236}">
                <a16:creationId xmlns:a16="http://schemas.microsoft.com/office/drawing/2014/main" id="{8B279C2F-5794-46BB-AD07-A0C145ECDA67}"/>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01 / ZUSAMMENARBEIT</a:t>
            </a:r>
          </a:p>
        </p:txBody>
      </p:sp>
      <p:sp>
        <p:nvSpPr>
          <p:cNvPr id="2" name="block-71">
            <a:extLst xmlns:a="http://schemas.openxmlformats.org/drawingml/2006/main">
              <a:ext uri="{FF2B5EF4-FFF2-40B4-BE49-F238E27FC236}">
                <a16:creationId xmlns:a16="http://schemas.microsoft.com/office/drawing/2014/main" id="{6D694568-0A30-4664-AE5D-8B15B2A3875C}"/>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Drei Schwerpunkte – ein gemeinsamer Datenweg</a:t>
            </a:r>
          </a:p>
        </p:txBody>
      </p:sp>
      <p:sp>
        <p:nvSpPr>
          <p:cNvPr id="3" name="block-72">
            <a:extLst xmlns:a="http://schemas.openxmlformats.org/drawingml/2006/main">
              <a:ext uri="{FF2B5EF4-FFF2-40B4-BE49-F238E27FC236}">
                <a16:creationId xmlns:a16="http://schemas.microsoft.com/office/drawing/2014/main" id="{00C97188-0944-4F49-916C-3EEDD38BCE5E}"/>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Die Beiträge bleiben sichtbar; Übergaben werden über gemeinsame Ergebnisse geprüft.</a:t>
            </a:r>
          </a:p>
        </p:txBody>
      </p:sp>
      <p:sp>
        <p:nvSpPr>
          <p:cNvPr id="4" name="block-73">
            <a:extLst xmlns:a="http://schemas.openxmlformats.org/drawingml/2006/main">
              <a:ext uri="{FF2B5EF4-FFF2-40B4-BE49-F238E27FC236}">
                <a16:creationId xmlns:a16="http://schemas.microsoft.com/office/drawing/2014/main" id="{8FED7561-AD76-4C4D-B1F7-1A6B52513C6F}"/>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cf83cba2c36742cb"/>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74">
            <a:extLst xmlns:a="http://schemas.openxmlformats.org/drawingml/2006/main">
              <a:ext uri="{FF2B5EF4-FFF2-40B4-BE49-F238E27FC236}">
                <a16:creationId xmlns:a16="http://schemas.microsoft.com/office/drawing/2014/main" id="{B1BBCB08-7440-4000-80B0-EDB26531538B}"/>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75">
            <a:extLst xmlns:a="http://schemas.openxmlformats.org/drawingml/2006/main">
              <a:ext uri="{FF2B5EF4-FFF2-40B4-BE49-F238E27FC236}">
                <a16:creationId xmlns:a16="http://schemas.microsoft.com/office/drawing/2014/main" id="{72265E8F-4330-478E-92DB-F44D1472725D}"/>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05 / 39</a:t>
            </a:r>
          </a:p>
        </p:txBody>
      </p:sp>
      <p:sp>
        <p:nvSpPr>
          <p:cNvPr id="8" name="block-76">
            <a:extLst xmlns:a="http://schemas.openxmlformats.org/drawingml/2006/main">
              <a:ext uri="{FF2B5EF4-FFF2-40B4-BE49-F238E27FC236}">
                <a16:creationId xmlns:a16="http://schemas.microsoft.com/office/drawing/2014/main" id="{7645E0C5-BD97-4EC9-9DEC-CD0DD8672CAB}"/>
              </a:ext>
            </a:extLst>
          </p:cNvPr>
          <p:cNvSpPr>
            <a:spLocks xmlns:a="http://schemas.openxmlformats.org/drawingml/2006/main" noGrp="1"/>
          </p:cNvSpPr>
          <p:nvPr/>
        </p:nvSpPr>
        <p:spPr>
          <a:xfrm xmlns:a="http://schemas.openxmlformats.org/drawingml/2006/main">
            <a:off x="609600" y="2619375"/>
            <a:ext cx="33432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0080A0"/>
                </a:solidFill>
                <a:latin typeface="IBM Plex Sans"/>
                <a:ea typeface="IBM Plex Sans"/>
                <a:cs typeface="IBM Plex Sans"/>
              </a:defRPr>
            </a:pPr>
            <a:r>
              <a:rPr sz="1425" b="1">
                <a:solidFill>
                  <a:srgbClr val="0080A0"/>
                </a:solidFill>
                <a:latin typeface="IBM Plex Sans"/>
                <a:ea typeface="IBM Plex Sans"/>
                <a:cs typeface="IBM Plex Sans"/>
              </a:rPr>
              <a:t>1 / GRUNDLAGE</a:t>
            </a:r>
          </a:p>
        </p:txBody>
      </p:sp>
      <p:sp>
        <p:nvSpPr>
          <p:cNvPr id="9" name="block-77">
            <a:extLst xmlns:a="http://schemas.openxmlformats.org/drawingml/2006/main">
              <a:ext uri="{FF2B5EF4-FFF2-40B4-BE49-F238E27FC236}">
                <a16:creationId xmlns:a16="http://schemas.microsoft.com/office/drawing/2014/main" id="{C60A210A-55B8-4C85-B925-57CCFA90BCB1}"/>
              </a:ext>
            </a:extLst>
          </p:cNvPr>
          <p:cNvSpPr>
            <a:spLocks xmlns:a="http://schemas.openxmlformats.org/drawingml/2006/main" noGrp="1"/>
          </p:cNvSpPr>
          <p:nvPr/>
        </p:nvSpPr>
        <p:spPr>
          <a:xfrm xmlns:a="http://schemas.openxmlformats.org/drawingml/2006/main">
            <a:off x="609600" y="3067050"/>
            <a:ext cx="3286125"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0" name="block-78">
            <a:extLst xmlns:a="http://schemas.openxmlformats.org/drawingml/2006/main">
              <a:ext uri="{FF2B5EF4-FFF2-40B4-BE49-F238E27FC236}">
                <a16:creationId xmlns:a16="http://schemas.microsoft.com/office/drawing/2014/main" id="{D2407452-C765-45A8-825D-84B427F11E14}"/>
              </a:ext>
            </a:extLst>
          </p:cNvPr>
          <p:cNvSpPr>
            <a:spLocks xmlns:a="http://schemas.openxmlformats.org/drawingml/2006/main" noGrp="1"/>
          </p:cNvSpPr>
          <p:nvPr/>
        </p:nvSpPr>
        <p:spPr>
          <a:xfrm xmlns:a="http://schemas.openxmlformats.org/drawingml/2006/main">
            <a:off x="609600" y="3371850"/>
            <a:ext cx="335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Iana Kraievska</a:t>
            </a:r>
          </a:p>
        </p:txBody>
      </p:sp>
      <p:sp>
        <p:nvSpPr>
          <p:cNvPr id="11" name="block-79">
            <a:extLst xmlns:a="http://schemas.openxmlformats.org/drawingml/2006/main">
              <a:ext uri="{FF2B5EF4-FFF2-40B4-BE49-F238E27FC236}">
                <a16:creationId xmlns:a16="http://schemas.microsoft.com/office/drawing/2014/main" id="{8B0CF252-9078-4F9C-A42F-CF4D4C033CD3}"/>
              </a:ext>
            </a:extLst>
          </p:cNvPr>
          <p:cNvSpPr>
            <a:spLocks xmlns:a="http://schemas.openxmlformats.org/drawingml/2006/main" noGrp="1"/>
          </p:cNvSpPr>
          <p:nvPr/>
        </p:nvSpPr>
        <p:spPr>
          <a:xfrm xmlns:a="http://schemas.openxmlformats.org/drawingml/2006/main">
            <a:off x="609600" y="4114800"/>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080A0"/>
                </a:solidFill>
                <a:latin typeface="IBM Plex Sans"/>
                <a:ea typeface="IBM Plex Sans"/>
                <a:cs typeface="IBM Plex Sans"/>
              </a:defRPr>
            </a:pPr>
            <a:r>
              <a:rPr sz="1875" b="1">
                <a:solidFill>
                  <a:srgbClr val="0080A0"/>
                </a:solidFill>
                <a:latin typeface="IBM Plex Sans"/>
                <a:ea typeface="IBM Plex Sans"/>
                <a:cs typeface="IBM Plex Sans"/>
              </a:rPr>
              <a:t>Datenqualität</a:t>
            </a:r>
          </a:p>
        </p:txBody>
      </p:sp>
      <p:sp>
        <p:nvSpPr>
          <p:cNvPr id="12" name="block-80">
            <a:extLst xmlns:a="http://schemas.openxmlformats.org/drawingml/2006/main">
              <a:ext uri="{FF2B5EF4-FFF2-40B4-BE49-F238E27FC236}">
                <a16:creationId xmlns:a16="http://schemas.microsoft.com/office/drawing/2014/main" id="{1994757F-7FC0-4B99-97A0-D90002158A65}"/>
              </a:ext>
            </a:extLst>
          </p:cNvPr>
          <p:cNvSpPr>
            <a:spLocks xmlns:a="http://schemas.openxmlformats.org/drawingml/2006/main" noGrp="1"/>
          </p:cNvSpPr>
          <p:nvPr/>
        </p:nvSpPr>
        <p:spPr>
          <a:xfrm xmlns:a="http://schemas.openxmlformats.org/drawingml/2006/main">
            <a:off x="609600" y="4810125"/>
            <a:ext cx="333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Typen, Einheiten,</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Lücken und Regeln</a:t>
            </a:r>
          </a:p>
        </p:txBody>
      </p:sp>
      <p:sp>
        <p:nvSpPr>
          <p:cNvPr id="13" name="block-81">
            <a:extLst xmlns:a="http://schemas.openxmlformats.org/drawingml/2006/main">
              <a:ext uri="{FF2B5EF4-FFF2-40B4-BE49-F238E27FC236}">
                <a16:creationId xmlns:a16="http://schemas.microsoft.com/office/drawing/2014/main" id="{F306031B-56A6-46DF-8678-7152FC5C0BD9}"/>
              </a:ext>
            </a:extLst>
          </p:cNvPr>
          <p:cNvSpPr>
            <a:spLocks xmlns:a="http://schemas.openxmlformats.org/drawingml/2006/main" noGrp="1"/>
          </p:cNvSpPr>
          <p:nvPr/>
        </p:nvSpPr>
        <p:spPr>
          <a:xfrm xmlns:a="http://schemas.openxmlformats.org/drawingml/2006/main">
            <a:off x="4362450" y="2619375"/>
            <a:ext cx="33432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0080A0"/>
                </a:solidFill>
                <a:latin typeface="IBM Plex Sans"/>
                <a:ea typeface="IBM Plex Sans"/>
                <a:cs typeface="IBM Plex Sans"/>
              </a:defRPr>
            </a:pPr>
            <a:r>
              <a:rPr sz="1425" b="1">
                <a:solidFill>
                  <a:srgbClr val="0080A0"/>
                </a:solidFill>
                <a:latin typeface="IBM Plex Sans"/>
                <a:ea typeface="IBM Plex Sans"/>
                <a:cs typeface="IBM Plex Sans"/>
              </a:rPr>
              <a:t>2 / VERSTÄNDNIS</a:t>
            </a:r>
          </a:p>
        </p:txBody>
      </p:sp>
      <p:sp>
        <p:nvSpPr>
          <p:cNvPr id="14" name="block-82">
            <a:extLst xmlns:a="http://schemas.openxmlformats.org/drawingml/2006/main">
              <a:ext uri="{FF2B5EF4-FFF2-40B4-BE49-F238E27FC236}">
                <a16:creationId xmlns:a16="http://schemas.microsoft.com/office/drawing/2014/main" id="{7B4C29EF-6A85-4DC5-8C45-FC9B0C324AF3}"/>
              </a:ext>
            </a:extLst>
          </p:cNvPr>
          <p:cNvSpPr>
            <a:spLocks xmlns:a="http://schemas.openxmlformats.org/drawingml/2006/main" noGrp="1"/>
          </p:cNvSpPr>
          <p:nvPr/>
        </p:nvSpPr>
        <p:spPr>
          <a:xfrm xmlns:a="http://schemas.openxmlformats.org/drawingml/2006/main">
            <a:off x="4362450" y="3067050"/>
            <a:ext cx="3286125"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5" name="block-83">
            <a:extLst xmlns:a="http://schemas.openxmlformats.org/drawingml/2006/main">
              <a:ext uri="{FF2B5EF4-FFF2-40B4-BE49-F238E27FC236}">
                <a16:creationId xmlns:a16="http://schemas.microsoft.com/office/drawing/2014/main" id="{47EB5AED-A155-4A19-B100-8BCF30F450D9}"/>
              </a:ext>
            </a:extLst>
          </p:cNvPr>
          <p:cNvSpPr>
            <a:spLocks xmlns:a="http://schemas.openxmlformats.org/drawingml/2006/main" noGrp="1"/>
          </p:cNvSpPr>
          <p:nvPr/>
        </p:nvSpPr>
        <p:spPr>
          <a:xfrm xmlns:a="http://schemas.openxmlformats.org/drawingml/2006/main">
            <a:off x="4362450" y="3371850"/>
            <a:ext cx="335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Patrick Olmo Hederer</a:t>
            </a:r>
          </a:p>
        </p:txBody>
      </p:sp>
      <p:sp>
        <p:nvSpPr>
          <p:cNvPr id="16" name="block-84">
            <a:extLst xmlns:a="http://schemas.openxmlformats.org/drawingml/2006/main">
              <a:ext uri="{FF2B5EF4-FFF2-40B4-BE49-F238E27FC236}">
                <a16:creationId xmlns:a16="http://schemas.microsoft.com/office/drawing/2014/main" id="{74A3B995-AA10-4B31-A95F-15A34636991A}"/>
              </a:ext>
            </a:extLst>
          </p:cNvPr>
          <p:cNvSpPr>
            <a:spLocks xmlns:a="http://schemas.openxmlformats.org/drawingml/2006/main" noGrp="1"/>
          </p:cNvSpPr>
          <p:nvPr/>
        </p:nvSpPr>
        <p:spPr>
          <a:xfrm xmlns:a="http://schemas.openxmlformats.org/drawingml/2006/main">
            <a:off x="4362450" y="4114800"/>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080A0"/>
                </a:solidFill>
                <a:latin typeface="IBM Plex Sans"/>
                <a:ea typeface="IBM Plex Sans"/>
                <a:cs typeface="IBM Plex Sans"/>
              </a:defRPr>
            </a:pPr>
            <a:r>
              <a:rPr sz="1875" b="1">
                <a:solidFill>
                  <a:srgbClr val="0080A0"/>
                </a:solidFill>
                <a:latin typeface="IBM Plex Sans"/>
                <a:ea typeface="IBM Plex Sans"/>
                <a:cs typeface="IBM Plex Sans"/>
              </a:rPr>
              <a:t>Analyse &amp; Visualisierung</a:t>
            </a:r>
          </a:p>
        </p:txBody>
      </p:sp>
      <p:sp>
        <p:nvSpPr>
          <p:cNvPr id="17" name="block-85">
            <a:extLst xmlns:a="http://schemas.openxmlformats.org/drawingml/2006/main">
              <a:ext uri="{FF2B5EF4-FFF2-40B4-BE49-F238E27FC236}">
                <a16:creationId xmlns:a16="http://schemas.microsoft.com/office/drawing/2014/main" id="{E4C63039-A33E-4A47-B901-94569319BED3}"/>
              </a:ext>
            </a:extLst>
          </p:cNvPr>
          <p:cNvSpPr>
            <a:spLocks xmlns:a="http://schemas.openxmlformats.org/drawingml/2006/main" noGrp="1"/>
          </p:cNvSpPr>
          <p:nvPr/>
        </p:nvSpPr>
        <p:spPr>
          <a:xfrm xmlns:a="http://schemas.openxmlformats.org/drawingml/2006/main">
            <a:off x="4362450" y="4810125"/>
            <a:ext cx="333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Muster, Vergleiche</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und Visualisierung</a:t>
            </a:r>
          </a:p>
        </p:txBody>
      </p:sp>
      <p:sp>
        <p:nvSpPr>
          <p:cNvPr id="18" name="block-86">
            <a:extLst xmlns:a="http://schemas.openxmlformats.org/drawingml/2006/main">
              <a:ext uri="{FF2B5EF4-FFF2-40B4-BE49-F238E27FC236}">
                <a16:creationId xmlns:a16="http://schemas.microsoft.com/office/drawing/2014/main" id="{43ED7AFB-0916-45A4-B5C1-79219B3AED21}"/>
              </a:ext>
            </a:extLst>
          </p:cNvPr>
          <p:cNvSpPr>
            <a:spLocks xmlns:a="http://schemas.openxmlformats.org/drawingml/2006/main" noGrp="1"/>
          </p:cNvSpPr>
          <p:nvPr/>
        </p:nvSpPr>
        <p:spPr>
          <a:xfrm xmlns:a="http://schemas.openxmlformats.org/drawingml/2006/main">
            <a:off x="8115300" y="2619375"/>
            <a:ext cx="33432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0080A0"/>
                </a:solidFill>
                <a:latin typeface="IBM Plex Sans"/>
                <a:ea typeface="IBM Plex Sans"/>
                <a:cs typeface="IBM Plex Sans"/>
              </a:defRPr>
            </a:pPr>
            <a:r>
              <a:rPr sz="1425" b="1">
                <a:solidFill>
                  <a:srgbClr val="0080A0"/>
                </a:solidFill>
                <a:latin typeface="IBM Plex Sans"/>
                <a:ea typeface="IBM Plex Sans"/>
                <a:cs typeface="IBM Plex Sans"/>
              </a:rPr>
              <a:t>3 / UMSETZUNG</a:t>
            </a:r>
          </a:p>
        </p:txBody>
      </p:sp>
      <p:sp>
        <p:nvSpPr>
          <p:cNvPr id="19" name="block-87">
            <a:extLst xmlns:a="http://schemas.openxmlformats.org/drawingml/2006/main">
              <a:ext uri="{FF2B5EF4-FFF2-40B4-BE49-F238E27FC236}">
                <a16:creationId xmlns:a16="http://schemas.microsoft.com/office/drawing/2014/main" id="{A3775CF4-0956-43C8-ACF6-43E616023488}"/>
              </a:ext>
            </a:extLst>
          </p:cNvPr>
          <p:cNvSpPr>
            <a:spLocks xmlns:a="http://schemas.openxmlformats.org/drawingml/2006/main" noGrp="1"/>
          </p:cNvSpPr>
          <p:nvPr/>
        </p:nvSpPr>
        <p:spPr>
          <a:xfrm xmlns:a="http://schemas.openxmlformats.org/drawingml/2006/main">
            <a:off x="8115300" y="3067050"/>
            <a:ext cx="3286125"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0" name="block-88">
            <a:extLst xmlns:a="http://schemas.openxmlformats.org/drawingml/2006/main">
              <a:ext uri="{FF2B5EF4-FFF2-40B4-BE49-F238E27FC236}">
                <a16:creationId xmlns:a16="http://schemas.microsoft.com/office/drawing/2014/main" id="{8860513B-364F-454A-9661-75F5480870F0}"/>
              </a:ext>
            </a:extLst>
          </p:cNvPr>
          <p:cNvSpPr>
            <a:spLocks xmlns:a="http://schemas.openxmlformats.org/drawingml/2006/main" noGrp="1"/>
          </p:cNvSpPr>
          <p:nvPr/>
        </p:nvSpPr>
        <p:spPr>
          <a:xfrm xmlns:a="http://schemas.openxmlformats.org/drawingml/2006/main">
            <a:off x="8115300" y="3371850"/>
            <a:ext cx="335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Kiko Ramon Lukas</a:t>
            </a:r>
          </a:p>
        </p:txBody>
      </p:sp>
      <p:sp>
        <p:nvSpPr>
          <p:cNvPr id="21" name="block-89">
            <a:extLst xmlns:a="http://schemas.openxmlformats.org/drawingml/2006/main">
              <a:ext uri="{FF2B5EF4-FFF2-40B4-BE49-F238E27FC236}">
                <a16:creationId xmlns:a16="http://schemas.microsoft.com/office/drawing/2014/main" id="{413F548D-C720-4FF8-996C-C9AFE77CA870}"/>
              </a:ext>
            </a:extLst>
          </p:cNvPr>
          <p:cNvSpPr>
            <a:spLocks xmlns:a="http://schemas.openxmlformats.org/drawingml/2006/main" noGrp="1"/>
          </p:cNvSpPr>
          <p:nvPr/>
        </p:nvSpPr>
        <p:spPr>
          <a:xfrm xmlns:a="http://schemas.openxmlformats.org/drawingml/2006/main">
            <a:off x="8115300" y="4114800"/>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080A0"/>
                </a:solidFill>
                <a:latin typeface="IBM Plex Sans"/>
                <a:ea typeface="IBM Plex Sans"/>
                <a:cs typeface="IBM Plex Sans"/>
              </a:defRPr>
            </a:pPr>
            <a:r>
              <a:rPr sz="1875" b="1">
                <a:solidFill>
                  <a:srgbClr val="0080A0"/>
                </a:solidFill>
                <a:latin typeface="IBM Plex Sans"/>
                <a:ea typeface="IBM Plex Sans"/>
                <a:cs typeface="IBM Plex Sans"/>
              </a:rPr>
              <a:t>Modell &amp; Evaluation</a:t>
            </a:r>
          </a:p>
        </p:txBody>
      </p:sp>
      <p:sp>
        <p:nvSpPr>
          <p:cNvPr id="22" name="block-90">
            <a:extLst xmlns:a="http://schemas.openxmlformats.org/drawingml/2006/main">
              <a:ext uri="{FF2B5EF4-FFF2-40B4-BE49-F238E27FC236}">
                <a16:creationId xmlns:a16="http://schemas.microsoft.com/office/drawing/2014/main" id="{72FB13EC-15E6-4BC5-B026-B877D43AA67E}"/>
              </a:ext>
            </a:extLst>
          </p:cNvPr>
          <p:cNvSpPr>
            <a:spLocks xmlns:a="http://schemas.openxmlformats.org/drawingml/2006/main" noGrp="1"/>
          </p:cNvSpPr>
          <p:nvPr/>
        </p:nvSpPr>
        <p:spPr>
          <a:xfrm xmlns:a="http://schemas.openxmlformats.org/drawingml/2006/main">
            <a:off x="8115300" y="4810125"/>
            <a:ext cx="333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Zeit-Folds, Benchmark</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und Prüfgrenze</a:t>
            </a:r>
          </a:p>
        </p:txBody>
      </p:sp>
      <p:sp>
        <p:nvSpPr>
          <p:cNvPr id="23" name="block-91">
            <a:extLst xmlns:a="http://schemas.openxmlformats.org/drawingml/2006/main">
              <a:ext uri="{FF2B5EF4-FFF2-40B4-BE49-F238E27FC236}">
                <a16:creationId xmlns:a16="http://schemas.microsoft.com/office/drawing/2014/main" id="{1B3610B5-820E-486D-A85D-6BC9AB43A614}"/>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4" name="block-92">
            <a:extLst xmlns:a="http://schemas.openxmlformats.org/drawingml/2006/main">
              <a:ext uri="{FF2B5EF4-FFF2-40B4-BE49-F238E27FC236}">
                <a16:creationId xmlns:a16="http://schemas.microsoft.com/office/drawing/2014/main" id="{E8E13A71-E581-44AE-BE02-F2A4552C8132}"/>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Gemeinsam: gleiche Kennzahlen, gleiche Begriffe und nachvollziehbare Quellen.</a:t>
            </a:r>
          </a:p>
        </p:txBody>
      </p:sp>
    </p:spTree>
    <p:extLst>
      <p:ext uri="{BB962C8B-B14F-4D97-AF65-F5344CB8AC3E}">
        <p14:creationId xmlns:p14="http://schemas.microsoft.com/office/powerpoint/2010/main" val="275343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block-93">
            <a:extLst xmlns:a="http://schemas.openxmlformats.org/drawingml/2006/main">
              <a:ext uri="{FF2B5EF4-FFF2-40B4-BE49-F238E27FC236}">
                <a16:creationId xmlns:a16="http://schemas.microsoft.com/office/drawing/2014/main" id="{741864C1-E442-486A-9C2A-15AF9108381B}"/>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02 / DATENBASIS</a:t>
            </a:r>
          </a:p>
        </p:txBody>
      </p:sp>
      <p:sp>
        <p:nvSpPr>
          <p:cNvPr id="2" name="block-94">
            <a:extLst xmlns:a="http://schemas.openxmlformats.org/drawingml/2006/main">
              <a:ext uri="{FF2B5EF4-FFF2-40B4-BE49-F238E27FC236}">
                <a16:creationId xmlns:a16="http://schemas.microsoft.com/office/drawing/2014/main" id="{CA13C189-60D7-4390-8092-AB6B1A08DE70}"/>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700 Zähler über 24 vollständige Monate</a:t>
            </a:r>
          </a:p>
        </p:txBody>
      </p:sp>
      <p:sp>
        <p:nvSpPr>
          <p:cNvPr id="3" name="block-95">
            <a:extLst xmlns:a="http://schemas.openxmlformats.org/drawingml/2006/main">
              <a:ext uri="{FF2B5EF4-FFF2-40B4-BE49-F238E27FC236}">
                <a16:creationId xmlns:a16="http://schemas.microsoft.com/office/drawing/2014/main" id="{8A78BD62-EDF9-469F-A2B1-66479BEA4BCA}"/>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Januar 2024 bis Dezember 2025 · eine Beobachtung pro Zähler und Monat</a:t>
            </a:r>
          </a:p>
        </p:txBody>
      </p:sp>
      <p:sp>
        <p:nvSpPr>
          <p:cNvPr id="4" name="block-96">
            <a:extLst xmlns:a="http://schemas.openxmlformats.org/drawingml/2006/main">
              <a:ext uri="{FF2B5EF4-FFF2-40B4-BE49-F238E27FC236}">
                <a16:creationId xmlns:a16="http://schemas.microsoft.com/office/drawing/2014/main" id="{BE9F4A1C-C7E5-4E9D-AED4-082963DB5811}"/>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678bc0936b7340ad"/>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97">
            <a:extLst xmlns:a="http://schemas.openxmlformats.org/drawingml/2006/main">
              <a:ext uri="{FF2B5EF4-FFF2-40B4-BE49-F238E27FC236}">
                <a16:creationId xmlns:a16="http://schemas.microsoft.com/office/drawing/2014/main" id="{B4B4877C-57AC-45F2-8856-98A94DC04855}"/>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98">
            <a:extLst xmlns:a="http://schemas.openxmlformats.org/drawingml/2006/main">
              <a:ext uri="{FF2B5EF4-FFF2-40B4-BE49-F238E27FC236}">
                <a16:creationId xmlns:a16="http://schemas.microsoft.com/office/drawing/2014/main" id="{6D0A1A35-B5E1-42F3-9303-4D9E8BF67523}"/>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06 / 39</a:t>
            </a:r>
          </a:p>
        </p:txBody>
      </p:sp>
      <p:sp>
        <p:nvSpPr>
          <p:cNvPr id="8" name="block-99">
            <a:extLst xmlns:a="http://schemas.openxmlformats.org/drawingml/2006/main">
              <a:ext uri="{FF2B5EF4-FFF2-40B4-BE49-F238E27FC236}">
                <a16:creationId xmlns:a16="http://schemas.microsoft.com/office/drawing/2014/main" id="{C5E35043-C49C-48E9-A53A-2BF0ACF13B26}"/>
              </a:ext>
            </a:extLst>
          </p:cNvPr>
          <p:cNvSpPr>
            <a:spLocks xmlns:a="http://schemas.openxmlformats.org/drawingml/2006/main" noGrp="1"/>
          </p:cNvSpPr>
          <p:nvPr/>
        </p:nvSpPr>
        <p:spPr>
          <a:xfrm xmlns:a="http://schemas.openxmlformats.org/drawingml/2006/main">
            <a:off x="609600" y="2486025"/>
            <a:ext cx="285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700</a:t>
            </a:r>
          </a:p>
        </p:txBody>
      </p:sp>
      <p:sp>
        <p:nvSpPr>
          <p:cNvPr id="9" name="block-100">
            <a:extLst xmlns:a="http://schemas.openxmlformats.org/drawingml/2006/main">
              <a:ext uri="{FF2B5EF4-FFF2-40B4-BE49-F238E27FC236}">
                <a16:creationId xmlns:a16="http://schemas.microsoft.com/office/drawing/2014/main" id="{65DBFE79-64C4-45AD-80F9-FCF729A56656}"/>
              </a:ext>
            </a:extLst>
          </p:cNvPr>
          <p:cNvSpPr>
            <a:spLocks xmlns:a="http://schemas.openxmlformats.org/drawingml/2006/main" noGrp="1"/>
          </p:cNvSpPr>
          <p:nvPr/>
        </p:nvSpPr>
        <p:spPr>
          <a:xfrm xmlns:a="http://schemas.openxmlformats.org/drawingml/2006/main">
            <a:off x="609600" y="3267075"/>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Zähler</a:t>
            </a:r>
          </a:p>
        </p:txBody>
      </p:sp>
      <p:sp>
        <p:nvSpPr>
          <p:cNvPr id="10" name="block-101">
            <a:extLst xmlns:a="http://schemas.openxmlformats.org/drawingml/2006/main">
              <a:ext uri="{FF2B5EF4-FFF2-40B4-BE49-F238E27FC236}">
                <a16:creationId xmlns:a16="http://schemas.microsoft.com/office/drawing/2014/main" id="{2F44EECC-413C-40BE-B58F-30803652D3D3}"/>
              </a:ext>
            </a:extLst>
          </p:cNvPr>
          <p:cNvSpPr>
            <a:spLocks xmlns:a="http://schemas.openxmlformats.org/drawingml/2006/main" noGrp="1"/>
          </p:cNvSpPr>
          <p:nvPr/>
        </p:nvSpPr>
        <p:spPr>
          <a:xfrm xmlns:a="http://schemas.openxmlformats.org/drawingml/2006/main">
            <a:off x="4543425" y="2486025"/>
            <a:ext cx="285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24</a:t>
            </a:r>
          </a:p>
        </p:txBody>
      </p:sp>
      <p:sp>
        <p:nvSpPr>
          <p:cNvPr id="11" name="block-102">
            <a:extLst xmlns:a="http://schemas.openxmlformats.org/drawingml/2006/main">
              <a:ext uri="{FF2B5EF4-FFF2-40B4-BE49-F238E27FC236}">
                <a16:creationId xmlns:a16="http://schemas.microsoft.com/office/drawing/2014/main" id="{23982DA8-1842-4AEC-9FAB-83699F5D36AA}"/>
              </a:ext>
            </a:extLst>
          </p:cNvPr>
          <p:cNvSpPr>
            <a:spLocks xmlns:a="http://schemas.openxmlformats.org/drawingml/2006/main" noGrp="1"/>
          </p:cNvSpPr>
          <p:nvPr/>
        </p:nvSpPr>
        <p:spPr>
          <a:xfrm xmlns:a="http://schemas.openxmlformats.org/drawingml/2006/main">
            <a:off x="4543425" y="3267075"/>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Monate</a:t>
            </a:r>
          </a:p>
        </p:txBody>
      </p:sp>
      <p:sp>
        <p:nvSpPr>
          <p:cNvPr id="12" name="block-103">
            <a:extLst xmlns:a="http://schemas.openxmlformats.org/drawingml/2006/main">
              <a:ext uri="{FF2B5EF4-FFF2-40B4-BE49-F238E27FC236}">
                <a16:creationId xmlns:a16="http://schemas.microsoft.com/office/drawing/2014/main" id="{437E4DD9-F933-4E0B-9166-2D7A1B4E9F53}"/>
              </a:ext>
            </a:extLst>
          </p:cNvPr>
          <p:cNvSpPr>
            <a:spLocks xmlns:a="http://schemas.openxmlformats.org/drawingml/2006/main" noGrp="1"/>
          </p:cNvSpPr>
          <p:nvPr/>
        </p:nvSpPr>
        <p:spPr>
          <a:xfrm xmlns:a="http://schemas.openxmlformats.org/drawingml/2006/main">
            <a:off x="8477250" y="2486025"/>
            <a:ext cx="3105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16.800</a:t>
            </a:r>
          </a:p>
        </p:txBody>
      </p:sp>
      <p:sp>
        <p:nvSpPr>
          <p:cNvPr id="13" name="block-104">
            <a:extLst xmlns:a="http://schemas.openxmlformats.org/drawingml/2006/main">
              <a:ext uri="{FF2B5EF4-FFF2-40B4-BE49-F238E27FC236}">
                <a16:creationId xmlns:a16="http://schemas.microsoft.com/office/drawing/2014/main" id="{74672044-624C-4AD2-BDE4-5E2642A63AB7}"/>
              </a:ext>
            </a:extLst>
          </p:cNvPr>
          <p:cNvSpPr>
            <a:spLocks xmlns:a="http://schemas.openxmlformats.org/drawingml/2006/main" noGrp="1"/>
          </p:cNvSpPr>
          <p:nvPr/>
        </p:nvSpPr>
        <p:spPr>
          <a:xfrm xmlns:a="http://schemas.openxmlformats.org/drawingml/2006/main">
            <a:off x="8477250" y="3267075"/>
            <a:ext cx="3105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bereinigte Zeilen</a:t>
            </a:r>
          </a:p>
        </p:txBody>
      </p:sp>
      <p:sp>
        <p:nvSpPr>
          <p:cNvPr id="14" name="block-105">
            <a:extLst xmlns:a="http://schemas.openxmlformats.org/drawingml/2006/main">
              <a:ext uri="{FF2B5EF4-FFF2-40B4-BE49-F238E27FC236}">
                <a16:creationId xmlns:a16="http://schemas.microsoft.com/office/drawing/2014/main" id="{E90979E3-67F0-493E-8C0B-9DBBD82CEB80}"/>
              </a:ext>
            </a:extLst>
          </p:cNvPr>
          <p:cNvSpPr>
            <a:spLocks xmlns:a="http://schemas.openxmlformats.org/drawingml/2006/main" noGrp="1"/>
          </p:cNvSpPr>
          <p:nvPr/>
        </p:nvSpPr>
        <p:spPr>
          <a:xfrm xmlns:a="http://schemas.openxmlformats.org/drawingml/2006/main">
            <a:off x="609600" y="4257675"/>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5" name="block-106">
            <a:extLst xmlns:a="http://schemas.openxmlformats.org/drawingml/2006/main">
              <a:ext uri="{FF2B5EF4-FFF2-40B4-BE49-F238E27FC236}">
                <a16:creationId xmlns:a16="http://schemas.microsoft.com/office/drawing/2014/main" id="{BF345455-570E-4CF6-B2BD-59CBA7C695A6}"/>
              </a:ext>
            </a:extLst>
          </p:cNvPr>
          <p:cNvSpPr>
            <a:spLocks xmlns:a="http://schemas.openxmlformats.org/drawingml/2006/main" noGrp="1"/>
          </p:cNvSpPr>
          <p:nvPr/>
        </p:nvSpPr>
        <p:spPr>
          <a:xfrm xmlns:a="http://schemas.openxmlformats.org/drawingml/2006/main">
            <a:off x="609600" y="4581525"/>
            <a:ext cx="3286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63659"/>
                </a:solidFill>
                <a:latin typeface="IBM Plex Sans"/>
                <a:ea typeface="IBM Plex Sans"/>
                <a:cs typeface="IBM Plex Sans"/>
              </a:defRPr>
            </a:pPr>
            <a:r>
              <a:rPr sz="2250" b="1">
                <a:solidFill>
                  <a:srgbClr val="063659"/>
                </a:solidFill>
                <a:latin typeface="IBM Plex Sans"/>
                <a:ea typeface="IBM Plex Sans"/>
                <a:cs typeface="IBM Plex Sans"/>
              </a:rPr>
              <a:t>Messung &amp; Vertrag</a:t>
            </a:r>
          </a:p>
        </p:txBody>
      </p:sp>
      <p:sp>
        <p:nvSpPr>
          <p:cNvPr id="16" name="block-107">
            <a:extLst xmlns:a="http://schemas.openxmlformats.org/drawingml/2006/main">
              <a:ext uri="{FF2B5EF4-FFF2-40B4-BE49-F238E27FC236}">
                <a16:creationId xmlns:a16="http://schemas.microsoft.com/office/drawing/2014/main" id="{3EA5878C-389E-452F-8BCA-A0246B62C525}"/>
              </a:ext>
            </a:extLst>
          </p:cNvPr>
          <p:cNvSpPr>
            <a:spLocks xmlns:a="http://schemas.openxmlformats.org/drawingml/2006/main" noGrp="1"/>
          </p:cNvSpPr>
          <p:nvPr/>
        </p:nvSpPr>
        <p:spPr>
          <a:xfrm xmlns:a="http://schemas.openxmlformats.org/drawingml/2006/main">
            <a:off x="609600" y="5105400"/>
            <a:ext cx="328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4E5A68"/>
                </a:solidFill>
                <a:latin typeface="IBM Plex Sans"/>
                <a:ea typeface="IBM Plex Sans"/>
                <a:cs typeface="IBM Plex Sans"/>
              </a:defRPr>
            </a:pPr>
            <a:r>
              <a:rPr sz="1800" b="0">
                <a:solidFill>
                  <a:srgbClr val="4E5A68"/>
                </a:solidFill>
                <a:latin typeface="IBM Plex Sans"/>
                <a:ea typeface="IBM Plex Sans"/>
                <a:cs typeface="IBM Plex Sans"/>
              </a:rPr>
              <a:t>Verbrauch, Leistung, Typ</a:t>
            </a:r>
          </a:p>
        </p:txBody>
      </p:sp>
      <p:sp>
        <p:nvSpPr>
          <p:cNvPr id="17" name="block-108">
            <a:extLst xmlns:a="http://schemas.openxmlformats.org/drawingml/2006/main">
              <a:ext uri="{FF2B5EF4-FFF2-40B4-BE49-F238E27FC236}">
                <a16:creationId xmlns:a16="http://schemas.microsoft.com/office/drawing/2014/main" id="{918BC1EA-1F66-4145-99C0-054F4CFE7098}"/>
              </a:ext>
            </a:extLst>
          </p:cNvPr>
          <p:cNvSpPr>
            <a:spLocks xmlns:a="http://schemas.openxmlformats.org/drawingml/2006/main" noGrp="1"/>
          </p:cNvSpPr>
          <p:nvPr/>
        </p:nvSpPr>
        <p:spPr>
          <a:xfrm xmlns:a="http://schemas.openxmlformats.org/drawingml/2006/main">
            <a:off x="4543425" y="4581525"/>
            <a:ext cx="3286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63659"/>
                </a:solidFill>
                <a:latin typeface="IBM Plex Sans"/>
                <a:ea typeface="IBM Plex Sans"/>
                <a:cs typeface="IBM Plex Sans"/>
              </a:defRPr>
            </a:pPr>
            <a:r>
              <a:rPr sz="2250" b="1">
                <a:solidFill>
                  <a:srgbClr val="063659"/>
                </a:solidFill>
                <a:latin typeface="IBM Plex Sans"/>
                <a:ea typeface="IBM Plex Sans"/>
                <a:cs typeface="IBM Plex Sans"/>
              </a:rPr>
              <a:t>Kalender &amp; Wetter</a:t>
            </a:r>
          </a:p>
        </p:txBody>
      </p:sp>
      <p:sp>
        <p:nvSpPr>
          <p:cNvPr id="18" name="block-109">
            <a:extLst xmlns:a="http://schemas.openxmlformats.org/drawingml/2006/main">
              <a:ext uri="{FF2B5EF4-FFF2-40B4-BE49-F238E27FC236}">
                <a16:creationId xmlns:a16="http://schemas.microsoft.com/office/drawing/2014/main" id="{AE94DCEB-4C1A-4F1D-9A30-630DA0B5166D}"/>
              </a:ext>
            </a:extLst>
          </p:cNvPr>
          <p:cNvSpPr>
            <a:spLocks xmlns:a="http://schemas.openxmlformats.org/drawingml/2006/main" noGrp="1"/>
          </p:cNvSpPr>
          <p:nvPr/>
        </p:nvSpPr>
        <p:spPr>
          <a:xfrm xmlns:a="http://schemas.openxmlformats.org/drawingml/2006/main">
            <a:off x="4543425" y="5105400"/>
            <a:ext cx="32861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4E5A68"/>
                </a:solidFill>
                <a:latin typeface="IBM Plex Sans"/>
                <a:ea typeface="IBM Plex Sans"/>
                <a:cs typeface="IBM Plex Sans"/>
              </a:defRPr>
            </a:pPr>
            <a:r>
              <a:rPr sz="1800" b="0">
                <a:solidFill>
                  <a:srgbClr val="4E5A68"/>
                </a:solidFill>
                <a:latin typeface="IBM Plex Sans"/>
                <a:ea typeface="IBM Plex Sans"/>
                <a:cs typeface="IBM Plex Sans"/>
              </a:rPr>
              <a:t>Arbeitstage, Feiertage,</a:t>
            </a:r>
          </a:p>
          <a:p xmlns:a="http://schemas.openxmlformats.org/drawingml/2006/main">
            <a:pPr>
              <a:defRPr sz="1800" b="0">
                <a:solidFill>
                  <a:srgbClr val="4E5A68"/>
                </a:solidFill>
                <a:latin typeface="IBM Plex Sans"/>
                <a:ea typeface="IBM Plex Sans"/>
                <a:cs typeface="IBM Plex Sans"/>
              </a:defRPr>
            </a:pPr>
            <a:r>
              <a:rPr sz="1800" b="0">
                <a:solidFill>
                  <a:srgbClr val="4E5A68"/>
                </a:solidFill>
                <a:latin typeface="IBM Plex Sans"/>
                <a:ea typeface="IBM Plex Sans"/>
                <a:cs typeface="IBM Plex Sans"/>
              </a:rPr>
              <a:t>Heizgradtage</a:t>
            </a:r>
          </a:p>
        </p:txBody>
      </p:sp>
      <p:sp>
        <p:nvSpPr>
          <p:cNvPr id="19" name="block-110">
            <a:extLst xmlns:a="http://schemas.openxmlformats.org/drawingml/2006/main">
              <a:ext uri="{FF2B5EF4-FFF2-40B4-BE49-F238E27FC236}">
                <a16:creationId xmlns:a16="http://schemas.microsoft.com/office/drawing/2014/main" id="{D0AE3239-6E2F-4211-9F9B-F463A362F50E}"/>
              </a:ext>
            </a:extLst>
          </p:cNvPr>
          <p:cNvSpPr>
            <a:spLocks xmlns:a="http://schemas.openxmlformats.org/drawingml/2006/main" noGrp="1"/>
          </p:cNvSpPr>
          <p:nvPr/>
        </p:nvSpPr>
        <p:spPr>
          <a:xfrm xmlns:a="http://schemas.openxmlformats.org/drawingml/2006/main">
            <a:off x="8477250" y="4581525"/>
            <a:ext cx="3105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63659"/>
                </a:solidFill>
                <a:latin typeface="IBM Plex Sans"/>
                <a:ea typeface="IBM Plex Sans"/>
                <a:cs typeface="IBM Plex Sans"/>
              </a:defRPr>
            </a:pPr>
            <a:r>
              <a:rPr sz="2175" b="1">
                <a:solidFill>
                  <a:srgbClr val="063659"/>
                </a:solidFill>
                <a:latin typeface="IBM Plex Sans"/>
                <a:ea typeface="IBM Plex Sans"/>
                <a:cs typeface="IBM Plex Sans"/>
              </a:rPr>
              <a:t>Betrieblicher Kontext</a:t>
            </a:r>
          </a:p>
        </p:txBody>
      </p:sp>
      <p:sp>
        <p:nvSpPr>
          <p:cNvPr id="20" name="block-111">
            <a:extLst xmlns:a="http://schemas.openxmlformats.org/drawingml/2006/main">
              <a:ext uri="{FF2B5EF4-FFF2-40B4-BE49-F238E27FC236}">
                <a16:creationId xmlns:a16="http://schemas.microsoft.com/office/drawing/2014/main" id="{3D75A52A-2292-4AF8-A35F-A23AF7CD4D0F}"/>
              </a:ext>
            </a:extLst>
          </p:cNvPr>
          <p:cNvSpPr>
            <a:spLocks xmlns:a="http://schemas.openxmlformats.org/drawingml/2006/main" noGrp="1"/>
          </p:cNvSpPr>
          <p:nvPr/>
        </p:nvSpPr>
        <p:spPr>
          <a:xfrm xmlns:a="http://schemas.openxmlformats.org/drawingml/2006/main">
            <a:off x="8477250" y="5105400"/>
            <a:ext cx="31051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4E5A68"/>
                </a:solidFill>
                <a:latin typeface="IBM Plex Sans"/>
                <a:ea typeface="IBM Plex Sans"/>
                <a:cs typeface="IBM Plex Sans"/>
              </a:defRPr>
            </a:pPr>
            <a:r>
              <a:rPr sz="1800" b="0">
                <a:solidFill>
                  <a:srgbClr val="4E5A68"/>
                </a:solidFill>
                <a:latin typeface="IBM Plex Sans"/>
                <a:ea typeface="IBM Plex Sans"/>
                <a:cs typeface="IBM Plex Sans"/>
              </a:rPr>
              <a:t>Produktionsplan, Wartung,</a:t>
            </a:r>
          </a:p>
          <a:p xmlns:a="http://schemas.openxmlformats.org/drawingml/2006/main">
            <a:pPr>
              <a:defRPr sz="1800" b="0">
                <a:solidFill>
                  <a:srgbClr val="4E5A68"/>
                </a:solidFill>
                <a:latin typeface="IBM Plex Sans"/>
                <a:ea typeface="IBM Plex Sans"/>
                <a:cs typeface="IBM Plex Sans"/>
              </a:defRPr>
            </a:pPr>
            <a:r>
              <a:rPr sz="1800" b="0">
                <a:solidFill>
                  <a:srgbClr val="4E5A68"/>
                </a:solidFill>
                <a:latin typeface="IBM Plex Sans"/>
                <a:ea typeface="IBM Plex Sans"/>
                <a:cs typeface="IBM Plex Sans"/>
              </a:rPr>
              <a:t>Verbrauchshistorie</a:t>
            </a:r>
          </a:p>
        </p:txBody>
      </p:sp>
    </p:spTree>
    <p:extLst>
      <p:ext uri="{BB962C8B-B14F-4D97-AF65-F5344CB8AC3E}">
        <p14:creationId xmlns:p14="http://schemas.microsoft.com/office/powerpoint/2010/main" val="26515021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block-112">
            <a:extLst xmlns:a="http://schemas.openxmlformats.org/drawingml/2006/main">
              <a:ext uri="{FF2B5EF4-FFF2-40B4-BE49-F238E27FC236}">
                <a16:creationId xmlns:a16="http://schemas.microsoft.com/office/drawing/2014/main" id="{9AEE5A09-773C-4EA7-8F74-A853D249ACA8}"/>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02 / DATENQUALITÄT</a:t>
            </a:r>
          </a:p>
        </p:txBody>
      </p:sp>
      <p:sp>
        <p:nvSpPr>
          <p:cNvPr id="2" name="block-113">
            <a:extLst xmlns:a="http://schemas.openxmlformats.org/drawingml/2006/main">
              <a:ext uri="{FF2B5EF4-FFF2-40B4-BE49-F238E27FC236}">
                <a16:creationId xmlns:a16="http://schemas.microsoft.com/office/drawing/2014/main" id="{83B75BA6-CFEE-4841-9C3E-BF5A73DE37CC}"/>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Bereinigung heißt auch: die Bedeutung erhalten</a:t>
            </a:r>
          </a:p>
        </p:txBody>
      </p:sp>
      <p:sp>
        <p:nvSpPr>
          <p:cNvPr id="3" name="block-114">
            <a:extLst xmlns:a="http://schemas.openxmlformats.org/drawingml/2006/main">
              <a:ext uri="{FF2B5EF4-FFF2-40B4-BE49-F238E27FC236}">
                <a16:creationId xmlns:a16="http://schemas.microsoft.com/office/drawing/2014/main" id="{6E6A0D45-FE90-4FE2-ACE0-F6E00720F984}"/>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Zahlen beziehen sich auf 16.800 Zeilen nach Entfernung der 30 Dubletten.</a:t>
            </a:r>
          </a:p>
        </p:txBody>
      </p:sp>
      <p:sp>
        <p:nvSpPr>
          <p:cNvPr id="4" name="block-115">
            <a:extLst xmlns:a="http://schemas.openxmlformats.org/drawingml/2006/main">
              <a:ext uri="{FF2B5EF4-FFF2-40B4-BE49-F238E27FC236}">
                <a16:creationId xmlns:a16="http://schemas.microsoft.com/office/drawing/2014/main" id="{0829B65E-CAE4-4B07-BC24-0F7DA31781F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23718d7b96ca4114"/>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16">
            <a:extLst xmlns:a="http://schemas.openxmlformats.org/drawingml/2006/main">
              <a:ext uri="{FF2B5EF4-FFF2-40B4-BE49-F238E27FC236}">
                <a16:creationId xmlns:a16="http://schemas.microsoft.com/office/drawing/2014/main" id="{F26F279D-68C4-4B72-9884-9B571FF8375C}"/>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117">
            <a:extLst xmlns:a="http://schemas.openxmlformats.org/drawingml/2006/main">
              <a:ext uri="{FF2B5EF4-FFF2-40B4-BE49-F238E27FC236}">
                <a16:creationId xmlns:a16="http://schemas.microsoft.com/office/drawing/2014/main" id="{F9B9689A-BB6F-4279-9BE4-3BD74A145820}"/>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07 / 39</a:t>
            </a:r>
          </a:p>
        </p:txBody>
      </p:sp>
      <p:sp>
        <p:nvSpPr>
          <p:cNvPr id="8" name="block-118">
            <a:extLst xmlns:a="http://schemas.openxmlformats.org/drawingml/2006/main">
              <a:ext uri="{FF2B5EF4-FFF2-40B4-BE49-F238E27FC236}">
                <a16:creationId xmlns:a16="http://schemas.microsoft.com/office/drawing/2014/main" id="{29D5251E-7E94-41B5-AAE2-5EE74048FE9A}"/>
              </a:ext>
            </a:extLst>
          </p:cNvPr>
          <p:cNvSpPr>
            <a:spLocks xmlns:a="http://schemas.openxmlformats.org/drawingml/2006/main" noGrp="1"/>
          </p:cNvSpPr>
          <p:nvPr/>
        </p:nvSpPr>
        <p:spPr>
          <a:xfrm xmlns:a="http://schemas.openxmlformats.org/drawingml/2006/main">
            <a:off x="609600" y="2524125"/>
            <a:ext cx="2019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63659"/>
                </a:solidFill>
                <a:latin typeface="IBM Plex Sans"/>
                <a:ea typeface="IBM Plex Sans"/>
                <a:cs typeface="IBM Plex Sans"/>
              </a:defRPr>
            </a:pPr>
            <a:r>
              <a:rPr sz="2175" b="1">
                <a:solidFill>
                  <a:srgbClr val="063659"/>
                </a:solidFill>
                <a:latin typeface="IBM Plex Sans"/>
                <a:ea typeface="IBM Plex Sans"/>
                <a:cs typeface="IBM Plex Sans"/>
              </a:rPr>
              <a:t>Einheiten</a:t>
            </a:r>
          </a:p>
        </p:txBody>
      </p:sp>
      <p:sp>
        <p:nvSpPr>
          <p:cNvPr id="9" name="block-119">
            <a:extLst xmlns:a="http://schemas.openxmlformats.org/drawingml/2006/main">
              <a:ext uri="{FF2B5EF4-FFF2-40B4-BE49-F238E27FC236}">
                <a16:creationId xmlns:a16="http://schemas.microsoft.com/office/drawing/2014/main" id="{896A545B-D5D1-485E-9535-5B2D94B9197E}"/>
              </a:ext>
            </a:extLst>
          </p:cNvPr>
          <p:cNvSpPr>
            <a:spLocks xmlns:a="http://schemas.openxmlformats.org/drawingml/2006/main" noGrp="1"/>
          </p:cNvSpPr>
          <p:nvPr/>
        </p:nvSpPr>
        <p:spPr>
          <a:xfrm xmlns:a="http://schemas.openxmlformats.org/drawingml/2006/main">
            <a:off x="2905125" y="2524125"/>
            <a:ext cx="4895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IBM Plex Sans"/>
                <a:ea typeface="IBM Plex Sans"/>
                <a:cs typeface="IBM Plex Sans"/>
              </a:defRPr>
            </a:pPr>
            <a:r>
              <a:rPr sz="2175" b="1">
                <a:solidFill>
                  <a:srgbClr val="0080A0"/>
                </a:solidFill>
                <a:latin typeface="IBM Plex Sans"/>
                <a:ea typeface="IBM Plex Sans"/>
                <a:cs typeface="IBM Plex Sans"/>
              </a:rPr>
              <a:t>672 MWh-Texte → kWh</a:t>
            </a:r>
          </a:p>
        </p:txBody>
      </p:sp>
      <p:sp>
        <p:nvSpPr>
          <p:cNvPr id="10" name="block-120">
            <a:extLst xmlns:a="http://schemas.openxmlformats.org/drawingml/2006/main">
              <a:ext uri="{FF2B5EF4-FFF2-40B4-BE49-F238E27FC236}">
                <a16:creationId xmlns:a16="http://schemas.microsoft.com/office/drawing/2014/main" id="{278B4612-DE71-4F55-9F89-B2B798A66A07}"/>
              </a:ext>
            </a:extLst>
          </p:cNvPr>
          <p:cNvSpPr>
            <a:spLocks xmlns:a="http://schemas.openxmlformats.org/drawingml/2006/main" noGrp="1"/>
          </p:cNvSpPr>
          <p:nvPr/>
        </p:nvSpPr>
        <p:spPr>
          <a:xfrm xmlns:a="http://schemas.openxmlformats.org/drawingml/2006/main">
            <a:off x="8201025" y="2543175"/>
            <a:ext cx="3381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Einheit vereinheitlichen.</a:t>
            </a:r>
          </a:p>
        </p:txBody>
      </p:sp>
      <p:sp>
        <p:nvSpPr>
          <p:cNvPr id="11" name="block-121">
            <a:extLst xmlns:a="http://schemas.openxmlformats.org/drawingml/2006/main">
              <a:ext uri="{FF2B5EF4-FFF2-40B4-BE49-F238E27FC236}">
                <a16:creationId xmlns:a16="http://schemas.microsoft.com/office/drawing/2014/main" id="{3A1C15DB-B7AF-48EB-A501-E06AEFFB72FB}"/>
              </a:ext>
            </a:extLst>
          </p:cNvPr>
          <p:cNvSpPr>
            <a:spLocks xmlns:a="http://schemas.openxmlformats.org/drawingml/2006/main" noGrp="1"/>
          </p:cNvSpPr>
          <p:nvPr/>
        </p:nvSpPr>
        <p:spPr>
          <a:xfrm xmlns:a="http://schemas.openxmlformats.org/drawingml/2006/main">
            <a:off x="2905125" y="3057525"/>
            <a:ext cx="86772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2" name="block-122">
            <a:extLst xmlns:a="http://schemas.openxmlformats.org/drawingml/2006/main">
              <a:ext uri="{FF2B5EF4-FFF2-40B4-BE49-F238E27FC236}">
                <a16:creationId xmlns:a16="http://schemas.microsoft.com/office/drawing/2014/main" id="{91C702A4-ACC2-4043-AAC6-4AC4D2C01A34}"/>
              </a:ext>
            </a:extLst>
          </p:cNvPr>
          <p:cNvSpPr>
            <a:spLocks xmlns:a="http://schemas.openxmlformats.org/drawingml/2006/main" noGrp="1"/>
          </p:cNvSpPr>
          <p:nvPr/>
        </p:nvSpPr>
        <p:spPr>
          <a:xfrm xmlns:a="http://schemas.openxmlformats.org/drawingml/2006/main">
            <a:off x="609600" y="3200400"/>
            <a:ext cx="2019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63659"/>
                </a:solidFill>
                <a:latin typeface="IBM Plex Sans"/>
                <a:ea typeface="IBM Plex Sans"/>
                <a:cs typeface="IBM Plex Sans"/>
              </a:defRPr>
            </a:pPr>
            <a:r>
              <a:rPr sz="2175" b="1">
                <a:solidFill>
                  <a:srgbClr val="063659"/>
                </a:solidFill>
                <a:latin typeface="IBM Plex Sans"/>
                <a:ea typeface="IBM Plex Sans"/>
                <a:cs typeface="IBM Plex Sans"/>
              </a:rPr>
              <a:t>Kategorien</a:t>
            </a:r>
          </a:p>
        </p:txBody>
      </p:sp>
      <p:sp>
        <p:nvSpPr>
          <p:cNvPr id="13" name="block-123">
            <a:extLst xmlns:a="http://schemas.openxmlformats.org/drawingml/2006/main">
              <a:ext uri="{FF2B5EF4-FFF2-40B4-BE49-F238E27FC236}">
                <a16:creationId xmlns:a16="http://schemas.microsoft.com/office/drawing/2014/main" id="{418DD71D-F61B-4CE3-8603-8C70393FD187}"/>
              </a:ext>
            </a:extLst>
          </p:cNvPr>
          <p:cNvSpPr>
            <a:spLocks xmlns:a="http://schemas.openxmlformats.org/drawingml/2006/main" noGrp="1"/>
          </p:cNvSpPr>
          <p:nvPr/>
        </p:nvSpPr>
        <p:spPr>
          <a:xfrm xmlns:a="http://schemas.openxmlformats.org/drawingml/2006/main">
            <a:off x="2905125" y="3200400"/>
            <a:ext cx="4895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IBM Plex Sans"/>
                <a:ea typeface="IBM Plex Sans"/>
                <a:cs typeface="IBM Plex Sans"/>
              </a:defRPr>
            </a:pPr>
            <a:r>
              <a:rPr sz="2175" b="1">
                <a:solidFill>
                  <a:srgbClr val="0080A0"/>
                </a:solidFill>
                <a:latin typeface="IBM Plex Sans"/>
                <a:ea typeface="IBM Plex Sans"/>
                <a:cs typeface="IBM Plex Sans"/>
              </a:rPr>
              <a:t>13 Schreibweisen → 3 Typen</a:t>
            </a:r>
          </a:p>
        </p:txBody>
      </p:sp>
      <p:sp>
        <p:nvSpPr>
          <p:cNvPr id="14" name="block-124">
            <a:extLst xmlns:a="http://schemas.openxmlformats.org/drawingml/2006/main">
              <a:ext uri="{FF2B5EF4-FFF2-40B4-BE49-F238E27FC236}">
                <a16:creationId xmlns:a16="http://schemas.microsoft.com/office/drawing/2014/main" id="{288FF1C9-0AD3-41AA-A710-D31F8A734373}"/>
              </a:ext>
            </a:extLst>
          </p:cNvPr>
          <p:cNvSpPr>
            <a:spLocks xmlns:a="http://schemas.openxmlformats.org/drawingml/2006/main" noGrp="1"/>
          </p:cNvSpPr>
          <p:nvPr/>
        </p:nvSpPr>
        <p:spPr>
          <a:xfrm xmlns:a="http://schemas.openxmlformats.org/drawingml/2006/main">
            <a:off x="8201025" y="3219450"/>
            <a:ext cx="3381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Identität erhalten.</a:t>
            </a:r>
          </a:p>
        </p:txBody>
      </p:sp>
      <p:sp>
        <p:nvSpPr>
          <p:cNvPr id="15" name="block-125">
            <a:extLst xmlns:a="http://schemas.openxmlformats.org/drawingml/2006/main">
              <a:ext uri="{FF2B5EF4-FFF2-40B4-BE49-F238E27FC236}">
                <a16:creationId xmlns:a16="http://schemas.microsoft.com/office/drawing/2014/main" id="{68BA697B-586F-4A69-BE42-41D71C688966}"/>
              </a:ext>
            </a:extLst>
          </p:cNvPr>
          <p:cNvSpPr>
            <a:spLocks xmlns:a="http://schemas.openxmlformats.org/drawingml/2006/main" noGrp="1"/>
          </p:cNvSpPr>
          <p:nvPr/>
        </p:nvSpPr>
        <p:spPr>
          <a:xfrm xmlns:a="http://schemas.openxmlformats.org/drawingml/2006/main">
            <a:off x="2905125" y="3733800"/>
            <a:ext cx="86772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6" name="block-126">
            <a:extLst xmlns:a="http://schemas.openxmlformats.org/drawingml/2006/main">
              <a:ext uri="{FF2B5EF4-FFF2-40B4-BE49-F238E27FC236}">
                <a16:creationId xmlns:a16="http://schemas.microsoft.com/office/drawing/2014/main" id="{75C1AF73-ACDA-4A5F-B78D-816297402E53}"/>
              </a:ext>
            </a:extLst>
          </p:cNvPr>
          <p:cNvSpPr>
            <a:spLocks xmlns:a="http://schemas.openxmlformats.org/drawingml/2006/main" noGrp="1"/>
          </p:cNvSpPr>
          <p:nvPr/>
        </p:nvSpPr>
        <p:spPr>
          <a:xfrm xmlns:a="http://schemas.openxmlformats.org/drawingml/2006/main">
            <a:off x="609600" y="3876675"/>
            <a:ext cx="2019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63659"/>
                </a:solidFill>
                <a:latin typeface="IBM Plex Sans"/>
                <a:ea typeface="IBM Plex Sans"/>
                <a:cs typeface="IBM Plex Sans"/>
              </a:defRPr>
            </a:pPr>
            <a:r>
              <a:rPr sz="2175" b="1">
                <a:solidFill>
                  <a:srgbClr val="063659"/>
                </a:solidFill>
                <a:latin typeface="IBM Plex Sans"/>
                <a:ea typeface="IBM Plex Sans"/>
                <a:cs typeface="IBM Plex Sans"/>
              </a:rPr>
              <a:t>Fehlwerte</a:t>
            </a:r>
          </a:p>
        </p:txBody>
      </p:sp>
      <p:sp>
        <p:nvSpPr>
          <p:cNvPr id="17" name="block-127">
            <a:extLst xmlns:a="http://schemas.openxmlformats.org/drawingml/2006/main">
              <a:ext uri="{FF2B5EF4-FFF2-40B4-BE49-F238E27FC236}">
                <a16:creationId xmlns:a16="http://schemas.microsoft.com/office/drawing/2014/main" id="{B417D163-E673-4828-980B-C7AF6BB01C32}"/>
              </a:ext>
            </a:extLst>
          </p:cNvPr>
          <p:cNvSpPr>
            <a:spLocks xmlns:a="http://schemas.openxmlformats.org/drawingml/2006/main" noGrp="1"/>
          </p:cNvSpPr>
          <p:nvPr/>
        </p:nvSpPr>
        <p:spPr>
          <a:xfrm xmlns:a="http://schemas.openxmlformats.org/drawingml/2006/main">
            <a:off x="2905125" y="3876675"/>
            <a:ext cx="4895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IBM Plex Sans"/>
                <a:ea typeface="IBM Plex Sans"/>
                <a:cs typeface="IBM Plex Sans"/>
              </a:defRPr>
            </a:pPr>
            <a:r>
              <a:rPr sz="2175" b="1">
                <a:solidFill>
                  <a:srgbClr val="0080A0"/>
                </a:solidFill>
                <a:latin typeface="IBM Plex Sans"/>
                <a:ea typeface="IBM Plex Sans"/>
                <a:cs typeface="IBM Plex Sans"/>
              </a:rPr>
              <a:t>Temperatur: 504 · Plan: 672</a:t>
            </a:r>
          </a:p>
        </p:txBody>
      </p:sp>
      <p:sp>
        <p:nvSpPr>
          <p:cNvPr id="18" name="block-128">
            <a:extLst xmlns:a="http://schemas.openxmlformats.org/drawingml/2006/main">
              <a:ext uri="{FF2B5EF4-FFF2-40B4-BE49-F238E27FC236}">
                <a16:creationId xmlns:a16="http://schemas.microsoft.com/office/drawing/2014/main" id="{C0EDE70D-15A6-4934-AF59-E4825A6F8CCA}"/>
              </a:ext>
            </a:extLst>
          </p:cNvPr>
          <p:cNvSpPr>
            <a:spLocks xmlns:a="http://schemas.openxmlformats.org/drawingml/2006/main" noGrp="1"/>
          </p:cNvSpPr>
          <p:nvPr/>
        </p:nvSpPr>
        <p:spPr>
          <a:xfrm xmlns:a="http://schemas.openxmlformats.org/drawingml/2006/main">
            <a:off x="8201025" y="3895725"/>
            <a:ext cx="3381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Fehlgrund berücksichtigen.</a:t>
            </a:r>
          </a:p>
        </p:txBody>
      </p:sp>
      <p:sp>
        <p:nvSpPr>
          <p:cNvPr id="19" name="block-129">
            <a:extLst xmlns:a="http://schemas.openxmlformats.org/drawingml/2006/main">
              <a:ext uri="{FF2B5EF4-FFF2-40B4-BE49-F238E27FC236}">
                <a16:creationId xmlns:a16="http://schemas.microsoft.com/office/drawing/2014/main" id="{31A2A92A-950F-4CF3-A1F1-14B9DFDA4422}"/>
              </a:ext>
            </a:extLst>
          </p:cNvPr>
          <p:cNvSpPr>
            <a:spLocks xmlns:a="http://schemas.openxmlformats.org/drawingml/2006/main" noGrp="1"/>
          </p:cNvSpPr>
          <p:nvPr/>
        </p:nvSpPr>
        <p:spPr>
          <a:xfrm xmlns:a="http://schemas.openxmlformats.org/drawingml/2006/main">
            <a:off x="2905125" y="4410075"/>
            <a:ext cx="86772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0" name="block-130">
            <a:extLst xmlns:a="http://schemas.openxmlformats.org/drawingml/2006/main">
              <a:ext uri="{FF2B5EF4-FFF2-40B4-BE49-F238E27FC236}">
                <a16:creationId xmlns:a16="http://schemas.microsoft.com/office/drawing/2014/main" id="{A776F092-7F94-408A-80B0-081B9F707987}"/>
              </a:ext>
            </a:extLst>
          </p:cNvPr>
          <p:cNvSpPr>
            <a:spLocks xmlns:a="http://schemas.openxmlformats.org/drawingml/2006/main" noGrp="1"/>
          </p:cNvSpPr>
          <p:nvPr/>
        </p:nvSpPr>
        <p:spPr>
          <a:xfrm xmlns:a="http://schemas.openxmlformats.org/drawingml/2006/main">
            <a:off x="609600" y="4552950"/>
            <a:ext cx="2019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63659"/>
                </a:solidFill>
                <a:latin typeface="IBM Plex Sans"/>
                <a:ea typeface="IBM Plex Sans"/>
                <a:cs typeface="IBM Plex Sans"/>
              </a:defRPr>
            </a:pPr>
            <a:r>
              <a:rPr sz="2175" b="1">
                <a:solidFill>
                  <a:srgbClr val="063659"/>
                </a:solidFill>
                <a:latin typeface="IBM Plex Sans"/>
                <a:ea typeface="IBM Plex Sans"/>
                <a:cs typeface="IBM Plex Sans"/>
              </a:rPr>
              <a:t>Zielwerte</a:t>
            </a:r>
          </a:p>
        </p:txBody>
      </p:sp>
      <p:sp>
        <p:nvSpPr>
          <p:cNvPr id="21" name="block-131">
            <a:extLst xmlns:a="http://schemas.openxmlformats.org/drawingml/2006/main">
              <a:ext uri="{FF2B5EF4-FFF2-40B4-BE49-F238E27FC236}">
                <a16:creationId xmlns:a16="http://schemas.microsoft.com/office/drawing/2014/main" id="{95177A92-0883-4895-B009-031F2D86D726}"/>
              </a:ext>
            </a:extLst>
          </p:cNvPr>
          <p:cNvSpPr>
            <a:spLocks xmlns:a="http://schemas.openxmlformats.org/drawingml/2006/main" noGrp="1"/>
          </p:cNvSpPr>
          <p:nvPr/>
        </p:nvSpPr>
        <p:spPr>
          <a:xfrm xmlns:a="http://schemas.openxmlformats.org/drawingml/2006/main">
            <a:off x="2905125" y="4552950"/>
            <a:ext cx="4895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IBM Plex Sans"/>
                <a:ea typeface="IBM Plex Sans"/>
                <a:cs typeface="IBM Plex Sans"/>
              </a:defRPr>
            </a:pPr>
            <a:r>
              <a:rPr sz="2175" b="1">
                <a:solidFill>
                  <a:srgbClr val="0080A0"/>
                </a:solidFill>
                <a:latin typeface="IBM Plex Sans"/>
                <a:ea typeface="IBM Plex Sans"/>
                <a:cs typeface="IBM Plex Sans"/>
              </a:rPr>
              <a:t>3 Rekonstruktionen</a:t>
            </a:r>
          </a:p>
        </p:txBody>
      </p:sp>
      <p:sp>
        <p:nvSpPr>
          <p:cNvPr id="22" name="block-132">
            <a:extLst xmlns:a="http://schemas.openxmlformats.org/drawingml/2006/main">
              <a:ext uri="{FF2B5EF4-FFF2-40B4-BE49-F238E27FC236}">
                <a16:creationId xmlns:a16="http://schemas.microsoft.com/office/drawing/2014/main" id="{9F46C461-F8A4-4D3C-923B-809C849847E1}"/>
              </a:ext>
            </a:extLst>
          </p:cNvPr>
          <p:cNvSpPr>
            <a:spLocks xmlns:a="http://schemas.openxmlformats.org/drawingml/2006/main" noGrp="1"/>
          </p:cNvSpPr>
          <p:nvPr/>
        </p:nvSpPr>
        <p:spPr>
          <a:xfrm xmlns:a="http://schemas.openxmlformats.org/drawingml/2006/main">
            <a:off x="8201025" y="4572000"/>
            <a:ext cx="3381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Für ML ausschließen.</a:t>
            </a:r>
          </a:p>
        </p:txBody>
      </p:sp>
      <p:sp>
        <p:nvSpPr>
          <p:cNvPr id="23" name="block-133">
            <a:extLst xmlns:a="http://schemas.openxmlformats.org/drawingml/2006/main">
              <a:ext uri="{FF2B5EF4-FFF2-40B4-BE49-F238E27FC236}">
                <a16:creationId xmlns:a16="http://schemas.microsoft.com/office/drawing/2014/main" id="{2FF0B3F2-F293-4440-82D0-28865A094985}"/>
              </a:ext>
            </a:extLst>
          </p:cNvPr>
          <p:cNvSpPr>
            <a:spLocks xmlns:a="http://schemas.openxmlformats.org/drawingml/2006/main" noGrp="1"/>
          </p:cNvSpPr>
          <p:nvPr/>
        </p:nvSpPr>
        <p:spPr>
          <a:xfrm xmlns:a="http://schemas.openxmlformats.org/drawingml/2006/main">
            <a:off x="2905125" y="5086350"/>
            <a:ext cx="86772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4" name="block-134">
            <a:extLst xmlns:a="http://schemas.openxmlformats.org/drawingml/2006/main">
              <a:ext uri="{FF2B5EF4-FFF2-40B4-BE49-F238E27FC236}">
                <a16:creationId xmlns:a16="http://schemas.microsoft.com/office/drawing/2014/main" id="{C4EDA3A7-CD5F-4B40-8565-4DC68C0BFD0B}"/>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5" name="block-135">
            <a:extLst xmlns:a="http://schemas.openxmlformats.org/drawingml/2006/main">
              <a:ext uri="{FF2B5EF4-FFF2-40B4-BE49-F238E27FC236}">
                <a16:creationId xmlns:a16="http://schemas.microsoft.com/office/drawing/2014/main" id="{C49056C5-5B56-427C-A406-8547B7684AA2}"/>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Plausibilitätsfälle markieren und fachlich klären – nicht pauschal löschen.</a:t>
            </a:r>
          </a:p>
        </p:txBody>
      </p:sp>
    </p:spTree>
    <p:extLst>
      <p:ext uri="{BB962C8B-B14F-4D97-AF65-F5344CB8AC3E}">
        <p14:creationId xmlns:p14="http://schemas.microsoft.com/office/powerpoint/2010/main" val="207474865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block-136">
            <a:extLst xmlns:a="http://schemas.openxmlformats.org/drawingml/2006/main">
              <a:ext uri="{FF2B5EF4-FFF2-40B4-BE49-F238E27FC236}">
                <a16:creationId xmlns:a16="http://schemas.microsoft.com/office/drawing/2014/main" id="{A013F965-A98B-4BEC-A8D1-DEF65D474CF9}"/>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02 / REPRODUZIERBARKEIT</a:t>
            </a:r>
          </a:p>
        </p:txBody>
      </p:sp>
      <p:sp>
        <p:nvSpPr>
          <p:cNvPr id="2" name="block-137">
            <a:extLst xmlns:a="http://schemas.openxmlformats.org/drawingml/2006/main">
              <a:ext uri="{FF2B5EF4-FFF2-40B4-BE49-F238E27FC236}">
                <a16:creationId xmlns:a16="http://schemas.microsoft.com/office/drawing/2014/main" id="{0B60D8A4-DC4E-4660-8FFB-BBAC555F6706}"/>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Ein Datenweg mit klar getrennten Auswertungen</a:t>
            </a:r>
          </a:p>
        </p:txBody>
      </p:sp>
      <p:sp>
        <p:nvSpPr>
          <p:cNvPr id="3" name="block-138">
            <a:extLst xmlns:a="http://schemas.openxmlformats.org/drawingml/2006/main">
              <a:ext uri="{FF2B5EF4-FFF2-40B4-BE49-F238E27FC236}">
                <a16:creationId xmlns:a16="http://schemas.microsoft.com/office/drawing/2014/main" id="{6B026AF8-FA38-4A0D-AF4C-A8FB4F546B53}"/>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Die explorative Sicht beschreibt das Portfolio. Der ML-Lauf schützt die Zeitlogik.</a:t>
            </a:r>
          </a:p>
        </p:txBody>
      </p:sp>
      <p:sp>
        <p:nvSpPr>
          <p:cNvPr id="4" name="block-139">
            <a:extLst xmlns:a="http://schemas.openxmlformats.org/drawingml/2006/main">
              <a:ext uri="{FF2B5EF4-FFF2-40B4-BE49-F238E27FC236}">
                <a16:creationId xmlns:a16="http://schemas.microsoft.com/office/drawing/2014/main" id="{8452B2B0-3E12-4005-903E-FCB80A569ED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d2ab32421a5b4b4f"/>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40">
            <a:extLst xmlns:a="http://schemas.openxmlformats.org/drawingml/2006/main">
              <a:ext uri="{FF2B5EF4-FFF2-40B4-BE49-F238E27FC236}">
                <a16:creationId xmlns:a16="http://schemas.microsoft.com/office/drawing/2014/main" id="{8F2A0F6D-210B-41FC-A2F1-27FED8BA60FA}"/>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141">
            <a:extLst xmlns:a="http://schemas.openxmlformats.org/drawingml/2006/main">
              <a:ext uri="{FF2B5EF4-FFF2-40B4-BE49-F238E27FC236}">
                <a16:creationId xmlns:a16="http://schemas.microsoft.com/office/drawing/2014/main" id="{202851FA-0A49-40CD-B8E6-9AB41B357C92}"/>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08 / 39</a:t>
            </a:r>
          </a:p>
        </p:txBody>
      </p:sp>
      <p:sp>
        <p:nvSpPr>
          <p:cNvPr id="8" name="block-142">
            <a:extLst xmlns:a="http://schemas.openxmlformats.org/drawingml/2006/main">
              <a:ext uri="{FF2B5EF4-FFF2-40B4-BE49-F238E27FC236}">
                <a16:creationId xmlns:a16="http://schemas.microsoft.com/office/drawing/2014/main" id="{FA89396B-622D-45F4-8B98-E8B3710D574B}"/>
              </a:ext>
            </a:extLst>
          </p:cNvPr>
          <p:cNvSpPr>
            <a:spLocks xmlns:a="http://schemas.openxmlformats.org/drawingml/2006/main" noGrp="1"/>
          </p:cNvSpPr>
          <p:nvPr/>
        </p:nvSpPr>
        <p:spPr>
          <a:xfrm xmlns:a="http://schemas.openxmlformats.org/drawingml/2006/main">
            <a:off x="609600" y="2590800"/>
            <a:ext cx="2514600" cy="942975"/>
          </a:xfrm>
          <a:prstGeom xmlns:a="http://schemas.openxmlformats.org/drawingml/2006/main" prst="rect">
            <a:avLst/>
          </a:prstGeom>
          <a:solidFill xmlns:a="http://schemas.openxmlformats.org/drawingml/2006/main">
            <a:srgbClr val="F1F4F7"/>
          </a:solidFill>
          <a:ln xmlns:a="http://schemas.openxmlformats.org/drawingml/2006/main" w="0">
            <a:noFill/>
          </a:ln>
        </p:spPr>
      </p:sp>
      <p:sp>
        <p:nvSpPr>
          <p:cNvPr id="9" name="block-143">
            <a:extLst xmlns:a="http://schemas.openxmlformats.org/drawingml/2006/main">
              <a:ext uri="{FF2B5EF4-FFF2-40B4-BE49-F238E27FC236}">
                <a16:creationId xmlns:a16="http://schemas.microsoft.com/office/drawing/2014/main" id="{9CD0506A-F468-4F08-A21D-B228C24158E9}"/>
              </a:ext>
            </a:extLst>
          </p:cNvPr>
          <p:cNvSpPr>
            <a:spLocks xmlns:a="http://schemas.openxmlformats.org/drawingml/2006/main" noGrp="1"/>
          </p:cNvSpPr>
          <p:nvPr/>
        </p:nvSpPr>
        <p:spPr>
          <a:xfrm xmlns:a="http://schemas.openxmlformats.org/drawingml/2006/main">
            <a:off x="752475" y="2724150"/>
            <a:ext cx="2228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63659"/>
                </a:solidFill>
                <a:latin typeface="IBM Plex Sans"/>
                <a:ea typeface="IBM Plex Sans"/>
                <a:cs typeface="IBM Plex Sans"/>
              </a:defRPr>
            </a:pPr>
            <a:r>
              <a:rPr sz="2175" b="1">
                <a:solidFill>
                  <a:srgbClr val="063659"/>
                </a:solidFill>
                <a:latin typeface="IBM Plex Sans"/>
                <a:ea typeface="IBM Plex Sans"/>
                <a:cs typeface="IBM Plex Sans"/>
              </a:rPr>
              <a:t>Rohdaten</a:t>
            </a:r>
          </a:p>
        </p:txBody>
      </p:sp>
      <p:sp>
        <p:nvSpPr>
          <p:cNvPr id="10" name="block-144">
            <a:extLst xmlns:a="http://schemas.openxmlformats.org/drawingml/2006/main">
              <a:ext uri="{FF2B5EF4-FFF2-40B4-BE49-F238E27FC236}">
                <a16:creationId xmlns:a16="http://schemas.microsoft.com/office/drawing/2014/main" id="{469D40DE-BE1B-4CE9-A432-8A5638F9A345}"/>
              </a:ext>
            </a:extLst>
          </p:cNvPr>
          <p:cNvSpPr>
            <a:spLocks xmlns:a="http://schemas.openxmlformats.org/drawingml/2006/main" noGrp="1"/>
          </p:cNvSpPr>
          <p:nvPr/>
        </p:nvSpPr>
        <p:spPr>
          <a:xfrm xmlns:a="http://schemas.openxmlformats.org/drawingml/2006/main">
            <a:off x="752475" y="3162300"/>
            <a:ext cx="22574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E5A68"/>
                </a:solidFill>
                <a:latin typeface="IBM Plex Sans"/>
                <a:ea typeface="IBM Plex Sans"/>
                <a:cs typeface="IBM Plex Sans"/>
              </a:defRPr>
            </a:pPr>
            <a:r>
              <a:rPr sz="1650" b="0">
                <a:solidFill>
                  <a:srgbClr val="4E5A68"/>
                </a:solidFill>
                <a:latin typeface="IBM Plex Sans"/>
                <a:ea typeface="IBM Plex Sans"/>
                <a:cs typeface="IBM Plex Sans"/>
              </a:rPr>
              <a:t>16.830 Zeilen</a:t>
            </a:r>
          </a:p>
        </p:txBody>
      </p:sp>
      <p:sp>
        <p:nvSpPr>
          <p:cNvPr id="11" name="block-145">
            <a:extLst xmlns:a="http://schemas.openxmlformats.org/drawingml/2006/main">
              <a:ext uri="{FF2B5EF4-FFF2-40B4-BE49-F238E27FC236}">
                <a16:creationId xmlns:a16="http://schemas.microsoft.com/office/drawing/2014/main" id="{7ADF1F97-0431-40E0-A619-891A622CAB39}"/>
              </a:ext>
            </a:extLst>
          </p:cNvPr>
          <p:cNvSpPr>
            <a:spLocks xmlns:a="http://schemas.openxmlformats.org/drawingml/2006/main" noGrp="1"/>
          </p:cNvSpPr>
          <p:nvPr/>
        </p:nvSpPr>
        <p:spPr>
          <a:xfrm xmlns:a="http://schemas.openxmlformats.org/drawingml/2006/main">
            <a:off x="3152775" y="2876550"/>
            <a:ext cx="2762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080A0"/>
                </a:solidFill>
                <a:latin typeface="IBM Plex Sans"/>
                <a:ea typeface="IBM Plex Sans"/>
                <a:cs typeface="IBM Plex Sans"/>
              </a:defRPr>
            </a:pPr>
            <a:r>
              <a:rPr sz="2025" b="1">
                <a:solidFill>
                  <a:srgbClr val="0080A0"/>
                </a:solidFill>
                <a:latin typeface="IBM Plex Sans"/>
                <a:ea typeface="IBM Plex Sans"/>
                <a:cs typeface="IBM Plex Sans"/>
              </a:rPr>
              <a:t>→</a:t>
            </a:r>
          </a:p>
        </p:txBody>
      </p:sp>
      <p:sp>
        <p:nvSpPr>
          <p:cNvPr id="12" name="block-146">
            <a:extLst xmlns:a="http://schemas.openxmlformats.org/drawingml/2006/main">
              <a:ext uri="{FF2B5EF4-FFF2-40B4-BE49-F238E27FC236}">
                <a16:creationId xmlns:a16="http://schemas.microsoft.com/office/drawing/2014/main" id="{3B4568F0-7FC8-40B3-A257-BB2E64BC3F60}"/>
              </a:ext>
            </a:extLst>
          </p:cNvPr>
          <p:cNvSpPr>
            <a:spLocks xmlns:a="http://schemas.openxmlformats.org/drawingml/2006/main" noGrp="1"/>
          </p:cNvSpPr>
          <p:nvPr/>
        </p:nvSpPr>
        <p:spPr>
          <a:xfrm xmlns:a="http://schemas.openxmlformats.org/drawingml/2006/main">
            <a:off x="3390900" y="2590800"/>
            <a:ext cx="2514600" cy="942975"/>
          </a:xfrm>
          <a:prstGeom xmlns:a="http://schemas.openxmlformats.org/drawingml/2006/main" prst="rect">
            <a:avLst/>
          </a:prstGeom>
          <a:solidFill xmlns:a="http://schemas.openxmlformats.org/drawingml/2006/main">
            <a:srgbClr val="F1F4F7"/>
          </a:solidFill>
          <a:ln xmlns:a="http://schemas.openxmlformats.org/drawingml/2006/main" w="0">
            <a:noFill/>
          </a:ln>
        </p:spPr>
      </p:sp>
      <p:sp>
        <p:nvSpPr>
          <p:cNvPr id="13" name="block-147">
            <a:extLst xmlns:a="http://schemas.openxmlformats.org/drawingml/2006/main">
              <a:ext uri="{FF2B5EF4-FFF2-40B4-BE49-F238E27FC236}">
                <a16:creationId xmlns:a16="http://schemas.microsoft.com/office/drawing/2014/main" id="{F4FEFC3E-F9B7-4884-BEF1-1A6797C95638}"/>
              </a:ext>
            </a:extLst>
          </p:cNvPr>
          <p:cNvSpPr>
            <a:spLocks xmlns:a="http://schemas.openxmlformats.org/drawingml/2006/main" noGrp="1"/>
          </p:cNvSpPr>
          <p:nvPr/>
        </p:nvSpPr>
        <p:spPr>
          <a:xfrm xmlns:a="http://schemas.openxmlformats.org/drawingml/2006/main">
            <a:off x="3533775" y="2724150"/>
            <a:ext cx="2228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63659"/>
                </a:solidFill>
                <a:latin typeface="IBM Plex Sans"/>
                <a:ea typeface="IBM Plex Sans"/>
                <a:cs typeface="IBM Plex Sans"/>
              </a:defRPr>
            </a:pPr>
            <a:r>
              <a:rPr sz="2175" b="1">
                <a:solidFill>
                  <a:srgbClr val="063659"/>
                </a:solidFill>
                <a:latin typeface="IBM Plex Sans"/>
                <a:ea typeface="IBM Plex Sans"/>
                <a:cs typeface="IBM Plex Sans"/>
              </a:rPr>
              <a:t>Bereinigung</a:t>
            </a:r>
          </a:p>
        </p:txBody>
      </p:sp>
      <p:sp>
        <p:nvSpPr>
          <p:cNvPr id="14" name="block-148">
            <a:extLst xmlns:a="http://schemas.openxmlformats.org/drawingml/2006/main">
              <a:ext uri="{FF2B5EF4-FFF2-40B4-BE49-F238E27FC236}">
                <a16:creationId xmlns:a16="http://schemas.microsoft.com/office/drawing/2014/main" id="{84D663D2-1FC0-45B1-9938-44C96DC844B1}"/>
              </a:ext>
            </a:extLst>
          </p:cNvPr>
          <p:cNvSpPr>
            <a:spLocks xmlns:a="http://schemas.openxmlformats.org/drawingml/2006/main" noGrp="1"/>
          </p:cNvSpPr>
          <p:nvPr/>
        </p:nvSpPr>
        <p:spPr>
          <a:xfrm xmlns:a="http://schemas.openxmlformats.org/drawingml/2006/main">
            <a:off x="3533775" y="3162300"/>
            <a:ext cx="22574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E5A68"/>
                </a:solidFill>
                <a:latin typeface="IBM Plex Sans"/>
                <a:ea typeface="IBM Plex Sans"/>
                <a:cs typeface="IBM Plex Sans"/>
              </a:defRPr>
            </a:pPr>
            <a:r>
              <a:rPr sz="1650" b="0">
                <a:solidFill>
                  <a:srgbClr val="4E5A68"/>
                </a:solidFill>
                <a:latin typeface="IBM Plex Sans"/>
                <a:ea typeface="IBM Plex Sans"/>
                <a:cs typeface="IBM Plex Sans"/>
              </a:rPr>
              <a:t>16.800 Zeilen</a:t>
            </a:r>
          </a:p>
        </p:txBody>
      </p:sp>
      <p:sp>
        <p:nvSpPr>
          <p:cNvPr id="15" name="block-149">
            <a:extLst xmlns:a="http://schemas.openxmlformats.org/drawingml/2006/main">
              <a:ext uri="{FF2B5EF4-FFF2-40B4-BE49-F238E27FC236}">
                <a16:creationId xmlns:a16="http://schemas.microsoft.com/office/drawing/2014/main" id="{FCB1ADE9-51CA-4830-9F20-31D853FFDEB7}"/>
              </a:ext>
            </a:extLst>
          </p:cNvPr>
          <p:cNvSpPr>
            <a:spLocks xmlns:a="http://schemas.openxmlformats.org/drawingml/2006/main" noGrp="1"/>
          </p:cNvSpPr>
          <p:nvPr/>
        </p:nvSpPr>
        <p:spPr>
          <a:xfrm xmlns:a="http://schemas.openxmlformats.org/drawingml/2006/main">
            <a:off x="5934075" y="2876550"/>
            <a:ext cx="2762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080A0"/>
                </a:solidFill>
                <a:latin typeface="IBM Plex Sans"/>
                <a:ea typeface="IBM Plex Sans"/>
                <a:cs typeface="IBM Plex Sans"/>
              </a:defRPr>
            </a:pPr>
            <a:r>
              <a:rPr sz="2025" b="1">
                <a:solidFill>
                  <a:srgbClr val="0080A0"/>
                </a:solidFill>
                <a:latin typeface="IBM Plex Sans"/>
                <a:ea typeface="IBM Plex Sans"/>
                <a:cs typeface="IBM Plex Sans"/>
              </a:rPr>
              <a:t>→</a:t>
            </a:r>
          </a:p>
        </p:txBody>
      </p:sp>
      <p:sp>
        <p:nvSpPr>
          <p:cNvPr id="16" name="block-150">
            <a:extLst xmlns:a="http://schemas.openxmlformats.org/drawingml/2006/main">
              <a:ext uri="{FF2B5EF4-FFF2-40B4-BE49-F238E27FC236}">
                <a16:creationId xmlns:a16="http://schemas.microsoft.com/office/drawing/2014/main" id="{E9A2057E-CFE0-4D01-A572-A38BC798BB0C}"/>
              </a:ext>
            </a:extLst>
          </p:cNvPr>
          <p:cNvSpPr>
            <a:spLocks xmlns:a="http://schemas.openxmlformats.org/drawingml/2006/main" noGrp="1"/>
          </p:cNvSpPr>
          <p:nvPr/>
        </p:nvSpPr>
        <p:spPr>
          <a:xfrm xmlns:a="http://schemas.openxmlformats.org/drawingml/2006/main">
            <a:off x="6172200" y="2590800"/>
            <a:ext cx="2514600" cy="942975"/>
          </a:xfrm>
          <a:prstGeom xmlns:a="http://schemas.openxmlformats.org/drawingml/2006/main" prst="rect">
            <a:avLst/>
          </a:prstGeom>
          <a:solidFill xmlns:a="http://schemas.openxmlformats.org/drawingml/2006/main">
            <a:srgbClr val="F1F4F7"/>
          </a:solidFill>
          <a:ln xmlns:a="http://schemas.openxmlformats.org/drawingml/2006/main" w="0">
            <a:noFill/>
          </a:ln>
        </p:spPr>
      </p:sp>
      <p:sp>
        <p:nvSpPr>
          <p:cNvPr id="17" name="block-151">
            <a:extLst xmlns:a="http://schemas.openxmlformats.org/drawingml/2006/main">
              <a:ext uri="{FF2B5EF4-FFF2-40B4-BE49-F238E27FC236}">
                <a16:creationId xmlns:a16="http://schemas.microsoft.com/office/drawing/2014/main" id="{ADD98227-2497-413D-8EF2-4287385C5D79}"/>
              </a:ext>
            </a:extLst>
          </p:cNvPr>
          <p:cNvSpPr>
            <a:spLocks xmlns:a="http://schemas.openxmlformats.org/drawingml/2006/main" noGrp="1"/>
          </p:cNvSpPr>
          <p:nvPr/>
        </p:nvSpPr>
        <p:spPr>
          <a:xfrm xmlns:a="http://schemas.openxmlformats.org/drawingml/2006/main">
            <a:off x="6315075" y="2724150"/>
            <a:ext cx="2228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63659"/>
                </a:solidFill>
                <a:latin typeface="IBM Plex Sans"/>
                <a:ea typeface="IBM Plex Sans"/>
                <a:cs typeface="IBM Plex Sans"/>
              </a:defRPr>
            </a:pPr>
            <a:r>
              <a:rPr sz="2175" b="1">
                <a:solidFill>
                  <a:srgbClr val="063659"/>
                </a:solidFill>
                <a:latin typeface="IBM Plex Sans"/>
                <a:ea typeface="IBM Plex Sans"/>
                <a:cs typeface="IBM Plex Sans"/>
              </a:rPr>
              <a:t>EDA</a:t>
            </a:r>
          </a:p>
        </p:txBody>
      </p:sp>
      <p:sp>
        <p:nvSpPr>
          <p:cNvPr id="18" name="block-152">
            <a:extLst xmlns:a="http://schemas.openxmlformats.org/drawingml/2006/main">
              <a:ext uri="{FF2B5EF4-FFF2-40B4-BE49-F238E27FC236}">
                <a16:creationId xmlns:a16="http://schemas.microsoft.com/office/drawing/2014/main" id="{141BCF75-5DFE-4056-A045-252FFC3BF300}"/>
              </a:ext>
            </a:extLst>
          </p:cNvPr>
          <p:cNvSpPr>
            <a:spLocks xmlns:a="http://schemas.openxmlformats.org/drawingml/2006/main" noGrp="1"/>
          </p:cNvSpPr>
          <p:nvPr/>
        </p:nvSpPr>
        <p:spPr>
          <a:xfrm xmlns:a="http://schemas.openxmlformats.org/drawingml/2006/main">
            <a:off x="6315075" y="3162300"/>
            <a:ext cx="22574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E5A68"/>
                </a:solidFill>
                <a:latin typeface="IBM Plex Sans"/>
                <a:ea typeface="IBM Plex Sans"/>
                <a:cs typeface="IBM Plex Sans"/>
              </a:defRPr>
            </a:pPr>
            <a:r>
              <a:rPr sz="1650" b="0">
                <a:solidFill>
                  <a:srgbClr val="4E5A68"/>
                </a:solidFill>
                <a:latin typeface="IBM Plex Sans"/>
                <a:ea typeface="IBM Plex Sans"/>
                <a:cs typeface="IBM Plex Sans"/>
              </a:rPr>
              <a:t>Portfolio verstehen</a:t>
            </a:r>
          </a:p>
        </p:txBody>
      </p:sp>
      <p:sp>
        <p:nvSpPr>
          <p:cNvPr id="19" name="block-153">
            <a:extLst xmlns:a="http://schemas.openxmlformats.org/drawingml/2006/main">
              <a:ext uri="{FF2B5EF4-FFF2-40B4-BE49-F238E27FC236}">
                <a16:creationId xmlns:a16="http://schemas.microsoft.com/office/drawing/2014/main" id="{63AC911F-F9C4-4851-9300-C7D84B924C79}"/>
              </a:ext>
            </a:extLst>
          </p:cNvPr>
          <p:cNvSpPr>
            <a:spLocks xmlns:a="http://schemas.openxmlformats.org/drawingml/2006/main" noGrp="1"/>
          </p:cNvSpPr>
          <p:nvPr/>
        </p:nvSpPr>
        <p:spPr>
          <a:xfrm xmlns:a="http://schemas.openxmlformats.org/drawingml/2006/main">
            <a:off x="8715375" y="2876550"/>
            <a:ext cx="2762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080A0"/>
                </a:solidFill>
                <a:latin typeface="IBM Plex Sans"/>
                <a:ea typeface="IBM Plex Sans"/>
                <a:cs typeface="IBM Plex Sans"/>
              </a:defRPr>
            </a:pPr>
            <a:r>
              <a:rPr sz="2025" b="1">
                <a:solidFill>
                  <a:srgbClr val="0080A0"/>
                </a:solidFill>
                <a:latin typeface="IBM Plex Sans"/>
                <a:ea typeface="IBM Plex Sans"/>
                <a:cs typeface="IBM Plex Sans"/>
              </a:rPr>
              <a:t>→</a:t>
            </a:r>
          </a:p>
        </p:txBody>
      </p:sp>
      <p:sp>
        <p:nvSpPr>
          <p:cNvPr id="20" name="block-154">
            <a:extLst xmlns:a="http://schemas.openxmlformats.org/drawingml/2006/main">
              <a:ext uri="{FF2B5EF4-FFF2-40B4-BE49-F238E27FC236}">
                <a16:creationId xmlns:a16="http://schemas.microsoft.com/office/drawing/2014/main" id="{C1E8C789-4AA5-4BB2-A925-663EF83A08DD}"/>
              </a:ext>
            </a:extLst>
          </p:cNvPr>
          <p:cNvSpPr>
            <a:spLocks xmlns:a="http://schemas.openxmlformats.org/drawingml/2006/main" noGrp="1"/>
          </p:cNvSpPr>
          <p:nvPr/>
        </p:nvSpPr>
        <p:spPr>
          <a:xfrm xmlns:a="http://schemas.openxmlformats.org/drawingml/2006/main">
            <a:off x="8953500" y="2590800"/>
            <a:ext cx="2514600" cy="942975"/>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21" name="block-155">
            <a:extLst xmlns:a="http://schemas.openxmlformats.org/drawingml/2006/main">
              <a:ext uri="{FF2B5EF4-FFF2-40B4-BE49-F238E27FC236}">
                <a16:creationId xmlns:a16="http://schemas.microsoft.com/office/drawing/2014/main" id="{FDB999E8-8750-4984-9B09-7FE1B37BB525}"/>
              </a:ext>
            </a:extLst>
          </p:cNvPr>
          <p:cNvSpPr>
            <a:spLocks xmlns:a="http://schemas.openxmlformats.org/drawingml/2006/main" noGrp="1"/>
          </p:cNvSpPr>
          <p:nvPr/>
        </p:nvSpPr>
        <p:spPr>
          <a:xfrm xmlns:a="http://schemas.openxmlformats.org/drawingml/2006/main">
            <a:off x="9096375" y="2724150"/>
            <a:ext cx="2228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FFFFFF"/>
                </a:solidFill>
                <a:latin typeface="IBM Plex Sans"/>
                <a:ea typeface="IBM Plex Sans"/>
                <a:cs typeface="IBM Plex Sans"/>
              </a:defRPr>
            </a:pPr>
            <a:r>
              <a:rPr sz="2175" b="1">
                <a:solidFill>
                  <a:srgbClr val="FFFFFF"/>
                </a:solidFill>
                <a:latin typeface="IBM Plex Sans"/>
                <a:ea typeface="IBM Plex Sans"/>
                <a:cs typeface="IBM Plex Sans"/>
              </a:rPr>
              <a:t>Modellierung</a:t>
            </a:r>
          </a:p>
        </p:txBody>
      </p:sp>
      <p:sp>
        <p:nvSpPr>
          <p:cNvPr id="22" name="block-156">
            <a:extLst xmlns:a="http://schemas.openxmlformats.org/drawingml/2006/main">
              <a:ext uri="{FF2B5EF4-FFF2-40B4-BE49-F238E27FC236}">
                <a16:creationId xmlns:a16="http://schemas.microsoft.com/office/drawing/2014/main" id="{877D6DEB-009C-4F2D-8A1E-9768259A6D78}"/>
              </a:ext>
            </a:extLst>
          </p:cNvPr>
          <p:cNvSpPr>
            <a:spLocks xmlns:a="http://schemas.openxmlformats.org/drawingml/2006/main" noGrp="1"/>
          </p:cNvSpPr>
          <p:nvPr/>
        </p:nvSpPr>
        <p:spPr>
          <a:xfrm xmlns:a="http://schemas.openxmlformats.org/drawingml/2006/main">
            <a:off x="9096375" y="3162300"/>
            <a:ext cx="22574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BED6E8"/>
                </a:solidFill>
                <a:latin typeface="IBM Plex Sans"/>
                <a:ea typeface="IBM Plex Sans"/>
                <a:cs typeface="IBM Plex Sans"/>
              </a:defRPr>
            </a:pPr>
            <a:r>
              <a:rPr sz="1650" b="0">
                <a:solidFill>
                  <a:srgbClr val="BED6E8"/>
                </a:solidFill>
                <a:latin typeface="IBM Plex Sans"/>
                <a:ea typeface="IBM Plex Sans"/>
                <a:cs typeface="IBM Plex Sans"/>
              </a:rPr>
              <a:t>Historie neu bilden</a:t>
            </a:r>
          </a:p>
        </p:txBody>
      </p:sp>
      <p:sp>
        <p:nvSpPr>
          <p:cNvPr id="23" name="block-157">
            <a:extLst xmlns:a="http://schemas.openxmlformats.org/drawingml/2006/main">
              <a:ext uri="{FF2B5EF4-FFF2-40B4-BE49-F238E27FC236}">
                <a16:creationId xmlns:a16="http://schemas.microsoft.com/office/drawing/2014/main" id="{954170FB-5184-44C5-8837-1544E0D18CC7}"/>
              </a:ext>
            </a:extLst>
          </p:cNvPr>
          <p:cNvSpPr>
            <a:spLocks xmlns:a="http://schemas.openxmlformats.org/drawingml/2006/main" noGrp="1"/>
          </p:cNvSpPr>
          <p:nvPr/>
        </p:nvSpPr>
        <p:spPr>
          <a:xfrm xmlns:a="http://schemas.openxmlformats.org/drawingml/2006/main">
            <a:off x="609600" y="3962400"/>
            <a:ext cx="5162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EDA: alle 16.800 Monatswerte</a:t>
            </a:r>
          </a:p>
        </p:txBody>
      </p:sp>
      <p:sp>
        <p:nvSpPr>
          <p:cNvPr id="24" name="block-158">
            <a:extLst xmlns:a="http://schemas.openxmlformats.org/drawingml/2006/main">
              <a:ext uri="{FF2B5EF4-FFF2-40B4-BE49-F238E27FC236}">
                <a16:creationId xmlns:a16="http://schemas.microsoft.com/office/drawing/2014/main" id="{A9B57F7D-9C6B-443F-BF5B-6C15705964CF}"/>
              </a:ext>
            </a:extLst>
          </p:cNvPr>
          <p:cNvSpPr>
            <a:spLocks xmlns:a="http://schemas.openxmlformats.org/drawingml/2006/main" noGrp="1"/>
          </p:cNvSpPr>
          <p:nvPr/>
        </p:nvSpPr>
        <p:spPr>
          <a:xfrm xmlns:a="http://schemas.openxmlformats.org/drawingml/2006/main">
            <a:off x="609600" y="4495800"/>
            <a:ext cx="5143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Markierungen bleiben als Kontext</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für die fachliche Interpretation erhalten.</a:t>
            </a:r>
          </a:p>
        </p:txBody>
      </p:sp>
      <p:sp>
        <p:nvSpPr>
          <p:cNvPr id="25" name="block-159">
            <a:extLst xmlns:a="http://schemas.openxmlformats.org/drawingml/2006/main">
              <a:ext uri="{FF2B5EF4-FFF2-40B4-BE49-F238E27FC236}">
                <a16:creationId xmlns:a16="http://schemas.microsoft.com/office/drawing/2014/main" id="{BB864046-95EF-489A-87DC-1CA5924A9702}"/>
              </a:ext>
            </a:extLst>
          </p:cNvPr>
          <p:cNvSpPr>
            <a:spLocks xmlns:a="http://schemas.openxmlformats.org/drawingml/2006/main" noGrp="1"/>
          </p:cNvSpPr>
          <p:nvPr/>
        </p:nvSpPr>
        <p:spPr>
          <a:xfrm xmlns:a="http://schemas.openxmlformats.org/drawingml/2006/main">
            <a:off x="6305550" y="3962400"/>
            <a:ext cx="5276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080A0"/>
                </a:solidFill>
                <a:latin typeface="IBM Plex Sans"/>
                <a:ea typeface="IBM Plex Sans"/>
                <a:cs typeface="IBM Plex Sans"/>
              </a:defRPr>
            </a:pPr>
            <a:r>
              <a:rPr sz="2250" b="1">
                <a:solidFill>
                  <a:srgbClr val="0080A0"/>
                </a:solidFill>
                <a:latin typeface="IBM Plex Sans"/>
                <a:ea typeface="IBM Plex Sans"/>
                <a:cs typeface="IBM Plex Sans"/>
              </a:rPr>
              <a:t>ML: zeitlich zulässige Teilmengen</a:t>
            </a:r>
          </a:p>
        </p:txBody>
      </p:sp>
      <p:sp>
        <p:nvSpPr>
          <p:cNvPr id="26" name="block-160">
            <a:extLst xmlns:a="http://schemas.openxmlformats.org/drawingml/2006/main">
              <a:ext uri="{FF2B5EF4-FFF2-40B4-BE49-F238E27FC236}">
                <a16:creationId xmlns:a16="http://schemas.microsoft.com/office/drawing/2014/main" id="{DB0214FF-9D2A-4DA6-B816-D17196F2988F}"/>
              </a:ext>
            </a:extLst>
          </p:cNvPr>
          <p:cNvSpPr>
            <a:spLocks xmlns:a="http://schemas.openxmlformats.org/drawingml/2006/main" noGrp="1"/>
          </p:cNvSpPr>
          <p:nvPr/>
        </p:nvSpPr>
        <p:spPr>
          <a:xfrm xmlns:a="http://schemas.openxmlformats.org/drawingml/2006/main">
            <a:off x="6305550" y="4495800"/>
            <a:ext cx="52768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8.389 Entwicklungsfälle in 2024</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8.398 Benchmarkfälle in 2025</a:t>
            </a:r>
          </a:p>
        </p:txBody>
      </p:sp>
      <p:sp>
        <p:nvSpPr>
          <p:cNvPr id="27" name="block-161">
            <a:extLst xmlns:a="http://schemas.openxmlformats.org/drawingml/2006/main">
              <a:ext uri="{FF2B5EF4-FFF2-40B4-BE49-F238E27FC236}">
                <a16:creationId xmlns:a16="http://schemas.microsoft.com/office/drawing/2014/main" id="{43EA21C7-2C9E-4A78-A4F3-28EE4B269C80}"/>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8" name="block-162">
            <a:extLst xmlns:a="http://schemas.openxmlformats.org/drawingml/2006/main">
              <a:ext uri="{FF2B5EF4-FFF2-40B4-BE49-F238E27FC236}">
                <a16:creationId xmlns:a16="http://schemas.microsoft.com/office/drawing/2014/main" id="{9844CB7F-3C01-45F1-9EFF-4153AC07F287}"/>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Was erst später bekannt wird, darf keine frühere Prognose verbessern.</a:t>
            </a:r>
          </a:p>
        </p:txBody>
      </p:sp>
    </p:spTree>
    <p:extLst>
      <p:ext uri="{BB962C8B-B14F-4D97-AF65-F5344CB8AC3E}">
        <p14:creationId xmlns:p14="http://schemas.microsoft.com/office/powerpoint/2010/main" val="90423155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block-163">
            <a:extLst xmlns:a="http://schemas.openxmlformats.org/drawingml/2006/main">
              <a:ext uri="{FF2B5EF4-FFF2-40B4-BE49-F238E27FC236}">
                <a16:creationId xmlns:a16="http://schemas.microsoft.com/office/drawing/2014/main" id="{D6FA4244-CEE1-4A46-8316-2738831CAD6A}"/>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03 / EXPLORATIVE ANALYSE</a:t>
            </a:r>
          </a:p>
        </p:txBody>
      </p:sp>
      <p:sp>
        <p:nvSpPr>
          <p:cNvPr id="2" name="block-164">
            <a:extLst xmlns:a="http://schemas.openxmlformats.org/drawingml/2006/main">
              <a:ext uri="{FF2B5EF4-FFF2-40B4-BE49-F238E27FC236}">
                <a16:creationId xmlns:a16="http://schemas.microsoft.com/office/drawing/2014/main" id="{8F0EB252-C506-42AC-9BFA-5EE2614F15ED}"/>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Das Monatsprofil wiederholt sich deutlich</a:t>
            </a:r>
          </a:p>
        </p:txBody>
      </p:sp>
      <p:sp>
        <p:nvSpPr>
          <p:cNvPr id="3" name="block-165">
            <a:extLst xmlns:a="http://schemas.openxmlformats.org/drawingml/2006/main">
              <a:ext uri="{FF2B5EF4-FFF2-40B4-BE49-F238E27FC236}">
                <a16:creationId xmlns:a16="http://schemas.microsoft.com/office/drawing/2014/main" id="{37E4E123-FBBA-4BBC-A895-B9ABDECE015F}"/>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Monatssummen in MWh · vollständige bereinigte Basis mit 700 Zählern</a:t>
            </a:r>
          </a:p>
        </p:txBody>
      </p:sp>
      <p:sp>
        <p:nvSpPr>
          <p:cNvPr id="4" name="block-166">
            <a:extLst xmlns:a="http://schemas.openxmlformats.org/drawingml/2006/main">
              <a:ext uri="{FF2B5EF4-FFF2-40B4-BE49-F238E27FC236}">
                <a16:creationId xmlns:a16="http://schemas.microsoft.com/office/drawing/2014/main" id="{39B7F768-4CF7-4157-A15D-90B9554DD58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ea6e7fa1e0d47d2"/>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67">
            <a:extLst xmlns:a="http://schemas.openxmlformats.org/drawingml/2006/main">
              <a:ext uri="{FF2B5EF4-FFF2-40B4-BE49-F238E27FC236}">
                <a16:creationId xmlns:a16="http://schemas.microsoft.com/office/drawing/2014/main" id="{95DE85B9-5A69-4091-9746-CA6678AE8001}"/>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168">
            <a:extLst xmlns:a="http://schemas.openxmlformats.org/drawingml/2006/main">
              <a:ext uri="{FF2B5EF4-FFF2-40B4-BE49-F238E27FC236}">
                <a16:creationId xmlns:a16="http://schemas.microsoft.com/office/drawing/2014/main" id="{06570796-158C-47EF-8FE0-CCACA8B828AB}"/>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09 / 39</a:t>
            </a:r>
          </a:p>
        </p:txBody>
      </p:sp>
      <p:graphicFrame>
        <p:nvGraphicFramePr>
          <p:cNvPr id="20" name="Chart"/>
          <p:cNvGraphicFramePr/>
          <p:nvPr/>
        </p:nvGraphicFramePr>
        <p:xfrm>
          <a:off xmlns:a="http://schemas.openxmlformats.org/drawingml/2006/main" x="514350" y="2362200"/>
          <a:ext xmlns:a="http://schemas.openxmlformats.org/drawingml/2006/main" cx="8382000" cy="3133725"/>
        </p:xfrm>
        <a:graphic xmlns:a="http://schemas.openxmlformats.org/drawingml/2006/main">
          <a:graphicData uri="http://schemas.openxmlformats.org/drawingml/2006/chart">
            <c:chart xmlns:r="http://schemas.openxmlformats.org/officeDocument/2006/relationships" xmlns:c="http://schemas.openxmlformats.org/drawingml/2006/chart" r:id="R142470c998554bca"/>
          </a:graphicData>
        </a:graphic>
      </p:graphicFrame>
      <p:sp>
        <p:nvSpPr>
          <p:cNvPr id="9" name="block-169">
            <a:extLst xmlns:a="http://schemas.openxmlformats.org/drawingml/2006/main">
              <a:ext uri="{FF2B5EF4-FFF2-40B4-BE49-F238E27FC236}">
                <a16:creationId xmlns:a16="http://schemas.microsoft.com/office/drawing/2014/main" id="{5C99FA34-EB36-4590-A6CF-88768D3D1103}"/>
              </a:ext>
            </a:extLst>
          </p:cNvPr>
          <p:cNvSpPr>
            <a:spLocks xmlns:a="http://schemas.openxmlformats.org/drawingml/2006/main" noGrp="1"/>
          </p:cNvSpPr>
          <p:nvPr/>
        </p:nvSpPr>
        <p:spPr>
          <a:xfrm xmlns:a="http://schemas.openxmlformats.org/drawingml/2006/main">
            <a:off x="9172575" y="2714625"/>
            <a:ext cx="2409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−1,4 %</a:t>
            </a:r>
          </a:p>
        </p:txBody>
      </p:sp>
      <p:sp>
        <p:nvSpPr>
          <p:cNvPr id="10" name="block-170">
            <a:extLst xmlns:a="http://schemas.openxmlformats.org/drawingml/2006/main">
              <a:ext uri="{FF2B5EF4-FFF2-40B4-BE49-F238E27FC236}">
                <a16:creationId xmlns:a16="http://schemas.microsoft.com/office/drawing/2014/main" id="{A400597B-A08E-439C-A12A-E8BB4B41455F}"/>
              </a:ext>
            </a:extLst>
          </p:cNvPr>
          <p:cNvSpPr>
            <a:spLocks xmlns:a="http://schemas.openxmlformats.org/drawingml/2006/main" noGrp="1"/>
          </p:cNvSpPr>
          <p:nvPr/>
        </p:nvSpPr>
        <p:spPr>
          <a:xfrm xmlns:a="http://schemas.openxmlformats.org/drawingml/2006/main">
            <a:off x="9172575" y="3495675"/>
            <a:ext cx="24098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Jahresverbrauch</a:t>
            </a:r>
          </a:p>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2025 vs. 2024</a:t>
            </a:r>
          </a:p>
        </p:txBody>
      </p:sp>
      <p:sp>
        <p:nvSpPr>
          <p:cNvPr id="11" name="block-171">
            <a:extLst xmlns:a="http://schemas.openxmlformats.org/drawingml/2006/main">
              <a:ext uri="{FF2B5EF4-FFF2-40B4-BE49-F238E27FC236}">
                <a16:creationId xmlns:a16="http://schemas.microsoft.com/office/drawing/2014/main" id="{5E0A2C95-B0E4-41DD-BEE4-144D10AEEEF1}"/>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2" name="block-172">
            <a:extLst xmlns:a="http://schemas.openxmlformats.org/drawingml/2006/main">
              <a:ext uri="{FF2B5EF4-FFF2-40B4-BE49-F238E27FC236}">
                <a16:creationId xmlns:a16="http://schemas.microsoft.com/office/drawing/2014/main" id="{4626A51E-FFA2-4FCC-8F11-EE4EFE2917A4}"/>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Saison und Historie sind plausible Merkmale für die Folgemonatsprognose.</a:t>
            </a:r>
          </a:p>
        </p:txBody>
      </p:sp>
    </p:spTree>
    <p:extLst>
      <p:ext uri="{BB962C8B-B14F-4D97-AF65-F5344CB8AC3E}">
        <p14:creationId xmlns:p14="http://schemas.microsoft.com/office/powerpoint/2010/main" val="157068675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block-173">
            <a:extLst xmlns:a="http://schemas.openxmlformats.org/drawingml/2006/main">
              <a:ext uri="{FF2B5EF4-FFF2-40B4-BE49-F238E27FC236}">
                <a16:creationId xmlns:a16="http://schemas.microsoft.com/office/drawing/2014/main" id="{94783E12-6EB4-478E-8170-8F0F11EE3246}"/>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03 / PORTFOLIO</a:t>
            </a:r>
          </a:p>
        </p:txBody>
      </p:sp>
      <p:sp>
        <p:nvSpPr>
          <p:cNvPr id="2" name="block-174">
            <a:extLst xmlns:a="http://schemas.openxmlformats.org/drawingml/2006/main">
              <a:ext uri="{FF2B5EF4-FFF2-40B4-BE49-F238E27FC236}">
                <a16:creationId xmlns:a16="http://schemas.microsoft.com/office/drawing/2014/main" id="{6C26BD15-630A-4738-8C01-345BDBAF76FD}"/>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Industrie prägt den Verbrauch stärker als die Anzahl</a:t>
            </a:r>
          </a:p>
        </p:txBody>
      </p:sp>
      <p:sp>
        <p:nvSpPr>
          <p:cNvPr id="3" name="block-175">
            <a:extLst xmlns:a="http://schemas.openxmlformats.org/drawingml/2006/main">
              <a:ext uri="{FF2B5EF4-FFF2-40B4-BE49-F238E27FC236}">
                <a16:creationId xmlns:a16="http://schemas.microsoft.com/office/drawing/2014/main" id="{57ADD619-931D-4E41-BDE1-523A44439120}"/>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Anteile nach Kundentyp · Zählerzahl und Verbrauch 2024–2025 im Vergleich</a:t>
            </a:r>
          </a:p>
        </p:txBody>
      </p:sp>
      <p:sp>
        <p:nvSpPr>
          <p:cNvPr id="4" name="block-176">
            <a:extLst xmlns:a="http://schemas.openxmlformats.org/drawingml/2006/main">
              <a:ext uri="{FF2B5EF4-FFF2-40B4-BE49-F238E27FC236}">
                <a16:creationId xmlns:a16="http://schemas.microsoft.com/office/drawing/2014/main" id="{D0C50D69-519E-4E88-9D61-329CACF0A50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533c5cd3f804555"/>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77">
            <a:extLst xmlns:a="http://schemas.openxmlformats.org/drawingml/2006/main">
              <a:ext uri="{FF2B5EF4-FFF2-40B4-BE49-F238E27FC236}">
                <a16:creationId xmlns:a16="http://schemas.microsoft.com/office/drawing/2014/main" id="{4650474D-3D7E-401C-8C23-ABBEE22515DF}"/>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178">
            <a:extLst xmlns:a="http://schemas.openxmlformats.org/drawingml/2006/main">
              <a:ext uri="{FF2B5EF4-FFF2-40B4-BE49-F238E27FC236}">
                <a16:creationId xmlns:a16="http://schemas.microsoft.com/office/drawing/2014/main" id="{E70B4EDA-0F20-4455-B051-80673E54C25D}"/>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10 / 39</a:t>
            </a:r>
          </a:p>
        </p:txBody>
      </p:sp>
      <p:graphicFrame>
        <p:nvGraphicFramePr>
          <p:cNvPr id="20" name="Chart"/>
          <p:cNvGraphicFramePr/>
          <p:nvPr/>
        </p:nvGraphicFramePr>
        <p:xfrm>
          <a:off xmlns:a="http://schemas.openxmlformats.org/drawingml/2006/main" x="514350" y="2362200"/>
          <a:ext xmlns:a="http://schemas.openxmlformats.org/drawingml/2006/main" cx="8172450" cy="3114675"/>
        </p:xfrm>
        <a:graphic xmlns:a="http://schemas.openxmlformats.org/drawingml/2006/main">
          <a:graphicData uri="http://schemas.openxmlformats.org/drawingml/2006/chart">
            <c:chart xmlns:r="http://schemas.openxmlformats.org/officeDocument/2006/relationships" xmlns:c="http://schemas.openxmlformats.org/drawingml/2006/chart" r:id="R4ff95d50aeb04c5c"/>
          </a:graphicData>
        </a:graphic>
      </p:graphicFrame>
      <p:sp>
        <p:nvSpPr>
          <p:cNvPr id="9" name="block-179">
            <a:extLst xmlns:a="http://schemas.openxmlformats.org/drawingml/2006/main">
              <a:ext uri="{FF2B5EF4-FFF2-40B4-BE49-F238E27FC236}">
                <a16:creationId xmlns:a16="http://schemas.microsoft.com/office/drawing/2014/main" id="{6AA1F883-BA88-445A-83F9-B490A8E819C6}"/>
              </a:ext>
            </a:extLst>
          </p:cNvPr>
          <p:cNvSpPr>
            <a:spLocks xmlns:a="http://schemas.openxmlformats.org/drawingml/2006/main" noGrp="1"/>
          </p:cNvSpPr>
          <p:nvPr/>
        </p:nvSpPr>
        <p:spPr>
          <a:xfrm xmlns:a="http://schemas.openxmlformats.org/drawingml/2006/main">
            <a:off x="9077325" y="2686050"/>
            <a:ext cx="25050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68,5 %</a:t>
            </a:r>
          </a:p>
        </p:txBody>
      </p:sp>
      <p:sp>
        <p:nvSpPr>
          <p:cNvPr id="10" name="block-180">
            <a:extLst xmlns:a="http://schemas.openxmlformats.org/drawingml/2006/main">
              <a:ext uri="{FF2B5EF4-FFF2-40B4-BE49-F238E27FC236}">
                <a16:creationId xmlns:a16="http://schemas.microsoft.com/office/drawing/2014/main" id="{EC0B4C5E-B2D7-43FC-9097-510104465DF2}"/>
              </a:ext>
            </a:extLst>
          </p:cNvPr>
          <p:cNvSpPr>
            <a:spLocks xmlns:a="http://schemas.openxmlformats.org/drawingml/2006/main" noGrp="1"/>
          </p:cNvSpPr>
          <p:nvPr/>
        </p:nvSpPr>
        <p:spPr>
          <a:xfrm xmlns:a="http://schemas.openxmlformats.org/drawingml/2006/main">
            <a:off x="9077325" y="3467100"/>
            <a:ext cx="25050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des Verbrauchs</a:t>
            </a:r>
          </a:p>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entfallen auf Industrie</a:t>
            </a:r>
          </a:p>
        </p:txBody>
      </p:sp>
      <p:sp>
        <p:nvSpPr>
          <p:cNvPr id="11" name="block-181">
            <a:extLst xmlns:a="http://schemas.openxmlformats.org/drawingml/2006/main">
              <a:ext uri="{FF2B5EF4-FFF2-40B4-BE49-F238E27FC236}">
                <a16:creationId xmlns:a16="http://schemas.microsoft.com/office/drawing/2014/main" id="{827DB5CE-1B5F-49B2-92CF-531B270FAC8D}"/>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2" name="block-182">
            <a:extLst xmlns:a="http://schemas.openxmlformats.org/drawingml/2006/main">
              <a:ext uri="{FF2B5EF4-FFF2-40B4-BE49-F238E27FC236}">
                <a16:creationId xmlns:a16="http://schemas.microsoft.com/office/drawing/2014/main" id="{8EEC9CA8-CC31-4A16-9919-B1DEA8B285F6}"/>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Absolute kWh unterscheiden sich stark. Die Anschlussgröße muss berücksichtigt werden.</a:t>
            </a:r>
          </a:p>
        </p:txBody>
      </p:sp>
    </p:spTree>
    <p:extLst>
      <p:ext uri="{BB962C8B-B14F-4D97-AF65-F5344CB8AC3E}">
        <p14:creationId xmlns:p14="http://schemas.microsoft.com/office/powerpoint/2010/main" val="21190855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block-183">
            <a:extLst xmlns:a="http://schemas.openxmlformats.org/drawingml/2006/main">
              <a:ext uri="{FF2B5EF4-FFF2-40B4-BE49-F238E27FC236}">
                <a16:creationId xmlns:a16="http://schemas.microsoft.com/office/drawing/2014/main" id="{00C902FB-00EA-4455-9681-B80920B6A70D}"/>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04 / ML CANVAS · 1 VON 2</a:t>
            </a:r>
          </a:p>
        </p:txBody>
      </p:sp>
      <p:sp>
        <p:nvSpPr>
          <p:cNvPr id="2" name="block-184">
            <a:extLst xmlns:a="http://schemas.openxmlformats.org/drawingml/2006/main">
              <a:ext uri="{FF2B5EF4-FFF2-40B4-BE49-F238E27FC236}">
                <a16:creationId xmlns:a16="http://schemas.microsoft.com/office/drawing/2014/main" id="{63E17A38-0455-4A6C-BC9D-083566C565D1}"/>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Der Anwendungsfall beginnt bei der Entscheidung</a:t>
            </a:r>
          </a:p>
        </p:txBody>
      </p:sp>
      <p:sp>
        <p:nvSpPr>
          <p:cNvPr id="3" name="block-185">
            <a:extLst xmlns:a="http://schemas.openxmlformats.org/drawingml/2006/main">
              <a:ext uri="{FF2B5EF4-FFF2-40B4-BE49-F238E27FC236}">
                <a16:creationId xmlns:a16="http://schemas.microsoft.com/office/drawing/2014/main" id="{D0B5F276-7629-415E-8541-5178BEEC15C0}"/>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Fünf Felder verbinden fachlichen Nutzen, Daten und erwartete Wirkung.</a:t>
            </a:r>
          </a:p>
        </p:txBody>
      </p:sp>
      <p:sp>
        <p:nvSpPr>
          <p:cNvPr id="4" name="block-186">
            <a:extLst xmlns:a="http://schemas.openxmlformats.org/drawingml/2006/main">
              <a:ext uri="{FF2B5EF4-FFF2-40B4-BE49-F238E27FC236}">
                <a16:creationId xmlns:a16="http://schemas.microsoft.com/office/drawing/2014/main" id="{A805B2EA-DDCC-487B-903C-9C545324E0B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d789147272fa43fc"/>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87">
            <a:extLst xmlns:a="http://schemas.openxmlformats.org/drawingml/2006/main">
              <a:ext uri="{FF2B5EF4-FFF2-40B4-BE49-F238E27FC236}">
                <a16:creationId xmlns:a16="http://schemas.microsoft.com/office/drawing/2014/main" id="{B986835B-626B-496B-AFB6-A1F367ECA8FB}"/>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188">
            <a:extLst xmlns:a="http://schemas.openxmlformats.org/drawingml/2006/main">
              <a:ext uri="{FF2B5EF4-FFF2-40B4-BE49-F238E27FC236}">
                <a16:creationId xmlns:a16="http://schemas.microsoft.com/office/drawing/2014/main" id="{B72CE2DE-FB20-4DA3-A980-85BB8524BA52}"/>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11 / 39</a:t>
            </a:r>
          </a:p>
        </p:txBody>
      </p:sp>
      <p:sp>
        <p:nvSpPr>
          <p:cNvPr id="8" name="block-189">
            <a:extLst xmlns:a="http://schemas.openxmlformats.org/drawingml/2006/main">
              <a:ext uri="{FF2B5EF4-FFF2-40B4-BE49-F238E27FC236}">
                <a16:creationId xmlns:a16="http://schemas.microsoft.com/office/drawing/2014/main" id="{4079C212-C58E-4780-9FF2-213165A1BBC9}"/>
              </a:ext>
            </a:extLst>
          </p:cNvPr>
          <p:cNvSpPr>
            <a:spLocks xmlns:a="http://schemas.openxmlformats.org/drawingml/2006/main" noGrp="1"/>
          </p:cNvSpPr>
          <p:nvPr/>
        </p:nvSpPr>
        <p:spPr>
          <a:xfrm xmlns:a="http://schemas.openxmlformats.org/drawingml/2006/main">
            <a:off x="609600" y="2495550"/>
            <a:ext cx="2905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080A0"/>
                </a:solidFill>
                <a:latin typeface="IBM Plex Sans"/>
                <a:ea typeface="IBM Plex Sans"/>
                <a:cs typeface="IBM Plex Sans"/>
              </a:defRPr>
            </a:pPr>
            <a:r>
              <a:rPr sz="2100" b="1">
                <a:solidFill>
                  <a:srgbClr val="0080A0"/>
                </a:solidFill>
                <a:latin typeface="IBM Plex Sans"/>
                <a:ea typeface="IBM Plex Sans"/>
                <a:cs typeface="IBM Plex Sans"/>
              </a:rPr>
              <a:t>Mehrwert</a:t>
            </a:r>
          </a:p>
        </p:txBody>
      </p:sp>
      <p:sp>
        <p:nvSpPr>
          <p:cNvPr id="9" name="block-190">
            <a:extLst xmlns:a="http://schemas.openxmlformats.org/drawingml/2006/main">
              <a:ext uri="{FF2B5EF4-FFF2-40B4-BE49-F238E27FC236}">
                <a16:creationId xmlns:a16="http://schemas.microsoft.com/office/drawing/2014/main" id="{A033956D-8338-4B3C-BC91-D4A64F38DD6A}"/>
              </a:ext>
            </a:extLst>
          </p:cNvPr>
          <p:cNvSpPr>
            <a:spLocks xmlns:a="http://schemas.openxmlformats.org/drawingml/2006/main" noGrp="1"/>
          </p:cNvSpPr>
          <p:nvPr/>
        </p:nvSpPr>
        <p:spPr>
          <a:xfrm xmlns:a="http://schemas.openxmlformats.org/drawingml/2006/main">
            <a:off x="3714750" y="2505075"/>
            <a:ext cx="7867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063659"/>
                </a:solidFill>
                <a:latin typeface="IBM Plex Sans"/>
                <a:ea typeface="IBM Plex Sans"/>
                <a:cs typeface="IBM Plex Sans"/>
              </a:defRPr>
            </a:pPr>
            <a:r>
              <a:rPr sz="2025" b="0">
                <a:solidFill>
                  <a:srgbClr val="063659"/>
                </a:solidFill>
                <a:latin typeface="IBM Plex Sans"/>
                <a:ea typeface="IBM Plex Sans"/>
                <a:cs typeface="IBM Plex Sans"/>
              </a:rPr>
              <a:t>Planbarere Beschaffung und monatliche Prüfung.</a:t>
            </a:r>
          </a:p>
        </p:txBody>
      </p:sp>
      <p:sp>
        <p:nvSpPr>
          <p:cNvPr id="10" name="block-191">
            <a:extLst xmlns:a="http://schemas.openxmlformats.org/drawingml/2006/main">
              <a:ext uri="{FF2B5EF4-FFF2-40B4-BE49-F238E27FC236}">
                <a16:creationId xmlns:a16="http://schemas.microsoft.com/office/drawing/2014/main" id="{74C3C98F-D11C-412A-89FF-AEE45EF10EDE}"/>
              </a:ext>
            </a:extLst>
          </p:cNvPr>
          <p:cNvSpPr>
            <a:spLocks xmlns:a="http://schemas.openxmlformats.org/drawingml/2006/main" noGrp="1"/>
          </p:cNvSpPr>
          <p:nvPr/>
        </p:nvSpPr>
        <p:spPr>
          <a:xfrm xmlns:a="http://schemas.openxmlformats.org/drawingml/2006/main">
            <a:off x="3714750" y="3000375"/>
            <a:ext cx="7867650"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1" name="block-192">
            <a:extLst xmlns:a="http://schemas.openxmlformats.org/drawingml/2006/main">
              <a:ext uri="{FF2B5EF4-FFF2-40B4-BE49-F238E27FC236}">
                <a16:creationId xmlns:a16="http://schemas.microsoft.com/office/drawing/2014/main" id="{9C3A1F64-FB29-4FB9-B6D2-BAA64246F23A}"/>
              </a:ext>
            </a:extLst>
          </p:cNvPr>
          <p:cNvSpPr>
            <a:spLocks xmlns:a="http://schemas.openxmlformats.org/drawingml/2006/main" noGrp="1"/>
          </p:cNvSpPr>
          <p:nvPr/>
        </p:nvSpPr>
        <p:spPr>
          <a:xfrm xmlns:a="http://schemas.openxmlformats.org/drawingml/2006/main">
            <a:off x="609600" y="3124200"/>
            <a:ext cx="2905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080A0"/>
                </a:solidFill>
                <a:latin typeface="IBM Plex Sans"/>
                <a:ea typeface="IBM Plex Sans"/>
                <a:cs typeface="IBM Plex Sans"/>
              </a:defRPr>
            </a:pPr>
            <a:r>
              <a:rPr sz="2100" b="1">
                <a:solidFill>
                  <a:srgbClr val="0080A0"/>
                </a:solidFill>
                <a:latin typeface="IBM Plex Sans"/>
                <a:ea typeface="IBM Plex Sans"/>
                <a:cs typeface="IBM Plex Sans"/>
              </a:rPr>
              <a:t>Datenquellen</a:t>
            </a:r>
          </a:p>
        </p:txBody>
      </p:sp>
      <p:sp>
        <p:nvSpPr>
          <p:cNvPr id="12" name="block-193">
            <a:extLst xmlns:a="http://schemas.openxmlformats.org/drawingml/2006/main">
              <a:ext uri="{FF2B5EF4-FFF2-40B4-BE49-F238E27FC236}">
                <a16:creationId xmlns:a16="http://schemas.microsoft.com/office/drawing/2014/main" id="{BA3B66F7-5774-4B19-8825-2A14A0E81DB6}"/>
              </a:ext>
            </a:extLst>
          </p:cNvPr>
          <p:cNvSpPr>
            <a:spLocks xmlns:a="http://schemas.openxmlformats.org/drawingml/2006/main" noGrp="1"/>
          </p:cNvSpPr>
          <p:nvPr/>
        </p:nvSpPr>
        <p:spPr>
          <a:xfrm xmlns:a="http://schemas.openxmlformats.org/drawingml/2006/main">
            <a:off x="3714750" y="3133725"/>
            <a:ext cx="7867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063659"/>
                </a:solidFill>
                <a:latin typeface="IBM Plex Sans"/>
                <a:ea typeface="IBM Plex Sans"/>
                <a:cs typeface="IBM Plex Sans"/>
              </a:defRPr>
            </a:pPr>
            <a:r>
              <a:rPr sz="2025" b="0">
                <a:solidFill>
                  <a:srgbClr val="063659"/>
                </a:solidFill>
                <a:latin typeface="IBM Plex Sans"/>
                <a:ea typeface="IBM Plex Sans"/>
                <a:cs typeface="IBM Plex Sans"/>
              </a:rPr>
              <a:t>Verbrauch, Vertrag, Kalender, Wetter und Betriebspläne.</a:t>
            </a:r>
          </a:p>
        </p:txBody>
      </p:sp>
      <p:sp>
        <p:nvSpPr>
          <p:cNvPr id="13" name="block-194">
            <a:extLst xmlns:a="http://schemas.openxmlformats.org/drawingml/2006/main">
              <a:ext uri="{FF2B5EF4-FFF2-40B4-BE49-F238E27FC236}">
                <a16:creationId xmlns:a16="http://schemas.microsoft.com/office/drawing/2014/main" id="{6E6CF9C7-8E09-45C9-AD17-3CE4B7697498}"/>
              </a:ext>
            </a:extLst>
          </p:cNvPr>
          <p:cNvSpPr>
            <a:spLocks xmlns:a="http://schemas.openxmlformats.org/drawingml/2006/main" noGrp="1"/>
          </p:cNvSpPr>
          <p:nvPr/>
        </p:nvSpPr>
        <p:spPr>
          <a:xfrm xmlns:a="http://schemas.openxmlformats.org/drawingml/2006/main">
            <a:off x="3714750" y="3629025"/>
            <a:ext cx="7867650"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4" name="block-195">
            <a:extLst xmlns:a="http://schemas.openxmlformats.org/drawingml/2006/main">
              <a:ext uri="{FF2B5EF4-FFF2-40B4-BE49-F238E27FC236}">
                <a16:creationId xmlns:a16="http://schemas.microsoft.com/office/drawing/2014/main" id="{AD5A9AAF-FB13-46EA-B094-627D58DF05CE}"/>
              </a:ext>
            </a:extLst>
          </p:cNvPr>
          <p:cNvSpPr>
            <a:spLocks xmlns:a="http://schemas.openxmlformats.org/drawingml/2006/main" noGrp="1"/>
          </p:cNvSpPr>
          <p:nvPr/>
        </p:nvSpPr>
        <p:spPr>
          <a:xfrm xmlns:a="http://schemas.openxmlformats.org/drawingml/2006/main">
            <a:off x="609600" y="3752850"/>
            <a:ext cx="2905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080A0"/>
                </a:solidFill>
                <a:latin typeface="IBM Plex Sans"/>
                <a:ea typeface="IBM Plex Sans"/>
                <a:cs typeface="IBM Plex Sans"/>
              </a:defRPr>
            </a:pPr>
            <a:r>
              <a:rPr sz="2100" b="1">
                <a:solidFill>
                  <a:srgbClr val="0080A0"/>
                </a:solidFill>
                <a:latin typeface="IBM Plex Sans"/>
                <a:ea typeface="IBM Plex Sans"/>
                <a:cs typeface="IBM Plex Sans"/>
              </a:rPr>
              <a:t>Vorhersage</a:t>
            </a:r>
          </a:p>
        </p:txBody>
      </p:sp>
      <p:sp>
        <p:nvSpPr>
          <p:cNvPr id="15" name="block-196">
            <a:extLst xmlns:a="http://schemas.openxmlformats.org/drawingml/2006/main">
              <a:ext uri="{FF2B5EF4-FFF2-40B4-BE49-F238E27FC236}">
                <a16:creationId xmlns:a16="http://schemas.microsoft.com/office/drawing/2014/main" id="{B3BD58FC-6813-4C0E-99C3-F1BF65897FCD}"/>
              </a:ext>
            </a:extLst>
          </p:cNvPr>
          <p:cNvSpPr>
            <a:spLocks xmlns:a="http://schemas.openxmlformats.org/drawingml/2006/main" noGrp="1"/>
          </p:cNvSpPr>
          <p:nvPr/>
        </p:nvSpPr>
        <p:spPr>
          <a:xfrm xmlns:a="http://schemas.openxmlformats.org/drawingml/2006/main">
            <a:off x="3714750" y="3762375"/>
            <a:ext cx="7867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063659"/>
                </a:solidFill>
                <a:latin typeface="IBM Plex Sans"/>
                <a:ea typeface="IBM Plex Sans"/>
                <a:cs typeface="IBM Plex Sans"/>
              </a:defRPr>
            </a:pPr>
            <a:r>
              <a:rPr sz="2025" b="0">
                <a:solidFill>
                  <a:srgbClr val="063659"/>
                </a:solidFill>
                <a:latin typeface="IBM Plex Sans"/>
                <a:ea typeface="IBM Plex Sans"/>
                <a:cs typeface="IBM Plex Sans"/>
              </a:rPr>
              <a:t>VLS je Zähler und Folgemonat; Rückrechnung in kWh.</a:t>
            </a:r>
          </a:p>
        </p:txBody>
      </p:sp>
      <p:sp>
        <p:nvSpPr>
          <p:cNvPr id="16" name="block-197">
            <a:extLst xmlns:a="http://schemas.openxmlformats.org/drawingml/2006/main">
              <a:ext uri="{FF2B5EF4-FFF2-40B4-BE49-F238E27FC236}">
                <a16:creationId xmlns:a16="http://schemas.microsoft.com/office/drawing/2014/main" id="{C73F7473-DA4C-4948-8F63-5BBA3D40E9EC}"/>
              </a:ext>
            </a:extLst>
          </p:cNvPr>
          <p:cNvSpPr>
            <a:spLocks xmlns:a="http://schemas.openxmlformats.org/drawingml/2006/main" noGrp="1"/>
          </p:cNvSpPr>
          <p:nvPr/>
        </p:nvSpPr>
        <p:spPr>
          <a:xfrm xmlns:a="http://schemas.openxmlformats.org/drawingml/2006/main">
            <a:off x="3714750" y="4257675"/>
            <a:ext cx="7867650"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7" name="block-198">
            <a:extLst xmlns:a="http://schemas.openxmlformats.org/drawingml/2006/main">
              <a:ext uri="{FF2B5EF4-FFF2-40B4-BE49-F238E27FC236}">
                <a16:creationId xmlns:a16="http://schemas.microsoft.com/office/drawing/2014/main" id="{20F3672A-23C9-4051-8D9D-073CAE096C85}"/>
              </a:ext>
            </a:extLst>
          </p:cNvPr>
          <p:cNvSpPr>
            <a:spLocks xmlns:a="http://schemas.openxmlformats.org/drawingml/2006/main" noGrp="1"/>
          </p:cNvSpPr>
          <p:nvPr/>
        </p:nvSpPr>
        <p:spPr>
          <a:xfrm xmlns:a="http://schemas.openxmlformats.org/drawingml/2006/main">
            <a:off x="609600" y="4381500"/>
            <a:ext cx="2905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080A0"/>
                </a:solidFill>
                <a:latin typeface="IBM Plex Sans"/>
                <a:ea typeface="IBM Plex Sans"/>
                <a:cs typeface="IBM Plex Sans"/>
              </a:defRPr>
            </a:pPr>
            <a:r>
              <a:rPr sz="2100" b="1">
                <a:solidFill>
                  <a:srgbClr val="0080A0"/>
                </a:solidFill>
                <a:latin typeface="IBM Plex Sans"/>
                <a:ea typeface="IBM Plex Sans"/>
                <a:cs typeface="IBM Plex Sans"/>
              </a:rPr>
              <a:t>Entscheidung</a:t>
            </a:r>
          </a:p>
        </p:txBody>
      </p:sp>
      <p:sp>
        <p:nvSpPr>
          <p:cNvPr id="18" name="block-199">
            <a:extLst xmlns:a="http://schemas.openxmlformats.org/drawingml/2006/main">
              <a:ext uri="{FF2B5EF4-FFF2-40B4-BE49-F238E27FC236}">
                <a16:creationId xmlns:a16="http://schemas.microsoft.com/office/drawing/2014/main" id="{5E9AA1A5-B14F-4ED1-9FC7-1DCCB0B6A108}"/>
              </a:ext>
            </a:extLst>
          </p:cNvPr>
          <p:cNvSpPr>
            <a:spLocks xmlns:a="http://schemas.openxmlformats.org/drawingml/2006/main" noGrp="1"/>
          </p:cNvSpPr>
          <p:nvPr/>
        </p:nvSpPr>
        <p:spPr>
          <a:xfrm xmlns:a="http://schemas.openxmlformats.org/drawingml/2006/main">
            <a:off x="3714750" y="4391025"/>
            <a:ext cx="7867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063659"/>
                </a:solidFill>
                <a:latin typeface="IBM Plex Sans"/>
                <a:ea typeface="IBM Plex Sans"/>
                <a:cs typeface="IBM Plex Sans"/>
              </a:defRPr>
            </a:pPr>
            <a:r>
              <a:rPr sz="2025" b="0">
                <a:solidFill>
                  <a:srgbClr val="063659"/>
                </a:solidFill>
                <a:latin typeface="IBM Plex Sans"/>
                <a:ea typeface="IBM Plex Sans"/>
                <a:cs typeface="IBM Plex Sans"/>
              </a:rPr>
              <a:t>Beschaffung informieren und Fachprüfung priorisieren.</a:t>
            </a:r>
          </a:p>
        </p:txBody>
      </p:sp>
      <p:sp>
        <p:nvSpPr>
          <p:cNvPr id="19" name="block-200">
            <a:extLst xmlns:a="http://schemas.openxmlformats.org/drawingml/2006/main">
              <a:ext uri="{FF2B5EF4-FFF2-40B4-BE49-F238E27FC236}">
                <a16:creationId xmlns:a16="http://schemas.microsoft.com/office/drawing/2014/main" id="{D91C2742-E74F-4900-9136-A52DC3E8A62A}"/>
              </a:ext>
            </a:extLst>
          </p:cNvPr>
          <p:cNvSpPr>
            <a:spLocks xmlns:a="http://schemas.openxmlformats.org/drawingml/2006/main" noGrp="1"/>
          </p:cNvSpPr>
          <p:nvPr/>
        </p:nvSpPr>
        <p:spPr>
          <a:xfrm xmlns:a="http://schemas.openxmlformats.org/drawingml/2006/main">
            <a:off x="3714750" y="4886325"/>
            <a:ext cx="7867650"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0" name="block-201">
            <a:extLst xmlns:a="http://schemas.openxmlformats.org/drawingml/2006/main">
              <a:ext uri="{FF2B5EF4-FFF2-40B4-BE49-F238E27FC236}">
                <a16:creationId xmlns:a16="http://schemas.microsoft.com/office/drawing/2014/main" id="{0CB03D93-2250-4064-B271-C341A5367CB4}"/>
              </a:ext>
            </a:extLst>
          </p:cNvPr>
          <p:cNvSpPr>
            <a:spLocks xmlns:a="http://schemas.openxmlformats.org/drawingml/2006/main" noGrp="1"/>
          </p:cNvSpPr>
          <p:nvPr/>
        </p:nvSpPr>
        <p:spPr>
          <a:xfrm xmlns:a="http://schemas.openxmlformats.org/drawingml/2006/main">
            <a:off x="609600" y="5010150"/>
            <a:ext cx="2905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080A0"/>
                </a:solidFill>
                <a:latin typeface="IBM Plex Sans"/>
                <a:ea typeface="IBM Plex Sans"/>
                <a:cs typeface="IBM Plex Sans"/>
              </a:defRPr>
            </a:pPr>
            <a:r>
              <a:rPr sz="2100" b="1">
                <a:solidFill>
                  <a:srgbClr val="0080A0"/>
                </a:solidFill>
                <a:latin typeface="IBM Plex Sans"/>
                <a:ea typeface="IBM Plex Sans"/>
                <a:cs typeface="IBM Plex Sans"/>
              </a:rPr>
              <a:t>Auswirkung</a:t>
            </a:r>
          </a:p>
        </p:txBody>
      </p:sp>
      <p:sp>
        <p:nvSpPr>
          <p:cNvPr id="21" name="block-202">
            <a:extLst xmlns:a="http://schemas.openxmlformats.org/drawingml/2006/main">
              <a:ext uri="{FF2B5EF4-FFF2-40B4-BE49-F238E27FC236}">
                <a16:creationId xmlns:a16="http://schemas.microsoft.com/office/drawing/2014/main" id="{7666077C-E92E-48B8-B430-3DCDF3F2219D}"/>
              </a:ext>
            </a:extLst>
          </p:cNvPr>
          <p:cNvSpPr>
            <a:spLocks xmlns:a="http://schemas.openxmlformats.org/drawingml/2006/main" noGrp="1"/>
          </p:cNvSpPr>
          <p:nvPr/>
        </p:nvSpPr>
        <p:spPr>
          <a:xfrm xmlns:a="http://schemas.openxmlformats.org/drawingml/2006/main">
            <a:off x="3714750" y="5019675"/>
            <a:ext cx="7867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063659"/>
                </a:solidFill>
                <a:latin typeface="IBM Plex Sans"/>
                <a:ea typeface="IBM Plex Sans"/>
                <a:cs typeface="IBM Plex Sans"/>
              </a:defRPr>
            </a:pPr>
            <a:r>
              <a:rPr sz="2025" b="0">
                <a:solidFill>
                  <a:srgbClr val="063659"/>
                </a:solidFill>
                <a:latin typeface="IBM Plex Sans"/>
                <a:ea typeface="IBM Plex Sans"/>
                <a:cs typeface="IBM Plex Sans"/>
              </a:rPr>
              <a:t>Fehler, Prüfzeit und bestätigte Ursachen im Pilot messen.</a:t>
            </a:r>
          </a:p>
        </p:txBody>
      </p:sp>
      <p:sp>
        <p:nvSpPr>
          <p:cNvPr id="22" name="block-203">
            <a:extLst xmlns:a="http://schemas.openxmlformats.org/drawingml/2006/main">
              <a:ext uri="{FF2B5EF4-FFF2-40B4-BE49-F238E27FC236}">
                <a16:creationId xmlns:a16="http://schemas.microsoft.com/office/drawing/2014/main" id="{0CA00E98-0DCC-4AC2-9773-4E8377C60A30}"/>
              </a:ext>
            </a:extLst>
          </p:cNvPr>
          <p:cNvSpPr>
            <a:spLocks xmlns:a="http://schemas.openxmlformats.org/drawingml/2006/main" noGrp="1"/>
          </p:cNvSpPr>
          <p:nvPr/>
        </p:nvSpPr>
        <p:spPr>
          <a:xfrm xmlns:a="http://schemas.openxmlformats.org/drawingml/2006/main">
            <a:off x="3714750" y="5514975"/>
            <a:ext cx="7867650" cy="9525"/>
          </a:xfrm>
          <a:prstGeom xmlns:a="http://schemas.openxmlformats.org/drawingml/2006/main" prst="rect">
            <a:avLst/>
          </a:prstGeom>
          <a:solidFill xmlns:a="http://schemas.openxmlformats.org/drawingml/2006/main">
            <a:srgbClr val="D6DFE7"/>
          </a:solidFill>
          <a:ln xmlns:a="http://schemas.openxmlformats.org/drawingml/2006/main" w="0">
            <a:noFill/>
          </a:ln>
        </p:spPr>
      </p:sp>
    </p:spTree>
    <p:extLst>
      <p:ext uri="{BB962C8B-B14F-4D97-AF65-F5344CB8AC3E}">
        <p14:creationId xmlns:p14="http://schemas.microsoft.com/office/powerpoint/2010/main" val="153795176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block-204">
            <a:extLst xmlns:a="http://schemas.openxmlformats.org/drawingml/2006/main">
              <a:ext uri="{FF2B5EF4-FFF2-40B4-BE49-F238E27FC236}">
                <a16:creationId xmlns:a16="http://schemas.microsoft.com/office/drawing/2014/main" id="{D93A9133-8B0C-4B78-B549-482B3293D172}"/>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04 / ML CANVAS · 2 VON 2</a:t>
            </a:r>
          </a:p>
        </p:txBody>
      </p:sp>
      <p:sp>
        <p:nvSpPr>
          <p:cNvPr id="2" name="block-205">
            <a:extLst xmlns:a="http://schemas.openxmlformats.org/drawingml/2006/main">
              <a:ext uri="{FF2B5EF4-FFF2-40B4-BE49-F238E27FC236}">
                <a16:creationId xmlns:a16="http://schemas.microsoft.com/office/drawing/2014/main" id="{DD8C9F76-E852-459F-9475-4D2929823C3C}"/>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Der Betrieb legt die Modellregeln fest</a:t>
            </a:r>
          </a:p>
        </p:txBody>
      </p:sp>
      <p:sp>
        <p:nvSpPr>
          <p:cNvPr id="3" name="block-206">
            <a:extLst xmlns:a="http://schemas.openxmlformats.org/drawingml/2006/main">
              <a:ext uri="{FF2B5EF4-FFF2-40B4-BE49-F238E27FC236}">
                <a16:creationId xmlns:a16="http://schemas.microsoft.com/office/drawing/2014/main" id="{D5B9A399-778A-4DE2-A038-50B6F1F853DD}"/>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Fünf weitere Felder machen Zeitpunkt, Bewertung und Pflege konkret.</a:t>
            </a:r>
          </a:p>
        </p:txBody>
      </p:sp>
      <p:sp>
        <p:nvSpPr>
          <p:cNvPr id="4" name="block-207">
            <a:extLst xmlns:a="http://schemas.openxmlformats.org/drawingml/2006/main">
              <a:ext uri="{FF2B5EF4-FFF2-40B4-BE49-F238E27FC236}">
                <a16:creationId xmlns:a16="http://schemas.microsoft.com/office/drawing/2014/main" id="{9775BF6E-857F-4C36-B845-1E537CECD40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ed20eff57ae74549"/>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08">
            <a:extLst xmlns:a="http://schemas.openxmlformats.org/drawingml/2006/main">
              <a:ext uri="{FF2B5EF4-FFF2-40B4-BE49-F238E27FC236}">
                <a16:creationId xmlns:a16="http://schemas.microsoft.com/office/drawing/2014/main" id="{1582B9EF-05EF-4234-9319-84A3443A2500}"/>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209">
            <a:extLst xmlns:a="http://schemas.openxmlformats.org/drawingml/2006/main">
              <a:ext uri="{FF2B5EF4-FFF2-40B4-BE49-F238E27FC236}">
                <a16:creationId xmlns:a16="http://schemas.microsoft.com/office/drawing/2014/main" id="{AFE9745E-9817-4E99-91EE-D2BEEAA75655}"/>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12 / 39</a:t>
            </a:r>
          </a:p>
        </p:txBody>
      </p:sp>
      <p:sp>
        <p:nvSpPr>
          <p:cNvPr id="8" name="block-210">
            <a:extLst xmlns:a="http://schemas.openxmlformats.org/drawingml/2006/main">
              <a:ext uri="{FF2B5EF4-FFF2-40B4-BE49-F238E27FC236}">
                <a16:creationId xmlns:a16="http://schemas.microsoft.com/office/drawing/2014/main" id="{211B4FA0-51B6-4392-83DB-07B7E2772EFC}"/>
              </a:ext>
            </a:extLst>
          </p:cNvPr>
          <p:cNvSpPr>
            <a:spLocks xmlns:a="http://schemas.openxmlformats.org/drawingml/2006/main" noGrp="1"/>
          </p:cNvSpPr>
          <p:nvPr/>
        </p:nvSpPr>
        <p:spPr>
          <a:xfrm xmlns:a="http://schemas.openxmlformats.org/drawingml/2006/main">
            <a:off x="609600" y="2495550"/>
            <a:ext cx="2905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080A0"/>
                </a:solidFill>
                <a:latin typeface="IBM Plex Sans"/>
                <a:ea typeface="IBM Plex Sans"/>
                <a:cs typeface="IBM Plex Sans"/>
              </a:defRPr>
            </a:pPr>
            <a:r>
              <a:rPr sz="2100" b="1">
                <a:solidFill>
                  <a:srgbClr val="0080A0"/>
                </a:solidFill>
                <a:latin typeface="IBM Plex Sans"/>
                <a:ea typeface="IBM Plex Sans"/>
                <a:cs typeface="IBM Plex Sans"/>
              </a:rPr>
              <a:t>Merkmale</a:t>
            </a:r>
          </a:p>
        </p:txBody>
      </p:sp>
      <p:sp>
        <p:nvSpPr>
          <p:cNvPr id="9" name="block-211">
            <a:extLst xmlns:a="http://schemas.openxmlformats.org/drawingml/2006/main">
              <a:ext uri="{FF2B5EF4-FFF2-40B4-BE49-F238E27FC236}">
                <a16:creationId xmlns:a16="http://schemas.microsoft.com/office/drawing/2014/main" id="{C033C5EA-BB24-4DC0-9D71-4DB7CE79568A}"/>
              </a:ext>
            </a:extLst>
          </p:cNvPr>
          <p:cNvSpPr>
            <a:spLocks xmlns:a="http://schemas.openxmlformats.org/drawingml/2006/main" noGrp="1"/>
          </p:cNvSpPr>
          <p:nvPr/>
        </p:nvSpPr>
        <p:spPr>
          <a:xfrm xmlns:a="http://schemas.openxmlformats.org/drawingml/2006/main">
            <a:off x="3714750" y="2505075"/>
            <a:ext cx="7867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063659"/>
                </a:solidFill>
                <a:latin typeface="IBM Plex Sans"/>
                <a:ea typeface="IBM Plex Sans"/>
                <a:cs typeface="IBM Plex Sans"/>
              </a:defRPr>
            </a:pPr>
            <a:r>
              <a:rPr sz="2025" b="0">
                <a:solidFill>
                  <a:srgbClr val="063659"/>
                </a:solidFill>
                <a:latin typeface="IBM Plex Sans"/>
                <a:ea typeface="IBM Plex Sans"/>
                <a:cs typeface="IBM Plex Sans"/>
              </a:rPr>
              <a:t>Vergangenheit und vorab verfügbare Kontextdaten.</a:t>
            </a:r>
          </a:p>
        </p:txBody>
      </p:sp>
      <p:sp>
        <p:nvSpPr>
          <p:cNvPr id="10" name="block-212">
            <a:extLst xmlns:a="http://schemas.openxmlformats.org/drawingml/2006/main">
              <a:ext uri="{FF2B5EF4-FFF2-40B4-BE49-F238E27FC236}">
                <a16:creationId xmlns:a16="http://schemas.microsoft.com/office/drawing/2014/main" id="{2340EBD8-94AE-4844-A349-4691BC73DA1E}"/>
              </a:ext>
            </a:extLst>
          </p:cNvPr>
          <p:cNvSpPr>
            <a:spLocks xmlns:a="http://schemas.openxmlformats.org/drawingml/2006/main" noGrp="1"/>
          </p:cNvSpPr>
          <p:nvPr/>
        </p:nvSpPr>
        <p:spPr>
          <a:xfrm xmlns:a="http://schemas.openxmlformats.org/drawingml/2006/main">
            <a:off x="3714750" y="3000375"/>
            <a:ext cx="7867650"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1" name="block-213">
            <a:extLst xmlns:a="http://schemas.openxmlformats.org/drawingml/2006/main">
              <a:ext uri="{FF2B5EF4-FFF2-40B4-BE49-F238E27FC236}">
                <a16:creationId xmlns:a16="http://schemas.microsoft.com/office/drawing/2014/main" id="{4CCE9CB7-4F42-4B36-BC8C-D6A17FC6DEC5}"/>
              </a:ext>
            </a:extLst>
          </p:cNvPr>
          <p:cNvSpPr>
            <a:spLocks xmlns:a="http://schemas.openxmlformats.org/drawingml/2006/main" noGrp="1"/>
          </p:cNvSpPr>
          <p:nvPr/>
        </p:nvSpPr>
        <p:spPr>
          <a:xfrm xmlns:a="http://schemas.openxmlformats.org/drawingml/2006/main">
            <a:off x="609600" y="3124200"/>
            <a:ext cx="2905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080A0"/>
                </a:solidFill>
                <a:latin typeface="IBM Plex Sans"/>
                <a:ea typeface="IBM Plex Sans"/>
                <a:cs typeface="IBM Plex Sans"/>
              </a:defRPr>
            </a:pPr>
            <a:r>
              <a:rPr sz="2100" b="1">
                <a:solidFill>
                  <a:srgbClr val="0080A0"/>
                </a:solidFill>
                <a:latin typeface="IBM Plex Sans"/>
                <a:ea typeface="IBM Plex Sans"/>
                <a:cs typeface="IBM Plex Sans"/>
              </a:rPr>
              <a:t>Lernansatz</a:t>
            </a:r>
          </a:p>
        </p:txBody>
      </p:sp>
      <p:sp>
        <p:nvSpPr>
          <p:cNvPr id="12" name="block-214">
            <a:extLst xmlns:a="http://schemas.openxmlformats.org/drawingml/2006/main">
              <a:ext uri="{FF2B5EF4-FFF2-40B4-BE49-F238E27FC236}">
                <a16:creationId xmlns:a16="http://schemas.microsoft.com/office/drawing/2014/main" id="{ED549D1F-D18B-4653-AA96-1294198C3629}"/>
              </a:ext>
            </a:extLst>
          </p:cNvPr>
          <p:cNvSpPr>
            <a:spLocks xmlns:a="http://schemas.openxmlformats.org/drawingml/2006/main" noGrp="1"/>
          </p:cNvSpPr>
          <p:nvPr/>
        </p:nvSpPr>
        <p:spPr>
          <a:xfrm xmlns:a="http://schemas.openxmlformats.org/drawingml/2006/main">
            <a:off x="3714750" y="3133725"/>
            <a:ext cx="7867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063659"/>
                </a:solidFill>
                <a:latin typeface="IBM Plex Sans"/>
                <a:ea typeface="IBM Plex Sans"/>
                <a:cs typeface="IBM Plex Sans"/>
              </a:defRPr>
            </a:pPr>
            <a:r>
              <a:rPr sz="2025" b="0">
                <a:solidFill>
                  <a:srgbClr val="063659"/>
                </a:solidFill>
                <a:latin typeface="IBM Plex Sans"/>
                <a:ea typeface="IBM Plex Sans"/>
                <a:cs typeface="IBM Plex Sans"/>
              </a:rPr>
              <a:t>Regression: lineares Modell und Random Forest.</a:t>
            </a:r>
          </a:p>
        </p:txBody>
      </p:sp>
      <p:sp>
        <p:nvSpPr>
          <p:cNvPr id="13" name="block-215">
            <a:extLst xmlns:a="http://schemas.openxmlformats.org/drawingml/2006/main">
              <a:ext uri="{FF2B5EF4-FFF2-40B4-BE49-F238E27FC236}">
                <a16:creationId xmlns:a16="http://schemas.microsoft.com/office/drawing/2014/main" id="{83104A21-3352-48AE-B4BC-FBFBA669E5AF}"/>
              </a:ext>
            </a:extLst>
          </p:cNvPr>
          <p:cNvSpPr>
            <a:spLocks xmlns:a="http://schemas.openxmlformats.org/drawingml/2006/main" noGrp="1"/>
          </p:cNvSpPr>
          <p:nvPr/>
        </p:nvSpPr>
        <p:spPr>
          <a:xfrm xmlns:a="http://schemas.openxmlformats.org/drawingml/2006/main">
            <a:off x="3714750" y="3629025"/>
            <a:ext cx="7867650"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4" name="block-216">
            <a:extLst xmlns:a="http://schemas.openxmlformats.org/drawingml/2006/main">
              <a:ext uri="{FF2B5EF4-FFF2-40B4-BE49-F238E27FC236}">
                <a16:creationId xmlns:a16="http://schemas.microsoft.com/office/drawing/2014/main" id="{ACDDDC51-9C31-453E-872F-CC1001FE50A9}"/>
              </a:ext>
            </a:extLst>
          </p:cNvPr>
          <p:cNvSpPr>
            <a:spLocks xmlns:a="http://schemas.openxmlformats.org/drawingml/2006/main" noGrp="1"/>
          </p:cNvSpPr>
          <p:nvPr/>
        </p:nvSpPr>
        <p:spPr>
          <a:xfrm xmlns:a="http://schemas.openxmlformats.org/drawingml/2006/main">
            <a:off x="609600" y="3752850"/>
            <a:ext cx="2905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080A0"/>
                </a:solidFill>
                <a:latin typeface="IBM Plex Sans"/>
                <a:ea typeface="IBM Plex Sans"/>
                <a:cs typeface="IBM Plex Sans"/>
              </a:defRPr>
            </a:pPr>
            <a:r>
              <a:rPr sz="2100" b="1">
                <a:solidFill>
                  <a:srgbClr val="0080A0"/>
                </a:solidFill>
                <a:latin typeface="IBM Plex Sans"/>
                <a:ea typeface="IBM Plex Sans"/>
                <a:cs typeface="IBM Plex Sans"/>
              </a:rPr>
              <a:t>Überprüfung</a:t>
            </a:r>
          </a:p>
        </p:txBody>
      </p:sp>
      <p:sp>
        <p:nvSpPr>
          <p:cNvPr id="15" name="block-217">
            <a:extLst xmlns:a="http://schemas.openxmlformats.org/drawingml/2006/main">
              <a:ext uri="{FF2B5EF4-FFF2-40B4-BE49-F238E27FC236}">
                <a16:creationId xmlns:a16="http://schemas.microsoft.com/office/drawing/2014/main" id="{7AF8D595-BE5E-4C63-AA26-8160B534B756}"/>
              </a:ext>
            </a:extLst>
          </p:cNvPr>
          <p:cNvSpPr>
            <a:spLocks xmlns:a="http://schemas.openxmlformats.org/drawingml/2006/main" noGrp="1"/>
          </p:cNvSpPr>
          <p:nvPr/>
        </p:nvSpPr>
        <p:spPr>
          <a:xfrm xmlns:a="http://schemas.openxmlformats.org/drawingml/2006/main">
            <a:off x="3714750" y="3762375"/>
            <a:ext cx="7867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063659"/>
                </a:solidFill>
                <a:latin typeface="IBM Plex Sans"/>
                <a:ea typeface="IBM Plex Sans"/>
                <a:cs typeface="IBM Plex Sans"/>
              </a:defRPr>
            </a:pPr>
            <a:r>
              <a:rPr sz="2025" b="0">
                <a:solidFill>
                  <a:srgbClr val="063659"/>
                </a:solidFill>
                <a:latin typeface="IBM Plex Sans"/>
                <a:ea typeface="IBM Plex Sans"/>
                <a:cs typeface="IBM Plex Sans"/>
              </a:rPr>
              <a:t>Zeit-Folds, späterer Benchmark und einfache Baselines.</a:t>
            </a:r>
          </a:p>
        </p:txBody>
      </p:sp>
      <p:sp>
        <p:nvSpPr>
          <p:cNvPr id="16" name="block-218">
            <a:extLst xmlns:a="http://schemas.openxmlformats.org/drawingml/2006/main">
              <a:ext uri="{FF2B5EF4-FFF2-40B4-BE49-F238E27FC236}">
                <a16:creationId xmlns:a16="http://schemas.microsoft.com/office/drawing/2014/main" id="{C9D5FD29-EDD7-4080-B561-23A25BC643A5}"/>
              </a:ext>
            </a:extLst>
          </p:cNvPr>
          <p:cNvSpPr>
            <a:spLocks xmlns:a="http://schemas.openxmlformats.org/drawingml/2006/main" noGrp="1"/>
          </p:cNvSpPr>
          <p:nvPr/>
        </p:nvSpPr>
        <p:spPr>
          <a:xfrm xmlns:a="http://schemas.openxmlformats.org/drawingml/2006/main">
            <a:off x="3714750" y="4257675"/>
            <a:ext cx="7867650"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7" name="block-219">
            <a:extLst xmlns:a="http://schemas.openxmlformats.org/drawingml/2006/main">
              <a:ext uri="{FF2B5EF4-FFF2-40B4-BE49-F238E27FC236}">
                <a16:creationId xmlns:a16="http://schemas.microsoft.com/office/drawing/2014/main" id="{FDD6DE87-41F8-427F-A105-BA5FA7EF6575}"/>
              </a:ext>
            </a:extLst>
          </p:cNvPr>
          <p:cNvSpPr>
            <a:spLocks xmlns:a="http://schemas.openxmlformats.org/drawingml/2006/main" noGrp="1"/>
          </p:cNvSpPr>
          <p:nvPr/>
        </p:nvSpPr>
        <p:spPr>
          <a:xfrm xmlns:a="http://schemas.openxmlformats.org/drawingml/2006/main">
            <a:off x="609600" y="4381500"/>
            <a:ext cx="2905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080A0"/>
                </a:solidFill>
                <a:latin typeface="IBM Plex Sans"/>
                <a:ea typeface="IBM Plex Sans"/>
                <a:cs typeface="IBM Plex Sans"/>
              </a:defRPr>
            </a:pPr>
            <a:r>
              <a:rPr sz="2100" b="1">
                <a:solidFill>
                  <a:srgbClr val="0080A0"/>
                </a:solidFill>
                <a:latin typeface="IBM Plex Sans"/>
                <a:ea typeface="IBM Plex Sans"/>
                <a:cs typeface="IBM Plex Sans"/>
              </a:rPr>
              <a:t>Zeitpunkt</a:t>
            </a:r>
          </a:p>
        </p:txBody>
      </p:sp>
      <p:sp>
        <p:nvSpPr>
          <p:cNvPr id="18" name="block-220">
            <a:extLst xmlns:a="http://schemas.openxmlformats.org/drawingml/2006/main">
              <a:ext uri="{FF2B5EF4-FFF2-40B4-BE49-F238E27FC236}">
                <a16:creationId xmlns:a16="http://schemas.microsoft.com/office/drawing/2014/main" id="{A363EF59-DB58-4147-8B41-316D3C80D0FB}"/>
              </a:ext>
            </a:extLst>
          </p:cNvPr>
          <p:cNvSpPr>
            <a:spLocks xmlns:a="http://schemas.openxmlformats.org/drawingml/2006/main" noGrp="1"/>
          </p:cNvSpPr>
          <p:nvPr/>
        </p:nvSpPr>
        <p:spPr>
          <a:xfrm xmlns:a="http://schemas.openxmlformats.org/drawingml/2006/main">
            <a:off x="3714750" y="4391025"/>
            <a:ext cx="7867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063659"/>
                </a:solidFill>
                <a:latin typeface="IBM Plex Sans"/>
                <a:ea typeface="IBM Plex Sans"/>
                <a:cs typeface="IBM Plex Sans"/>
              </a:defRPr>
            </a:pPr>
            <a:r>
              <a:rPr sz="2025" b="0">
                <a:solidFill>
                  <a:srgbClr val="063659"/>
                </a:solidFill>
                <a:latin typeface="IBM Plex Sans"/>
                <a:ea typeface="IBM Plex Sans"/>
                <a:cs typeface="IBM Plex Sans"/>
              </a:rPr>
              <a:t>Prognose vorher; Abweichungsprüfung nach dem Istwert.</a:t>
            </a:r>
          </a:p>
        </p:txBody>
      </p:sp>
      <p:sp>
        <p:nvSpPr>
          <p:cNvPr id="19" name="block-221">
            <a:extLst xmlns:a="http://schemas.openxmlformats.org/drawingml/2006/main">
              <a:ext uri="{FF2B5EF4-FFF2-40B4-BE49-F238E27FC236}">
                <a16:creationId xmlns:a16="http://schemas.microsoft.com/office/drawing/2014/main" id="{0787E7EF-2ED1-494F-86C3-3B27B185B7CF}"/>
              </a:ext>
            </a:extLst>
          </p:cNvPr>
          <p:cNvSpPr>
            <a:spLocks xmlns:a="http://schemas.openxmlformats.org/drawingml/2006/main" noGrp="1"/>
          </p:cNvSpPr>
          <p:nvPr/>
        </p:nvSpPr>
        <p:spPr>
          <a:xfrm xmlns:a="http://schemas.openxmlformats.org/drawingml/2006/main">
            <a:off x="3714750" y="4886325"/>
            <a:ext cx="7867650"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0" name="block-222">
            <a:extLst xmlns:a="http://schemas.openxmlformats.org/drawingml/2006/main">
              <a:ext uri="{FF2B5EF4-FFF2-40B4-BE49-F238E27FC236}">
                <a16:creationId xmlns:a16="http://schemas.microsoft.com/office/drawing/2014/main" id="{A6711EB2-7859-4A33-B88E-927A92E835B0}"/>
              </a:ext>
            </a:extLst>
          </p:cNvPr>
          <p:cNvSpPr>
            <a:spLocks xmlns:a="http://schemas.openxmlformats.org/drawingml/2006/main" noGrp="1"/>
          </p:cNvSpPr>
          <p:nvPr/>
        </p:nvSpPr>
        <p:spPr>
          <a:xfrm xmlns:a="http://schemas.openxmlformats.org/drawingml/2006/main">
            <a:off x="609600" y="5010150"/>
            <a:ext cx="2905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080A0"/>
                </a:solidFill>
                <a:latin typeface="IBM Plex Sans"/>
                <a:ea typeface="IBM Plex Sans"/>
                <a:cs typeface="IBM Plex Sans"/>
              </a:defRPr>
            </a:pPr>
            <a:r>
              <a:rPr sz="2100" b="1">
                <a:solidFill>
                  <a:srgbClr val="0080A0"/>
                </a:solidFill>
                <a:latin typeface="IBM Plex Sans"/>
                <a:ea typeface="IBM Plex Sans"/>
                <a:cs typeface="IBM Plex Sans"/>
              </a:rPr>
              <a:t>Wartung</a:t>
            </a:r>
          </a:p>
        </p:txBody>
      </p:sp>
      <p:sp>
        <p:nvSpPr>
          <p:cNvPr id="21" name="block-223">
            <a:extLst xmlns:a="http://schemas.openxmlformats.org/drawingml/2006/main">
              <a:ext uri="{FF2B5EF4-FFF2-40B4-BE49-F238E27FC236}">
                <a16:creationId xmlns:a16="http://schemas.microsoft.com/office/drawing/2014/main" id="{B592E9B2-1ECB-4A4A-B352-2514514BCB2D}"/>
              </a:ext>
            </a:extLst>
          </p:cNvPr>
          <p:cNvSpPr>
            <a:spLocks xmlns:a="http://schemas.openxmlformats.org/drawingml/2006/main" noGrp="1"/>
          </p:cNvSpPr>
          <p:nvPr/>
        </p:nvSpPr>
        <p:spPr>
          <a:xfrm xmlns:a="http://schemas.openxmlformats.org/drawingml/2006/main">
            <a:off x="3714750" y="5019675"/>
            <a:ext cx="7867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063659"/>
                </a:solidFill>
                <a:latin typeface="IBM Plex Sans"/>
                <a:ea typeface="IBM Plex Sans"/>
                <a:cs typeface="IBM Plex Sans"/>
              </a:defRPr>
            </a:pPr>
            <a:r>
              <a:rPr sz="2025" b="0">
                <a:solidFill>
                  <a:srgbClr val="063659"/>
                </a:solidFill>
                <a:latin typeface="IBM Plex Sans"/>
                <a:ea typeface="IBM Plex Sans"/>
                <a:cs typeface="IBM Plex Sans"/>
              </a:rPr>
              <a:t>Fehler, Datenlücken, Drift und Hinweisvolumen verfolgen.</a:t>
            </a:r>
          </a:p>
        </p:txBody>
      </p:sp>
      <p:sp>
        <p:nvSpPr>
          <p:cNvPr id="22" name="block-224">
            <a:extLst xmlns:a="http://schemas.openxmlformats.org/drawingml/2006/main">
              <a:ext uri="{FF2B5EF4-FFF2-40B4-BE49-F238E27FC236}">
                <a16:creationId xmlns:a16="http://schemas.microsoft.com/office/drawing/2014/main" id="{33C56BDC-B354-4A41-8AD2-A668CC53CE6C}"/>
              </a:ext>
            </a:extLst>
          </p:cNvPr>
          <p:cNvSpPr>
            <a:spLocks xmlns:a="http://schemas.openxmlformats.org/drawingml/2006/main" noGrp="1"/>
          </p:cNvSpPr>
          <p:nvPr/>
        </p:nvSpPr>
        <p:spPr>
          <a:xfrm xmlns:a="http://schemas.openxmlformats.org/drawingml/2006/main">
            <a:off x="3714750" y="5514975"/>
            <a:ext cx="7867650" cy="9525"/>
          </a:xfrm>
          <a:prstGeom xmlns:a="http://schemas.openxmlformats.org/drawingml/2006/main" prst="rect">
            <a:avLst/>
          </a:prstGeom>
          <a:solidFill xmlns:a="http://schemas.openxmlformats.org/drawingml/2006/main">
            <a:srgbClr val="D6DFE7"/>
          </a:solidFill>
          <a:ln xmlns:a="http://schemas.openxmlformats.org/drawingml/2006/main" w="0">
            <a:noFill/>
          </a:ln>
        </p:spPr>
      </p:sp>
    </p:spTree>
    <p:extLst>
      <p:ext uri="{BB962C8B-B14F-4D97-AF65-F5344CB8AC3E}">
        <p14:creationId xmlns:p14="http://schemas.microsoft.com/office/powerpoint/2010/main" val="23946872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block-225">
            <a:extLst xmlns:a="http://schemas.openxmlformats.org/drawingml/2006/main">
              <a:ext uri="{FF2B5EF4-FFF2-40B4-BE49-F238E27FC236}">
                <a16:creationId xmlns:a16="http://schemas.microsoft.com/office/drawing/2014/main" id="{B59C4C90-D34E-4C46-B3BC-653C83B6D493}"/>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05 / ZIELVARIABLE</a:t>
            </a:r>
          </a:p>
        </p:txBody>
      </p:sp>
      <p:sp>
        <p:nvSpPr>
          <p:cNvPr id="2" name="block-226">
            <a:extLst xmlns:a="http://schemas.openxmlformats.org/drawingml/2006/main">
              <a:ext uri="{FF2B5EF4-FFF2-40B4-BE49-F238E27FC236}">
                <a16:creationId xmlns:a16="http://schemas.microsoft.com/office/drawing/2014/main" id="{CD91262E-72A8-471B-9058-9849F4B1B658}"/>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Volllaststunden machen Anschlüsse vergleichbar</a:t>
            </a:r>
          </a:p>
        </p:txBody>
      </p:sp>
      <p:sp>
        <p:nvSpPr>
          <p:cNvPr id="3" name="block-227">
            <a:extLst xmlns:a="http://schemas.openxmlformats.org/drawingml/2006/main">
              <a:ext uri="{FF2B5EF4-FFF2-40B4-BE49-F238E27FC236}">
                <a16:creationId xmlns:a16="http://schemas.microsoft.com/office/drawing/2014/main" id="{BBF0EB78-CE58-48A6-B220-C577DE6CCCA3}"/>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VLS normalisieren auf die Vertragsleistung. Sie sind keine gemessene Laufzeit.</a:t>
            </a:r>
          </a:p>
        </p:txBody>
      </p:sp>
      <p:sp>
        <p:nvSpPr>
          <p:cNvPr id="4" name="block-228">
            <a:extLst xmlns:a="http://schemas.openxmlformats.org/drawingml/2006/main">
              <a:ext uri="{FF2B5EF4-FFF2-40B4-BE49-F238E27FC236}">
                <a16:creationId xmlns:a16="http://schemas.microsoft.com/office/drawing/2014/main" id="{EE5F6926-82A9-4576-A420-DF7B8294A7AA}"/>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db7586dc453a4fbd"/>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29">
            <a:extLst xmlns:a="http://schemas.openxmlformats.org/drawingml/2006/main">
              <a:ext uri="{FF2B5EF4-FFF2-40B4-BE49-F238E27FC236}">
                <a16:creationId xmlns:a16="http://schemas.microsoft.com/office/drawing/2014/main" id="{7B570B85-EB1A-4E21-A458-D9E8D75107CE}"/>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230">
            <a:extLst xmlns:a="http://schemas.openxmlformats.org/drawingml/2006/main">
              <a:ext uri="{FF2B5EF4-FFF2-40B4-BE49-F238E27FC236}">
                <a16:creationId xmlns:a16="http://schemas.microsoft.com/office/drawing/2014/main" id="{F223F7EF-0960-4FE1-8210-A3709EB5EDB7}"/>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13 / 39</a:t>
            </a:r>
          </a:p>
        </p:txBody>
      </p:sp>
      <p:sp>
        <p:nvSpPr>
          <p:cNvPr id="8" name="block-231">
            <a:extLst xmlns:a="http://schemas.openxmlformats.org/drawingml/2006/main">
              <a:ext uri="{FF2B5EF4-FFF2-40B4-BE49-F238E27FC236}">
                <a16:creationId xmlns:a16="http://schemas.microsoft.com/office/drawing/2014/main" id="{D6C73668-D8CB-4B89-92CB-211D837DB2A1}"/>
              </a:ext>
            </a:extLst>
          </p:cNvPr>
          <p:cNvSpPr>
            <a:spLocks xmlns:a="http://schemas.openxmlformats.org/drawingml/2006/main" noGrp="1"/>
          </p:cNvSpPr>
          <p:nvPr/>
        </p:nvSpPr>
        <p:spPr>
          <a:xfrm xmlns:a="http://schemas.openxmlformats.org/drawingml/2006/main">
            <a:off x="609600" y="2533650"/>
            <a:ext cx="10972800" cy="752475"/>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9" name="block-232">
            <a:extLst xmlns:a="http://schemas.openxmlformats.org/drawingml/2006/main">
              <a:ext uri="{FF2B5EF4-FFF2-40B4-BE49-F238E27FC236}">
                <a16:creationId xmlns:a16="http://schemas.microsoft.com/office/drawing/2014/main" id="{CB6E6357-F32C-4D5C-8C72-D14F4A0994E9}"/>
              </a:ext>
            </a:extLst>
          </p:cNvPr>
          <p:cNvSpPr>
            <a:spLocks xmlns:a="http://schemas.openxmlformats.org/drawingml/2006/main" noGrp="1"/>
          </p:cNvSpPr>
          <p:nvPr/>
        </p:nvSpPr>
        <p:spPr>
          <a:xfrm xmlns:a="http://schemas.openxmlformats.org/drawingml/2006/main">
            <a:off x="847725" y="2686050"/>
            <a:ext cx="10496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FFFFFF"/>
                </a:solidFill>
                <a:latin typeface="IBM Plex Sans"/>
                <a:ea typeface="IBM Plex Sans"/>
                <a:cs typeface="IBM Plex Sans"/>
              </a:defRPr>
            </a:pPr>
            <a:r>
              <a:rPr sz="2550" b="1">
                <a:solidFill>
                  <a:srgbClr val="FFFFFF"/>
                </a:solidFill>
                <a:latin typeface="IBM Plex Sans"/>
                <a:ea typeface="IBM Plex Sans"/>
                <a:cs typeface="IBM Plex Sans"/>
              </a:rPr>
              <a:t>VLS-h = Verbrauch (kWh) ÷ Vertragsleistung (kW)</a:t>
            </a:r>
          </a:p>
        </p:txBody>
      </p:sp>
      <p:sp>
        <p:nvSpPr>
          <p:cNvPr id="10" name="block-233">
            <a:extLst xmlns:a="http://schemas.openxmlformats.org/drawingml/2006/main">
              <a:ext uri="{FF2B5EF4-FFF2-40B4-BE49-F238E27FC236}">
                <a16:creationId xmlns:a16="http://schemas.microsoft.com/office/drawing/2014/main" id="{7A2092DE-4313-4EED-9335-9578BD6F5FFB}"/>
              </a:ext>
            </a:extLst>
          </p:cNvPr>
          <p:cNvSpPr>
            <a:spLocks xmlns:a="http://schemas.openxmlformats.org/drawingml/2006/main" noGrp="1"/>
          </p:cNvSpPr>
          <p:nvPr/>
        </p:nvSpPr>
        <p:spPr>
          <a:xfrm xmlns:a="http://schemas.openxmlformats.org/drawingml/2006/main">
            <a:off x="609600" y="366712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80A0"/>
                </a:solidFill>
                <a:latin typeface="IBM Plex Sans"/>
                <a:ea typeface="IBM Plex Sans"/>
                <a:cs typeface="IBM Plex Sans"/>
              </a:defRPr>
            </a:pPr>
            <a:r>
              <a:rPr sz="1350" b="1">
                <a:solidFill>
                  <a:srgbClr val="0080A0"/>
                </a:solidFill>
                <a:latin typeface="IBM Plex Sans"/>
                <a:ea typeface="IBM Plex Sans"/>
                <a:cs typeface="IBM Plex Sans"/>
              </a:rPr>
              <a:t>KLEINER ANSCHLUSS</a:t>
            </a:r>
          </a:p>
        </p:txBody>
      </p:sp>
      <p:sp>
        <p:nvSpPr>
          <p:cNvPr id="11" name="block-234">
            <a:extLst xmlns:a="http://schemas.openxmlformats.org/drawingml/2006/main">
              <a:ext uri="{FF2B5EF4-FFF2-40B4-BE49-F238E27FC236}">
                <a16:creationId xmlns:a16="http://schemas.microsoft.com/office/drawing/2014/main" id="{0D4FA7C6-7D23-489B-93BE-39EE659CE5C6}"/>
              </a:ext>
            </a:extLst>
          </p:cNvPr>
          <p:cNvSpPr>
            <a:spLocks xmlns:a="http://schemas.openxmlformats.org/drawingml/2006/main" noGrp="1"/>
          </p:cNvSpPr>
          <p:nvPr/>
        </p:nvSpPr>
        <p:spPr>
          <a:xfrm xmlns:a="http://schemas.openxmlformats.org/drawingml/2006/main">
            <a:off x="6429375" y="3667125"/>
            <a:ext cx="485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80A0"/>
                </a:solidFill>
                <a:latin typeface="IBM Plex Sans"/>
                <a:ea typeface="IBM Plex Sans"/>
                <a:cs typeface="IBM Plex Sans"/>
              </a:defRPr>
            </a:pPr>
            <a:r>
              <a:rPr sz="1350" b="1">
                <a:solidFill>
                  <a:srgbClr val="0080A0"/>
                </a:solidFill>
                <a:latin typeface="IBM Plex Sans"/>
                <a:ea typeface="IBM Plex Sans"/>
                <a:cs typeface="IBM Plex Sans"/>
              </a:rPr>
              <a:t>GROSSER ANSCHLUSS</a:t>
            </a:r>
          </a:p>
        </p:txBody>
      </p:sp>
      <p:sp>
        <p:nvSpPr>
          <p:cNvPr id="12" name="block-235">
            <a:extLst xmlns:a="http://schemas.openxmlformats.org/drawingml/2006/main">
              <a:ext uri="{FF2B5EF4-FFF2-40B4-BE49-F238E27FC236}">
                <a16:creationId xmlns:a16="http://schemas.microsoft.com/office/drawing/2014/main" id="{1E58FAC8-ED64-4574-B7DA-9D318A2B6680}"/>
              </a:ext>
            </a:extLst>
          </p:cNvPr>
          <p:cNvSpPr>
            <a:spLocks xmlns:a="http://schemas.openxmlformats.org/drawingml/2006/main" noGrp="1"/>
          </p:cNvSpPr>
          <p:nvPr/>
        </p:nvSpPr>
        <p:spPr>
          <a:xfrm xmlns:a="http://schemas.openxmlformats.org/drawingml/2006/main">
            <a:off x="609600" y="4067175"/>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63659"/>
                </a:solidFill>
                <a:latin typeface="IBM Plex Sans"/>
                <a:ea typeface="IBM Plex Sans"/>
                <a:cs typeface="IBM Plex Sans"/>
              </a:defRPr>
            </a:pPr>
            <a:r>
              <a:rPr sz="2550" b="0">
                <a:solidFill>
                  <a:srgbClr val="063659"/>
                </a:solidFill>
                <a:latin typeface="IBM Plex Sans"/>
                <a:ea typeface="IBM Plex Sans"/>
                <a:cs typeface="IBM Plex Sans"/>
              </a:rPr>
              <a:t>10.000 kWh ÷ 50 kW</a:t>
            </a:r>
          </a:p>
        </p:txBody>
      </p:sp>
      <p:sp>
        <p:nvSpPr>
          <p:cNvPr id="13" name="block-236">
            <a:extLst xmlns:a="http://schemas.openxmlformats.org/drawingml/2006/main">
              <a:ext uri="{FF2B5EF4-FFF2-40B4-BE49-F238E27FC236}">
                <a16:creationId xmlns:a16="http://schemas.microsoft.com/office/drawing/2014/main" id="{99A4D146-A04B-4A19-B1ED-69B0820E4B06}"/>
              </a:ext>
            </a:extLst>
          </p:cNvPr>
          <p:cNvSpPr>
            <a:spLocks xmlns:a="http://schemas.openxmlformats.org/drawingml/2006/main" noGrp="1"/>
          </p:cNvSpPr>
          <p:nvPr/>
        </p:nvSpPr>
        <p:spPr>
          <a:xfrm xmlns:a="http://schemas.openxmlformats.org/drawingml/2006/main">
            <a:off x="6429375" y="4067175"/>
            <a:ext cx="5114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63659"/>
                </a:solidFill>
                <a:latin typeface="IBM Plex Sans"/>
                <a:ea typeface="IBM Plex Sans"/>
                <a:cs typeface="IBM Plex Sans"/>
              </a:defRPr>
            </a:pPr>
            <a:r>
              <a:rPr sz="2550" b="0">
                <a:solidFill>
                  <a:srgbClr val="063659"/>
                </a:solidFill>
                <a:latin typeface="IBM Plex Sans"/>
                <a:ea typeface="IBM Plex Sans"/>
                <a:cs typeface="IBM Plex Sans"/>
              </a:rPr>
              <a:t>40.000 kWh ÷ 200 kW</a:t>
            </a:r>
          </a:p>
        </p:txBody>
      </p:sp>
      <p:sp>
        <p:nvSpPr>
          <p:cNvPr id="14" name="block-237">
            <a:extLst xmlns:a="http://schemas.openxmlformats.org/drawingml/2006/main">
              <a:ext uri="{FF2B5EF4-FFF2-40B4-BE49-F238E27FC236}">
                <a16:creationId xmlns:a16="http://schemas.microsoft.com/office/drawing/2014/main" id="{99F158D5-07F5-4756-B4D3-921AF9652BB1}"/>
              </a:ext>
            </a:extLst>
          </p:cNvPr>
          <p:cNvSpPr>
            <a:spLocks xmlns:a="http://schemas.openxmlformats.org/drawingml/2006/main" noGrp="1"/>
          </p:cNvSpPr>
          <p:nvPr/>
        </p:nvSpPr>
        <p:spPr>
          <a:xfrm xmlns:a="http://schemas.openxmlformats.org/drawingml/2006/main">
            <a:off x="609600" y="4591050"/>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75" b="1">
                <a:solidFill>
                  <a:srgbClr val="0080A0"/>
                </a:solidFill>
                <a:latin typeface="Geist Mono"/>
                <a:ea typeface="Geist Mono"/>
                <a:cs typeface="Geist Mono"/>
              </a:defRPr>
            </a:pPr>
            <a:r>
              <a:rPr sz="4875" b="1">
                <a:solidFill>
                  <a:srgbClr val="0080A0"/>
                </a:solidFill>
                <a:latin typeface="Geist Mono"/>
                <a:ea typeface="Geist Mono"/>
                <a:cs typeface="Geist Mono"/>
              </a:rPr>
              <a:t>200 h</a:t>
            </a:r>
          </a:p>
        </p:txBody>
      </p:sp>
      <p:sp>
        <p:nvSpPr>
          <p:cNvPr id="15" name="block-238">
            <a:extLst xmlns:a="http://schemas.openxmlformats.org/drawingml/2006/main">
              <a:ext uri="{FF2B5EF4-FFF2-40B4-BE49-F238E27FC236}">
                <a16:creationId xmlns:a16="http://schemas.microsoft.com/office/drawing/2014/main" id="{88F2FE83-958D-43B5-9C83-AEAEA7A5CF65}"/>
              </a:ext>
            </a:extLst>
          </p:cNvPr>
          <p:cNvSpPr>
            <a:spLocks xmlns:a="http://schemas.openxmlformats.org/drawingml/2006/main" noGrp="1"/>
          </p:cNvSpPr>
          <p:nvPr/>
        </p:nvSpPr>
        <p:spPr>
          <a:xfrm xmlns:a="http://schemas.openxmlformats.org/drawingml/2006/main">
            <a:off x="6429375" y="4591050"/>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75" b="1">
                <a:solidFill>
                  <a:srgbClr val="0080A0"/>
                </a:solidFill>
                <a:latin typeface="Geist Mono"/>
                <a:ea typeface="Geist Mono"/>
                <a:cs typeface="Geist Mono"/>
              </a:defRPr>
            </a:pPr>
            <a:r>
              <a:rPr sz="4875" b="1">
                <a:solidFill>
                  <a:srgbClr val="0080A0"/>
                </a:solidFill>
                <a:latin typeface="Geist Mono"/>
                <a:ea typeface="Geist Mono"/>
                <a:cs typeface="Geist Mono"/>
              </a:rPr>
              <a:t>200 h</a:t>
            </a:r>
          </a:p>
        </p:txBody>
      </p:sp>
      <p:sp>
        <p:nvSpPr>
          <p:cNvPr id="16" name="block-239">
            <a:extLst xmlns:a="http://schemas.openxmlformats.org/drawingml/2006/main">
              <a:ext uri="{FF2B5EF4-FFF2-40B4-BE49-F238E27FC236}">
                <a16:creationId xmlns:a16="http://schemas.microsoft.com/office/drawing/2014/main" id="{B207EFD8-68C0-4EFD-B37A-0A77DCB4EDA3}"/>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7" name="block-240">
            <a:extLst xmlns:a="http://schemas.openxmlformats.org/drawingml/2006/main">
              <a:ext uri="{FF2B5EF4-FFF2-40B4-BE49-F238E27FC236}">
                <a16:creationId xmlns:a16="http://schemas.microsoft.com/office/drawing/2014/main" id="{6DD20DC8-D4BC-4DF7-82C0-BFE16A01C543}"/>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Zurück zur Verbrauchsprognose: Prognose-VLS × Vertragsleistung = kWh</a:t>
            </a:r>
          </a:p>
        </p:txBody>
      </p:sp>
    </p:spTree>
    <p:extLst>
      <p:ext uri="{BB962C8B-B14F-4D97-AF65-F5344CB8AC3E}">
        <p14:creationId xmlns:p14="http://schemas.microsoft.com/office/powerpoint/2010/main" val="175686104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block-241">
            <a:extLst xmlns:a="http://schemas.openxmlformats.org/drawingml/2006/main">
              <a:ext uri="{FF2B5EF4-FFF2-40B4-BE49-F238E27FC236}">
                <a16:creationId xmlns:a16="http://schemas.microsoft.com/office/drawing/2014/main" id="{D765EB0B-821E-4C2A-A3BE-A516A62FFFA3}"/>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05 / MERKMALE</a:t>
            </a:r>
          </a:p>
        </p:txBody>
      </p:sp>
      <p:sp>
        <p:nvSpPr>
          <p:cNvPr id="2" name="block-242">
            <a:extLst xmlns:a="http://schemas.openxmlformats.org/drawingml/2006/main">
              <a:ext uri="{FF2B5EF4-FFF2-40B4-BE49-F238E27FC236}">
                <a16:creationId xmlns:a16="http://schemas.microsoft.com/office/drawing/2014/main" id="{FF6F33C0-3418-4359-ADE4-690CF7D09736}"/>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Nur verfügbare Information darf ins Modell</a:t>
            </a:r>
          </a:p>
        </p:txBody>
      </p:sp>
      <p:sp>
        <p:nvSpPr>
          <p:cNvPr id="3" name="block-243">
            <a:extLst xmlns:a="http://schemas.openxmlformats.org/drawingml/2006/main">
              <a:ext uri="{FF2B5EF4-FFF2-40B4-BE49-F238E27FC236}">
                <a16:creationId xmlns:a16="http://schemas.microsoft.com/office/drawing/2014/main" id="{84E9D193-4141-4C6B-BB71-3B0BCCE82E2B}"/>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Neun Eingangsmerkmale · acht numerische Felder und ein kategoriales Feld</a:t>
            </a:r>
          </a:p>
        </p:txBody>
      </p:sp>
      <p:sp>
        <p:nvSpPr>
          <p:cNvPr id="4" name="block-244">
            <a:extLst xmlns:a="http://schemas.openxmlformats.org/drawingml/2006/main">
              <a:ext uri="{FF2B5EF4-FFF2-40B4-BE49-F238E27FC236}">
                <a16:creationId xmlns:a16="http://schemas.microsoft.com/office/drawing/2014/main" id="{67EED000-507C-40F5-8022-3CFE2B66D36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6cda29ffae8b48b8"/>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45">
            <a:extLst xmlns:a="http://schemas.openxmlformats.org/drawingml/2006/main">
              <a:ext uri="{FF2B5EF4-FFF2-40B4-BE49-F238E27FC236}">
                <a16:creationId xmlns:a16="http://schemas.microsoft.com/office/drawing/2014/main" id="{609ACA5F-F63D-44E9-90BF-19FDD70FEC30}"/>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246">
            <a:extLst xmlns:a="http://schemas.openxmlformats.org/drawingml/2006/main">
              <a:ext uri="{FF2B5EF4-FFF2-40B4-BE49-F238E27FC236}">
                <a16:creationId xmlns:a16="http://schemas.microsoft.com/office/drawing/2014/main" id="{141F1CAC-0E3C-4CE6-9778-1B782FD57C84}"/>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14 / 39</a:t>
            </a:r>
          </a:p>
        </p:txBody>
      </p:sp>
      <p:sp>
        <p:nvSpPr>
          <p:cNvPr id="8" name="block-247">
            <a:extLst xmlns:a="http://schemas.openxmlformats.org/drawingml/2006/main">
              <a:ext uri="{FF2B5EF4-FFF2-40B4-BE49-F238E27FC236}">
                <a16:creationId xmlns:a16="http://schemas.microsoft.com/office/drawing/2014/main" id="{43907078-D9F7-4615-965F-3B9836E0A9AC}"/>
              </a:ext>
            </a:extLst>
          </p:cNvPr>
          <p:cNvSpPr>
            <a:spLocks xmlns:a="http://schemas.openxmlformats.org/drawingml/2006/main" noGrp="1"/>
          </p:cNvSpPr>
          <p:nvPr/>
        </p:nvSpPr>
        <p:spPr>
          <a:xfrm xmlns:a="http://schemas.openxmlformats.org/drawingml/2006/main">
            <a:off x="609600" y="2562225"/>
            <a:ext cx="50387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0080A0"/>
                </a:solidFill>
                <a:latin typeface="IBM Plex Sans"/>
                <a:ea typeface="IBM Plex Sans"/>
                <a:cs typeface="IBM Plex Sans"/>
              </a:defRPr>
            </a:pPr>
            <a:r>
              <a:rPr sz="1425" b="1">
                <a:solidFill>
                  <a:srgbClr val="0080A0"/>
                </a:solidFill>
                <a:latin typeface="IBM Plex Sans"/>
                <a:ea typeface="IBM Plex Sans"/>
                <a:cs typeface="IBM Plex Sans"/>
              </a:rPr>
              <a:t>AUS DER VERGANGENHEIT</a:t>
            </a:r>
          </a:p>
        </p:txBody>
      </p:sp>
      <p:sp>
        <p:nvSpPr>
          <p:cNvPr id="9" name="block-248">
            <a:extLst xmlns:a="http://schemas.openxmlformats.org/drawingml/2006/main">
              <a:ext uri="{FF2B5EF4-FFF2-40B4-BE49-F238E27FC236}">
                <a16:creationId xmlns:a16="http://schemas.microsoft.com/office/drawing/2014/main" id="{D0353F18-67ED-469B-A1D9-A0F62CB34EB3}"/>
              </a:ext>
            </a:extLst>
          </p:cNvPr>
          <p:cNvSpPr>
            <a:spLocks xmlns:a="http://schemas.openxmlformats.org/drawingml/2006/main" noGrp="1"/>
          </p:cNvSpPr>
          <p:nvPr/>
        </p:nvSpPr>
        <p:spPr>
          <a:xfrm xmlns:a="http://schemas.openxmlformats.org/drawingml/2006/main">
            <a:off x="609600" y="3048000"/>
            <a:ext cx="50387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Vormonats-VLS</a:t>
            </a:r>
          </a:p>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Bis-zu-3-Monats-Mittel</a:t>
            </a:r>
          </a:p>
        </p:txBody>
      </p:sp>
      <p:sp>
        <p:nvSpPr>
          <p:cNvPr id="10" name="block-249">
            <a:extLst xmlns:a="http://schemas.openxmlformats.org/drawingml/2006/main">
              <a:ext uri="{FF2B5EF4-FFF2-40B4-BE49-F238E27FC236}">
                <a16:creationId xmlns:a16="http://schemas.microsoft.com/office/drawing/2014/main" id="{C5711229-AB4B-4A6F-8EC8-A239E1640762}"/>
              </a:ext>
            </a:extLst>
          </p:cNvPr>
          <p:cNvSpPr>
            <a:spLocks xmlns:a="http://schemas.openxmlformats.org/drawingml/2006/main" noGrp="1"/>
          </p:cNvSpPr>
          <p:nvPr/>
        </p:nvSpPr>
        <p:spPr>
          <a:xfrm xmlns:a="http://schemas.openxmlformats.org/drawingml/2006/main">
            <a:off x="609600" y="4352925"/>
            <a:ext cx="50387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Mit jedem Monat nur bereits</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bekannte Werte fortschreiben.</a:t>
            </a:r>
          </a:p>
        </p:txBody>
      </p:sp>
      <p:sp>
        <p:nvSpPr>
          <p:cNvPr id="11" name="block-250">
            <a:extLst xmlns:a="http://schemas.openxmlformats.org/drawingml/2006/main">
              <a:ext uri="{FF2B5EF4-FFF2-40B4-BE49-F238E27FC236}">
                <a16:creationId xmlns:a16="http://schemas.microsoft.com/office/drawing/2014/main" id="{33706A36-B3C1-4F2C-917E-D306A1805EAC}"/>
              </a:ext>
            </a:extLst>
          </p:cNvPr>
          <p:cNvSpPr>
            <a:spLocks xmlns:a="http://schemas.openxmlformats.org/drawingml/2006/main" noGrp="1"/>
          </p:cNvSpPr>
          <p:nvPr/>
        </p:nvSpPr>
        <p:spPr>
          <a:xfrm xmlns:a="http://schemas.openxmlformats.org/drawingml/2006/main">
            <a:off x="5924550" y="2533650"/>
            <a:ext cx="9525" cy="2857500"/>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2" name="block-251">
            <a:extLst xmlns:a="http://schemas.openxmlformats.org/drawingml/2006/main">
              <a:ext uri="{FF2B5EF4-FFF2-40B4-BE49-F238E27FC236}">
                <a16:creationId xmlns:a16="http://schemas.microsoft.com/office/drawing/2014/main" id="{3BAEA672-3463-4D22-8AFD-88BC124D9660}"/>
              </a:ext>
            </a:extLst>
          </p:cNvPr>
          <p:cNvSpPr>
            <a:spLocks xmlns:a="http://schemas.openxmlformats.org/drawingml/2006/main" noGrp="1"/>
          </p:cNvSpPr>
          <p:nvPr/>
        </p:nvSpPr>
        <p:spPr>
          <a:xfrm xmlns:a="http://schemas.openxmlformats.org/drawingml/2006/main">
            <a:off x="6457950" y="2562225"/>
            <a:ext cx="5124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0080A0"/>
                </a:solidFill>
                <a:latin typeface="IBM Plex Sans"/>
                <a:ea typeface="IBM Plex Sans"/>
                <a:cs typeface="IBM Plex Sans"/>
              </a:defRPr>
            </a:pPr>
            <a:r>
              <a:rPr sz="1425" b="1">
                <a:solidFill>
                  <a:srgbClr val="0080A0"/>
                </a:solidFill>
                <a:latin typeface="IBM Plex Sans"/>
                <a:ea typeface="IBM Plex Sans"/>
                <a:cs typeface="IBM Plex Sans"/>
              </a:rPr>
              <a:t>VOR MONATSBEGINN BENÖTIGT</a:t>
            </a:r>
          </a:p>
        </p:txBody>
      </p:sp>
      <p:sp>
        <p:nvSpPr>
          <p:cNvPr id="13" name="block-252">
            <a:extLst xmlns:a="http://schemas.openxmlformats.org/drawingml/2006/main">
              <a:ext uri="{FF2B5EF4-FFF2-40B4-BE49-F238E27FC236}">
                <a16:creationId xmlns:a16="http://schemas.microsoft.com/office/drawing/2014/main" id="{B1D93786-1133-43E2-B9DC-C93BAD048247}"/>
              </a:ext>
            </a:extLst>
          </p:cNvPr>
          <p:cNvSpPr>
            <a:spLocks xmlns:a="http://schemas.openxmlformats.org/drawingml/2006/main" noGrp="1"/>
          </p:cNvSpPr>
          <p:nvPr/>
        </p:nvSpPr>
        <p:spPr>
          <a:xfrm xmlns:a="http://schemas.openxmlformats.org/drawingml/2006/main">
            <a:off x="6457950" y="3048000"/>
            <a:ext cx="51244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63659"/>
                </a:solidFill>
                <a:latin typeface="IBM Plex Sans"/>
                <a:ea typeface="IBM Plex Sans"/>
                <a:cs typeface="IBM Plex Sans"/>
              </a:defRPr>
            </a:pPr>
            <a:r>
              <a:rPr sz="2175" b="1">
                <a:solidFill>
                  <a:srgbClr val="063659"/>
                </a:solidFill>
                <a:latin typeface="IBM Plex Sans"/>
                <a:ea typeface="IBM Plex Sans"/>
                <a:cs typeface="IBM Plex Sans"/>
              </a:rPr>
              <a:t>Monat, Arbeitstage, Feiertage</a:t>
            </a:r>
          </a:p>
          <a:p xmlns:a="http://schemas.openxmlformats.org/drawingml/2006/main">
            <a:pPr>
              <a:defRPr sz="2175" b="1">
                <a:solidFill>
                  <a:srgbClr val="063659"/>
                </a:solidFill>
                <a:latin typeface="IBM Plex Sans"/>
                <a:ea typeface="IBM Plex Sans"/>
                <a:cs typeface="IBM Plex Sans"/>
              </a:defRPr>
            </a:pPr>
            <a:r>
              <a:rPr sz="2175" b="1">
                <a:solidFill>
                  <a:srgbClr val="063659"/>
                </a:solidFill>
                <a:latin typeface="IBM Plex Sans"/>
                <a:ea typeface="IBM Plex Sans"/>
                <a:cs typeface="IBM Plex Sans"/>
              </a:rPr>
              <a:t>Wetterprognose, Produktionsplan</a:t>
            </a:r>
          </a:p>
          <a:p xmlns:a="http://schemas.openxmlformats.org/drawingml/2006/main">
            <a:pPr>
              <a:defRPr sz="2175" b="1">
                <a:solidFill>
                  <a:srgbClr val="063659"/>
                </a:solidFill>
                <a:latin typeface="IBM Plex Sans"/>
                <a:ea typeface="IBM Plex Sans"/>
                <a:cs typeface="IBM Plex Sans"/>
              </a:defRPr>
            </a:pPr>
            <a:r>
              <a:rPr sz="2175" b="1">
                <a:solidFill>
                  <a:srgbClr val="063659"/>
                </a:solidFill>
                <a:latin typeface="IBM Plex Sans"/>
                <a:ea typeface="IBM Plex Sans"/>
                <a:cs typeface="IBM Plex Sans"/>
              </a:rPr>
              <a:t>Wartung, Kundentyp</a:t>
            </a:r>
          </a:p>
        </p:txBody>
      </p:sp>
      <p:sp>
        <p:nvSpPr>
          <p:cNvPr id="14" name="block-253">
            <a:extLst xmlns:a="http://schemas.openxmlformats.org/drawingml/2006/main">
              <a:ext uri="{FF2B5EF4-FFF2-40B4-BE49-F238E27FC236}">
                <a16:creationId xmlns:a16="http://schemas.microsoft.com/office/drawing/2014/main" id="{52F1DBFD-245F-415C-8EBC-46045B75E806}"/>
              </a:ext>
            </a:extLst>
          </p:cNvPr>
          <p:cNvSpPr>
            <a:spLocks xmlns:a="http://schemas.openxmlformats.org/drawingml/2006/main" noGrp="1"/>
          </p:cNvSpPr>
          <p:nvPr/>
        </p:nvSpPr>
        <p:spPr>
          <a:xfrm xmlns:a="http://schemas.openxmlformats.org/drawingml/2006/main">
            <a:off x="6457950" y="4610100"/>
            <a:ext cx="51244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Plan- und Prognoseversionen</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müssen gespeichert werden.</a:t>
            </a:r>
          </a:p>
        </p:txBody>
      </p:sp>
      <p:sp>
        <p:nvSpPr>
          <p:cNvPr id="15" name="block-254">
            <a:extLst xmlns:a="http://schemas.openxmlformats.org/drawingml/2006/main">
              <a:ext uri="{FF2B5EF4-FFF2-40B4-BE49-F238E27FC236}">
                <a16:creationId xmlns:a16="http://schemas.microsoft.com/office/drawing/2014/main" id="{7C9BCBD4-A877-4FA0-A60B-7A7C4EE04E21}"/>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6" name="block-255">
            <a:extLst xmlns:a="http://schemas.openxmlformats.org/drawingml/2006/main">
              <a:ext uri="{FF2B5EF4-FFF2-40B4-BE49-F238E27FC236}">
                <a16:creationId xmlns:a16="http://schemas.microsoft.com/office/drawing/2014/main" id="{0FADBD06-82DE-41C9-8618-FF808D3D3402}"/>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IDs und aktuelle Verbrauchswerte bleiben außerhalb der Eingangsmerkmale.</a:t>
            </a:r>
          </a:p>
        </p:txBody>
      </p:sp>
    </p:spTree>
    <p:extLst>
      <p:ext uri="{BB962C8B-B14F-4D97-AF65-F5344CB8AC3E}">
        <p14:creationId xmlns:p14="http://schemas.microsoft.com/office/powerpoint/2010/main" val="61746317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block-256">
            <a:extLst xmlns:a="http://schemas.openxmlformats.org/drawingml/2006/main">
              <a:ext uri="{FF2B5EF4-FFF2-40B4-BE49-F238E27FC236}">
                <a16:creationId xmlns:a16="http://schemas.microsoft.com/office/drawing/2014/main" id="{53EE1004-A25D-4986-950C-59F4DFA80EBB}"/>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05 / ZEITLICHE VALIDIERUNG</a:t>
            </a:r>
          </a:p>
        </p:txBody>
      </p:sp>
      <p:sp>
        <p:nvSpPr>
          <p:cNvPr id="2" name="block-257">
            <a:extLst xmlns:a="http://schemas.openxmlformats.org/drawingml/2006/main">
              <a:ext uri="{FF2B5EF4-FFF2-40B4-BE49-F238E27FC236}">
                <a16:creationId xmlns:a16="http://schemas.microsoft.com/office/drawing/2014/main" id="{26D9F8DC-A8CB-4E30-AD57-E8593E216AAC}"/>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Die Zeitachse trennt Lernen und Bewerten</a:t>
            </a:r>
          </a:p>
        </p:txBody>
      </p:sp>
      <p:sp>
        <p:nvSpPr>
          <p:cNvPr id="3" name="block-258">
            <a:extLst xmlns:a="http://schemas.openxmlformats.org/drawingml/2006/main">
              <a:ext uri="{FF2B5EF4-FFF2-40B4-BE49-F238E27FC236}">
                <a16:creationId xmlns:a16="http://schemas.microsoft.com/office/drawing/2014/main" id="{0D26C680-CE1E-4832-A3AB-128398F10E4D}"/>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Modellwahl 2024. Schwellenkalibrierung Ende 2024. Benchmark 2025.</a:t>
            </a:r>
          </a:p>
        </p:txBody>
      </p:sp>
      <p:sp>
        <p:nvSpPr>
          <p:cNvPr id="4" name="block-259">
            <a:extLst xmlns:a="http://schemas.openxmlformats.org/drawingml/2006/main">
              <a:ext uri="{FF2B5EF4-FFF2-40B4-BE49-F238E27FC236}">
                <a16:creationId xmlns:a16="http://schemas.microsoft.com/office/drawing/2014/main" id="{A011DECB-9E2C-4BF2-B8A1-4A0B3C5BEDE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d78c2bb72dba4d89"/>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60">
            <a:extLst xmlns:a="http://schemas.openxmlformats.org/drawingml/2006/main">
              <a:ext uri="{FF2B5EF4-FFF2-40B4-BE49-F238E27FC236}">
                <a16:creationId xmlns:a16="http://schemas.microsoft.com/office/drawing/2014/main" id="{07A55AAB-D156-4B3B-AF20-A60E83A1ADAF}"/>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261">
            <a:extLst xmlns:a="http://schemas.openxmlformats.org/drawingml/2006/main">
              <a:ext uri="{FF2B5EF4-FFF2-40B4-BE49-F238E27FC236}">
                <a16:creationId xmlns:a16="http://schemas.microsoft.com/office/drawing/2014/main" id="{A8D17EED-6F88-4E83-AC0B-C4DAB4D36B07}"/>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15 / 39</a:t>
            </a:r>
          </a:p>
        </p:txBody>
      </p:sp>
      <p:sp>
        <p:nvSpPr>
          <p:cNvPr id="8" name="block-262">
            <a:extLst xmlns:a="http://schemas.openxmlformats.org/drawingml/2006/main">
              <a:ext uri="{FF2B5EF4-FFF2-40B4-BE49-F238E27FC236}">
                <a16:creationId xmlns:a16="http://schemas.microsoft.com/office/drawing/2014/main" id="{B26F2356-82E1-48B9-B00C-2D05FEE72826}"/>
              </a:ext>
            </a:extLst>
          </p:cNvPr>
          <p:cNvSpPr>
            <a:spLocks xmlns:a="http://schemas.openxmlformats.org/drawingml/2006/main" noGrp="1"/>
          </p:cNvSpPr>
          <p:nvPr/>
        </p:nvSpPr>
        <p:spPr>
          <a:xfrm xmlns:a="http://schemas.openxmlformats.org/drawingml/2006/main">
            <a:off x="22383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Jan</a:t>
            </a:r>
          </a:p>
        </p:txBody>
      </p:sp>
      <p:sp>
        <p:nvSpPr>
          <p:cNvPr id="9" name="block-263">
            <a:extLst xmlns:a="http://schemas.openxmlformats.org/drawingml/2006/main">
              <a:ext uri="{FF2B5EF4-FFF2-40B4-BE49-F238E27FC236}">
                <a16:creationId xmlns:a16="http://schemas.microsoft.com/office/drawing/2014/main" id="{C1B2B7DF-2204-4CC0-946A-5BBDAEFD6D73}"/>
              </a:ext>
            </a:extLst>
          </p:cNvPr>
          <p:cNvSpPr>
            <a:spLocks xmlns:a="http://schemas.openxmlformats.org/drawingml/2006/main" noGrp="1"/>
          </p:cNvSpPr>
          <p:nvPr/>
        </p:nvSpPr>
        <p:spPr>
          <a:xfrm xmlns:a="http://schemas.openxmlformats.org/drawingml/2006/main">
            <a:off x="28479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Feb</a:t>
            </a:r>
          </a:p>
        </p:txBody>
      </p:sp>
      <p:sp>
        <p:nvSpPr>
          <p:cNvPr id="10" name="block-264">
            <a:extLst xmlns:a="http://schemas.openxmlformats.org/drawingml/2006/main">
              <a:ext uri="{FF2B5EF4-FFF2-40B4-BE49-F238E27FC236}">
                <a16:creationId xmlns:a16="http://schemas.microsoft.com/office/drawing/2014/main" id="{BE1F0F66-590C-48DC-AE99-81D8749E2281}"/>
              </a:ext>
            </a:extLst>
          </p:cNvPr>
          <p:cNvSpPr>
            <a:spLocks xmlns:a="http://schemas.openxmlformats.org/drawingml/2006/main" noGrp="1"/>
          </p:cNvSpPr>
          <p:nvPr/>
        </p:nvSpPr>
        <p:spPr>
          <a:xfrm xmlns:a="http://schemas.openxmlformats.org/drawingml/2006/main">
            <a:off x="34575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Mär</a:t>
            </a:r>
          </a:p>
        </p:txBody>
      </p:sp>
      <p:sp>
        <p:nvSpPr>
          <p:cNvPr id="11" name="block-265">
            <a:extLst xmlns:a="http://schemas.openxmlformats.org/drawingml/2006/main">
              <a:ext uri="{FF2B5EF4-FFF2-40B4-BE49-F238E27FC236}">
                <a16:creationId xmlns:a16="http://schemas.microsoft.com/office/drawing/2014/main" id="{CC231E42-7058-4135-B317-29CB10F58CB1}"/>
              </a:ext>
            </a:extLst>
          </p:cNvPr>
          <p:cNvSpPr>
            <a:spLocks xmlns:a="http://schemas.openxmlformats.org/drawingml/2006/main" noGrp="1"/>
          </p:cNvSpPr>
          <p:nvPr/>
        </p:nvSpPr>
        <p:spPr>
          <a:xfrm xmlns:a="http://schemas.openxmlformats.org/drawingml/2006/main">
            <a:off x="40671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Apr</a:t>
            </a:r>
          </a:p>
        </p:txBody>
      </p:sp>
      <p:sp>
        <p:nvSpPr>
          <p:cNvPr id="12" name="block-266">
            <a:extLst xmlns:a="http://schemas.openxmlformats.org/drawingml/2006/main">
              <a:ext uri="{FF2B5EF4-FFF2-40B4-BE49-F238E27FC236}">
                <a16:creationId xmlns:a16="http://schemas.microsoft.com/office/drawing/2014/main" id="{CDA41E03-E14E-45EF-8FDC-2ADE1F9D2512}"/>
              </a:ext>
            </a:extLst>
          </p:cNvPr>
          <p:cNvSpPr>
            <a:spLocks xmlns:a="http://schemas.openxmlformats.org/drawingml/2006/main" noGrp="1"/>
          </p:cNvSpPr>
          <p:nvPr/>
        </p:nvSpPr>
        <p:spPr>
          <a:xfrm xmlns:a="http://schemas.openxmlformats.org/drawingml/2006/main">
            <a:off x="46767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Mai</a:t>
            </a:r>
          </a:p>
        </p:txBody>
      </p:sp>
      <p:sp>
        <p:nvSpPr>
          <p:cNvPr id="13" name="block-267">
            <a:extLst xmlns:a="http://schemas.openxmlformats.org/drawingml/2006/main">
              <a:ext uri="{FF2B5EF4-FFF2-40B4-BE49-F238E27FC236}">
                <a16:creationId xmlns:a16="http://schemas.microsoft.com/office/drawing/2014/main" id="{88B09EAB-3166-4094-9C0E-4565BD7000AB}"/>
              </a:ext>
            </a:extLst>
          </p:cNvPr>
          <p:cNvSpPr>
            <a:spLocks xmlns:a="http://schemas.openxmlformats.org/drawingml/2006/main" noGrp="1"/>
          </p:cNvSpPr>
          <p:nvPr/>
        </p:nvSpPr>
        <p:spPr>
          <a:xfrm xmlns:a="http://schemas.openxmlformats.org/drawingml/2006/main">
            <a:off x="52863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Jun</a:t>
            </a:r>
          </a:p>
        </p:txBody>
      </p:sp>
      <p:sp>
        <p:nvSpPr>
          <p:cNvPr id="14" name="block-268">
            <a:extLst xmlns:a="http://schemas.openxmlformats.org/drawingml/2006/main">
              <a:ext uri="{FF2B5EF4-FFF2-40B4-BE49-F238E27FC236}">
                <a16:creationId xmlns:a16="http://schemas.microsoft.com/office/drawing/2014/main" id="{1BEEB82C-6132-4012-B274-C6B2D08BA15E}"/>
              </a:ext>
            </a:extLst>
          </p:cNvPr>
          <p:cNvSpPr>
            <a:spLocks xmlns:a="http://schemas.openxmlformats.org/drawingml/2006/main" noGrp="1"/>
          </p:cNvSpPr>
          <p:nvPr/>
        </p:nvSpPr>
        <p:spPr>
          <a:xfrm xmlns:a="http://schemas.openxmlformats.org/drawingml/2006/main">
            <a:off x="58959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Jul</a:t>
            </a:r>
          </a:p>
        </p:txBody>
      </p:sp>
      <p:sp>
        <p:nvSpPr>
          <p:cNvPr id="15" name="block-269">
            <a:extLst xmlns:a="http://schemas.openxmlformats.org/drawingml/2006/main">
              <a:ext uri="{FF2B5EF4-FFF2-40B4-BE49-F238E27FC236}">
                <a16:creationId xmlns:a16="http://schemas.microsoft.com/office/drawing/2014/main" id="{4CDB0CE7-4F20-4AB7-86B8-9D392E151F77}"/>
              </a:ext>
            </a:extLst>
          </p:cNvPr>
          <p:cNvSpPr>
            <a:spLocks xmlns:a="http://schemas.openxmlformats.org/drawingml/2006/main" noGrp="1"/>
          </p:cNvSpPr>
          <p:nvPr/>
        </p:nvSpPr>
        <p:spPr>
          <a:xfrm xmlns:a="http://schemas.openxmlformats.org/drawingml/2006/main">
            <a:off x="65055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Aug</a:t>
            </a:r>
          </a:p>
        </p:txBody>
      </p:sp>
      <p:sp>
        <p:nvSpPr>
          <p:cNvPr id="16" name="block-270">
            <a:extLst xmlns:a="http://schemas.openxmlformats.org/drawingml/2006/main">
              <a:ext uri="{FF2B5EF4-FFF2-40B4-BE49-F238E27FC236}">
                <a16:creationId xmlns:a16="http://schemas.microsoft.com/office/drawing/2014/main" id="{A767AC1A-9C62-4FE2-AC08-11AD3AB942E0}"/>
              </a:ext>
            </a:extLst>
          </p:cNvPr>
          <p:cNvSpPr>
            <a:spLocks xmlns:a="http://schemas.openxmlformats.org/drawingml/2006/main" noGrp="1"/>
          </p:cNvSpPr>
          <p:nvPr/>
        </p:nvSpPr>
        <p:spPr>
          <a:xfrm xmlns:a="http://schemas.openxmlformats.org/drawingml/2006/main">
            <a:off x="71151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Sep</a:t>
            </a:r>
          </a:p>
        </p:txBody>
      </p:sp>
      <p:sp>
        <p:nvSpPr>
          <p:cNvPr id="17" name="block-271">
            <a:extLst xmlns:a="http://schemas.openxmlformats.org/drawingml/2006/main">
              <a:ext uri="{FF2B5EF4-FFF2-40B4-BE49-F238E27FC236}">
                <a16:creationId xmlns:a16="http://schemas.microsoft.com/office/drawing/2014/main" id="{02EFD294-2DE3-429A-ACAE-248F1D16B164}"/>
              </a:ext>
            </a:extLst>
          </p:cNvPr>
          <p:cNvSpPr>
            <a:spLocks xmlns:a="http://schemas.openxmlformats.org/drawingml/2006/main" noGrp="1"/>
          </p:cNvSpPr>
          <p:nvPr/>
        </p:nvSpPr>
        <p:spPr>
          <a:xfrm xmlns:a="http://schemas.openxmlformats.org/drawingml/2006/main">
            <a:off x="77247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Okt</a:t>
            </a:r>
          </a:p>
        </p:txBody>
      </p:sp>
      <p:sp>
        <p:nvSpPr>
          <p:cNvPr id="18" name="block-272">
            <a:extLst xmlns:a="http://schemas.openxmlformats.org/drawingml/2006/main">
              <a:ext uri="{FF2B5EF4-FFF2-40B4-BE49-F238E27FC236}">
                <a16:creationId xmlns:a16="http://schemas.microsoft.com/office/drawing/2014/main" id="{88701D05-C3B2-4CCC-A58C-F97A6394527E}"/>
              </a:ext>
            </a:extLst>
          </p:cNvPr>
          <p:cNvSpPr>
            <a:spLocks xmlns:a="http://schemas.openxmlformats.org/drawingml/2006/main" noGrp="1"/>
          </p:cNvSpPr>
          <p:nvPr/>
        </p:nvSpPr>
        <p:spPr>
          <a:xfrm xmlns:a="http://schemas.openxmlformats.org/drawingml/2006/main">
            <a:off x="83343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Nov</a:t>
            </a:r>
          </a:p>
        </p:txBody>
      </p:sp>
      <p:sp>
        <p:nvSpPr>
          <p:cNvPr id="19" name="block-273">
            <a:extLst xmlns:a="http://schemas.openxmlformats.org/drawingml/2006/main">
              <a:ext uri="{FF2B5EF4-FFF2-40B4-BE49-F238E27FC236}">
                <a16:creationId xmlns:a16="http://schemas.microsoft.com/office/drawing/2014/main" id="{B7517B65-65F6-4E0D-96AC-3FB6451F8554}"/>
              </a:ext>
            </a:extLst>
          </p:cNvPr>
          <p:cNvSpPr>
            <a:spLocks xmlns:a="http://schemas.openxmlformats.org/drawingml/2006/main" noGrp="1"/>
          </p:cNvSpPr>
          <p:nvPr/>
        </p:nvSpPr>
        <p:spPr>
          <a:xfrm xmlns:a="http://schemas.openxmlformats.org/drawingml/2006/main">
            <a:off x="89439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Dez</a:t>
            </a:r>
          </a:p>
        </p:txBody>
      </p:sp>
      <p:sp>
        <p:nvSpPr>
          <p:cNvPr id="20" name="block-274">
            <a:extLst xmlns:a="http://schemas.openxmlformats.org/drawingml/2006/main">
              <a:ext uri="{FF2B5EF4-FFF2-40B4-BE49-F238E27FC236}">
                <a16:creationId xmlns:a16="http://schemas.microsoft.com/office/drawing/2014/main" id="{1DE03E71-9A25-4A73-9CA7-E971E8BF34E7}"/>
              </a:ext>
            </a:extLst>
          </p:cNvPr>
          <p:cNvSpPr>
            <a:spLocks xmlns:a="http://schemas.openxmlformats.org/drawingml/2006/main" noGrp="1"/>
          </p:cNvSpPr>
          <p:nvPr/>
        </p:nvSpPr>
        <p:spPr>
          <a:xfrm xmlns:a="http://schemas.openxmlformats.org/drawingml/2006/main">
            <a:off x="609600" y="2847975"/>
            <a:ext cx="147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Fold 1</a:t>
            </a:r>
          </a:p>
        </p:txBody>
      </p:sp>
      <p:sp>
        <p:nvSpPr>
          <p:cNvPr id="21" name="block-275">
            <a:extLst xmlns:a="http://schemas.openxmlformats.org/drawingml/2006/main">
              <a:ext uri="{FF2B5EF4-FFF2-40B4-BE49-F238E27FC236}">
                <a16:creationId xmlns:a16="http://schemas.microsoft.com/office/drawing/2014/main" id="{753D882F-ADBD-4997-A5AB-8F7C2245F292}"/>
              </a:ext>
            </a:extLst>
          </p:cNvPr>
          <p:cNvSpPr>
            <a:spLocks xmlns:a="http://schemas.openxmlformats.org/drawingml/2006/main" noGrp="1"/>
          </p:cNvSpPr>
          <p:nvPr/>
        </p:nvSpPr>
        <p:spPr>
          <a:xfrm xmlns:a="http://schemas.openxmlformats.org/drawingml/2006/main">
            <a:off x="2238375" y="2762250"/>
            <a:ext cx="2400300" cy="438150"/>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22" name="block-276">
            <a:extLst xmlns:a="http://schemas.openxmlformats.org/drawingml/2006/main">
              <a:ext uri="{FF2B5EF4-FFF2-40B4-BE49-F238E27FC236}">
                <a16:creationId xmlns:a16="http://schemas.microsoft.com/office/drawing/2014/main" id="{6ADEC88B-387B-43F0-90B9-299F809FF726}"/>
              </a:ext>
            </a:extLst>
          </p:cNvPr>
          <p:cNvSpPr>
            <a:spLocks xmlns:a="http://schemas.openxmlformats.org/drawingml/2006/main" noGrp="1"/>
          </p:cNvSpPr>
          <p:nvPr/>
        </p:nvSpPr>
        <p:spPr>
          <a:xfrm xmlns:a="http://schemas.openxmlformats.org/drawingml/2006/main">
            <a:off x="4676775" y="2762250"/>
            <a:ext cx="1181100" cy="43815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3" name="block-277">
            <a:extLst xmlns:a="http://schemas.openxmlformats.org/drawingml/2006/main">
              <a:ext uri="{FF2B5EF4-FFF2-40B4-BE49-F238E27FC236}">
                <a16:creationId xmlns:a16="http://schemas.microsoft.com/office/drawing/2014/main" id="{E2D4BE50-5FBF-4520-A09D-AEA520A9A25B}"/>
              </a:ext>
            </a:extLst>
          </p:cNvPr>
          <p:cNvSpPr>
            <a:spLocks xmlns:a="http://schemas.openxmlformats.org/drawingml/2006/main" noGrp="1"/>
          </p:cNvSpPr>
          <p:nvPr/>
        </p:nvSpPr>
        <p:spPr>
          <a:xfrm xmlns:a="http://schemas.openxmlformats.org/drawingml/2006/main">
            <a:off x="2352675" y="2847975"/>
            <a:ext cx="22002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Training</a:t>
            </a:r>
          </a:p>
        </p:txBody>
      </p:sp>
      <p:sp>
        <p:nvSpPr>
          <p:cNvPr id="24" name="block-278">
            <a:extLst xmlns:a="http://schemas.openxmlformats.org/drawingml/2006/main">
              <a:ext uri="{FF2B5EF4-FFF2-40B4-BE49-F238E27FC236}">
                <a16:creationId xmlns:a16="http://schemas.microsoft.com/office/drawing/2014/main" id="{CAE67806-CCB3-4AEC-A7A8-E7C8C7DE1F1A}"/>
              </a:ext>
            </a:extLst>
          </p:cNvPr>
          <p:cNvSpPr>
            <a:spLocks xmlns:a="http://schemas.openxmlformats.org/drawingml/2006/main" noGrp="1"/>
          </p:cNvSpPr>
          <p:nvPr/>
        </p:nvSpPr>
        <p:spPr>
          <a:xfrm xmlns:a="http://schemas.openxmlformats.org/drawingml/2006/main">
            <a:off x="4752975" y="2847975"/>
            <a:ext cx="1057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Bewertung</a:t>
            </a:r>
          </a:p>
        </p:txBody>
      </p:sp>
      <p:sp>
        <p:nvSpPr>
          <p:cNvPr id="25" name="block-279">
            <a:extLst xmlns:a="http://schemas.openxmlformats.org/drawingml/2006/main">
              <a:ext uri="{FF2B5EF4-FFF2-40B4-BE49-F238E27FC236}">
                <a16:creationId xmlns:a16="http://schemas.microsoft.com/office/drawing/2014/main" id="{17BDEB6C-D287-4494-B9F9-DFC6CA055D2E}"/>
              </a:ext>
            </a:extLst>
          </p:cNvPr>
          <p:cNvSpPr>
            <a:spLocks xmlns:a="http://schemas.openxmlformats.org/drawingml/2006/main" noGrp="1"/>
          </p:cNvSpPr>
          <p:nvPr/>
        </p:nvSpPr>
        <p:spPr>
          <a:xfrm xmlns:a="http://schemas.openxmlformats.org/drawingml/2006/main">
            <a:off x="609600" y="3457575"/>
            <a:ext cx="147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Fold 2</a:t>
            </a:r>
          </a:p>
        </p:txBody>
      </p:sp>
      <p:sp>
        <p:nvSpPr>
          <p:cNvPr id="26" name="block-280">
            <a:extLst xmlns:a="http://schemas.openxmlformats.org/drawingml/2006/main">
              <a:ext uri="{FF2B5EF4-FFF2-40B4-BE49-F238E27FC236}">
                <a16:creationId xmlns:a16="http://schemas.microsoft.com/office/drawing/2014/main" id="{0B1D1A0D-1BB7-443F-8288-684C6B334A46}"/>
              </a:ext>
            </a:extLst>
          </p:cNvPr>
          <p:cNvSpPr>
            <a:spLocks xmlns:a="http://schemas.openxmlformats.org/drawingml/2006/main" noGrp="1"/>
          </p:cNvSpPr>
          <p:nvPr/>
        </p:nvSpPr>
        <p:spPr>
          <a:xfrm xmlns:a="http://schemas.openxmlformats.org/drawingml/2006/main">
            <a:off x="2238375" y="3371850"/>
            <a:ext cx="3619500" cy="438150"/>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27" name="block-281">
            <a:extLst xmlns:a="http://schemas.openxmlformats.org/drawingml/2006/main">
              <a:ext uri="{FF2B5EF4-FFF2-40B4-BE49-F238E27FC236}">
                <a16:creationId xmlns:a16="http://schemas.microsoft.com/office/drawing/2014/main" id="{55DFCDB1-6E4A-49E5-BF66-9BC4BFA01621}"/>
              </a:ext>
            </a:extLst>
          </p:cNvPr>
          <p:cNvSpPr>
            <a:spLocks xmlns:a="http://schemas.openxmlformats.org/drawingml/2006/main" noGrp="1"/>
          </p:cNvSpPr>
          <p:nvPr/>
        </p:nvSpPr>
        <p:spPr>
          <a:xfrm xmlns:a="http://schemas.openxmlformats.org/drawingml/2006/main">
            <a:off x="5895975" y="3371850"/>
            <a:ext cx="1181100" cy="43815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8" name="block-282">
            <a:extLst xmlns:a="http://schemas.openxmlformats.org/drawingml/2006/main">
              <a:ext uri="{FF2B5EF4-FFF2-40B4-BE49-F238E27FC236}">
                <a16:creationId xmlns:a16="http://schemas.microsoft.com/office/drawing/2014/main" id="{79CF5FB9-A7C3-4E29-8D02-EC51BB4F6F02}"/>
              </a:ext>
            </a:extLst>
          </p:cNvPr>
          <p:cNvSpPr>
            <a:spLocks xmlns:a="http://schemas.openxmlformats.org/drawingml/2006/main" noGrp="1"/>
          </p:cNvSpPr>
          <p:nvPr/>
        </p:nvSpPr>
        <p:spPr>
          <a:xfrm xmlns:a="http://schemas.openxmlformats.org/drawingml/2006/main">
            <a:off x="2352675" y="3457575"/>
            <a:ext cx="34194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Training</a:t>
            </a:r>
          </a:p>
        </p:txBody>
      </p:sp>
      <p:sp>
        <p:nvSpPr>
          <p:cNvPr id="29" name="block-283">
            <a:extLst xmlns:a="http://schemas.openxmlformats.org/drawingml/2006/main">
              <a:ext uri="{FF2B5EF4-FFF2-40B4-BE49-F238E27FC236}">
                <a16:creationId xmlns:a16="http://schemas.microsoft.com/office/drawing/2014/main" id="{4AA995D9-236B-4FCD-821C-F4C1FBD2C5AB}"/>
              </a:ext>
            </a:extLst>
          </p:cNvPr>
          <p:cNvSpPr>
            <a:spLocks xmlns:a="http://schemas.openxmlformats.org/drawingml/2006/main" noGrp="1"/>
          </p:cNvSpPr>
          <p:nvPr/>
        </p:nvSpPr>
        <p:spPr>
          <a:xfrm xmlns:a="http://schemas.openxmlformats.org/drawingml/2006/main">
            <a:off x="5972175" y="3457575"/>
            <a:ext cx="1057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Bewertung</a:t>
            </a:r>
          </a:p>
        </p:txBody>
      </p:sp>
      <p:sp>
        <p:nvSpPr>
          <p:cNvPr id="30" name="block-284">
            <a:extLst xmlns:a="http://schemas.openxmlformats.org/drawingml/2006/main">
              <a:ext uri="{FF2B5EF4-FFF2-40B4-BE49-F238E27FC236}">
                <a16:creationId xmlns:a16="http://schemas.microsoft.com/office/drawing/2014/main" id="{02358B90-AE81-4E55-8F75-968F7A029F74}"/>
              </a:ext>
            </a:extLst>
          </p:cNvPr>
          <p:cNvSpPr>
            <a:spLocks xmlns:a="http://schemas.openxmlformats.org/drawingml/2006/main" noGrp="1"/>
          </p:cNvSpPr>
          <p:nvPr/>
        </p:nvSpPr>
        <p:spPr>
          <a:xfrm xmlns:a="http://schemas.openxmlformats.org/drawingml/2006/main">
            <a:off x="609600" y="4067175"/>
            <a:ext cx="147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Fold 3</a:t>
            </a:r>
          </a:p>
        </p:txBody>
      </p:sp>
      <p:sp>
        <p:nvSpPr>
          <p:cNvPr id="31" name="block-285">
            <a:extLst xmlns:a="http://schemas.openxmlformats.org/drawingml/2006/main">
              <a:ext uri="{FF2B5EF4-FFF2-40B4-BE49-F238E27FC236}">
                <a16:creationId xmlns:a16="http://schemas.microsoft.com/office/drawing/2014/main" id="{50D9904E-CF65-4EF8-AC6D-0C7D4B8EC61A}"/>
              </a:ext>
            </a:extLst>
          </p:cNvPr>
          <p:cNvSpPr>
            <a:spLocks xmlns:a="http://schemas.openxmlformats.org/drawingml/2006/main" noGrp="1"/>
          </p:cNvSpPr>
          <p:nvPr/>
        </p:nvSpPr>
        <p:spPr>
          <a:xfrm xmlns:a="http://schemas.openxmlformats.org/drawingml/2006/main">
            <a:off x="2238375" y="3981450"/>
            <a:ext cx="4838700" cy="438150"/>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32" name="block-286">
            <a:extLst xmlns:a="http://schemas.openxmlformats.org/drawingml/2006/main">
              <a:ext uri="{FF2B5EF4-FFF2-40B4-BE49-F238E27FC236}">
                <a16:creationId xmlns:a16="http://schemas.microsoft.com/office/drawing/2014/main" id="{57413A7E-40F3-4D0C-BB70-37087B3A8E6E}"/>
              </a:ext>
            </a:extLst>
          </p:cNvPr>
          <p:cNvSpPr>
            <a:spLocks xmlns:a="http://schemas.openxmlformats.org/drawingml/2006/main" noGrp="1"/>
          </p:cNvSpPr>
          <p:nvPr/>
        </p:nvSpPr>
        <p:spPr>
          <a:xfrm xmlns:a="http://schemas.openxmlformats.org/drawingml/2006/main">
            <a:off x="7115175" y="3981450"/>
            <a:ext cx="1181100" cy="43815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33" name="block-287">
            <a:extLst xmlns:a="http://schemas.openxmlformats.org/drawingml/2006/main">
              <a:ext uri="{FF2B5EF4-FFF2-40B4-BE49-F238E27FC236}">
                <a16:creationId xmlns:a16="http://schemas.microsoft.com/office/drawing/2014/main" id="{8ABA7DDC-A796-4035-BC3E-03FEB78D1C7E}"/>
              </a:ext>
            </a:extLst>
          </p:cNvPr>
          <p:cNvSpPr>
            <a:spLocks xmlns:a="http://schemas.openxmlformats.org/drawingml/2006/main" noGrp="1"/>
          </p:cNvSpPr>
          <p:nvPr/>
        </p:nvSpPr>
        <p:spPr>
          <a:xfrm xmlns:a="http://schemas.openxmlformats.org/drawingml/2006/main">
            <a:off x="2352675" y="4067175"/>
            <a:ext cx="4638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Training</a:t>
            </a:r>
          </a:p>
        </p:txBody>
      </p:sp>
      <p:sp>
        <p:nvSpPr>
          <p:cNvPr id="34" name="block-288">
            <a:extLst xmlns:a="http://schemas.openxmlformats.org/drawingml/2006/main">
              <a:ext uri="{FF2B5EF4-FFF2-40B4-BE49-F238E27FC236}">
                <a16:creationId xmlns:a16="http://schemas.microsoft.com/office/drawing/2014/main" id="{AAB3C627-60B5-41B8-AACB-F16E905669E4}"/>
              </a:ext>
            </a:extLst>
          </p:cNvPr>
          <p:cNvSpPr>
            <a:spLocks xmlns:a="http://schemas.openxmlformats.org/drawingml/2006/main" noGrp="1"/>
          </p:cNvSpPr>
          <p:nvPr/>
        </p:nvSpPr>
        <p:spPr>
          <a:xfrm xmlns:a="http://schemas.openxmlformats.org/drawingml/2006/main">
            <a:off x="7191375" y="4067175"/>
            <a:ext cx="1057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Bewertung</a:t>
            </a:r>
          </a:p>
        </p:txBody>
      </p:sp>
      <p:sp>
        <p:nvSpPr>
          <p:cNvPr id="35" name="block-289">
            <a:extLst xmlns:a="http://schemas.openxmlformats.org/drawingml/2006/main">
              <a:ext uri="{FF2B5EF4-FFF2-40B4-BE49-F238E27FC236}">
                <a16:creationId xmlns:a16="http://schemas.microsoft.com/office/drawing/2014/main" id="{21F1A268-0374-402A-87F8-16EFA4360356}"/>
              </a:ext>
            </a:extLst>
          </p:cNvPr>
          <p:cNvSpPr>
            <a:spLocks xmlns:a="http://schemas.openxmlformats.org/drawingml/2006/main" noGrp="1"/>
          </p:cNvSpPr>
          <p:nvPr/>
        </p:nvSpPr>
        <p:spPr>
          <a:xfrm xmlns:a="http://schemas.openxmlformats.org/drawingml/2006/main">
            <a:off x="609600" y="4676775"/>
            <a:ext cx="1638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A86505"/>
                </a:solidFill>
                <a:latin typeface="IBM Plex Sans"/>
                <a:ea typeface="IBM Plex Sans"/>
                <a:cs typeface="IBM Plex Sans"/>
              </a:defRPr>
            </a:pPr>
            <a:r>
              <a:rPr sz="1875" b="1">
                <a:solidFill>
                  <a:srgbClr val="A86505"/>
                </a:solidFill>
                <a:latin typeface="IBM Plex Sans"/>
                <a:ea typeface="IBM Plex Sans"/>
                <a:cs typeface="IBM Plex Sans"/>
              </a:rPr>
              <a:t>Kalibrierung</a:t>
            </a:r>
          </a:p>
        </p:txBody>
      </p:sp>
      <p:sp>
        <p:nvSpPr>
          <p:cNvPr id="36" name="block-290">
            <a:extLst xmlns:a="http://schemas.openxmlformats.org/drawingml/2006/main">
              <a:ext uri="{FF2B5EF4-FFF2-40B4-BE49-F238E27FC236}">
                <a16:creationId xmlns:a16="http://schemas.microsoft.com/office/drawing/2014/main" id="{3EB56F14-13B6-4276-A79C-B441978F35E7}"/>
              </a:ext>
            </a:extLst>
          </p:cNvPr>
          <p:cNvSpPr>
            <a:spLocks xmlns:a="http://schemas.openxmlformats.org/drawingml/2006/main" noGrp="1"/>
          </p:cNvSpPr>
          <p:nvPr/>
        </p:nvSpPr>
        <p:spPr>
          <a:xfrm xmlns:a="http://schemas.openxmlformats.org/drawingml/2006/main">
            <a:off x="8334375" y="4591050"/>
            <a:ext cx="1181100" cy="438150"/>
          </a:xfrm>
          <a:prstGeom xmlns:a="http://schemas.openxmlformats.org/drawingml/2006/main" prst="rect">
            <a:avLst/>
          </a:prstGeom>
          <a:solidFill xmlns:a="http://schemas.openxmlformats.org/drawingml/2006/main">
            <a:srgbClr val="FFF0D4"/>
          </a:solidFill>
          <a:ln xmlns:a="http://schemas.openxmlformats.org/drawingml/2006/main" w="0">
            <a:noFill/>
          </a:ln>
        </p:spPr>
      </p:sp>
      <p:sp>
        <p:nvSpPr>
          <p:cNvPr id="37" name="block-291">
            <a:extLst xmlns:a="http://schemas.openxmlformats.org/drawingml/2006/main">
              <a:ext uri="{FF2B5EF4-FFF2-40B4-BE49-F238E27FC236}">
                <a16:creationId xmlns:a16="http://schemas.microsoft.com/office/drawing/2014/main" id="{7C6DB0B6-C2E5-47BA-A8D6-3F4363054EC5}"/>
              </a:ext>
            </a:extLst>
          </p:cNvPr>
          <p:cNvSpPr>
            <a:spLocks xmlns:a="http://schemas.openxmlformats.org/drawingml/2006/main" noGrp="1"/>
          </p:cNvSpPr>
          <p:nvPr/>
        </p:nvSpPr>
        <p:spPr>
          <a:xfrm xmlns:a="http://schemas.openxmlformats.org/drawingml/2006/main">
            <a:off x="8429625" y="467677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A86505"/>
                </a:solidFill>
                <a:latin typeface="IBM Plex Sans"/>
                <a:ea typeface="IBM Plex Sans"/>
                <a:cs typeface="IBM Plex Sans"/>
              </a:defRPr>
            </a:pPr>
            <a:r>
              <a:rPr sz="1725" b="1">
                <a:solidFill>
                  <a:srgbClr val="A86505"/>
                </a:solidFill>
                <a:latin typeface="IBM Plex Sans"/>
                <a:ea typeface="IBM Plex Sans"/>
                <a:cs typeface="IBM Plex Sans"/>
              </a:rPr>
              <a:t>Nov–Dez</a:t>
            </a:r>
          </a:p>
        </p:txBody>
      </p:sp>
      <p:sp>
        <p:nvSpPr>
          <p:cNvPr id="38" name="block-292">
            <a:extLst xmlns:a="http://schemas.openxmlformats.org/drawingml/2006/main">
              <a:ext uri="{FF2B5EF4-FFF2-40B4-BE49-F238E27FC236}">
                <a16:creationId xmlns:a16="http://schemas.microsoft.com/office/drawing/2014/main" id="{3CB7647E-66CB-478A-97CA-86F82E8AC3B3}"/>
              </a:ext>
            </a:extLst>
          </p:cNvPr>
          <p:cNvSpPr>
            <a:spLocks xmlns:a="http://schemas.openxmlformats.org/drawingml/2006/main" noGrp="1"/>
          </p:cNvSpPr>
          <p:nvPr/>
        </p:nvSpPr>
        <p:spPr>
          <a:xfrm xmlns:a="http://schemas.openxmlformats.org/drawingml/2006/main">
            <a:off x="10144125" y="2457450"/>
            <a:ext cx="1438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063659"/>
                </a:solidFill>
                <a:latin typeface="IBM Plex Sans"/>
                <a:ea typeface="IBM Plex Sans"/>
                <a:cs typeface="IBM Plex Sans"/>
              </a:defRPr>
            </a:pPr>
            <a:r>
              <a:rPr sz="1725" b="1">
                <a:solidFill>
                  <a:srgbClr val="063659"/>
                </a:solidFill>
                <a:latin typeface="IBM Plex Sans"/>
                <a:ea typeface="IBM Plex Sans"/>
                <a:cs typeface="IBM Plex Sans"/>
              </a:rPr>
              <a:t>2025</a:t>
            </a:r>
          </a:p>
        </p:txBody>
      </p:sp>
      <p:sp>
        <p:nvSpPr>
          <p:cNvPr id="39" name="block-293">
            <a:extLst xmlns:a="http://schemas.openxmlformats.org/drawingml/2006/main">
              <a:ext uri="{FF2B5EF4-FFF2-40B4-BE49-F238E27FC236}">
                <a16:creationId xmlns:a16="http://schemas.microsoft.com/office/drawing/2014/main" id="{6DF8C24B-5CA9-4434-B280-2135EC90E945}"/>
              </a:ext>
            </a:extLst>
          </p:cNvPr>
          <p:cNvSpPr>
            <a:spLocks xmlns:a="http://schemas.openxmlformats.org/drawingml/2006/main" noGrp="1"/>
          </p:cNvSpPr>
          <p:nvPr/>
        </p:nvSpPr>
        <p:spPr>
          <a:xfrm xmlns:a="http://schemas.openxmlformats.org/drawingml/2006/main">
            <a:off x="10144125" y="2762250"/>
            <a:ext cx="1438275" cy="2266950"/>
          </a:xfrm>
          <a:prstGeom xmlns:a="http://schemas.openxmlformats.org/drawingml/2006/main" prst="rect">
            <a:avLst/>
          </a:prstGeom>
          <a:solidFill xmlns:a="http://schemas.openxmlformats.org/drawingml/2006/main">
            <a:srgbClr val="F1F4F7"/>
          </a:solidFill>
          <a:ln xmlns:a="http://schemas.openxmlformats.org/drawingml/2006/main" w="0">
            <a:noFill/>
          </a:ln>
        </p:spPr>
      </p:sp>
      <p:sp>
        <p:nvSpPr>
          <p:cNvPr id="40" name="block-294">
            <a:extLst xmlns:a="http://schemas.openxmlformats.org/drawingml/2006/main">
              <a:ext uri="{FF2B5EF4-FFF2-40B4-BE49-F238E27FC236}">
                <a16:creationId xmlns:a16="http://schemas.microsoft.com/office/drawing/2014/main" id="{DA7403E2-C78B-4D01-B412-9C6E49606C9E}"/>
              </a:ext>
            </a:extLst>
          </p:cNvPr>
          <p:cNvSpPr>
            <a:spLocks xmlns:a="http://schemas.openxmlformats.org/drawingml/2006/main" noGrp="1"/>
          </p:cNvSpPr>
          <p:nvPr/>
        </p:nvSpPr>
        <p:spPr>
          <a:xfrm xmlns:a="http://schemas.openxmlformats.org/drawingml/2006/main">
            <a:off x="10277475" y="3571875"/>
            <a:ext cx="119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Testjahr</a:t>
            </a:r>
          </a:p>
        </p:txBody>
      </p:sp>
      <p:sp>
        <p:nvSpPr>
          <p:cNvPr id="41" name="block-295">
            <a:extLst xmlns:a="http://schemas.openxmlformats.org/drawingml/2006/main">
              <a:ext uri="{FF2B5EF4-FFF2-40B4-BE49-F238E27FC236}">
                <a16:creationId xmlns:a16="http://schemas.microsoft.com/office/drawing/2014/main" id="{4DDDA28E-2421-4A4E-8688-22D08CAEC9E5}"/>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42" name="block-296">
            <a:extLst xmlns:a="http://schemas.openxmlformats.org/drawingml/2006/main">
              <a:ext uri="{FF2B5EF4-FFF2-40B4-BE49-F238E27FC236}">
                <a16:creationId xmlns:a16="http://schemas.microsoft.com/office/drawing/2014/main" id="{04058987-E683-41CF-B5CA-9BCDF0615836}"/>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Jeder Bewertungszeitraum liegt vollständig nach seinem Trainingszeitraum.</a:t>
            </a:r>
          </a:p>
        </p:txBody>
      </p:sp>
    </p:spTree>
    <p:extLst>
      <p:ext uri="{BB962C8B-B14F-4D97-AF65-F5344CB8AC3E}">
        <p14:creationId xmlns:p14="http://schemas.microsoft.com/office/powerpoint/2010/main" val="76001299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lock-297">
            <a:extLst xmlns:a="http://schemas.openxmlformats.org/drawingml/2006/main">
              <a:ext uri="{FF2B5EF4-FFF2-40B4-BE49-F238E27FC236}">
                <a16:creationId xmlns:a16="http://schemas.microsoft.com/office/drawing/2014/main" id="{F45AAF29-9D36-4523-95A2-4D0FDAB43A6D}"/>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05 / MODELLVERGLEICH</a:t>
            </a:r>
          </a:p>
        </p:txBody>
      </p:sp>
      <p:sp>
        <p:nvSpPr>
          <p:cNvPr id="2" name="block-298">
            <a:extLst xmlns:a="http://schemas.openxmlformats.org/drawingml/2006/main">
              <a:ext uri="{FF2B5EF4-FFF2-40B4-BE49-F238E27FC236}">
                <a16:creationId xmlns:a16="http://schemas.microsoft.com/office/drawing/2014/main" id="{EB955321-5EFA-4DD2-B951-A370A6901C3F}"/>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Random Forest gewinnt im Mittel</a:t>
            </a:r>
          </a:p>
        </p:txBody>
      </p:sp>
      <p:sp>
        <p:nvSpPr>
          <p:cNvPr id="3" name="block-299">
            <a:extLst xmlns:a="http://schemas.openxmlformats.org/drawingml/2006/main">
              <a:ext uri="{FF2B5EF4-FFF2-40B4-BE49-F238E27FC236}">
                <a16:creationId xmlns:a16="http://schemas.microsoft.com/office/drawing/2014/main" id="{FEF72BB5-9427-460A-A804-BCC43F7FEB43}"/>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RMSE über drei Zeit-Folds 2024. Ein kleinerer Fehler ist besser.</a:t>
            </a:r>
          </a:p>
        </p:txBody>
      </p:sp>
      <p:sp>
        <p:nvSpPr>
          <p:cNvPr id="4" name="block-300">
            <a:extLst xmlns:a="http://schemas.openxmlformats.org/drawingml/2006/main">
              <a:ext uri="{FF2B5EF4-FFF2-40B4-BE49-F238E27FC236}">
                <a16:creationId xmlns:a16="http://schemas.microsoft.com/office/drawing/2014/main" id="{54495711-A4C8-46DC-B399-E5CB6734C9A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e3c476a7de74074"/>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301">
            <a:extLst xmlns:a="http://schemas.openxmlformats.org/drawingml/2006/main">
              <a:ext uri="{FF2B5EF4-FFF2-40B4-BE49-F238E27FC236}">
                <a16:creationId xmlns:a16="http://schemas.microsoft.com/office/drawing/2014/main" id="{12CB7A65-BD68-4A03-8BEA-FF2EBE4C9294}"/>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302">
            <a:extLst xmlns:a="http://schemas.openxmlformats.org/drawingml/2006/main">
              <a:ext uri="{FF2B5EF4-FFF2-40B4-BE49-F238E27FC236}">
                <a16:creationId xmlns:a16="http://schemas.microsoft.com/office/drawing/2014/main" id="{7D920548-240E-4F85-8177-3439C0B1B2A7}"/>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16 / 39</a:t>
            </a:r>
          </a:p>
        </p:txBody>
      </p:sp>
      <p:graphicFrame>
        <p:nvGraphicFramePr>
          <p:cNvPr id="21" name="Chart"/>
          <p:cNvGraphicFramePr/>
          <p:nvPr/>
        </p:nvGraphicFramePr>
        <p:xfrm>
          <a:off xmlns:a="http://schemas.openxmlformats.org/drawingml/2006/main" x="514350" y="2343150"/>
          <a:ext xmlns:a="http://schemas.openxmlformats.org/drawingml/2006/main" cx="8143875" cy="3076575"/>
        </p:xfrm>
        <a:graphic xmlns:a="http://schemas.openxmlformats.org/drawingml/2006/main">
          <a:graphicData uri="http://schemas.openxmlformats.org/drawingml/2006/chart">
            <c:chart xmlns:r="http://schemas.openxmlformats.org/officeDocument/2006/relationships" xmlns:c="http://schemas.openxmlformats.org/drawingml/2006/chart" r:id="Ra56c6898053548a8"/>
          </a:graphicData>
        </a:graphic>
      </p:graphicFrame>
      <p:sp>
        <p:nvSpPr>
          <p:cNvPr id="9" name="block-303">
            <a:extLst xmlns:a="http://schemas.openxmlformats.org/drawingml/2006/main">
              <a:ext uri="{FF2B5EF4-FFF2-40B4-BE49-F238E27FC236}">
                <a16:creationId xmlns:a16="http://schemas.microsoft.com/office/drawing/2014/main" id="{6F94A830-FC13-46AE-B294-19170AA367DF}"/>
              </a:ext>
            </a:extLst>
          </p:cNvPr>
          <p:cNvSpPr>
            <a:spLocks xmlns:a="http://schemas.openxmlformats.org/drawingml/2006/main" noGrp="1"/>
          </p:cNvSpPr>
          <p:nvPr/>
        </p:nvSpPr>
        <p:spPr>
          <a:xfrm xmlns:a="http://schemas.openxmlformats.org/drawingml/2006/main">
            <a:off x="9048750" y="26193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−2,7 %</a:t>
            </a:r>
          </a:p>
        </p:txBody>
      </p:sp>
      <p:sp>
        <p:nvSpPr>
          <p:cNvPr id="10" name="block-304">
            <a:extLst xmlns:a="http://schemas.openxmlformats.org/drawingml/2006/main">
              <a:ext uri="{FF2B5EF4-FFF2-40B4-BE49-F238E27FC236}">
                <a16:creationId xmlns:a16="http://schemas.microsoft.com/office/drawing/2014/main" id="{11B196D2-1781-4335-9E16-B65B524CD8C1}"/>
              </a:ext>
            </a:extLst>
          </p:cNvPr>
          <p:cNvSpPr>
            <a:spLocks xmlns:a="http://schemas.openxmlformats.org/drawingml/2006/main" noGrp="1"/>
          </p:cNvSpPr>
          <p:nvPr/>
        </p:nvSpPr>
        <p:spPr>
          <a:xfrm xmlns:a="http://schemas.openxmlformats.org/drawingml/2006/main">
            <a:off x="9048750" y="3400425"/>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gegenüber der</a:t>
            </a:r>
          </a:p>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linearen Regression</a:t>
            </a:r>
          </a:p>
        </p:txBody>
      </p:sp>
      <p:sp>
        <p:nvSpPr>
          <p:cNvPr id="11" name="block-305">
            <a:extLst xmlns:a="http://schemas.openxmlformats.org/drawingml/2006/main">
              <a:ext uri="{FF2B5EF4-FFF2-40B4-BE49-F238E27FC236}">
                <a16:creationId xmlns:a16="http://schemas.microsoft.com/office/drawing/2014/main" id="{A7E7C7FA-91A0-4F3F-995F-AC10C7364229}"/>
              </a:ext>
            </a:extLst>
          </p:cNvPr>
          <p:cNvSpPr>
            <a:spLocks xmlns:a="http://schemas.openxmlformats.org/drawingml/2006/main" noGrp="1"/>
          </p:cNvSpPr>
          <p:nvPr/>
        </p:nvSpPr>
        <p:spPr>
          <a:xfrm xmlns:a="http://schemas.openxmlformats.org/drawingml/2006/main">
            <a:off x="9048750" y="4495800"/>
            <a:ext cx="25336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63659"/>
                </a:solidFill>
                <a:latin typeface="IBM Plex Sans"/>
                <a:ea typeface="IBM Plex Sans"/>
                <a:cs typeface="IBM Plex Sans"/>
              </a:defRPr>
            </a:pPr>
            <a:r>
              <a:rPr sz="1950" b="1">
                <a:solidFill>
                  <a:srgbClr val="063659"/>
                </a:solidFill>
                <a:latin typeface="IBM Plex Sans"/>
                <a:ea typeface="IBM Plex Sans"/>
                <a:cs typeface="IBM Plex Sans"/>
              </a:rPr>
              <a:t>13.272 kWh</a:t>
            </a:r>
          </a:p>
          <a:p xmlns:a="http://schemas.openxmlformats.org/drawingml/2006/main">
            <a:pPr>
              <a:defRPr sz="1950" b="1">
                <a:solidFill>
                  <a:srgbClr val="063659"/>
                </a:solidFill>
                <a:latin typeface="IBM Plex Sans"/>
                <a:ea typeface="IBM Plex Sans"/>
                <a:cs typeface="IBM Plex Sans"/>
              </a:defRPr>
            </a:pPr>
            <a:r>
              <a:rPr sz="1950" b="1">
                <a:solidFill>
                  <a:srgbClr val="063659"/>
                </a:solidFill>
                <a:latin typeface="IBM Plex Sans"/>
                <a:ea typeface="IBM Plex Sans"/>
                <a:cs typeface="IBM Plex Sans"/>
              </a:rPr>
              <a:t>mittlerer CV-RMSE</a:t>
            </a:r>
          </a:p>
        </p:txBody>
      </p:sp>
      <p:sp>
        <p:nvSpPr>
          <p:cNvPr id="12" name="block-306">
            <a:extLst xmlns:a="http://schemas.openxmlformats.org/drawingml/2006/main">
              <a:ext uri="{FF2B5EF4-FFF2-40B4-BE49-F238E27FC236}">
                <a16:creationId xmlns:a16="http://schemas.microsoft.com/office/drawing/2014/main" id="{4E78DD88-622A-4C8E-98DA-4897B10DDE3C}"/>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3" name="block-307">
            <a:extLst xmlns:a="http://schemas.openxmlformats.org/drawingml/2006/main">
              <a:ext uri="{FF2B5EF4-FFF2-40B4-BE49-F238E27FC236}">
                <a16:creationId xmlns:a16="http://schemas.microsoft.com/office/drawing/2014/main" id="{D944C251-A6B3-43DE-87E0-6ACADDAA0A6C}"/>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Der Vorsprung gilt im Mittel. Im dritten Fold liegt die lineare Regression vorn.</a:t>
            </a:r>
          </a:p>
        </p:txBody>
      </p:sp>
    </p:spTree>
    <p:extLst>
      <p:ext uri="{BB962C8B-B14F-4D97-AF65-F5344CB8AC3E}">
        <p14:creationId xmlns:p14="http://schemas.microsoft.com/office/powerpoint/2010/main" val="140202530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lock-308">
            <a:extLst xmlns:a="http://schemas.openxmlformats.org/drawingml/2006/main">
              <a:ext uri="{FF2B5EF4-FFF2-40B4-BE49-F238E27FC236}">
                <a16:creationId xmlns:a16="http://schemas.microsoft.com/office/drawing/2014/main" id="{0E7AA3A9-96ED-4246-A262-2E406AE1745F}"/>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05 / BENCHMARK 2025</a:t>
            </a:r>
          </a:p>
        </p:txBody>
      </p:sp>
      <p:sp>
        <p:nvSpPr>
          <p:cNvPr id="2" name="block-309">
            <a:extLst xmlns:a="http://schemas.openxmlformats.org/drawingml/2006/main">
              <a:ext uri="{FF2B5EF4-FFF2-40B4-BE49-F238E27FC236}">
                <a16:creationId xmlns:a16="http://schemas.microsoft.com/office/drawing/2014/main" id="{3ADDDD31-4D43-43E4-A3B4-CD7B4B2AFDB2}"/>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15,9 % geringerer RMSE als die beste Baseline</a:t>
            </a:r>
          </a:p>
        </p:txBody>
      </p:sp>
      <p:sp>
        <p:nvSpPr>
          <p:cNvPr id="3" name="block-310">
            <a:extLst xmlns:a="http://schemas.openxmlformats.org/drawingml/2006/main">
              <a:ext uri="{FF2B5EF4-FFF2-40B4-BE49-F238E27FC236}">
                <a16:creationId xmlns:a16="http://schemas.microsoft.com/office/drawing/2014/main" id="{B3BAA164-77FE-4291-BAB6-07B0C2BDCF4B}"/>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Retrospektiv: einen Monat vorhersagen und anschließend mit dem Istwert vergleichen.</a:t>
            </a:r>
          </a:p>
        </p:txBody>
      </p:sp>
      <p:sp>
        <p:nvSpPr>
          <p:cNvPr id="4" name="block-311">
            <a:extLst xmlns:a="http://schemas.openxmlformats.org/drawingml/2006/main">
              <a:ext uri="{FF2B5EF4-FFF2-40B4-BE49-F238E27FC236}">
                <a16:creationId xmlns:a16="http://schemas.microsoft.com/office/drawing/2014/main" id="{65F94F2A-A248-45A1-89D4-0754813AB51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f1bb3a43d9a4350"/>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312">
            <a:extLst xmlns:a="http://schemas.openxmlformats.org/drawingml/2006/main">
              <a:ext uri="{FF2B5EF4-FFF2-40B4-BE49-F238E27FC236}">
                <a16:creationId xmlns:a16="http://schemas.microsoft.com/office/drawing/2014/main" id="{EE5F0600-4A05-4851-8AD1-305FA53253F9}"/>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313">
            <a:extLst xmlns:a="http://schemas.openxmlformats.org/drawingml/2006/main">
              <a:ext uri="{FF2B5EF4-FFF2-40B4-BE49-F238E27FC236}">
                <a16:creationId xmlns:a16="http://schemas.microsoft.com/office/drawing/2014/main" id="{942217A4-2D1A-4974-B855-1F45BD41D0B8}"/>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17 / 39</a:t>
            </a:r>
          </a:p>
        </p:txBody>
      </p:sp>
      <p:graphicFrame>
        <p:nvGraphicFramePr>
          <p:cNvPr id="21" name="Chart"/>
          <p:cNvGraphicFramePr/>
          <p:nvPr/>
        </p:nvGraphicFramePr>
        <p:xfrm>
          <a:off xmlns:a="http://schemas.openxmlformats.org/drawingml/2006/main" x="514350" y="2343150"/>
          <a:ext xmlns:a="http://schemas.openxmlformats.org/drawingml/2006/main" cx="8143875" cy="3076575"/>
        </p:xfrm>
        <a:graphic xmlns:a="http://schemas.openxmlformats.org/drawingml/2006/main">
          <a:graphicData uri="http://schemas.openxmlformats.org/drawingml/2006/chart">
            <c:chart xmlns:r="http://schemas.openxmlformats.org/officeDocument/2006/relationships" xmlns:c="http://schemas.openxmlformats.org/drawingml/2006/chart" r:id="Rdeee0d7444cc4400"/>
          </a:graphicData>
        </a:graphic>
      </p:graphicFrame>
      <p:sp>
        <p:nvSpPr>
          <p:cNvPr id="9" name="block-314">
            <a:extLst xmlns:a="http://schemas.openxmlformats.org/drawingml/2006/main">
              <a:ext uri="{FF2B5EF4-FFF2-40B4-BE49-F238E27FC236}">
                <a16:creationId xmlns:a16="http://schemas.microsoft.com/office/drawing/2014/main" id="{70A2E820-DA96-4704-9D84-EAAC69200937}"/>
              </a:ext>
            </a:extLst>
          </p:cNvPr>
          <p:cNvSpPr>
            <a:spLocks xmlns:a="http://schemas.openxmlformats.org/drawingml/2006/main" noGrp="1"/>
          </p:cNvSpPr>
          <p:nvPr/>
        </p:nvSpPr>
        <p:spPr>
          <a:xfrm xmlns:a="http://schemas.openxmlformats.org/drawingml/2006/main">
            <a:off x="9048750" y="26193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9.188</a:t>
            </a:r>
          </a:p>
        </p:txBody>
      </p:sp>
      <p:sp>
        <p:nvSpPr>
          <p:cNvPr id="10" name="block-315">
            <a:extLst xmlns:a="http://schemas.openxmlformats.org/drawingml/2006/main">
              <a:ext uri="{FF2B5EF4-FFF2-40B4-BE49-F238E27FC236}">
                <a16:creationId xmlns:a16="http://schemas.microsoft.com/office/drawing/2014/main" id="{146E43DC-26C3-4F4A-AE9E-F876A472CC75}"/>
              </a:ext>
            </a:extLst>
          </p:cNvPr>
          <p:cNvSpPr>
            <a:spLocks xmlns:a="http://schemas.openxmlformats.org/drawingml/2006/main" noGrp="1"/>
          </p:cNvSpPr>
          <p:nvPr/>
        </p:nvSpPr>
        <p:spPr>
          <a:xfrm xmlns:a="http://schemas.openxmlformats.org/drawingml/2006/main">
            <a:off x="9048750" y="3400425"/>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RMSE in kWh</a:t>
            </a:r>
          </a:p>
        </p:txBody>
      </p:sp>
      <p:sp>
        <p:nvSpPr>
          <p:cNvPr id="11" name="block-316">
            <a:extLst xmlns:a="http://schemas.openxmlformats.org/drawingml/2006/main">
              <a:ext uri="{FF2B5EF4-FFF2-40B4-BE49-F238E27FC236}">
                <a16:creationId xmlns:a16="http://schemas.microsoft.com/office/drawing/2014/main" id="{0EF2E2B7-93DC-4631-9212-A72FCCEEDCF7}"/>
              </a:ext>
            </a:extLst>
          </p:cNvPr>
          <p:cNvSpPr>
            <a:spLocks xmlns:a="http://schemas.openxmlformats.org/drawingml/2006/main" noGrp="1"/>
          </p:cNvSpPr>
          <p:nvPr/>
        </p:nvSpPr>
        <p:spPr>
          <a:xfrm xmlns:a="http://schemas.openxmlformats.org/drawingml/2006/main">
            <a:off x="9048750" y="4248150"/>
            <a:ext cx="2524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825" b="1">
                <a:solidFill>
                  <a:srgbClr val="063659"/>
                </a:solidFill>
                <a:latin typeface="Geist Mono"/>
                <a:ea typeface="Geist Mono"/>
                <a:cs typeface="Geist Mono"/>
              </a:defRPr>
            </a:pPr>
            <a:r>
              <a:rPr sz="3825" b="1">
                <a:solidFill>
                  <a:srgbClr val="063659"/>
                </a:solidFill>
                <a:latin typeface="Geist Mono"/>
                <a:ea typeface="Geist Mono"/>
                <a:cs typeface="Geist Mono"/>
              </a:rPr>
              <a:t>3.725</a:t>
            </a:r>
          </a:p>
        </p:txBody>
      </p:sp>
      <p:sp>
        <p:nvSpPr>
          <p:cNvPr id="12" name="block-317">
            <a:extLst xmlns:a="http://schemas.openxmlformats.org/drawingml/2006/main">
              <a:ext uri="{FF2B5EF4-FFF2-40B4-BE49-F238E27FC236}">
                <a16:creationId xmlns:a16="http://schemas.microsoft.com/office/drawing/2014/main" id="{5F61EFAE-157C-4E5C-8EDE-D111C6186BC6}"/>
              </a:ext>
            </a:extLst>
          </p:cNvPr>
          <p:cNvSpPr>
            <a:spLocks xmlns:a="http://schemas.openxmlformats.org/drawingml/2006/main" noGrp="1"/>
          </p:cNvSpPr>
          <p:nvPr/>
        </p:nvSpPr>
        <p:spPr>
          <a:xfrm xmlns:a="http://schemas.openxmlformats.org/drawingml/2006/main">
            <a:off x="9048750" y="4943475"/>
            <a:ext cx="2524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MAE in kWh</a:t>
            </a:r>
          </a:p>
        </p:txBody>
      </p:sp>
      <p:sp>
        <p:nvSpPr>
          <p:cNvPr id="13" name="block-318">
            <a:extLst xmlns:a="http://schemas.openxmlformats.org/drawingml/2006/main">
              <a:ext uri="{FF2B5EF4-FFF2-40B4-BE49-F238E27FC236}">
                <a16:creationId xmlns:a16="http://schemas.microsoft.com/office/drawing/2014/main" id="{8B1D4E03-0AE5-422F-B5F6-56A41C0CE3BD}"/>
              </a:ext>
            </a:extLst>
          </p:cNvPr>
          <p:cNvSpPr>
            <a:spLocks xmlns:a="http://schemas.openxmlformats.org/drawingml/2006/main" noGrp="1"/>
          </p:cNvSpPr>
          <p:nvPr/>
        </p:nvSpPr>
        <p:spPr>
          <a:xfrm xmlns:a="http://schemas.openxmlformats.org/drawingml/2006/main">
            <a:off x="609600" y="56197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E5A68"/>
                </a:solidFill>
                <a:latin typeface="IBM Plex Sans"/>
                <a:ea typeface="IBM Plex Sans"/>
                <a:cs typeface="IBM Plex Sans"/>
              </a:defRPr>
            </a:pPr>
            <a:r>
              <a:rPr sz="1650" b="0">
                <a:solidFill>
                  <a:srgbClr val="4E5A68"/>
                </a:solidFill>
                <a:latin typeface="IBM Plex Sans"/>
                <a:ea typeface="IBM Plex Sans"/>
                <a:cs typeface="IBM Plex Sans"/>
              </a:rPr>
              <a:t>RF, linear, 3-Monats-Mittel: n = 8.398. Vormonat: n = 8.388, zehn Vergleichswerte fehlen.</a:t>
            </a:r>
          </a:p>
        </p:txBody>
      </p:sp>
    </p:spTree>
    <p:extLst>
      <p:ext uri="{BB962C8B-B14F-4D97-AF65-F5344CB8AC3E}">
        <p14:creationId xmlns:p14="http://schemas.microsoft.com/office/powerpoint/2010/main" val="176439407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block-319">
            <a:extLst xmlns:a="http://schemas.openxmlformats.org/drawingml/2006/main">
              <a:ext uri="{FF2B5EF4-FFF2-40B4-BE49-F238E27FC236}">
                <a16:creationId xmlns:a16="http://schemas.microsoft.com/office/drawing/2014/main" id="{F5EB5EAF-3C55-4B1E-87C9-EE47548BC594}"/>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05 / ERKLÄRBARKEIT</a:t>
            </a:r>
          </a:p>
        </p:txBody>
      </p:sp>
      <p:sp>
        <p:nvSpPr>
          <p:cNvPr id="2" name="block-320">
            <a:extLst xmlns:a="http://schemas.openxmlformats.org/drawingml/2006/main">
              <a:ext uri="{FF2B5EF4-FFF2-40B4-BE49-F238E27FC236}">
                <a16:creationId xmlns:a16="http://schemas.microsoft.com/office/drawing/2014/main" id="{3E5ACBEF-B78F-4522-BB33-692F43C88CA3}"/>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Die Verbrauchshistorie trägt am stärksten</a:t>
            </a:r>
          </a:p>
        </p:txBody>
      </p:sp>
      <p:sp>
        <p:nvSpPr>
          <p:cNvPr id="3" name="block-321">
            <a:extLst xmlns:a="http://schemas.openxmlformats.org/drawingml/2006/main">
              <a:ext uri="{FF2B5EF4-FFF2-40B4-BE49-F238E27FC236}">
                <a16:creationId xmlns:a16="http://schemas.microsoft.com/office/drawing/2014/main" id="{FBD89392-A433-4989-B321-37E0256C9012}"/>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Zusätzlicher RMSE in kWh, wenn eine Informationsgruppe zufällig vertauscht wird.</a:t>
            </a:r>
          </a:p>
        </p:txBody>
      </p:sp>
      <p:sp>
        <p:nvSpPr>
          <p:cNvPr id="4" name="block-322">
            <a:extLst xmlns:a="http://schemas.openxmlformats.org/drawingml/2006/main">
              <a:ext uri="{FF2B5EF4-FFF2-40B4-BE49-F238E27FC236}">
                <a16:creationId xmlns:a16="http://schemas.microsoft.com/office/drawing/2014/main" id="{29E59726-FBCC-47B9-8964-319D4067888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e4000d8f1ba423b"/>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323">
            <a:extLst xmlns:a="http://schemas.openxmlformats.org/drawingml/2006/main">
              <a:ext uri="{FF2B5EF4-FFF2-40B4-BE49-F238E27FC236}">
                <a16:creationId xmlns:a16="http://schemas.microsoft.com/office/drawing/2014/main" id="{A2773E5F-532A-4C2E-A510-A79AF4E0DC89}"/>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324">
            <a:extLst xmlns:a="http://schemas.openxmlformats.org/drawingml/2006/main">
              <a:ext uri="{FF2B5EF4-FFF2-40B4-BE49-F238E27FC236}">
                <a16:creationId xmlns:a16="http://schemas.microsoft.com/office/drawing/2014/main" id="{9E83C5D1-A39B-4136-85C4-F0EF1A33A1A3}"/>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18 / 39</a:t>
            </a:r>
          </a:p>
        </p:txBody>
      </p:sp>
      <p:graphicFrame>
        <p:nvGraphicFramePr>
          <p:cNvPr id="18" name="Chart"/>
          <p:cNvGraphicFramePr/>
          <p:nvPr/>
        </p:nvGraphicFramePr>
        <p:xfrm>
          <a:off xmlns:a="http://schemas.openxmlformats.org/drawingml/2006/main" x="495300" y="2276475"/>
          <a:ext xmlns:a="http://schemas.openxmlformats.org/drawingml/2006/main" cx="11087100" cy="3248025"/>
        </p:xfrm>
        <a:graphic xmlns:a="http://schemas.openxmlformats.org/drawingml/2006/main">
          <a:graphicData uri="http://schemas.openxmlformats.org/drawingml/2006/chart">
            <c:chart xmlns:r="http://schemas.openxmlformats.org/officeDocument/2006/relationships" xmlns:c="http://schemas.openxmlformats.org/drawingml/2006/chart" r:id="R557296273a914a74"/>
          </a:graphicData>
        </a:graphic>
      </p:graphicFrame>
      <p:sp>
        <p:nvSpPr>
          <p:cNvPr id="9" name="block-325">
            <a:extLst xmlns:a="http://schemas.openxmlformats.org/drawingml/2006/main">
              <a:ext uri="{FF2B5EF4-FFF2-40B4-BE49-F238E27FC236}">
                <a16:creationId xmlns:a16="http://schemas.microsoft.com/office/drawing/2014/main" id="{3C0679C0-0F4B-40EB-9EAA-8474052FB52B}"/>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0" name="block-326">
            <a:extLst xmlns:a="http://schemas.openxmlformats.org/drawingml/2006/main">
              <a:ext uri="{FF2B5EF4-FFF2-40B4-BE49-F238E27FC236}">
                <a16:creationId xmlns:a16="http://schemas.microsoft.com/office/drawing/2014/main" id="{F3B75EB1-F3D8-473B-A1E7-53EB8B4EA00D}"/>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Permutation Importance beschreibt Modellnutzen. Sie belegt keine Ursache.</a:t>
            </a:r>
          </a:p>
        </p:txBody>
      </p:sp>
    </p:spTree>
    <p:extLst>
      <p:ext uri="{BB962C8B-B14F-4D97-AF65-F5344CB8AC3E}">
        <p14:creationId xmlns:p14="http://schemas.microsoft.com/office/powerpoint/2010/main" val="206891123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lock-327">
            <a:extLst xmlns:a="http://schemas.openxmlformats.org/drawingml/2006/main">
              <a:ext uri="{FF2B5EF4-FFF2-40B4-BE49-F238E27FC236}">
                <a16:creationId xmlns:a16="http://schemas.microsoft.com/office/drawing/2014/main" id="{2A7EF0E8-35C7-49DE-ABF6-B1DE060A54EF}"/>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06 / KALIBRIERUNG</a:t>
            </a:r>
          </a:p>
        </p:txBody>
      </p:sp>
      <p:sp>
        <p:nvSpPr>
          <p:cNvPr id="2" name="block-328">
            <a:extLst xmlns:a="http://schemas.openxmlformats.org/drawingml/2006/main">
              <a:ext uri="{FF2B5EF4-FFF2-40B4-BE49-F238E27FC236}">
                <a16:creationId xmlns:a16="http://schemas.microsoft.com/office/drawing/2014/main" id="{0F6C17CB-6FBB-4A72-A14F-6A3FEE840C9C}"/>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q99 setzt die Grenze für einen Prüfhinweis</a:t>
            </a:r>
          </a:p>
        </p:txBody>
      </p:sp>
      <p:sp>
        <p:nvSpPr>
          <p:cNvPr id="3" name="block-329">
            <a:extLst xmlns:a="http://schemas.openxmlformats.org/drawingml/2006/main">
              <a:ext uri="{FF2B5EF4-FFF2-40B4-BE49-F238E27FC236}">
                <a16:creationId xmlns:a16="http://schemas.microsoft.com/office/drawing/2014/main" id="{AED26614-CC39-45F2-A1AD-0865DCCF7EA9}"/>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1.397 absolute Out-of-Fold-Fehler aus November und Dezember 2024.</a:t>
            </a:r>
          </a:p>
        </p:txBody>
      </p:sp>
      <p:sp>
        <p:nvSpPr>
          <p:cNvPr id="4" name="block-330">
            <a:extLst xmlns:a="http://schemas.openxmlformats.org/drawingml/2006/main">
              <a:ext uri="{FF2B5EF4-FFF2-40B4-BE49-F238E27FC236}">
                <a16:creationId xmlns:a16="http://schemas.microsoft.com/office/drawing/2014/main" id="{C163059B-076E-4A7C-8618-225FD4858CD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30e5a2778de4f92"/>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331">
            <a:extLst xmlns:a="http://schemas.openxmlformats.org/drawingml/2006/main">
              <a:ext uri="{FF2B5EF4-FFF2-40B4-BE49-F238E27FC236}">
                <a16:creationId xmlns:a16="http://schemas.microsoft.com/office/drawing/2014/main" id="{2FD3FE66-6651-4C01-BFBE-007BAE1083B5}"/>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332">
            <a:extLst xmlns:a="http://schemas.openxmlformats.org/drawingml/2006/main">
              <a:ext uri="{FF2B5EF4-FFF2-40B4-BE49-F238E27FC236}">
                <a16:creationId xmlns:a16="http://schemas.microsoft.com/office/drawing/2014/main" id="{9530F383-2DD5-4817-B9DD-8CEA1F36FE3A}"/>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19 / 39</a:t>
            </a:r>
          </a:p>
        </p:txBody>
      </p:sp>
      <p:graphicFrame>
        <p:nvGraphicFramePr>
          <p:cNvPr id="21" name="Chart"/>
          <p:cNvGraphicFramePr/>
          <p:nvPr/>
        </p:nvGraphicFramePr>
        <p:xfrm>
          <a:off xmlns:a="http://schemas.openxmlformats.org/drawingml/2006/main" x="514350" y="2371725"/>
          <a:ext xmlns:a="http://schemas.openxmlformats.org/drawingml/2006/main" cx="7962900" cy="3038475"/>
        </p:xfrm>
        <a:graphic xmlns:a="http://schemas.openxmlformats.org/drawingml/2006/main">
          <a:graphicData uri="http://schemas.openxmlformats.org/drawingml/2006/chart">
            <c:chart xmlns:r="http://schemas.openxmlformats.org/officeDocument/2006/relationships" xmlns:c="http://schemas.openxmlformats.org/drawingml/2006/chart" r:id="Raa952ebed0ab4e7e"/>
          </a:graphicData>
        </a:graphic>
      </p:graphicFrame>
      <p:sp>
        <p:nvSpPr>
          <p:cNvPr id="9" name="block-333">
            <a:extLst xmlns:a="http://schemas.openxmlformats.org/drawingml/2006/main">
              <a:ext uri="{FF2B5EF4-FFF2-40B4-BE49-F238E27FC236}">
                <a16:creationId xmlns:a16="http://schemas.microsoft.com/office/drawing/2014/main" id="{276ECB49-68C2-4932-AA1C-1A8D231F63EF}"/>
              </a:ext>
            </a:extLst>
          </p:cNvPr>
          <p:cNvSpPr>
            <a:spLocks xmlns:a="http://schemas.openxmlformats.org/drawingml/2006/main" noGrp="1"/>
          </p:cNvSpPr>
          <p:nvPr/>
        </p:nvSpPr>
        <p:spPr>
          <a:xfrm xmlns:a="http://schemas.openxmlformats.org/drawingml/2006/main">
            <a:off x="8953500" y="2647950"/>
            <a:ext cx="2628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144,4</a:t>
            </a:r>
          </a:p>
        </p:txBody>
      </p:sp>
      <p:sp>
        <p:nvSpPr>
          <p:cNvPr id="10" name="block-334">
            <a:extLst xmlns:a="http://schemas.openxmlformats.org/drawingml/2006/main">
              <a:ext uri="{FF2B5EF4-FFF2-40B4-BE49-F238E27FC236}">
                <a16:creationId xmlns:a16="http://schemas.microsoft.com/office/drawing/2014/main" id="{3663A4A2-7DB1-417F-96A6-5F7AF15181F3}"/>
              </a:ext>
            </a:extLst>
          </p:cNvPr>
          <p:cNvSpPr>
            <a:spLocks xmlns:a="http://schemas.openxmlformats.org/drawingml/2006/main" noGrp="1"/>
          </p:cNvSpPr>
          <p:nvPr/>
        </p:nvSpPr>
        <p:spPr>
          <a:xfrm xmlns:a="http://schemas.openxmlformats.org/drawingml/2006/main">
            <a:off x="8953500" y="3429000"/>
            <a:ext cx="2628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VLS-h</a:t>
            </a:r>
          </a:p>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99. Perzentil</a:t>
            </a:r>
          </a:p>
        </p:txBody>
      </p:sp>
      <p:sp>
        <p:nvSpPr>
          <p:cNvPr id="11" name="block-335">
            <a:extLst xmlns:a="http://schemas.openxmlformats.org/drawingml/2006/main">
              <a:ext uri="{FF2B5EF4-FFF2-40B4-BE49-F238E27FC236}">
                <a16:creationId xmlns:a16="http://schemas.microsoft.com/office/drawing/2014/main" id="{27679BF0-2EC7-41C8-B04E-6EE45A5CE002}"/>
              </a:ext>
            </a:extLst>
          </p:cNvPr>
          <p:cNvSpPr>
            <a:spLocks xmlns:a="http://schemas.openxmlformats.org/drawingml/2006/main" noGrp="1"/>
          </p:cNvSpPr>
          <p:nvPr/>
        </p:nvSpPr>
        <p:spPr>
          <a:xfrm xmlns:a="http://schemas.openxmlformats.org/drawingml/2006/main">
            <a:off x="8953500" y="4552950"/>
            <a:ext cx="26289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A86505"/>
                </a:solidFill>
                <a:latin typeface="IBM Plex Sans"/>
                <a:ea typeface="IBM Plex Sans"/>
                <a:cs typeface="IBM Plex Sans"/>
              </a:defRPr>
            </a:pPr>
            <a:r>
              <a:rPr sz="2100" b="1">
                <a:solidFill>
                  <a:srgbClr val="A86505"/>
                </a:solidFill>
                <a:latin typeface="IBM Plex Sans"/>
                <a:ea typeface="IBM Plex Sans"/>
                <a:cs typeface="IBM Plex Sans"/>
              </a:rPr>
              <a:t>14 von 1.397</a:t>
            </a:r>
          </a:p>
          <a:p xmlns:a="http://schemas.openxmlformats.org/drawingml/2006/main">
            <a:pPr>
              <a:defRPr sz="2100" b="1">
                <a:solidFill>
                  <a:srgbClr val="A86505"/>
                </a:solidFill>
                <a:latin typeface="IBM Plex Sans"/>
                <a:ea typeface="IBM Plex Sans"/>
                <a:cs typeface="IBM Plex Sans"/>
              </a:defRPr>
            </a:pPr>
            <a:r>
              <a:rPr sz="2100" b="1">
                <a:solidFill>
                  <a:srgbClr val="A86505"/>
                </a:solidFill>
                <a:latin typeface="IBM Plex Sans"/>
                <a:ea typeface="IBM Plex Sans"/>
                <a:cs typeface="IBM Plex Sans"/>
              </a:rPr>
              <a:t>Fehlern darüber</a:t>
            </a:r>
          </a:p>
        </p:txBody>
      </p:sp>
      <p:sp>
        <p:nvSpPr>
          <p:cNvPr id="12" name="block-336">
            <a:extLst xmlns:a="http://schemas.openxmlformats.org/drawingml/2006/main">
              <a:ext uri="{FF2B5EF4-FFF2-40B4-BE49-F238E27FC236}">
                <a16:creationId xmlns:a16="http://schemas.microsoft.com/office/drawing/2014/main" id="{C79C37E0-0382-4EBA-9D1C-35C3452930AD}"/>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3" name="block-337">
            <a:extLst xmlns:a="http://schemas.openxmlformats.org/drawingml/2006/main">
              <a:ext uri="{FF2B5EF4-FFF2-40B4-BE49-F238E27FC236}">
                <a16:creationId xmlns:a16="http://schemas.microsoft.com/office/drawing/2014/main" id="{7B3137A8-5FF1-4487-9ED6-4B5F440C9C70}"/>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q99 ist eine konservative Pilotgrenze. Sie liefert keine Defektwahrscheinlichkeit.</a:t>
            </a:r>
          </a:p>
        </p:txBody>
      </p:sp>
    </p:spTree>
    <p:extLst>
      <p:ext uri="{BB962C8B-B14F-4D97-AF65-F5344CB8AC3E}">
        <p14:creationId xmlns:p14="http://schemas.microsoft.com/office/powerpoint/2010/main" val="38126132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block-338">
            <a:extLst xmlns:a="http://schemas.openxmlformats.org/drawingml/2006/main">
              <a:ext uri="{FF2B5EF4-FFF2-40B4-BE49-F238E27FC236}">
                <a16:creationId xmlns:a16="http://schemas.microsoft.com/office/drawing/2014/main" id="{69E13DB8-A276-4043-A911-4D16282D4BC0}"/>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06 / PRÜFVOLUMEN</a:t>
            </a:r>
          </a:p>
        </p:txBody>
      </p:sp>
      <p:sp>
        <p:nvSpPr>
          <p:cNvPr id="2" name="block-339">
            <a:extLst xmlns:a="http://schemas.openxmlformats.org/drawingml/2006/main">
              <a:ext uri="{FF2B5EF4-FFF2-40B4-BE49-F238E27FC236}">
                <a16:creationId xmlns:a16="http://schemas.microsoft.com/office/drawing/2014/main" id="{AFCAC24C-9AEF-4FCF-8C64-F4F55B31A24D}"/>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114 Hinweise im Benchmarkjahr 2025</a:t>
            </a:r>
          </a:p>
        </p:txBody>
      </p:sp>
      <p:sp>
        <p:nvSpPr>
          <p:cNvPr id="3" name="block-340">
            <a:extLst xmlns:a="http://schemas.openxmlformats.org/drawingml/2006/main">
              <a:ext uri="{FF2B5EF4-FFF2-40B4-BE49-F238E27FC236}">
                <a16:creationId xmlns:a16="http://schemas.microsoft.com/office/drawing/2014/main" id="{7F69D1F3-D279-4E87-83AD-E6C4FCCB9E0E}"/>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Die Ende 2024 kalibrierte q99-Grenze bleibt unverändert.</a:t>
            </a:r>
          </a:p>
        </p:txBody>
      </p:sp>
      <p:sp>
        <p:nvSpPr>
          <p:cNvPr id="4" name="block-341">
            <a:extLst xmlns:a="http://schemas.openxmlformats.org/drawingml/2006/main">
              <a:ext uri="{FF2B5EF4-FFF2-40B4-BE49-F238E27FC236}">
                <a16:creationId xmlns:a16="http://schemas.microsoft.com/office/drawing/2014/main" id="{77DF6785-A1BB-4B85-A669-C32C260C6CF1}"/>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26a7fc4093e44ff6"/>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342">
            <a:extLst xmlns:a="http://schemas.openxmlformats.org/drawingml/2006/main">
              <a:ext uri="{FF2B5EF4-FFF2-40B4-BE49-F238E27FC236}">
                <a16:creationId xmlns:a16="http://schemas.microsoft.com/office/drawing/2014/main" id="{F69787CF-885D-416E-980F-7B66B27492D2}"/>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343">
            <a:extLst xmlns:a="http://schemas.openxmlformats.org/drawingml/2006/main">
              <a:ext uri="{FF2B5EF4-FFF2-40B4-BE49-F238E27FC236}">
                <a16:creationId xmlns:a16="http://schemas.microsoft.com/office/drawing/2014/main" id="{7A9242BE-F91B-4BAE-A67E-BDC323CF4398}"/>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20 / 39</a:t>
            </a:r>
          </a:p>
        </p:txBody>
      </p:sp>
      <p:sp>
        <p:nvSpPr>
          <p:cNvPr id="8" name="block-344">
            <a:extLst xmlns:a="http://schemas.openxmlformats.org/drawingml/2006/main">
              <a:ext uri="{FF2B5EF4-FFF2-40B4-BE49-F238E27FC236}">
                <a16:creationId xmlns:a16="http://schemas.microsoft.com/office/drawing/2014/main" id="{05D7B33B-38DC-4D93-8471-7D7C6C43BCC8}"/>
              </a:ext>
            </a:extLst>
          </p:cNvPr>
          <p:cNvSpPr>
            <a:spLocks xmlns:a="http://schemas.openxmlformats.org/drawingml/2006/main" noGrp="1"/>
          </p:cNvSpPr>
          <p:nvPr/>
        </p:nvSpPr>
        <p:spPr>
          <a:xfrm xmlns:a="http://schemas.openxmlformats.org/drawingml/2006/main">
            <a:off x="609600" y="23717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114</a:t>
            </a:r>
          </a:p>
        </p:txBody>
      </p:sp>
      <p:sp>
        <p:nvSpPr>
          <p:cNvPr id="9" name="block-345">
            <a:extLst xmlns:a="http://schemas.openxmlformats.org/drawingml/2006/main">
              <a:ext uri="{FF2B5EF4-FFF2-40B4-BE49-F238E27FC236}">
                <a16:creationId xmlns:a16="http://schemas.microsoft.com/office/drawing/2014/main" id="{4CE04B08-7977-459F-988F-3805A5A4EDB8}"/>
              </a:ext>
            </a:extLst>
          </p:cNvPr>
          <p:cNvSpPr>
            <a:spLocks xmlns:a="http://schemas.openxmlformats.org/drawingml/2006/main" noGrp="1"/>
          </p:cNvSpPr>
          <p:nvPr/>
        </p:nvSpPr>
        <p:spPr>
          <a:xfrm xmlns:a="http://schemas.openxmlformats.org/drawingml/2006/main">
            <a:off x="609600" y="31527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von 8.398 Zähler-Monaten</a:t>
            </a:r>
          </a:p>
        </p:txBody>
      </p:sp>
      <p:sp>
        <p:nvSpPr>
          <p:cNvPr id="10" name="block-346">
            <a:extLst xmlns:a="http://schemas.openxmlformats.org/drawingml/2006/main">
              <a:ext uri="{FF2B5EF4-FFF2-40B4-BE49-F238E27FC236}">
                <a16:creationId xmlns:a16="http://schemas.microsoft.com/office/drawing/2014/main" id="{D27DF3D3-33CD-4850-AC8F-1CE7A8E929EA}"/>
              </a:ext>
            </a:extLst>
          </p:cNvPr>
          <p:cNvSpPr>
            <a:spLocks xmlns:a="http://schemas.openxmlformats.org/drawingml/2006/main" noGrp="1"/>
          </p:cNvSpPr>
          <p:nvPr/>
        </p:nvSpPr>
        <p:spPr>
          <a:xfrm xmlns:a="http://schemas.openxmlformats.org/drawingml/2006/main">
            <a:off x="4562475" y="23717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1,36 %</a:t>
            </a:r>
          </a:p>
        </p:txBody>
      </p:sp>
      <p:sp>
        <p:nvSpPr>
          <p:cNvPr id="11" name="block-347">
            <a:extLst xmlns:a="http://schemas.openxmlformats.org/drawingml/2006/main">
              <a:ext uri="{FF2B5EF4-FFF2-40B4-BE49-F238E27FC236}">
                <a16:creationId xmlns:a16="http://schemas.microsoft.com/office/drawing/2014/main" id="{84A4FD71-3D7C-4B3D-9009-3A2283AB13FE}"/>
              </a:ext>
            </a:extLst>
          </p:cNvPr>
          <p:cNvSpPr>
            <a:spLocks xmlns:a="http://schemas.openxmlformats.org/drawingml/2006/main" noGrp="1"/>
          </p:cNvSpPr>
          <p:nvPr/>
        </p:nvSpPr>
        <p:spPr>
          <a:xfrm xmlns:a="http://schemas.openxmlformats.org/drawingml/2006/main">
            <a:off x="4562475" y="31527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Hinweisquote</a:t>
            </a:r>
          </a:p>
        </p:txBody>
      </p:sp>
      <p:sp>
        <p:nvSpPr>
          <p:cNvPr id="12" name="block-348">
            <a:extLst xmlns:a="http://schemas.openxmlformats.org/drawingml/2006/main">
              <a:ext uri="{FF2B5EF4-FFF2-40B4-BE49-F238E27FC236}">
                <a16:creationId xmlns:a16="http://schemas.microsoft.com/office/drawing/2014/main" id="{479C2562-32E1-4556-8B99-1901E84EF7C7}"/>
              </a:ext>
            </a:extLst>
          </p:cNvPr>
          <p:cNvSpPr>
            <a:spLocks xmlns:a="http://schemas.openxmlformats.org/drawingml/2006/main" noGrp="1"/>
          </p:cNvSpPr>
          <p:nvPr/>
        </p:nvSpPr>
        <p:spPr>
          <a:xfrm xmlns:a="http://schemas.openxmlformats.org/drawingml/2006/main">
            <a:off x="8515350" y="2371725"/>
            <a:ext cx="30670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9,5</a:t>
            </a:r>
          </a:p>
        </p:txBody>
      </p:sp>
      <p:sp>
        <p:nvSpPr>
          <p:cNvPr id="13" name="block-349">
            <a:extLst xmlns:a="http://schemas.openxmlformats.org/drawingml/2006/main">
              <a:ext uri="{FF2B5EF4-FFF2-40B4-BE49-F238E27FC236}">
                <a16:creationId xmlns:a16="http://schemas.microsoft.com/office/drawing/2014/main" id="{5408BF05-6E36-49F8-9FEA-B90A9F24FB10}"/>
              </a:ext>
            </a:extLst>
          </p:cNvPr>
          <p:cNvSpPr>
            <a:spLocks xmlns:a="http://schemas.openxmlformats.org/drawingml/2006/main" noGrp="1"/>
          </p:cNvSpPr>
          <p:nvPr/>
        </p:nvSpPr>
        <p:spPr>
          <a:xfrm xmlns:a="http://schemas.openxmlformats.org/drawingml/2006/main">
            <a:off x="8515350" y="3152775"/>
            <a:ext cx="3067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Hinweise pro Monat</a:t>
            </a:r>
          </a:p>
        </p:txBody>
      </p:sp>
      <p:graphicFrame>
        <p:nvGraphicFramePr>
          <p:cNvPr id="29" name="Chart"/>
          <p:cNvGraphicFramePr/>
          <p:nvPr/>
        </p:nvGraphicFramePr>
        <p:xfrm>
          <a:off xmlns:a="http://schemas.openxmlformats.org/drawingml/2006/main" x="571500" y="4038600"/>
          <a:ext xmlns:a="http://schemas.openxmlformats.org/drawingml/2006/main" cx="11010900" cy="1590675"/>
        </p:xfrm>
        <a:graphic xmlns:a="http://schemas.openxmlformats.org/drawingml/2006/main">
          <a:graphicData uri="http://schemas.openxmlformats.org/drawingml/2006/chart">
            <c:chart xmlns:r="http://schemas.openxmlformats.org/officeDocument/2006/relationships" xmlns:c="http://schemas.openxmlformats.org/drawingml/2006/chart" r:id="R551c95e8f86044e1"/>
          </a:graphicData>
        </a:graphic>
      </p:graphicFrame>
      <p:sp>
        <p:nvSpPr>
          <p:cNvPr id="15" name="block-350">
            <a:extLst xmlns:a="http://schemas.openxmlformats.org/drawingml/2006/main">
              <a:ext uri="{FF2B5EF4-FFF2-40B4-BE49-F238E27FC236}">
                <a16:creationId xmlns:a16="http://schemas.microsoft.com/office/drawing/2014/main" id="{24FAEEA9-1A5D-49EA-99CE-225D0EED945E}"/>
              </a:ext>
            </a:extLst>
          </p:cNvPr>
          <p:cNvSpPr>
            <a:spLocks xmlns:a="http://schemas.openxmlformats.org/drawingml/2006/main" noGrp="1"/>
          </p:cNvSpPr>
          <p:nvPr/>
        </p:nvSpPr>
        <p:spPr>
          <a:xfrm xmlns:a="http://schemas.openxmlformats.org/drawingml/2006/main">
            <a:off x="609600" y="57721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E5A68"/>
                </a:solidFill>
                <a:latin typeface="IBM Plex Sans"/>
                <a:ea typeface="IBM Plex Sans"/>
                <a:cs typeface="IBM Plex Sans"/>
              </a:defRPr>
            </a:pPr>
            <a:r>
              <a:rPr sz="1650" b="0">
                <a:solidFill>
                  <a:srgbClr val="4E5A68"/>
                </a:solidFill>
                <a:latin typeface="IBM Plex Sans"/>
                <a:ea typeface="IBM Plex Sans"/>
                <a:cs typeface="IBM Plex Sans"/>
              </a:rPr>
              <a:t>107 Zähler betroffen. 68 ungewöhnlich hohe und 46 ungewöhnlich niedrige Verbräuche.</a:t>
            </a:r>
          </a:p>
        </p:txBody>
      </p:sp>
    </p:spTree>
    <p:extLst>
      <p:ext uri="{BB962C8B-B14F-4D97-AF65-F5344CB8AC3E}">
        <p14:creationId xmlns:p14="http://schemas.microsoft.com/office/powerpoint/2010/main" val="150185968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block-351">
            <a:extLst xmlns:a="http://schemas.openxmlformats.org/drawingml/2006/main">
              <a:ext uri="{FF2B5EF4-FFF2-40B4-BE49-F238E27FC236}">
                <a16:creationId xmlns:a16="http://schemas.microsoft.com/office/drawing/2014/main" id="{4FC31300-24F5-49EC-A8A0-43C5F51971EB}"/>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06 / FALLBEISPIEL 2025</a:t>
            </a:r>
          </a:p>
        </p:txBody>
      </p:sp>
      <p:sp>
        <p:nvSpPr>
          <p:cNvPr id="2" name="block-352">
            <a:extLst xmlns:a="http://schemas.openxmlformats.org/drawingml/2006/main">
              <a:ext uri="{FF2B5EF4-FFF2-40B4-BE49-F238E27FC236}">
                <a16:creationId xmlns:a16="http://schemas.microsoft.com/office/drawing/2014/main" id="{4F2247DA-9CFE-4F49-A6B7-46C064FB7410}"/>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ZL-00147: August löst eine Prüfung aus</a:t>
            </a:r>
          </a:p>
        </p:txBody>
      </p:sp>
      <p:sp>
        <p:nvSpPr>
          <p:cNvPr id="3" name="block-353">
            <a:extLst xmlns:a="http://schemas.openxmlformats.org/drawingml/2006/main">
              <a:ext uri="{FF2B5EF4-FFF2-40B4-BE49-F238E27FC236}">
                <a16:creationId xmlns:a16="http://schemas.microsoft.com/office/drawing/2014/main" id="{E2B850B0-9FAD-4959-9740-A06C35C68D8A}"/>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49 kW Vertragsleistung. Die q99-Grenze entspricht ±7.073,4 kWh.</a:t>
            </a:r>
          </a:p>
        </p:txBody>
      </p:sp>
      <p:sp>
        <p:nvSpPr>
          <p:cNvPr id="4" name="block-354">
            <a:extLst xmlns:a="http://schemas.openxmlformats.org/drawingml/2006/main">
              <a:ext uri="{FF2B5EF4-FFF2-40B4-BE49-F238E27FC236}">
                <a16:creationId xmlns:a16="http://schemas.microsoft.com/office/drawing/2014/main" id="{43E95650-B2AA-436A-9FC4-1275D669F03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21fff741da0a42b3"/>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355">
            <a:extLst xmlns:a="http://schemas.openxmlformats.org/drawingml/2006/main">
              <a:ext uri="{FF2B5EF4-FFF2-40B4-BE49-F238E27FC236}">
                <a16:creationId xmlns:a16="http://schemas.microsoft.com/office/drawing/2014/main" id="{B06BC410-54D5-4A4B-A0AC-5C94D084824D}"/>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356">
            <a:extLst xmlns:a="http://schemas.openxmlformats.org/drawingml/2006/main">
              <a:ext uri="{FF2B5EF4-FFF2-40B4-BE49-F238E27FC236}">
                <a16:creationId xmlns:a16="http://schemas.microsoft.com/office/drawing/2014/main" id="{1042AB5A-08EE-4C97-90F0-C2E2616E301F}"/>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21 / 39</a:t>
            </a:r>
          </a:p>
        </p:txBody>
      </p:sp>
      <p:graphicFrame>
        <p:nvGraphicFramePr>
          <p:cNvPr id="24" name="Chart"/>
          <p:cNvGraphicFramePr/>
          <p:nvPr/>
        </p:nvGraphicFramePr>
        <p:xfrm>
          <a:off xmlns:a="http://schemas.openxmlformats.org/drawingml/2006/main" x="476250" y="2476500"/>
          <a:ext xmlns:a="http://schemas.openxmlformats.org/drawingml/2006/main" cx="7781925" cy="3028950"/>
        </p:xfrm>
        <a:graphic xmlns:a="http://schemas.openxmlformats.org/drawingml/2006/main">
          <a:graphicData uri="http://schemas.openxmlformats.org/drawingml/2006/chart">
            <c:chart xmlns:r="http://schemas.openxmlformats.org/officeDocument/2006/relationships" xmlns:c="http://schemas.openxmlformats.org/drawingml/2006/chart" r:id="Rd9209147f5f941ae"/>
          </a:graphicData>
        </a:graphic>
      </p:graphicFrame>
      <p:sp>
        <p:nvSpPr>
          <p:cNvPr id="9" name="block-357">
            <a:extLst xmlns:a="http://schemas.openxmlformats.org/drawingml/2006/main">
              <a:ext uri="{FF2B5EF4-FFF2-40B4-BE49-F238E27FC236}">
                <a16:creationId xmlns:a16="http://schemas.microsoft.com/office/drawing/2014/main" id="{1A977848-56EE-486D-B67A-1E0ED58D00FE}"/>
              </a:ext>
            </a:extLst>
          </p:cNvPr>
          <p:cNvSpPr>
            <a:spLocks xmlns:a="http://schemas.openxmlformats.org/drawingml/2006/main" noGrp="1"/>
          </p:cNvSpPr>
          <p:nvPr/>
        </p:nvSpPr>
        <p:spPr>
          <a:xfrm xmlns:a="http://schemas.openxmlformats.org/drawingml/2006/main">
            <a:off x="8715375" y="2514600"/>
            <a:ext cx="2867025" cy="38100"/>
          </a:xfrm>
          <a:prstGeom xmlns:a="http://schemas.openxmlformats.org/drawingml/2006/main" prst="rect">
            <a:avLst/>
          </a:prstGeom>
          <a:solidFill xmlns:a="http://schemas.openxmlformats.org/drawingml/2006/main">
            <a:srgbClr val="B3261E"/>
          </a:solidFill>
          <a:ln xmlns:a="http://schemas.openxmlformats.org/drawingml/2006/main" w="0">
            <a:noFill/>
          </a:ln>
        </p:spPr>
      </p:sp>
      <p:sp>
        <p:nvSpPr>
          <p:cNvPr id="10" name="block-358">
            <a:extLst xmlns:a="http://schemas.openxmlformats.org/drawingml/2006/main">
              <a:ext uri="{FF2B5EF4-FFF2-40B4-BE49-F238E27FC236}">
                <a16:creationId xmlns:a16="http://schemas.microsoft.com/office/drawing/2014/main" id="{8264E091-03EE-4E0C-98BD-D0F809438987}"/>
              </a:ext>
            </a:extLst>
          </p:cNvPr>
          <p:cNvSpPr>
            <a:spLocks xmlns:a="http://schemas.openxmlformats.org/drawingml/2006/main" noGrp="1"/>
          </p:cNvSpPr>
          <p:nvPr/>
        </p:nvSpPr>
        <p:spPr>
          <a:xfrm xmlns:a="http://schemas.openxmlformats.org/drawingml/2006/main">
            <a:off x="8715375" y="2686050"/>
            <a:ext cx="28670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B3261E"/>
                </a:solidFill>
                <a:latin typeface="IBM Plex Sans"/>
                <a:ea typeface="IBM Plex Sans"/>
                <a:cs typeface="IBM Plex Sans"/>
              </a:defRPr>
            </a:pPr>
            <a:r>
              <a:rPr sz="1425" b="1">
                <a:solidFill>
                  <a:srgbClr val="B3261E"/>
                </a:solidFill>
                <a:latin typeface="IBM Plex Sans"/>
                <a:ea typeface="IBM Plex Sans"/>
                <a:cs typeface="IBM Plex Sans"/>
              </a:rPr>
              <a:t>AUGUST 2025</a:t>
            </a:r>
          </a:p>
        </p:txBody>
      </p:sp>
      <p:sp>
        <p:nvSpPr>
          <p:cNvPr id="11" name="block-359">
            <a:extLst xmlns:a="http://schemas.openxmlformats.org/drawingml/2006/main">
              <a:ext uri="{FF2B5EF4-FFF2-40B4-BE49-F238E27FC236}">
                <a16:creationId xmlns:a16="http://schemas.microsoft.com/office/drawing/2014/main" id="{3DBA1A7B-D1C7-4690-BF14-CB5B2F566706}"/>
              </a:ext>
            </a:extLst>
          </p:cNvPr>
          <p:cNvSpPr>
            <a:spLocks xmlns:a="http://schemas.openxmlformats.org/drawingml/2006/main" noGrp="1"/>
          </p:cNvSpPr>
          <p:nvPr/>
        </p:nvSpPr>
        <p:spPr>
          <a:xfrm xmlns:a="http://schemas.openxmlformats.org/drawingml/2006/main">
            <a:off x="8715375" y="3038475"/>
            <a:ext cx="28670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75" b="1">
                <a:solidFill>
                  <a:srgbClr val="B3261E"/>
                </a:solidFill>
                <a:latin typeface="Geist Mono"/>
                <a:ea typeface="Geist Mono"/>
                <a:cs typeface="Geist Mono"/>
              </a:defRPr>
            </a:pPr>
            <a:r>
              <a:rPr sz="4275" b="1">
                <a:solidFill>
                  <a:srgbClr val="B3261E"/>
                </a:solidFill>
                <a:latin typeface="Geist Mono"/>
                <a:ea typeface="Geist Mono"/>
                <a:cs typeface="Geist Mono"/>
              </a:rPr>
              <a:t>+2,30</a:t>
            </a:r>
          </a:p>
        </p:txBody>
      </p:sp>
      <p:sp>
        <p:nvSpPr>
          <p:cNvPr id="12" name="block-360">
            <a:extLst xmlns:a="http://schemas.openxmlformats.org/drawingml/2006/main">
              <a:ext uri="{FF2B5EF4-FFF2-40B4-BE49-F238E27FC236}">
                <a16:creationId xmlns:a16="http://schemas.microsoft.com/office/drawing/2014/main" id="{647103E7-9748-4845-AE91-DE2D46B1756D}"/>
              </a:ext>
            </a:extLst>
          </p:cNvPr>
          <p:cNvSpPr>
            <a:spLocks xmlns:a="http://schemas.openxmlformats.org/drawingml/2006/main" noGrp="1"/>
          </p:cNvSpPr>
          <p:nvPr/>
        </p:nvSpPr>
        <p:spPr>
          <a:xfrm xmlns:a="http://schemas.openxmlformats.org/drawingml/2006/main">
            <a:off x="8715375" y="3800475"/>
            <a:ext cx="28670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1A21"/>
                </a:solidFill>
                <a:latin typeface="IBM Plex Sans"/>
                <a:ea typeface="IBM Plex Sans"/>
                <a:cs typeface="IBM Plex Sans"/>
              </a:defRPr>
            </a:pPr>
            <a:r>
              <a:rPr sz="1875" b="0">
                <a:solidFill>
                  <a:srgbClr val="141A21"/>
                </a:solidFill>
                <a:latin typeface="IBM Plex Sans"/>
                <a:ea typeface="IBM Plex Sans"/>
                <a:cs typeface="IBM Plex Sans"/>
              </a:rPr>
              <a:t>Schwellenfaktor</a:t>
            </a:r>
          </a:p>
          <a:p xmlns:a="http://schemas.openxmlformats.org/drawingml/2006/main">
            <a:pPr>
              <a:defRPr sz="1875" b="0">
                <a:solidFill>
                  <a:srgbClr val="141A21"/>
                </a:solidFill>
                <a:latin typeface="IBM Plex Sans"/>
                <a:ea typeface="IBM Plex Sans"/>
                <a:cs typeface="IBM Plex Sans"/>
              </a:defRPr>
            </a:pPr>
            <a:r>
              <a:rPr sz="1875" b="0">
                <a:solidFill>
                  <a:srgbClr val="141A21"/>
                </a:solidFill>
                <a:latin typeface="IBM Plex Sans"/>
                <a:ea typeface="IBM Plex Sans"/>
                <a:cs typeface="IBM Plex Sans"/>
              </a:rPr>
              <a:t>+16.259,6 kWh Residuum</a:t>
            </a:r>
          </a:p>
        </p:txBody>
      </p:sp>
      <p:sp>
        <p:nvSpPr>
          <p:cNvPr id="13" name="block-361">
            <a:extLst xmlns:a="http://schemas.openxmlformats.org/drawingml/2006/main">
              <a:ext uri="{FF2B5EF4-FFF2-40B4-BE49-F238E27FC236}">
                <a16:creationId xmlns:a16="http://schemas.microsoft.com/office/drawing/2014/main" id="{86841EBF-9DB4-41D5-A3AB-ED6ADAFC19B1}"/>
              </a:ext>
            </a:extLst>
          </p:cNvPr>
          <p:cNvSpPr>
            <a:spLocks xmlns:a="http://schemas.openxmlformats.org/drawingml/2006/main" noGrp="1"/>
          </p:cNvSpPr>
          <p:nvPr/>
        </p:nvSpPr>
        <p:spPr>
          <a:xfrm xmlns:a="http://schemas.openxmlformats.org/drawingml/2006/main">
            <a:off x="8715375" y="4705350"/>
            <a:ext cx="2867025" cy="28575"/>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4" name="block-362">
            <a:extLst xmlns:a="http://schemas.openxmlformats.org/drawingml/2006/main">
              <a:ext uri="{FF2B5EF4-FFF2-40B4-BE49-F238E27FC236}">
                <a16:creationId xmlns:a16="http://schemas.microsoft.com/office/drawing/2014/main" id="{D3EB28F0-AEDF-4CF4-87D6-14F4D91F6C0F}"/>
              </a:ext>
            </a:extLst>
          </p:cNvPr>
          <p:cNvSpPr>
            <a:spLocks xmlns:a="http://schemas.openxmlformats.org/drawingml/2006/main" noGrp="1"/>
          </p:cNvSpPr>
          <p:nvPr/>
        </p:nvSpPr>
        <p:spPr>
          <a:xfrm xmlns:a="http://schemas.openxmlformats.org/drawingml/2006/main">
            <a:off x="8715375" y="4848225"/>
            <a:ext cx="28670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080A0"/>
                </a:solidFill>
                <a:latin typeface="IBM Plex Sans"/>
                <a:ea typeface="IBM Plex Sans"/>
                <a:cs typeface="IBM Plex Sans"/>
              </a:defRPr>
            </a:pPr>
            <a:r>
              <a:rPr sz="1875" b="1">
                <a:solidFill>
                  <a:srgbClr val="0080A0"/>
                </a:solidFill>
                <a:latin typeface="IBM Plex Sans"/>
                <a:ea typeface="IBM Plex Sans"/>
                <a:cs typeface="IBM Plex Sans"/>
              </a:rPr>
              <a:t>SEPTEMBER: −0,68</a:t>
            </a:r>
          </a:p>
        </p:txBody>
      </p:sp>
      <p:sp>
        <p:nvSpPr>
          <p:cNvPr id="15" name="block-363">
            <a:extLst xmlns:a="http://schemas.openxmlformats.org/drawingml/2006/main">
              <a:ext uri="{FF2B5EF4-FFF2-40B4-BE49-F238E27FC236}">
                <a16:creationId xmlns:a16="http://schemas.microsoft.com/office/drawing/2014/main" id="{5B1BCFA7-6194-43F9-B0E4-0D9B5719E3FD}"/>
              </a:ext>
            </a:extLst>
          </p:cNvPr>
          <p:cNvSpPr>
            <a:spLocks xmlns:a="http://schemas.openxmlformats.org/drawingml/2006/main" noGrp="1"/>
          </p:cNvSpPr>
          <p:nvPr/>
        </p:nvSpPr>
        <p:spPr>
          <a:xfrm xmlns:a="http://schemas.openxmlformats.org/drawingml/2006/main">
            <a:off x="8715375" y="5257800"/>
            <a:ext cx="28670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4E5A68"/>
                </a:solidFill>
                <a:latin typeface="IBM Plex Sans"/>
                <a:ea typeface="IBM Plex Sans"/>
                <a:cs typeface="IBM Plex Sans"/>
              </a:defRPr>
            </a:pPr>
            <a:r>
              <a:rPr sz="1800" b="0">
                <a:solidFill>
                  <a:srgbClr val="4E5A68"/>
                </a:solidFill>
                <a:latin typeface="IBM Plex Sans"/>
                <a:ea typeface="IBM Plex Sans"/>
                <a:cs typeface="IBM Plex Sans"/>
              </a:rPr>
              <a:t>Innerhalb der Grenze</a:t>
            </a:r>
          </a:p>
        </p:txBody>
      </p:sp>
      <p:sp>
        <p:nvSpPr>
          <p:cNvPr id="16" name="block-364">
            <a:extLst xmlns:a="http://schemas.openxmlformats.org/drawingml/2006/main">
              <a:ext uri="{FF2B5EF4-FFF2-40B4-BE49-F238E27FC236}">
                <a16:creationId xmlns:a16="http://schemas.microsoft.com/office/drawing/2014/main" id="{80D304BE-E784-47C4-BC08-1AA21169F635}"/>
              </a:ext>
            </a:extLst>
          </p:cNvPr>
          <p:cNvSpPr>
            <a:spLocks xmlns:a="http://schemas.openxmlformats.org/drawingml/2006/main" noGrp="1"/>
          </p:cNvSpPr>
          <p:nvPr/>
        </p:nvSpPr>
        <p:spPr>
          <a:xfrm xmlns:a="http://schemas.openxmlformats.org/drawingml/2006/main">
            <a:off x="609600" y="5762625"/>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63659"/>
                </a:solidFill>
                <a:latin typeface="IBM Plex Sans"/>
                <a:ea typeface="IBM Plex Sans"/>
                <a:cs typeface="IBM Plex Sans"/>
              </a:defRPr>
            </a:pPr>
            <a:r>
              <a:rPr sz="1650" b="0">
                <a:solidFill>
                  <a:srgbClr val="063659"/>
                </a:solidFill>
                <a:latin typeface="IBM Plex Sans"/>
                <a:ea typeface="IBM Plex Sans"/>
                <a:cs typeface="IBM Plex Sans"/>
              </a:rPr>
              <a:t>Faktor = VLS-Residuum ÷ 144,3547. Ein Betrag ≥ 1 erzeugt einen Prüfhinweis.</a:t>
            </a:r>
          </a:p>
        </p:txBody>
      </p:sp>
    </p:spTree>
    <p:extLst>
      <p:ext uri="{BB962C8B-B14F-4D97-AF65-F5344CB8AC3E}">
        <p14:creationId xmlns:p14="http://schemas.microsoft.com/office/powerpoint/2010/main" val="34302405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block-365">
            <a:extLst xmlns:a="http://schemas.openxmlformats.org/drawingml/2006/main">
              <a:ext uri="{FF2B5EF4-FFF2-40B4-BE49-F238E27FC236}">
                <a16:creationId xmlns:a16="http://schemas.microsoft.com/office/drawing/2014/main" id="{F6C7E722-D900-409E-9319-109D643D0521}"/>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06 / FACHLICHER PROZESS</a:t>
            </a:r>
          </a:p>
        </p:txBody>
      </p:sp>
      <p:sp>
        <p:nvSpPr>
          <p:cNvPr id="2" name="block-366">
            <a:extLst xmlns:a="http://schemas.openxmlformats.org/drawingml/2006/main">
              <a:ext uri="{FF2B5EF4-FFF2-40B4-BE49-F238E27FC236}">
                <a16:creationId xmlns:a16="http://schemas.microsoft.com/office/drawing/2014/main" id="{33734BF4-99B8-41BC-8F6E-31415ACF8A15}"/>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Ein Hinweis wird erst durch Prüfung nützlich</a:t>
            </a:r>
          </a:p>
        </p:txBody>
      </p:sp>
      <p:sp>
        <p:nvSpPr>
          <p:cNvPr id="3" name="block-367">
            <a:extLst xmlns:a="http://schemas.openxmlformats.org/drawingml/2006/main">
              <a:ext uri="{FF2B5EF4-FFF2-40B4-BE49-F238E27FC236}">
                <a16:creationId xmlns:a16="http://schemas.microsoft.com/office/drawing/2014/main" id="{E894354A-8809-4AC2-8F9E-66CB203C76A7}"/>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Das Modell liefert Richtung, Größenordnung und Kontext für die nächste Handlung.</a:t>
            </a:r>
          </a:p>
        </p:txBody>
      </p:sp>
      <p:sp>
        <p:nvSpPr>
          <p:cNvPr id="4" name="block-368">
            <a:extLst xmlns:a="http://schemas.openxmlformats.org/drawingml/2006/main">
              <a:ext uri="{FF2B5EF4-FFF2-40B4-BE49-F238E27FC236}">
                <a16:creationId xmlns:a16="http://schemas.microsoft.com/office/drawing/2014/main" id="{96FE4BA7-C905-4BB2-BD49-254E1ADD456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1ed30f7884c64280"/>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369">
            <a:extLst xmlns:a="http://schemas.openxmlformats.org/drawingml/2006/main">
              <a:ext uri="{FF2B5EF4-FFF2-40B4-BE49-F238E27FC236}">
                <a16:creationId xmlns:a16="http://schemas.microsoft.com/office/drawing/2014/main" id="{5B759D52-C1D1-47FB-A5FE-F192E2BFAA50}"/>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370">
            <a:extLst xmlns:a="http://schemas.openxmlformats.org/drawingml/2006/main">
              <a:ext uri="{FF2B5EF4-FFF2-40B4-BE49-F238E27FC236}">
                <a16:creationId xmlns:a16="http://schemas.microsoft.com/office/drawing/2014/main" id="{09119952-B5E4-41DC-87C4-344793D809D8}"/>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22 / 39</a:t>
            </a:r>
          </a:p>
        </p:txBody>
      </p:sp>
      <p:sp>
        <p:nvSpPr>
          <p:cNvPr id="8" name="block-371">
            <a:extLst xmlns:a="http://schemas.openxmlformats.org/drawingml/2006/main">
              <a:ext uri="{FF2B5EF4-FFF2-40B4-BE49-F238E27FC236}">
                <a16:creationId xmlns:a16="http://schemas.microsoft.com/office/drawing/2014/main" id="{18E0F61C-0DE5-467D-8B15-997C582F9F6C}"/>
              </a:ext>
            </a:extLst>
          </p:cNvPr>
          <p:cNvSpPr>
            <a:spLocks xmlns:a="http://schemas.openxmlformats.org/drawingml/2006/main" noGrp="1"/>
          </p:cNvSpPr>
          <p:nvPr/>
        </p:nvSpPr>
        <p:spPr>
          <a:xfrm xmlns:a="http://schemas.openxmlformats.org/drawingml/2006/main">
            <a:off x="609600" y="2562225"/>
            <a:ext cx="714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01</a:t>
            </a:r>
          </a:p>
        </p:txBody>
      </p:sp>
      <p:sp>
        <p:nvSpPr>
          <p:cNvPr id="9" name="block-372">
            <a:extLst xmlns:a="http://schemas.openxmlformats.org/drawingml/2006/main">
              <a:ext uri="{FF2B5EF4-FFF2-40B4-BE49-F238E27FC236}">
                <a16:creationId xmlns:a16="http://schemas.microsoft.com/office/drawing/2014/main" id="{9BF8C037-66EA-42F4-A8D8-499640762869}"/>
              </a:ext>
            </a:extLst>
          </p:cNvPr>
          <p:cNvSpPr>
            <a:spLocks xmlns:a="http://schemas.openxmlformats.org/drawingml/2006/main" noGrp="1"/>
          </p:cNvSpPr>
          <p:nvPr/>
        </p:nvSpPr>
        <p:spPr>
          <a:xfrm xmlns:a="http://schemas.openxmlformats.org/drawingml/2006/main">
            <a:off x="1514475" y="2562225"/>
            <a:ext cx="3419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63659"/>
                </a:solidFill>
                <a:latin typeface="IBM Plex Sans"/>
                <a:ea typeface="IBM Plex Sans"/>
                <a:cs typeface="IBM Plex Sans"/>
              </a:defRPr>
            </a:pPr>
            <a:r>
              <a:rPr sz="2175" b="1">
                <a:solidFill>
                  <a:srgbClr val="063659"/>
                </a:solidFill>
                <a:latin typeface="IBM Plex Sans"/>
                <a:ea typeface="IBM Plex Sans"/>
                <a:cs typeface="IBM Plex Sans"/>
              </a:rPr>
              <a:t>Messung prüfen</a:t>
            </a:r>
          </a:p>
        </p:txBody>
      </p:sp>
      <p:sp>
        <p:nvSpPr>
          <p:cNvPr id="10" name="block-373">
            <a:extLst xmlns:a="http://schemas.openxmlformats.org/drawingml/2006/main">
              <a:ext uri="{FF2B5EF4-FFF2-40B4-BE49-F238E27FC236}">
                <a16:creationId xmlns:a16="http://schemas.microsoft.com/office/drawing/2014/main" id="{F5AA2F20-02DC-4EC2-A557-016D8EFA22B2}"/>
              </a:ext>
            </a:extLst>
          </p:cNvPr>
          <p:cNvSpPr>
            <a:spLocks xmlns:a="http://schemas.openxmlformats.org/drawingml/2006/main" noGrp="1"/>
          </p:cNvSpPr>
          <p:nvPr/>
        </p:nvSpPr>
        <p:spPr>
          <a:xfrm xmlns:a="http://schemas.openxmlformats.org/drawingml/2006/main">
            <a:off x="5229225" y="2581275"/>
            <a:ext cx="63531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Einheit, Zuordnung, Lücke und Übertragungsfehler.</a:t>
            </a:r>
          </a:p>
        </p:txBody>
      </p:sp>
      <p:sp>
        <p:nvSpPr>
          <p:cNvPr id="11" name="block-374">
            <a:extLst xmlns:a="http://schemas.openxmlformats.org/drawingml/2006/main">
              <a:ext uri="{FF2B5EF4-FFF2-40B4-BE49-F238E27FC236}">
                <a16:creationId xmlns:a16="http://schemas.microsoft.com/office/drawing/2014/main" id="{631959D3-AE1A-414E-BD04-14BDD775B1BE}"/>
              </a:ext>
            </a:extLst>
          </p:cNvPr>
          <p:cNvSpPr>
            <a:spLocks xmlns:a="http://schemas.openxmlformats.org/drawingml/2006/main" noGrp="1"/>
          </p:cNvSpPr>
          <p:nvPr/>
        </p:nvSpPr>
        <p:spPr>
          <a:xfrm xmlns:a="http://schemas.openxmlformats.org/drawingml/2006/main">
            <a:off x="1514475" y="3114675"/>
            <a:ext cx="1006792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2" name="block-375">
            <a:extLst xmlns:a="http://schemas.openxmlformats.org/drawingml/2006/main">
              <a:ext uri="{FF2B5EF4-FFF2-40B4-BE49-F238E27FC236}">
                <a16:creationId xmlns:a16="http://schemas.microsoft.com/office/drawing/2014/main" id="{EB076FCA-6EAA-47CC-BFE1-D3BC5825D9D8}"/>
              </a:ext>
            </a:extLst>
          </p:cNvPr>
          <p:cNvSpPr>
            <a:spLocks xmlns:a="http://schemas.openxmlformats.org/drawingml/2006/main" noGrp="1"/>
          </p:cNvSpPr>
          <p:nvPr/>
        </p:nvSpPr>
        <p:spPr>
          <a:xfrm xmlns:a="http://schemas.openxmlformats.org/drawingml/2006/main">
            <a:off x="609600" y="3257550"/>
            <a:ext cx="714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02</a:t>
            </a:r>
          </a:p>
        </p:txBody>
      </p:sp>
      <p:sp>
        <p:nvSpPr>
          <p:cNvPr id="13" name="block-376">
            <a:extLst xmlns:a="http://schemas.openxmlformats.org/drawingml/2006/main">
              <a:ext uri="{FF2B5EF4-FFF2-40B4-BE49-F238E27FC236}">
                <a16:creationId xmlns:a16="http://schemas.microsoft.com/office/drawing/2014/main" id="{7A3A6EB8-B290-47B7-AE8D-46569529CED9}"/>
              </a:ext>
            </a:extLst>
          </p:cNvPr>
          <p:cNvSpPr>
            <a:spLocks xmlns:a="http://schemas.openxmlformats.org/drawingml/2006/main" noGrp="1"/>
          </p:cNvSpPr>
          <p:nvPr/>
        </p:nvSpPr>
        <p:spPr>
          <a:xfrm xmlns:a="http://schemas.openxmlformats.org/drawingml/2006/main">
            <a:off x="1514475" y="3257550"/>
            <a:ext cx="3419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63659"/>
                </a:solidFill>
                <a:latin typeface="IBM Plex Sans"/>
                <a:ea typeface="IBM Plex Sans"/>
                <a:cs typeface="IBM Plex Sans"/>
              </a:defRPr>
            </a:pPr>
            <a:r>
              <a:rPr sz="2175" b="1">
                <a:solidFill>
                  <a:srgbClr val="063659"/>
                </a:solidFill>
                <a:latin typeface="IBM Plex Sans"/>
                <a:ea typeface="IBM Plex Sans"/>
                <a:cs typeface="IBM Plex Sans"/>
              </a:rPr>
              <a:t>Kontext verstehen</a:t>
            </a:r>
          </a:p>
        </p:txBody>
      </p:sp>
      <p:sp>
        <p:nvSpPr>
          <p:cNvPr id="14" name="block-377">
            <a:extLst xmlns:a="http://schemas.openxmlformats.org/drawingml/2006/main">
              <a:ext uri="{FF2B5EF4-FFF2-40B4-BE49-F238E27FC236}">
                <a16:creationId xmlns:a16="http://schemas.microsoft.com/office/drawing/2014/main" id="{C5201E30-48CF-4AF9-9160-C6E77DD1052C}"/>
              </a:ext>
            </a:extLst>
          </p:cNvPr>
          <p:cNvSpPr>
            <a:spLocks xmlns:a="http://schemas.openxmlformats.org/drawingml/2006/main" noGrp="1"/>
          </p:cNvSpPr>
          <p:nvPr/>
        </p:nvSpPr>
        <p:spPr>
          <a:xfrm xmlns:a="http://schemas.openxmlformats.org/drawingml/2006/main">
            <a:off x="5229225" y="3276600"/>
            <a:ext cx="63531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Produktion, Wartung und besondere Ereignisse.</a:t>
            </a:r>
          </a:p>
        </p:txBody>
      </p:sp>
      <p:sp>
        <p:nvSpPr>
          <p:cNvPr id="15" name="block-378">
            <a:extLst xmlns:a="http://schemas.openxmlformats.org/drawingml/2006/main">
              <a:ext uri="{FF2B5EF4-FFF2-40B4-BE49-F238E27FC236}">
                <a16:creationId xmlns:a16="http://schemas.microsoft.com/office/drawing/2014/main" id="{D5CB4AB3-AE94-416B-881C-B9970790A119}"/>
              </a:ext>
            </a:extLst>
          </p:cNvPr>
          <p:cNvSpPr>
            <a:spLocks xmlns:a="http://schemas.openxmlformats.org/drawingml/2006/main" noGrp="1"/>
          </p:cNvSpPr>
          <p:nvPr/>
        </p:nvSpPr>
        <p:spPr>
          <a:xfrm xmlns:a="http://schemas.openxmlformats.org/drawingml/2006/main">
            <a:off x="1514475" y="3810000"/>
            <a:ext cx="1006792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6" name="block-379">
            <a:extLst xmlns:a="http://schemas.openxmlformats.org/drawingml/2006/main">
              <a:ext uri="{FF2B5EF4-FFF2-40B4-BE49-F238E27FC236}">
                <a16:creationId xmlns:a16="http://schemas.microsoft.com/office/drawing/2014/main" id="{86D7A988-2468-4D25-AC03-A6C1A53920CC}"/>
              </a:ext>
            </a:extLst>
          </p:cNvPr>
          <p:cNvSpPr>
            <a:spLocks xmlns:a="http://schemas.openxmlformats.org/drawingml/2006/main" noGrp="1"/>
          </p:cNvSpPr>
          <p:nvPr/>
        </p:nvSpPr>
        <p:spPr>
          <a:xfrm xmlns:a="http://schemas.openxmlformats.org/drawingml/2006/main">
            <a:off x="609600" y="3952875"/>
            <a:ext cx="714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03</a:t>
            </a:r>
          </a:p>
        </p:txBody>
      </p:sp>
      <p:sp>
        <p:nvSpPr>
          <p:cNvPr id="17" name="block-380">
            <a:extLst xmlns:a="http://schemas.openxmlformats.org/drawingml/2006/main">
              <a:ext uri="{FF2B5EF4-FFF2-40B4-BE49-F238E27FC236}">
                <a16:creationId xmlns:a16="http://schemas.microsoft.com/office/drawing/2014/main" id="{5A185811-035A-4823-A4B6-982CD60F20F6}"/>
              </a:ext>
            </a:extLst>
          </p:cNvPr>
          <p:cNvSpPr>
            <a:spLocks xmlns:a="http://schemas.openxmlformats.org/drawingml/2006/main" noGrp="1"/>
          </p:cNvSpPr>
          <p:nvPr/>
        </p:nvSpPr>
        <p:spPr>
          <a:xfrm xmlns:a="http://schemas.openxmlformats.org/drawingml/2006/main">
            <a:off x="1514475" y="3952875"/>
            <a:ext cx="3419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63659"/>
                </a:solidFill>
                <a:latin typeface="IBM Plex Sans"/>
                <a:ea typeface="IBM Plex Sans"/>
                <a:cs typeface="IBM Plex Sans"/>
              </a:defRPr>
            </a:pPr>
            <a:r>
              <a:rPr sz="2175" b="1">
                <a:solidFill>
                  <a:srgbClr val="063659"/>
                </a:solidFill>
                <a:latin typeface="IBM Plex Sans"/>
                <a:ea typeface="IBM Plex Sans"/>
                <a:cs typeface="IBM Plex Sans"/>
              </a:rPr>
              <a:t>Ursache klären</a:t>
            </a:r>
          </a:p>
        </p:txBody>
      </p:sp>
      <p:sp>
        <p:nvSpPr>
          <p:cNvPr id="18" name="block-381">
            <a:extLst xmlns:a="http://schemas.openxmlformats.org/drawingml/2006/main">
              <a:ext uri="{FF2B5EF4-FFF2-40B4-BE49-F238E27FC236}">
                <a16:creationId xmlns:a16="http://schemas.microsoft.com/office/drawing/2014/main" id="{FE54A31B-305C-412A-BC1D-F7FEEBAE0845}"/>
              </a:ext>
            </a:extLst>
          </p:cNvPr>
          <p:cNvSpPr>
            <a:spLocks xmlns:a="http://schemas.openxmlformats.org/drawingml/2006/main" noGrp="1"/>
          </p:cNvSpPr>
          <p:nvPr/>
        </p:nvSpPr>
        <p:spPr>
          <a:xfrm xmlns:a="http://schemas.openxmlformats.org/drawingml/2006/main">
            <a:off x="5229225" y="3971925"/>
            <a:ext cx="63531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Fachbereich entscheidet über weitere Maßnahmen.</a:t>
            </a:r>
          </a:p>
        </p:txBody>
      </p:sp>
      <p:sp>
        <p:nvSpPr>
          <p:cNvPr id="19" name="block-382">
            <a:extLst xmlns:a="http://schemas.openxmlformats.org/drawingml/2006/main">
              <a:ext uri="{FF2B5EF4-FFF2-40B4-BE49-F238E27FC236}">
                <a16:creationId xmlns:a16="http://schemas.microsoft.com/office/drawing/2014/main" id="{5C1592D5-EFCA-4FA3-ACCF-C57BD0C7666E}"/>
              </a:ext>
            </a:extLst>
          </p:cNvPr>
          <p:cNvSpPr>
            <a:spLocks xmlns:a="http://schemas.openxmlformats.org/drawingml/2006/main" noGrp="1"/>
          </p:cNvSpPr>
          <p:nvPr/>
        </p:nvSpPr>
        <p:spPr>
          <a:xfrm xmlns:a="http://schemas.openxmlformats.org/drawingml/2006/main">
            <a:off x="1514475" y="4505325"/>
            <a:ext cx="1006792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0" name="block-383">
            <a:extLst xmlns:a="http://schemas.openxmlformats.org/drawingml/2006/main">
              <a:ext uri="{FF2B5EF4-FFF2-40B4-BE49-F238E27FC236}">
                <a16:creationId xmlns:a16="http://schemas.microsoft.com/office/drawing/2014/main" id="{3B3E634D-023B-4B81-82DA-F5974A895E46}"/>
              </a:ext>
            </a:extLst>
          </p:cNvPr>
          <p:cNvSpPr>
            <a:spLocks xmlns:a="http://schemas.openxmlformats.org/drawingml/2006/main" noGrp="1"/>
          </p:cNvSpPr>
          <p:nvPr/>
        </p:nvSpPr>
        <p:spPr>
          <a:xfrm xmlns:a="http://schemas.openxmlformats.org/drawingml/2006/main">
            <a:off x="609600" y="4648200"/>
            <a:ext cx="714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04</a:t>
            </a:r>
          </a:p>
        </p:txBody>
      </p:sp>
      <p:sp>
        <p:nvSpPr>
          <p:cNvPr id="21" name="block-384">
            <a:extLst xmlns:a="http://schemas.openxmlformats.org/drawingml/2006/main">
              <a:ext uri="{FF2B5EF4-FFF2-40B4-BE49-F238E27FC236}">
                <a16:creationId xmlns:a16="http://schemas.microsoft.com/office/drawing/2014/main" id="{AFDE7269-6003-429C-8070-F0E2F58EEDE0}"/>
              </a:ext>
            </a:extLst>
          </p:cNvPr>
          <p:cNvSpPr>
            <a:spLocks xmlns:a="http://schemas.openxmlformats.org/drawingml/2006/main" noGrp="1"/>
          </p:cNvSpPr>
          <p:nvPr/>
        </p:nvSpPr>
        <p:spPr>
          <a:xfrm xmlns:a="http://schemas.openxmlformats.org/drawingml/2006/main">
            <a:off x="1514475" y="4648200"/>
            <a:ext cx="3419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63659"/>
                </a:solidFill>
                <a:latin typeface="IBM Plex Sans"/>
                <a:ea typeface="IBM Plex Sans"/>
                <a:cs typeface="IBM Plex Sans"/>
              </a:defRPr>
            </a:pPr>
            <a:r>
              <a:rPr sz="2175" b="1">
                <a:solidFill>
                  <a:srgbClr val="063659"/>
                </a:solidFill>
                <a:latin typeface="IBM Plex Sans"/>
                <a:ea typeface="IBM Plex Sans"/>
                <a:cs typeface="IBM Plex Sans"/>
              </a:rPr>
              <a:t>Ergebnis festhalten</a:t>
            </a:r>
          </a:p>
        </p:txBody>
      </p:sp>
      <p:sp>
        <p:nvSpPr>
          <p:cNvPr id="22" name="block-385">
            <a:extLst xmlns:a="http://schemas.openxmlformats.org/drawingml/2006/main">
              <a:ext uri="{FF2B5EF4-FFF2-40B4-BE49-F238E27FC236}">
                <a16:creationId xmlns:a16="http://schemas.microsoft.com/office/drawing/2014/main" id="{B75D4533-8D37-43C8-8698-B1C42D9404E5}"/>
              </a:ext>
            </a:extLst>
          </p:cNvPr>
          <p:cNvSpPr>
            <a:spLocks xmlns:a="http://schemas.openxmlformats.org/drawingml/2006/main" noGrp="1"/>
          </p:cNvSpPr>
          <p:nvPr/>
        </p:nvSpPr>
        <p:spPr>
          <a:xfrm xmlns:a="http://schemas.openxmlformats.org/drawingml/2006/main">
            <a:off x="5229225" y="4667250"/>
            <a:ext cx="63531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Begründung und Label als Lernsignal speichern.</a:t>
            </a:r>
          </a:p>
        </p:txBody>
      </p:sp>
      <p:sp>
        <p:nvSpPr>
          <p:cNvPr id="23" name="block-386">
            <a:extLst xmlns:a="http://schemas.openxmlformats.org/drawingml/2006/main">
              <a:ext uri="{FF2B5EF4-FFF2-40B4-BE49-F238E27FC236}">
                <a16:creationId xmlns:a16="http://schemas.microsoft.com/office/drawing/2014/main" id="{74DE6CD8-150C-46FA-8812-E17F9271D446}"/>
              </a:ext>
            </a:extLst>
          </p:cNvPr>
          <p:cNvSpPr>
            <a:spLocks xmlns:a="http://schemas.openxmlformats.org/drawingml/2006/main" noGrp="1"/>
          </p:cNvSpPr>
          <p:nvPr/>
        </p:nvSpPr>
        <p:spPr>
          <a:xfrm xmlns:a="http://schemas.openxmlformats.org/drawingml/2006/main">
            <a:off x="1514475" y="5200650"/>
            <a:ext cx="1006792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4" name="block-387">
            <a:extLst xmlns:a="http://schemas.openxmlformats.org/drawingml/2006/main">
              <a:ext uri="{FF2B5EF4-FFF2-40B4-BE49-F238E27FC236}">
                <a16:creationId xmlns:a16="http://schemas.microsoft.com/office/drawing/2014/main" id="{528CC958-C59D-45FA-9FDD-AC4D81649DEA}"/>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5" name="block-388">
            <a:extLst xmlns:a="http://schemas.openxmlformats.org/drawingml/2006/main">
              <a:ext uri="{FF2B5EF4-FFF2-40B4-BE49-F238E27FC236}">
                <a16:creationId xmlns:a16="http://schemas.microsoft.com/office/drawing/2014/main" id="{A9123D94-C96F-4718-B963-F186725F028A}"/>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Auch eine plausible Abweichung ist ein wertvolles dokumentiertes Ergebnis.</a:t>
            </a:r>
          </a:p>
        </p:txBody>
      </p:sp>
    </p:spTree>
    <p:extLst>
      <p:ext uri="{BB962C8B-B14F-4D97-AF65-F5344CB8AC3E}">
        <p14:creationId xmlns:p14="http://schemas.microsoft.com/office/powerpoint/2010/main" val="166793225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block-389">
            <a:extLst xmlns:a="http://schemas.openxmlformats.org/drawingml/2006/main">
              <a:ext uri="{FF2B5EF4-FFF2-40B4-BE49-F238E27FC236}">
                <a16:creationId xmlns:a16="http://schemas.microsoft.com/office/drawing/2014/main" id="{8B0E6280-10D4-4778-96CA-8EE5329F6AA2}"/>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06 / GRENZEN &amp; VERANTWORTUNG</a:t>
            </a:r>
          </a:p>
        </p:txBody>
      </p:sp>
      <p:sp>
        <p:nvSpPr>
          <p:cNvPr id="2" name="block-390">
            <a:extLst xmlns:a="http://schemas.openxmlformats.org/drawingml/2006/main">
              <a:ext uri="{FF2B5EF4-FFF2-40B4-BE49-F238E27FC236}">
                <a16:creationId xmlns:a16="http://schemas.microsoft.com/office/drawing/2014/main" id="{E5858AF0-1181-4D52-9C49-328D10754A74}"/>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Drei Grenzen bestimmen den nächsten Schritt</a:t>
            </a:r>
          </a:p>
        </p:txBody>
      </p:sp>
      <p:sp>
        <p:nvSpPr>
          <p:cNvPr id="3" name="block-391">
            <a:extLst xmlns:a="http://schemas.openxmlformats.org/drawingml/2006/main">
              <a:ext uri="{FF2B5EF4-FFF2-40B4-BE49-F238E27FC236}">
                <a16:creationId xmlns:a16="http://schemas.microsoft.com/office/drawing/2014/main" id="{2AB11990-8E4B-4249-808A-6215C8D34BB9}"/>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Modellqualität, Datenverfügbarkeit und menschliche Entscheidung gehören zusammen.</a:t>
            </a:r>
          </a:p>
        </p:txBody>
      </p:sp>
      <p:sp>
        <p:nvSpPr>
          <p:cNvPr id="4" name="block-392">
            <a:extLst xmlns:a="http://schemas.openxmlformats.org/drawingml/2006/main">
              <a:ext uri="{FF2B5EF4-FFF2-40B4-BE49-F238E27FC236}">
                <a16:creationId xmlns:a16="http://schemas.microsoft.com/office/drawing/2014/main" id="{BA682DE8-736F-442A-BA4C-4DC38919D89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02eeb5bc39d64b3f"/>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393">
            <a:extLst xmlns:a="http://schemas.openxmlformats.org/drawingml/2006/main">
              <a:ext uri="{FF2B5EF4-FFF2-40B4-BE49-F238E27FC236}">
                <a16:creationId xmlns:a16="http://schemas.microsoft.com/office/drawing/2014/main" id="{569CDA53-81C3-463B-ABDA-339527F77FA1}"/>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394">
            <a:extLst xmlns:a="http://schemas.openxmlformats.org/drawingml/2006/main">
              <a:ext uri="{FF2B5EF4-FFF2-40B4-BE49-F238E27FC236}">
                <a16:creationId xmlns:a16="http://schemas.microsoft.com/office/drawing/2014/main" id="{30CF05E9-812E-4A65-8DBB-E12BB00A2E05}"/>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23 / 39</a:t>
            </a:r>
          </a:p>
        </p:txBody>
      </p:sp>
      <p:sp>
        <p:nvSpPr>
          <p:cNvPr id="8" name="block-395">
            <a:extLst xmlns:a="http://schemas.openxmlformats.org/drawingml/2006/main">
              <a:ext uri="{FF2B5EF4-FFF2-40B4-BE49-F238E27FC236}">
                <a16:creationId xmlns:a16="http://schemas.microsoft.com/office/drawing/2014/main" id="{8527FD34-C717-4F90-9DC5-FE4C738CBD58}"/>
              </a:ext>
            </a:extLst>
          </p:cNvPr>
          <p:cNvSpPr>
            <a:spLocks xmlns:a="http://schemas.openxmlformats.org/drawingml/2006/main" noGrp="1"/>
          </p:cNvSpPr>
          <p:nvPr/>
        </p:nvSpPr>
        <p:spPr>
          <a:xfrm xmlns:a="http://schemas.openxmlformats.org/drawingml/2006/main">
            <a:off x="609600" y="2657475"/>
            <a:ext cx="3286125" cy="38100"/>
          </a:xfrm>
          <a:prstGeom xmlns:a="http://schemas.openxmlformats.org/drawingml/2006/main" prst="rect">
            <a:avLst/>
          </a:prstGeom>
          <a:solidFill xmlns:a="http://schemas.openxmlformats.org/drawingml/2006/main">
            <a:srgbClr val="A86505"/>
          </a:solidFill>
          <a:ln xmlns:a="http://schemas.openxmlformats.org/drawingml/2006/main" w="0">
            <a:noFill/>
          </a:ln>
        </p:spPr>
      </p:sp>
      <p:sp>
        <p:nvSpPr>
          <p:cNvPr id="9" name="block-396">
            <a:extLst xmlns:a="http://schemas.openxmlformats.org/drawingml/2006/main">
              <a:ext uri="{FF2B5EF4-FFF2-40B4-BE49-F238E27FC236}">
                <a16:creationId xmlns:a16="http://schemas.microsoft.com/office/drawing/2014/main" id="{FB0599F8-5514-40BC-9216-A400B0BAB9DD}"/>
              </a:ext>
            </a:extLst>
          </p:cNvPr>
          <p:cNvSpPr>
            <a:spLocks xmlns:a="http://schemas.openxmlformats.org/drawingml/2006/main" noGrp="1"/>
          </p:cNvSpPr>
          <p:nvPr/>
        </p:nvSpPr>
        <p:spPr>
          <a:xfrm xmlns:a="http://schemas.openxmlformats.org/drawingml/2006/main">
            <a:off x="609600" y="3057525"/>
            <a:ext cx="333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063659"/>
                </a:solidFill>
                <a:latin typeface="IBM Plex Sans"/>
                <a:ea typeface="IBM Plex Sans"/>
                <a:cs typeface="IBM Plex Sans"/>
              </a:defRPr>
            </a:pPr>
            <a:r>
              <a:rPr sz="2475" b="1">
                <a:solidFill>
                  <a:srgbClr val="063659"/>
                </a:solidFill>
                <a:latin typeface="IBM Plex Sans"/>
                <a:ea typeface="IBM Plex Sans"/>
                <a:cs typeface="IBM Plex Sans"/>
              </a:rPr>
              <a:t>Qualität</a:t>
            </a:r>
          </a:p>
        </p:txBody>
      </p:sp>
      <p:sp>
        <p:nvSpPr>
          <p:cNvPr id="10" name="block-397">
            <a:extLst xmlns:a="http://schemas.openxmlformats.org/drawingml/2006/main">
              <a:ext uri="{FF2B5EF4-FFF2-40B4-BE49-F238E27FC236}">
                <a16:creationId xmlns:a16="http://schemas.microsoft.com/office/drawing/2014/main" id="{11C5E259-C4B4-408E-A0D9-9BC3FA9E99BB}"/>
              </a:ext>
            </a:extLst>
          </p:cNvPr>
          <p:cNvSpPr>
            <a:spLocks xmlns:a="http://schemas.openxmlformats.org/drawingml/2006/main" noGrp="1"/>
          </p:cNvSpPr>
          <p:nvPr/>
        </p:nvSpPr>
        <p:spPr>
          <a:xfrm xmlns:a="http://schemas.openxmlformats.org/drawingml/2006/main">
            <a:off x="609600" y="3800475"/>
            <a:ext cx="3333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Labels fehlen.</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Winterkalibrierung ist</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eine Pilotannahme.</a:t>
            </a:r>
          </a:p>
        </p:txBody>
      </p:sp>
      <p:sp>
        <p:nvSpPr>
          <p:cNvPr id="11" name="block-398">
            <a:extLst xmlns:a="http://schemas.openxmlformats.org/drawingml/2006/main">
              <a:ext uri="{FF2B5EF4-FFF2-40B4-BE49-F238E27FC236}">
                <a16:creationId xmlns:a16="http://schemas.microsoft.com/office/drawing/2014/main" id="{494A6182-DB7A-4E93-ADFE-27E98E1BAA24}"/>
              </a:ext>
            </a:extLst>
          </p:cNvPr>
          <p:cNvSpPr>
            <a:spLocks xmlns:a="http://schemas.openxmlformats.org/drawingml/2006/main" noGrp="1"/>
          </p:cNvSpPr>
          <p:nvPr/>
        </p:nvSpPr>
        <p:spPr>
          <a:xfrm xmlns:a="http://schemas.openxmlformats.org/drawingml/2006/main">
            <a:off x="4362450" y="2657475"/>
            <a:ext cx="3286125"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2" name="block-399">
            <a:extLst xmlns:a="http://schemas.openxmlformats.org/drawingml/2006/main">
              <a:ext uri="{FF2B5EF4-FFF2-40B4-BE49-F238E27FC236}">
                <a16:creationId xmlns:a16="http://schemas.microsoft.com/office/drawing/2014/main" id="{1626051E-D250-4A1C-B645-1D892C84CDC1}"/>
              </a:ext>
            </a:extLst>
          </p:cNvPr>
          <p:cNvSpPr>
            <a:spLocks xmlns:a="http://schemas.openxmlformats.org/drawingml/2006/main" noGrp="1"/>
          </p:cNvSpPr>
          <p:nvPr/>
        </p:nvSpPr>
        <p:spPr>
          <a:xfrm xmlns:a="http://schemas.openxmlformats.org/drawingml/2006/main">
            <a:off x="4362450" y="3057525"/>
            <a:ext cx="333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063659"/>
                </a:solidFill>
                <a:latin typeface="IBM Plex Sans"/>
                <a:ea typeface="IBM Plex Sans"/>
                <a:cs typeface="IBM Plex Sans"/>
              </a:defRPr>
            </a:pPr>
            <a:r>
              <a:rPr sz="2475" b="1">
                <a:solidFill>
                  <a:srgbClr val="063659"/>
                </a:solidFill>
                <a:latin typeface="IBM Plex Sans"/>
                <a:ea typeface="IBM Plex Sans"/>
                <a:cs typeface="IBM Plex Sans"/>
              </a:rPr>
              <a:t>Verfügbarkeit</a:t>
            </a:r>
          </a:p>
        </p:txBody>
      </p:sp>
      <p:sp>
        <p:nvSpPr>
          <p:cNvPr id="13" name="block-400">
            <a:extLst xmlns:a="http://schemas.openxmlformats.org/drawingml/2006/main">
              <a:ext uri="{FF2B5EF4-FFF2-40B4-BE49-F238E27FC236}">
                <a16:creationId xmlns:a16="http://schemas.microsoft.com/office/drawing/2014/main" id="{C60B61A5-3877-4267-A233-AB7959960F4B}"/>
              </a:ext>
            </a:extLst>
          </p:cNvPr>
          <p:cNvSpPr>
            <a:spLocks xmlns:a="http://schemas.openxmlformats.org/drawingml/2006/main" noGrp="1"/>
          </p:cNvSpPr>
          <p:nvPr/>
        </p:nvSpPr>
        <p:spPr>
          <a:xfrm xmlns:a="http://schemas.openxmlformats.org/drawingml/2006/main">
            <a:off x="4362450" y="3800475"/>
            <a:ext cx="3333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Plan- und Wetterwerte</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müssen zum Prognose-</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zeitpunkt vorliegen.</a:t>
            </a:r>
          </a:p>
        </p:txBody>
      </p:sp>
      <p:sp>
        <p:nvSpPr>
          <p:cNvPr id="14" name="block-401">
            <a:extLst xmlns:a="http://schemas.openxmlformats.org/drawingml/2006/main">
              <a:ext uri="{FF2B5EF4-FFF2-40B4-BE49-F238E27FC236}">
                <a16:creationId xmlns:a16="http://schemas.microsoft.com/office/drawing/2014/main" id="{074B1210-9287-418C-A262-116735B0EC6F}"/>
              </a:ext>
            </a:extLst>
          </p:cNvPr>
          <p:cNvSpPr>
            <a:spLocks xmlns:a="http://schemas.openxmlformats.org/drawingml/2006/main" noGrp="1"/>
          </p:cNvSpPr>
          <p:nvPr/>
        </p:nvSpPr>
        <p:spPr>
          <a:xfrm xmlns:a="http://schemas.openxmlformats.org/drawingml/2006/main">
            <a:off x="8115300" y="2657475"/>
            <a:ext cx="3286125"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5" name="block-402">
            <a:extLst xmlns:a="http://schemas.openxmlformats.org/drawingml/2006/main">
              <a:ext uri="{FF2B5EF4-FFF2-40B4-BE49-F238E27FC236}">
                <a16:creationId xmlns:a16="http://schemas.microsoft.com/office/drawing/2014/main" id="{05448779-7355-48BD-B66E-143E072CF69E}"/>
              </a:ext>
            </a:extLst>
          </p:cNvPr>
          <p:cNvSpPr>
            <a:spLocks xmlns:a="http://schemas.openxmlformats.org/drawingml/2006/main" noGrp="1"/>
          </p:cNvSpPr>
          <p:nvPr/>
        </p:nvSpPr>
        <p:spPr>
          <a:xfrm xmlns:a="http://schemas.openxmlformats.org/drawingml/2006/main">
            <a:off x="8115300" y="3057525"/>
            <a:ext cx="333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063659"/>
                </a:solidFill>
                <a:latin typeface="IBM Plex Sans"/>
                <a:ea typeface="IBM Plex Sans"/>
                <a:cs typeface="IBM Plex Sans"/>
              </a:defRPr>
            </a:pPr>
            <a:r>
              <a:rPr sz="2475" b="1">
                <a:solidFill>
                  <a:srgbClr val="063659"/>
                </a:solidFill>
                <a:latin typeface="IBM Plex Sans"/>
                <a:ea typeface="IBM Plex Sans"/>
                <a:cs typeface="IBM Plex Sans"/>
              </a:rPr>
              <a:t>Verantwortung</a:t>
            </a:r>
          </a:p>
        </p:txBody>
      </p:sp>
      <p:sp>
        <p:nvSpPr>
          <p:cNvPr id="16" name="block-403">
            <a:extLst xmlns:a="http://schemas.openxmlformats.org/drawingml/2006/main">
              <a:ext uri="{FF2B5EF4-FFF2-40B4-BE49-F238E27FC236}">
                <a16:creationId xmlns:a16="http://schemas.microsoft.com/office/drawing/2014/main" id="{DB38F8B3-E816-453A-903A-0799A3753D31}"/>
              </a:ext>
            </a:extLst>
          </p:cNvPr>
          <p:cNvSpPr>
            <a:spLocks xmlns:a="http://schemas.openxmlformats.org/drawingml/2006/main" noGrp="1"/>
          </p:cNvSpPr>
          <p:nvPr/>
        </p:nvSpPr>
        <p:spPr>
          <a:xfrm xmlns:a="http://schemas.openxmlformats.org/drawingml/2006/main">
            <a:off x="8115300" y="3800475"/>
            <a:ext cx="3333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Zugriff begrenzen,</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Entscheidungen begründen,</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Fachprüfung beibehalten.</a:t>
            </a:r>
          </a:p>
        </p:txBody>
      </p:sp>
      <p:sp>
        <p:nvSpPr>
          <p:cNvPr id="17" name="block-404">
            <a:extLst xmlns:a="http://schemas.openxmlformats.org/drawingml/2006/main">
              <a:ext uri="{FF2B5EF4-FFF2-40B4-BE49-F238E27FC236}">
                <a16:creationId xmlns:a16="http://schemas.microsoft.com/office/drawing/2014/main" id="{D83CBC2B-4B74-4780-A4EF-FE08CCEB4B51}"/>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8" name="block-405">
            <a:extLst xmlns:a="http://schemas.openxmlformats.org/drawingml/2006/main">
              <a:ext uri="{FF2B5EF4-FFF2-40B4-BE49-F238E27FC236}">
                <a16:creationId xmlns:a16="http://schemas.microsoft.com/office/drawing/2014/main" id="{9F120AEF-451D-4F2F-99F0-084F6A4EC44B}"/>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Fehler und Hinweisquoten zusätzlich nach Kundentyp und Anschlussgröße prüfen.</a:t>
            </a:r>
          </a:p>
        </p:txBody>
      </p:sp>
    </p:spTree>
    <p:extLst>
      <p:ext uri="{BB962C8B-B14F-4D97-AF65-F5344CB8AC3E}">
        <p14:creationId xmlns:p14="http://schemas.microsoft.com/office/powerpoint/2010/main" val="94644803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block-406">
            <a:extLst xmlns:a="http://schemas.openxmlformats.org/drawingml/2006/main">
              <a:ext uri="{FF2B5EF4-FFF2-40B4-BE49-F238E27FC236}">
                <a16:creationId xmlns:a16="http://schemas.microsoft.com/office/drawing/2014/main" id="{380D72D4-2A27-44A4-9B45-84654407DAB9}"/>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07 / HANDLUNGSEMPFEHLUNG</a:t>
            </a:r>
          </a:p>
        </p:txBody>
      </p:sp>
      <p:sp>
        <p:nvSpPr>
          <p:cNvPr id="2" name="block-407">
            <a:extLst xmlns:a="http://schemas.openxmlformats.org/drawingml/2006/main">
              <a:ext uri="{FF2B5EF4-FFF2-40B4-BE49-F238E27FC236}">
                <a16:creationId xmlns:a16="http://schemas.microsoft.com/office/drawing/2014/main" id="{A72DDD67-821E-466A-87E1-7B2E449544AB}"/>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Ein Schattenpilot macht den Nutzen messbar</a:t>
            </a:r>
          </a:p>
        </p:txBody>
      </p:sp>
      <p:sp>
        <p:nvSpPr>
          <p:cNvPr id="3" name="block-408">
            <a:extLst xmlns:a="http://schemas.openxmlformats.org/drawingml/2006/main">
              <a:ext uri="{FF2B5EF4-FFF2-40B4-BE49-F238E27FC236}">
                <a16:creationId xmlns:a16="http://schemas.microsoft.com/office/drawing/2014/main" id="{AE567465-F6AE-49BA-9146-AF1F7991D0B8}"/>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Ausgewählte Zähler laufen zunächst parallel zum bisherigen Prozess.</a:t>
            </a:r>
          </a:p>
        </p:txBody>
      </p:sp>
      <p:sp>
        <p:nvSpPr>
          <p:cNvPr id="4" name="block-409">
            <a:extLst xmlns:a="http://schemas.openxmlformats.org/drawingml/2006/main">
              <a:ext uri="{FF2B5EF4-FFF2-40B4-BE49-F238E27FC236}">
                <a16:creationId xmlns:a16="http://schemas.microsoft.com/office/drawing/2014/main" id="{A996B931-6BD3-426B-833C-30DF153FC95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1ddb233cdf284637"/>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410">
            <a:extLst xmlns:a="http://schemas.openxmlformats.org/drawingml/2006/main">
              <a:ext uri="{FF2B5EF4-FFF2-40B4-BE49-F238E27FC236}">
                <a16:creationId xmlns:a16="http://schemas.microsoft.com/office/drawing/2014/main" id="{1A0C2646-ECA6-444C-A527-25F116B79514}"/>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411">
            <a:extLst xmlns:a="http://schemas.openxmlformats.org/drawingml/2006/main">
              <a:ext uri="{FF2B5EF4-FFF2-40B4-BE49-F238E27FC236}">
                <a16:creationId xmlns:a16="http://schemas.microsoft.com/office/drawing/2014/main" id="{1C27DC57-0B9E-46B3-83B8-FF9AC8F894C7}"/>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24 / 39</a:t>
            </a:r>
          </a:p>
        </p:txBody>
      </p:sp>
      <p:sp>
        <p:nvSpPr>
          <p:cNvPr id="8" name="block-412">
            <a:extLst xmlns:a="http://schemas.openxmlformats.org/drawingml/2006/main">
              <a:ext uri="{FF2B5EF4-FFF2-40B4-BE49-F238E27FC236}">
                <a16:creationId xmlns:a16="http://schemas.microsoft.com/office/drawing/2014/main" id="{A6CE2A06-0E56-475E-840B-477DDD1683FD}"/>
              </a:ext>
            </a:extLst>
          </p:cNvPr>
          <p:cNvSpPr>
            <a:spLocks xmlns:a="http://schemas.openxmlformats.org/drawingml/2006/main" noGrp="1"/>
          </p:cNvSpPr>
          <p:nvPr/>
        </p:nvSpPr>
        <p:spPr>
          <a:xfrm xmlns:a="http://schemas.openxmlformats.org/drawingml/2006/main">
            <a:off x="609600" y="2552700"/>
            <a:ext cx="647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080A0"/>
                </a:solidFill>
                <a:latin typeface="Geist Mono"/>
                <a:ea typeface="Geist Mono"/>
                <a:cs typeface="Geist Mono"/>
              </a:defRPr>
            </a:pPr>
            <a:r>
              <a:rPr sz="2250" b="1">
                <a:solidFill>
                  <a:srgbClr val="0080A0"/>
                </a:solidFill>
                <a:latin typeface="Geist Mono"/>
                <a:ea typeface="Geist Mono"/>
                <a:cs typeface="Geist Mono"/>
              </a:rPr>
              <a:t>01</a:t>
            </a:r>
          </a:p>
        </p:txBody>
      </p:sp>
      <p:sp>
        <p:nvSpPr>
          <p:cNvPr id="9" name="block-413">
            <a:extLst xmlns:a="http://schemas.openxmlformats.org/drawingml/2006/main">
              <a:ext uri="{FF2B5EF4-FFF2-40B4-BE49-F238E27FC236}">
                <a16:creationId xmlns:a16="http://schemas.microsoft.com/office/drawing/2014/main" id="{6743F706-D026-48E5-8888-177002BC6F5F}"/>
              </a:ext>
            </a:extLst>
          </p:cNvPr>
          <p:cNvSpPr>
            <a:spLocks xmlns:a="http://schemas.openxmlformats.org/drawingml/2006/main" noGrp="1"/>
          </p:cNvSpPr>
          <p:nvPr/>
        </p:nvSpPr>
        <p:spPr>
          <a:xfrm xmlns:a="http://schemas.openxmlformats.org/drawingml/2006/main">
            <a:off x="1571625" y="2552700"/>
            <a:ext cx="350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63659"/>
                </a:solidFill>
                <a:latin typeface="IBM Plex Sans"/>
                <a:ea typeface="IBM Plex Sans"/>
                <a:cs typeface="IBM Plex Sans"/>
              </a:defRPr>
            </a:pPr>
            <a:r>
              <a:rPr sz="2250" b="1">
                <a:solidFill>
                  <a:srgbClr val="063659"/>
                </a:solidFill>
                <a:latin typeface="IBM Plex Sans"/>
                <a:ea typeface="IBM Plex Sans"/>
                <a:cs typeface="IBM Plex Sans"/>
              </a:rPr>
              <a:t>Start vorbereiten</a:t>
            </a:r>
          </a:p>
        </p:txBody>
      </p:sp>
      <p:sp>
        <p:nvSpPr>
          <p:cNvPr id="10" name="block-414">
            <a:extLst xmlns:a="http://schemas.openxmlformats.org/drawingml/2006/main">
              <a:ext uri="{FF2B5EF4-FFF2-40B4-BE49-F238E27FC236}">
                <a16:creationId xmlns:a16="http://schemas.microsoft.com/office/drawing/2014/main" id="{01CB6762-886F-49E3-BA46-37065D1E9698}"/>
              </a:ext>
            </a:extLst>
          </p:cNvPr>
          <p:cNvSpPr>
            <a:spLocks xmlns:a="http://schemas.openxmlformats.org/drawingml/2006/main" noGrp="1"/>
          </p:cNvSpPr>
          <p:nvPr/>
        </p:nvSpPr>
        <p:spPr>
          <a:xfrm xmlns:a="http://schemas.openxmlformats.org/drawingml/2006/main">
            <a:off x="5343525" y="2562225"/>
            <a:ext cx="6238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Datenversionen, Rollen und Prüfkapazität festlegen.</a:t>
            </a:r>
          </a:p>
        </p:txBody>
      </p:sp>
      <p:sp>
        <p:nvSpPr>
          <p:cNvPr id="11" name="block-415">
            <a:extLst xmlns:a="http://schemas.openxmlformats.org/drawingml/2006/main">
              <a:ext uri="{FF2B5EF4-FFF2-40B4-BE49-F238E27FC236}">
                <a16:creationId xmlns:a16="http://schemas.microsoft.com/office/drawing/2014/main" id="{EBDCEE6E-DA65-4A3E-AD60-FD2152FBA702}"/>
              </a:ext>
            </a:extLst>
          </p:cNvPr>
          <p:cNvSpPr>
            <a:spLocks xmlns:a="http://schemas.openxmlformats.org/drawingml/2006/main" noGrp="1"/>
          </p:cNvSpPr>
          <p:nvPr/>
        </p:nvSpPr>
        <p:spPr>
          <a:xfrm xmlns:a="http://schemas.openxmlformats.org/drawingml/2006/main">
            <a:off x="1571625" y="3114675"/>
            <a:ext cx="100107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2" name="block-416">
            <a:extLst xmlns:a="http://schemas.openxmlformats.org/drawingml/2006/main">
              <a:ext uri="{FF2B5EF4-FFF2-40B4-BE49-F238E27FC236}">
                <a16:creationId xmlns:a16="http://schemas.microsoft.com/office/drawing/2014/main" id="{DB6A36D0-383B-43BD-A248-8976749B9BD5}"/>
              </a:ext>
            </a:extLst>
          </p:cNvPr>
          <p:cNvSpPr>
            <a:spLocks xmlns:a="http://schemas.openxmlformats.org/drawingml/2006/main" noGrp="1"/>
          </p:cNvSpPr>
          <p:nvPr/>
        </p:nvSpPr>
        <p:spPr>
          <a:xfrm xmlns:a="http://schemas.openxmlformats.org/drawingml/2006/main">
            <a:off x="609600" y="3257550"/>
            <a:ext cx="647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080A0"/>
                </a:solidFill>
                <a:latin typeface="Geist Mono"/>
                <a:ea typeface="Geist Mono"/>
                <a:cs typeface="Geist Mono"/>
              </a:defRPr>
            </a:pPr>
            <a:r>
              <a:rPr sz="2250" b="1">
                <a:solidFill>
                  <a:srgbClr val="0080A0"/>
                </a:solidFill>
                <a:latin typeface="Geist Mono"/>
                <a:ea typeface="Geist Mono"/>
                <a:cs typeface="Geist Mono"/>
              </a:rPr>
              <a:t>02</a:t>
            </a:r>
          </a:p>
        </p:txBody>
      </p:sp>
      <p:sp>
        <p:nvSpPr>
          <p:cNvPr id="13" name="block-417">
            <a:extLst xmlns:a="http://schemas.openxmlformats.org/drawingml/2006/main">
              <a:ext uri="{FF2B5EF4-FFF2-40B4-BE49-F238E27FC236}">
                <a16:creationId xmlns:a16="http://schemas.microsoft.com/office/drawing/2014/main" id="{7398990D-D0C2-4E83-AEE8-86B060118D8E}"/>
              </a:ext>
            </a:extLst>
          </p:cNvPr>
          <p:cNvSpPr>
            <a:spLocks xmlns:a="http://schemas.openxmlformats.org/drawingml/2006/main" noGrp="1"/>
          </p:cNvSpPr>
          <p:nvPr/>
        </p:nvSpPr>
        <p:spPr>
          <a:xfrm xmlns:a="http://schemas.openxmlformats.org/drawingml/2006/main">
            <a:off x="1571625" y="3257550"/>
            <a:ext cx="350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63659"/>
                </a:solidFill>
                <a:latin typeface="IBM Plex Sans"/>
                <a:ea typeface="IBM Plex Sans"/>
                <a:cs typeface="IBM Plex Sans"/>
              </a:defRPr>
            </a:pPr>
            <a:r>
              <a:rPr sz="2250" b="1">
                <a:solidFill>
                  <a:srgbClr val="063659"/>
                </a:solidFill>
                <a:latin typeface="IBM Plex Sans"/>
                <a:ea typeface="IBM Plex Sans"/>
                <a:cs typeface="IBM Plex Sans"/>
              </a:rPr>
              <a:t>Parallel messen</a:t>
            </a:r>
          </a:p>
        </p:txBody>
      </p:sp>
      <p:sp>
        <p:nvSpPr>
          <p:cNvPr id="14" name="block-418">
            <a:extLst xmlns:a="http://schemas.openxmlformats.org/drawingml/2006/main">
              <a:ext uri="{FF2B5EF4-FFF2-40B4-BE49-F238E27FC236}">
                <a16:creationId xmlns:a16="http://schemas.microsoft.com/office/drawing/2014/main" id="{7946029C-01B8-4C2C-B14B-49EA25B8435F}"/>
              </a:ext>
            </a:extLst>
          </p:cNvPr>
          <p:cNvSpPr>
            <a:spLocks xmlns:a="http://schemas.openxmlformats.org/drawingml/2006/main" noGrp="1"/>
          </p:cNvSpPr>
          <p:nvPr/>
        </p:nvSpPr>
        <p:spPr>
          <a:xfrm xmlns:a="http://schemas.openxmlformats.org/drawingml/2006/main">
            <a:off x="5343525" y="3267075"/>
            <a:ext cx="6238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Fehler, Prüfaufwand und Ursachen erfassen.</a:t>
            </a:r>
          </a:p>
        </p:txBody>
      </p:sp>
      <p:sp>
        <p:nvSpPr>
          <p:cNvPr id="15" name="block-419">
            <a:extLst xmlns:a="http://schemas.openxmlformats.org/drawingml/2006/main">
              <a:ext uri="{FF2B5EF4-FFF2-40B4-BE49-F238E27FC236}">
                <a16:creationId xmlns:a16="http://schemas.microsoft.com/office/drawing/2014/main" id="{EFB9C2D8-AD24-4C6E-B215-79E2F1489BA9}"/>
              </a:ext>
            </a:extLst>
          </p:cNvPr>
          <p:cNvSpPr>
            <a:spLocks xmlns:a="http://schemas.openxmlformats.org/drawingml/2006/main" noGrp="1"/>
          </p:cNvSpPr>
          <p:nvPr/>
        </p:nvSpPr>
        <p:spPr>
          <a:xfrm xmlns:a="http://schemas.openxmlformats.org/drawingml/2006/main">
            <a:off x="1571625" y="3819525"/>
            <a:ext cx="100107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6" name="block-420">
            <a:extLst xmlns:a="http://schemas.openxmlformats.org/drawingml/2006/main">
              <a:ext uri="{FF2B5EF4-FFF2-40B4-BE49-F238E27FC236}">
                <a16:creationId xmlns:a16="http://schemas.microsoft.com/office/drawing/2014/main" id="{09AB18AE-C2B5-410F-80E5-CEB1F5C6A0A3}"/>
              </a:ext>
            </a:extLst>
          </p:cNvPr>
          <p:cNvSpPr>
            <a:spLocks xmlns:a="http://schemas.openxmlformats.org/drawingml/2006/main" noGrp="1"/>
          </p:cNvSpPr>
          <p:nvPr/>
        </p:nvSpPr>
        <p:spPr>
          <a:xfrm xmlns:a="http://schemas.openxmlformats.org/drawingml/2006/main">
            <a:off x="609600" y="3962400"/>
            <a:ext cx="647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080A0"/>
                </a:solidFill>
                <a:latin typeface="Geist Mono"/>
                <a:ea typeface="Geist Mono"/>
                <a:cs typeface="Geist Mono"/>
              </a:defRPr>
            </a:pPr>
            <a:r>
              <a:rPr sz="2250" b="1">
                <a:solidFill>
                  <a:srgbClr val="0080A0"/>
                </a:solidFill>
                <a:latin typeface="Geist Mono"/>
                <a:ea typeface="Geist Mono"/>
                <a:cs typeface="Geist Mono"/>
              </a:rPr>
              <a:t>03</a:t>
            </a:r>
          </a:p>
        </p:txBody>
      </p:sp>
      <p:sp>
        <p:nvSpPr>
          <p:cNvPr id="17" name="block-421">
            <a:extLst xmlns:a="http://schemas.openxmlformats.org/drawingml/2006/main">
              <a:ext uri="{FF2B5EF4-FFF2-40B4-BE49-F238E27FC236}">
                <a16:creationId xmlns:a16="http://schemas.microsoft.com/office/drawing/2014/main" id="{254BA21F-FDAC-4A52-B82E-41B648774910}"/>
              </a:ext>
            </a:extLst>
          </p:cNvPr>
          <p:cNvSpPr>
            <a:spLocks xmlns:a="http://schemas.openxmlformats.org/drawingml/2006/main" noGrp="1"/>
          </p:cNvSpPr>
          <p:nvPr/>
        </p:nvSpPr>
        <p:spPr>
          <a:xfrm xmlns:a="http://schemas.openxmlformats.org/drawingml/2006/main">
            <a:off x="1571625" y="3962400"/>
            <a:ext cx="350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63659"/>
                </a:solidFill>
                <a:latin typeface="IBM Plex Sans"/>
                <a:ea typeface="IBM Plex Sans"/>
                <a:cs typeface="IBM Plex Sans"/>
              </a:defRPr>
            </a:pPr>
            <a:r>
              <a:rPr sz="2250" b="1">
                <a:solidFill>
                  <a:srgbClr val="063659"/>
                </a:solidFill>
                <a:latin typeface="IBM Plex Sans"/>
                <a:ea typeface="IBM Plex Sans"/>
                <a:cs typeface="IBM Plex Sans"/>
              </a:rPr>
              <a:t>Gemeinsam bewerten</a:t>
            </a:r>
          </a:p>
        </p:txBody>
      </p:sp>
      <p:sp>
        <p:nvSpPr>
          <p:cNvPr id="18" name="block-422">
            <a:extLst xmlns:a="http://schemas.openxmlformats.org/drawingml/2006/main">
              <a:ext uri="{FF2B5EF4-FFF2-40B4-BE49-F238E27FC236}">
                <a16:creationId xmlns:a16="http://schemas.microsoft.com/office/drawing/2014/main" id="{011CD57D-7DBE-4CD5-B995-76ECCA918AED}"/>
              </a:ext>
            </a:extLst>
          </p:cNvPr>
          <p:cNvSpPr>
            <a:spLocks xmlns:a="http://schemas.openxmlformats.org/drawingml/2006/main" noGrp="1"/>
          </p:cNvSpPr>
          <p:nvPr/>
        </p:nvSpPr>
        <p:spPr>
          <a:xfrm xmlns:a="http://schemas.openxmlformats.org/drawingml/2006/main">
            <a:off x="5343525" y="3971925"/>
            <a:ext cx="6238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Qualität und Aufwand gegen vereinbarte Ziele prüfen.</a:t>
            </a:r>
          </a:p>
        </p:txBody>
      </p:sp>
      <p:sp>
        <p:nvSpPr>
          <p:cNvPr id="19" name="block-423">
            <a:extLst xmlns:a="http://schemas.openxmlformats.org/drawingml/2006/main">
              <a:ext uri="{FF2B5EF4-FFF2-40B4-BE49-F238E27FC236}">
                <a16:creationId xmlns:a16="http://schemas.microsoft.com/office/drawing/2014/main" id="{63538F19-49CC-4BEE-B9A8-5346FDBADEA3}"/>
              </a:ext>
            </a:extLst>
          </p:cNvPr>
          <p:cNvSpPr>
            <a:spLocks xmlns:a="http://schemas.openxmlformats.org/drawingml/2006/main" noGrp="1"/>
          </p:cNvSpPr>
          <p:nvPr/>
        </p:nvSpPr>
        <p:spPr>
          <a:xfrm xmlns:a="http://schemas.openxmlformats.org/drawingml/2006/main">
            <a:off x="1571625" y="4524375"/>
            <a:ext cx="100107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0" name="block-424">
            <a:extLst xmlns:a="http://schemas.openxmlformats.org/drawingml/2006/main">
              <a:ext uri="{FF2B5EF4-FFF2-40B4-BE49-F238E27FC236}">
                <a16:creationId xmlns:a16="http://schemas.microsoft.com/office/drawing/2014/main" id="{1C0E32A6-031F-43EC-B1EF-EDE86EC002E5}"/>
              </a:ext>
            </a:extLst>
          </p:cNvPr>
          <p:cNvSpPr>
            <a:spLocks xmlns:a="http://schemas.openxmlformats.org/drawingml/2006/main" noGrp="1"/>
          </p:cNvSpPr>
          <p:nvPr/>
        </p:nvSpPr>
        <p:spPr>
          <a:xfrm xmlns:a="http://schemas.openxmlformats.org/drawingml/2006/main">
            <a:off x="609600" y="4667250"/>
            <a:ext cx="647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080A0"/>
                </a:solidFill>
                <a:latin typeface="Geist Mono"/>
                <a:ea typeface="Geist Mono"/>
                <a:cs typeface="Geist Mono"/>
              </a:defRPr>
            </a:pPr>
            <a:r>
              <a:rPr sz="2250" b="1">
                <a:solidFill>
                  <a:srgbClr val="0080A0"/>
                </a:solidFill>
                <a:latin typeface="Geist Mono"/>
                <a:ea typeface="Geist Mono"/>
                <a:cs typeface="Geist Mono"/>
              </a:rPr>
              <a:t>04</a:t>
            </a:r>
          </a:p>
        </p:txBody>
      </p:sp>
      <p:sp>
        <p:nvSpPr>
          <p:cNvPr id="21" name="block-425">
            <a:extLst xmlns:a="http://schemas.openxmlformats.org/drawingml/2006/main">
              <a:ext uri="{FF2B5EF4-FFF2-40B4-BE49-F238E27FC236}">
                <a16:creationId xmlns:a16="http://schemas.microsoft.com/office/drawing/2014/main" id="{BE67D482-BBC8-42B5-9222-D5B75775DCBC}"/>
              </a:ext>
            </a:extLst>
          </p:cNvPr>
          <p:cNvSpPr>
            <a:spLocks xmlns:a="http://schemas.openxmlformats.org/drawingml/2006/main" noGrp="1"/>
          </p:cNvSpPr>
          <p:nvPr/>
        </p:nvSpPr>
        <p:spPr>
          <a:xfrm xmlns:a="http://schemas.openxmlformats.org/drawingml/2006/main">
            <a:off x="1571625" y="4667250"/>
            <a:ext cx="350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63659"/>
                </a:solidFill>
                <a:latin typeface="IBM Plex Sans"/>
                <a:ea typeface="IBM Plex Sans"/>
                <a:cs typeface="IBM Plex Sans"/>
              </a:defRPr>
            </a:pPr>
            <a:r>
              <a:rPr sz="2250" b="1">
                <a:solidFill>
                  <a:srgbClr val="063659"/>
                </a:solidFill>
                <a:latin typeface="IBM Plex Sans"/>
                <a:ea typeface="IBM Plex Sans"/>
                <a:cs typeface="IBM Plex Sans"/>
              </a:rPr>
              <a:t>Gezielt weiterführen</a:t>
            </a:r>
          </a:p>
        </p:txBody>
      </p:sp>
      <p:sp>
        <p:nvSpPr>
          <p:cNvPr id="22" name="block-426">
            <a:extLst xmlns:a="http://schemas.openxmlformats.org/drawingml/2006/main">
              <a:ext uri="{FF2B5EF4-FFF2-40B4-BE49-F238E27FC236}">
                <a16:creationId xmlns:a16="http://schemas.microsoft.com/office/drawing/2014/main" id="{4DC00D8C-3F33-4B50-B21A-C865E0627725}"/>
              </a:ext>
            </a:extLst>
          </p:cNvPr>
          <p:cNvSpPr>
            <a:spLocks xmlns:a="http://schemas.openxmlformats.org/drawingml/2006/main" noGrp="1"/>
          </p:cNvSpPr>
          <p:nvPr/>
        </p:nvSpPr>
        <p:spPr>
          <a:xfrm xmlns:a="http://schemas.openxmlformats.org/drawingml/2006/main">
            <a:off x="5343525" y="4676775"/>
            <a:ext cx="6238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Erst bei belegtem Nutzen anbinden und erweitern.</a:t>
            </a:r>
          </a:p>
        </p:txBody>
      </p:sp>
      <p:sp>
        <p:nvSpPr>
          <p:cNvPr id="23" name="block-427">
            <a:extLst xmlns:a="http://schemas.openxmlformats.org/drawingml/2006/main">
              <a:ext uri="{FF2B5EF4-FFF2-40B4-BE49-F238E27FC236}">
                <a16:creationId xmlns:a16="http://schemas.microsoft.com/office/drawing/2014/main" id="{34C998CC-8133-4E80-8A0B-CA423CEB4AF1}"/>
              </a:ext>
            </a:extLst>
          </p:cNvPr>
          <p:cNvSpPr>
            <a:spLocks xmlns:a="http://schemas.openxmlformats.org/drawingml/2006/main" noGrp="1"/>
          </p:cNvSpPr>
          <p:nvPr/>
        </p:nvSpPr>
        <p:spPr>
          <a:xfrm xmlns:a="http://schemas.openxmlformats.org/drawingml/2006/main">
            <a:off x="1571625" y="5229225"/>
            <a:ext cx="100107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4" name="block-428">
            <a:extLst xmlns:a="http://schemas.openxmlformats.org/drawingml/2006/main">
              <a:ext uri="{FF2B5EF4-FFF2-40B4-BE49-F238E27FC236}">
                <a16:creationId xmlns:a16="http://schemas.microsoft.com/office/drawing/2014/main" id="{49482EDA-6373-421B-82DE-38D10D165A73}"/>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5" name="block-429">
            <a:extLst xmlns:a="http://schemas.openxmlformats.org/drawingml/2006/main">
              <a:ext uri="{FF2B5EF4-FFF2-40B4-BE49-F238E27FC236}">
                <a16:creationId xmlns:a16="http://schemas.microsoft.com/office/drawing/2014/main" id="{375C61F9-D52E-42D2-B13C-CA980D96A722}"/>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Monatlich überwachen. Bei Veränderungen Ursachen prüfen und Modelle anpassen.</a:t>
            </a:r>
          </a:p>
        </p:txBody>
      </p:sp>
    </p:spTree>
    <p:extLst>
      <p:ext uri="{BB962C8B-B14F-4D97-AF65-F5344CB8AC3E}">
        <p14:creationId xmlns:p14="http://schemas.microsoft.com/office/powerpoint/2010/main" val="1342289941"/>
      </p:ext>
    </p:extLst>
  </p:cSld>
</p:sld>
</file>

<file path=ppt/slides/slide25.xml><?xml version="1.0" encoding="utf-8"?>
<p:sld xmlns:p="http://schemas.openxmlformats.org/presentationml/2006/main">
  <p:cSld>
    <p:bg>
      <p:bgPr>
        <a:solidFill xmlns:a="http://schemas.openxmlformats.org/drawingml/2006/main">
          <a:srgbClr val="063659"/>
        </a:solidFill>
      </p:bgPr>
    </p:bg>
    <p:spTree>
      <p:nvGrpSpPr>
        <p:cNvPr id="1" name=""/>
        <p:cNvGrpSpPr/>
        <p:nvPr/>
      </p:nvGrpSpPr>
      <p:grpSpPr>
        <a:xfrm xmlns:a="http://schemas.openxmlformats.org/drawingml/2006/main"/>
      </p:grpSpPr>
      <p:sp>
        <p:nvSpPr>
          <p:cNvPr id="15" name="block-430">
            <a:extLst xmlns:a="http://schemas.openxmlformats.org/drawingml/2006/main">
              <a:ext uri="{FF2B5EF4-FFF2-40B4-BE49-F238E27FC236}">
                <a16:creationId xmlns:a16="http://schemas.microsoft.com/office/drawing/2014/main" id="{745AA69F-4DF6-47E9-A95D-9911662656B5}"/>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99D7E5"/>
                </a:solidFill>
                <a:latin typeface="IBM Plex Sans"/>
                <a:ea typeface="IBM Plex Sans"/>
                <a:cs typeface="IBM Plex Sans"/>
              </a:defRPr>
            </a:pPr>
            <a:r>
              <a:rPr sz="1275" b="1">
                <a:solidFill>
                  <a:srgbClr val="99D7E5"/>
                </a:solidFill>
                <a:latin typeface="IBM Plex Sans"/>
                <a:ea typeface="IBM Plex Sans"/>
                <a:cs typeface="IBM Plex Sans"/>
              </a:rPr>
              <a:t>07 / FAZIT</a:t>
            </a:r>
          </a:p>
        </p:txBody>
      </p:sp>
      <p:sp>
        <p:nvSpPr>
          <p:cNvPr id="2" name="block-431">
            <a:extLst xmlns:a="http://schemas.openxmlformats.org/drawingml/2006/main">
              <a:ext uri="{FF2B5EF4-FFF2-40B4-BE49-F238E27FC236}">
                <a16:creationId xmlns:a16="http://schemas.microsoft.com/office/drawing/2014/main" id="{48B6E0FA-CA48-48BF-8A7F-C788B4A635B5}"/>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FFFFFF"/>
                </a:solidFill>
                <a:latin typeface="IBM Plex Sans"/>
                <a:ea typeface="IBM Plex Sans"/>
                <a:cs typeface="IBM Plex Sans"/>
              </a:defRPr>
            </a:pPr>
            <a:r>
              <a:rPr sz="3225" b="1">
                <a:solidFill>
                  <a:srgbClr val="FFFFFF"/>
                </a:solidFill>
                <a:latin typeface="IBM Plex Sans"/>
                <a:ea typeface="IBM Plex Sans"/>
                <a:cs typeface="IBM Plex Sans"/>
              </a:rPr>
              <a:t>Die Grundlage steht. Der Betriebsnachweis folgt.</a:t>
            </a:r>
          </a:p>
        </p:txBody>
      </p:sp>
      <p:sp>
        <p:nvSpPr>
          <p:cNvPr id="3" name="block-432">
            <a:extLst xmlns:a="http://schemas.openxmlformats.org/drawingml/2006/main">
              <a:ext uri="{FF2B5EF4-FFF2-40B4-BE49-F238E27FC236}">
                <a16:creationId xmlns:a16="http://schemas.microsoft.com/office/drawing/2014/main" id="{E78934C7-99F1-4E20-BE9E-A49065031A1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31607C"/>
          </a:solidFill>
          <a:ln xmlns:a="http://schemas.openxmlformats.org/drawingml/2006/main" w="0">
            <a:noFill/>
          </a:ln>
        </p:spPr>
      </p:sp>
      <p:sp>
        <p:nvSpPr>
          <p:cNvPr id="4" name="block-433">
            <a:extLst xmlns:a="http://schemas.openxmlformats.org/drawingml/2006/main">
              <a:ext uri="{FF2B5EF4-FFF2-40B4-BE49-F238E27FC236}">
                <a16:creationId xmlns:a16="http://schemas.microsoft.com/office/drawing/2014/main" id="{A8AED072-FB42-412C-AC5F-6697B0F8D845}"/>
              </a:ext>
            </a:extLst>
          </p:cNvPr>
          <p:cNvSpPr>
            <a:spLocks xmlns:a="http://schemas.openxmlformats.org/drawingml/2006/main" noGrp="1"/>
          </p:cNvSpPr>
          <p:nvPr/>
        </p:nvSpPr>
        <p:spPr>
          <a:xfrm xmlns:a="http://schemas.openxmlformats.org/drawingml/2006/main">
            <a:off x="609600"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SWW / IHK-Projekt</a:t>
            </a:r>
          </a:p>
        </p:txBody>
      </p:sp>
      <p:sp>
        <p:nvSpPr>
          <p:cNvPr id="5" name="block-434">
            <a:extLst xmlns:a="http://schemas.openxmlformats.org/drawingml/2006/main">
              <a:ext uri="{FF2B5EF4-FFF2-40B4-BE49-F238E27FC236}">
                <a16:creationId xmlns:a16="http://schemas.microsoft.com/office/drawing/2014/main" id="{32A38581-6607-4038-9394-773EB10C51E6}"/>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25 / 39</a:t>
            </a:r>
          </a:p>
        </p:txBody>
      </p:sp>
      <p:sp>
        <p:nvSpPr>
          <p:cNvPr id="6" name="block-435">
            <a:extLst xmlns:a="http://schemas.openxmlformats.org/drawingml/2006/main">
              <a:ext uri="{FF2B5EF4-FFF2-40B4-BE49-F238E27FC236}">
                <a16:creationId xmlns:a16="http://schemas.microsoft.com/office/drawing/2014/main" id="{8FF70CB8-FC84-46D6-A12F-93A4278CCCFA}"/>
              </a:ext>
            </a:extLst>
          </p:cNvPr>
          <p:cNvSpPr>
            <a:spLocks xmlns:a="http://schemas.openxmlformats.org/drawingml/2006/main" noGrp="1"/>
          </p:cNvSpPr>
          <p:nvPr/>
        </p:nvSpPr>
        <p:spPr>
          <a:xfrm xmlns:a="http://schemas.openxmlformats.org/drawingml/2006/main">
            <a:off x="609600" y="2524125"/>
            <a:ext cx="3295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99D7E5"/>
                </a:solidFill>
                <a:latin typeface="Geist Mono"/>
                <a:ea typeface="Geist Mono"/>
                <a:cs typeface="Geist Mono"/>
              </a:defRPr>
            </a:pPr>
            <a:r>
              <a:rPr sz="4800" b="1">
                <a:solidFill>
                  <a:srgbClr val="99D7E5"/>
                </a:solidFill>
                <a:latin typeface="Geist Mono"/>
                <a:ea typeface="Geist Mono"/>
                <a:cs typeface="Geist Mono"/>
              </a:rPr>
              <a:t>16.800</a:t>
            </a:r>
          </a:p>
        </p:txBody>
      </p:sp>
      <p:sp>
        <p:nvSpPr>
          <p:cNvPr id="7" name="block-436">
            <a:extLst xmlns:a="http://schemas.openxmlformats.org/drawingml/2006/main">
              <a:ext uri="{FF2B5EF4-FFF2-40B4-BE49-F238E27FC236}">
                <a16:creationId xmlns:a16="http://schemas.microsoft.com/office/drawing/2014/main" id="{087A0C32-590A-4A21-9A2B-09B6F9FA4A94}"/>
              </a:ext>
            </a:extLst>
          </p:cNvPr>
          <p:cNvSpPr>
            <a:spLocks xmlns:a="http://schemas.openxmlformats.org/drawingml/2006/main" noGrp="1"/>
          </p:cNvSpPr>
          <p:nvPr/>
        </p:nvSpPr>
        <p:spPr>
          <a:xfrm xmlns:a="http://schemas.openxmlformats.org/drawingml/2006/main">
            <a:off x="609600" y="3305175"/>
            <a:ext cx="3295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bereinigte</a:t>
            </a:r>
          </a:p>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Zähler-Monate</a:t>
            </a:r>
          </a:p>
        </p:txBody>
      </p:sp>
      <p:sp>
        <p:nvSpPr>
          <p:cNvPr id="8" name="block-437">
            <a:extLst xmlns:a="http://schemas.openxmlformats.org/drawingml/2006/main">
              <a:ext uri="{FF2B5EF4-FFF2-40B4-BE49-F238E27FC236}">
                <a16:creationId xmlns:a16="http://schemas.microsoft.com/office/drawing/2014/main" id="{39E1BB33-8E1D-413D-A89E-73EAEED18155}"/>
              </a:ext>
            </a:extLst>
          </p:cNvPr>
          <p:cNvSpPr>
            <a:spLocks xmlns:a="http://schemas.openxmlformats.org/drawingml/2006/main" noGrp="1"/>
          </p:cNvSpPr>
          <p:nvPr/>
        </p:nvSpPr>
        <p:spPr>
          <a:xfrm xmlns:a="http://schemas.openxmlformats.org/drawingml/2006/main">
            <a:off x="4533900" y="2524125"/>
            <a:ext cx="33051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99D7E5"/>
                </a:solidFill>
                <a:latin typeface="Geist Mono"/>
                <a:ea typeface="Geist Mono"/>
                <a:cs typeface="Geist Mono"/>
              </a:defRPr>
            </a:pPr>
            <a:r>
              <a:rPr sz="4800" b="1">
                <a:solidFill>
                  <a:srgbClr val="99D7E5"/>
                </a:solidFill>
                <a:latin typeface="Geist Mono"/>
                <a:ea typeface="Geist Mono"/>
                <a:cs typeface="Geist Mono"/>
              </a:rPr>
              <a:t>−15,9 %</a:t>
            </a:r>
          </a:p>
        </p:txBody>
      </p:sp>
      <p:sp>
        <p:nvSpPr>
          <p:cNvPr id="9" name="block-438">
            <a:extLst xmlns:a="http://schemas.openxmlformats.org/drawingml/2006/main">
              <a:ext uri="{FF2B5EF4-FFF2-40B4-BE49-F238E27FC236}">
                <a16:creationId xmlns:a16="http://schemas.microsoft.com/office/drawing/2014/main" id="{9EBF111B-2734-4641-A3F4-3464FF5D3DBD}"/>
              </a:ext>
            </a:extLst>
          </p:cNvPr>
          <p:cNvSpPr>
            <a:spLocks xmlns:a="http://schemas.openxmlformats.org/drawingml/2006/main" noGrp="1"/>
          </p:cNvSpPr>
          <p:nvPr/>
        </p:nvSpPr>
        <p:spPr>
          <a:xfrm xmlns:a="http://schemas.openxmlformats.org/drawingml/2006/main">
            <a:off x="4533900" y="3305175"/>
            <a:ext cx="33051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RMSE gegenüber der</a:t>
            </a:r>
          </a:p>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besten einfachen Baseline</a:t>
            </a:r>
          </a:p>
        </p:txBody>
      </p:sp>
      <p:sp>
        <p:nvSpPr>
          <p:cNvPr id="10" name="block-439">
            <a:extLst xmlns:a="http://schemas.openxmlformats.org/drawingml/2006/main">
              <a:ext uri="{FF2B5EF4-FFF2-40B4-BE49-F238E27FC236}">
                <a16:creationId xmlns:a16="http://schemas.microsoft.com/office/drawing/2014/main" id="{F72FA56B-99EE-477C-9042-8634B241CD1C}"/>
              </a:ext>
            </a:extLst>
          </p:cNvPr>
          <p:cNvSpPr>
            <a:spLocks xmlns:a="http://schemas.openxmlformats.org/drawingml/2006/main" noGrp="1"/>
          </p:cNvSpPr>
          <p:nvPr/>
        </p:nvSpPr>
        <p:spPr>
          <a:xfrm xmlns:a="http://schemas.openxmlformats.org/drawingml/2006/main">
            <a:off x="8505825" y="2524125"/>
            <a:ext cx="30765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99D7E5"/>
                </a:solidFill>
                <a:latin typeface="Geist Mono"/>
                <a:ea typeface="Geist Mono"/>
                <a:cs typeface="Geist Mono"/>
              </a:defRPr>
            </a:pPr>
            <a:r>
              <a:rPr sz="4800" b="1">
                <a:solidFill>
                  <a:srgbClr val="99D7E5"/>
                </a:solidFill>
                <a:latin typeface="Geist Mono"/>
                <a:ea typeface="Geist Mono"/>
                <a:cs typeface="Geist Mono"/>
              </a:rPr>
              <a:t>9,5</a:t>
            </a:r>
          </a:p>
        </p:txBody>
      </p:sp>
      <p:sp>
        <p:nvSpPr>
          <p:cNvPr id="11" name="block-440">
            <a:extLst xmlns:a="http://schemas.openxmlformats.org/drawingml/2006/main">
              <a:ext uri="{FF2B5EF4-FFF2-40B4-BE49-F238E27FC236}">
                <a16:creationId xmlns:a16="http://schemas.microsoft.com/office/drawing/2014/main" id="{F10E7942-9A66-4C33-941F-1E4705012322}"/>
              </a:ext>
            </a:extLst>
          </p:cNvPr>
          <p:cNvSpPr>
            <a:spLocks xmlns:a="http://schemas.openxmlformats.org/drawingml/2006/main" noGrp="1"/>
          </p:cNvSpPr>
          <p:nvPr/>
        </p:nvSpPr>
        <p:spPr>
          <a:xfrm xmlns:a="http://schemas.openxmlformats.org/drawingml/2006/main">
            <a:off x="8505825" y="3305175"/>
            <a:ext cx="30765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Prüfhinweise pro Monat</a:t>
            </a:r>
          </a:p>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im Benchmark 2025</a:t>
            </a:r>
          </a:p>
        </p:txBody>
      </p:sp>
      <p:sp>
        <p:nvSpPr>
          <p:cNvPr id="12" name="block-441">
            <a:extLst xmlns:a="http://schemas.openxmlformats.org/drawingml/2006/main">
              <a:ext uri="{FF2B5EF4-FFF2-40B4-BE49-F238E27FC236}">
                <a16:creationId xmlns:a16="http://schemas.microsoft.com/office/drawing/2014/main" id="{BC7AE892-1842-4EB8-8836-56DBA8C19F37}"/>
              </a:ext>
            </a:extLst>
          </p:cNvPr>
          <p:cNvSpPr>
            <a:spLocks xmlns:a="http://schemas.openxmlformats.org/drawingml/2006/main" noGrp="1"/>
          </p:cNvSpPr>
          <p:nvPr/>
        </p:nvSpPr>
        <p:spPr>
          <a:xfrm xmlns:a="http://schemas.openxmlformats.org/drawingml/2006/main">
            <a:off x="609600" y="4962525"/>
            <a:ext cx="10972800" cy="9525"/>
          </a:xfrm>
          <a:prstGeom xmlns:a="http://schemas.openxmlformats.org/drawingml/2006/main" prst="rect">
            <a:avLst/>
          </a:prstGeom>
          <a:solidFill xmlns:a="http://schemas.openxmlformats.org/drawingml/2006/main">
            <a:srgbClr val="31607C"/>
          </a:solidFill>
          <a:ln xmlns:a="http://schemas.openxmlformats.org/drawingml/2006/main" w="0">
            <a:noFill/>
          </a:ln>
        </p:spPr>
      </p:sp>
      <p:sp>
        <p:nvSpPr>
          <p:cNvPr id="13" name="block-442">
            <a:extLst xmlns:a="http://schemas.openxmlformats.org/drawingml/2006/main">
              <a:ext uri="{FF2B5EF4-FFF2-40B4-BE49-F238E27FC236}">
                <a16:creationId xmlns:a16="http://schemas.microsoft.com/office/drawing/2014/main" id="{937B5E45-298E-4B91-87DC-628562C1E587}"/>
              </a:ext>
            </a:extLst>
          </p:cNvPr>
          <p:cNvSpPr>
            <a:spLocks xmlns:a="http://schemas.openxmlformats.org/drawingml/2006/main" noGrp="1"/>
          </p:cNvSpPr>
          <p:nvPr/>
        </p:nvSpPr>
        <p:spPr>
          <a:xfrm xmlns:a="http://schemas.openxmlformats.org/drawingml/2006/main">
            <a:off x="609600" y="5353050"/>
            <a:ext cx="285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99D7E5"/>
                </a:solidFill>
                <a:latin typeface="IBM Plex Sans"/>
                <a:ea typeface="IBM Plex Sans"/>
                <a:cs typeface="IBM Plex Sans"/>
              </a:defRPr>
            </a:pPr>
            <a:r>
              <a:rPr sz="2175" b="1">
                <a:solidFill>
                  <a:srgbClr val="99D7E5"/>
                </a:solidFill>
                <a:latin typeface="IBM Plex Sans"/>
                <a:ea typeface="IBM Plex Sans"/>
                <a:cs typeface="IBM Plex Sans"/>
              </a:rPr>
              <a:t>Nächster Schritt</a:t>
            </a:r>
          </a:p>
        </p:txBody>
      </p:sp>
      <p:sp>
        <p:nvSpPr>
          <p:cNvPr id="14" name="block-443">
            <a:extLst xmlns:a="http://schemas.openxmlformats.org/drawingml/2006/main">
              <a:ext uri="{FF2B5EF4-FFF2-40B4-BE49-F238E27FC236}">
                <a16:creationId xmlns:a16="http://schemas.microsoft.com/office/drawing/2014/main" id="{A44A873E-1778-42F4-B1FE-222AEDD5BBA8}"/>
              </a:ext>
            </a:extLst>
          </p:cNvPr>
          <p:cNvSpPr>
            <a:spLocks xmlns:a="http://schemas.openxmlformats.org/drawingml/2006/main" noGrp="1"/>
          </p:cNvSpPr>
          <p:nvPr/>
        </p:nvSpPr>
        <p:spPr>
          <a:xfrm xmlns:a="http://schemas.openxmlformats.org/drawingml/2006/main">
            <a:off x="3762375" y="5257800"/>
            <a:ext cx="78200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FFFFF"/>
                </a:solidFill>
                <a:latin typeface="IBM Plex Sans"/>
                <a:ea typeface="IBM Plex Sans"/>
                <a:cs typeface="IBM Plex Sans"/>
              </a:defRPr>
            </a:pPr>
            <a:r>
              <a:rPr sz="2175" b="0">
                <a:solidFill>
                  <a:srgbClr val="FFFFFF"/>
                </a:solidFill>
                <a:latin typeface="IBM Plex Sans"/>
                <a:ea typeface="IBM Plex Sans"/>
                <a:cs typeface="IBM Plex Sans"/>
              </a:rPr>
              <a:t>Parallelbetrieb starten, Fälle fachlich prüfen</a:t>
            </a:r>
          </a:p>
          <a:p xmlns:a="http://schemas.openxmlformats.org/drawingml/2006/main">
            <a:pPr>
              <a:defRPr sz="2175" b="0">
                <a:solidFill>
                  <a:srgbClr val="FFFFFF"/>
                </a:solidFill>
                <a:latin typeface="IBM Plex Sans"/>
                <a:ea typeface="IBM Plex Sans"/>
                <a:cs typeface="IBM Plex Sans"/>
              </a:defRPr>
            </a:pPr>
            <a:r>
              <a:rPr sz="2175" b="0">
                <a:solidFill>
                  <a:srgbClr val="FFFFFF"/>
                </a:solidFill>
                <a:latin typeface="IBM Plex Sans"/>
                <a:ea typeface="IBM Plex Sans"/>
                <a:cs typeface="IBM Plex Sans"/>
              </a:rPr>
              <a:t>und Nutzen anhand echter Ergebnisse bewerten.</a:t>
            </a:r>
          </a:p>
        </p:txBody>
      </p:sp>
    </p:spTree>
    <p:extLst>
      <p:ext uri="{BB962C8B-B14F-4D97-AF65-F5344CB8AC3E}">
        <p14:creationId xmlns:p14="http://schemas.microsoft.com/office/powerpoint/2010/main" val="213047505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block-444">
            <a:extLst xmlns:a="http://schemas.openxmlformats.org/drawingml/2006/main">
              <a:ext uri="{FF2B5EF4-FFF2-40B4-BE49-F238E27FC236}">
                <a16:creationId xmlns:a16="http://schemas.microsoft.com/office/drawing/2014/main" id="{6596E0B4-F91D-40E4-96D2-2D8C63E46978}"/>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08 / LIVE-DEMO</a:t>
            </a:r>
          </a:p>
        </p:txBody>
      </p:sp>
      <p:sp>
        <p:nvSpPr>
          <p:cNvPr id="2" name="block-445">
            <a:extLst xmlns:a="http://schemas.openxmlformats.org/drawingml/2006/main">
              <a:ext uri="{FF2B5EF4-FFF2-40B4-BE49-F238E27FC236}">
                <a16:creationId xmlns:a16="http://schemas.microsoft.com/office/drawing/2014/main" id="{EF2EFA23-3DD9-4AFB-9A2F-1C7BEBEE6A66}"/>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15 Minuten entlang des gesamten Datenwegs</a:t>
            </a:r>
          </a:p>
        </p:txBody>
      </p:sp>
      <p:sp>
        <p:nvSpPr>
          <p:cNvPr id="3" name="block-446">
            <a:extLst xmlns:a="http://schemas.openxmlformats.org/drawingml/2006/main">
              <a:ext uri="{FF2B5EF4-FFF2-40B4-BE49-F238E27FC236}">
                <a16:creationId xmlns:a16="http://schemas.microsoft.com/office/drawing/2014/main" id="{33A5B7BE-0E94-4A9E-9909-BA6629EEECC0}"/>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Jeder Schritt zeigt ein Ergebnis und die Entscheidung dahinter.</a:t>
            </a:r>
          </a:p>
        </p:txBody>
      </p:sp>
      <p:sp>
        <p:nvSpPr>
          <p:cNvPr id="4" name="block-447">
            <a:extLst xmlns:a="http://schemas.openxmlformats.org/drawingml/2006/main">
              <a:ext uri="{FF2B5EF4-FFF2-40B4-BE49-F238E27FC236}">
                <a16:creationId xmlns:a16="http://schemas.microsoft.com/office/drawing/2014/main" id="{BE2BCFAE-77AA-4FEC-95F4-4931ED320BC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58ae0a883e0941e8"/>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448">
            <a:extLst xmlns:a="http://schemas.openxmlformats.org/drawingml/2006/main">
              <a:ext uri="{FF2B5EF4-FFF2-40B4-BE49-F238E27FC236}">
                <a16:creationId xmlns:a16="http://schemas.microsoft.com/office/drawing/2014/main" id="{FD410A7E-A773-40F7-A7E3-C64C7816ADAD}"/>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449">
            <a:extLst xmlns:a="http://schemas.openxmlformats.org/drawingml/2006/main">
              <a:ext uri="{FF2B5EF4-FFF2-40B4-BE49-F238E27FC236}">
                <a16:creationId xmlns:a16="http://schemas.microsoft.com/office/drawing/2014/main" id="{06DEAB1E-9C41-4ACB-A022-FA2A3287E578}"/>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26 / 39</a:t>
            </a:r>
          </a:p>
        </p:txBody>
      </p:sp>
      <p:sp>
        <p:nvSpPr>
          <p:cNvPr id="8" name="block-450">
            <a:extLst xmlns:a="http://schemas.openxmlformats.org/drawingml/2006/main">
              <a:ext uri="{FF2B5EF4-FFF2-40B4-BE49-F238E27FC236}">
                <a16:creationId xmlns:a16="http://schemas.microsoft.com/office/drawing/2014/main" id="{D07AE8AC-7290-4080-B99D-D066E5675F39}"/>
              </a:ext>
            </a:extLst>
          </p:cNvPr>
          <p:cNvSpPr>
            <a:spLocks xmlns:a="http://schemas.openxmlformats.org/drawingml/2006/main" noGrp="1"/>
          </p:cNvSpPr>
          <p:nvPr/>
        </p:nvSpPr>
        <p:spPr>
          <a:xfrm xmlns:a="http://schemas.openxmlformats.org/drawingml/2006/main">
            <a:off x="609600" y="2486025"/>
            <a:ext cx="1371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080A0"/>
                </a:solidFill>
                <a:latin typeface="Geist Mono"/>
                <a:ea typeface="Geist Mono"/>
                <a:cs typeface="Geist Mono"/>
              </a:defRPr>
            </a:pPr>
            <a:r>
              <a:rPr sz="1875" b="1">
                <a:solidFill>
                  <a:srgbClr val="0080A0"/>
                </a:solidFill>
                <a:latin typeface="Geist Mono"/>
                <a:ea typeface="Geist Mono"/>
                <a:cs typeface="Geist Mono"/>
              </a:rPr>
              <a:t>02 Min.</a:t>
            </a:r>
          </a:p>
        </p:txBody>
      </p:sp>
      <p:sp>
        <p:nvSpPr>
          <p:cNvPr id="9" name="block-451">
            <a:extLst xmlns:a="http://schemas.openxmlformats.org/drawingml/2006/main">
              <a:ext uri="{FF2B5EF4-FFF2-40B4-BE49-F238E27FC236}">
                <a16:creationId xmlns:a16="http://schemas.microsoft.com/office/drawing/2014/main" id="{E95DD86F-65F3-44E4-AAD3-FCE0374ABC85}"/>
              </a:ext>
            </a:extLst>
          </p:cNvPr>
          <p:cNvSpPr>
            <a:spLocks xmlns:a="http://schemas.openxmlformats.org/drawingml/2006/main" noGrp="1"/>
          </p:cNvSpPr>
          <p:nvPr/>
        </p:nvSpPr>
        <p:spPr>
          <a:xfrm xmlns:a="http://schemas.openxmlformats.org/drawingml/2006/main">
            <a:off x="2447925" y="2486025"/>
            <a:ext cx="3162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Rohdaten</a:t>
            </a:r>
          </a:p>
        </p:txBody>
      </p:sp>
      <p:sp>
        <p:nvSpPr>
          <p:cNvPr id="10" name="block-452">
            <a:extLst xmlns:a="http://schemas.openxmlformats.org/drawingml/2006/main">
              <a:ext uri="{FF2B5EF4-FFF2-40B4-BE49-F238E27FC236}">
                <a16:creationId xmlns:a16="http://schemas.microsoft.com/office/drawing/2014/main" id="{702DCE97-2C74-464B-8AFF-8145BDC8A050}"/>
              </a:ext>
            </a:extLst>
          </p:cNvPr>
          <p:cNvSpPr>
            <a:spLocks xmlns:a="http://schemas.openxmlformats.org/drawingml/2006/main" noGrp="1"/>
          </p:cNvSpPr>
          <p:nvPr/>
        </p:nvSpPr>
        <p:spPr>
          <a:xfrm xmlns:a="http://schemas.openxmlformats.org/drawingml/2006/main">
            <a:off x="5772150" y="2495550"/>
            <a:ext cx="581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Struktur und Qualitätsprobleme</a:t>
            </a:r>
          </a:p>
        </p:txBody>
      </p:sp>
      <p:sp>
        <p:nvSpPr>
          <p:cNvPr id="11" name="block-453">
            <a:extLst xmlns:a="http://schemas.openxmlformats.org/drawingml/2006/main">
              <a:ext uri="{FF2B5EF4-FFF2-40B4-BE49-F238E27FC236}">
                <a16:creationId xmlns:a16="http://schemas.microsoft.com/office/drawing/2014/main" id="{0E240E32-5E4A-4539-8C45-11807B9B9CE8}"/>
              </a:ext>
            </a:extLst>
          </p:cNvPr>
          <p:cNvSpPr>
            <a:spLocks xmlns:a="http://schemas.openxmlformats.org/drawingml/2006/main" noGrp="1"/>
          </p:cNvSpPr>
          <p:nvPr/>
        </p:nvSpPr>
        <p:spPr>
          <a:xfrm xmlns:a="http://schemas.openxmlformats.org/drawingml/2006/main">
            <a:off x="609600" y="3028950"/>
            <a:ext cx="1371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080A0"/>
                </a:solidFill>
                <a:latin typeface="Geist Mono"/>
                <a:ea typeface="Geist Mono"/>
                <a:cs typeface="Geist Mono"/>
              </a:defRPr>
            </a:pPr>
            <a:r>
              <a:rPr sz="1875" b="1">
                <a:solidFill>
                  <a:srgbClr val="0080A0"/>
                </a:solidFill>
                <a:latin typeface="Geist Mono"/>
                <a:ea typeface="Geist Mono"/>
                <a:cs typeface="Geist Mono"/>
              </a:rPr>
              <a:t>03 Min.</a:t>
            </a:r>
          </a:p>
        </p:txBody>
      </p:sp>
      <p:sp>
        <p:nvSpPr>
          <p:cNvPr id="12" name="block-454">
            <a:extLst xmlns:a="http://schemas.openxmlformats.org/drawingml/2006/main">
              <a:ext uri="{FF2B5EF4-FFF2-40B4-BE49-F238E27FC236}">
                <a16:creationId xmlns:a16="http://schemas.microsoft.com/office/drawing/2014/main" id="{9A122D42-B05A-4297-A900-A50C229293AE}"/>
              </a:ext>
            </a:extLst>
          </p:cNvPr>
          <p:cNvSpPr>
            <a:spLocks xmlns:a="http://schemas.openxmlformats.org/drawingml/2006/main" noGrp="1"/>
          </p:cNvSpPr>
          <p:nvPr/>
        </p:nvSpPr>
        <p:spPr>
          <a:xfrm xmlns:a="http://schemas.openxmlformats.org/drawingml/2006/main">
            <a:off x="2447925" y="3028950"/>
            <a:ext cx="3162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Bereinigung</a:t>
            </a:r>
          </a:p>
        </p:txBody>
      </p:sp>
      <p:sp>
        <p:nvSpPr>
          <p:cNvPr id="13" name="block-455">
            <a:extLst xmlns:a="http://schemas.openxmlformats.org/drawingml/2006/main">
              <a:ext uri="{FF2B5EF4-FFF2-40B4-BE49-F238E27FC236}">
                <a16:creationId xmlns:a16="http://schemas.microsoft.com/office/drawing/2014/main" id="{0FEAEC57-F638-4FD3-B3D1-DC361D48BE3A}"/>
              </a:ext>
            </a:extLst>
          </p:cNvPr>
          <p:cNvSpPr>
            <a:spLocks xmlns:a="http://schemas.openxmlformats.org/drawingml/2006/main" noGrp="1"/>
          </p:cNvSpPr>
          <p:nvPr/>
        </p:nvSpPr>
        <p:spPr>
          <a:xfrm xmlns:a="http://schemas.openxmlformats.org/drawingml/2006/main">
            <a:off x="5772150" y="3038475"/>
            <a:ext cx="581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Einheit, Schlüssel und Fehlwertlogik</a:t>
            </a:r>
          </a:p>
        </p:txBody>
      </p:sp>
      <p:sp>
        <p:nvSpPr>
          <p:cNvPr id="14" name="block-456">
            <a:extLst xmlns:a="http://schemas.openxmlformats.org/drawingml/2006/main">
              <a:ext uri="{FF2B5EF4-FFF2-40B4-BE49-F238E27FC236}">
                <a16:creationId xmlns:a16="http://schemas.microsoft.com/office/drawing/2014/main" id="{A7620B51-50D2-4CA1-BF71-1CA23F630576}"/>
              </a:ext>
            </a:extLst>
          </p:cNvPr>
          <p:cNvSpPr>
            <a:spLocks xmlns:a="http://schemas.openxmlformats.org/drawingml/2006/main" noGrp="1"/>
          </p:cNvSpPr>
          <p:nvPr/>
        </p:nvSpPr>
        <p:spPr>
          <a:xfrm xmlns:a="http://schemas.openxmlformats.org/drawingml/2006/main">
            <a:off x="609600" y="3571875"/>
            <a:ext cx="1371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080A0"/>
                </a:solidFill>
                <a:latin typeface="Geist Mono"/>
                <a:ea typeface="Geist Mono"/>
                <a:cs typeface="Geist Mono"/>
              </a:defRPr>
            </a:pPr>
            <a:r>
              <a:rPr sz="1875" b="1">
                <a:solidFill>
                  <a:srgbClr val="0080A0"/>
                </a:solidFill>
                <a:latin typeface="Geist Mono"/>
                <a:ea typeface="Geist Mono"/>
                <a:cs typeface="Geist Mono"/>
              </a:rPr>
              <a:t>03 Min.</a:t>
            </a:r>
          </a:p>
        </p:txBody>
      </p:sp>
      <p:sp>
        <p:nvSpPr>
          <p:cNvPr id="15" name="block-457">
            <a:extLst xmlns:a="http://schemas.openxmlformats.org/drawingml/2006/main">
              <a:ext uri="{FF2B5EF4-FFF2-40B4-BE49-F238E27FC236}">
                <a16:creationId xmlns:a16="http://schemas.microsoft.com/office/drawing/2014/main" id="{0083BAE8-B2B9-43BD-BDD4-B6D3D7E1D016}"/>
              </a:ext>
            </a:extLst>
          </p:cNvPr>
          <p:cNvSpPr>
            <a:spLocks xmlns:a="http://schemas.openxmlformats.org/drawingml/2006/main" noGrp="1"/>
          </p:cNvSpPr>
          <p:nvPr/>
        </p:nvSpPr>
        <p:spPr>
          <a:xfrm xmlns:a="http://schemas.openxmlformats.org/drawingml/2006/main">
            <a:off x="2447925" y="3571875"/>
            <a:ext cx="3162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EDA</a:t>
            </a:r>
          </a:p>
        </p:txBody>
      </p:sp>
      <p:sp>
        <p:nvSpPr>
          <p:cNvPr id="16" name="block-458">
            <a:extLst xmlns:a="http://schemas.openxmlformats.org/drawingml/2006/main">
              <a:ext uri="{FF2B5EF4-FFF2-40B4-BE49-F238E27FC236}">
                <a16:creationId xmlns:a16="http://schemas.microsoft.com/office/drawing/2014/main" id="{59EB8479-C472-4011-BCF3-DF35DF440DED}"/>
              </a:ext>
            </a:extLst>
          </p:cNvPr>
          <p:cNvSpPr>
            <a:spLocks xmlns:a="http://schemas.openxmlformats.org/drawingml/2006/main" noGrp="1"/>
          </p:cNvSpPr>
          <p:nvPr/>
        </p:nvSpPr>
        <p:spPr>
          <a:xfrm xmlns:a="http://schemas.openxmlformats.org/drawingml/2006/main">
            <a:off x="5772150" y="3581400"/>
            <a:ext cx="581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Saison, Kundentyp und Normalisierung</a:t>
            </a:r>
          </a:p>
        </p:txBody>
      </p:sp>
      <p:sp>
        <p:nvSpPr>
          <p:cNvPr id="17" name="block-459">
            <a:extLst xmlns:a="http://schemas.openxmlformats.org/drawingml/2006/main">
              <a:ext uri="{FF2B5EF4-FFF2-40B4-BE49-F238E27FC236}">
                <a16:creationId xmlns:a16="http://schemas.microsoft.com/office/drawing/2014/main" id="{1F03C9FE-3B29-4CD4-9B57-97E1A9621A0B}"/>
              </a:ext>
            </a:extLst>
          </p:cNvPr>
          <p:cNvSpPr>
            <a:spLocks xmlns:a="http://schemas.openxmlformats.org/drawingml/2006/main" noGrp="1"/>
          </p:cNvSpPr>
          <p:nvPr/>
        </p:nvSpPr>
        <p:spPr>
          <a:xfrm xmlns:a="http://schemas.openxmlformats.org/drawingml/2006/main">
            <a:off x="609600" y="4114800"/>
            <a:ext cx="1371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080A0"/>
                </a:solidFill>
                <a:latin typeface="Geist Mono"/>
                <a:ea typeface="Geist Mono"/>
                <a:cs typeface="Geist Mono"/>
              </a:defRPr>
            </a:pPr>
            <a:r>
              <a:rPr sz="1875" b="1">
                <a:solidFill>
                  <a:srgbClr val="0080A0"/>
                </a:solidFill>
                <a:latin typeface="Geist Mono"/>
                <a:ea typeface="Geist Mono"/>
                <a:cs typeface="Geist Mono"/>
              </a:rPr>
              <a:t>04 Min.</a:t>
            </a:r>
          </a:p>
        </p:txBody>
      </p:sp>
      <p:sp>
        <p:nvSpPr>
          <p:cNvPr id="18" name="block-460">
            <a:extLst xmlns:a="http://schemas.openxmlformats.org/drawingml/2006/main">
              <a:ext uri="{FF2B5EF4-FFF2-40B4-BE49-F238E27FC236}">
                <a16:creationId xmlns:a16="http://schemas.microsoft.com/office/drawing/2014/main" id="{13B25366-5D87-4EE5-A665-60EA25F740AD}"/>
              </a:ext>
            </a:extLst>
          </p:cNvPr>
          <p:cNvSpPr>
            <a:spLocks xmlns:a="http://schemas.openxmlformats.org/drawingml/2006/main" noGrp="1"/>
          </p:cNvSpPr>
          <p:nvPr/>
        </p:nvSpPr>
        <p:spPr>
          <a:xfrm xmlns:a="http://schemas.openxmlformats.org/drawingml/2006/main">
            <a:off x="2447925" y="4114800"/>
            <a:ext cx="3162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Modellierung</a:t>
            </a:r>
          </a:p>
        </p:txBody>
      </p:sp>
      <p:sp>
        <p:nvSpPr>
          <p:cNvPr id="19" name="block-461">
            <a:extLst xmlns:a="http://schemas.openxmlformats.org/drawingml/2006/main">
              <a:ext uri="{FF2B5EF4-FFF2-40B4-BE49-F238E27FC236}">
                <a16:creationId xmlns:a16="http://schemas.microsoft.com/office/drawing/2014/main" id="{E68E0C08-AF67-4E64-8546-B668058EEF42}"/>
              </a:ext>
            </a:extLst>
          </p:cNvPr>
          <p:cNvSpPr>
            <a:spLocks xmlns:a="http://schemas.openxmlformats.org/drawingml/2006/main" noGrp="1"/>
          </p:cNvSpPr>
          <p:nvPr/>
        </p:nvSpPr>
        <p:spPr>
          <a:xfrm xmlns:a="http://schemas.openxmlformats.org/drawingml/2006/main">
            <a:off x="5772150" y="4124325"/>
            <a:ext cx="581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Zeit-Folds, Benchmark und q99</a:t>
            </a:r>
          </a:p>
        </p:txBody>
      </p:sp>
      <p:sp>
        <p:nvSpPr>
          <p:cNvPr id="20" name="block-462">
            <a:extLst xmlns:a="http://schemas.openxmlformats.org/drawingml/2006/main">
              <a:ext uri="{FF2B5EF4-FFF2-40B4-BE49-F238E27FC236}">
                <a16:creationId xmlns:a16="http://schemas.microsoft.com/office/drawing/2014/main" id="{FE9E45B8-8CD5-479A-9AF1-5520B8105980}"/>
              </a:ext>
            </a:extLst>
          </p:cNvPr>
          <p:cNvSpPr>
            <a:spLocks xmlns:a="http://schemas.openxmlformats.org/drawingml/2006/main" noGrp="1"/>
          </p:cNvSpPr>
          <p:nvPr/>
        </p:nvSpPr>
        <p:spPr>
          <a:xfrm xmlns:a="http://schemas.openxmlformats.org/drawingml/2006/main">
            <a:off x="609600" y="4657725"/>
            <a:ext cx="1371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080A0"/>
                </a:solidFill>
                <a:latin typeface="Geist Mono"/>
                <a:ea typeface="Geist Mono"/>
                <a:cs typeface="Geist Mono"/>
              </a:defRPr>
            </a:pPr>
            <a:r>
              <a:rPr sz="1875" b="1">
                <a:solidFill>
                  <a:srgbClr val="0080A0"/>
                </a:solidFill>
                <a:latin typeface="Geist Mono"/>
                <a:ea typeface="Geist Mono"/>
                <a:cs typeface="Geist Mono"/>
              </a:rPr>
              <a:t>02 Min.</a:t>
            </a:r>
          </a:p>
        </p:txBody>
      </p:sp>
      <p:sp>
        <p:nvSpPr>
          <p:cNvPr id="21" name="block-463">
            <a:extLst xmlns:a="http://schemas.openxmlformats.org/drawingml/2006/main">
              <a:ext uri="{FF2B5EF4-FFF2-40B4-BE49-F238E27FC236}">
                <a16:creationId xmlns:a16="http://schemas.microsoft.com/office/drawing/2014/main" id="{1C94B487-815F-4F1B-B116-13C9C49EC751}"/>
              </a:ext>
            </a:extLst>
          </p:cNvPr>
          <p:cNvSpPr>
            <a:spLocks xmlns:a="http://schemas.openxmlformats.org/drawingml/2006/main" noGrp="1"/>
          </p:cNvSpPr>
          <p:nvPr/>
        </p:nvSpPr>
        <p:spPr>
          <a:xfrm xmlns:a="http://schemas.openxmlformats.org/drawingml/2006/main">
            <a:off x="2447925" y="4657725"/>
            <a:ext cx="3162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Cockpit</a:t>
            </a:r>
          </a:p>
        </p:txBody>
      </p:sp>
      <p:sp>
        <p:nvSpPr>
          <p:cNvPr id="22" name="block-464">
            <a:extLst xmlns:a="http://schemas.openxmlformats.org/drawingml/2006/main">
              <a:ext uri="{FF2B5EF4-FFF2-40B4-BE49-F238E27FC236}">
                <a16:creationId xmlns:a16="http://schemas.microsoft.com/office/drawing/2014/main" id="{E9A070E7-ED12-46A7-8A71-629750DB5C6F}"/>
              </a:ext>
            </a:extLst>
          </p:cNvPr>
          <p:cNvSpPr>
            <a:spLocks xmlns:a="http://schemas.openxmlformats.org/drawingml/2006/main" noGrp="1"/>
          </p:cNvSpPr>
          <p:nvPr/>
        </p:nvSpPr>
        <p:spPr>
          <a:xfrm xmlns:a="http://schemas.openxmlformats.org/drawingml/2006/main">
            <a:off x="5772150" y="4667250"/>
            <a:ext cx="581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Fall prüfen und Ergebnis festhalten</a:t>
            </a:r>
          </a:p>
        </p:txBody>
      </p:sp>
      <p:sp>
        <p:nvSpPr>
          <p:cNvPr id="23" name="block-465">
            <a:extLst xmlns:a="http://schemas.openxmlformats.org/drawingml/2006/main">
              <a:ext uri="{FF2B5EF4-FFF2-40B4-BE49-F238E27FC236}">
                <a16:creationId xmlns:a16="http://schemas.microsoft.com/office/drawing/2014/main" id="{325D31E2-84D2-41CF-978A-B54709F0EC3A}"/>
              </a:ext>
            </a:extLst>
          </p:cNvPr>
          <p:cNvSpPr>
            <a:spLocks xmlns:a="http://schemas.openxmlformats.org/drawingml/2006/main" noGrp="1"/>
          </p:cNvSpPr>
          <p:nvPr/>
        </p:nvSpPr>
        <p:spPr>
          <a:xfrm xmlns:a="http://schemas.openxmlformats.org/drawingml/2006/main">
            <a:off x="609600" y="5200650"/>
            <a:ext cx="1371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080A0"/>
                </a:solidFill>
                <a:latin typeface="Geist Mono"/>
                <a:ea typeface="Geist Mono"/>
                <a:cs typeface="Geist Mono"/>
              </a:defRPr>
            </a:pPr>
            <a:r>
              <a:rPr sz="1875" b="1">
                <a:solidFill>
                  <a:srgbClr val="0080A0"/>
                </a:solidFill>
                <a:latin typeface="Geist Mono"/>
                <a:ea typeface="Geist Mono"/>
                <a:cs typeface="Geist Mono"/>
              </a:rPr>
              <a:t>01 Min.</a:t>
            </a:r>
          </a:p>
        </p:txBody>
      </p:sp>
      <p:sp>
        <p:nvSpPr>
          <p:cNvPr id="24" name="block-466">
            <a:extLst xmlns:a="http://schemas.openxmlformats.org/drawingml/2006/main">
              <a:ext uri="{FF2B5EF4-FFF2-40B4-BE49-F238E27FC236}">
                <a16:creationId xmlns:a16="http://schemas.microsoft.com/office/drawing/2014/main" id="{DC4CC67A-5D4F-4F69-BB8B-BD4F1329AB62}"/>
              </a:ext>
            </a:extLst>
          </p:cNvPr>
          <p:cNvSpPr>
            <a:spLocks xmlns:a="http://schemas.openxmlformats.org/drawingml/2006/main" noGrp="1"/>
          </p:cNvSpPr>
          <p:nvPr/>
        </p:nvSpPr>
        <p:spPr>
          <a:xfrm xmlns:a="http://schemas.openxmlformats.org/drawingml/2006/main">
            <a:off x="2447925" y="5200650"/>
            <a:ext cx="3162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Rückfragen</a:t>
            </a:r>
          </a:p>
        </p:txBody>
      </p:sp>
      <p:sp>
        <p:nvSpPr>
          <p:cNvPr id="25" name="block-467">
            <a:extLst xmlns:a="http://schemas.openxmlformats.org/drawingml/2006/main">
              <a:ext uri="{FF2B5EF4-FFF2-40B4-BE49-F238E27FC236}">
                <a16:creationId xmlns:a16="http://schemas.microsoft.com/office/drawing/2014/main" id="{33EBADF4-F874-41F3-939E-5EE26D56E69B}"/>
              </a:ext>
            </a:extLst>
          </p:cNvPr>
          <p:cNvSpPr>
            <a:spLocks xmlns:a="http://schemas.openxmlformats.org/drawingml/2006/main" noGrp="1"/>
          </p:cNvSpPr>
          <p:nvPr/>
        </p:nvSpPr>
        <p:spPr>
          <a:xfrm xmlns:a="http://schemas.openxmlformats.org/drawingml/2006/main">
            <a:off x="5772150" y="5210175"/>
            <a:ext cx="581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Offene Punkte gezielt aufnehmen</a:t>
            </a:r>
          </a:p>
        </p:txBody>
      </p:sp>
    </p:spTree>
    <p:extLst>
      <p:ext uri="{BB962C8B-B14F-4D97-AF65-F5344CB8AC3E}">
        <p14:creationId xmlns:p14="http://schemas.microsoft.com/office/powerpoint/2010/main" val="56942978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block-468">
            <a:extLst xmlns:a="http://schemas.openxmlformats.org/drawingml/2006/main">
              <a:ext uri="{FF2B5EF4-FFF2-40B4-BE49-F238E27FC236}">
                <a16:creationId xmlns:a16="http://schemas.microsoft.com/office/drawing/2014/main" id="{27F9D59E-36B9-47FB-94FF-A933010C9ECA}"/>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08 / COCKPIT</a:t>
            </a:r>
          </a:p>
        </p:txBody>
      </p:sp>
      <p:sp>
        <p:nvSpPr>
          <p:cNvPr id="2" name="block-469">
            <a:extLst xmlns:a="http://schemas.openxmlformats.org/drawingml/2006/main">
              <a:ext uri="{FF2B5EF4-FFF2-40B4-BE49-F238E27FC236}">
                <a16:creationId xmlns:a16="http://schemas.microsoft.com/office/drawing/2014/main" id="{5449702B-0E0E-470B-93E2-82E95FFBCF0B}"/>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Vom Gesamtbild in den konkreten Prüffall</a:t>
            </a:r>
          </a:p>
        </p:txBody>
      </p:sp>
      <p:sp>
        <p:nvSpPr>
          <p:cNvPr id="3" name="block-470">
            <a:extLst xmlns:a="http://schemas.openxmlformats.org/drawingml/2006/main">
              <a:ext uri="{FF2B5EF4-FFF2-40B4-BE49-F238E27FC236}">
                <a16:creationId xmlns:a16="http://schemas.microsoft.com/office/drawing/2014/main" id="{1FCC2CB9-888C-4C51-A4A4-6129F7CC1141}"/>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Lokale Demo mit retrospektiven Projektdaten · keine produktive Systemanbindung</a:t>
            </a:r>
          </a:p>
        </p:txBody>
      </p:sp>
      <p:sp>
        <p:nvSpPr>
          <p:cNvPr id="4" name="block-471">
            <a:extLst xmlns:a="http://schemas.openxmlformats.org/drawingml/2006/main">
              <a:ext uri="{FF2B5EF4-FFF2-40B4-BE49-F238E27FC236}">
                <a16:creationId xmlns:a16="http://schemas.microsoft.com/office/drawing/2014/main" id="{5E5E46A5-76AD-4A18-AE10-5F39E9D54171}"/>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6c7bd3f18eeb4da5"/>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472">
            <a:extLst xmlns:a="http://schemas.openxmlformats.org/drawingml/2006/main">
              <a:ext uri="{FF2B5EF4-FFF2-40B4-BE49-F238E27FC236}">
                <a16:creationId xmlns:a16="http://schemas.microsoft.com/office/drawing/2014/main" id="{E2E617A6-9BED-4AC6-8A13-54C2AC612FCD}"/>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473">
            <a:extLst xmlns:a="http://schemas.openxmlformats.org/drawingml/2006/main">
              <a:ext uri="{FF2B5EF4-FFF2-40B4-BE49-F238E27FC236}">
                <a16:creationId xmlns:a16="http://schemas.microsoft.com/office/drawing/2014/main" id="{2F05A1A8-1A1D-4FFE-9ACB-0DA02CE0A144}"/>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27 / 39</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672dabf3a63245f1"/>
          <a:stretch xmlns:a="http://schemas.openxmlformats.org/drawingml/2006/main"/>
        </p:blipFill>
        <p:spPr>
          <a:xfrm xmlns:a="http://schemas.openxmlformats.org/drawingml/2006/main">
            <a:off x="1545908" y="2524125"/>
            <a:ext cx="5394960" cy="3371850"/>
          </a:xfrm>
          <a:prstGeom xmlns:a="http://schemas.openxmlformats.org/drawingml/2006/main" prst="rect">
            <a:avLst/>
          </a:prstGeom>
        </p:spPr>
      </p:pic>
      <p:sp>
        <p:nvSpPr>
          <p:cNvPr id="9" name="block-474">
            <a:extLst xmlns:a="http://schemas.openxmlformats.org/drawingml/2006/main">
              <a:ext uri="{FF2B5EF4-FFF2-40B4-BE49-F238E27FC236}">
                <a16:creationId xmlns:a16="http://schemas.microsoft.com/office/drawing/2014/main" id="{473ED5A5-B9E6-497A-A435-5AC423E923E6}"/>
              </a:ext>
            </a:extLst>
          </p:cNvPr>
          <p:cNvSpPr>
            <a:spLocks xmlns:a="http://schemas.openxmlformats.org/drawingml/2006/main" noGrp="1"/>
          </p:cNvSpPr>
          <p:nvPr/>
        </p:nvSpPr>
        <p:spPr>
          <a:xfrm xmlns:a="http://schemas.openxmlformats.org/drawingml/2006/main">
            <a:off x="8334375" y="2686050"/>
            <a:ext cx="514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01</a:t>
            </a:r>
          </a:p>
        </p:txBody>
      </p:sp>
      <p:sp>
        <p:nvSpPr>
          <p:cNvPr id="10" name="block-475">
            <a:extLst xmlns:a="http://schemas.openxmlformats.org/drawingml/2006/main">
              <a:ext uri="{FF2B5EF4-FFF2-40B4-BE49-F238E27FC236}">
                <a16:creationId xmlns:a16="http://schemas.microsoft.com/office/drawing/2014/main" id="{3D79662F-BA26-4C0C-89CC-E2A5AD3B5A46}"/>
              </a:ext>
            </a:extLst>
          </p:cNvPr>
          <p:cNvSpPr>
            <a:spLocks xmlns:a="http://schemas.openxmlformats.org/drawingml/2006/main" noGrp="1"/>
          </p:cNvSpPr>
          <p:nvPr/>
        </p:nvSpPr>
        <p:spPr>
          <a:xfrm xmlns:a="http://schemas.openxmlformats.org/drawingml/2006/main">
            <a:off x="9010650" y="2686050"/>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063659"/>
                </a:solidFill>
                <a:latin typeface="IBM Plex Sans"/>
                <a:ea typeface="IBM Plex Sans"/>
                <a:cs typeface="IBM Plex Sans"/>
              </a:defRPr>
            </a:pPr>
            <a:r>
              <a:rPr sz="1875" b="0">
                <a:solidFill>
                  <a:srgbClr val="063659"/>
                </a:solidFill>
                <a:latin typeface="IBM Plex Sans"/>
                <a:ea typeface="IBM Plex Sans"/>
                <a:cs typeface="IBM Plex Sans"/>
              </a:rPr>
              <a:t>Umfang kontrollieren</a:t>
            </a:r>
          </a:p>
        </p:txBody>
      </p:sp>
      <p:sp>
        <p:nvSpPr>
          <p:cNvPr id="11" name="block-476">
            <a:extLst xmlns:a="http://schemas.openxmlformats.org/drawingml/2006/main">
              <a:ext uri="{FF2B5EF4-FFF2-40B4-BE49-F238E27FC236}">
                <a16:creationId xmlns:a16="http://schemas.microsoft.com/office/drawing/2014/main" id="{B12363B9-BD93-41DE-BE06-671250D9D93D}"/>
              </a:ext>
            </a:extLst>
          </p:cNvPr>
          <p:cNvSpPr>
            <a:spLocks xmlns:a="http://schemas.openxmlformats.org/drawingml/2006/main" noGrp="1"/>
          </p:cNvSpPr>
          <p:nvPr/>
        </p:nvSpPr>
        <p:spPr>
          <a:xfrm xmlns:a="http://schemas.openxmlformats.org/drawingml/2006/main">
            <a:off x="8334375" y="3238500"/>
            <a:ext cx="514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02</a:t>
            </a:r>
          </a:p>
        </p:txBody>
      </p:sp>
      <p:sp>
        <p:nvSpPr>
          <p:cNvPr id="12" name="block-477">
            <a:extLst xmlns:a="http://schemas.openxmlformats.org/drawingml/2006/main">
              <a:ext uri="{FF2B5EF4-FFF2-40B4-BE49-F238E27FC236}">
                <a16:creationId xmlns:a16="http://schemas.microsoft.com/office/drawing/2014/main" id="{EF37A80F-66AB-465D-8A3C-27B8A20B7552}"/>
              </a:ext>
            </a:extLst>
          </p:cNvPr>
          <p:cNvSpPr>
            <a:spLocks xmlns:a="http://schemas.openxmlformats.org/drawingml/2006/main" noGrp="1"/>
          </p:cNvSpPr>
          <p:nvPr/>
        </p:nvSpPr>
        <p:spPr>
          <a:xfrm xmlns:a="http://schemas.openxmlformats.org/drawingml/2006/main">
            <a:off x="9010650" y="3238500"/>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063659"/>
                </a:solidFill>
                <a:latin typeface="IBM Plex Sans"/>
                <a:ea typeface="IBM Plex Sans"/>
                <a:cs typeface="IBM Plex Sans"/>
              </a:defRPr>
            </a:pPr>
            <a:r>
              <a:rPr sz="1875" b="0">
                <a:solidFill>
                  <a:srgbClr val="063659"/>
                </a:solidFill>
                <a:latin typeface="IBM Plex Sans"/>
                <a:ea typeface="IBM Plex Sans"/>
                <a:cs typeface="IBM Plex Sans"/>
              </a:rPr>
              <a:t>Fall auswählen</a:t>
            </a:r>
          </a:p>
        </p:txBody>
      </p:sp>
      <p:sp>
        <p:nvSpPr>
          <p:cNvPr id="13" name="block-478">
            <a:extLst xmlns:a="http://schemas.openxmlformats.org/drawingml/2006/main">
              <a:ext uri="{FF2B5EF4-FFF2-40B4-BE49-F238E27FC236}">
                <a16:creationId xmlns:a16="http://schemas.microsoft.com/office/drawing/2014/main" id="{20FF89F7-30DF-4546-8E44-2C02B2FDEFF0}"/>
              </a:ext>
            </a:extLst>
          </p:cNvPr>
          <p:cNvSpPr>
            <a:spLocks xmlns:a="http://schemas.openxmlformats.org/drawingml/2006/main" noGrp="1"/>
          </p:cNvSpPr>
          <p:nvPr/>
        </p:nvSpPr>
        <p:spPr>
          <a:xfrm xmlns:a="http://schemas.openxmlformats.org/drawingml/2006/main">
            <a:off x="8334375" y="3790950"/>
            <a:ext cx="514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03</a:t>
            </a:r>
          </a:p>
        </p:txBody>
      </p:sp>
      <p:sp>
        <p:nvSpPr>
          <p:cNvPr id="14" name="block-479">
            <a:extLst xmlns:a="http://schemas.openxmlformats.org/drawingml/2006/main">
              <a:ext uri="{FF2B5EF4-FFF2-40B4-BE49-F238E27FC236}">
                <a16:creationId xmlns:a16="http://schemas.microsoft.com/office/drawing/2014/main" id="{EFC48E98-BE35-4A74-B2D0-03ECFADC282A}"/>
              </a:ext>
            </a:extLst>
          </p:cNvPr>
          <p:cNvSpPr>
            <a:spLocks xmlns:a="http://schemas.openxmlformats.org/drawingml/2006/main" noGrp="1"/>
          </p:cNvSpPr>
          <p:nvPr/>
        </p:nvSpPr>
        <p:spPr>
          <a:xfrm xmlns:a="http://schemas.openxmlformats.org/drawingml/2006/main">
            <a:off x="9010650" y="3790950"/>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063659"/>
                </a:solidFill>
                <a:latin typeface="IBM Plex Sans"/>
                <a:ea typeface="IBM Plex Sans"/>
                <a:cs typeface="IBM Plex Sans"/>
              </a:defRPr>
            </a:pPr>
            <a:r>
              <a:rPr sz="1875" b="0">
                <a:solidFill>
                  <a:srgbClr val="063659"/>
                </a:solidFill>
                <a:latin typeface="IBM Plex Sans"/>
                <a:ea typeface="IBM Plex Sans"/>
                <a:cs typeface="IBM Plex Sans"/>
              </a:rPr>
              <a:t>Abweichung erklären</a:t>
            </a:r>
          </a:p>
        </p:txBody>
      </p:sp>
      <p:sp>
        <p:nvSpPr>
          <p:cNvPr id="15" name="block-480">
            <a:extLst xmlns:a="http://schemas.openxmlformats.org/drawingml/2006/main">
              <a:ext uri="{FF2B5EF4-FFF2-40B4-BE49-F238E27FC236}">
                <a16:creationId xmlns:a16="http://schemas.microsoft.com/office/drawing/2014/main" id="{D645AA5D-F895-4AA7-8056-88EB32883913}"/>
              </a:ext>
            </a:extLst>
          </p:cNvPr>
          <p:cNvSpPr>
            <a:spLocks xmlns:a="http://schemas.openxmlformats.org/drawingml/2006/main" noGrp="1"/>
          </p:cNvSpPr>
          <p:nvPr/>
        </p:nvSpPr>
        <p:spPr>
          <a:xfrm xmlns:a="http://schemas.openxmlformats.org/drawingml/2006/main">
            <a:off x="8334375" y="4343400"/>
            <a:ext cx="514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04</a:t>
            </a:r>
          </a:p>
        </p:txBody>
      </p:sp>
      <p:sp>
        <p:nvSpPr>
          <p:cNvPr id="16" name="block-481">
            <a:extLst xmlns:a="http://schemas.openxmlformats.org/drawingml/2006/main">
              <a:ext uri="{FF2B5EF4-FFF2-40B4-BE49-F238E27FC236}">
                <a16:creationId xmlns:a16="http://schemas.microsoft.com/office/drawing/2014/main" id="{8F1FC9C7-0DCA-472B-88AC-2AFD5F55B39A}"/>
              </a:ext>
            </a:extLst>
          </p:cNvPr>
          <p:cNvSpPr>
            <a:spLocks xmlns:a="http://schemas.openxmlformats.org/drawingml/2006/main" noGrp="1"/>
          </p:cNvSpPr>
          <p:nvPr/>
        </p:nvSpPr>
        <p:spPr>
          <a:xfrm xmlns:a="http://schemas.openxmlformats.org/drawingml/2006/main">
            <a:off x="9010650" y="4343400"/>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063659"/>
                </a:solidFill>
                <a:latin typeface="IBM Plex Sans"/>
                <a:ea typeface="IBM Plex Sans"/>
                <a:cs typeface="IBM Plex Sans"/>
              </a:defRPr>
            </a:pPr>
            <a:r>
              <a:rPr sz="1875" b="0">
                <a:solidFill>
                  <a:srgbClr val="063659"/>
                </a:solidFill>
                <a:latin typeface="IBM Plex Sans"/>
                <a:ea typeface="IBM Plex Sans"/>
                <a:cs typeface="IBM Plex Sans"/>
              </a:rPr>
              <a:t>Kontext prüfen</a:t>
            </a:r>
          </a:p>
        </p:txBody>
      </p:sp>
      <p:sp>
        <p:nvSpPr>
          <p:cNvPr id="17" name="block-482">
            <a:extLst xmlns:a="http://schemas.openxmlformats.org/drawingml/2006/main">
              <a:ext uri="{FF2B5EF4-FFF2-40B4-BE49-F238E27FC236}">
                <a16:creationId xmlns:a16="http://schemas.microsoft.com/office/drawing/2014/main" id="{B1385208-A573-4E1D-95C5-C1433E86E16D}"/>
              </a:ext>
            </a:extLst>
          </p:cNvPr>
          <p:cNvSpPr>
            <a:spLocks xmlns:a="http://schemas.openxmlformats.org/drawingml/2006/main" noGrp="1"/>
          </p:cNvSpPr>
          <p:nvPr/>
        </p:nvSpPr>
        <p:spPr>
          <a:xfrm xmlns:a="http://schemas.openxmlformats.org/drawingml/2006/main">
            <a:off x="8334375" y="4895850"/>
            <a:ext cx="514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05</a:t>
            </a:r>
          </a:p>
        </p:txBody>
      </p:sp>
      <p:sp>
        <p:nvSpPr>
          <p:cNvPr id="18" name="block-483">
            <a:extLst xmlns:a="http://schemas.openxmlformats.org/drawingml/2006/main">
              <a:ext uri="{FF2B5EF4-FFF2-40B4-BE49-F238E27FC236}">
                <a16:creationId xmlns:a16="http://schemas.microsoft.com/office/drawing/2014/main" id="{2E6C71D2-F6F1-472E-9232-E7B1B64DA426}"/>
              </a:ext>
            </a:extLst>
          </p:cNvPr>
          <p:cNvSpPr>
            <a:spLocks xmlns:a="http://schemas.openxmlformats.org/drawingml/2006/main" noGrp="1"/>
          </p:cNvSpPr>
          <p:nvPr/>
        </p:nvSpPr>
        <p:spPr>
          <a:xfrm xmlns:a="http://schemas.openxmlformats.org/drawingml/2006/main">
            <a:off x="9010650" y="4895850"/>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063659"/>
                </a:solidFill>
                <a:latin typeface="IBM Plex Sans"/>
                <a:ea typeface="IBM Plex Sans"/>
                <a:cs typeface="IBM Plex Sans"/>
              </a:defRPr>
            </a:pPr>
            <a:r>
              <a:rPr sz="1875" b="0">
                <a:solidFill>
                  <a:srgbClr val="063659"/>
                </a:solidFill>
                <a:latin typeface="IBM Plex Sans"/>
                <a:ea typeface="IBM Plex Sans"/>
                <a:cs typeface="IBM Plex Sans"/>
              </a:rPr>
              <a:t>Einordnung festhalten</a:t>
            </a:r>
          </a:p>
        </p:txBody>
      </p:sp>
      <p:sp>
        <p:nvSpPr>
          <p:cNvPr id="19" name="block-484">
            <a:extLst xmlns:a="http://schemas.openxmlformats.org/drawingml/2006/main">
              <a:ext uri="{FF2B5EF4-FFF2-40B4-BE49-F238E27FC236}">
                <a16:creationId xmlns:a16="http://schemas.microsoft.com/office/drawing/2014/main" id="{1DBD4A49-7C65-4C5D-A41F-BD5BEA48A99B}"/>
              </a:ext>
            </a:extLst>
          </p:cNvPr>
          <p:cNvSpPr>
            <a:spLocks xmlns:a="http://schemas.openxmlformats.org/drawingml/2006/main" noGrp="1"/>
          </p:cNvSpPr>
          <p:nvPr/>
        </p:nvSpPr>
        <p:spPr>
          <a:xfrm xmlns:a="http://schemas.openxmlformats.org/drawingml/2006/main">
            <a:off x="8334375" y="5514975"/>
            <a:ext cx="32480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080A0"/>
                </a:solidFill>
                <a:latin typeface="IBM Plex Sans"/>
                <a:ea typeface="IBM Plex Sans"/>
                <a:cs typeface="IBM Plex Sans"/>
              </a:defRPr>
            </a:pPr>
            <a:r>
              <a:rPr sz="1800" b="1">
                <a:solidFill>
                  <a:srgbClr val="0080A0"/>
                </a:solidFill>
                <a:latin typeface="IBM Plex Sans"/>
                <a:ea typeface="IBM Plex Sans"/>
                <a:cs typeface="IBM Plex Sans"/>
                <a:hlinkClick xmlns:r="http://schemas.openxmlformats.org/officeDocument/2006/relationships" r:id="Rd82456c217414a1d"/>
              </a:rPr>
              <a:t>Lokales Cockpit öffnen →</a:t>
            </a:r>
          </a:p>
        </p:txBody>
      </p:sp>
    </p:spTree>
    <p:extLst>
      <p:ext uri="{BB962C8B-B14F-4D97-AF65-F5344CB8AC3E}">
        <p14:creationId xmlns:p14="http://schemas.microsoft.com/office/powerpoint/2010/main" val="821003487"/>
      </p:ext>
    </p:extLst>
  </p:cSld>
</p:sld>
</file>

<file path=ppt/slides/slide28.xml><?xml version="1.0" encoding="utf-8"?>
<p:sld xmlns:p="http://schemas.openxmlformats.org/presentationml/2006/main">
  <p:cSld>
    <p:bg>
      <p:bgPr>
        <a:solidFill xmlns:a="http://schemas.openxmlformats.org/drawingml/2006/main">
          <a:srgbClr val="063659"/>
        </a:solidFill>
      </p:bgPr>
    </p:bg>
    <p:spTree>
      <p:nvGrpSpPr>
        <p:cNvPr id="1" name=""/>
        <p:cNvGrpSpPr/>
        <p:nvPr/>
      </p:nvGrpSpPr>
      <p:grpSpPr>
        <a:xfrm xmlns:a="http://schemas.openxmlformats.org/drawingml/2006/main"/>
      </p:grpSpPr>
      <p:sp>
        <p:nvSpPr>
          <p:cNvPr id="9" name="block-485">
            <a:extLst xmlns:a="http://schemas.openxmlformats.org/drawingml/2006/main">
              <a:ext uri="{FF2B5EF4-FFF2-40B4-BE49-F238E27FC236}">
                <a16:creationId xmlns:a16="http://schemas.microsoft.com/office/drawing/2014/main" id="{F228B930-8F2C-439D-B3B4-FD42EA19896D}"/>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99D7E5"/>
                </a:solidFill>
                <a:latin typeface="IBM Plex Sans"/>
                <a:ea typeface="IBM Plex Sans"/>
                <a:cs typeface="IBM Plex Sans"/>
              </a:defRPr>
            </a:pPr>
            <a:r>
              <a:rPr sz="1275" b="1">
                <a:solidFill>
                  <a:srgbClr val="99D7E5"/>
                </a:solidFill>
                <a:latin typeface="IBM Plex Sans"/>
                <a:ea typeface="IBM Plex Sans"/>
                <a:cs typeface="IBM Plex Sans"/>
              </a:rPr>
              <a:t>FACHGESPRÄCH</a:t>
            </a:r>
          </a:p>
        </p:txBody>
      </p:sp>
      <p:sp>
        <p:nvSpPr>
          <p:cNvPr id="2" name="block-486">
            <a:extLst xmlns:a="http://schemas.openxmlformats.org/drawingml/2006/main">
              <a:ext uri="{FF2B5EF4-FFF2-40B4-BE49-F238E27FC236}">
                <a16:creationId xmlns:a16="http://schemas.microsoft.com/office/drawing/2014/main" id="{6D035C26-4489-4E99-9130-55F7F598DBF1}"/>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FFFFFF"/>
                </a:solidFill>
                <a:latin typeface="IBM Plex Sans"/>
                <a:ea typeface="IBM Plex Sans"/>
                <a:cs typeface="IBM Plex Sans"/>
              </a:defRPr>
            </a:pPr>
            <a:r>
              <a:rPr sz="3225" b="1">
                <a:solidFill>
                  <a:srgbClr val="FFFFFF"/>
                </a:solidFill>
                <a:latin typeface="IBM Plex Sans"/>
                <a:ea typeface="IBM Plex Sans"/>
                <a:cs typeface="IBM Plex Sans"/>
              </a:rPr>
              <a:t>Vielen Dank.</a:t>
            </a:r>
          </a:p>
        </p:txBody>
      </p:sp>
      <p:sp>
        <p:nvSpPr>
          <p:cNvPr id="3" name="block-487">
            <a:extLst xmlns:a="http://schemas.openxmlformats.org/drawingml/2006/main">
              <a:ext uri="{FF2B5EF4-FFF2-40B4-BE49-F238E27FC236}">
                <a16:creationId xmlns:a16="http://schemas.microsoft.com/office/drawing/2014/main" id="{2C53FB4A-FAC1-44FC-B3E2-62EDC57EC731}"/>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31607C"/>
          </a:solidFill>
          <a:ln xmlns:a="http://schemas.openxmlformats.org/drawingml/2006/main" w="0">
            <a:noFill/>
          </a:ln>
        </p:spPr>
      </p:sp>
      <p:sp>
        <p:nvSpPr>
          <p:cNvPr id="4" name="block-488">
            <a:extLst xmlns:a="http://schemas.openxmlformats.org/drawingml/2006/main">
              <a:ext uri="{FF2B5EF4-FFF2-40B4-BE49-F238E27FC236}">
                <a16:creationId xmlns:a16="http://schemas.microsoft.com/office/drawing/2014/main" id="{CA66CA67-681A-4665-AB00-32D938DC2F93}"/>
              </a:ext>
            </a:extLst>
          </p:cNvPr>
          <p:cNvSpPr>
            <a:spLocks xmlns:a="http://schemas.openxmlformats.org/drawingml/2006/main" noGrp="1"/>
          </p:cNvSpPr>
          <p:nvPr/>
        </p:nvSpPr>
        <p:spPr>
          <a:xfrm xmlns:a="http://schemas.openxmlformats.org/drawingml/2006/main">
            <a:off x="609600"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SWW / IHK-Projekt</a:t>
            </a:r>
          </a:p>
        </p:txBody>
      </p:sp>
      <p:sp>
        <p:nvSpPr>
          <p:cNvPr id="5" name="block-489">
            <a:extLst xmlns:a="http://schemas.openxmlformats.org/drawingml/2006/main">
              <a:ext uri="{FF2B5EF4-FFF2-40B4-BE49-F238E27FC236}">
                <a16:creationId xmlns:a16="http://schemas.microsoft.com/office/drawing/2014/main" id="{4AE2C480-3386-429D-BE98-AF235FC931E6}"/>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28 / 39</a:t>
            </a:r>
          </a:p>
        </p:txBody>
      </p:sp>
      <p:sp>
        <p:nvSpPr>
          <p:cNvPr id="6" name="block-490">
            <a:extLst xmlns:a="http://schemas.openxmlformats.org/drawingml/2006/main">
              <a:ext uri="{FF2B5EF4-FFF2-40B4-BE49-F238E27FC236}">
                <a16:creationId xmlns:a16="http://schemas.microsoft.com/office/drawing/2014/main" id="{9297B26E-00D3-4796-B358-F2ECD6A2A52D}"/>
              </a:ext>
            </a:extLst>
          </p:cNvPr>
          <p:cNvSpPr>
            <a:spLocks xmlns:a="http://schemas.openxmlformats.org/drawingml/2006/main" noGrp="1"/>
          </p:cNvSpPr>
          <p:nvPr/>
        </p:nvSpPr>
        <p:spPr>
          <a:xfrm xmlns:a="http://schemas.openxmlformats.org/drawingml/2006/main">
            <a:off x="609600" y="2457450"/>
            <a:ext cx="109728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1">
                <a:solidFill>
                  <a:srgbClr val="FFFFFF"/>
                </a:solidFill>
                <a:latin typeface="IBM Plex Sans"/>
                <a:ea typeface="IBM Plex Sans"/>
                <a:cs typeface="IBM Plex Sans"/>
              </a:defRPr>
            </a:pPr>
            <a:r>
              <a:rPr sz="4050" b="1">
                <a:solidFill>
                  <a:srgbClr val="FFFFFF"/>
                </a:solidFill>
                <a:latin typeface="IBM Plex Sans"/>
                <a:ea typeface="IBM Plex Sans"/>
                <a:cs typeface="IBM Plex Sans"/>
              </a:rPr>
              <a:t>Das Modell priorisiert.</a:t>
            </a:r>
          </a:p>
          <a:p xmlns:a="http://schemas.openxmlformats.org/drawingml/2006/main">
            <a:pPr>
              <a:defRPr sz="4050" b="1">
                <a:solidFill>
                  <a:srgbClr val="FFFFFF"/>
                </a:solidFill>
                <a:latin typeface="IBM Plex Sans"/>
                <a:ea typeface="IBM Plex Sans"/>
                <a:cs typeface="IBM Plex Sans"/>
              </a:defRPr>
            </a:pPr>
            <a:r>
              <a:rPr sz="4050" b="1">
                <a:solidFill>
                  <a:srgbClr val="FFFFFF"/>
                </a:solidFill>
                <a:latin typeface="IBM Plex Sans"/>
                <a:ea typeface="IBM Plex Sans"/>
                <a:cs typeface="IBM Plex Sans"/>
              </a:rPr>
              <a:t>Die Fachprüfung entscheidet.</a:t>
            </a:r>
          </a:p>
        </p:txBody>
      </p:sp>
      <p:sp>
        <p:nvSpPr>
          <p:cNvPr id="7" name="block-491">
            <a:extLst xmlns:a="http://schemas.openxmlformats.org/drawingml/2006/main">
              <a:ext uri="{FF2B5EF4-FFF2-40B4-BE49-F238E27FC236}">
                <a16:creationId xmlns:a16="http://schemas.microsoft.com/office/drawing/2014/main" id="{8F569D85-32AD-4496-BA8F-D1BF35ACBABC}"/>
              </a:ext>
            </a:extLst>
          </p:cNvPr>
          <p:cNvSpPr>
            <a:spLocks xmlns:a="http://schemas.openxmlformats.org/drawingml/2006/main" noGrp="1"/>
          </p:cNvSpPr>
          <p:nvPr/>
        </p:nvSpPr>
        <p:spPr>
          <a:xfrm xmlns:a="http://schemas.openxmlformats.org/drawingml/2006/main">
            <a:off x="609600" y="4419600"/>
            <a:ext cx="914400" cy="38100"/>
          </a:xfrm>
          <a:prstGeom xmlns:a="http://schemas.openxmlformats.org/drawingml/2006/main" prst="rect">
            <a:avLst/>
          </a:prstGeom>
          <a:solidFill xmlns:a="http://schemas.openxmlformats.org/drawingml/2006/main">
            <a:srgbClr val="99D7E5"/>
          </a:solidFill>
          <a:ln xmlns:a="http://schemas.openxmlformats.org/drawingml/2006/main" w="0">
            <a:noFill/>
          </a:ln>
        </p:spPr>
      </p:sp>
      <p:sp>
        <p:nvSpPr>
          <p:cNvPr id="8" name="block-492">
            <a:extLst xmlns:a="http://schemas.openxmlformats.org/drawingml/2006/main">
              <a:ext uri="{FF2B5EF4-FFF2-40B4-BE49-F238E27FC236}">
                <a16:creationId xmlns:a16="http://schemas.microsoft.com/office/drawing/2014/main" id="{CF9B8DDB-31E9-4542-A454-EB8A1F6C3F65}"/>
              </a:ext>
            </a:extLst>
          </p:cNvPr>
          <p:cNvSpPr>
            <a:spLocks xmlns:a="http://schemas.openxmlformats.org/drawingml/2006/main" noGrp="1"/>
          </p:cNvSpPr>
          <p:nvPr/>
        </p:nvSpPr>
        <p:spPr>
          <a:xfrm xmlns:a="http://schemas.openxmlformats.org/drawingml/2006/main">
            <a:off x="609600" y="48768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0">
                <a:solidFill>
                  <a:srgbClr val="BED6E8"/>
                </a:solidFill>
                <a:latin typeface="IBM Plex Sans"/>
                <a:ea typeface="IBM Plex Sans"/>
                <a:cs typeface="IBM Plex Sans"/>
              </a:defRPr>
            </a:pPr>
            <a:r>
              <a:rPr sz="2475" b="0">
                <a:solidFill>
                  <a:srgbClr val="BED6E8"/>
                </a:solidFill>
                <a:latin typeface="IBM Plex Sans"/>
                <a:ea typeface="IBM Plex Sans"/>
                <a:cs typeface="IBM Plex Sans"/>
              </a:rPr>
              <a:t>Fragen zu Daten, Modell und Umsetzung</a:t>
            </a:r>
          </a:p>
        </p:txBody>
      </p:sp>
    </p:spTree>
    <p:extLst>
      <p:ext uri="{BB962C8B-B14F-4D97-AF65-F5344CB8AC3E}">
        <p14:creationId xmlns:p14="http://schemas.microsoft.com/office/powerpoint/2010/main" val="64349169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block-493">
            <a:extLst xmlns:a="http://schemas.openxmlformats.org/drawingml/2006/main">
              <a:ext uri="{FF2B5EF4-FFF2-40B4-BE49-F238E27FC236}">
                <a16:creationId xmlns:a16="http://schemas.microsoft.com/office/drawing/2014/main" id="{B49D939C-BF31-4484-8D26-BEB6138F8BA9}"/>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A / BEREINIGUNGSPROTOKOLL</a:t>
            </a:r>
          </a:p>
        </p:txBody>
      </p:sp>
      <p:sp>
        <p:nvSpPr>
          <p:cNvPr id="2" name="block-494">
            <a:extLst xmlns:a="http://schemas.openxmlformats.org/drawingml/2006/main">
              <a:ext uri="{FF2B5EF4-FFF2-40B4-BE49-F238E27FC236}">
                <a16:creationId xmlns:a16="http://schemas.microsoft.com/office/drawing/2014/main" id="{A508BA85-1720-44C7-93DD-0B2D5A6138AF}"/>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Formate und Einheiten nachvollziehbar korrigieren</a:t>
            </a:r>
          </a:p>
        </p:txBody>
      </p:sp>
      <p:sp>
        <p:nvSpPr>
          <p:cNvPr id="3" name="block-495">
            <a:extLst xmlns:a="http://schemas.openxmlformats.org/drawingml/2006/main">
              <a:ext uri="{FF2B5EF4-FFF2-40B4-BE49-F238E27FC236}">
                <a16:creationId xmlns:a16="http://schemas.microsoft.com/office/drawing/2014/main" id="{815C6660-9BE1-4796-855C-D57F1E3DDF02}"/>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Bezugsbasis: 16.800 Zeilen nach Deduplizierung, außer bei den Dubletten.</a:t>
            </a:r>
          </a:p>
        </p:txBody>
      </p:sp>
      <p:sp>
        <p:nvSpPr>
          <p:cNvPr id="4" name="block-496">
            <a:extLst xmlns:a="http://schemas.openxmlformats.org/drawingml/2006/main">
              <a:ext uri="{FF2B5EF4-FFF2-40B4-BE49-F238E27FC236}">
                <a16:creationId xmlns:a16="http://schemas.microsoft.com/office/drawing/2014/main" id="{72AC6CE3-7A5C-4835-87FA-7AC74A38DE0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a6ca3166916494b"/>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497">
            <a:extLst xmlns:a="http://schemas.openxmlformats.org/drawingml/2006/main">
              <a:ext uri="{FF2B5EF4-FFF2-40B4-BE49-F238E27FC236}">
                <a16:creationId xmlns:a16="http://schemas.microsoft.com/office/drawing/2014/main" id="{D12C8701-D172-4729-9DEC-3CAB73EA8E02}"/>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498">
            <a:extLst xmlns:a="http://schemas.openxmlformats.org/drawingml/2006/main">
              <a:ext uri="{FF2B5EF4-FFF2-40B4-BE49-F238E27FC236}">
                <a16:creationId xmlns:a16="http://schemas.microsoft.com/office/drawing/2014/main" id="{CC104795-FD76-486E-B93C-3FEA4E039ACA}"/>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29 / 39</a:t>
            </a:r>
          </a:p>
        </p:txBody>
      </p:sp>
      <p:graphicFrame>
        <p:nvGraphicFramePr>
          <p:cNvPr id="18" name=""/>
          <p:cNvGraphicFramePr/>
          <p:nvPr/>
        </p:nvGraphicFramePr>
        <p:xfrm>
          <a:off xmlns:a="http://schemas.openxmlformats.org/drawingml/2006/main" x="609600" y="2524125"/>
          <a:ext xmlns:a="http://schemas.openxmlformats.org/drawingml/2006/main" cx="10972800" cy="2971800"/>
        </p:xfrm>
        <a:graphic xmlns:a="http://schemas.openxmlformats.org/drawingml/2006/main">
          <a:graphicData uri="http://schemas.openxmlformats.org/drawingml/2006/table">
            <a:tbl>
              <a:tblPr/>
              <a:tblGrid>
                <a:gridCol w="4105275"/>
                <a:gridCol w="1952625"/>
                <a:gridCol w="4914900"/>
              </a:tblGrid>
              <a:tr h="495300">
                <a:tc>
                  <a:txBody>
                    <a:bodyPr lIns="133350" tIns="85725" rIns="95250" bIns="85725"/>
                    <a:lstStyle/>
                    <a:p>
                      <a:r>
                        <a:rPr sz="1875" b="1">
                          <a:solidFill>
                            <a:srgbClr val="FFFFFF"/>
                          </a:solidFill>
                          <a:latin typeface="IBM Plex Sans"/>
                          <a:ea typeface="IBM Plex Sans"/>
                          <a:cs typeface="IBM Plex Sans"/>
                        </a:rPr>
                        <a:t>Befund</a:t>
                      </a:r>
                    </a:p>
                  </a:txBody>
                  <a:tcPr marL="91440" marR="91440" marT="45720" marB="45720" anchor="ctr">
                    <a:solidFill>
                      <a:srgbClr val="063659"/>
                    </a:solidFill>
                  </a:tcPr>
                </a:tc>
                <a:tc>
                  <a:txBody>
                    <a:bodyPr lIns="133350" tIns="85725" rIns="95250" bIns="85725"/>
                    <a:lstStyle/>
                    <a:p>
                      <a:r>
                        <a:rPr sz="1875" b="1">
                          <a:solidFill>
                            <a:srgbClr val="FFFFFF"/>
                          </a:solidFill>
                          <a:latin typeface="IBM Plex Sans"/>
                          <a:ea typeface="IBM Plex Sans"/>
                          <a:cs typeface="IBM Plex Sans"/>
                        </a:rPr>
                        <a:t>Anzahl</a:t>
                      </a:r>
                    </a:p>
                  </a:txBody>
                  <a:tcPr marL="91440" marR="91440" marT="45720" marB="45720" anchor="ctr">
                    <a:solidFill>
                      <a:srgbClr val="063659"/>
                    </a:solidFill>
                  </a:tcPr>
                </a:tc>
                <a:tc>
                  <a:txBody>
                    <a:bodyPr lIns="133350" tIns="85725" rIns="95250" bIns="85725"/>
                    <a:lstStyle/>
                    <a:p>
                      <a:r>
                        <a:rPr sz="1875" b="1">
                          <a:solidFill>
                            <a:srgbClr val="FFFFFF"/>
                          </a:solidFill>
                          <a:latin typeface="IBM Plex Sans"/>
                          <a:ea typeface="IBM Plex Sans"/>
                          <a:cs typeface="IBM Plex Sans"/>
                        </a:rPr>
                        <a:t>Behandlung</a:t>
                      </a:r>
                    </a:p>
                  </a:txBody>
                  <a:tcPr marL="91440" marR="91440" marT="45720" marB="45720" anchor="ctr">
                    <a:solidFill>
                      <a:srgbClr val="063659"/>
                    </a:solidFill>
                  </a:tcPr>
                </a:tc>
              </a:tr>
              <a:tr h="495300">
                <a:tc>
                  <a:txBody>
                    <a:bodyPr lIns="133350" tIns="85725" rIns="95250" bIns="85725"/>
                    <a:lstStyle/>
                    <a:p>
                      <a:r>
                        <a:rPr sz="1875" b="0">
                          <a:solidFill>
                            <a:srgbClr val="141A21"/>
                          </a:solidFill>
                          <a:latin typeface="IBM Plex Sans"/>
                          <a:ea typeface="IBM Plex Sans"/>
                          <a:cs typeface="IBM Plex Sans"/>
                        </a:rPr>
                        <a:t>Identische Dubletten</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30 / 16.830</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Entfernen; Schlüssel prüfen</a:t>
                      </a:r>
                    </a:p>
                  </a:txBody>
                  <a:tcPr marL="91440" marR="91440" marT="45720" marB="45720" anchor="ctr">
                    <a:solidFill>
                      <a:srgbClr val="F1F4F7"/>
                    </a:solidFill>
                  </a:tcPr>
                </a:tc>
              </a:tr>
              <a:tr h="495300">
                <a:tc>
                  <a:txBody>
                    <a:bodyPr lIns="133350" tIns="85725" rIns="95250" bIns="85725"/>
                    <a:lstStyle/>
                    <a:p>
                      <a:r>
                        <a:rPr sz="1875" b="0">
                          <a:solidFill>
                            <a:srgbClr val="141A21"/>
                          </a:solidFill>
                          <a:latin typeface="IBM Plex Sans"/>
                          <a:ea typeface="IBM Plex Sans"/>
                          <a:cs typeface="IBM Plex Sans"/>
                        </a:rPr>
                        <a:t>Nicht-ISO-Monat</a:t>
                      </a:r>
                    </a:p>
                  </a:txBody>
                  <a:tcPr marL="91440" marR="91440" marT="45720" marB="45720" anchor="ctr">
                    <a:solidFill>
                      <a:srgbClr val="FFFFFF"/>
                    </a:solidFill>
                  </a:tcPr>
                </a:tc>
                <a:tc>
                  <a:txBody>
                    <a:bodyPr lIns="133350" tIns="85725" rIns="95250" bIns="85725"/>
                    <a:lstStyle/>
                    <a:p>
                      <a:r>
                        <a:rPr sz="1875" b="0">
                          <a:solidFill>
                            <a:srgbClr val="141A21"/>
                          </a:solidFill>
                          <a:latin typeface="IBM Plex Sans"/>
                          <a:ea typeface="IBM Plex Sans"/>
                          <a:cs typeface="IBM Plex Sans"/>
                        </a:rPr>
                        <a:t>11.298</a:t>
                      </a:r>
                    </a:p>
                  </a:txBody>
                  <a:tcPr marL="91440" marR="91440" marT="45720" marB="45720" anchor="ctr">
                    <a:solidFill>
                      <a:srgbClr val="FFFFFF"/>
                    </a:solidFill>
                  </a:tcPr>
                </a:tc>
                <a:tc>
                  <a:txBody>
                    <a:bodyPr lIns="133350" tIns="85725" rIns="95250" bIns="85725"/>
                    <a:lstStyle/>
                    <a:p>
                      <a:r>
                        <a:rPr sz="1875" b="0">
                          <a:solidFill>
                            <a:srgbClr val="141A21"/>
                          </a:solidFill>
                          <a:latin typeface="IBM Plex Sans"/>
                          <a:ea typeface="IBM Plex Sans"/>
                          <a:cs typeface="IBM Plex Sans"/>
                        </a:rPr>
                        <a:t>Ein Datum pro Monat</a:t>
                      </a:r>
                    </a:p>
                  </a:txBody>
                  <a:tcPr marL="91440" marR="91440" marT="45720" marB="45720" anchor="ctr">
                    <a:solidFill>
                      <a:srgbClr val="FFFFFF"/>
                    </a:solidFill>
                  </a:tcPr>
                </a:tc>
              </a:tr>
              <a:tr h="495300">
                <a:tc>
                  <a:txBody>
                    <a:bodyPr lIns="133350" tIns="85725" rIns="95250" bIns="85725"/>
                    <a:lstStyle/>
                    <a:p>
                      <a:r>
                        <a:rPr sz="1875" b="0">
                          <a:solidFill>
                            <a:srgbClr val="141A21"/>
                          </a:solidFill>
                          <a:latin typeface="IBM Plex Sans"/>
                          <a:ea typeface="IBM Plex Sans"/>
                          <a:cs typeface="IBM Plex Sans"/>
                        </a:rPr>
                        <a:t>Kundentyp-Schreibweise</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504</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13 Varianten → 3 Typen</a:t>
                      </a:r>
                    </a:p>
                  </a:txBody>
                  <a:tcPr marL="91440" marR="91440" marT="45720" marB="45720" anchor="ctr">
                    <a:solidFill>
                      <a:srgbClr val="F1F4F7"/>
                    </a:solidFill>
                  </a:tcPr>
                </a:tc>
              </a:tr>
              <a:tr h="495300">
                <a:tc>
                  <a:txBody>
                    <a:bodyPr lIns="133350" tIns="85725" rIns="95250" bIns="85725"/>
                    <a:lstStyle/>
                    <a:p>
                      <a:r>
                        <a:rPr sz="1875" b="0">
                          <a:solidFill>
                            <a:srgbClr val="141A21"/>
                          </a:solidFill>
                          <a:latin typeface="IBM Plex Sans"/>
                          <a:ea typeface="IBM Plex Sans"/>
                          <a:cs typeface="IBM Plex Sans"/>
                        </a:rPr>
                        <a:t>Verbrauch als MWh-Text</a:t>
                      </a:r>
                    </a:p>
                  </a:txBody>
                  <a:tcPr marL="91440" marR="91440" marT="45720" marB="45720" anchor="ctr">
                    <a:solidFill>
                      <a:srgbClr val="FFFFFF"/>
                    </a:solidFill>
                  </a:tcPr>
                </a:tc>
                <a:tc>
                  <a:txBody>
                    <a:bodyPr lIns="133350" tIns="85725" rIns="95250" bIns="85725"/>
                    <a:lstStyle/>
                    <a:p>
                      <a:r>
                        <a:rPr sz="1875" b="0">
                          <a:solidFill>
                            <a:srgbClr val="141A21"/>
                          </a:solidFill>
                          <a:latin typeface="IBM Plex Sans"/>
                          <a:ea typeface="IBM Plex Sans"/>
                          <a:cs typeface="IBM Plex Sans"/>
                        </a:rPr>
                        <a:t>672</a:t>
                      </a:r>
                    </a:p>
                  </a:txBody>
                  <a:tcPr marL="91440" marR="91440" marT="45720" marB="45720" anchor="ctr">
                    <a:solidFill>
                      <a:srgbClr val="FFFFFF"/>
                    </a:solidFill>
                  </a:tcPr>
                </a:tc>
                <a:tc>
                  <a:txBody>
                    <a:bodyPr lIns="133350" tIns="85725" rIns="95250" bIns="85725"/>
                    <a:lstStyle/>
                    <a:p>
                      <a:r>
                        <a:rPr sz="1875" b="0">
                          <a:solidFill>
                            <a:srgbClr val="141A21"/>
                          </a:solidFill>
                          <a:latin typeface="IBM Plex Sans"/>
                          <a:ea typeface="IBM Plex Sans"/>
                          <a:cs typeface="IBM Plex Sans"/>
                        </a:rPr>
                        <a:t>× 1.000 → kWh</a:t>
                      </a:r>
                    </a:p>
                  </a:txBody>
                  <a:tcPr marL="91440" marR="91440" marT="45720" marB="45720" anchor="ctr">
                    <a:solidFill>
                      <a:srgbClr val="FFFFFF"/>
                    </a:solidFill>
                  </a:tcPr>
                </a:tc>
              </a:tr>
              <a:tr h="495300">
                <a:tc>
                  <a:txBody>
                    <a:bodyPr lIns="133350" tIns="85725" rIns="95250" bIns="85725"/>
                    <a:lstStyle/>
                    <a:p>
                      <a:r>
                        <a:rPr sz="1875" b="0">
                          <a:solidFill>
                            <a:srgbClr val="141A21"/>
                          </a:solidFill>
                          <a:latin typeface="IBM Plex Sans"/>
                          <a:ea typeface="IBM Plex Sans"/>
                          <a:cs typeface="IBM Plex Sans"/>
                        </a:rPr>
                        <a:t>Zielwerte 0 / −50 / −1.000</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3</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Rekonstruieren; aus ML ausschließen</a:t>
                      </a:r>
                    </a:p>
                  </a:txBody>
                  <a:tcPr marL="91440" marR="91440" marT="45720" marB="45720" anchor="ctr">
                    <a:solidFill>
                      <a:srgbClr val="F1F4F7"/>
                    </a:solidFill>
                  </a:tcPr>
                </a:tc>
              </a:tr>
            </a:tbl>
          </a:graphicData>
        </a:graphic>
      </p:graphicFrame>
      <p:sp>
        <p:nvSpPr>
          <p:cNvPr id="9" name="block-499">
            <a:extLst xmlns:a="http://schemas.openxmlformats.org/drawingml/2006/main">
              <a:ext uri="{FF2B5EF4-FFF2-40B4-BE49-F238E27FC236}">
                <a16:creationId xmlns:a16="http://schemas.microsoft.com/office/drawing/2014/main" id="{E49795EC-BFD2-4F1C-89F4-9B53EEC2403D}"/>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0" name="block-500">
            <a:extLst xmlns:a="http://schemas.openxmlformats.org/drawingml/2006/main">
              <a:ext uri="{FF2B5EF4-FFF2-40B4-BE49-F238E27FC236}">
                <a16:creationId xmlns:a16="http://schemas.microsoft.com/office/drawing/2014/main" id="{E4DE655F-40F6-4D75-8240-3A45DD38D5A0}"/>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Jede Regel bleibt dokumentiert und reproduzierbar.</a:t>
            </a:r>
          </a:p>
        </p:txBody>
      </p:sp>
    </p:spTree>
    <p:extLst>
      <p:ext uri="{BB962C8B-B14F-4D97-AF65-F5344CB8AC3E}">
        <p14:creationId xmlns:p14="http://schemas.microsoft.com/office/powerpoint/2010/main" val="207368725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block-501">
            <a:extLst xmlns:a="http://schemas.openxmlformats.org/drawingml/2006/main">
              <a:ext uri="{FF2B5EF4-FFF2-40B4-BE49-F238E27FC236}">
                <a16:creationId xmlns:a16="http://schemas.microsoft.com/office/drawing/2014/main" id="{537BE852-C50C-4189-A00B-5062AC2E5FA2}"/>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B / FEHLWERTE &amp; PLAUSIBILITÄT</a:t>
            </a:r>
          </a:p>
        </p:txBody>
      </p:sp>
      <p:sp>
        <p:nvSpPr>
          <p:cNvPr id="2" name="block-502">
            <a:extLst xmlns:a="http://schemas.openxmlformats.org/drawingml/2006/main">
              <a:ext uri="{FF2B5EF4-FFF2-40B4-BE49-F238E27FC236}">
                <a16:creationId xmlns:a16="http://schemas.microsoft.com/office/drawing/2014/main" id="{12B4268F-4835-4F43-894D-A7CD435D4B84}"/>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Fehlende Historie ist nicht automatisch ein Datenfehler</a:t>
            </a:r>
          </a:p>
        </p:txBody>
      </p:sp>
      <p:sp>
        <p:nvSpPr>
          <p:cNvPr id="3" name="block-503">
            <a:extLst xmlns:a="http://schemas.openxmlformats.org/drawingml/2006/main">
              <a:ext uri="{FF2B5EF4-FFF2-40B4-BE49-F238E27FC236}">
                <a16:creationId xmlns:a16="http://schemas.microsoft.com/office/drawing/2014/main" id="{AAE31D13-76AC-4006-8C03-305D4D691D80}"/>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Bereinigte Basis vor Neuberechnung der ML-Historie · unterschiedliche Fehlgründe</a:t>
            </a:r>
          </a:p>
        </p:txBody>
      </p:sp>
      <p:sp>
        <p:nvSpPr>
          <p:cNvPr id="4" name="block-504">
            <a:extLst xmlns:a="http://schemas.openxmlformats.org/drawingml/2006/main">
              <a:ext uri="{FF2B5EF4-FFF2-40B4-BE49-F238E27FC236}">
                <a16:creationId xmlns:a16="http://schemas.microsoft.com/office/drawing/2014/main" id="{4AFD0FEC-DA06-4A7C-B72F-EA5DDD77D75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e5c72ca67a14aa6"/>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505">
            <a:extLst xmlns:a="http://schemas.openxmlformats.org/drawingml/2006/main">
              <a:ext uri="{FF2B5EF4-FFF2-40B4-BE49-F238E27FC236}">
                <a16:creationId xmlns:a16="http://schemas.microsoft.com/office/drawing/2014/main" id="{9A0303C1-654C-4C45-BC08-3296C00BE640}"/>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506">
            <a:extLst xmlns:a="http://schemas.openxmlformats.org/drawingml/2006/main">
              <a:ext uri="{FF2B5EF4-FFF2-40B4-BE49-F238E27FC236}">
                <a16:creationId xmlns:a16="http://schemas.microsoft.com/office/drawing/2014/main" id="{E7477239-091E-4A46-8CE0-D2D5F5AA9E53}"/>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30 / 39</a:t>
            </a:r>
          </a:p>
        </p:txBody>
      </p:sp>
      <p:graphicFrame>
        <p:nvGraphicFramePr>
          <p:cNvPr id="18" name=""/>
          <p:cNvGraphicFramePr/>
          <p:nvPr/>
        </p:nvGraphicFramePr>
        <p:xfrm>
          <a:off xmlns:a="http://schemas.openxmlformats.org/drawingml/2006/main" x="609600" y="2524125"/>
          <a:ext xmlns:a="http://schemas.openxmlformats.org/drawingml/2006/main" cx="10972800" cy="2971800"/>
        </p:xfrm>
        <a:graphic xmlns:a="http://schemas.openxmlformats.org/drawingml/2006/main">
          <a:graphicData uri="http://schemas.openxmlformats.org/drawingml/2006/table">
            <a:tbl>
              <a:tblPr/>
              <a:tblGrid>
                <a:gridCol w="4572000"/>
                <a:gridCol w="1533525"/>
                <a:gridCol w="4867275"/>
              </a:tblGrid>
              <a:tr h="495300">
                <a:tc>
                  <a:txBody>
                    <a:bodyPr lIns="133350" tIns="85725" rIns="95250" bIns="85725"/>
                    <a:lstStyle/>
                    <a:p>
                      <a:r>
                        <a:rPr sz="1875" b="1">
                          <a:solidFill>
                            <a:srgbClr val="FFFFFF"/>
                          </a:solidFill>
                          <a:latin typeface="IBM Plex Sans"/>
                          <a:ea typeface="IBM Plex Sans"/>
                          <a:cs typeface="IBM Plex Sans"/>
                        </a:rPr>
                        <a:t>Befund</a:t>
                      </a:r>
                    </a:p>
                  </a:txBody>
                  <a:tcPr marL="91440" marR="91440" marT="45720" marB="45720" anchor="ctr">
                    <a:solidFill>
                      <a:srgbClr val="063659"/>
                    </a:solidFill>
                  </a:tcPr>
                </a:tc>
                <a:tc>
                  <a:txBody>
                    <a:bodyPr lIns="133350" tIns="85725" rIns="95250" bIns="85725"/>
                    <a:lstStyle/>
                    <a:p>
                      <a:r>
                        <a:rPr sz="1875" b="1">
                          <a:solidFill>
                            <a:srgbClr val="FFFFFF"/>
                          </a:solidFill>
                          <a:latin typeface="IBM Plex Sans"/>
                          <a:ea typeface="IBM Plex Sans"/>
                          <a:cs typeface="IBM Plex Sans"/>
                        </a:rPr>
                        <a:t>Anzahl</a:t>
                      </a:r>
                    </a:p>
                  </a:txBody>
                  <a:tcPr marL="91440" marR="91440" marT="45720" marB="45720" anchor="ctr">
                    <a:solidFill>
                      <a:srgbClr val="063659"/>
                    </a:solidFill>
                  </a:tcPr>
                </a:tc>
                <a:tc>
                  <a:txBody>
                    <a:bodyPr lIns="133350" tIns="85725" rIns="95250" bIns="85725"/>
                    <a:lstStyle/>
                    <a:p>
                      <a:r>
                        <a:rPr sz="1875" b="1">
                          <a:solidFill>
                            <a:srgbClr val="FFFFFF"/>
                          </a:solidFill>
                          <a:latin typeface="IBM Plex Sans"/>
                          <a:ea typeface="IBM Plex Sans"/>
                          <a:cs typeface="IBM Plex Sans"/>
                        </a:rPr>
                        <a:t>Folgerung</a:t>
                      </a:r>
                    </a:p>
                  </a:txBody>
                  <a:tcPr marL="91440" marR="91440" marT="45720" marB="45720" anchor="ctr">
                    <a:solidFill>
                      <a:srgbClr val="063659"/>
                    </a:solidFill>
                  </a:tcPr>
                </a:tc>
              </a:tr>
              <a:tr h="495300">
                <a:tc>
                  <a:txBody>
                    <a:bodyPr lIns="133350" tIns="85725" rIns="95250" bIns="85725"/>
                    <a:lstStyle/>
                    <a:p>
                      <a:r>
                        <a:rPr sz="1875" b="0">
                          <a:solidFill>
                            <a:srgbClr val="141A21"/>
                          </a:solidFill>
                          <a:latin typeface="IBM Plex Sans"/>
                          <a:ea typeface="IBM Plex Sans"/>
                          <a:cs typeface="IBM Plex Sans"/>
                        </a:rPr>
                        <a:t>Temperatur fehlt</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504</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Heizgradtage als Modellmerkmal</a:t>
                      </a:r>
                    </a:p>
                  </a:txBody>
                  <a:tcPr marL="91440" marR="91440" marT="45720" marB="45720" anchor="ctr">
                    <a:solidFill>
                      <a:srgbClr val="F1F4F7"/>
                    </a:solidFill>
                  </a:tcPr>
                </a:tc>
              </a:tr>
              <a:tr h="495300">
                <a:tc>
                  <a:txBody>
                    <a:bodyPr lIns="133350" tIns="85725" rIns="95250" bIns="85725"/>
                    <a:lstStyle/>
                    <a:p>
                      <a:r>
                        <a:rPr sz="1875" b="0">
                          <a:solidFill>
                            <a:srgbClr val="141A21"/>
                          </a:solidFill>
                          <a:latin typeface="IBM Plex Sans"/>
                          <a:ea typeface="IBM Plex Sans"/>
                          <a:cs typeface="IBM Plex Sans"/>
                        </a:rPr>
                        <a:t>Produktionsplan fehlt</a:t>
                      </a:r>
                    </a:p>
                  </a:txBody>
                  <a:tcPr marL="91440" marR="91440" marT="45720" marB="45720" anchor="ctr">
                    <a:solidFill>
                      <a:srgbClr val="FFFFFF"/>
                    </a:solidFill>
                  </a:tcPr>
                </a:tc>
                <a:tc>
                  <a:txBody>
                    <a:bodyPr lIns="133350" tIns="85725" rIns="95250" bIns="85725"/>
                    <a:lstStyle/>
                    <a:p>
                      <a:r>
                        <a:rPr sz="1875" b="0">
                          <a:solidFill>
                            <a:srgbClr val="141A21"/>
                          </a:solidFill>
                          <a:latin typeface="IBM Plex Sans"/>
                          <a:ea typeface="IBM Plex Sans"/>
                          <a:cs typeface="IBM Plex Sans"/>
                        </a:rPr>
                        <a:t>672</a:t>
                      </a:r>
                    </a:p>
                  </a:txBody>
                  <a:tcPr marL="91440" marR="91440" marT="45720" marB="45720" anchor="ctr">
                    <a:solidFill>
                      <a:srgbClr val="FFFFFF"/>
                    </a:solidFill>
                  </a:tcPr>
                </a:tc>
                <a:tc>
                  <a:txBody>
                    <a:bodyPr lIns="133350" tIns="85725" rIns="95250" bIns="85725"/>
                    <a:lstStyle/>
                    <a:p>
                      <a:r>
                        <a:rPr sz="1875" b="0">
                          <a:solidFill>
                            <a:srgbClr val="141A21"/>
                          </a:solidFill>
                          <a:latin typeface="IBM Plex Sans"/>
                          <a:ea typeface="IBM Plex Sans"/>
                          <a:cs typeface="IBM Plex Sans"/>
                        </a:rPr>
                        <a:t>Im Trainingsfold imputieren</a:t>
                      </a:r>
                    </a:p>
                  </a:txBody>
                  <a:tcPr marL="91440" marR="91440" marT="45720" marB="45720" anchor="ctr">
                    <a:solidFill>
                      <a:srgbClr val="FFFFFF"/>
                    </a:solidFill>
                  </a:tcPr>
                </a:tc>
              </a:tr>
              <a:tr h="495300">
                <a:tc>
                  <a:txBody>
                    <a:bodyPr lIns="133350" tIns="85725" rIns="95250" bIns="85725"/>
                    <a:lstStyle/>
                    <a:p>
                      <a:r>
                        <a:rPr sz="1875" b="0">
                          <a:solidFill>
                            <a:srgbClr val="141A21"/>
                          </a:solidFill>
                          <a:latin typeface="IBM Plex Sans"/>
                          <a:ea typeface="IBM Plex Sans"/>
                          <a:cs typeface="IBM Plex Sans"/>
                        </a:rPr>
                        <a:t>Vormonat fehlt</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700</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Start der Zeitreihe beachten</a:t>
                      </a:r>
                    </a:p>
                  </a:txBody>
                  <a:tcPr marL="91440" marR="91440" marT="45720" marB="45720" anchor="ctr">
                    <a:solidFill>
                      <a:srgbClr val="F1F4F7"/>
                    </a:solidFill>
                  </a:tcPr>
                </a:tc>
              </a:tr>
              <a:tr h="495300">
                <a:tc>
                  <a:txBody>
                    <a:bodyPr lIns="133350" tIns="85725" rIns="95250" bIns="85725"/>
                    <a:lstStyle/>
                    <a:p>
                      <a:r>
                        <a:rPr sz="1875" b="0">
                          <a:solidFill>
                            <a:srgbClr val="141A21"/>
                          </a:solidFill>
                          <a:latin typeface="IBM Plex Sans"/>
                          <a:ea typeface="IBM Plex Sans"/>
                          <a:cs typeface="IBM Plex Sans"/>
                        </a:rPr>
                        <a:t>Vorjahr fehlt</a:t>
                      </a:r>
                    </a:p>
                  </a:txBody>
                  <a:tcPr marL="91440" marR="91440" marT="45720" marB="45720" anchor="ctr">
                    <a:solidFill>
                      <a:srgbClr val="FFFFFF"/>
                    </a:solidFill>
                  </a:tcPr>
                </a:tc>
                <a:tc>
                  <a:txBody>
                    <a:bodyPr lIns="133350" tIns="85725" rIns="95250" bIns="85725"/>
                    <a:lstStyle/>
                    <a:p>
                      <a:r>
                        <a:rPr sz="1875" b="0">
                          <a:solidFill>
                            <a:srgbClr val="141A21"/>
                          </a:solidFill>
                          <a:latin typeface="IBM Plex Sans"/>
                          <a:ea typeface="IBM Plex Sans"/>
                          <a:cs typeface="IBM Plex Sans"/>
                        </a:rPr>
                        <a:t>8.400</a:t>
                      </a:r>
                    </a:p>
                  </a:txBody>
                  <a:tcPr marL="91440" marR="91440" marT="45720" marB="45720" anchor="ctr">
                    <a:solidFill>
                      <a:srgbClr val="FFFFFF"/>
                    </a:solidFill>
                  </a:tcPr>
                </a:tc>
                <a:tc>
                  <a:txBody>
                    <a:bodyPr lIns="133350" tIns="85725" rIns="95250" bIns="85725"/>
                    <a:lstStyle/>
                    <a:p>
                      <a:r>
                        <a:rPr sz="1875" b="0">
                          <a:solidFill>
                            <a:srgbClr val="141A21"/>
                          </a:solidFill>
                          <a:latin typeface="IBM Plex Sans"/>
                          <a:ea typeface="IBM Plex Sans"/>
                          <a:cs typeface="IBM Plex Sans"/>
                        </a:rPr>
                        <a:t>2023 fehlt → Merkmal weglassen</a:t>
                      </a:r>
                    </a:p>
                  </a:txBody>
                  <a:tcPr marL="91440" marR="91440" marT="45720" marB="45720" anchor="ctr">
                    <a:solidFill>
                      <a:srgbClr val="FFFFFF"/>
                    </a:solidFill>
                  </a:tcPr>
                </a:tc>
              </a:tr>
              <a:tr h="495300">
                <a:tc>
                  <a:txBody>
                    <a:bodyPr lIns="133350" tIns="85725" rIns="95250" bIns="85725"/>
                    <a:lstStyle/>
                    <a:p>
                      <a:r>
                        <a:rPr sz="1875" b="0">
                          <a:solidFill>
                            <a:srgbClr val="141A21"/>
                          </a:solidFill>
                          <a:latin typeface="IBM Plex Sans"/>
                          <a:ea typeface="IBM Plex Sans"/>
                          <a:cs typeface="IBM Plex Sans"/>
                        </a:rPr>
                        <a:t>Vertragsleistung überschritten</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20</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Markieren und fachlich prüfen</a:t>
                      </a:r>
                    </a:p>
                  </a:txBody>
                  <a:tcPr marL="91440" marR="91440" marT="45720" marB="45720" anchor="ctr">
                    <a:solidFill>
                      <a:srgbClr val="F1F4F7"/>
                    </a:solidFill>
                  </a:tcPr>
                </a:tc>
              </a:tr>
            </a:tbl>
          </a:graphicData>
        </a:graphic>
      </p:graphicFrame>
      <p:sp>
        <p:nvSpPr>
          <p:cNvPr id="9" name="block-507">
            <a:extLst xmlns:a="http://schemas.openxmlformats.org/drawingml/2006/main">
              <a:ext uri="{FF2B5EF4-FFF2-40B4-BE49-F238E27FC236}">
                <a16:creationId xmlns:a16="http://schemas.microsoft.com/office/drawing/2014/main" id="{98D62221-BD6C-4ECF-B1C2-018931B92D52}"/>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0" name="block-508">
            <a:extLst xmlns:a="http://schemas.openxmlformats.org/drawingml/2006/main">
              <a:ext uri="{FF2B5EF4-FFF2-40B4-BE49-F238E27FC236}">
                <a16:creationId xmlns:a16="http://schemas.microsoft.com/office/drawing/2014/main" id="{D5FCDF42-83D3-4264-A1EE-578A3518BF1B}"/>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Rekonstruierte Zielwerte und offene Plausibilitätsflags sind getrennte Kategorien.</a:t>
            </a:r>
          </a:p>
        </p:txBody>
      </p:sp>
    </p:spTree>
    <p:extLst>
      <p:ext uri="{BB962C8B-B14F-4D97-AF65-F5344CB8AC3E}">
        <p14:creationId xmlns:p14="http://schemas.microsoft.com/office/powerpoint/2010/main" val="1251682606"/>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lock-509">
            <a:extLst xmlns:a="http://schemas.openxmlformats.org/drawingml/2006/main">
              <a:ext uri="{FF2B5EF4-FFF2-40B4-BE49-F238E27FC236}">
                <a16:creationId xmlns:a16="http://schemas.microsoft.com/office/drawing/2014/main" id="{A147C093-DF75-44C6-991F-AE0E78373B5C}"/>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C / ANSCHLUSSGRÖSSE</a:t>
            </a:r>
          </a:p>
        </p:txBody>
      </p:sp>
      <p:sp>
        <p:nvSpPr>
          <p:cNvPr id="2" name="block-510">
            <a:extLst xmlns:a="http://schemas.openxmlformats.org/drawingml/2006/main">
              <a:ext uri="{FF2B5EF4-FFF2-40B4-BE49-F238E27FC236}">
                <a16:creationId xmlns:a16="http://schemas.microsoft.com/office/drawing/2014/main" id="{DF876E3C-B14D-4F1E-B37D-3F6FC349B307}"/>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Normalisierung reduziert den Größenunterschied</a:t>
            </a:r>
          </a:p>
        </p:txBody>
      </p:sp>
      <p:sp>
        <p:nvSpPr>
          <p:cNvPr id="3" name="block-511">
            <a:extLst xmlns:a="http://schemas.openxmlformats.org/drawingml/2006/main">
              <a:ext uri="{FF2B5EF4-FFF2-40B4-BE49-F238E27FC236}">
                <a16:creationId xmlns:a16="http://schemas.microsoft.com/office/drawing/2014/main" id="{5101A12E-3EF5-47FE-9FF1-5C6F4FAEBF66}"/>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Links: Median in kWh · rechts: Median in VLS-h · unterschiedliche Skalen</a:t>
            </a:r>
          </a:p>
        </p:txBody>
      </p:sp>
      <p:sp>
        <p:nvSpPr>
          <p:cNvPr id="4" name="block-512">
            <a:extLst xmlns:a="http://schemas.openxmlformats.org/drawingml/2006/main">
              <a:ext uri="{FF2B5EF4-FFF2-40B4-BE49-F238E27FC236}">
                <a16:creationId xmlns:a16="http://schemas.microsoft.com/office/drawing/2014/main" id="{04DFC271-D9EC-41DE-9F7E-52A73003C79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635dbee6e08493e"/>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513">
            <a:extLst xmlns:a="http://schemas.openxmlformats.org/drawingml/2006/main">
              <a:ext uri="{FF2B5EF4-FFF2-40B4-BE49-F238E27FC236}">
                <a16:creationId xmlns:a16="http://schemas.microsoft.com/office/drawing/2014/main" id="{D1546E08-BBCE-4944-907B-720003ACC1D6}"/>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514">
            <a:extLst xmlns:a="http://schemas.openxmlformats.org/drawingml/2006/main">
              <a:ext uri="{FF2B5EF4-FFF2-40B4-BE49-F238E27FC236}">
                <a16:creationId xmlns:a16="http://schemas.microsoft.com/office/drawing/2014/main" id="{C993C833-4F51-4051-9160-C474023F63D3}"/>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31 / 39</a:t>
            </a:r>
          </a:p>
        </p:txBody>
      </p:sp>
      <p:graphicFrame>
        <p:nvGraphicFramePr>
          <p:cNvPr id="19" name="Chart"/>
          <p:cNvGraphicFramePr/>
          <p:nvPr/>
        </p:nvGraphicFramePr>
        <p:xfrm>
          <a:off xmlns:a="http://schemas.openxmlformats.org/drawingml/2006/main" x="514350" y="2400300"/>
          <a:ext xmlns:a="http://schemas.openxmlformats.org/drawingml/2006/main" cx="5324475" cy="3028950"/>
        </p:xfrm>
        <a:graphic xmlns:a="http://schemas.openxmlformats.org/drawingml/2006/main">
          <a:graphicData uri="http://schemas.openxmlformats.org/drawingml/2006/chart">
            <c:chart xmlns:r="http://schemas.openxmlformats.org/officeDocument/2006/relationships" xmlns:c="http://schemas.openxmlformats.org/drawingml/2006/chart" r:id="R181fdc3bf59442b4"/>
          </a:graphicData>
        </a:graphic>
      </p:graphicFrame>
      <p:graphicFrame>
        <p:nvGraphicFramePr>
          <p:cNvPr id="20" name="Chart"/>
          <p:cNvGraphicFramePr/>
          <p:nvPr/>
        </p:nvGraphicFramePr>
        <p:xfrm>
          <a:off xmlns:a="http://schemas.openxmlformats.org/drawingml/2006/main" x="6257925" y="2400300"/>
          <a:ext xmlns:a="http://schemas.openxmlformats.org/drawingml/2006/main" cx="5324475" cy="3028950"/>
        </p:xfrm>
        <a:graphic xmlns:a="http://schemas.openxmlformats.org/drawingml/2006/main">
          <a:graphicData uri="http://schemas.openxmlformats.org/drawingml/2006/chart">
            <c:chart xmlns:r="http://schemas.openxmlformats.org/officeDocument/2006/relationships" xmlns:c="http://schemas.openxmlformats.org/drawingml/2006/chart" r:id="R4255a46c0f644f35"/>
          </a:graphicData>
        </a:graphic>
      </p:graphicFrame>
      <p:sp>
        <p:nvSpPr>
          <p:cNvPr id="10" name="block-515">
            <a:extLst xmlns:a="http://schemas.openxmlformats.org/drawingml/2006/main">
              <a:ext uri="{FF2B5EF4-FFF2-40B4-BE49-F238E27FC236}">
                <a16:creationId xmlns:a16="http://schemas.microsoft.com/office/drawing/2014/main" id="{24643F71-A9D1-49E6-8371-B10E65FEA066}"/>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1" name="block-516">
            <a:extLst xmlns:a="http://schemas.openxmlformats.org/drawingml/2006/main">
              <a:ext uri="{FF2B5EF4-FFF2-40B4-BE49-F238E27FC236}">
                <a16:creationId xmlns:a16="http://schemas.microsoft.com/office/drawing/2014/main" id="{02D3360F-EEE6-471D-BDFA-88B46121531E}"/>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VLS helfen beim Vergleich. Unterschiede im Nutzungsverhalten bleiben relevant.</a:t>
            </a:r>
          </a:p>
        </p:txBody>
      </p:sp>
    </p:spTree>
    <p:extLst>
      <p:ext uri="{BB962C8B-B14F-4D97-AF65-F5344CB8AC3E}">
        <p14:creationId xmlns:p14="http://schemas.microsoft.com/office/powerpoint/2010/main" val="153120405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block-517">
            <a:extLst xmlns:a="http://schemas.openxmlformats.org/drawingml/2006/main">
              <a:ext uri="{FF2B5EF4-FFF2-40B4-BE49-F238E27FC236}">
                <a16:creationId xmlns:a16="http://schemas.microsoft.com/office/drawing/2014/main" id="{FF5D9BD3-4AF6-4B07-B386-2369573CA989}"/>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D / FEHLERMETRIKEN</a:t>
            </a:r>
          </a:p>
        </p:txBody>
      </p:sp>
      <p:sp>
        <p:nvSpPr>
          <p:cNvPr id="2" name="block-518">
            <a:extLst xmlns:a="http://schemas.openxmlformats.org/drawingml/2006/main">
              <a:ext uri="{FF2B5EF4-FFF2-40B4-BE49-F238E27FC236}">
                <a16:creationId xmlns:a16="http://schemas.microsoft.com/office/drawing/2014/main" id="{9E6DDBC4-3E5C-4FFB-8C1F-44ADA51D0867}"/>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RMSE gewichtet große Fehler stärker</a:t>
            </a:r>
          </a:p>
        </p:txBody>
      </p:sp>
      <p:sp>
        <p:nvSpPr>
          <p:cNvPr id="3" name="block-519">
            <a:extLst xmlns:a="http://schemas.openxmlformats.org/drawingml/2006/main">
              <a:ext uri="{FF2B5EF4-FFF2-40B4-BE49-F238E27FC236}">
                <a16:creationId xmlns:a16="http://schemas.microsoft.com/office/drawing/2014/main" id="{6F4623C5-33EC-4C53-8E0A-9EF5A519CB8C}"/>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Beispiel: Fehlerbeträge A = [10, 10, 10, 10] kWh, B = [0, 0, 0, 40] kWh.</a:t>
            </a:r>
          </a:p>
        </p:txBody>
      </p:sp>
      <p:sp>
        <p:nvSpPr>
          <p:cNvPr id="4" name="block-520">
            <a:extLst xmlns:a="http://schemas.openxmlformats.org/drawingml/2006/main">
              <a:ext uri="{FF2B5EF4-FFF2-40B4-BE49-F238E27FC236}">
                <a16:creationId xmlns:a16="http://schemas.microsoft.com/office/drawing/2014/main" id="{7BDD6C9D-B6A5-43E3-AA74-69847922A6A0}"/>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c3fccb64088047e5"/>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521">
            <a:extLst xmlns:a="http://schemas.openxmlformats.org/drawingml/2006/main">
              <a:ext uri="{FF2B5EF4-FFF2-40B4-BE49-F238E27FC236}">
                <a16:creationId xmlns:a16="http://schemas.microsoft.com/office/drawing/2014/main" id="{BF64A020-25DB-4997-A538-5E52537DF483}"/>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522">
            <a:extLst xmlns:a="http://schemas.openxmlformats.org/drawingml/2006/main">
              <a:ext uri="{FF2B5EF4-FFF2-40B4-BE49-F238E27FC236}">
                <a16:creationId xmlns:a16="http://schemas.microsoft.com/office/drawing/2014/main" id="{7EE03816-243A-404D-B4E9-CC7E59469E41}"/>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32 / 39</a:t>
            </a:r>
          </a:p>
        </p:txBody>
      </p:sp>
      <p:graphicFrame>
        <p:nvGraphicFramePr>
          <p:cNvPr id="22" name="Chart"/>
          <p:cNvGraphicFramePr/>
          <p:nvPr/>
        </p:nvGraphicFramePr>
        <p:xfrm>
          <a:off xmlns:a="http://schemas.openxmlformats.org/drawingml/2006/main" x="495300" y="2381250"/>
          <a:ext xmlns:a="http://schemas.openxmlformats.org/drawingml/2006/main" cx="7772400" cy="3086100"/>
        </p:xfrm>
        <a:graphic xmlns:a="http://schemas.openxmlformats.org/drawingml/2006/main">
          <a:graphicData uri="http://schemas.openxmlformats.org/drawingml/2006/chart">
            <c:chart xmlns:r="http://schemas.openxmlformats.org/officeDocument/2006/relationships" xmlns:c="http://schemas.openxmlformats.org/drawingml/2006/chart" r:id="Rd2ab99cff8f542f0"/>
          </a:graphicData>
        </a:graphic>
      </p:graphicFrame>
      <p:sp>
        <p:nvSpPr>
          <p:cNvPr id="9" name="block-523">
            <a:extLst xmlns:a="http://schemas.openxmlformats.org/drawingml/2006/main">
              <a:ext uri="{FF2B5EF4-FFF2-40B4-BE49-F238E27FC236}">
                <a16:creationId xmlns:a16="http://schemas.microsoft.com/office/drawing/2014/main" id="{86337107-363F-4A03-91FB-3AAC9E8224AD}"/>
              </a:ext>
            </a:extLst>
          </p:cNvPr>
          <p:cNvSpPr>
            <a:spLocks xmlns:a="http://schemas.openxmlformats.org/drawingml/2006/main" noGrp="1"/>
          </p:cNvSpPr>
          <p:nvPr/>
        </p:nvSpPr>
        <p:spPr>
          <a:xfrm xmlns:a="http://schemas.openxmlformats.org/drawingml/2006/main">
            <a:off x="8763000" y="2571750"/>
            <a:ext cx="2819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63659"/>
                </a:solidFill>
                <a:latin typeface="IBM Plex Sans"/>
                <a:ea typeface="IBM Plex Sans"/>
                <a:cs typeface="IBM Plex Sans"/>
              </a:defRPr>
            </a:pPr>
            <a:r>
              <a:rPr sz="2400" b="1">
                <a:solidFill>
                  <a:srgbClr val="063659"/>
                </a:solidFill>
                <a:latin typeface="IBM Plex Sans"/>
                <a:ea typeface="IBM Plex Sans"/>
                <a:cs typeface="IBM Plex Sans"/>
              </a:rPr>
              <a:t>MAE</a:t>
            </a:r>
          </a:p>
        </p:txBody>
      </p:sp>
      <p:sp>
        <p:nvSpPr>
          <p:cNvPr id="10" name="block-524">
            <a:extLst xmlns:a="http://schemas.openxmlformats.org/drawingml/2006/main">
              <a:ext uri="{FF2B5EF4-FFF2-40B4-BE49-F238E27FC236}">
                <a16:creationId xmlns:a16="http://schemas.microsoft.com/office/drawing/2014/main" id="{1EBC7171-EFC0-474D-AE58-E4822B8256E1}"/>
              </a:ext>
            </a:extLst>
          </p:cNvPr>
          <p:cNvSpPr>
            <a:spLocks xmlns:a="http://schemas.openxmlformats.org/drawingml/2006/main" noGrp="1"/>
          </p:cNvSpPr>
          <p:nvPr/>
        </p:nvSpPr>
        <p:spPr>
          <a:xfrm xmlns:a="http://schemas.openxmlformats.org/drawingml/2006/main">
            <a:off x="8763000" y="3038475"/>
            <a:ext cx="2819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10 kWh</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in beiden Beispielen</a:t>
            </a:r>
          </a:p>
        </p:txBody>
      </p:sp>
      <p:sp>
        <p:nvSpPr>
          <p:cNvPr id="11" name="block-525">
            <a:extLst xmlns:a="http://schemas.openxmlformats.org/drawingml/2006/main">
              <a:ext uri="{FF2B5EF4-FFF2-40B4-BE49-F238E27FC236}">
                <a16:creationId xmlns:a16="http://schemas.microsoft.com/office/drawing/2014/main" id="{EFBEF3D4-F7CA-4AFA-BCB5-07EE8DF09DD4}"/>
              </a:ext>
            </a:extLst>
          </p:cNvPr>
          <p:cNvSpPr>
            <a:spLocks xmlns:a="http://schemas.openxmlformats.org/drawingml/2006/main" noGrp="1"/>
          </p:cNvSpPr>
          <p:nvPr/>
        </p:nvSpPr>
        <p:spPr>
          <a:xfrm xmlns:a="http://schemas.openxmlformats.org/drawingml/2006/main">
            <a:off x="8763000" y="4191000"/>
            <a:ext cx="2819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080A0"/>
                </a:solidFill>
                <a:latin typeface="IBM Plex Sans"/>
                <a:ea typeface="IBM Plex Sans"/>
                <a:cs typeface="IBM Plex Sans"/>
              </a:defRPr>
            </a:pPr>
            <a:r>
              <a:rPr sz="2400" b="1">
                <a:solidFill>
                  <a:srgbClr val="0080A0"/>
                </a:solidFill>
                <a:latin typeface="IBM Plex Sans"/>
                <a:ea typeface="IBM Plex Sans"/>
                <a:cs typeface="IBM Plex Sans"/>
              </a:rPr>
              <a:t>RMSE</a:t>
            </a:r>
          </a:p>
        </p:txBody>
      </p:sp>
      <p:sp>
        <p:nvSpPr>
          <p:cNvPr id="12" name="block-526">
            <a:extLst xmlns:a="http://schemas.openxmlformats.org/drawingml/2006/main">
              <a:ext uri="{FF2B5EF4-FFF2-40B4-BE49-F238E27FC236}">
                <a16:creationId xmlns:a16="http://schemas.microsoft.com/office/drawing/2014/main" id="{69724933-4F43-43FC-8760-C9CCD42C51D2}"/>
              </a:ext>
            </a:extLst>
          </p:cNvPr>
          <p:cNvSpPr>
            <a:spLocks xmlns:a="http://schemas.openxmlformats.org/drawingml/2006/main" noGrp="1"/>
          </p:cNvSpPr>
          <p:nvPr/>
        </p:nvSpPr>
        <p:spPr>
          <a:xfrm xmlns:a="http://schemas.openxmlformats.org/drawingml/2006/main">
            <a:off x="8763000" y="4657725"/>
            <a:ext cx="2819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10 versus 20 kWh</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Einzelpeak zählt stärker.</a:t>
            </a:r>
          </a:p>
        </p:txBody>
      </p:sp>
      <p:sp>
        <p:nvSpPr>
          <p:cNvPr id="13" name="block-527">
            <a:extLst xmlns:a="http://schemas.openxmlformats.org/drawingml/2006/main">
              <a:ext uri="{FF2B5EF4-FFF2-40B4-BE49-F238E27FC236}">
                <a16:creationId xmlns:a16="http://schemas.microsoft.com/office/drawing/2014/main" id="{03788C02-5846-4D03-8AAD-3DE943A0629B}"/>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4" name="block-528">
            <a:extLst xmlns:a="http://schemas.openxmlformats.org/drawingml/2006/main">
              <a:ext uri="{FF2B5EF4-FFF2-40B4-BE49-F238E27FC236}">
                <a16:creationId xmlns:a16="http://schemas.microsoft.com/office/drawing/2014/main" id="{4017A712-9A2A-4C67-AB39-A7A2C3D26AEF}"/>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Deshalb dient RMSE als Hauptmetrik. MAE ergänzt die mittlere Fehlergröße.</a:t>
            </a:r>
          </a:p>
        </p:txBody>
      </p:sp>
    </p:spTree>
    <p:extLst>
      <p:ext uri="{BB962C8B-B14F-4D97-AF65-F5344CB8AC3E}">
        <p14:creationId xmlns:p14="http://schemas.microsoft.com/office/powerpoint/2010/main" val="21616082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block-529">
            <a:extLst xmlns:a="http://schemas.openxmlformats.org/drawingml/2006/main">
              <a:ext uri="{FF2B5EF4-FFF2-40B4-BE49-F238E27FC236}">
                <a16:creationId xmlns:a16="http://schemas.microsoft.com/office/drawing/2014/main" id="{7BB254BF-E7C7-4F83-8EC3-77F9232666CC}"/>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E / ZIELVARIABLE</a:t>
            </a:r>
          </a:p>
        </p:txBody>
      </p:sp>
      <p:sp>
        <p:nvSpPr>
          <p:cNvPr id="2" name="block-530">
            <a:extLst xmlns:a="http://schemas.openxmlformats.org/drawingml/2006/main">
              <a:ext uri="{FF2B5EF4-FFF2-40B4-BE49-F238E27FC236}">
                <a16:creationId xmlns:a16="http://schemas.microsoft.com/office/drawing/2014/main" id="{9089029E-288C-4F67-B86E-7F6D6CB96BC7}"/>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VLS verbessert diesen Modellvergleich</a:t>
            </a:r>
          </a:p>
        </p:txBody>
      </p:sp>
      <p:sp>
        <p:nvSpPr>
          <p:cNvPr id="3" name="block-531">
            <a:extLst xmlns:a="http://schemas.openxmlformats.org/drawingml/2006/main">
              <a:ext uri="{FF2B5EF4-FFF2-40B4-BE49-F238E27FC236}">
                <a16:creationId xmlns:a16="http://schemas.microsoft.com/office/drawing/2014/main" id="{2BFE2E01-290F-499D-9916-042BF0DB0AA5}"/>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Gleicher Modelltyp: Random Forest. Bewertung in kWh auf dem Benchmark 2025.</a:t>
            </a:r>
          </a:p>
        </p:txBody>
      </p:sp>
      <p:sp>
        <p:nvSpPr>
          <p:cNvPr id="4" name="block-532">
            <a:extLst xmlns:a="http://schemas.openxmlformats.org/drawingml/2006/main">
              <a:ext uri="{FF2B5EF4-FFF2-40B4-BE49-F238E27FC236}">
                <a16:creationId xmlns:a16="http://schemas.microsoft.com/office/drawing/2014/main" id="{065CFDC8-78A2-4140-BB83-9F3FB1E35DB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4c1291710424653"/>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533">
            <a:extLst xmlns:a="http://schemas.openxmlformats.org/drawingml/2006/main">
              <a:ext uri="{FF2B5EF4-FFF2-40B4-BE49-F238E27FC236}">
                <a16:creationId xmlns:a16="http://schemas.microsoft.com/office/drawing/2014/main" id="{1AE31D24-9EBE-439B-B1C1-5F38A530C766}"/>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534">
            <a:extLst xmlns:a="http://schemas.openxmlformats.org/drawingml/2006/main">
              <a:ext uri="{FF2B5EF4-FFF2-40B4-BE49-F238E27FC236}">
                <a16:creationId xmlns:a16="http://schemas.microsoft.com/office/drawing/2014/main" id="{FEE61E5F-8F2B-4B8C-AE9D-5E9BB3AB5BDF}"/>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33 / 39</a:t>
            </a:r>
          </a:p>
        </p:txBody>
      </p:sp>
      <p:graphicFrame>
        <p:nvGraphicFramePr>
          <p:cNvPr id="20" name="Chart"/>
          <p:cNvGraphicFramePr/>
          <p:nvPr/>
        </p:nvGraphicFramePr>
        <p:xfrm>
          <a:off xmlns:a="http://schemas.openxmlformats.org/drawingml/2006/main" x="495300" y="2438400"/>
          <a:ext xmlns:a="http://schemas.openxmlformats.org/drawingml/2006/main" cx="7829550" cy="3009900"/>
        </p:xfrm>
        <a:graphic xmlns:a="http://schemas.openxmlformats.org/drawingml/2006/main">
          <a:graphicData uri="http://schemas.openxmlformats.org/drawingml/2006/chart">
            <c:chart xmlns:r="http://schemas.openxmlformats.org/officeDocument/2006/relationships" xmlns:c="http://schemas.openxmlformats.org/drawingml/2006/chart" r:id="Rb5ee4a6185844057"/>
          </a:graphicData>
        </a:graphic>
      </p:graphicFrame>
      <p:sp>
        <p:nvSpPr>
          <p:cNvPr id="9" name="block-535">
            <a:extLst xmlns:a="http://schemas.openxmlformats.org/drawingml/2006/main">
              <a:ext uri="{FF2B5EF4-FFF2-40B4-BE49-F238E27FC236}">
                <a16:creationId xmlns:a16="http://schemas.microsoft.com/office/drawing/2014/main" id="{B72F9634-0E3C-4543-ACD3-F9D92F06E6D5}"/>
              </a:ext>
            </a:extLst>
          </p:cNvPr>
          <p:cNvSpPr>
            <a:spLocks xmlns:a="http://schemas.openxmlformats.org/drawingml/2006/main" noGrp="1"/>
          </p:cNvSpPr>
          <p:nvPr/>
        </p:nvSpPr>
        <p:spPr>
          <a:xfrm xmlns:a="http://schemas.openxmlformats.org/drawingml/2006/main">
            <a:off x="8905875" y="2809875"/>
            <a:ext cx="26765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−6,2 %</a:t>
            </a:r>
          </a:p>
        </p:txBody>
      </p:sp>
      <p:sp>
        <p:nvSpPr>
          <p:cNvPr id="10" name="block-536">
            <a:extLst xmlns:a="http://schemas.openxmlformats.org/drawingml/2006/main">
              <a:ext uri="{FF2B5EF4-FFF2-40B4-BE49-F238E27FC236}">
                <a16:creationId xmlns:a16="http://schemas.microsoft.com/office/drawing/2014/main" id="{2DC028B5-B6AF-4272-A514-F3A246A9B576}"/>
              </a:ext>
            </a:extLst>
          </p:cNvPr>
          <p:cNvSpPr>
            <a:spLocks xmlns:a="http://schemas.openxmlformats.org/drawingml/2006/main" noGrp="1"/>
          </p:cNvSpPr>
          <p:nvPr/>
        </p:nvSpPr>
        <p:spPr>
          <a:xfrm xmlns:a="http://schemas.openxmlformats.org/drawingml/2006/main">
            <a:off x="8905875" y="3590925"/>
            <a:ext cx="2676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RMSE durch die</a:t>
            </a:r>
          </a:p>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Zielvariable VLS</a:t>
            </a:r>
          </a:p>
        </p:txBody>
      </p:sp>
      <p:sp>
        <p:nvSpPr>
          <p:cNvPr id="11" name="block-537">
            <a:extLst xmlns:a="http://schemas.openxmlformats.org/drawingml/2006/main">
              <a:ext uri="{FF2B5EF4-FFF2-40B4-BE49-F238E27FC236}">
                <a16:creationId xmlns:a16="http://schemas.microsoft.com/office/drawing/2014/main" id="{199C54BC-8F7E-46FA-ACA3-F39F6DC798F8}"/>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2" name="block-538">
            <a:extLst xmlns:a="http://schemas.openxmlformats.org/drawingml/2006/main">
              <a:ext uri="{FF2B5EF4-FFF2-40B4-BE49-F238E27FC236}">
                <a16:creationId xmlns:a16="http://schemas.microsoft.com/office/drawing/2014/main" id="{08234E05-A471-4A1E-84A8-99F85DB9EABA}"/>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Das Ergebnis gilt für diesen Datensatz. Es ist keine allgemeine Überlegenheit.</a:t>
            </a:r>
          </a:p>
        </p:txBody>
      </p:sp>
    </p:spTree>
    <p:extLst>
      <p:ext uri="{BB962C8B-B14F-4D97-AF65-F5344CB8AC3E}">
        <p14:creationId xmlns:p14="http://schemas.microsoft.com/office/powerpoint/2010/main" val="1977088579"/>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lock-539">
            <a:extLst xmlns:a="http://schemas.openxmlformats.org/drawingml/2006/main">
              <a:ext uri="{FF2B5EF4-FFF2-40B4-BE49-F238E27FC236}">
                <a16:creationId xmlns:a16="http://schemas.microsoft.com/office/drawing/2014/main" id="{35EF4421-7CBA-49F2-94CA-8C86218CC0DE}"/>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F / SENSITIVITÄT</a:t>
            </a:r>
          </a:p>
        </p:txBody>
      </p:sp>
      <p:sp>
        <p:nvSpPr>
          <p:cNvPr id="2" name="block-540">
            <a:extLst xmlns:a="http://schemas.openxmlformats.org/drawingml/2006/main">
              <a:ext uri="{FF2B5EF4-FFF2-40B4-BE49-F238E27FC236}">
                <a16:creationId xmlns:a16="http://schemas.microsoft.com/office/drawing/2014/main" id="{903071EF-C4C5-485E-A955-48CEA8C26792}"/>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Das Perzentil bestimmt den Prüfaufwand</a:t>
            </a:r>
          </a:p>
        </p:txBody>
      </p:sp>
      <p:sp>
        <p:nvSpPr>
          <p:cNvPr id="3" name="block-541">
            <a:extLst xmlns:a="http://schemas.openxmlformats.org/drawingml/2006/main">
              <a:ext uri="{FF2B5EF4-FFF2-40B4-BE49-F238E27FC236}">
                <a16:creationId xmlns:a16="http://schemas.microsoft.com/office/drawing/2014/main" id="{187D68A6-0C8C-4E7B-93FF-42956BCC8135}"/>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Gleiche Prognosen, andere Grenze. Dafür wird das Modell nicht neu trainiert.</a:t>
            </a:r>
          </a:p>
        </p:txBody>
      </p:sp>
      <p:sp>
        <p:nvSpPr>
          <p:cNvPr id="4" name="block-542">
            <a:extLst xmlns:a="http://schemas.openxmlformats.org/drawingml/2006/main">
              <a:ext uri="{FF2B5EF4-FFF2-40B4-BE49-F238E27FC236}">
                <a16:creationId xmlns:a16="http://schemas.microsoft.com/office/drawing/2014/main" id="{318A071A-19B2-4207-9AE9-F28EE7825F3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ad18769be224188"/>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543">
            <a:extLst xmlns:a="http://schemas.openxmlformats.org/drawingml/2006/main">
              <a:ext uri="{FF2B5EF4-FFF2-40B4-BE49-F238E27FC236}">
                <a16:creationId xmlns:a16="http://schemas.microsoft.com/office/drawing/2014/main" id="{3BE180B3-715B-40DE-857C-52D258670FA6}"/>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544">
            <a:extLst xmlns:a="http://schemas.openxmlformats.org/drawingml/2006/main">
              <a:ext uri="{FF2B5EF4-FFF2-40B4-BE49-F238E27FC236}">
                <a16:creationId xmlns:a16="http://schemas.microsoft.com/office/drawing/2014/main" id="{69EC7C8F-D8DA-43E4-B774-7CDE39D5F984}"/>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34 / 39</a:t>
            </a:r>
          </a:p>
        </p:txBody>
      </p:sp>
      <p:graphicFrame>
        <p:nvGraphicFramePr>
          <p:cNvPr id="19" name="Chart"/>
          <p:cNvGraphicFramePr/>
          <p:nvPr/>
        </p:nvGraphicFramePr>
        <p:xfrm>
          <a:off xmlns:a="http://schemas.openxmlformats.org/drawingml/2006/main" x="495300" y="2505075"/>
          <a:ext xmlns:a="http://schemas.openxmlformats.org/drawingml/2006/main" cx="6410325" cy="2924175"/>
        </p:xfrm>
        <a:graphic xmlns:a="http://schemas.openxmlformats.org/drawingml/2006/main">
          <a:graphicData uri="http://schemas.openxmlformats.org/drawingml/2006/chart">
            <c:chart xmlns:r="http://schemas.openxmlformats.org/officeDocument/2006/relationships" xmlns:c="http://schemas.openxmlformats.org/drawingml/2006/chart" r:id="R4dadb30f8b124bb3"/>
          </a:graphicData>
        </a:graphic>
      </p:graphicFrame>
      <p:graphicFrame>
        <p:nvGraphicFramePr>
          <p:cNvPr id="20" name=""/>
          <p:cNvGraphicFramePr/>
          <p:nvPr/>
        </p:nvGraphicFramePr>
        <p:xfrm>
          <a:off xmlns:a="http://schemas.openxmlformats.org/drawingml/2006/main" x="7324725" y="2571750"/>
          <a:ext xmlns:a="http://schemas.openxmlformats.org/drawingml/2006/main" cx="4257675" cy="2743200"/>
        </p:xfrm>
        <a:graphic xmlns:a="http://schemas.openxmlformats.org/drawingml/2006/main">
          <a:graphicData uri="http://schemas.openxmlformats.org/drawingml/2006/table">
            <a:tbl>
              <a:tblPr/>
              <a:tblGrid>
                <a:gridCol w="942975"/>
                <a:gridCol w="1019175"/>
                <a:gridCol w="2295525"/>
              </a:tblGrid>
              <a:tr h="548640">
                <a:tc>
                  <a:txBody>
                    <a:bodyPr lIns="133350" tIns="85725" rIns="95250" bIns="85725"/>
                    <a:lstStyle/>
                    <a:p>
                      <a:r>
                        <a:rPr sz="1725" b="1">
                          <a:solidFill>
                            <a:srgbClr val="FFFFFF"/>
                          </a:solidFill>
                          <a:latin typeface="IBM Plex Sans"/>
                          <a:ea typeface="IBM Plex Sans"/>
                          <a:cs typeface="IBM Plex Sans"/>
                        </a:rPr>
                        <a:t>Grenze</a:t>
                      </a:r>
                    </a:p>
                  </a:txBody>
                  <a:tcPr marL="91440" marR="91440" marT="45720" marB="45720" anchor="ctr">
                    <a:solidFill>
                      <a:srgbClr val="063659"/>
                    </a:solidFill>
                  </a:tcPr>
                </a:tc>
                <a:tc>
                  <a:txBody>
                    <a:bodyPr lIns="133350" tIns="85725" rIns="95250" bIns="85725"/>
                    <a:lstStyle/>
                    <a:p>
                      <a:r>
                        <a:rPr sz="1725" b="1">
                          <a:solidFill>
                            <a:srgbClr val="FFFFFF"/>
                          </a:solidFill>
                          <a:latin typeface="IBM Plex Sans"/>
                          <a:ea typeface="IBM Plex Sans"/>
                          <a:cs typeface="IBM Plex Sans"/>
                        </a:rPr>
                        <a:t>VLS-h</a:t>
                      </a:r>
                    </a:p>
                  </a:txBody>
                  <a:tcPr marL="91440" marR="91440" marT="45720" marB="45720" anchor="ctr">
                    <a:solidFill>
                      <a:srgbClr val="063659"/>
                    </a:solidFill>
                  </a:tcPr>
                </a:tc>
                <a:tc>
                  <a:txBody>
                    <a:bodyPr lIns="133350" tIns="85725" rIns="95250" bIns="85725"/>
                    <a:lstStyle/>
                    <a:p>
                      <a:r>
                        <a:rPr sz="1725" b="1">
                          <a:solidFill>
                            <a:srgbClr val="FFFFFF"/>
                          </a:solidFill>
                          <a:latin typeface="IBM Plex Sans"/>
                          <a:ea typeface="IBM Plex Sans"/>
                          <a:cs typeface="IBM Plex Sans"/>
                        </a:rPr>
                        <a:t>Hinweise / Monat</a:t>
                      </a:r>
                    </a:p>
                  </a:txBody>
                  <a:tcPr marL="91440" marR="91440" marT="45720" marB="45720" anchor="ctr">
                    <a:solidFill>
                      <a:srgbClr val="063659"/>
                    </a:solidFill>
                  </a:tcPr>
                </a:tc>
              </a:tr>
              <a:tr h="548640">
                <a:tc>
                  <a:txBody>
                    <a:bodyPr lIns="133350" tIns="85725" rIns="95250" bIns="85725"/>
                    <a:lstStyle/>
                    <a:p>
                      <a:r>
                        <a:rPr sz="1725" b="0">
                          <a:solidFill>
                            <a:srgbClr val="141A21"/>
                          </a:solidFill>
                          <a:latin typeface="IBM Plex Sans"/>
                          <a:ea typeface="IBM Plex Sans"/>
                          <a:cs typeface="IBM Plex Sans"/>
                        </a:rPr>
                        <a:t>q95</a:t>
                      </a:r>
                    </a:p>
                  </a:txBody>
                  <a:tcPr marL="91440" marR="91440" marT="45720" marB="45720" anchor="ctr">
                    <a:solidFill>
                      <a:srgbClr val="F1F4F7"/>
                    </a:solidFill>
                  </a:tcPr>
                </a:tc>
                <a:tc>
                  <a:txBody>
                    <a:bodyPr lIns="133350" tIns="85725" rIns="95250" bIns="85725"/>
                    <a:lstStyle/>
                    <a:p>
                      <a:r>
                        <a:rPr sz="1725" b="0">
                          <a:solidFill>
                            <a:srgbClr val="141A21"/>
                          </a:solidFill>
                          <a:latin typeface="IBM Plex Sans"/>
                          <a:ea typeface="IBM Plex Sans"/>
                          <a:cs typeface="IBM Plex Sans"/>
                        </a:rPr>
                        <a:t>68,0</a:t>
                      </a:r>
                    </a:p>
                  </a:txBody>
                  <a:tcPr marL="91440" marR="91440" marT="45720" marB="45720" anchor="ctr">
                    <a:solidFill>
                      <a:srgbClr val="F1F4F7"/>
                    </a:solidFill>
                  </a:tcPr>
                </a:tc>
                <a:tc>
                  <a:txBody>
                    <a:bodyPr lIns="133350" tIns="85725" rIns="95250" bIns="85725"/>
                    <a:lstStyle/>
                    <a:p>
                      <a:r>
                        <a:rPr sz="1725" b="0">
                          <a:solidFill>
                            <a:srgbClr val="141A21"/>
                          </a:solidFill>
                          <a:latin typeface="IBM Plex Sans"/>
                          <a:ea typeface="IBM Plex Sans"/>
                          <a:cs typeface="IBM Plex Sans"/>
                        </a:rPr>
                        <a:t>33,3</a:t>
                      </a:r>
                    </a:p>
                  </a:txBody>
                  <a:tcPr marL="91440" marR="91440" marT="45720" marB="45720" anchor="ctr">
                    <a:solidFill>
                      <a:srgbClr val="F1F4F7"/>
                    </a:solidFill>
                  </a:tcPr>
                </a:tc>
              </a:tr>
              <a:tr h="548640">
                <a:tc>
                  <a:txBody>
                    <a:bodyPr lIns="133350" tIns="85725" rIns="95250" bIns="85725"/>
                    <a:lstStyle/>
                    <a:p>
                      <a:r>
                        <a:rPr sz="1725" b="0">
                          <a:solidFill>
                            <a:srgbClr val="141A21"/>
                          </a:solidFill>
                          <a:latin typeface="IBM Plex Sans"/>
                          <a:ea typeface="IBM Plex Sans"/>
                          <a:cs typeface="IBM Plex Sans"/>
                        </a:rPr>
                        <a:t>q97,5</a:t>
                      </a:r>
                    </a:p>
                  </a:txBody>
                  <a:tcPr marL="91440" marR="91440" marT="45720" marB="45720" anchor="ctr">
                    <a:solidFill>
                      <a:srgbClr val="FFFFFF"/>
                    </a:solidFill>
                  </a:tcPr>
                </a:tc>
                <a:tc>
                  <a:txBody>
                    <a:bodyPr lIns="133350" tIns="85725" rIns="95250" bIns="85725"/>
                    <a:lstStyle/>
                    <a:p>
                      <a:r>
                        <a:rPr sz="1725" b="0">
                          <a:solidFill>
                            <a:srgbClr val="141A21"/>
                          </a:solidFill>
                          <a:latin typeface="IBM Plex Sans"/>
                          <a:ea typeface="IBM Plex Sans"/>
                          <a:cs typeface="IBM Plex Sans"/>
                        </a:rPr>
                        <a:t>82,4</a:t>
                      </a:r>
                    </a:p>
                  </a:txBody>
                  <a:tcPr marL="91440" marR="91440" marT="45720" marB="45720" anchor="ctr">
                    <a:solidFill>
                      <a:srgbClr val="FFFFFF"/>
                    </a:solidFill>
                  </a:tcPr>
                </a:tc>
                <a:tc>
                  <a:txBody>
                    <a:bodyPr lIns="133350" tIns="85725" rIns="95250" bIns="85725"/>
                    <a:lstStyle/>
                    <a:p>
                      <a:r>
                        <a:rPr sz="1725" b="0">
                          <a:solidFill>
                            <a:srgbClr val="141A21"/>
                          </a:solidFill>
                          <a:latin typeface="IBM Plex Sans"/>
                          <a:ea typeface="IBM Plex Sans"/>
                          <a:cs typeface="IBM Plex Sans"/>
                        </a:rPr>
                        <a:t>21,3</a:t>
                      </a:r>
                    </a:p>
                  </a:txBody>
                  <a:tcPr marL="91440" marR="91440" marT="45720" marB="45720" anchor="ctr">
                    <a:solidFill>
                      <a:srgbClr val="FFFFFF"/>
                    </a:solidFill>
                  </a:tcPr>
                </a:tc>
              </a:tr>
              <a:tr h="548640">
                <a:tc>
                  <a:txBody>
                    <a:bodyPr lIns="133350" tIns="85725" rIns="95250" bIns="85725"/>
                    <a:lstStyle/>
                    <a:p>
                      <a:r>
                        <a:rPr sz="1725" b="0">
                          <a:solidFill>
                            <a:srgbClr val="141A21"/>
                          </a:solidFill>
                          <a:latin typeface="IBM Plex Sans"/>
                          <a:ea typeface="IBM Plex Sans"/>
                          <a:cs typeface="IBM Plex Sans"/>
                        </a:rPr>
                        <a:t>q99</a:t>
                      </a:r>
                    </a:p>
                  </a:txBody>
                  <a:tcPr marL="91440" marR="91440" marT="45720" marB="45720" anchor="ctr">
                    <a:solidFill>
                      <a:srgbClr val="F1F4F7"/>
                    </a:solidFill>
                  </a:tcPr>
                </a:tc>
                <a:tc>
                  <a:txBody>
                    <a:bodyPr lIns="133350" tIns="85725" rIns="95250" bIns="85725"/>
                    <a:lstStyle/>
                    <a:p>
                      <a:r>
                        <a:rPr sz="1725" b="0">
                          <a:solidFill>
                            <a:srgbClr val="141A21"/>
                          </a:solidFill>
                          <a:latin typeface="IBM Plex Sans"/>
                          <a:ea typeface="IBM Plex Sans"/>
                          <a:cs typeface="IBM Plex Sans"/>
                        </a:rPr>
                        <a:t>144,4</a:t>
                      </a:r>
                    </a:p>
                  </a:txBody>
                  <a:tcPr marL="91440" marR="91440" marT="45720" marB="45720" anchor="ctr">
                    <a:solidFill>
                      <a:srgbClr val="F1F4F7"/>
                    </a:solidFill>
                  </a:tcPr>
                </a:tc>
                <a:tc>
                  <a:txBody>
                    <a:bodyPr lIns="133350" tIns="85725" rIns="95250" bIns="85725"/>
                    <a:lstStyle/>
                    <a:p>
                      <a:r>
                        <a:rPr sz="1725" b="0">
                          <a:solidFill>
                            <a:srgbClr val="141A21"/>
                          </a:solidFill>
                          <a:latin typeface="IBM Plex Sans"/>
                          <a:ea typeface="IBM Plex Sans"/>
                          <a:cs typeface="IBM Plex Sans"/>
                        </a:rPr>
                        <a:t>9,5</a:t>
                      </a:r>
                    </a:p>
                  </a:txBody>
                  <a:tcPr marL="91440" marR="91440" marT="45720" marB="45720" anchor="ctr">
                    <a:solidFill>
                      <a:srgbClr val="F1F4F7"/>
                    </a:solidFill>
                  </a:tcPr>
                </a:tc>
              </a:tr>
              <a:tr h="548640">
                <a:tc>
                  <a:txBody>
                    <a:bodyPr lIns="133350" tIns="85725" rIns="95250" bIns="85725"/>
                    <a:lstStyle/>
                    <a:p>
                      <a:r>
                        <a:rPr sz="1725" b="0">
                          <a:solidFill>
                            <a:srgbClr val="141A21"/>
                          </a:solidFill>
                          <a:latin typeface="IBM Plex Sans"/>
                          <a:ea typeface="IBM Plex Sans"/>
                          <a:cs typeface="IBM Plex Sans"/>
                        </a:rPr>
                        <a:t>q99,5</a:t>
                      </a:r>
                    </a:p>
                  </a:txBody>
                  <a:tcPr marL="91440" marR="91440" marT="45720" marB="45720" anchor="ctr">
                    <a:solidFill>
                      <a:srgbClr val="FFFFFF"/>
                    </a:solidFill>
                  </a:tcPr>
                </a:tc>
                <a:tc>
                  <a:txBody>
                    <a:bodyPr lIns="133350" tIns="85725" rIns="95250" bIns="85725"/>
                    <a:lstStyle/>
                    <a:p>
                      <a:r>
                        <a:rPr sz="1725" b="0">
                          <a:solidFill>
                            <a:srgbClr val="141A21"/>
                          </a:solidFill>
                          <a:latin typeface="IBM Plex Sans"/>
                          <a:ea typeface="IBM Plex Sans"/>
                          <a:cs typeface="IBM Plex Sans"/>
                        </a:rPr>
                        <a:t>196,3</a:t>
                      </a:r>
                    </a:p>
                  </a:txBody>
                  <a:tcPr marL="91440" marR="91440" marT="45720" marB="45720" anchor="ctr">
                    <a:solidFill>
                      <a:srgbClr val="FFFFFF"/>
                    </a:solidFill>
                  </a:tcPr>
                </a:tc>
                <a:tc>
                  <a:txBody>
                    <a:bodyPr lIns="133350" tIns="85725" rIns="95250" bIns="85725"/>
                    <a:lstStyle/>
                    <a:p>
                      <a:r>
                        <a:rPr sz="1725" b="0">
                          <a:solidFill>
                            <a:srgbClr val="141A21"/>
                          </a:solidFill>
                          <a:latin typeface="IBM Plex Sans"/>
                          <a:ea typeface="IBM Plex Sans"/>
                          <a:cs typeface="IBM Plex Sans"/>
                        </a:rPr>
                        <a:t>5,8</a:t>
                      </a:r>
                    </a:p>
                  </a:txBody>
                  <a:tcPr marL="91440" marR="91440" marT="45720" marB="45720" anchor="ctr">
                    <a:solidFill>
                      <a:srgbClr val="FFFFFF"/>
                    </a:solidFill>
                  </a:tcPr>
                </a:tc>
              </a:tr>
            </a:tbl>
          </a:graphicData>
        </a:graphic>
      </p:graphicFrame>
      <p:sp>
        <p:nvSpPr>
          <p:cNvPr id="10" name="block-545">
            <a:extLst xmlns:a="http://schemas.openxmlformats.org/drawingml/2006/main">
              <a:ext uri="{FF2B5EF4-FFF2-40B4-BE49-F238E27FC236}">
                <a16:creationId xmlns:a16="http://schemas.microsoft.com/office/drawing/2014/main" id="{4151C982-3AA5-450A-AC2F-B30F37545DD5}"/>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1" name="block-546">
            <a:extLst xmlns:a="http://schemas.openxmlformats.org/drawingml/2006/main">
              <a:ext uri="{FF2B5EF4-FFF2-40B4-BE49-F238E27FC236}">
                <a16:creationId xmlns:a16="http://schemas.microsoft.com/office/drawing/2014/main" id="{F87949A2-39C1-47CE-9AED-3FD92C838684}"/>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Die passende Grenze braucht bekannte Prüfkapazität und bestätigte Labels.</a:t>
            </a:r>
          </a:p>
        </p:txBody>
      </p:sp>
    </p:spTree>
    <p:extLst>
      <p:ext uri="{BB962C8B-B14F-4D97-AF65-F5344CB8AC3E}">
        <p14:creationId xmlns:p14="http://schemas.microsoft.com/office/powerpoint/2010/main" val="607112633"/>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lock-547">
            <a:extLst xmlns:a="http://schemas.openxmlformats.org/drawingml/2006/main">
              <a:ext uri="{FF2B5EF4-FFF2-40B4-BE49-F238E27FC236}">
                <a16:creationId xmlns:a16="http://schemas.microsoft.com/office/drawing/2014/main" id="{3C9C6D9C-0149-4CF5-9E5C-3D75778561DD}"/>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G / MODELLKONFIGURATION</a:t>
            </a:r>
          </a:p>
        </p:txBody>
      </p:sp>
      <p:sp>
        <p:nvSpPr>
          <p:cNvPr id="2" name="block-548">
            <a:extLst xmlns:a="http://schemas.openxmlformats.org/drawingml/2006/main">
              <a:ext uri="{FF2B5EF4-FFF2-40B4-BE49-F238E27FC236}">
                <a16:creationId xmlns:a16="http://schemas.microsoft.com/office/drawing/2014/main" id="{A80747E0-0B02-439F-8677-018D513E9DDD}"/>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Die Fold-Ergebnisse schwanken deutlich</a:t>
            </a:r>
          </a:p>
        </p:txBody>
      </p:sp>
      <p:sp>
        <p:nvSpPr>
          <p:cNvPr id="3" name="block-549">
            <a:extLst xmlns:a="http://schemas.openxmlformats.org/drawingml/2006/main">
              <a:ext uri="{FF2B5EF4-FFF2-40B4-BE49-F238E27FC236}">
                <a16:creationId xmlns:a16="http://schemas.microsoft.com/office/drawing/2014/main" id="{6CA12CB3-F18B-4DF9-B000-430F33E34155}"/>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Random-Forest-RMSE in kWh. Jeder Fold bewertet einen anderen Zeitraum.</a:t>
            </a:r>
          </a:p>
        </p:txBody>
      </p:sp>
      <p:sp>
        <p:nvSpPr>
          <p:cNvPr id="4" name="block-550">
            <a:extLst xmlns:a="http://schemas.openxmlformats.org/drawingml/2006/main">
              <a:ext uri="{FF2B5EF4-FFF2-40B4-BE49-F238E27FC236}">
                <a16:creationId xmlns:a16="http://schemas.microsoft.com/office/drawing/2014/main" id="{EE10098E-CEA9-4005-8A35-BFA20454BA22}"/>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4476c53a67e4b70"/>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551">
            <a:extLst xmlns:a="http://schemas.openxmlformats.org/drawingml/2006/main">
              <a:ext uri="{FF2B5EF4-FFF2-40B4-BE49-F238E27FC236}">
                <a16:creationId xmlns:a16="http://schemas.microsoft.com/office/drawing/2014/main" id="{E3A8BBB5-3C04-4214-875D-3FC761A0925F}"/>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552">
            <a:extLst xmlns:a="http://schemas.openxmlformats.org/drawingml/2006/main">
              <a:ext uri="{FF2B5EF4-FFF2-40B4-BE49-F238E27FC236}">
                <a16:creationId xmlns:a16="http://schemas.microsoft.com/office/drawing/2014/main" id="{8E3E51D0-E6FA-4705-B2D0-EACBE2A42FE7}"/>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35 / 39</a:t>
            </a:r>
          </a:p>
        </p:txBody>
      </p:sp>
      <p:graphicFrame>
        <p:nvGraphicFramePr>
          <p:cNvPr id="19" name="Chart"/>
          <p:cNvGraphicFramePr/>
          <p:nvPr/>
        </p:nvGraphicFramePr>
        <p:xfrm>
          <a:off xmlns:a="http://schemas.openxmlformats.org/drawingml/2006/main" x="466725" y="2667000"/>
          <a:ext xmlns:a="http://schemas.openxmlformats.org/drawingml/2006/main" cx="5334000" cy="2505075"/>
        </p:xfrm>
        <a:graphic xmlns:a="http://schemas.openxmlformats.org/drawingml/2006/main">
          <a:graphicData uri="http://schemas.openxmlformats.org/drawingml/2006/chart">
            <c:chart xmlns:r="http://schemas.openxmlformats.org/officeDocument/2006/relationships" xmlns:c="http://schemas.openxmlformats.org/drawingml/2006/chart" r:id="R3dbf2e14f962470b"/>
          </a:graphicData>
        </a:graphic>
      </p:graphicFrame>
      <p:sp>
        <p:nvSpPr>
          <p:cNvPr id="9" name="block-553">
            <a:extLst xmlns:a="http://schemas.openxmlformats.org/drawingml/2006/main">
              <a:ext uri="{FF2B5EF4-FFF2-40B4-BE49-F238E27FC236}">
                <a16:creationId xmlns:a16="http://schemas.microsoft.com/office/drawing/2014/main" id="{443902A7-0BAC-47B2-958B-945D6ACC8B2C}"/>
              </a:ext>
            </a:extLst>
          </p:cNvPr>
          <p:cNvSpPr>
            <a:spLocks xmlns:a="http://schemas.openxmlformats.org/drawingml/2006/main" noGrp="1"/>
          </p:cNvSpPr>
          <p:nvPr/>
        </p:nvSpPr>
        <p:spPr>
          <a:xfrm xmlns:a="http://schemas.openxmlformats.org/drawingml/2006/main">
            <a:off x="609600" y="53244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E5A68"/>
                </a:solidFill>
                <a:latin typeface="IBM Plex Sans"/>
                <a:ea typeface="IBM Plex Sans"/>
                <a:cs typeface="IBM Plex Sans"/>
              </a:defRPr>
            </a:pPr>
            <a:r>
              <a:rPr sz="1650" b="0">
                <a:solidFill>
                  <a:srgbClr val="4E5A68"/>
                </a:solidFill>
                <a:latin typeface="IBM Plex Sans"/>
                <a:ea typeface="IBM Plex Sans"/>
                <a:cs typeface="IBM Plex Sans"/>
              </a:rPr>
              <a:t>Mittel 13.272 kWh  ·  Standardabw. 3.843 kWh</a:t>
            </a:r>
          </a:p>
        </p:txBody>
      </p:sp>
      <p:graphicFrame>
        <p:nvGraphicFramePr>
          <p:cNvPr id="21" name=""/>
          <p:cNvGraphicFramePr/>
          <p:nvPr/>
        </p:nvGraphicFramePr>
        <p:xfrm>
          <a:off xmlns:a="http://schemas.openxmlformats.org/drawingml/2006/main" x="6334125" y="2486025"/>
          <a:ext xmlns:a="http://schemas.openxmlformats.org/drawingml/2006/main" cx="5248275" cy="2962275"/>
        </p:xfrm>
        <a:graphic xmlns:a="http://schemas.openxmlformats.org/drawingml/2006/main">
          <a:graphicData uri="http://schemas.openxmlformats.org/drawingml/2006/table">
            <a:tbl>
              <a:tblPr/>
              <a:tblGrid>
                <a:gridCol w="3467100"/>
                <a:gridCol w="1781175"/>
              </a:tblGrid>
              <a:tr h="493713">
                <a:tc>
                  <a:txBody>
                    <a:bodyPr lIns="133350" tIns="85725" rIns="95250" bIns="85725"/>
                    <a:lstStyle/>
                    <a:p>
                      <a:r>
                        <a:rPr sz="1800" b="1">
                          <a:solidFill>
                            <a:srgbClr val="FFFFFF"/>
                          </a:solidFill>
                          <a:latin typeface="IBM Plex Sans"/>
                          <a:ea typeface="IBM Plex Sans"/>
                          <a:cs typeface="IBM Plex Sans"/>
                        </a:rPr>
                        <a:t>Parameter</a:t>
                      </a:r>
                    </a:p>
                  </a:txBody>
                  <a:tcPr marL="91440" marR="91440" marT="45720" marB="45720" anchor="ctr">
                    <a:solidFill>
                      <a:srgbClr val="063659"/>
                    </a:solidFill>
                  </a:tcPr>
                </a:tc>
                <a:tc>
                  <a:txBody>
                    <a:bodyPr lIns="133350" tIns="85725" rIns="95250" bIns="85725"/>
                    <a:lstStyle/>
                    <a:p>
                      <a:r>
                        <a:rPr sz="1800" b="1">
                          <a:solidFill>
                            <a:srgbClr val="FFFFFF"/>
                          </a:solidFill>
                          <a:latin typeface="IBM Plex Sans"/>
                          <a:ea typeface="IBM Plex Sans"/>
                          <a:cs typeface="IBM Plex Sans"/>
                        </a:rPr>
                        <a:t>Wert</a:t>
                      </a:r>
                    </a:p>
                  </a:txBody>
                  <a:tcPr marL="91440" marR="91440" marT="45720" marB="45720" anchor="ctr">
                    <a:solidFill>
                      <a:srgbClr val="063659"/>
                    </a:solidFill>
                  </a:tcPr>
                </a:tc>
              </a:tr>
              <a:tr h="493713">
                <a:tc>
                  <a:txBody>
                    <a:bodyPr lIns="133350" tIns="85725" rIns="95250" bIns="85725"/>
                    <a:lstStyle/>
                    <a:p>
                      <a:r>
                        <a:rPr sz="1800" b="0">
                          <a:solidFill>
                            <a:srgbClr val="141A21"/>
                          </a:solidFill>
                          <a:latin typeface="IBM Plex Sans"/>
                          <a:ea typeface="IBM Plex Sans"/>
                          <a:cs typeface="IBM Plex Sans"/>
                        </a:rPr>
                        <a:t>max_depth</a:t>
                      </a:r>
                    </a:p>
                  </a:txBody>
                  <a:tcPr marL="91440" marR="91440" marT="45720" marB="45720" anchor="ctr">
                    <a:solidFill>
                      <a:srgbClr val="F1F4F7"/>
                    </a:solidFill>
                  </a:tcPr>
                </a:tc>
                <a:tc>
                  <a:txBody>
                    <a:bodyPr lIns="133350" tIns="85725" rIns="95250" bIns="85725"/>
                    <a:lstStyle/>
                    <a:p>
                      <a:r>
                        <a:rPr sz="1800" b="0">
                          <a:solidFill>
                            <a:srgbClr val="141A21"/>
                          </a:solidFill>
                          <a:latin typeface="IBM Plex Sans"/>
                          <a:ea typeface="IBM Plex Sans"/>
                          <a:cs typeface="IBM Plex Sans"/>
                        </a:rPr>
                        <a:t>8</a:t>
                      </a:r>
                    </a:p>
                  </a:txBody>
                  <a:tcPr marL="91440" marR="91440" marT="45720" marB="45720" anchor="ctr">
                    <a:solidFill>
                      <a:srgbClr val="F1F4F7"/>
                    </a:solidFill>
                  </a:tcPr>
                </a:tc>
              </a:tr>
              <a:tr h="493713">
                <a:tc>
                  <a:txBody>
                    <a:bodyPr lIns="133350" tIns="85725" rIns="95250" bIns="85725"/>
                    <a:lstStyle/>
                    <a:p>
                      <a:r>
                        <a:rPr sz="1800" b="0">
                          <a:solidFill>
                            <a:srgbClr val="141A21"/>
                          </a:solidFill>
                          <a:latin typeface="IBM Plex Sans"/>
                          <a:ea typeface="IBM Plex Sans"/>
                          <a:cs typeface="IBM Plex Sans"/>
                        </a:rPr>
                        <a:t>min_samples_leaf</a:t>
                      </a:r>
                    </a:p>
                  </a:txBody>
                  <a:tcPr marL="91440" marR="91440" marT="45720" marB="45720" anchor="ctr">
                    <a:solidFill>
                      <a:srgbClr val="FFFFFF"/>
                    </a:solidFill>
                  </a:tcPr>
                </a:tc>
                <a:tc>
                  <a:txBody>
                    <a:bodyPr lIns="133350" tIns="85725" rIns="95250" bIns="85725"/>
                    <a:lstStyle/>
                    <a:p>
                      <a:r>
                        <a:rPr sz="1800" b="0">
                          <a:solidFill>
                            <a:srgbClr val="141A21"/>
                          </a:solidFill>
                          <a:latin typeface="IBM Plex Sans"/>
                          <a:ea typeface="IBM Plex Sans"/>
                          <a:cs typeface="IBM Plex Sans"/>
                        </a:rPr>
                        <a:t>5</a:t>
                      </a:r>
                    </a:p>
                  </a:txBody>
                  <a:tcPr marL="91440" marR="91440" marT="45720" marB="45720" anchor="ctr">
                    <a:solidFill>
                      <a:srgbClr val="FFFFFF"/>
                    </a:solidFill>
                  </a:tcPr>
                </a:tc>
              </a:tr>
              <a:tr h="493713">
                <a:tc>
                  <a:txBody>
                    <a:bodyPr lIns="133350" tIns="85725" rIns="95250" bIns="85725"/>
                    <a:lstStyle/>
                    <a:p>
                      <a:r>
                        <a:rPr sz="1800" b="0">
                          <a:solidFill>
                            <a:srgbClr val="141A21"/>
                          </a:solidFill>
                          <a:latin typeface="IBM Plex Sans"/>
                          <a:ea typeface="IBM Plex Sans"/>
                          <a:cs typeface="IBM Plex Sans"/>
                        </a:rPr>
                        <a:t>max_features</a:t>
                      </a:r>
                    </a:p>
                  </a:txBody>
                  <a:tcPr marL="91440" marR="91440" marT="45720" marB="45720" anchor="ctr">
                    <a:solidFill>
                      <a:srgbClr val="F1F4F7"/>
                    </a:solidFill>
                  </a:tcPr>
                </a:tc>
                <a:tc>
                  <a:txBody>
                    <a:bodyPr lIns="133350" tIns="85725" rIns="95250" bIns="85725"/>
                    <a:lstStyle/>
                    <a:p>
                      <a:r>
                        <a:rPr sz="1800" b="0">
                          <a:solidFill>
                            <a:srgbClr val="141A21"/>
                          </a:solidFill>
                          <a:latin typeface="IBM Plex Sans"/>
                          <a:ea typeface="IBM Plex Sans"/>
                          <a:cs typeface="IBM Plex Sans"/>
                        </a:rPr>
                        <a:t>0,7</a:t>
                      </a:r>
                    </a:p>
                  </a:txBody>
                  <a:tcPr marL="91440" marR="91440" marT="45720" marB="45720" anchor="ctr">
                    <a:solidFill>
                      <a:srgbClr val="F1F4F7"/>
                    </a:solidFill>
                  </a:tcPr>
                </a:tc>
              </a:tr>
              <a:tr h="493713">
                <a:tc>
                  <a:txBody>
                    <a:bodyPr lIns="133350" tIns="85725" rIns="95250" bIns="85725"/>
                    <a:lstStyle/>
                    <a:p>
                      <a:r>
                        <a:rPr sz="1800" b="0">
                          <a:solidFill>
                            <a:srgbClr val="141A21"/>
                          </a:solidFill>
                          <a:latin typeface="IBM Plex Sans"/>
                          <a:ea typeface="IBM Plex Sans"/>
                          <a:cs typeface="IBM Plex Sans"/>
                        </a:rPr>
                        <a:t>n_estimators</a:t>
                      </a:r>
                    </a:p>
                  </a:txBody>
                  <a:tcPr marL="91440" marR="91440" marT="45720" marB="45720" anchor="ctr">
                    <a:solidFill>
                      <a:srgbClr val="FFFFFF"/>
                    </a:solidFill>
                  </a:tcPr>
                </a:tc>
                <a:tc>
                  <a:txBody>
                    <a:bodyPr lIns="133350" tIns="85725" rIns="95250" bIns="85725"/>
                    <a:lstStyle/>
                    <a:p>
                      <a:r>
                        <a:rPr sz="1800" b="0">
                          <a:solidFill>
                            <a:srgbClr val="141A21"/>
                          </a:solidFill>
                          <a:latin typeface="IBM Plex Sans"/>
                          <a:ea typeface="IBM Plex Sans"/>
                          <a:cs typeface="IBM Plex Sans"/>
                        </a:rPr>
                        <a:t>300</a:t>
                      </a:r>
                    </a:p>
                  </a:txBody>
                  <a:tcPr marL="91440" marR="91440" marT="45720" marB="45720" anchor="ctr">
                    <a:solidFill>
                      <a:srgbClr val="FFFFFF"/>
                    </a:solidFill>
                  </a:tcPr>
                </a:tc>
              </a:tr>
              <a:tr h="493713">
                <a:tc>
                  <a:txBody>
                    <a:bodyPr lIns="133350" tIns="85725" rIns="95250" bIns="85725"/>
                    <a:lstStyle/>
                    <a:p>
                      <a:r>
                        <a:rPr sz="1800" b="0">
                          <a:solidFill>
                            <a:srgbClr val="141A21"/>
                          </a:solidFill>
                          <a:latin typeface="IBM Plex Sans"/>
                          <a:ea typeface="IBM Plex Sans"/>
                          <a:cs typeface="IBM Plex Sans"/>
                        </a:rPr>
                        <a:t>random_state</a:t>
                      </a:r>
                    </a:p>
                  </a:txBody>
                  <a:tcPr marL="91440" marR="91440" marT="45720" marB="45720" anchor="ctr">
                    <a:solidFill>
                      <a:srgbClr val="F1F4F7"/>
                    </a:solidFill>
                  </a:tcPr>
                </a:tc>
                <a:tc>
                  <a:txBody>
                    <a:bodyPr lIns="133350" tIns="85725" rIns="95250" bIns="85725"/>
                    <a:lstStyle/>
                    <a:p>
                      <a:r>
                        <a:rPr sz="1800" b="0">
                          <a:solidFill>
                            <a:srgbClr val="141A21"/>
                          </a:solidFill>
                          <a:latin typeface="IBM Plex Sans"/>
                          <a:ea typeface="IBM Plex Sans"/>
                          <a:cs typeface="IBM Plex Sans"/>
                        </a:rPr>
                        <a:t>42</a:t>
                      </a:r>
                    </a:p>
                  </a:txBody>
                  <a:tcPr marL="91440" marR="91440" marT="45720" marB="45720" anchor="ctr">
                    <a:solidFill>
                      <a:srgbClr val="F1F4F7"/>
                    </a:solidFill>
                  </a:tcPr>
                </a:tc>
              </a:tr>
            </a:tbl>
          </a:graphicData>
        </a:graphic>
      </p:graphicFrame>
      <p:sp>
        <p:nvSpPr>
          <p:cNvPr id="11" name="block-554">
            <a:extLst xmlns:a="http://schemas.openxmlformats.org/drawingml/2006/main">
              <a:ext uri="{FF2B5EF4-FFF2-40B4-BE49-F238E27FC236}">
                <a16:creationId xmlns:a16="http://schemas.microsoft.com/office/drawing/2014/main" id="{9D99C075-EAC8-4E1D-A89C-814184EE4981}"/>
              </a:ext>
            </a:extLst>
          </p:cNvPr>
          <p:cNvSpPr>
            <a:spLocks xmlns:a="http://schemas.openxmlformats.org/drawingml/2006/main" noGrp="1"/>
          </p:cNvSpPr>
          <p:nvPr/>
        </p:nvSpPr>
        <p:spPr>
          <a:xfrm xmlns:a="http://schemas.openxmlformats.org/drawingml/2006/main">
            <a:off x="609600" y="57912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063659"/>
                </a:solidFill>
                <a:latin typeface="IBM Plex Sans"/>
                <a:ea typeface="IBM Plex Sans"/>
                <a:cs typeface="IBM Plex Sans"/>
              </a:defRPr>
            </a:pPr>
            <a:r>
              <a:rPr sz="1725" b="0">
                <a:solidFill>
                  <a:srgbClr val="063659"/>
                </a:solidFill>
                <a:latin typeface="IBM Plex Sans"/>
                <a:ea typeface="IBM Plex Sans"/>
                <a:cs typeface="IBM Plex Sans"/>
              </a:rPr>
              <a:t>Fold 2 erzielt den kleinsten Fehler. Mehr Training allein erklärt den Unterschied nicht.</a:t>
            </a:r>
          </a:p>
        </p:txBody>
      </p:sp>
    </p:spTree>
    <p:extLst>
      <p:ext uri="{BB962C8B-B14F-4D97-AF65-F5344CB8AC3E}">
        <p14:creationId xmlns:p14="http://schemas.microsoft.com/office/powerpoint/2010/main" val="176656779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lock-555">
            <a:extLst xmlns:a="http://schemas.openxmlformats.org/drawingml/2006/main">
              <a:ext uri="{FF2B5EF4-FFF2-40B4-BE49-F238E27FC236}">
                <a16:creationId xmlns:a16="http://schemas.microsoft.com/office/drawing/2014/main" id="{627B0225-5C76-45FB-9089-CDA11CB6B8F1}"/>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H / MODELLWAHL</a:t>
            </a:r>
          </a:p>
        </p:txBody>
      </p:sp>
      <p:sp>
        <p:nvSpPr>
          <p:cNvPr id="2" name="block-556">
            <a:extLst xmlns:a="http://schemas.openxmlformats.org/drawingml/2006/main">
              <a:ext uri="{FF2B5EF4-FFF2-40B4-BE49-F238E27FC236}">
                <a16:creationId xmlns:a16="http://schemas.microsoft.com/office/drawing/2014/main" id="{B2AA238F-55FB-494D-8D41-D369983E1465}"/>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24 Fits für eine kontrollierte Modellwahl</a:t>
            </a:r>
          </a:p>
        </p:txBody>
      </p:sp>
      <p:sp>
        <p:nvSpPr>
          <p:cNvPr id="3" name="block-557">
            <a:extLst xmlns:a="http://schemas.openxmlformats.org/drawingml/2006/main">
              <a:ext uri="{FF2B5EF4-FFF2-40B4-BE49-F238E27FC236}">
                <a16:creationId xmlns:a16="http://schemas.microsoft.com/office/drawing/2014/main" id="{5384D3FF-A3AD-4DF3-8D44-1BA56F95EEFF}"/>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Acht Einstellungen, drei Zeit-Folds. Auswahl nach dem mittleren CV-RMSE.</a:t>
            </a:r>
          </a:p>
        </p:txBody>
      </p:sp>
      <p:sp>
        <p:nvSpPr>
          <p:cNvPr id="4" name="block-558">
            <a:extLst xmlns:a="http://schemas.openxmlformats.org/drawingml/2006/main">
              <a:ext uri="{FF2B5EF4-FFF2-40B4-BE49-F238E27FC236}">
                <a16:creationId xmlns:a16="http://schemas.microsoft.com/office/drawing/2014/main" id="{5724C232-227B-4226-8E5B-C6E9DDC8436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cce80fc7784a4f7f"/>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559">
            <a:extLst xmlns:a="http://schemas.openxmlformats.org/drawingml/2006/main">
              <a:ext uri="{FF2B5EF4-FFF2-40B4-BE49-F238E27FC236}">
                <a16:creationId xmlns:a16="http://schemas.microsoft.com/office/drawing/2014/main" id="{D745F8D9-D71F-44F6-A538-7290B9B42F29}"/>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560">
            <a:extLst xmlns:a="http://schemas.openxmlformats.org/drawingml/2006/main">
              <a:ext uri="{FF2B5EF4-FFF2-40B4-BE49-F238E27FC236}">
                <a16:creationId xmlns:a16="http://schemas.microsoft.com/office/drawing/2014/main" id="{771A6F02-9893-4BF3-8B42-83F2B667F3E9}"/>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36 / 39</a:t>
            </a:r>
          </a:p>
        </p:txBody>
      </p:sp>
      <p:sp>
        <p:nvSpPr>
          <p:cNvPr id="8" name="block-561">
            <a:extLst xmlns:a="http://schemas.openxmlformats.org/drawingml/2006/main">
              <a:ext uri="{FF2B5EF4-FFF2-40B4-BE49-F238E27FC236}">
                <a16:creationId xmlns:a16="http://schemas.microsoft.com/office/drawing/2014/main" id="{337E7F81-CF6B-4B6D-BC49-264C2B0C6875}"/>
              </a:ext>
            </a:extLst>
          </p:cNvPr>
          <p:cNvSpPr>
            <a:spLocks xmlns:a="http://schemas.openxmlformats.org/drawingml/2006/main" noGrp="1"/>
          </p:cNvSpPr>
          <p:nvPr/>
        </p:nvSpPr>
        <p:spPr>
          <a:xfrm xmlns:a="http://schemas.openxmlformats.org/drawingml/2006/main">
            <a:off x="609600" y="2552700"/>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63659"/>
                </a:solidFill>
                <a:latin typeface="IBM Plex Sans"/>
                <a:ea typeface="IBM Plex Sans"/>
                <a:cs typeface="IBM Plex Sans"/>
              </a:defRPr>
            </a:pPr>
            <a:r>
              <a:rPr sz="2400" b="1">
                <a:solidFill>
                  <a:srgbClr val="063659"/>
                </a:solidFill>
                <a:latin typeface="IBM Plex Sans"/>
                <a:ea typeface="IBM Plex Sans"/>
                <a:cs typeface="IBM Plex Sans"/>
              </a:rPr>
              <a:t>Lineare Regression</a:t>
            </a:r>
          </a:p>
        </p:txBody>
      </p:sp>
      <p:sp>
        <p:nvSpPr>
          <p:cNvPr id="9" name="block-562">
            <a:extLst xmlns:a="http://schemas.openxmlformats.org/drawingml/2006/main">
              <a:ext uri="{FF2B5EF4-FFF2-40B4-BE49-F238E27FC236}">
                <a16:creationId xmlns:a16="http://schemas.microsoft.com/office/drawing/2014/main" id="{84A8C248-7C2C-495A-8036-681E7D3E4E7D}"/>
              </a:ext>
            </a:extLst>
          </p:cNvPr>
          <p:cNvSpPr>
            <a:spLocks xmlns:a="http://schemas.openxmlformats.org/drawingml/2006/main" noGrp="1"/>
          </p:cNvSpPr>
          <p:nvPr/>
        </p:nvSpPr>
        <p:spPr>
          <a:xfrm xmlns:a="http://schemas.openxmlformats.org/drawingml/2006/main">
            <a:off x="609600" y="3076575"/>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Die nachvollziehbare Referenz</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für zusätzliche Modellkomplexität.</a:t>
            </a:r>
          </a:p>
        </p:txBody>
      </p:sp>
      <p:sp>
        <p:nvSpPr>
          <p:cNvPr id="10" name="block-563">
            <a:extLst xmlns:a="http://schemas.openxmlformats.org/drawingml/2006/main">
              <a:ext uri="{FF2B5EF4-FFF2-40B4-BE49-F238E27FC236}">
                <a16:creationId xmlns:a16="http://schemas.microsoft.com/office/drawing/2014/main" id="{6AD76745-8AB1-49F6-BB6F-D6C4B047E70A}"/>
              </a:ext>
            </a:extLst>
          </p:cNvPr>
          <p:cNvSpPr>
            <a:spLocks xmlns:a="http://schemas.openxmlformats.org/drawingml/2006/main" noGrp="1"/>
          </p:cNvSpPr>
          <p:nvPr/>
        </p:nvSpPr>
        <p:spPr>
          <a:xfrm xmlns:a="http://schemas.openxmlformats.org/drawingml/2006/main">
            <a:off x="609600" y="4276725"/>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080A0"/>
                </a:solidFill>
                <a:latin typeface="IBM Plex Sans"/>
                <a:ea typeface="IBM Plex Sans"/>
                <a:cs typeface="IBM Plex Sans"/>
              </a:defRPr>
            </a:pPr>
            <a:r>
              <a:rPr sz="2400" b="1">
                <a:solidFill>
                  <a:srgbClr val="0080A0"/>
                </a:solidFill>
                <a:latin typeface="IBM Plex Sans"/>
                <a:ea typeface="IBM Plex Sans"/>
                <a:cs typeface="IBM Plex Sans"/>
              </a:rPr>
              <a:t>Random Forest</a:t>
            </a:r>
          </a:p>
        </p:txBody>
      </p:sp>
      <p:sp>
        <p:nvSpPr>
          <p:cNvPr id="11" name="block-564">
            <a:extLst xmlns:a="http://schemas.openxmlformats.org/drawingml/2006/main">
              <a:ext uri="{FF2B5EF4-FFF2-40B4-BE49-F238E27FC236}">
                <a16:creationId xmlns:a16="http://schemas.microsoft.com/office/drawing/2014/main" id="{B479E611-ADBD-4027-87FB-2D95200B3E35}"/>
              </a:ext>
            </a:extLst>
          </p:cNvPr>
          <p:cNvSpPr>
            <a:spLocks xmlns:a="http://schemas.openxmlformats.org/drawingml/2006/main" noGrp="1"/>
          </p:cNvSpPr>
          <p:nvPr/>
        </p:nvSpPr>
        <p:spPr>
          <a:xfrm xmlns:a="http://schemas.openxmlformats.org/drawingml/2006/main">
            <a:off x="609600" y="4800600"/>
            <a:ext cx="476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Nichtlineare Muster und</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Wechselwirkungen im Vergleich.</a:t>
            </a:r>
          </a:p>
        </p:txBody>
      </p:sp>
      <p:graphicFrame>
        <p:nvGraphicFramePr>
          <p:cNvPr id="25" name=""/>
          <p:cNvGraphicFramePr/>
          <p:nvPr/>
        </p:nvGraphicFramePr>
        <p:xfrm>
          <a:off xmlns:a="http://schemas.openxmlformats.org/drawingml/2006/main" x="5905500" y="2571750"/>
          <a:ext xmlns:a="http://schemas.openxmlformats.org/drawingml/2006/main" cx="5676900" cy="2305050"/>
        </p:xfrm>
        <a:graphic xmlns:a="http://schemas.openxmlformats.org/drawingml/2006/main">
          <a:graphicData uri="http://schemas.openxmlformats.org/drawingml/2006/table">
            <a:tbl>
              <a:tblPr/>
              <a:tblGrid>
                <a:gridCol w="2905125"/>
                <a:gridCol w="2771775"/>
              </a:tblGrid>
              <a:tr h="576263">
                <a:tc>
                  <a:txBody>
                    <a:bodyPr lIns="133350" tIns="85725" rIns="95250" bIns="85725"/>
                    <a:lstStyle/>
                    <a:p>
                      <a:r>
                        <a:rPr sz="1875" b="1">
                          <a:solidFill>
                            <a:srgbClr val="FFFFFF"/>
                          </a:solidFill>
                          <a:latin typeface="IBM Plex Sans"/>
                          <a:ea typeface="IBM Plex Sans"/>
                          <a:cs typeface="IBM Plex Sans"/>
                        </a:rPr>
                        <a:t>Parameter</a:t>
                      </a:r>
                    </a:p>
                  </a:txBody>
                  <a:tcPr marL="91440" marR="91440" marT="45720" marB="45720" anchor="ctr">
                    <a:solidFill>
                      <a:srgbClr val="063659"/>
                    </a:solidFill>
                  </a:tcPr>
                </a:tc>
                <a:tc>
                  <a:txBody>
                    <a:bodyPr lIns="133350" tIns="85725" rIns="95250" bIns="85725"/>
                    <a:lstStyle/>
                    <a:p>
                      <a:r>
                        <a:rPr sz="1875" b="1">
                          <a:solidFill>
                            <a:srgbClr val="FFFFFF"/>
                          </a:solidFill>
                          <a:latin typeface="IBM Plex Sans"/>
                          <a:ea typeface="IBM Plex Sans"/>
                          <a:cs typeface="IBM Plex Sans"/>
                        </a:rPr>
                        <a:t>Suchraum</a:t>
                      </a:r>
                    </a:p>
                  </a:txBody>
                  <a:tcPr marL="91440" marR="91440" marT="45720" marB="45720" anchor="ctr">
                    <a:solidFill>
                      <a:srgbClr val="063659"/>
                    </a:solidFill>
                  </a:tcPr>
                </a:tc>
              </a:tr>
              <a:tr h="576263">
                <a:tc>
                  <a:txBody>
                    <a:bodyPr lIns="133350" tIns="85725" rIns="95250" bIns="85725"/>
                    <a:lstStyle/>
                    <a:p>
                      <a:r>
                        <a:rPr sz="1875" b="0">
                          <a:solidFill>
                            <a:srgbClr val="141A21"/>
                          </a:solidFill>
                          <a:latin typeface="IBM Plex Sans"/>
                          <a:ea typeface="IBM Plex Sans"/>
                          <a:cs typeface="IBM Plex Sans"/>
                        </a:rPr>
                        <a:t>Baumtiefe</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8 / unbegrenzt</a:t>
                      </a:r>
                    </a:p>
                  </a:txBody>
                  <a:tcPr marL="91440" marR="91440" marT="45720" marB="45720" anchor="ctr">
                    <a:solidFill>
                      <a:srgbClr val="F1F4F7"/>
                    </a:solidFill>
                  </a:tcPr>
                </a:tc>
              </a:tr>
              <a:tr h="576263">
                <a:tc>
                  <a:txBody>
                    <a:bodyPr lIns="133350" tIns="85725" rIns="95250" bIns="85725"/>
                    <a:lstStyle/>
                    <a:p>
                      <a:r>
                        <a:rPr sz="1875" b="0">
                          <a:solidFill>
                            <a:srgbClr val="141A21"/>
                          </a:solidFill>
                          <a:latin typeface="IBM Plex Sans"/>
                          <a:ea typeface="IBM Plex Sans"/>
                          <a:cs typeface="IBM Plex Sans"/>
                        </a:rPr>
                        <a:t>Min. Fälle je Blatt</a:t>
                      </a:r>
                    </a:p>
                  </a:txBody>
                  <a:tcPr marL="91440" marR="91440" marT="45720" marB="45720" anchor="ctr">
                    <a:solidFill>
                      <a:srgbClr val="FFFFFF"/>
                    </a:solidFill>
                  </a:tcPr>
                </a:tc>
                <a:tc>
                  <a:txBody>
                    <a:bodyPr lIns="133350" tIns="85725" rIns="95250" bIns="85725"/>
                    <a:lstStyle/>
                    <a:p>
                      <a:r>
                        <a:rPr sz="1875" b="0">
                          <a:solidFill>
                            <a:srgbClr val="141A21"/>
                          </a:solidFill>
                          <a:latin typeface="IBM Plex Sans"/>
                          <a:ea typeface="IBM Plex Sans"/>
                          <a:cs typeface="IBM Plex Sans"/>
                        </a:rPr>
                        <a:t>5 / 20</a:t>
                      </a:r>
                    </a:p>
                  </a:txBody>
                  <a:tcPr marL="91440" marR="91440" marT="45720" marB="45720" anchor="ctr">
                    <a:solidFill>
                      <a:srgbClr val="FFFFFF"/>
                    </a:solidFill>
                  </a:tcPr>
                </a:tc>
              </a:tr>
              <a:tr h="576263">
                <a:tc>
                  <a:txBody>
                    <a:bodyPr lIns="133350" tIns="85725" rIns="95250" bIns="85725"/>
                    <a:lstStyle/>
                    <a:p>
                      <a:r>
                        <a:rPr sz="1875" b="0">
                          <a:solidFill>
                            <a:srgbClr val="141A21"/>
                          </a:solidFill>
                          <a:latin typeface="IBM Plex Sans"/>
                          <a:ea typeface="IBM Plex Sans"/>
                          <a:cs typeface="IBM Plex Sans"/>
                        </a:rPr>
                        <a:t>Merkmalsanteil</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0,7 / 1,0</a:t>
                      </a:r>
                    </a:p>
                  </a:txBody>
                  <a:tcPr marL="91440" marR="91440" marT="45720" marB="45720" anchor="ctr">
                    <a:solidFill>
                      <a:srgbClr val="F1F4F7"/>
                    </a:solidFill>
                  </a:tcPr>
                </a:tc>
              </a:tr>
            </a:tbl>
          </a:graphicData>
        </a:graphic>
      </p:graphicFrame>
      <p:sp>
        <p:nvSpPr>
          <p:cNvPr id="13" name="block-565">
            <a:extLst xmlns:a="http://schemas.openxmlformats.org/drawingml/2006/main">
              <a:ext uri="{FF2B5EF4-FFF2-40B4-BE49-F238E27FC236}">
                <a16:creationId xmlns:a16="http://schemas.microsoft.com/office/drawing/2014/main" id="{8B966C02-B536-4045-ABF7-6882A7D3B630}"/>
              </a:ext>
            </a:extLst>
          </p:cNvPr>
          <p:cNvSpPr>
            <a:spLocks xmlns:a="http://schemas.openxmlformats.org/drawingml/2006/main" noGrp="1"/>
          </p:cNvSpPr>
          <p:nvPr/>
        </p:nvSpPr>
        <p:spPr>
          <a:xfrm xmlns:a="http://schemas.openxmlformats.org/drawingml/2006/main">
            <a:off x="5905500" y="5105400"/>
            <a:ext cx="5676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080A0"/>
                </a:solidFill>
                <a:latin typeface="IBM Plex Sans"/>
                <a:ea typeface="IBM Plex Sans"/>
                <a:cs typeface="IBM Plex Sans"/>
              </a:defRPr>
            </a:pPr>
            <a:r>
              <a:rPr sz="1950" b="1">
                <a:solidFill>
                  <a:srgbClr val="0080A0"/>
                </a:solidFill>
                <a:latin typeface="IBM Plex Sans"/>
                <a:ea typeface="IBM Plex Sans"/>
                <a:cs typeface="IBM Plex Sans"/>
              </a:rPr>
              <a:t>Gewählt: Tiefe 8, Blattgröße 5, Anteil 0,7</a:t>
            </a:r>
          </a:p>
        </p:txBody>
      </p:sp>
    </p:spTree>
    <p:extLst>
      <p:ext uri="{BB962C8B-B14F-4D97-AF65-F5344CB8AC3E}">
        <p14:creationId xmlns:p14="http://schemas.microsoft.com/office/powerpoint/2010/main" val="1934739579"/>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block-566">
            <a:extLst xmlns:a="http://schemas.openxmlformats.org/drawingml/2006/main">
              <a:ext uri="{FF2B5EF4-FFF2-40B4-BE49-F238E27FC236}">
                <a16:creationId xmlns:a16="http://schemas.microsoft.com/office/drawing/2014/main" id="{B99BBCCE-D4C3-483C-AD6A-B93D3B4F5E85}"/>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I / BEGRIFFE</a:t>
            </a:r>
          </a:p>
        </p:txBody>
      </p:sp>
      <p:sp>
        <p:nvSpPr>
          <p:cNvPr id="2" name="block-567">
            <a:extLst xmlns:a="http://schemas.openxmlformats.org/drawingml/2006/main">
              <a:ext uri="{FF2B5EF4-FFF2-40B4-BE49-F238E27FC236}">
                <a16:creationId xmlns:a16="http://schemas.microsoft.com/office/drawing/2014/main" id="{648CA99C-7106-4FC3-8182-7FBDB1ADB1C8}"/>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Prüfhinweise sind noch keine bestätigten Anomalien</a:t>
            </a:r>
          </a:p>
        </p:txBody>
      </p:sp>
      <p:sp>
        <p:nvSpPr>
          <p:cNvPr id="3" name="block-568">
            <a:extLst xmlns:a="http://schemas.openxmlformats.org/drawingml/2006/main">
              <a:ext uri="{FF2B5EF4-FFF2-40B4-BE49-F238E27FC236}">
                <a16:creationId xmlns:a16="http://schemas.microsoft.com/office/drawing/2014/main" id="{8F1A0992-5159-464F-AA70-793C3071F2BD}"/>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Vier Begriffe beschreiben vier unterschiedliche Aussagen.</a:t>
            </a:r>
          </a:p>
        </p:txBody>
      </p:sp>
      <p:sp>
        <p:nvSpPr>
          <p:cNvPr id="4" name="block-569">
            <a:extLst xmlns:a="http://schemas.openxmlformats.org/drawingml/2006/main">
              <a:ext uri="{FF2B5EF4-FFF2-40B4-BE49-F238E27FC236}">
                <a16:creationId xmlns:a16="http://schemas.microsoft.com/office/drawing/2014/main" id="{7BB3157B-FF60-4075-9AF6-7728FE4452C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288eeb0edfb44d97"/>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570">
            <a:extLst xmlns:a="http://schemas.openxmlformats.org/drawingml/2006/main">
              <a:ext uri="{FF2B5EF4-FFF2-40B4-BE49-F238E27FC236}">
                <a16:creationId xmlns:a16="http://schemas.microsoft.com/office/drawing/2014/main" id="{E8781B82-D45A-4826-BC9A-4418BC283551}"/>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571">
            <a:extLst xmlns:a="http://schemas.openxmlformats.org/drawingml/2006/main">
              <a:ext uri="{FF2B5EF4-FFF2-40B4-BE49-F238E27FC236}">
                <a16:creationId xmlns:a16="http://schemas.microsoft.com/office/drawing/2014/main" id="{2E76F9F9-7521-4716-BF1E-D2753D2C7557}"/>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37 / 39</a:t>
            </a:r>
          </a:p>
        </p:txBody>
      </p:sp>
      <p:sp>
        <p:nvSpPr>
          <p:cNvPr id="8" name="block-572">
            <a:extLst xmlns:a="http://schemas.openxmlformats.org/drawingml/2006/main">
              <a:ext uri="{FF2B5EF4-FFF2-40B4-BE49-F238E27FC236}">
                <a16:creationId xmlns:a16="http://schemas.microsoft.com/office/drawing/2014/main" id="{CAF1D139-FC46-4F80-B735-F269BAA0289B}"/>
              </a:ext>
            </a:extLst>
          </p:cNvPr>
          <p:cNvSpPr>
            <a:spLocks xmlns:a="http://schemas.openxmlformats.org/drawingml/2006/main" noGrp="1"/>
          </p:cNvSpPr>
          <p:nvPr/>
        </p:nvSpPr>
        <p:spPr>
          <a:xfrm xmlns:a="http://schemas.openxmlformats.org/drawingml/2006/main">
            <a:off x="609600" y="2543175"/>
            <a:ext cx="638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01</a:t>
            </a:r>
          </a:p>
        </p:txBody>
      </p:sp>
      <p:sp>
        <p:nvSpPr>
          <p:cNvPr id="9" name="block-573">
            <a:extLst xmlns:a="http://schemas.openxmlformats.org/drawingml/2006/main">
              <a:ext uri="{FF2B5EF4-FFF2-40B4-BE49-F238E27FC236}">
                <a16:creationId xmlns:a16="http://schemas.microsoft.com/office/drawing/2014/main" id="{FBFD8E4F-8617-4FA3-B791-C9DBDC7DA740}"/>
              </a:ext>
            </a:extLst>
          </p:cNvPr>
          <p:cNvSpPr>
            <a:spLocks xmlns:a="http://schemas.openxmlformats.org/drawingml/2006/main" noGrp="1"/>
          </p:cNvSpPr>
          <p:nvPr/>
        </p:nvSpPr>
        <p:spPr>
          <a:xfrm xmlns:a="http://schemas.openxmlformats.org/drawingml/2006/main">
            <a:off x="1457325" y="2543175"/>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Statistischer Ausreißer</a:t>
            </a:r>
          </a:p>
        </p:txBody>
      </p:sp>
      <p:sp>
        <p:nvSpPr>
          <p:cNvPr id="10" name="block-574">
            <a:extLst xmlns:a="http://schemas.openxmlformats.org/drawingml/2006/main">
              <a:ext uri="{FF2B5EF4-FFF2-40B4-BE49-F238E27FC236}">
                <a16:creationId xmlns:a16="http://schemas.microsoft.com/office/drawing/2014/main" id="{35CA2E4D-1970-4D6C-8775-83B43D6CD6B3}"/>
              </a:ext>
            </a:extLst>
          </p:cNvPr>
          <p:cNvSpPr>
            <a:spLocks xmlns:a="http://schemas.openxmlformats.org/drawingml/2006/main" noGrp="1"/>
          </p:cNvSpPr>
          <p:nvPr/>
        </p:nvSpPr>
        <p:spPr>
          <a:xfrm xmlns:a="http://schemas.openxmlformats.org/drawingml/2006/main">
            <a:off x="5391150" y="25431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Ungewöhnlich in einer Vergleichsverteilung.</a:t>
            </a:r>
          </a:p>
        </p:txBody>
      </p:sp>
      <p:sp>
        <p:nvSpPr>
          <p:cNvPr id="11" name="block-575">
            <a:extLst xmlns:a="http://schemas.openxmlformats.org/drawingml/2006/main">
              <a:ext uri="{FF2B5EF4-FFF2-40B4-BE49-F238E27FC236}">
                <a16:creationId xmlns:a16="http://schemas.microsoft.com/office/drawing/2014/main" id="{D2EFA173-962C-4E06-B2A0-2893C676345B}"/>
              </a:ext>
            </a:extLst>
          </p:cNvPr>
          <p:cNvSpPr>
            <a:spLocks xmlns:a="http://schemas.openxmlformats.org/drawingml/2006/main" noGrp="1"/>
          </p:cNvSpPr>
          <p:nvPr/>
        </p:nvSpPr>
        <p:spPr>
          <a:xfrm xmlns:a="http://schemas.openxmlformats.org/drawingml/2006/main">
            <a:off x="1457325" y="3057525"/>
            <a:ext cx="101250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2" name="block-576">
            <a:extLst xmlns:a="http://schemas.openxmlformats.org/drawingml/2006/main">
              <a:ext uri="{FF2B5EF4-FFF2-40B4-BE49-F238E27FC236}">
                <a16:creationId xmlns:a16="http://schemas.microsoft.com/office/drawing/2014/main" id="{BC2C4F9D-08C9-4817-A400-4A32CF51418B}"/>
              </a:ext>
            </a:extLst>
          </p:cNvPr>
          <p:cNvSpPr>
            <a:spLocks xmlns:a="http://schemas.openxmlformats.org/drawingml/2006/main" noGrp="1"/>
          </p:cNvSpPr>
          <p:nvPr/>
        </p:nvSpPr>
        <p:spPr>
          <a:xfrm xmlns:a="http://schemas.openxmlformats.org/drawingml/2006/main">
            <a:off x="609600" y="3200400"/>
            <a:ext cx="638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02</a:t>
            </a:r>
          </a:p>
        </p:txBody>
      </p:sp>
      <p:sp>
        <p:nvSpPr>
          <p:cNvPr id="13" name="block-577">
            <a:extLst xmlns:a="http://schemas.openxmlformats.org/drawingml/2006/main">
              <a:ext uri="{FF2B5EF4-FFF2-40B4-BE49-F238E27FC236}">
                <a16:creationId xmlns:a16="http://schemas.microsoft.com/office/drawing/2014/main" id="{E0C8280D-48C7-4537-94D8-E147110396D0}"/>
              </a:ext>
            </a:extLst>
          </p:cNvPr>
          <p:cNvSpPr>
            <a:spLocks xmlns:a="http://schemas.openxmlformats.org/drawingml/2006/main" noGrp="1"/>
          </p:cNvSpPr>
          <p:nvPr/>
        </p:nvSpPr>
        <p:spPr>
          <a:xfrm xmlns:a="http://schemas.openxmlformats.org/drawingml/2006/main">
            <a:off x="1457325" y="3200400"/>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Modellabweichung</a:t>
            </a:r>
          </a:p>
        </p:txBody>
      </p:sp>
      <p:sp>
        <p:nvSpPr>
          <p:cNvPr id="14" name="block-578">
            <a:extLst xmlns:a="http://schemas.openxmlformats.org/drawingml/2006/main">
              <a:ext uri="{FF2B5EF4-FFF2-40B4-BE49-F238E27FC236}">
                <a16:creationId xmlns:a16="http://schemas.microsoft.com/office/drawing/2014/main" id="{18824B8C-338F-4FBB-B896-E380E3CCC04B}"/>
              </a:ext>
            </a:extLst>
          </p:cNvPr>
          <p:cNvSpPr>
            <a:spLocks xmlns:a="http://schemas.openxmlformats.org/drawingml/2006/main" noGrp="1"/>
          </p:cNvSpPr>
          <p:nvPr/>
        </p:nvSpPr>
        <p:spPr>
          <a:xfrm xmlns:a="http://schemas.openxmlformats.org/drawingml/2006/main">
            <a:off x="5391150" y="32004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Ist und Prognose unterscheiden sich deutlich.</a:t>
            </a:r>
          </a:p>
        </p:txBody>
      </p:sp>
      <p:sp>
        <p:nvSpPr>
          <p:cNvPr id="15" name="block-579">
            <a:extLst xmlns:a="http://schemas.openxmlformats.org/drawingml/2006/main">
              <a:ext uri="{FF2B5EF4-FFF2-40B4-BE49-F238E27FC236}">
                <a16:creationId xmlns:a16="http://schemas.microsoft.com/office/drawing/2014/main" id="{34D3CB6B-9F44-48F0-858D-90CCB565100A}"/>
              </a:ext>
            </a:extLst>
          </p:cNvPr>
          <p:cNvSpPr>
            <a:spLocks xmlns:a="http://schemas.openxmlformats.org/drawingml/2006/main" noGrp="1"/>
          </p:cNvSpPr>
          <p:nvPr/>
        </p:nvSpPr>
        <p:spPr>
          <a:xfrm xmlns:a="http://schemas.openxmlformats.org/drawingml/2006/main">
            <a:off x="1457325" y="3714750"/>
            <a:ext cx="101250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6" name="block-580">
            <a:extLst xmlns:a="http://schemas.openxmlformats.org/drawingml/2006/main">
              <a:ext uri="{FF2B5EF4-FFF2-40B4-BE49-F238E27FC236}">
                <a16:creationId xmlns:a16="http://schemas.microsoft.com/office/drawing/2014/main" id="{E19A70C6-0085-4C91-9725-A4A2A88B563F}"/>
              </a:ext>
            </a:extLst>
          </p:cNvPr>
          <p:cNvSpPr>
            <a:spLocks xmlns:a="http://schemas.openxmlformats.org/drawingml/2006/main" noGrp="1"/>
          </p:cNvSpPr>
          <p:nvPr/>
        </p:nvSpPr>
        <p:spPr>
          <a:xfrm xmlns:a="http://schemas.openxmlformats.org/drawingml/2006/main">
            <a:off x="609600" y="3857625"/>
            <a:ext cx="638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03</a:t>
            </a:r>
          </a:p>
        </p:txBody>
      </p:sp>
      <p:sp>
        <p:nvSpPr>
          <p:cNvPr id="17" name="block-581">
            <a:extLst xmlns:a="http://schemas.openxmlformats.org/drawingml/2006/main">
              <a:ext uri="{FF2B5EF4-FFF2-40B4-BE49-F238E27FC236}">
                <a16:creationId xmlns:a16="http://schemas.microsoft.com/office/drawing/2014/main" id="{838483DC-8F35-4D0B-B42B-CD060394AD12}"/>
              </a:ext>
            </a:extLst>
          </p:cNvPr>
          <p:cNvSpPr>
            <a:spLocks xmlns:a="http://schemas.openxmlformats.org/drawingml/2006/main" noGrp="1"/>
          </p:cNvSpPr>
          <p:nvPr/>
        </p:nvSpPr>
        <p:spPr>
          <a:xfrm xmlns:a="http://schemas.openxmlformats.org/drawingml/2006/main">
            <a:off x="1457325" y="3857625"/>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Prüfhinweis</a:t>
            </a:r>
          </a:p>
        </p:txBody>
      </p:sp>
      <p:sp>
        <p:nvSpPr>
          <p:cNvPr id="18" name="block-582">
            <a:extLst xmlns:a="http://schemas.openxmlformats.org/drawingml/2006/main">
              <a:ext uri="{FF2B5EF4-FFF2-40B4-BE49-F238E27FC236}">
                <a16:creationId xmlns:a16="http://schemas.microsoft.com/office/drawing/2014/main" id="{34E0EA64-0A95-4A7B-A740-2DB0A31E3BCD}"/>
              </a:ext>
            </a:extLst>
          </p:cNvPr>
          <p:cNvSpPr>
            <a:spLocks xmlns:a="http://schemas.openxmlformats.org/drawingml/2006/main" noGrp="1"/>
          </p:cNvSpPr>
          <p:nvPr/>
        </p:nvSpPr>
        <p:spPr>
          <a:xfrm xmlns:a="http://schemas.openxmlformats.org/drawingml/2006/main">
            <a:off x="5391150" y="38576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Die q99-Grenze ist erreicht. Eine Prüfung folgt.</a:t>
            </a:r>
          </a:p>
        </p:txBody>
      </p:sp>
      <p:sp>
        <p:nvSpPr>
          <p:cNvPr id="19" name="block-583">
            <a:extLst xmlns:a="http://schemas.openxmlformats.org/drawingml/2006/main">
              <a:ext uri="{FF2B5EF4-FFF2-40B4-BE49-F238E27FC236}">
                <a16:creationId xmlns:a16="http://schemas.microsoft.com/office/drawing/2014/main" id="{43F234B0-D292-4FCB-9D67-271128A538CD}"/>
              </a:ext>
            </a:extLst>
          </p:cNvPr>
          <p:cNvSpPr>
            <a:spLocks xmlns:a="http://schemas.openxmlformats.org/drawingml/2006/main" noGrp="1"/>
          </p:cNvSpPr>
          <p:nvPr/>
        </p:nvSpPr>
        <p:spPr>
          <a:xfrm xmlns:a="http://schemas.openxmlformats.org/drawingml/2006/main">
            <a:off x="1457325" y="4371975"/>
            <a:ext cx="101250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0" name="block-584">
            <a:extLst xmlns:a="http://schemas.openxmlformats.org/drawingml/2006/main">
              <a:ext uri="{FF2B5EF4-FFF2-40B4-BE49-F238E27FC236}">
                <a16:creationId xmlns:a16="http://schemas.microsoft.com/office/drawing/2014/main" id="{1010088E-F092-4199-9E6A-7F0CEA8CA899}"/>
              </a:ext>
            </a:extLst>
          </p:cNvPr>
          <p:cNvSpPr>
            <a:spLocks xmlns:a="http://schemas.openxmlformats.org/drawingml/2006/main" noGrp="1"/>
          </p:cNvSpPr>
          <p:nvPr/>
        </p:nvSpPr>
        <p:spPr>
          <a:xfrm xmlns:a="http://schemas.openxmlformats.org/drawingml/2006/main">
            <a:off x="609600" y="4514850"/>
            <a:ext cx="638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A86505"/>
                </a:solidFill>
                <a:latin typeface="Geist Mono"/>
                <a:ea typeface="Geist Mono"/>
                <a:cs typeface="Geist Mono"/>
              </a:defRPr>
            </a:pPr>
            <a:r>
              <a:rPr sz="2175" b="1">
                <a:solidFill>
                  <a:srgbClr val="A86505"/>
                </a:solidFill>
                <a:latin typeface="Geist Mono"/>
                <a:ea typeface="Geist Mono"/>
                <a:cs typeface="Geist Mono"/>
              </a:rPr>
              <a:t>04</a:t>
            </a:r>
          </a:p>
        </p:txBody>
      </p:sp>
      <p:sp>
        <p:nvSpPr>
          <p:cNvPr id="21" name="block-585">
            <a:extLst xmlns:a="http://schemas.openxmlformats.org/drawingml/2006/main">
              <a:ext uri="{FF2B5EF4-FFF2-40B4-BE49-F238E27FC236}">
                <a16:creationId xmlns:a16="http://schemas.microsoft.com/office/drawing/2014/main" id="{8ECF5929-162D-4E6C-9B78-F2EC5DB75E32}"/>
              </a:ext>
            </a:extLst>
          </p:cNvPr>
          <p:cNvSpPr>
            <a:spLocks xmlns:a="http://schemas.openxmlformats.org/drawingml/2006/main" noGrp="1"/>
          </p:cNvSpPr>
          <p:nvPr/>
        </p:nvSpPr>
        <p:spPr>
          <a:xfrm xmlns:a="http://schemas.openxmlformats.org/drawingml/2006/main">
            <a:off x="1457325" y="4514850"/>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Bestätigte Anomalie</a:t>
            </a:r>
          </a:p>
        </p:txBody>
      </p:sp>
      <p:sp>
        <p:nvSpPr>
          <p:cNvPr id="22" name="block-586">
            <a:extLst xmlns:a="http://schemas.openxmlformats.org/drawingml/2006/main">
              <a:ext uri="{FF2B5EF4-FFF2-40B4-BE49-F238E27FC236}">
                <a16:creationId xmlns:a16="http://schemas.microsoft.com/office/drawing/2014/main" id="{ED06C869-DE88-4104-AE19-B64DDB706103}"/>
              </a:ext>
            </a:extLst>
          </p:cNvPr>
          <p:cNvSpPr>
            <a:spLocks xmlns:a="http://schemas.openxmlformats.org/drawingml/2006/main" noGrp="1"/>
          </p:cNvSpPr>
          <p:nvPr/>
        </p:nvSpPr>
        <p:spPr>
          <a:xfrm xmlns:a="http://schemas.openxmlformats.org/drawingml/2006/main">
            <a:off x="5391150" y="45148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Die Fachprüfung liefert ein begründetes Label.</a:t>
            </a:r>
          </a:p>
        </p:txBody>
      </p:sp>
      <p:sp>
        <p:nvSpPr>
          <p:cNvPr id="23" name="block-587">
            <a:extLst xmlns:a="http://schemas.openxmlformats.org/drawingml/2006/main">
              <a:ext uri="{FF2B5EF4-FFF2-40B4-BE49-F238E27FC236}">
                <a16:creationId xmlns:a16="http://schemas.microsoft.com/office/drawing/2014/main" id="{6247EB9E-769B-43D6-96CB-60CE3EC8D229}"/>
              </a:ext>
            </a:extLst>
          </p:cNvPr>
          <p:cNvSpPr>
            <a:spLocks xmlns:a="http://schemas.openxmlformats.org/drawingml/2006/main" noGrp="1"/>
          </p:cNvSpPr>
          <p:nvPr/>
        </p:nvSpPr>
        <p:spPr>
          <a:xfrm xmlns:a="http://schemas.openxmlformats.org/drawingml/2006/main">
            <a:off x="1457325" y="5029200"/>
            <a:ext cx="101250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4" name="block-588">
            <a:extLst xmlns:a="http://schemas.openxmlformats.org/drawingml/2006/main">
              <a:ext uri="{FF2B5EF4-FFF2-40B4-BE49-F238E27FC236}">
                <a16:creationId xmlns:a16="http://schemas.microsoft.com/office/drawing/2014/main" id="{6D4B1ACB-1140-43FD-BF7B-F1CA28091E97}"/>
              </a:ext>
            </a:extLst>
          </p:cNvPr>
          <p:cNvSpPr>
            <a:spLocks xmlns:a="http://schemas.openxmlformats.org/drawingml/2006/main" noGrp="1"/>
          </p:cNvSpPr>
          <p:nvPr/>
        </p:nvSpPr>
        <p:spPr>
          <a:xfrm xmlns:a="http://schemas.openxmlformats.org/drawingml/2006/main">
            <a:off x="609600" y="5410200"/>
            <a:ext cx="109728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Für Precision und Recall fehlen Labels. Stichproben ohne Hinweis helfen,</a:t>
            </a:r>
          </a:p>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übersehene Fälle zu erfassen.</a:t>
            </a:r>
          </a:p>
        </p:txBody>
      </p:sp>
    </p:spTree>
    <p:extLst>
      <p:ext uri="{BB962C8B-B14F-4D97-AF65-F5344CB8AC3E}">
        <p14:creationId xmlns:p14="http://schemas.microsoft.com/office/powerpoint/2010/main" val="1022675021"/>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lock-589">
            <a:extLst xmlns:a="http://schemas.openxmlformats.org/drawingml/2006/main">
              <a:ext uri="{FF2B5EF4-FFF2-40B4-BE49-F238E27FC236}">
                <a16:creationId xmlns:a16="http://schemas.microsoft.com/office/drawing/2014/main" id="{88A579CA-C5D1-4CD7-B364-46DE6396DE36}"/>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J / AUFWAND &amp; NUTZEN</a:t>
            </a:r>
          </a:p>
        </p:txBody>
      </p:sp>
      <p:sp>
        <p:nvSpPr>
          <p:cNvPr id="2" name="block-590">
            <a:extLst xmlns:a="http://schemas.openxmlformats.org/drawingml/2006/main">
              <a:ext uri="{FF2B5EF4-FFF2-40B4-BE49-F238E27FC236}">
                <a16:creationId xmlns:a16="http://schemas.microsoft.com/office/drawing/2014/main" id="{32B41D2B-0FF2-4018-90AB-52C055A3C437}"/>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Ein Pilot braucht einen Messplan vor einer ROI-Zahl</a:t>
            </a:r>
          </a:p>
        </p:txBody>
      </p:sp>
      <p:sp>
        <p:nvSpPr>
          <p:cNvPr id="3" name="block-591">
            <a:extLst xmlns:a="http://schemas.openxmlformats.org/drawingml/2006/main">
              <a:ext uri="{FF2B5EF4-FFF2-40B4-BE49-F238E27FC236}">
                <a16:creationId xmlns:a16="http://schemas.microsoft.com/office/drawing/2014/main" id="{AE5592BC-4DA3-43EF-8B32-98246E72AB18}"/>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Der Datensatz enthält weder Prozesskosten noch bestätigte finanzielle Einsparungen.</a:t>
            </a:r>
          </a:p>
        </p:txBody>
      </p:sp>
      <p:sp>
        <p:nvSpPr>
          <p:cNvPr id="4" name="block-592">
            <a:extLst xmlns:a="http://schemas.openxmlformats.org/drawingml/2006/main">
              <a:ext uri="{FF2B5EF4-FFF2-40B4-BE49-F238E27FC236}">
                <a16:creationId xmlns:a16="http://schemas.microsoft.com/office/drawing/2014/main" id="{E55DA482-9042-4939-848F-DBB19233EC0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11708b61d1149f8"/>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593">
            <a:extLst xmlns:a="http://schemas.openxmlformats.org/drawingml/2006/main">
              <a:ext uri="{FF2B5EF4-FFF2-40B4-BE49-F238E27FC236}">
                <a16:creationId xmlns:a16="http://schemas.microsoft.com/office/drawing/2014/main" id="{1E0DE750-1864-4B4D-A1D4-50456366280E}"/>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594">
            <a:extLst xmlns:a="http://schemas.openxmlformats.org/drawingml/2006/main">
              <a:ext uri="{FF2B5EF4-FFF2-40B4-BE49-F238E27FC236}">
                <a16:creationId xmlns:a16="http://schemas.microsoft.com/office/drawing/2014/main" id="{CC9F17C0-90CC-4E18-B77D-4A9FCDE51624}"/>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38 / 39</a:t>
            </a:r>
          </a:p>
        </p:txBody>
      </p:sp>
      <p:graphicFrame>
        <p:nvGraphicFramePr>
          <p:cNvPr id="19" name=""/>
          <p:cNvGraphicFramePr/>
          <p:nvPr/>
        </p:nvGraphicFramePr>
        <p:xfrm>
          <a:off xmlns:a="http://schemas.openxmlformats.org/drawingml/2006/main" x="609600" y="2619375"/>
          <a:ext xmlns:a="http://schemas.openxmlformats.org/drawingml/2006/main" cx="5743575" cy="2447925"/>
        </p:xfrm>
        <a:graphic xmlns:a="http://schemas.openxmlformats.org/drawingml/2006/main">
          <a:graphicData uri="http://schemas.openxmlformats.org/drawingml/2006/table">
            <a:tbl>
              <a:tblPr/>
              <a:tblGrid>
                <a:gridCol w="3057525"/>
                <a:gridCol w="2686050"/>
              </a:tblGrid>
              <a:tr h="611981">
                <a:tc>
                  <a:txBody>
                    <a:bodyPr lIns="133350" tIns="85725" rIns="95250" bIns="85725"/>
                    <a:lstStyle/>
                    <a:p>
                      <a:r>
                        <a:rPr sz="1950" b="1">
                          <a:solidFill>
                            <a:srgbClr val="FFFFFF"/>
                          </a:solidFill>
                          <a:latin typeface="IBM Plex Sans"/>
                          <a:ea typeface="IBM Plex Sans"/>
                          <a:cs typeface="IBM Plex Sans"/>
                        </a:rPr>
                        <a:t>Annahme je Hinweis</a:t>
                      </a:r>
                    </a:p>
                  </a:txBody>
                  <a:tcPr marL="91440" marR="91440" marT="45720" marB="45720" anchor="ctr">
                    <a:solidFill>
                      <a:srgbClr val="063659"/>
                    </a:solidFill>
                  </a:tcPr>
                </a:tc>
                <a:tc>
                  <a:txBody>
                    <a:bodyPr lIns="133350" tIns="85725" rIns="95250" bIns="85725"/>
                    <a:lstStyle/>
                    <a:p>
                      <a:r>
                        <a:rPr sz="1950" b="1">
                          <a:solidFill>
                            <a:srgbClr val="FFFFFF"/>
                          </a:solidFill>
                          <a:latin typeface="IBM Plex Sans"/>
                          <a:ea typeface="IBM Plex Sans"/>
                          <a:cs typeface="IBM Plex Sans"/>
                        </a:rPr>
                        <a:t>Reine Prüfzeit / Monat</a:t>
                      </a:r>
                    </a:p>
                  </a:txBody>
                  <a:tcPr marL="91440" marR="91440" marT="45720" marB="45720" anchor="ctr">
                    <a:solidFill>
                      <a:srgbClr val="063659"/>
                    </a:solidFill>
                  </a:tcPr>
                </a:tc>
              </a:tr>
              <a:tr h="611981">
                <a:tc>
                  <a:txBody>
                    <a:bodyPr lIns="133350" tIns="85725" rIns="95250" bIns="85725"/>
                    <a:lstStyle/>
                    <a:p>
                      <a:r>
                        <a:rPr sz="1950" b="0">
                          <a:solidFill>
                            <a:srgbClr val="141A21"/>
                          </a:solidFill>
                          <a:latin typeface="IBM Plex Sans"/>
                          <a:ea typeface="IBM Plex Sans"/>
                          <a:cs typeface="IBM Plex Sans"/>
                        </a:rPr>
                        <a:t>10 Minuten</a:t>
                      </a:r>
                    </a:p>
                  </a:txBody>
                  <a:tcPr marL="91440" marR="91440" marT="45720" marB="45720" anchor="ctr">
                    <a:solidFill>
                      <a:srgbClr val="F1F4F7"/>
                    </a:solidFill>
                  </a:tcPr>
                </a:tc>
                <a:tc>
                  <a:txBody>
                    <a:bodyPr lIns="133350" tIns="85725" rIns="95250" bIns="85725"/>
                    <a:lstStyle/>
                    <a:p>
                      <a:r>
                        <a:rPr sz="1950" b="0">
                          <a:solidFill>
                            <a:srgbClr val="141A21"/>
                          </a:solidFill>
                          <a:latin typeface="IBM Plex Sans"/>
                          <a:ea typeface="IBM Plex Sans"/>
                          <a:cs typeface="IBM Plex Sans"/>
                        </a:rPr>
                        <a:t>rund 1,6 Stunden</a:t>
                      </a:r>
                    </a:p>
                  </a:txBody>
                  <a:tcPr marL="91440" marR="91440" marT="45720" marB="45720" anchor="ctr">
                    <a:solidFill>
                      <a:srgbClr val="F1F4F7"/>
                    </a:solidFill>
                  </a:tcPr>
                </a:tc>
              </a:tr>
              <a:tr h="611981">
                <a:tc>
                  <a:txBody>
                    <a:bodyPr lIns="133350" tIns="85725" rIns="95250" bIns="85725"/>
                    <a:lstStyle/>
                    <a:p>
                      <a:r>
                        <a:rPr sz="1950" b="0">
                          <a:solidFill>
                            <a:srgbClr val="141A21"/>
                          </a:solidFill>
                          <a:latin typeface="IBM Plex Sans"/>
                          <a:ea typeface="IBM Plex Sans"/>
                          <a:cs typeface="IBM Plex Sans"/>
                        </a:rPr>
                        <a:t>20 Minuten</a:t>
                      </a:r>
                    </a:p>
                  </a:txBody>
                  <a:tcPr marL="91440" marR="91440" marT="45720" marB="45720" anchor="ctr">
                    <a:solidFill>
                      <a:srgbClr val="FFFFFF"/>
                    </a:solidFill>
                  </a:tcPr>
                </a:tc>
                <a:tc>
                  <a:txBody>
                    <a:bodyPr lIns="133350" tIns="85725" rIns="95250" bIns="85725"/>
                    <a:lstStyle/>
                    <a:p>
                      <a:r>
                        <a:rPr sz="1950" b="0">
                          <a:solidFill>
                            <a:srgbClr val="141A21"/>
                          </a:solidFill>
                          <a:latin typeface="IBM Plex Sans"/>
                          <a:ea typeface="IBM Plex Sans"/>
                          <a:cs typeface="IBM Plex Sans"/>
                        </a:rPr>
                        <a:t>rund 3,2 Stunden</a:t>
                      </a:r>
                    </a:p>
                  </a:txBody>
                  <a:tcPr marL="91440" marR="91440" marT="45720" marB="45720" anchor="ctr">
                    <a:solidFill>
                      <a:srgbClr val="FFFFFF"/>
                    </a:solidFill>
                  </a:tcPr>
                </a:tc>
              </a:tr>
              <a:tr h="611981">
                <a:tc>
                  <a:txBody>
                    <a:bodyPr lIns="133350" tIns="85725" rIns="95250" bIns="85725"/>
                    <a:lstStyle/>
                    <a:p>
                      <a:r>
                        <a:rPr sz="1950" b="0">
                          <a:solidFill>
                            <a:srgbClr val="141A21"/>
                          </a:solidFill>
                          <a:latin typeface="IBM Plex Sans"/>
                          <a:ea typeface="IBM Plex Sans"/>
                          <a:cs typeface="IBM Plex Sans"/>
                        </a:rPr>
                        <a:t>30 Minuten</a:t>
                      </a:r>
                    </a:p>
                  </a:txBody>
                  <a:tcPr marL="91440" marR="91440" marT="45720" marB="45720" anchor="ctr">
                    <a:solidFill>
                      <a:srgbClr val="F1F4F7"/>
                    </a:solidFill>
                  </a:tcPr>
                </a:tc>
                <a:tc>
                  <a:txBody>
                    <a:bodyPr lIns="133350" tIns="85725" rIns="95250" bIns="85725"/>
                    <a:lstStyle/>
                    <a:p>
                      <a:r>
                        <a:rPr sz="1950" b="0">
                          <a:solidFill>
                            <a:srgbClr val="141A21"/>
                          </a:solidFill>
                          <a:latin typeface="IBM Plex Sans"/>
                          <a:ea typeface="IBM Plex Sans"/>
                          <a:cs typeface="IBM Plex Sans"/>
                        </a:rPr>
                        <a:t>rund 4,8 Stunden</a:t>
                      </a:r>
                    </a:p>
                  </a:txBody>
                  <a:tcPr marL="91440" marR="91440" marT="45720" marB="45720" anchor="ctr">
                    <a:solidFill>
                      <a:srgbClr val="F1F4F7"/>
                    </a:solidFill>
                  </a:tcPr>
                </a:tc>
              </a:tr>
            </a:tbl>
          </a:graphicData>
        </a:graphic>
      </p:graphicFrame>
      <p:sp>
        <p:nvSpPr>
          <p:cNvPr id="9" name="block-595">
            <a:extLst xmlns:a="http://schemas.openxmlformats.org/drawingml/2006/main">
              <a:ext uri="{FF2B5EF4-FFF2-40B4-BE49-F238E27FC236}">
                <a16:creationId xmlns:a16="http://schemas.microsoft.com/office/drawing/2014/main" id="{B0C8CBF4-20C0-42EF-8D20-16DEDDD76618}"/>
              </a:ext>
            </a:extLst>
          </p:cNvPr>
          <p:cNvSpPr>
            <a:spLocks xmlns:a="http://schemas.openxmlformats.org/drawingml/2006/main" noGrp="1"/>
          </p:cNvSpPr>
          <p:nvPr/>
        </p:nvSpPr>
        <p:spPr>
          <a:xfrm xmlns:a="http://schemas.openxmlformats.org/drawingml/2006/main">
            <a:off x="609600" y="5257800"/>
            <a:ext cx="57435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4E5A68"/>
                </a:solidFill>
                <a:latin typeface="IBM Plex Sans"/>
                <a:ea typeface="IBM Plex Sans"/>
                <a:cs typeface="IBM Plex Sans"/>
              </a:defRPr>
            </a:pPr>
            <a:r>
              <a:rPr sz="1800" b="0">
                <a:solidFill>
                  <a:srgbClr val="4E5A68"/>
                </a:solidFill>
                <a:latin typeface="IBM Plex Sans"/>
                <a:ea typeface="IBM Plex Sans"/>
                <a:cs typeface="IBM Plex Sans"/>
              </a:rPr>
              <a:t>9,5 Hinweise × angenommene Dauer</a:t>
            </a:r>
          </a:p>
        </p:txBody>
      </p:sp>
      <p:sp>
        <p:nvSpPr>
          <p:cNvPr id="10" name="block-596">
            <a:extLst xmlns:a="http://schemas.openxmlformats.org/drawingml/2006/main">
              <a:ext uri="{FF2B5EF4-FFF2-40B4-BE49-F238E27FC236}">
                <a16:creationId xmlns:a16="http://schemas.microsoft.com/office/drawing/2014/main" id="{4649E83A-90B2-4382-BD5A-3AFC7FC1A40D}"/>
              </a:ext>
            </a:extLst>
          </p:cNvPr>
          <p:cNvSpPr>
            <a:spLocks xmlns:a="http://schemas.openxmlformats.org/drawingml/2006/main" noGrp="1"/>
          </p:cNvSpPr>
          <p:nvPr/>
        </p:nvSpPr>
        <p:spPr>
          <a:xfrm xmlns:a="http://schemas.openxmlformats.org/drawingml/2006/main">
            <a:off x="6953250" y="2628900"/>
            <a:ext cx="4629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63659"/>
                </a:solidFill>
                <a:latin typeface="IBM Plex Sans"/>
                <a:ea typeface="IBM Plex Sans"/>
                <a:cs typeface="IBM Plex Sans"/>
              </a:defRPr>
            </a:pPr>
            <a:r>
              <a:rPr sz="2400" b="1">
                <a:solidFill>
                  <a:srgbClr val="063659"/>
                </a:solidFill>
                <a:latin typeface="IBM Plex Sans"/>
                <a:ea typeface="IBM Plex Sans"/>
                <a:cs typeface="IBM Plex Sans"/>
              </a:rPr>
              <a:t>Im Pilot erfassen</a:t>
            </a:r>
          </a:p>
        </p:txBody>
      </p:sp>
      <p:sp>
        <p:nvSpPr>
          <p:cNvPr id="11" name="block-597">
            <a:extLst xmlns:a="http://schemas.openxmlformats.org/drawingml/2006/main">
              <a:ext uri="{FF2B5EF4-FFF2-40B4-BE49-F238E27FC236}">
                <a16:creationId xmlns:a16="http://schemas.microsoft.com/office/drawing/2014/main" id="{5DA55D4F-C6EE-4F97-90C3-E8FD3E695EC3}"/>
              </a:ext>
            </a:extLst>
          </p:cNvPr>
          <p:cNvSpPr>
            <a:spLocks xmlns:a="http://schemas.openxmlformats.org/drawingml/2006/main" noGrp="1"/>
          </p:cNvSpPr>
          <p:nvPr/>
        </p:nvSpPr>
        <p:spPr>
          <a:xfrm xmlns:a="http://schemas.openxmlformats.org/drawingml/2006/main">
            <a:off x="6953250" y="3333750"/>
            <a:ext cx="462915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Bearbeitungszeit und Folgeschritte</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Bestätigte Ursachen und Maßnahmen</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Betriebs-, Integrations- und Pflegekosten</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Wirkung auf reale Beschaffung</a:t>
            </a:r>
          </a:p>
        </p:txBody>
      </p:sp>
    </p:spTree>
    <p:extLst>
      <p:ext uri="{BB962C8B-B14F-4D97-AF65-F5344CB8AC3E}">
        <p14:creationId xmlns:p14="http://schemas.microsoft.com/office/powerpoint/2010/main" val="42542993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block-598">
            <a:extLst xmlns:a="http://schemas.openxmlformats.org/drawingml/2006/main">
              <a:ext uri="{FF2B5EF4-FFF2-40B4-BE49-F238E27FC236}">
                <a16:creationId xmlns:a16="http://schemas.microsoft.com/office/drawing/2014/main" id="{F807C42A-4DD2-4550-9459-6AFB1B38B57D}"/>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K / QUELLEN &amp; LESELOGIK</a:t>
            </a:r>
          </a:p>
        </p:txBody>
      </p:sp>
      <p:sp>
        <p:nvSpPr>
          <p:cNvPr id="2" name="block-599">
            <a:extLst xmlns:a="http://schemas.openxmlformats.org/drawingml/2006/main">
              <a:ext uri="{FF2B5EF4-FFF2-40B4-BE49-F238E27FC236}">
                <a16:creationId xmlns:a16="http://schemas.microsoft.com/office/drawing/2014/main" id="{24851C89-AC36-47F4-BF79-3287EFEAF1F9}"/>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Die Aussagen bleiben bis zur Quelle nachvollziehbar</a:t>
            </a:r>
          </a:p>
        </p:txBody>
      </p:sp>
      <p:sp>
        <p:nvSpPr>
          <p:cNvPr id="3" name="block-600">
            <a:extLst xmlns:a="http://schemas.openxmlformats.org/drawingml/2006/main">
              <a:ext uri="{FF2B5EF4-FFF2-40B4-BE49-F238E27FC236}">
                <a16:creationId xmlns:a16="http://schemas.microsoft.com/office/drawing/2014/main" id="{3420B69F-915D-4AF9-B61F-6320DF773281}"/>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Lokale Projektquellen · Quellenhinweise und Erläuterungen in den Foliennotizen</a:t>
            </a:r>
          </a:p>
        </p:txBody>
      </p:sp>
      <p:sp>
        <p:nvSpPr>
          <p:cNvPr id="4" name="block-601">
            <a:extLst xmlns:a="http://schemas.openxmlformats.org/drawingml/2006/main">
              <a:ext uri="{FF2B5EF4-FFF2-40B4-BE49-F238E27FC236}">
                <a16:creationId xmlns:a16="http://schemas.microsoft.com/office/drawing/2014/main" id="{A5CBCF05-822D-4000-A137-CA3BB1196FB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fa09a96b1a1c4345"/>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602">
            <a:extLst xmlns:a="http://schemas.openxmlformats.org/drawingml/2006/main">
              <a:ext uri="{FF2B5EF4-FFF2-40B4-BE49-F238E27FC236}">
                <a16:creationId xmlns:a16="http://schemas.microsoft.com/office/drawing/2014/main" id="{E26A923A-F11C-4DFA-A9E9-97996A12BC89}"/>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603">
            <a:extLst xmlns:a="http://schemas.openxmlformats.org/drawingml/2006/main">
              <a:ext uri="{FF2B5EF4-FFF2-40B4-BE49-F238E27FC236}">
                <a16:creationId xmlns:a16="http://schemas.microsoft.com/office/drawing/2014/main" id="{CA2197B4-682B-4877-AA87-C85DD5EB3E41}"/>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39 / 39</a:t>
            </a:r>
          </a:p>
        </p:txBody>
      </p:sp>
      <p:sp>
        <p:nvSpPr>
          <p:cNvPr id="8" name="block-604">
            <a:extLst xmlns:a="http://schemas.openxmlformats.org/drawingml/2006/main">
              <a:ext uri="{FF2B5EF4-FFF2-40B4-BE49-F238E27FC236}">
                <a16:creationId xmlns:a16="http://schemas.microsoft.com/office/drawing/2014/main" id="{D171D899-2AA4-455B-BECB-77D2B8121796}"/>
              </a:ext>
            </a:extLst>
          </p:cNvPr>
          <p:cNvSpPr>
            <a:spLocks xmlns:a="http://schemas.openxmlformats.org/drawingml/2006/main" noGrp="1"/>
          </p:cNvSpPr>
          <p:nvPr/>
        </p:nvSpPr>
        <p:spPr>
          <a:xfrm xmlns:a="http://schemas.openxmlformats.org/drawingml/2006/main">
            <a:off x="609600" y="2533650"/>
            <a:ext cx="2647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080A0"/>
                </a:solidFill>
                <a:latin typeface="IBM Plex Sans"/>
                <a:ea typeface="IBM Plex Sans"/>
                <a:cs typeface="IBM Plex Sans"/>
              </a:defRPr>
            </a:pPr>
            <a:r>
              <a:rPr sz="2025" b="1">
                <a:solidFill>
                  <a:srgbClr val="0080A0"/>
                </a:solidFill>
                <a:latin typeface="IBM Plex Sans"/>
                <a:ea typeface="IBM Plex Sans"/>
                <a:cs typeface="IBM Plex Sans"/>
              </a:rPr>
              <a:t>Auftrag &amp; Team</a:t>
            </a:r>
          </a:p>
        </p:txBody>
      </p:sp>
      <p:sp>
        <p:nvSpPr>
          <p:cNvPr id="9" name="block-605">
            <a:extLst xmlns:a="http://schemas.openxmlformats.org/drawingml/2006/main">
              <a:ext uri="{FF2B5EF4-FFF2-40B4-BE49-F238E27FC236}">
                <a16:creationId xmlns:a16="http://schemas.microsoft.com/office/drawing/2014/main" id="{1D064F57-06FA-4D5D-A474-3722803EBFD6}"/>
              </a:ext>
            </a:extLst>
          </p:cNvPr>
          <p:cNvSpPr>
            <a:spLocks xmlns:a="http://schemas.openxmlformats.org/drawingml/2006/main" noGrp="1"/>
          </p:cNvSpPr>
          <p:nvPr/>
        </p:nvSpPr>
        <p:spPr>
          <a:xfrm xmlns:a="http://schemas.openxmlformats.org/drawingml/2006/main">
            <a:off x="3495675" y="2543175"/>
            <a:ext cx="80867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063659"/>
                </a:solidFill>
                <a:latin typeface="IBM Plex Sans"/>
                <a:ea typeface="IBM Plex Sans"/>
                <a:cs typeface="IBM Plex Sans"/>
              </a:defRPr>
            </a:pPr>
            <a:r>
              <a:rPr sz="1875" b="0">
                <a:solidFill>
                  <a:srgbClr val="063659"/>
                </a:solidFill>
                <a:latin typeface="IBM Plex Sans"/>
                <a:ea typeface="IBM Plex Sans"/>
                <a:cs typeface="IBM Plex Sans"/>
              </a:rPr>
              <a:t>IHK_Group6-1.pdf · IHK_Bericht_Gruppe_6_final.docx</a:t>
            </a:r>
          </a:p>
        </p:txBody>
      </p:sp>
      <p:sp>
        <p:nvSpPr>
          <p:cNvPr id="10" name="block-606">
            <a:extLst xmlns:a="http://schemas.openxmlformats.org/drawingml/2006/main">
              <a:ext uri="{FF2B5EF4-FFF2-40B4-BE49-F238E27FC236}">
                <a16:creationId xmlns:a16="http://schemas.microsoft.com/office/drawing/2014/main" id="{746E443F-490A-4C0F-A4EC-7EB462185DEA}"/>
              </a:ext>
            </a:extLst>
          </p:cNvPr>
          <p:cNvSpPr>
            <a:spLocks xmlns:a="http://schemas.openxmlformats.org/drawingml/2006/main" noGrp="1"/>
          </p:cNvSpPr>
          <p:nvPr/>
        </p:nvSpPr>
        <p:spPr>
          <a:xfrm xmlns:a="http://schemas.openxmlformats.org/drawingml/2006/main">
            <a:off x="3495675" y="3028950"/>
            <a:ext cx="808672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1" name="block-607">
            <a:extLst xmlns:a="http://schemas.openxmlformats.org/drawingml/2006/main">
              <a:ext uri="{FF2B5EF4-FFF2-40B4-BE49-F238E27FC236}">
                <a16:creationId xmlns:a16="http://schemas.microsoft.com/office/drawing/2014/main" id="{8083C051-0913-4BE9-A191-252834607519}"/>
              </a:ext>
            </a:extLst>
          </p:cNvPr>
          <p:cNvSpPr>
            <a:spLocks xmlns:a="http://schemas.openxmlformats.org/drawingml/2006/main" noGrp="1"/>
          </p:cNvSpPr>
          <p:nvPr/>
        </p:nvSpPr>
        <p:spPr>
          <a:xfrm xmlns:a="http://schemas.openxmlformats.org/drawingml/2006/main">
            <a:off x="609600" y="3162300"/>
            <a:ext cx="2647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080A0"/>
                </a:solidFill>
                <a:latin typeface="IBM Plex Sans"/>
                <a:ea typeface="IBM Plex Sans"/>
                <a:cs typeface="IBM Plex Sans"/>
              </a:defRPr>
            </a:pPr>
            <a:r>
              <a:rPr sz="2025" b="1">
                <a:solidFill>
                  <a:srgbClr val="0080A0"/>
                </a:solidFill>
                <a:latin typeface="IBM Plex Sans"/>
                <a:ea typeface="IBM Plex Sans"/>
                <a:cs typeface="IBM Plex Sans"/>
              </a:rPr>
              <a:t>Daten &amp; EDA</a:t>
            </a:r>
          </a:p>
        </p:txBody>
      </p:sp>
      <p:sp>
        <p:nvSpPr>
          <p:cNvPr id="12" name="block-608">
            <a:extLst xmlns:a="http://schemas.openxmlformats.org/drawingml/2006/main">
              <a:ext uri="{FF2B5EF4-FFF2-40B4-BE49-F238E27FC236}">
                <a16:creationId xmlns:a16="http://schemas.microsoft.com/office/drawing/2014/main" id="{DF8A62EA-AA32-4D08-AAAE-4AD616122FC8}"/>
              </a:ext>
            </a:extLst>
          </p:cNvPr>
          <p:cNvSpPr>
            <a:spLocks xmlns:a="http://schemas.openxmlformats.org/drawingml/2006/main" noGrp="1"/>
          </p:cNvSpPr>
          <p:nvPr/>
        </p:nvSpPr>
        <p:spPr>
          <a:xfrm xmlns:a="http://schemas.openxmlformats.org/drawingml/2006/main">
            <a:off x="3495675" y="3171825"/>
            <a:ext cx="80867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063659"/>
                </a:solidFill>
                <a:latin typeface="IBM Plex Sans"/>
                <a:ea typeface="IBM Plex Sans"/>
                <a:cs typeface="IBM Plex Sans"/>
              </a:defRPr>
            </a:pPr>
            <a:r>
              <a:rPr sz="1875" b="0">
                <a:solidFill>
                  <a:srgbClr val="063659"/>
                </a:solidFill>
                <a:latin typeface="IBM Plex Sans"/>
                <a:ea typeface="IBM Plex Sans"/>
                <a:cs typeface="IBM Plex Sans"/>
              </a:rPr>
              <a:t>verbrauch.csv · 260916_verbrauch_bereinigt.csv</a:t>
            </a:r>
          </a:p>
        </p:txBody>
      </p:sp>
      <p:sp>
        <p:nvSpPr>
          <p:cNvPr id="13" name="block-609">
            <a:extLst xmlns:a="http://schemas.openxmlformats.org/drawingml/2006/main">
              <a:ext uri="{FF2B5EF4-FFF2-40B4-BE49-F238E27FC236}">
                <a16:creationId xmlns:a16="http://schemas.microsoft.com/office/drawing/2014/main" id="{A6ED4AFF-1B73-4918-A79B-CE7FBBCA93DA}"/>
              </a:ext>
            </a:extLst>
          </p:cNvPr>
          <p:cNvSpPr>
            <a:spLocks xmlns:a="http://schemas.openxmlformats.org/drawingml/2006/main" noGrp="1"/>
          </p:cNvSpPr>
          <p:nvPr/>
        </p:nvSpPr>
        <p:spPr>
          <a:xfrm xmlns:a="http://schemas.openxmlformats.org/drawingml/2006/main">
            <a:off x="3495675" y="3657600"/>
            <a:ext cx="808672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4" name="block-610">
            <a:extLst xmlns:a="http://schemas.openxmlformats.org/drawingml/2006/main">
              <a:ext uri="{FF2B5EF4-FFF2-40B4-BE49-F238E27FC236}">
                <a16:creationId xmlns:a16="http://schemas.microsoft.com/office/drawing/2014/main" id="{6068C66B-30E0-43F6-95FB-7AA80209BDA4}"/>
              </a:ext>
            </a:extLst>
          </p:cNvPr>
          <p:cNvSpPr>
            <a:spLocks xmlns:a="http://schemas.openxmlformats.org/drawingml/2006/main" noGrp="1"/>
          </p:cNvSpPr>
          <p:nvPr/>
        </p:nvSpPr>
        <p:spPr>
          <a:xfrm xmlns:a="http://schemas.openxmlformats.org/drawingml/2006/main">
            <a:off x="609600" y="3790950"/>
            <a:ext cx="2647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080A0"/>
                </a:solidFill>
                <a:latin typeface="IBM Plex Sans"/>
                <a:ea typeface="IBM Plex Sans"/>
                <a:cs typeface="IBM Plex Sans"/>
              </a:defRPr>
            </a:pPr>
            <a:r>
              <a:rPr sz="2025" b="1">
                <a:solidFill>
                  <a:srgbClr val="0080A0"/>
                </a:solidFill>
                <a:latin typeface="IBM Plex Sans"/>
                <a:ea typeface="IBM Plex Sans"/>
                <a:cs typeface="IBM Plex Sans"/>
              </a:rPr>
              <a:t>ML-Ergebnisse</a:t>
            </a:r>
          </a:p>
        </p:txBody>
      </p:sp>
      <p:sp>
        <p:nvSpPr>
          <p:cNvPr id="15" name="block-611">
            <a:extLst xmlns:a="http://schemas.openxmlformats.org/drawingml/2006/main">
              <a:ext uri="{FF2B5EF4-FFF2-40B4-BE49-F238E27FC236}">
                <a16:creationId xmlns:a16="http://schemas.microsoft.com/office/drawing/2014/main" id="{A6A9B04D-9B4D-471E-9956-BA6D1BA59387}"/>
              </a:ext>
            </a:extLst>
          </p:cNvPr>
          <p:cNvSpPr>
            <a:spLocks xmlns:a="http://schemas.openxmlformats.org/drawingml/2006/main" noGrp="1"/>
          </p:cNvSpPr>
          <p:nvPr/>
        </p:nvSpPr>
        <p:spPr>
          <a:xfrm xmlns:a="http://schemas.openxmlformats.org/drawingml/2006/main">
            <a:off x="3495675" y="3800475"/>
            <a:ext cx="80867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063659"/>
                </a:solidFill>
                <a:latin typeface="IBM Plex Sans"/>
                <a:ea typeface="IBM Plex Sans"/>
                <a:cs typeface="IBM Plex Sans"/>
              </a:defRPr>
            </a:pPr>
            <a:r>
              <a:rPr sz="1875" b="0">
                <a:solidFill>
                  <a:srgbClr val="063659"/>
                </a:solidFill>
                <a:latin typeface="IBM Plex Sans"/>
                <a:ea typeface="IBM Plex Sans"/>
                <a:cs typeface="IBM Plex Sans"/>
              </a:rPr>
              <a:t>13_modellierung_von_grund_auf_verstehen.ipynb</a:t>
            </a:r>
          </a:p>
        </p:txBody>
      </p:sp>
      <p:sp>
        <p:nvSpPr>
          <p:cNvPr id="16" name="block-612">
            <a:extLst xmlns:a="http://schemas.openxmlformats.org/drawingml/2006/main">
              <a:ext uri="{FF2B5EF4-FFF2-40B4-BE49-F238E27FC236}">
                <a16:creationId xmlns:a16="http://schemas.microsoft.com/office/drawing/2014/main" id="{F9BF11F5-24CA-4CD8-8045-D2872CD3E563}"/>
              </a:ext>
            </a:extLst>
          </p:cNvPr>
          <p:cNvSpPr>
            <a:spLocks xmlns:a="http://schemas.openxmlformats.org/drawingml/2006/main" noGrp="1"/>
          </p:cNvSpPr>
          <p:nvPr/>
        </p:nvSpPr>
        <p:spPr>
          <a:xfrm xmlns:a="http://schemas.openxmlformats.org/drawingml/2006/main">
            <a:off x="3495675" y="4286250"/>
            <a:ext cx="808672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7" name="block-613">
            <a:extLst xmlns:a="http://schemas.openxmlformats.org/drawingml/2006/main">
              <a:ext uri="{FF2B5EF4-FFF2-40B4-BE49-F238E27FC236}">
                <a16:creationId xmlns:a16="http://schemas.microsoft.com/office/drawing/2014/main" id="{7A24F26D-A7DC-4E8E-BC71-7D9AEBF0F90C}"/>
              </a:ext>
            </a:extLst>
          </p:cNvPr>
          <p:cNvSpPr>
            <a:spLocks xmlns:a="http://schemas.openxmlformats.org/drawingml/2006/main" noGrp="1"/>
          </p:cNvSpPr>
          <p:nvPr/>
        </p:nvSpPr>
        <p:spPr>
          <a:xfrm xmlns:a="http://schemas.openxmlformats.org/drawingml/2006/main">
            <a:off x="609600" y="4419600"/>
            <a:ext cx="2647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080A0"/>
                </a:solidFill>
                <a:latin typeface="IBM Plex Sans"/>
                <a:ea typeface="IBM Plex Sans"/>
                <a:cs typeface="IBM Plex Sans"/>
              </a:defRPr>
            </a:pPr>
            <a:r>
              <a:rPr sz="2025" b="1">
                <a:solidFill>
                  <a:srgbClr val="0080A0"/>
                </a:solidFill>
                <a:latin typeface="IBM Plex Sans"/>
                <a:ea typeface="IBM Plex Sans"/>
                <a:cs typeface="IBM Plex Sans"/>
              </a:rPr>
              <a:t>Cockpit-Abgleich</a:t>
            </a:r>
          </a:p>
        </p:txBody>
      </p:sp>
      <p:sp>
        <p:nvSpPr>
          <p:cNvPr id="18" name="block-614">
            <a:extLst xmlns:a="http://schemas.openxmlformats.org/drawingml/2006/main">
              <a:ext uri="{FF2B5EF4-FFF2-40B4-BE49-F238E27FC236}">
                <a16:creationId xmlns:a16="http://schemas.microsoft.com/office/drawing/2014/main" id="{519DAF50-8654-4120-A3D0-4A4F79BC14E7}"/>
              </a:ext>
            </a:extLst>
          </p:cNvPr>
          <p:cNvSpPr>
            <a:spLocks xmlns:a="http://schemas.openxmlformats.org/drawingml/2006/main" noGrp="1"/>
          </p:cNvSpPr>
          <p:nvPr/>
        </p:nvSpPr>
        <p:spPr>
          <a:xfrm xmlns:a="http://schemas.openxmlformats.org/drawingml/2006/main">
            <a:off x="3495675" y="4429125"/>
            <a:ext cx="80867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063659"/>
                </a:solidFill>
                <a:latin typeface="IBM Plex Sans"/>
                <a:ea typeface="IBM Plex Sans"/>
                <a:cs typeface="IBM Plex Sans"/>
              </a:defRPr>
            </a:pPr>
            <a:r>
              <a:rPr sz="1875" b="0">
                <a:solidFill>
                  <a:srgbClr val="063659"/>
                </a:solidFill>
                <a:latin typeface="IBM Plex Sans"/>
                <a:ea typeface="IBM Plex Sans"/>
                <a:cs typeface="IBM Plex Sans"/>
              </a:rPr>
              <a:t>ui_kits/energie-cockpit/anomaly-data.js</a:t>
            </a:r>
          </a:p>
        </p:txBody>
      </p:sp>
      <p:sp>
        <p:nvSpPr>
          <p:cNvPr id="19" name="block-615">
            <a:extLst xmlns:a="http://schemas.openxmlformats.org/drawingml/2006/main">
              <a:ext uri="{FF2B5EF4-FFF2-40B4-BE49-F238E27FC236}">
                <a16:creationId xmlns:a16="http://schemas.microsoft.com/office/drawing/2014/main" id="{8B24E6D5-7A17-43EC-9750-60037E139FF6}"/>
              </a:ext>
            </a:extLst>
          </p:cNvPr>
          <p:cNvSpPr>
            <a:spLocks xmlns:a="http://schemas.openxmlformats.org/drawingml/2006/main" noGrp="1"/>
          </p:cNvSpPr>
          <p:nvPr/>
        </p:nvSpPr>
        <p:spPr>
          <a:xfrm xmlns:a="http://schemas.openxmlformats.org/drawingml/2006/main">
            <a:off x="3495675" y="4914900"/>
            <a:ext cx="808672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0" name="block-616">
            <a:extLst xmlns:a="http://schemas.openxmlformats.org/drawingml/2006/main">
              <a:ext uri="{FF2B5EF4-FFF2-40B4-BE49-F238E27FC236}">
                <a16:creationId xmlns:a16="http://schemas.microsoft.com/office/drawing/2014/main" id="{154CBE11-59A2-4008-879A-F41735F497C0}"/>
              </a:ext>
            </a:extLst>
          </p:cNvPr>
          <p:cNvSpPr>
            <a:spLocks xmlns:a="http://schemas.openxmlformats.org/drawingml/2006/main" noGrp="1"/>
          </p:cNvSpPr>
          <p:nvPr/>
        </p:nvSpPr>
        <p:spPr>
          <a:xfrm xmlns:a="http://schemas.openxmlformats.org/drawingml/2006/main">
            <a:off x="609600" y="5048250"/>
            <a:ext cx="2647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080A0"/>
                </a:solidFill>
                <a:latin typeface="IBM Plex Sans"/>
                <a:ea typeface="IBM Plex Sans"/>
                <a:cs typeface="IBM Plex Sans"/>
              </a:defRPr>
            </a:pPr>
            <a:r>
              <a:rPr sz="2025" b="1">
                <a:solidFill>
                  <a:srgbClr val="0080A0"/>
                </a:solidFill>
                <a:latin typeface="IBM Plex Sans"/>
                <a:ea typeface="IBM Plex Sans"/>
                <a:cs typeface="IBM Plex Sans"/>
              </a:rPr>
              <a:t>Gestaltung</a:t>
            </a:r>
          </a:p>
        </p:txBody>
      </p:sp>
      <p:sp>
        <p:nvSpPr>
          <p:cNvPr id="21" name="block-617">
            <a:extLst xmlns:a="http://schemas.openxmlformats.org/drawingml/2006/main">
              <a:ext uri="{FF2B5EF4-FFF2-40B4-BE49-F238E27FC236}">
                <a16:creationId xmlns:a16="http://schemas.microsoft.com/office/drawing/2014/main" id="{78C9C8E8-2CE9-4A48-BC4D-CFFBB745E88A}"/>
              </a:ext>
            </a:extLst>
          </p:cNvPr>
          <p:cNvSpPr>
            <a:spLocks xmlns:a="http://schemas.openxmlformats.org/drawingml/2006/main" noGrp="1"/>
          </p:cNvSpPr>
          <p:nvPr/>
        </p:nvSpPr>
        <p:spPr>
          <a:xfrm xmlns:a="http://schemas.openxmlformats.org/drawingml/2006/main">
            <a:off x="3495675" y="5057775"/>
            <a:ext cx="80867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063659"/>
                </a:solidFill>
                <a:latin typeface="IBM Plex Sans"/>
                <a:ea typeface="IBM Plex Sans"/>
                <a:cs typeface="IBM Plex Sans"/>
              </a:defRPr>
            </a:pPr>
            <a:r>
              <a:rPr sz="1875" b="0">
                <a:solidFill>
                  <a:srgbClr val="063659"/>
                </a:solidFill>
                <a:latin typeface="IBM Plex Sans"/>
                <a:ea typeface="IBM Plex Sans"/>
                <a:cs typeface="IBM Plex Sans"/>
              </a:rPr>
              <a:t>SWW Design System · Projekt-Präsentationstemplate</a:t>
            </a:r>
          </a:p>
        </p:txBody>
      </p:sp>
      <p:sp>
        <p:nvSpPr>
          <p:cNvPr id="22" name="block-618">
            <a:extLst xmlns:a="http://schemas.openxmlformats.org/drawingml/2006/main">
              <a:ext uri="{FF2B5EF4-FFF2-40B4-BE49-F238E27FC236}">
                <a16:creationId xmlns:a16="http://schemas.microsoft.com/office/drawing/2014/main" id="{65CD6561-FC58-4E71-8D76-45089DC89D0D}"/>
              </a:ext>
            </a:extLst>
          </p:cNvPr>
          <p:cNvSpPr>
            <a:spLocks xmlns:a="http://schemas.openxmlformats.org/drawingml/2006/main" noGrp="1"/>
          </p:cNvSpPr>
          <p:nvPr/>
        </p:nvSpPr>
        <p:spPr>
          <a:xfrm xmlns:a="http://schemas.openxmlformats.org/drawingml/2006/main">
            <a:off x="3495675" y="5543550"/>
            <a:ext cx="808672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Tree>
    <p:extLst>
      <p:ext uri="{BB962C8B-B14F-4D97-AF65-F5344CB8AC3E}">
        <p14:creationId xmlns:p14="http://schemas.microsoft.com/office/powerpoint/2010/main" val="876192290"/>
      </p:ext>
    </p:extLst>
  </p:cSld>
</p:sld>
</file>

<file path=ppt/theme/theme1.xml><?xml version="1.0" encoding="utf-8"?>
<a:theme xmlns:a="http://schemas.openxmlformats.org/drawingml/2006/main" name="ChatGPT">
  <a:themeElements>
    <a:clrScheme name="StadtWerke Westhafen">
      <a:dk1>
        <a:srgbClr val="141A21"/>
      </a:dk1>
      <a:lt1>
        <a:srgbClr val="FFFFFF"/>
      </a:lt1>
      <a:dk2>
        <a:srgbClr val="063659"/>
      </a:dk2>
      <a:lt2>
        <a:srgbClr val="F1F4F7"/>
      </a:lt2>
      <a:accent1>
        <a:srgbClr val="084878"/>
      </a:accent1>
      <a:accent2>
        <a:srgbClr val="0090C8"/>
      </a:accent2>
      <a:accent3>
        <a:srgbClr val="0080A0"/>
      </a:accent3>
      <a:accent4>
        <a:srgbClr val="A86505"/>
      </a:accent4>
      <a:accent5>
        <a:srgbClr val="B3261E"/>
      </a:accent5>
      <a:accent6>
        <a:srgbClr val="8C98A6"/>
      </a:accent6>
      <a:hlink>
        <a:srgbClr val="0080A0"/>
      </a:hlink>
      <a:folHlink>
        <a:srgbClr val="084878"/>
      </a:folHlink>
    </a:clrScheme>
    <a:fontScheme name="Office">
      <a:majorFont>
        <a:latin typeface="IBM Plex Sans"/>
        <a:ea typeface="Calibri Light"/>
        <a:cs typeface="Calibri Light"/>
      </a:majorFont>
      <a:minorFont>
        <a:latin typeface="IBM Plex Sans"/>
        <a:ea typeface="Calibri"/>
        <a:cs typeface="Calibri"/>
      </a:minorFont>
    </a:fontScheme>
    <a:fmtScheme name="StadtWerke Westhafe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2026-09-24T19:55:22.2000000Z</dcterms:created>
  <dcterms:modified xsi:type="dcterms:W3CDTF">2026-09-24T19:55:22.2000000Z</dcterms:modified>
</coreProperties>
</file>