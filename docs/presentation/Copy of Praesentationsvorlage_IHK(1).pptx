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100"/>
  <p:notesSz cx="6858000" cy="9144000"/>
  <p:embeddedFontLs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hBidZtefNw2E+CBNC/lfVzjXl7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84BBBA-00FD-412E-86F5-1CDE36F7DADA}">
  <a:tblStyle styleId="{0284BBBA-00FD-412E-86F5-1CDE36F7DAD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customschemas.google.com/relationships/presentationmetadata" Target="meta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Begruessen Sie die Pruefungskommission und stellen Sie die Gruppe vor (10–15 Sekunden). Nennen Sie kurz das Thema und die Organisation. Dann direkt weiter zur Agenda.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dcff49c5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f8dcff49c5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Geben Sie der Kommission einen klaren Fahrplan: erst 30 min Konzept (alle drei sprechen), dann 15 min Live-Demo, dann je 15 min Fachgespraech pro Person. Zeit: maximal 30 Sekunden.</a:t>
            </a:r>
            <a:endParaRPr/>
          </a:p>
        </p:txBody>
      </p:sp>
      <p:sp>
        <p:nvSpPr>
          <p:cNvPr id="92" name="Google Shape;92;g3f8dcff49c5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Geben Sie der Kommission einen klaren Fahrplan: erst 30 min Konzept (alle drei sprechen), dann 15 min Live-Demo, dann je 15 min Fachgespraech pro Person. Zeit: maximal 30 Sekunden.</a:t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Ankern Sie die Geschichte in der Organisation. Nennen Sie Branche, Groesse, das konkrete Problem und warum es jetzt geloest werden muss. Vermeiden Sie generische Branchen-Einfuehrungen. 2–3 Minuten.</a:t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dcff49c5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8dcff49c5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b93177103_0_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fb93177103_0_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Erklaeren Sie die Datenlage in konkreten Zahlen: Wie viele Zeilen, welcher Zeitraum, welche Qualitaetsprobleme. Zeigen Sie, dass Sie die Daten verstanden haben. Die Pruefungskommission moechte fuehlen, dass Sie die Datei aufgemacht haben. Zeit: 3–4 min.</a:t>
            </a:r>
            <a:endParaRPr/>
          </a:p>
        </p:txBody>
      </p:sp>
      <p:sp>
        <p:nvSpPr>
          <p:cNvPr id="128" name="Google Shape;128;g3fb93177103_0_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Sie zeigen nicht das volle Canvas (zu detailliert fuer 30 min). Sie heben die fuenf zentralen Felder hervor. Das volle Canvas steht im Bericht. Fokus auf Kohaerenz: Vorhersage passt zu Features passt zu Evaluation. Zeit: 4–5 min.</a:t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Begruenden Sie die Methodenwahl. Warum Klassifikation und nicht Regression (oder umgekehrt)? Warum dieses Modell? Warum dieser Train/Test-Split? Wenn Sie hier eine bewusste Entscheidung erklaeren koennen, sind Sie im Fachgespraech vorbereitet. Zeit: 5–6 min.</a:t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Nennen Sie die Hauptmetrik, vergleichen Sie mit Baseline, zeigen Sie eine Visualisierung. Quantifizieren Sie den Geschaeftsnutzen — keine vagen Aussagen. Zeit: 5–6 min.</a:t>
            </a:r>
            <a:endParaRPr/>
          </a:p>
        </p:txBody>
      </p:sp>
      <p:sp>
        <p:nvSpPr>
          <p:cNvPr id="154" name="Google Shape;15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Schliessen Sie Block 1 mit konkreten naechsten Schritten fuer die Organisation und einem kurzen Fazit. Brueckenschlag zur Live-Demo. Zeit: 2–3 min.</a:t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Ueberleitung in die Live-Demo. Klaeren Sie kurz, was die Kommission gleich sehen wird, und wer die Demo fuehrt. Zeit: 15–30 Sekunden.</a:t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Fuehren Sie die Live-Demo strikt nach diesem Ablauf. Ueben Sie das mindestens dreimal komplett durch — Live-Demos scheitern an Kleinigkeiten. Halten Sie ein Backup-Notebook bereit. Zeit: 15 min insgesamt.</a:t>
            </a:r>
            <a:endParaRPr/>
          </a:p>
        </p:txBody>
      </p:sp>
      <p:sp>
        <p:nvSpPr>
          <p:cNvPr id="179" name="Google Shape;17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Bedanken Sie sich, signalisieren Sie Bereitschaft fuer das Fachgespraech. Kurz und ruhig. Zeit: 10–15 Sekunden.</a:t>
            </a:r>
            <a:endParaRPr/>
          </a:p>
        </p:txBody>
      </p:sp>
      <p:sp>
        <p:nvSpPr>
          <p:cNvPr id="188" name="Google Shape;18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 Folie zeigen Sie nur, wenn die Kommission tiefer einsteigt. Nicht aktiv praesentieren.</a:t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dcff49c5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dcff49c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Detail-Folie fuer Rueckfragen zur Modellperformance. Confusion Matrix, Residualverteilung, oder Per-Segment-Performance — je nach Aufgabe.</a:t>
            </a:r>
            <a:endParaRPr/>
          </a:p>
        </p:txBody>
      </p:sp>
      <p:sp>
        <p:nvSpPr>
          <p:cNvPr id="207" name="Google Shape;20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Detail-Folie fuer Fragen zur Fairness und Feature-Auswahl. Welche Features wurden ausgeschlossen und warum.</a:t>
            </a:r>
            <a:endParaRPr/>
          </a:p>
        </p:txBody>
      </p:sp>
      <p:sp>
        <p:nvSpPr>
          <p:cNvPr id="215" name="Google Shape;21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Detail-Folie fuer Fragen zum Geschaeftsnutzen. Quellen der Annahmen, Sensitivitaet, Worst-Case-Szenario.</a:t>
            </a:r>
            <a:endParaRPr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540000" y="2023325"/>
            <a:ext cx="108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400">
                <a:solidFill>
                  <a:schemeClr val="dk1"/>
                </a:solidFill>
              </a:rPr>
              <a:t>Prognose des monatlichen Energieverbrauchs und Erkennung von Anomalien</a:t>
            </a:r>
            <a:endParaRPr sz="4400"/>
          </a:p>
        </p:txBody>
      </p:sp>
      <p:sp>
        <p:nvSpPr>
          <p:cNvPr id="86" name="Google Shape;86;p1"/>
          <p:cNvSpPr txBox="1"/>
          <p:nvPr/>
        </p:nvSpPr>
        <p:spPr>
          <a:xfrm>
            <a:off x="540000" y="6039550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Gruppe </a:t>
            </a:r>
            <a:r>
              <a:rPr lang="en-US">
                <a:solidFill>
                  <a:srgbClr val="606060"/>
                </a:solidFill>
              </a:rPr>
              <a:t>6</a:t>
            </a: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lang="en-US">
                <a:solidFill>
                  <a:srgbClr val="606060"/>
                </a:solidFill>
              </a:rPr>
              <a:t>Iana Kraievska</a:t>
            </a: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· [Vorname 2] · [Vorname 3]</a:t>
            </a:r>
            <a:b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IHK-Zertifizierung Data Analyst (IHK)  ·  </a:t>
            </a:r>
            <a:r>
              <a:rPr lang="en-US">
                <a:solidFill>
                  <a:srgbClr val="606060"/>
                </a:solidFill>
              </a:rPr>
              <a:t>1.10.2024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99650" y="4371675"/>
            <a:ext cx="1019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000">
                <a:solidFill>
                  <a:schemeClr val="dk1"/>
                </a:solidFill>
              </a:rPr>
              <a:t>Wie können historische Verbrauchsdaten und weitere Einflussfaktoren genutzt werden, um den monatlichen Energieverbrauch zuverlässig zu prognostizieren und auffällige Abweichungen frühzeitig zu erkennen?</a:t>
            </a:r>
            <a:endParaRPr i="1" sz="2000">
              <a:solidFill>
                <a:schemeClr val="dk1"/>
              </a:solidFill>
            </a:endParaRPr>
          </a:p>
        </p:txBody>
      </p:sp>
      <p:pic>
        <p:nvPicPr>
          <p:cNvPr id="88" name="Google Shape;88;p1" title="sww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050"/>
            <a:ext cx="2297776" cy="2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dcff49c5_0_4"/>
          <p:cNvSpPr txBox="1"/>
          <p:nvPr/>
        </p:nvSpPr>
        <p:spPr>
          <a:xfrm>
            <a:off x="360000" y="288000"/>
            <a:ext cx="288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GESAMTABLAUF</a:t>
            </a:r>
            <a:endParaRPr/>
          </a:p>
        </p:txBody>
      </p:sp>
      <p:sp>
        <p:nvSpPr>
          <p:cNvPr id="95" name="Google Shape;95;g3f8dcff49c5_0_4"/>
          <p:cNvSpPr txBox="1"/>
          <p:nvPr/>
        </p:nvSpPr>
        <p:spPr>
          <a:xfrm>
            <a:off x="360000" y="540000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96" name="Google Shape;96;g3f8dcff49c5_0_4"/>
          <p:cNvSpPr txBox="1"/>
          <p:nvPr/>
        </p:nvSpPr>
        <p:spPr>
          <a:xfrm>
            <a:off x="540000" y="1800000"/>
            <a:ext cx="108000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Ausgangssituation</a:t>
            </a:r>
            <a:r>
              <a:rPr lang="en-US" sz="2200">
                <a:solidFill>
                  <a:srgbClr val="1F2937"/>
                </a:solidFill>
              </a:rPr>
              <a:t>, operative Probleme und Nutzen des Projekts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Char char="●"/>
            </a:pPr>
            <a:r>
              <a:rPr lang="en-US" sz="2200">
                <a:solidFill>
                  <a:srgbClr val="1F2937"/>
                </a:solidFill>
              </a:rPr>
              <a:t>Daten, Quellen und Datenqualität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ML Canvas — Überblick  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Methodik und Modell  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Ergebnisse  </a:t>
            </a:r>
            <a:endParaRPr sz="2200">
              <a:solidFill>
                <a:srgbClr val="1F2937"/>
              </a:solidFill>
            </a:endParaRPr>
          </a:p>
          <a:p>
            <a:pPr indent="-3683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Arial"/>
              <a:buChar char="●"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Empfehlungen und Ausblick  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GESAMTABLAUF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40000" y="144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— Konzept (30 Minuten)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0000" y="1800000"/>
            <a:ext cx="10800000" cy="2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1.  Ausgangssituation und Problem  (3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2.  ML Canvas — Überblick  (5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3.  Daten und Datenqualität  (4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4.  Methodik und Modell  (6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5.  Ergebnisse  (6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6.  Empfehlungen und Ausblick  (3 min)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540000" y="450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2 — Live-Demo (15 Minuten)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540000" y="48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7.  Live-Workflow-Demo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40000" y="558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3 — Fachgespräch (15 min pro Person)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540000" y="594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8.  Individuelles Fachgespräch (im Anschluss, pro Person 15 min)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1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Ausgangssituation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48216" y="1186200"/>
            <a:ext cx="10800000" cy="6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</a:rPr>
              <a:t>•</a:t>
            </a:r>
            <a:r>
              <a:rPr b="1" lang="en-US" sz="2200">
                <a:solidFill>
                  <a:srgbClr val="1F2937"/>
                </a:solidFill>
              </a:rPr>
              <a:t> </a:t>
            </a:r>
            <a:r>
              <a:rPr b="1" i="0" lang="en-US" sz="2200" u="none" cap="none" strike="noStrike">
                <a:solidFill>
                  <a:srgbClr val="1F2937"/>
                </a:solidFill>
              </a:rPr>
              <a:t>Organisation:</a:t>
            </a: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200">
                <a:solidFill>
                  <a:srgbClr val="1F2937"/>
                </a:solidFill>
              </a:rPr>
              <a:t>StadtWerke Westhafen GmbH</a:t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</a:rPr>
              <a:t>•Probleme:</a:t>
            </a: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i="1" lang="en-US" sz="2200">
                <a:solidFill>
                  <a:schemeClr val="dk1"/>
                </a:solidFill>
              </a:rPr>
              <a:t>Ungenaue Prognosen des Stromverbrauchs </a:t>
            </a:r>
            <a:endParaRPr i="1"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                   </a:t>
            </a:r>
            <a:r>
              <a:rPr i="1" lang="en-US" sz="2200">
                <a:solidFill>
                  <a:schemeClr val="dk1"/>
                </a:solidFill>
              </a:rPr>
              <a:t>2. Verspätete Erkennung von Anomalien </a:t>
            </a:r>
            <a:endParaRPr i="1"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2937"/>
                </a:solidFill>
              </a:rPr>
              <a:t>• Folgen: </a:t>
            </a:r>
            <a:r>
              <a:rPr lang="en-US" sz="2200">
                <a:solidFill>
                  <a:srgbClr val="1F2937"/>
                </a:solidFill>
              </a:rPr>
              <a:t> </a:t>
            </a:r>
            <a:r>
              <a:rPr i="1" lang="en-US" sz="2200">
                <a:solidFill>
                  <a:srgbClr val="1F2937"/>
                </a:solidFill>
              </a:rPr>
              <a:t>1. Steigende Beschaffungskosten </a:t>
            </a:r>
            <a:endParaRPr i="1" sz="2200">
              <a:solidFill>
                <a:srgbClr val="1F2937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1F2937"/>
                </a:solidFill>
              </a:rPr>
              <a:t>                  2. Verzögerungen bei der Erkennung technischer Probleme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1F2937"/>
                </a:solidFill>
              </a:rPr>
              <a:t>• Bisherige Analytics-Prozesse: </a:t>
            </a:r>
            <a:r>
              <a:rPr lang="en-US" sz="2200">
                <a:solidFill>
                  <a:srgbClr val="1F2937"/>
                </a:solidFill>
              </a:rPr>
              <a:t>Ein automatisiertes Prognosesystem ist nicht vorhanden. </a:t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2937"/>
                </a:solidFill>
              </a:rPr>
              <a:t>• Projektziel: </a:t>
            </a:r>
            <a:r>
              <a:rPr lang="en-US" sz="2200">
                <a:solidFill>
                  <a:srgbClr val="1F2937"/>
                </a:solidFill>
              </a:rPr>
              <a:t>ML-Modell für Verbrauchsprognose und Anomalieerkennung</a:t>
            </a:r>
            <a:endParaRPr sz="2200">
              <a:solidFill>
                <a:srgbClr val="1F2937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F2937"/>
                </a:solidFill>
              </a:rPr>
              <a:t>• Projektnutzen: </a:t>
            </a:r>
            <a:r>
              <a:rPr lang="en-US" sz="2200">
                <a:solidFill>
                  <a:schemeClr val="dk1"/>
                </a:solidFill>
              </a:rPr>
              <a:t>Datenbasierte Lösung der identifizierten Probleme.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200">
              <a:solidFill>
                <a:srgbClr val="1F2937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1F2937"/>
              </a:solidFill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Tipp: Eine Folie reicht. Vermeiden Sie generische Branchen-Einführungen.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8dcff49c5_0_59"/>
          <p:cNvSpPr txBox="1"/>
          <p:nvPr/>
        </p:nvSpPr>
        <p:spPr>
          <a:xfrm>
            <a:off x="237550" y="141375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Daten</a:t>
            </a:r>
            <a:r>
              <a:rPr b="1" lang="en-US" sz="2800">
                <a:solidFill>
                  <a:srgbClr val="1F2937"/>
                </a:solidFill>
              </a:rPr>
              <a:t>struktur</a:t>
            </a:r>
            <a:endParaRPr sz="2800"/>
          </a:p>
        </p:txBody>
      </p:sp>
      <p:graphicFrame>
        <p:nvGraphicFramePr>
          <p:cNvPr id="124" name="Google Shape;124;g3f8dcff49c5_0_59"/>
          <p:cNvGraphicFramePr/>
          <p:nvPr/>
        </p:nvGraphicFramePr>
        <p:xfrm>
          <a:off x="237538" y="854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{0284BBBA-00FD-412E-86F5-1CDE36F7DADA}</a:tableStyleId>
              </a:tblPr>
              <a:tblGrid>
                <a:gridCol w="3858200"/>
                <a:gridCol w="82257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Kategorie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Merkmale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Identifikation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200"/>
                        <a:t>Zähler-ID, Kunden-ID (700 </a:t>
                      </a: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eindeutige</a:t>
                      </a:r>
                      <a:r>
                        <a:rPr lang="en-US" sz="2200"/>
                        <a:t>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Verbrauch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Verbrauch, Vormonat-, 3-Monats-Durchschnitt-, Vorjahresverbrauch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Wetter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Temperatur, Heiztage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Kalender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2200"/>
                        <a:t>Monat/Jahr (24 </a:t>
                      </a: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eindeutige)</a:t>
                      </a:r>
                      <a:r>
                        <a:rPr lang="en-US" sz="2200"/>
                        <a:t>, Arbeitstage, Feiertage im Monat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Produktion &amp; Betrieb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Produktionsplan index, Wartung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Kunden &amp; Vertrag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Kundentyp, Vertragsleistung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575">
                <a:tc gridSpan="2"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Datensatz vor der Bereinigung:</a:t>
                      </a: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16.830 Zeilen · 16 Spalten · 700 Zähler · 01.2024–12.2025 (24 monate)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</a:tr>
              <a:tr h="409575">
                <a:tc gridSpan="2" vMerge="1"/>
                <a:tc hMerge="1"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b93177103_0_5"/>
          <p:cNvSpPr txBox="1"/>
          <p:nvPr/>
        </p:nvSpPr>
        <p:spPr>
          <a:xfrm>
            <a:off x="237550" y="141375"/>
            <a:ext cx="108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Datenqualität</a:t>
            </a:r>
            <a:endParaRPr sz="2800"/>
          </a:p>
        </p:txBody>
      </p:sp>
      <p:graphicFrame>
        <p:nvGraphicFramePr>
          <p:cNvPr id="131" name="Google Shape;131;g3fb93177103_0_5"/>
          <p:cNvGraphicFramePr/>
          <p:nvPr/>
        </p:nvGraphicFramePr>
        <p:xfrm>
          <a:off x="85775" y="853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{0284BBBA-00FD-412E-86F5-1CDE36F7DADA}</a:tableStyleId>
              </a:tblPr>
              <a:tblGrid>
                <a:gridCol w="5453800"/>
                <a:gridCol w="2260750"/>
                <a:gridCol w="43060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/>
                        <a:t>Problem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/>
                        <a:t>Umfang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-US" sz="2200"/>
                        <a:t>Maßnahme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Duplikate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30 (0,18 %)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Entfernt</a:t>
                      </a:r>
                      <a:endParaRPr b="1"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>
                          <a:solidFill>
                            <a:srgbClr val="1F2937"/>
                          </a:solidFill>
                        </a:rPr>
                        <a:t>Fehlende Werte </a:t>
                      </a: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vorjahr verbrauch_kwh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vormonat_verbrauch_kwh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8.400 (50 %)</a:t>
                      </a:r>
                      <a:endParaRPr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chemeClr val="dk1"/>
                          </a:solidFill>
                        </a:rPr>
                        <a:t>700 (4 %)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Strukturell bedingt → nicht imputiert</a:t>
                      </a:r>
                      <a:endParaRPr sz="2200"/>
                    </a:p>
                  </a:txBody>
                  <a:tcPr marT="76200" marB="7315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Inkonsistente Datumswerte </a:t>
                      </a: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monat</a:t>
                      </a:r>
                      <a:endParaRPr b="1"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kunden_typen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/>
                        <a:t>11.316 (67 %)</a:t>
                      </a:r>
                      <a:endParaRPr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505 (3 %)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200"/>
                        <a:t>Datumsformat und</a:t>
                      </a:r>
                      <a:endParaRPr sz="22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Kategorien vereinheitlicht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2200"/>
                        <a:t>Ausreißer / fehlerhafte Werte </a:t>
                      </a:r>
                      <a:r>
                        <a:rPr lang="en-US" sz="22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endParaRPr sz="22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US" sz="2200"/>
                        <a:t>20 (0,12 %)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Geprüft </a:t>
                      </a:r>
                      <a:endParaRPr sz="22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Datensatz nach der Bereinigung: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16.800 Zeilen · 16 Spalten · 700 Zähler · 01.2024–12.2025 (24 monate)</a:t>
                      </a:r>
                      <a:endParaRPr b="1" sz="19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2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Machine Learning Canvas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540000" y="1440000"/>
            <a:ext cx="10800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Alle 10 Felder kohärent — die wichtigsten 5 hier hervorheben: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540000" y="1980000"/>
            <a:ext cx="54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Value Proposition: [Mehrwert]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Prediction: [Was wird vorhergesagt]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Features: [Welche Variablen tragen]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6120000" y="1980000"/>
            <a:ext cx="54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Learning Approach: [Modelltyp]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Evaluation: [Metrik passt zur Aufgabe]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Decision / Impact: [was passiert mit der Vorhersage]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40000" y="6300000"/>
            <a:ext cx="108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Tipp: Vollständiger Canvas im Bericht — Folie zeigt nur die Highlights.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4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Methodik und Modell</a:t>
            </a:r>
            <a:endParaRPr/>
          </a:p>
        </p:txBody>
      </p:sp>
      <p:sp>
        <p:nvSpPr>
          <p:cNvPr id="150" name="Google Shape;150;p6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Aufgabe: [Klassifikation / Regression / Anomalie]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Modell: [Name + warum diese Wahl]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Train/Test-Split: [Strategie + Begründung]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Feature Engineering: [welche neuen Features, warum]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Hauptmetrik: [eine, mit Begründung — keine Accuracy bei imbalanced]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4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Ergebnisse</a:t>
            </a:r>
            <a:endParaRPr/>
          </a:p>
        </p:txBody>
      </p:sp>
      <p:sp>
        <p:nvSpPr>
          <p:cNvPr id="158" name="Google Shape;158;p7"/>
          <p:cNvSpPr txBox="1"/>
          <p:nvPr/>
        </p:nvSpPr>
        <p:spPr>
          <a:xfrm>
            <a:off x="540000" y="1620000"/>
            <a:ext cx="540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Modell-Performance: [Metrik = Wert]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Baseline-Vergleich: [Naive Baseline = Wert]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Top-3-Treiber: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 1. [Merkmal]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 2. [Merkmal]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  3. [Merkmal]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6300000" y="1620000"/>
            <a:ext cx="5040000" cy="4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[Dashboard-Screenshot oder Hauptvisualisierung hier]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1 · KAPITEL 3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Empfehlungen und Ausblick</a:t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Empfehlung 1: [konkret, mit erwartetem Effekt]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Empfehlung 2: [konkret, mit erwartetem Effekt]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Nächste Schritte zur Umsetzung: [3–4 Schritte]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Persönliches Fazit: [in einem Satz]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Ausblick: [zukünftige Bedeutung für die Organisation]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540000" y="270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Block 2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540000" y="324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Live-Workflow-Demo (15 Minuten)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540000" y="432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Wir zeigen den Workflow live — von der Rohdatei bis zum Modell-Output.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BLOCK 2 · LIVE-DEMO</a:t>
            </a:r>
            <a:endParaRPr/>
          </a:p>
        </p:txBody>
      </p:sp>
      <p:sp>
        <p:nvSpPr>
          <p:cNvPr id="182" name="Google Shape;182;p10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Demo-Ablauf (15 min)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1.  Rohdaten öffnen und Qualität zeigen  (2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2.  Bereinigungspipeline laufen lassen  (3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3.  EDA — die wichtigsten 2 Visualisierungen  (3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4.  Modell trainieren und evaluieren  (4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5.  Dashboard / Ergebnis-Übergabe  (2 min)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6.  Fragen vorab antizipieren  (1 min)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540000" y="612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Tipp: Üben Sie die Demo 3× komplett durch — Live-Demos scheitern an Kleinigkeiten.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/>
        </p:nvSpPr>
        <p:spPr>
          <a:xfrm>
            <a:off x="540000" y="288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Vielen Dank.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540000" y="39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Wir freuen uns auf das Fachgespräch.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/>
        </p:nvSpPr>
        <p:spPr>
          <a:xfrm>
            <a:off x="540000" y="288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540000" y="3960000"/>
            <a:ext cx="108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Detail-Folien für mögliche Rückfragen.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g3f8dcff49c5_0_44"/>
          <p:cNvGraphicFramePr/>
          <p:nvPr/>
        </p:nvGraphicFramePr>
        <p:xfrm>
          <a:off x="334338" y="32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{0284BBBA-00FD-412E-86F5-1CDE36F7DADA}</a:tableStyleId>
              </a:tblPr>
              <a:tblGrid>
                <a:gridCol w="4571225"/>
                <a:gridCol w="1679825"/>
                <a:gridCol w="1577300"/>
                <a:gridCol w="35772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Problem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Anzahl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Anteil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Maßnahme</a:t>
                      </a:r>
                      <a:endParaRPr b="1"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kundentyp</a:t>
                      </a:r>
                      <a:r>
                        <a:rPr lang="en-US" sz="2000"/>
                        <a:t> – Inkonsistenzen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505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Vereinheitlicht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monat</a:t>
                      </a:r>
                      <a:r>
                        <a:rPr lang="en-US" sz="2000"/>
                        <a:t> – Inkonsistenzen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11.316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67,3 %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Datumsformat vereinheitlicht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r>
                        <a:rPr lang="en-US" sz="2000"/>
                        <a:t> – MWh-Werte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672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MWh → kWh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Duplikate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0,2 %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Entfernt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mittlere_temperatur_c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504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Für EDA beibehalten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produktionsplan_index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672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4,0 %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Für EDA beibehalten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vormonat_verbrauch_kwh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700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4,2 %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Strukturell bedingt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letzte_3_monate_durchschnitt_kwh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&lt;0,1 %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Geprüft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vorjahr_monat_verbrauch_kwh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8.400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50</a:t>
                      </a:r>
                      <a:r>
                        <a:rPr lang="en-US" sz="2000"/>
                        <a:t>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Strukturell bedingt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r>
                        <a:rPr lang="en-US" sz="2000"/>
                        <a:t> – fehlend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3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&lt;0,1 %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Post-hoc imputiert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verbrauch_kwh</a:t>
                      </a:r>
                      <a:r>
                        <a:rPr lang="en-US" sz="2000"/>
                        <a:t> – Ausreißer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20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0,1 %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Geprüft </a:t>
                      </a:r>
                      <a:endParaRPr sz="20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Detail-Metriken</a:t>
            </a:r>
            <a:endParaRPr/>
          </a:p>
        </p:txBody>
      </p:sp>
      <p:sp>
        <p:nvSpPr>
          <p:cNvPr id="211" name="Google Shape;211;p13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Confusion Matrix / Residualverteilung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Per-Segment-Performance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Threshold-Analyse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Vergleich mit alternativen Modellen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218" name="Google Shape;218;p14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Ethik-Diskussion</a:t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Welche Features wurden bewusst ausgeschlossen — und warum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Mögliche Fairness-Risiken pro Gruppe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Empfehlung für menschliche Letzt-Entscheidung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Datenschutz und Speicherdauer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360000" y="288000"/>
            <a:ext cx="288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06060"/>
                </a:solidFill>
                <a:latin typeface="Arial"/>
                <a:ea typeface="Arial"/>
                <a:cs typeface="Arial"/>
                <a:sym typeface="Arial"/>
              </a:rPr>
              <a:t>BACKUP</a:t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360000" y="54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Kosten-Annahmen</a:t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540000" y="1620000"/>
            <a:ext cx="10800000" cy="46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Annahmen zum Geschäftsnutzen — Quelle und Sensitivität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Erwarteter ROI bei [Akzeptanzgrad]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Worst-case-Szenario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