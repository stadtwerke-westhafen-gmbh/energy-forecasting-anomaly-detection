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Kette: Nutzen → Entscheidung → Takt → Vorhersage</a:t>
            </a:r>
          </a:p>
          <a:p>
            <a:r>
              <a:rPr b="0"/>
              <a:t>• nur Vorab-Wissen, bewusst weggelassen</a:t>
            </a:r>
          </a:p>
          <a:p>
            <a:r>
              <a:rPr b="0"/>
              <a:t>• RMSE in kWh = Planungseinheit</a:t>
            </a:r>
          </a:p>
          <a:p>
            <a:r>
              <a:rPr b="0"/>
              <a:t>• −15,9 % · 9,5/Monat · Euro misst der Pilot</a:t>
            </a:r>
          </a:p>
          <a:p>
            <a:r>
              <a:rPr b="0"/>
              <a:t/>
            </a:r>
          </a:p>
          <a:p>
            <a:r>
              <a:rPr b="1"/>
              <a:t>SPRECHTEXT</a:t>
            </a:r>
          </a:p>
          <a:p>
            <a:r>
              <a:rPr b="0"/>
              <a:t>Danke, Iana. Ich zeige jetzt, wie daraus ein Modell wird. Zuerst als Canvas, alle zehn Felder, in der Reihenfolge, in der sie sich bedingen.</a:t>
            </a:r>
          </a:p>
          <a:p>
            <a:r>
              <a:rPr b="0"/>
              <a:t>Oben der Nutzen: weniger Ausgleich am Spotmarkt, und Auffälliges monatlich statt erst im Quartal prüfen. Daraus folgen zwei Entscheidungen: Die Prognose geht an die Beschaffung, ein Prüfhinweis an das Netzmanagement. Also zwei Takte, vor Monatsbeginn und nach Monatsende. Damit ist die Vorhersage klar: eine Regression, der Folgemonat je Zähler.</a:t>
            </a:r>
          </a:p>
          <a:p>
            <a:r>
              <a:rPr b="0"/>
              <a:t>Zweite Zeile, das Modell: nur Wissen, das vor Monatsbeginn vorliegt. Den Vorjahreswert, die Temperatur und die gelieferte Anomalie-Spalte lassen wir bewusst weg. Die Daten sind Monatswerte von 700 Zählern. Ein Random Forest tritt gegen eine lineare Referenz an; eine Klassifikation geht noch nicht, weil bestätigte Labels fehlen. Gemessen wird der RMSE in Kilowattstunden, der Einheit, in der die Beschaffung plant.</a:t>
            </a:r>
          </a:p>
          <a:p>
            <a:r>
              <a:rPr b="0"/>
              <a:t>Unten, was ankommt: im Test 2025 15,9 Prozent weniger Fehler als die beste einfache Regel [Pause] und rund zehn Prüfhinweise im Monat. [Pause] Euro haben wir nicht beziffert, das misst der Pilot. Und neu trainiert wird nur bei belegter Verschlechterung.</a:t>
            </a:r>
          </a:p>
          <a:p>
            <a:r>
              <a:rPr b="0"/>
              <a:t/>
            </a:r>
          </a:p>
          <a:p>
            <a:r>
              <a:rPr b="1"/>
              <a:t>SO LIEST DU DIE FOLIE</a:t>
            </a:r>
          </a:p>
          <a:p>
            <a:r>
              <a:rPr b="0"/>
              <a:t>• Lesefolge wie ein Z: oben der Nutzen und was mit der Vorhersage passiert, Mitte womit gelernt und gemessen wird, unten Wirkung und Wartung; der Pfeil unten rechts führt zurück zum Mehrwert.</a:t>
            </a:r>
          </a:p>
          <a:p>
            <a:r>
              <a:rPr b="0"/>
              <a:t>• Türkis umrandet sind die ML-Felder (meine Verantwortung laut Bericht Tab. 1). „← Iana“ heißt: schon gezeigt, „→ Patrick“: kommt gleich in den Ergebnissen und Empfehlungen.</a:t>
            </a:r>
          </a:p>
          <a:p>
            <a:r>
              <a:rPr b="0"/>
              <a:t>• Die Kurzfassungen stimmen inhaltlich mit Tabelle A1 im Bericht überein; der Wortlaut steht auf Backup B1.</a:t>
            </a:r>
          </a:p>
          <a:p>
            <a:r>
              <a:rPr b="0"/>
              <a:t/>
            </a:r>
          </a:p>
          <a:p>
            <a:r>
              <a:rPr b="1"/>
              <a:t>FALLS GEFRAGT WIRD</a:t>
            </a:r>
          </a:p>
          <a:p>
            <a:r>
              <a:rPr b="1"/>
              <a:t>• Warum zeigen Sie alle zehn Felder, obwohl die Vorlage fünf empfiehlt? </a:t>
            </a:r>
            <a:r>
              <a:rPr b="0"/>
              <a:t>Der Canvas ist die Klammer unseres Vorgehens. Die sechs ML-Felder sind hervorgehoben, die übrigen vier stehen je in zwei Zeilen. Der Wortlaut entspricht Tabelle A1 im Bericht (Backup B1).</a:t>
            </a:r>
          </a:p>
          <a:p>
            <a:r>
              <a:rPr b="1"/>
              <a:t>• Warum Regression und keine Klassifikation? </a:t>
            </a:r>
            <a:r>
              <a:rPr b="0"/>
              <a:t>Es gibt keine bestätigten Anomalie-Labels. Deshalb lernen wir den erwarteten Verbrauch und leiten Auffälligkeiten aus dem Fehler ab. Mit gesammelten Bewertungen wird später eine Klassifikation möglich.</a:t>
            </a:r>
          </a:p>
          <a:p>
            <a:r>
              <a:rPr b="1"/>
              <a:t>• Welche Merkmale wurden bewusst weggelassen? </a:t>
            </a:r>
            <a:r>
              <a:rPr b="0"/>
              <a:t>Der Vorjahreswert (keine Historie aus 2023), die Temperatur (nahezu redundant zu den Heizgradtagen), die Spalte „anomalie“ (geliefertes Kennzeichen, kein bestätigtes Label) und die Vertragsleistung als Merkmal (sie dient nur zur Umrechnung).</a:t>
            </a:r>
          </a:p>
          <a:p>
            <a:r>
              <a:rPr b="1"/>
              <a:t>• Welches Feld war am schwersten? </a:t>
            </a:r>
            <a:r>
              <a:rPr b="0"/>
              <a:t>Impact. Es gibt keine Preis- oder Prüfkostendaten und keine Labels. Deshalb nennen wir nur Belegtes (−15,9 %, 9,5 pro Monat) und lassen die Euro-Werte im Pilot messen.</a:t>
            </a:r>
          </a:p>
          <a:p>
            <a:r>
              <a:rPr b="1"/>
              <a:t>• Was ist Precision@K? </a:t>
            </a:r>
            <a:r>
              <a:rPr b="0"/>
              <a:t>Der Anteil fachlich bestätigter Fälle unter den K obersten Hinweisen. Bei uns ist K die Prüfliste mit rund 9,5 Fällen pro Monat; die Kennzahl entspricht der Bestätigungsquote.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Spotmarkt: verkaufen oder zukaufen</a:t>
            </a:r>
          </a:p>
          <a:p>
            <a:r>
              <a:rPr b="0"/>
              <a:t>• Fehlalarm = Prüfzeit, übersehen = Quartal</a:t>
            </a:r>
          </a:p>
          <a:p>
            <a:r>
              <a:rPr b="0"/>
              <a:t>• Schwelle steuert den Zielkonflikt</a:t>
            </a:r>
          </a:p>
          <a:p>
            <a:r>
              <a:rPr b="0"/>
              <a:t/>
            </a:r>
          </a:p>
          <a:p>
            <a:r>
              <a:rPr b="1"/>
              <a:t>SPRECHTEXT</a:t>
            </a:r>
          </a:p>
          <a:p>
            <a:r>
              <a:rPr b="0"/>
              <a:t>Was kostet es, wenn wir falsch liegen? Liegt die Prognose daneben, gleicht die Beschaffung am Spotmarkt aus: Überschuss verkaufen oder Fehlmenge zukaufen. Deshalb bestraft unsere Hauptmetrik große Fehler stärker.</a:t>
            </a:r>
          </a:p>
          <a:p>
            <a:r>
              <a:rPr b="0"/>
              <a:t>Bei den Hinweisen kostet ein Fehlalarm Prüfzeit; ein übersehener Fall fällt wie heute erst im Quartal auf. Den Zielkonflikt steuert die Schwelle: 9,5 statt 33 Fälle im Monat. [Pause] Euro misst erst der Pilot.</a:t>
            </a:r>
          </a:p>
          <a:p>
            <a:r>
              <a:rPr b="0"/>
              <a:t/>
            </a:r>
          </a:p>
          <a:p>
            <a:r>
              <a:rPr b="1"/>
              <a:t>SO LIEST DU DIE FOLIE</a:t>
            </a:r>
          </a:p>
          <a:p>
            <a:r>
              <a:rPr b="0"/>
              <a:t>• Oben: Mehrwert und Impact werden in denselben Einheiten gemessen (kWh, Fälle pro Monat, Prüfstunden), so verlangt es die Canvas-Vorlage.</a:t>
            </a:r>
          </a:p>
          <a:p>
            <a:r>
              <a:rPr b="0"/>
              <a:t>• Die Matrix zeigt je Stufe beide Fehlerrichtungen und den Hebel, den wir im Projekt dagegen haben.</a:t>
            </a:r>
          </a:p>
          <a:p>
            <a:r>
              <a:rPr b="0"/>
              <a:t/>
            </a:r>
          </a:p>
          <a:p>
            <a:r>
              <a:rPr b="1"/>
              <a:t>FALLS GEFRAGT WIRD</a:t>
            </a:r>
          </a:p>
          <a:p>
            <a:r>
              <a:rPr b="1"/>
              <a:t>• Wenn das Modell falsch liegt, wer ist betroffen? </a:t>
            </a:r>
            <a:r>
              <a:rPr b="0"/>
              <a:t>Bei einer Fehlprognose die Beschaffung (Stefan Lechtenberg) über den Spotmarkt-Ausgleich. Bei einem Fehlalarm oder einem übersehenen Fall das Netzmanagement (Anke Bürger): Prüfzeit oder späte Erkennung.</a:t>
            </a:r>
          </a:p>
          <a:p>
            <a:r>
              <a:rPr b="1"/>
              <a:t>• Was brächte es, wenn es morgen produktiv ginge? </a:t>
            </a:r>
            <a:r>
              <a:rPr b="0"/>
              <a:t>Belegt sind 15,9 % weniger RMSE, im Mittel 1.734 kWh je Zähler-Monat, und etwa 9,5 priorisierte Fälle pro Monat statt einer Quartalsauswertung. In Euro ist das nicht beziffert, deshalb zuerst ein Schattenbetrieb.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Hook: 23.563 statt 7.304 kWh</a:t>
            </a:r>
          </a:p>
          <a:p>
            <a:r>
              <a:rPr b="0"/>
              <a:t>• bisher Quartal, neu nach Monatsende</a:t>
            </a:r>
          </a:p>
          <a:p>
            <a:r>
              <a:rPr b="0"/>
              <a:t>• 6 Schritte, zwei Takte</a:t>
            </a:r>
          </a:p>
          <a:p>
            <a:r>
              <a:rPr b="0"/>
              <a:t/>
            </a:r>
          </a:p>
          <a:p>
            <a:r>
              <a:rPr b="1"/>
              <a:t>SPRECHTEXT</a:t>
            </a:r>
          </a:p>
          <a:p>
            <a:r>
              <a:rPr b="0"/>
              <a:t>Ein echter Fall: Zähler ZL-00147, August 2025. Gemessen 23.563 Kilowattstunden, erwartet gut 7.300, mehr als das Dreifache. [Pause] Bisher fiele das erst in der Quartalsauswertung auf.</a:t>
            </a:r>
          </a:p>
          <a:p>
            <a:r>
              <a:rPr b="0"/>
              <a:t>Unser Weg zum Hinweis hat sechs Schritte: Vor Monatsbeginn schätzt das Modell aus der Vergangenheit den Verbrauch, zurückgerechnet in Kilowattstunden, für die Beschaffung. Nach Monatsende vergleichen wir mit dem Istwert, und nur über der Schwelle prüft ein Mensch.</a:t>
            </a:r>
          </a:p>
          <a:p>
            <a:r>
              <a:rPr b="0"/>
              <a:t/>
            </a:r>
          </a:p>
          <a:p>
            <a:r>
              <a:rPr b="1"/>
              <a:t>SO LIEST DU DIE FOLIE</a:t>
            </a:r>
          </a:p>
          <a:p>
            <a:r>
              <a:rPr b="0"/>
              <a:t>• Links der Einstieg mit einem echten Fall, den wir am Ende auflösen. Rechts der rote Faden; er steht ab jetzt als Scheiben oben rechts auf jeder Methodenfolie.</a:t>
            </a:r>
          </a:p>
          <a:p>
            <a:r>
              <a:rPr b="0"/>
              <a:t>• Zwischen Schritt 3 und 4 läuft der Monat: Prognose und Prüfung sind zwei getrennte Zeitpunkte.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nie aus der Zukunft lernen = kein Leakage</a:t>
            </a:r>
          </a:p>
          <a:p>
            <a:r>
              <a:rPr b="0"/>
              <a:t>• 3 Folds, Bewertung immer danach</a:t>
            </a:r>
          </a:p>
          <a:p>
            <a:r>
              <a:rPr b="0"/>
              <a:t>• Nov–Dez Schwelle, dann eingefroren</a:t>
            </a:r>
          </a:p>
          <a:p>
            <a:r>
              <a:rPr b="0"/>
              <a:t>• 3-Monats-Mittel neu berechnet</a:t>
            </a:r>
          </a:p>
          <a:p>
            <a:r>
              <a:rPr b="0"/>
              <a:t/>
            </a:r>
          </a:p>
          <a:p>
            <a:r>
              <a:rPr b="1"/>
              <a:t>SPRECHTEXT</a:t>
            </a:r>
          </a:p>
          <a:p>
            <a:r>
              <a:rPr b="0"/>
              <a:t>Die wichtigste Regel: Das Modell darf nie aus der Zukunft lernen. Das nennt man Leakage. Deshalb prüfen wir in drei Durchläufen, sogenannten Folds: Jede Zeile ist ein Durchlauf, hellblau lernt das Modell, dunkelblau wird es bewertet, immer danach.</a:t>
            </a:r>
          </a:p>
          <a:p>
            <a:r>
              <a:rPr b="0"/>
              <a:t>November und Dezember legen die Schwelle fest, dann ist alles eingefroren. Das gewählte Modell lernt auf ganz 2024 und wird unverändert auf 2025 angewendet. Übrigens: Das gelieferte 3-Monats-Mittel enthielt spätere Werte; wir haben es je Zähler neu berechnet.</a:t>
            </a:r>
          </a:p>
          <a:p>
            <a:r>
              <a:rPr b="0"/>
              <a:t/>
            </a:r>
          </a:p>
          <a:p>
            <a:r>
              <a:rPr b="1"/>
              <a:t>SO LIEST DU DIE FOLIE</a:t>
            </a:r>
          </a:p>
          <a:p>
            <a:r>
              <a:rPr b="0"/>
              <a:t>• Jede Zeile ist ein Durchlauf. Hellblau = Training, dunkelblau = Bewertung, amber = Kalibrierung der Schwelle, türkis = Anwendung auf 2025. Das Schloss markiert den Stichtag: danach wird nichts mehr verändert.</a:t>
            </a:r>
          </a:p>
          <a:p>
            <a:r>
              <a:rPr b="0"/>
              <a:t>• Kalibrierung: 1.397 rollierend erzeugte Fehler, November mit einem Modell aus Januar bis Oktober, Dezember mit einem Modell aus Januar bis November.</a:t>
            </a:r>
          </a:p>
          <a:p>
            <a:r>
              <a:rPr b="0"/>
              <a:t>• Unten die bewusst weggelassenen Merkmale, wie es die Canvas-Vorlage (Feld 4) verlangt.</a:t>
            </a:r>
          </a:p>
          <a:p>
            <a:r>
              <a:rPr b="0"/>
              <a:t/>
            </a:r>
          </a:p>
          <a:p>
            <a:r>
              <a:rPr b="1"/>
              <a:t>FALLS GEFRAGT WIRD</a:t>
            </a:r>
          </a:p>
          <a:p>
            <a:r>
              <a:rPr b="1"/>
              <a:t>• Was ist Leakage? </a:t>
            </a:r>
            <a:r>
              <a:rPr b="0"/>
              <a:t>Wenn das Modell beim Lernen Informationen erhält, die bei der echten Prognose noch nicht verfügbar wären, zum Beispiel spätere Monate oder einen Median über alle Daten. Bei uns steckte das im gelieferten 3-Monats-Mittel.</a:t>
            </a:r>
          </a:p>
          <a:p>
            <a:r>
              <a:rPr b="1"/>
              <a:t>• Nutzt ihr echtes Wetter des Prognosemonats? </a:t>
            </a:r>
            <a:r>
              <a:rPr b="0"/>
              <a:t>Ja, vereinfachend: Die Heizgradtage des Monats stehen stellvertretend für eine Wetterprognose. Das ist leicht optimistisch, der Effekt ist aber klein (Permutation +154 kWh RMSE laut Bericht). Im Betrieb muss hier die Prognose stehen.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92 % Streuung zwischen Zählern</a:t>
            </a:r>
          </a:p>
          <a:p>
            <a:r>
              <a:rPr b="0"/>
              <a:t>• Hotel: Auslastung statt Gästezahl</a:t>
            </a:r>
          </a:p>
          <a:p>
            <a:r>
              <a:rPr b="0"/>
              <a:t>• zurück in kWh · −6,2 %</a:t>
            </a:r>
          </a:p>
          <a:p>
            <a:r>
              <a:rPr b="0"/>
              <a:t/>
            </a:r>
          </a:p>
          <a:p>
            <a:r>
              <a:rPr b="1"/>
              <a:t>SPRECHTEXT</a:t>
            </a:r>
          </a:p>
          <a:p>
            <a:r>
              <a:rPr b="0"/>
              <a:t>Was soll das Modell lernen? Unsere Zähler sind sehr unterschiedlich groß: 92 Prozent der Streuung liegen zwischen den Zählern. Deshalb teilen wir durch die Vertragsleistung, wie ein Hotel die Auslastung vergleicht und nicht die Gästezahl.</a:t>
            </a:r>
          </a:p>
          <a:p>
            <a:r>
              <a:rPr b="0"/>
              <a:t>Für die Beschaffung rechnen wir zurück in Kilowattstunden. Im Testjahr ist der Fehler so 6,2 Prozent kleiner als bei einem direkt auf Kilowattstunden trainierten Modell.</a:t>
            </a:r>
          </a:p>
          <a:p>
            <a:r>
              <a:rPr b="0"/>
              <a:t/>
            </a:r>
          </a:p>
          <a:p>
            <a:r>
              <a:rPr b="1"/>
              <a:t>SO LIEST DU DIE FOLIE</a:t>
            </a:r>
          </a:p>
          <a:p>
            <a:r>
              <a:rPr b="0"/>
              <a:t>• Rechts oben: 10.000 kWh bei 50 kW und 40.000 kWh bei 200 kW ergeben beide 200 Vollaststunden.</a:t>
            </a:r>
          </a:p>
          <a:p>
            <a:r>
              <a:rPr b="0"/>
              <a:t>• VLS sind eine Normierung, keine gemessene Laufzeit. Das Ergebnis −6,2 % gilt für unsere Daten, nicht allgemein.</a:t>
            </a:r>
          </a:p>
          <a:p>
            <a:r>
              <a:rPr b="0"/>
              <a:t/>
            </a:r>
          </a:p>
          <a:p>
            <a:r>
              <a:rPr b="1"/>
              <a:t>FALLS GEFRAGT WIRD</a:t>
            </a:r>
          </a:p>
          <a:p>
            <a:r>
              <a:rPr b="1"/>
              <a:t>• Heißt 200 VLS, dass die Anlage 200 Stunden unter Volllast lief? </a:t>
            </a:r>
            <a:r>
              <a:rPr b="0"/>
              <a:t>Nein. Es ist eine rechnerische Normierung (kWh ÷ kW) und keine gemessene Laufzeit.</a:t>
            </a:r>
          </a:p>
          <a:p>
            <a:r>
              <a:rPr b="1"/>
              <a:t>• Welcher Kundentyp ist am schwersten zu prognostizieren? </a:t>
            </a:r>
            <a:r>
              <a:rPr b="0"/>
              <a:t>Nicht segmentiert ausgewertet. Nach der Normierung liegen die Mediane bei 160–173 VLS-h, und der Kundentyp bringt nur rund 3 kWh (Permutation, Bericht). Eine Auswertung je Kundentyp gehört in den Pilot.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RMSE: große Fehler zählen stärker</a:t>
            </a:r>
          </a:p>
          <a:p>
            <a:r>
              <a:rPr b="0"/>
              <a:t>• RF nur 2,7 % vor LR → zweite Prüfung</a:t>
            </a:r>
          </a:p>
          <a:p>
            <a:r>
              <a:rPr b="0"/>
              <a:t>• −15,9 % im Test</a:t>
            </a:r>
          </a:p>
          <a:p>
            <a:r>
              <a:rPr b="0"/>
              <a:t>• Treiber: Historie, Plan, Wartung</a:t>
            </a:r>
          </a:p>
          <a:p>
            <a:r>
              <a:rPr b="0"/>
              <a:t/>
            </a:r>
          </a:p>
          <a:p>
            <a:r>
              <a:rPr b="1"/>
              <a:t>SPRECHTEXT</a:t>
            </a:r>
          </a:p>
          <a:p>
            <a:r>
              <a:rPr b="0"/>
              <a:t>Gemessen wird mit dem RMSE, dem typischen Fehler in Kilowattstunden; große Fehler zählen stärker. Kleiner ist besser, beide Diagramme haben dieselbe Skala.</a:t>
            </a:r>
          </a:p>
          <a:p>
            <a:r>
              <a:rPr b="0"/>
              <a:t>Links die Auswahl 2024: Balken sind Mittelwerte, Rauten die einzelnen Folds. Der Random Forest liegt vorn, aber nur 2,7 Prozent vor der linearen Regression. Deshalb prüfen wir ein zweites Mal im Testjahr 2025.</a:t>
            </a:r>
          </a:p>
          <a:p>
            <a:r>
              <a:rPr b="0"/>
              <a:t>Dort bleibt er vorn: 15,9 Prozent weniger Fehler als die beste einfache Regel. [Pause] Am meisten nutzt er die Verbrauchshistorie, mit großem Abstand vor Produktionsplan und Wartung.</a:t>
            </a:r>
          </a:p>
          <a:p>
            <a:r>
              <a:rPr b="0"/>
              <a:t/>
            </a:r>
          </a:p>
          <a:p>
            <a:r>
              <a:rPr b="1"/>
              <a:t>SO LIEST DU DIE FOLIE</a:t>
            </a:r>
          </a:p>
          <a:p>
            <a:r>
              <a:rPr b="0"/>
              <a:t>• Rauten: Fold 1 amber (Mai–Jun), Fold 2 blau (Jul–Aug), Fold 3 grün (Sep–Okt). Der Strich zeigt ±1 Standardabweichung, kein Konfidenzintervall.</a:t>
            </a:r>
          </a:p>
          <a:p>
            <a:r>
              <a:rPr b="0"/>
              <a:t>• Die Treiberwerte stammen aus dem Bericht (Tab. D1, fünf Wiederholungen); Notebook 13 zeigt mit drei Wiederholungen dieselbe Rangfolge.</a:t>
            </a:r>
          </a:p>
          <a:p>
            <a:r>
              <a:rPr b="0"/>
              <a:t/>
            </a:r>
          </a:p>
          <a:p>
            <a:r>
              <a:rPr b="1"/>
              <a:t>FALLS GEFRAGT WIRD</a:t>
            </a:r>
          </a:p>
          <a:p>
            <a:r>
              <a:rPr b="1"/>
              <a:t>• Warum nicht die lineare Regression, wenn sie fast gleich gut ist? </a:t>
            </a:r>
            <a:r>
              <a:rPr b="0"/>
              <a:t>Sie ist unsere erklärbare Referenz und ein guter Fallback. Der Random Forest gewinnt die zeitliche Validierung und bleibt 2025 vorn (9.188 vs. 9.414 kWh). Der Abstand ist klein, das sagen wir offen.</a:t>
            </a:r>
          </a:p>
          <a:p>
            <a:r>
              <a:rPr b="1"/>
              <a:t>• Warum kein Gradient Boosting, wie im Auftrag vorgeschlagen? </a:t>
            </a:r>
            <a:r>
              <a:rPr b="0"/>
              <a:t>Nicht getestet. Wir haben die Zeit in zeitliche Validierung und Kalibrierung gesteckt. Der Abstand RF zu LR beträgt nur 2,7 %; der eigentliche Gewinn liegt gegenüber den Baselines. Gradient Boosting wäre ein Kandidat für den Pilot.</a:t>
            </a:r>
          </a:p>
          <a:p>
            <a:r>
              <a:rPr b="1"/>
              <a:t>• Warum ist der Test-RMSE kleiner als der CV-RMSE? </a:t>
            </a:r>
            <a:r>
              <a:rPr b="0"/>
              <a:t>Auch die einfachen Regeln, die gar nicht trainiert werden, sind 2025 rund 30 % besser. Der Unterschied liegt vor allem an den bewerteten Monaten: Die Folds prüfen Mai bis Oktober 2024, der Test das ganze Jahr 2025.</a:t>
            </a:r>
          </a:p>
          <a:p>
            <a:r>
              <a:rPr b="1"/>
              <a:t>• Welche Monate haben die größten Restfehler? </a:t>
            </a:r>
            <a:r>
              <a:rPr b="0"/>
              <a:t>In den Folds 2024 Fold 1 (Mai–Jun) mit 17.538 kWh, Fold 2 8.223 kWh, Fold 3 14.056 kWh. Bei den Hinweisen 2025 die meisten im Juni (16), die wenigsten im November (4).</a:t>
            </a:r>
          </a:p>
          <a:p>
            <a:r>
              <a:rPr b="1"/>
              <a:t>• Ist das Modell overfitted? </a:t>
            </a:r>
            <a:r>
              <a:rPr b="0"/>
              <a:t>Es gibt kein klares Signal: begrenzte Baumtiefe, zeitliche Folds und ein gutes Testjahr. Endgültig ausschließen lässt es sich erst mit weiterem Betrieb.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Fehler ÷ kW</a:t>
            </a:r>
          </a:p>
          <a:p>
            <a:r>
              <a:rPr b="0"/>
              <a:t>• 99 von 100 kleiner als 144</a:t>
            </a:r>
          </a:p>
          <a:p>
            <a:r>
              <a:rPr b="0"/>
              <a:t>• |F| ≥ 1 → Hinweis</a:t>
            </a:r>
          </a:p>
          <a:p>
            <a:r>
              <a:rPr b="0"/>
              <a:t>• Hinweis ≠ Anomalie</a:t>
            </a:r>
          </a:p>
          <a:p>
            <a:r>
              <a:rPr b="0"/>
              <a:t/>
            </a:r>
          </a:p>
          <a:p>
            <a:r>
              <a:rPr b="1"/>
              <a:t>SPRECHTEXT</a:t>
            </a:r>
          </a:p>
          <a:p>
            <a:r>
              <a:rPr b="0"/>
              <a:t>Jetzt die zweite Stufe. Nach Monatsende bilden wir den Fehler und teilen ihn durch die Vertragsleistung. Ab wann ist er zu groß?</a:t>
            </a:r>
          </a:p>
          <a:p>
            <a:r>
              <a:rPr b="0"/>
              <a:t>Wir haben 1.397 Vorwärtsfehler aus November und Dezember sortiert. 99 von 100 waren kleiner als rund 144 Vollaststunden; das ist unsere Grenze. [Pause] Der Faktor teilt einen neuen Fehler durch diese Grenze: über plus eins oder unter minus eins entsteht ein Prüfhinweis.</a:t>
            </a:r>
          </a:p>
          <a:p>
            <a:r>
              <a:rPr b="0"/>
              <a:t>Ein Prüfhinweis ist noch keine Anomalie. Das Modell ersetzt keine Entscheidung, es markiert nur, was eine Prüfung wert ist.</a:t>
            </a:r>
          </a:p>
          <a:p>
            <a:r>
              <a:rPr b="0"/>
              <a:t/>
            </a:r>
          </a:p>
          <a:p>
            <a:r>
              <a:rPr b="1"/>
              <a:t>SO LIEST DU DIE FOLIE</a:t>
            </a:r>
          </a:p>
          <a:p>
            <a:r>
              <a:rPr b="0"/>
              <a:t>• x-Achse: Rang des Fehlers von klein nach groß. y-Achse: Fehlerbetrag in VLS-h. Links viele kleine Fehler, rechts wenige große.</a:t>
            </a:r>
          </a:p>
          <a:p>
            <a:r>
              <a:rPr b="0"/>
              <a:t>• In kWh bekommt jeder Zähler seine eigene Grenze: q99 × kW, zum Beispiel 49 kW → ± 7.073 kWh.</a:t>
            </a:r>
          </a:p>
          <a:p>
            <a:r>
              <a:rPr b="0"/>
              <a:t>• Die Schwelle 144,3547 entsteht durch lineare Interpolation zwischen Rang 1.383 und 1.384 (NumPy-Quantil); sie ist kein echter Zeilenwert.</a:t>
            </a:r>
          </a:p>
          <a:p>
            <a:r>
              <a:rPr b="0"/>
              <a:t/>
            </a:r>
          </a:p>
          <a:p>
            <a:r>
              <a:rPr b="1"/>
              <a:t>FALLS GEFRAGT WIRD</a:t>
            </a:r>
          </a:p>
          <a:p>
            <a:r>
              <a:rPr b="1"/>
              <a:t>• Woher kommen die 1.397 Fehler? </a:t>
            </a:r>
            <a:r>
              <a:rPr b="0"/>
              <a:t>Aus rollierend erzeugten Prognosen: November 2024 mit einem Modell aus Januar bis Oktober, Dezember mit einem Modell aus Januar bis November. Es sind echte Vorwärtsfehler, keine Trainingsfehler.</a:t>
            </a:r>
          </a:p>
          <a:p>
            <a:r>
              <a:rPr b="1"/>
              <a:t>• Warum kein Isolation Forest oder eine andere unüberwachte Anomalie-Erkennung? </a:t>
            </a:r>
            <a:r>
              <a:rPr b="0"/>
              <a:t>Der Auftrag verlangt Anomalien auf Basis der Residuen. Unser Vergleich mit einem Erwartungswert berücksichtigt Produktion, Wartung und Saison, und der Faktor ist direkt erklärbar. Einen Isolation Forest haben wir nicht verglichen.</a:t>
            </a:r>
          </a:p>
          <a:p>
            <a:r>
              <a:rPr b="1"/>
              <a:t>• Ist das eine bestätigte Anomalie? </a:t>
            </a:r>
            <a:r>
              <a:rPr b="0"/>
              <a:t>Nein. Ein Prüfhinweis ist eine ungewöhnliche Modellabweichung. Erst die fachliche Prüfung bestätigt oder verwirft sie.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vor dem Testjahr, wie im Betrieb</a:t>
            </a:r>
          </a:p>
          <a:p>
            <a:r>
              <a:rPr b="0"/>
              <a:t>• eingefroren, nur Entscheidungsgrenze</a:t>
            </a:r>
          </a:p>
          <a:p>
            <a:r>
              <a:rPr b="0"/>
              <a:t>• 2025-Schwelle 175 = Leakage</a:t>
            </a:r>
          </a:p>
          <a:p>
            <a:r>
              <a:rPr b="0"/>
              <a:t>• Median gleich, Extreme größer</a:t>
            </a:r>
          </a:p>
          <a:p>
            <a:r>
              <a:rPr b="0"/>
              <a:t/>
            </a:r>
          </a:p>
          <a:p>
            <a:r>
              <a:rPr b="1"/>
              <a:t>SPRECHTEXT</a:t>
            </a:r>
          </a:p>
          <a:p>
            <a:r>
              <a:rPr b="0"/>
              <a:t>Warum steht die Schwelle schon Ende 2024 fest? Weil sie vor dem Testjahr feststehen muss, genau wie im Betrieb vor dem nächsten Monat. Danach ist sie eingefroren und ändert weder Modell noch Prognose.</a:t>
            </a:r>
          </a:p>
          <a:p>
            <a:r>
              <a:rPr b="0"/>
              <a:t>Hätten wir sie nachträglich aus 2025 berechnet, läge sie bei 175 statt 144. Das wäre Leakage. Die typischen Fehler sind gleich groß, nur die Ausreißer sind 2025 größer, deshalb 1,36 statt 1 Prozent.</a:t>
            </a:r>
          </a:p>
          <a:p>
            <a:r>
              <a:rPr b="0"/>
              <a:t/>
            </a:r>
          </a:p>
          <a:p>
            <a:r>
              <a:rPr b="1"/>
              <a:t>SO LIEST DU DIE FOLIE</a:t>
            </a:r>
          </a:p>
          <a:p>
            <a:r>
              <a:rPr b="0"/>
              <a:t>• Kalibrieren heißt hier: die Entscheidungsgrenze festlegen. Es wird dabei nichts trainiert, und die Prognosen bleiben identisch.</a:t>
            </a:r>
          </a:p>
          <a:p>
            <a:r>
              <a:rPr b="0"/>
              <a:t>• Die gestrichelte Vergleichsschwelle (175,1 VLS-h) ist nur eine nachträgliche Einordnung und wurde für keine Entscheidung verwendet.</a:t>
            </a:r>
          </a:p>
          <a:p>
            <a:r>
              <a:rPr b="0"/>
              <a:t/>
            </a:r>
          </a:p>
          <a:p>
            <a:r>
              <a:rPr b="1"/>
              <a:t>FALLS GEFRAGT WIRD</a:t>
            </a:r>
          </a:p>
          <a:p>
            <a:r>
              <a:rPr b="1"/>
              <a:t>• Wird die Schwelle für 2025 angepasst? </a:t>
            </a:r>
            <a:r>
              <a:rPr b="0"/>
              <a:t>Nein, sie bleibt bei 144,4 VLS-h. Anders ist nur die Fehlerverteilung 2025: deshalb 1,36 % statt genau 1 %.</a:t>
            </a:r>
          </a:p>
          <a:p>
            <a:r>
              <a:rPr b="1"/>
              <a:t>• Sind zwei Wintermonate repräsentativ? </a:t>
            </a:r>
            <a:r>
              <a:rPr b="0"/>
              <a:t>Das ist die bekannte Grenze. Die typischen Fehler 2025 sind gleich groß, die Extreme größer. Im Betrieb würden wir quartalsweise überprüfen und erst bei belegter Abweichung neu kalibrieren, zum Beispiel auf den letzten zwölf Monaten.</a:t>
            </a:r>
          </a:p>
          <a:p>
            <a:r>
              <a:rPr b="1"/>
              <a:t>• Würden Sie ein Canvas-Feld heute anders schreiben? </a:t>
            </a:r>
            <a:r>
              <a:rPr b="0"/>
              <a:t>Ja, Monitoring: mit einem konkreten Auslöser, etwa „Retraining prüfen, wenn der RMSE mehrere Monate über dem Testniveau von 9.188 kWh liegt“. Das ist ein Vorschlag, der den Bericht präzisiert, und noch nicht getestet.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Punkt = Zähler-Monat, Diagonale = perfekt</a:t>
            </a:r>
          </a:p>
          <a:p>
            <a:r>
              <a:rPr b="0"/>
              <a:t>• 9,5 pro Monat, rund 2 pro Woche</a:t>
            </a:r>
          </a:p>
          <a:p>
            <a:r>
              <a:rPr b="0"/>
              <a:t>• q95 = 33 → Fachbereich entscheidet</a:t>
            </a:r>
          </a:p>
          <a:p>
            <a:r>
              <a:rPr b="0"/>
              <a:t>• 10/10 unmögliche Werte erkannt</a:t>
            </a:r>
          </a:p>
          <a:p>
            <a:r>
              <a:rPr b="0"/>
              <a:t/>
            </a:r>
          </a:p>
          <a:p>
            <a:r>
              <a:rPr b="1"/>
              <a:t>SPRECHTEXT</a:t>
            </a:r>
          </a:p>
          <a:p>
            <a:r>
              <a:rPr b="0"/>
              <a:t>Jetzt die Regel auf ganz 2025: Jeder Punkt ist ein Zähler in einem Monat, nach rechts die Prognose, nach oben der Istwert. Auf der Diagonale wäre die Prognose perfekt, das Band ist unsere Grenze.</a:t>
            </a:r>
          </a:p>
          <a:p>
            <a:r>
              <a:rPr b="0"/>
              <a:t>Rote Punkte sind Prüfhinweise: rund 10 im Monat, gut 2 pro Woche. [Pause] Mit dem 95. Perzentil wären es 33. Wie viel geprüft werden kann, entscheidet der Fachbereich, nicht das Modell.</a:t>
            </a:r>
          </a:p>
          <a:p>
            <a:r>
              <a:rPr b="0"/>
              <a:t/>
            </a:r>
          </a:p>
          <a:p>
            <a:r>
              <a:rPr b="1"/>
              <a:t>SO LIEST DU DIE FOLIE</a:t>
            </a:r>
          </a:p>
          <a:p>
            <a:r>
              <a:rPr b="0"/>
              <a:t>• Nur in VLS gibt es ein gemeinsames, paralleles Band. In kWh hängt die Grenze von der Vertragsleistung ab.</a:t>
            </a:r>
          </a:p>
          <a:p>
            <a:r>
              <a:rPr b="0"/>
              <a:t>• Monatliche Hinweise 2025: 7 / 11 / 9 / 10 / 12 / 16 / 6 / 8 / 8 / 13 / 4 / 10. Achsen bei 800 VLS-h abgeschnitten; Hinweise darüber stehen als Dreieck am Rand.</a:t>
            </a:r>
          </a:p>
          <a:p>
            <a:r>
              <a:rPr b="0"/>
              <a:t/>
            </a:r>
          </a:p>
          <a:p>
            <a:r>
              <a:rPr b="1"/>
              <a:t>FALLS GEFRAGT WIRD</a:t>
            </a:r>
          </a:p>
          <a:p>
            <a:r>
              <a:rPr b="1"/>
              <a:t>• Ihr sagt, 2025 entscheidet nichts. Wieso zeigt ihr dann den Prüfaufwand 2025? </a:t>
            </a:r>
            <a:r>
              <a:rPr b="0"/>
              <a:t>Die q99-Grenze wurde nur aus 2024 berechnet und auf 2025 unverändert angewendet. Die Zahlen rechts sind eine nachträgliche Sensitivitätsanalyse.</a:t>
            </a:r>
          </a:p>
          <a:p>
            <a:r>
              <a:rPr b="1"/>
              <a:t>• Warum keine verstellbare Winkel-Linie im Plot? </a:t>
            </a:r>
            <a:r>
              <a:rPr b="0"/>
              <a:t>Unsere Regel ist |Ist − Prognose| ÷ Vertragsleistung ≥ Schwelle, also ein fester Abstand in VLS. Eine Linie mit anderer Steigung wäre eine andere Regel (Verhältnis Ist/Prognose).</a:t>
            </a:r>
          </a:p>
          <a:p>
            <a:r>
              <a:rPr b="1"/>
              <a:t>• Woher weiß man, dass die Hinweise sinnvoll sind? </a:t>
            </a:r>
            <a:r>
              <a:rPr b="0"/>
              <a:t>Ohne Labels nur als Plausibilisierung: Alle 10 bekannten physikalisch unmöglichen Werte in 2025 werden erfasst. Das ist ein Sanity Check, kein Qualitätsbeweis.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Auflösung des Hooks</a:t>
            </a:r>
          </a:p>
          <a:p>
            <a:r>
              <a:rPr b="0"/>
              <a:t>• 331,8 VLS-h ÷ 144,4 = 2,30</a:t>
            </a:r>
          </a:p>
          <a:p>
            <a:r>
              <a:rPr b="0"/>
              <a:t>• 2,3-mal so groß wie erlaubt</a:t>
            </a:r>
          </a:p>
          <a:p>
            <a:r>
              <a:rPr b="0"/>
              <a:t>• September innerhalb</a:t>
            </a:r>
          </a:p>
          <a:p>
            <a:r>
              <a:rPr b="0"/>
              <a:t/>
            </a:r>
          </a:p>
          <a:p>
            <a:r>
              <a:rPr b="1"/>
              <a:t>SPRECHTEXT</a:t>
            </a:r>
          </a:p>
          <a:p>
            <a:r>
              <a:rPr b="0"/>
              <a:t>Zurück zu unserem Fall. Erwartet waren gut 7.300 Kilowattstunden, gemessen über 23.000. In Vollaststunden sind das rund 332 zu viel, geteilt durch die Grenze ergibt das den Faktor 2,3. [Pause] Die Abweichung ist also 2,3-mal so groß wie erlaubt.</a:t>
            </a:r>
          </a:p>
          <a:p>
            <a:r>
              <a:rPr b="0"/>
              <a:t>Der September liegt mit minus 0,68 innerhalb der Grenze, also kein Hinweis.</a:t>
            </a:r>
          </a:p>
          <a:p>
            <a:r>
              <a:rPr b="0"/>
              <a:t/>
            </a:r>
          </a:p>
          <a:p>
            <a:r>
              <a:rPr b="1"/>
              <a:t>SO LIEST DU DIE FOLIE</a:t>
            </a:r>
          </a:p>
          <a:p>
            <a:r>
              <a:rPr b="0"/>
              <a:t>• Das Band ist Prognose ± 7.073,4 kWh (144,35 VLS-h × 49 kW). Nur Punkte außerhalb werden rot.</a:t>
            </a:r>
          </a:p>
          <a:p>
            <a:r>
              <a:rPr b="0"/>
              <a:t>• Faktor +2,30 heißt: Der positive Fehler ist 2,30-mal so groß wie die Schwelle. Das ist keine Wahrscheinlichkeit. Die VLS-Werte stimmen mit dem Bericht überein (480,9 − 149,1 = 331,8).</a:t>
            </a:r>
          </a:p>
          <a:p>
            <a:r>
              <a:rPr b="0"/>
              <a:t/>
            </a:r>
          </a:p>
          <a:p>
            <a:r>
              <a:rPr b="1"/>
              <a:t>FALLS GEFRAGT WIRD</a:t>
            </a:r>
          </a:p>
          <a:p>
            <a:r>
              <a:rPr b="1"/>
              <a:t>• Warum springt die Prognose im September? </a:t>
            </a:r>
            <a:r>
              <a:rPr b="0"/>
              <a:t>Der Augustwert steckt im Vormonats- und im Drei-Monats-Merkmal. Ausgeblendet werden bisher nur physikalisch unmögliche Werte. Bestätigte Anomalien sollten im Betrieb markiert werden, bevor sie in die Historie eingehen.</a:t>
            </a:r>
          </a:p>
          <a:p>
            <a:r>
              <a:rPr b="1"/>
              <a:t>• Welche eine Verbesserung hätte den größten Effekt? </a:t>
            </a:r>
            <a:r>
              <a:rPr b="0"/>
              <a:t>Bestätigte Anomalien aus der Historie herausnehmen, bevor sie in die Lags eingehen. ZL-00147 zeigt es: Der August-Ausreißer hebt die September-Prognose. Dafür braucht es die Bewertungen aus dem Dashboard.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Fallakte → Bewertung → Status</a:t>
            </a:r>
          </a:p>
          <a:p>
            <a:r>
              <a:rPr b="0"/>
              <a:t>• Label: gültig + nicht erklärt</a:t>
            </a:r>
          </a:p>
          <a:p>
            <a:r>
              <a:rPr b="0"/>
              <a:t>• Precision, Recall-Stichprobe, Klassifikation</a:t>
            </a:r>
          </a:p>
          <a:p>
            <a:r>
              <a:rPr b="0"/>
              <a:t>• Fazit + Übergabe Patrick</a:t>
            </a:r>
          </a:p>
          <a:p>
            <a:r>
              <a:rPr b="0"/>
              <a:t/>
            </a:r>
          </a:p>
          <a:p>
            <a:r>
              <a:rPr b="1"/>
              <a:t>SPRECHTEXT</a:t>
            </a:r>
          </a:p>
          <a:p>
            <a:r>
              <a:rPr b="0"/>
              <a:t>So sieht der Fall in meinem Dashboard aus. Die Fallakte begründet in einem Satz, warum er markiert wurde. Dann dokumentiert die Fachabteilung ihre Bewertung; in der Demo habe ich beispielhaft eingetragen: Messwert gültig, Abweichung nicht erklärt.</a:t>
            </a:r>
          </a:p>
          <a:p>
            <a:r>
              <a:rPr b="0"/>
              <a:t>So entsteht, was uns heute fehlt: ein bestätigtes Beispiel. Daraus messen wir zuerst die Precision; für den Recall prüfen wir zusätzlich eine Stichprobe unauffälliger Monate. Mit genug Beispielen kann später ein Klassifikationsmodell die Prüfliste sortieren.</a:t>
            </a:r>
          </a:p>
          <a:p>
            <a:r>
              <a:rPr b="0"/>
              <a:t>ZL-00147 ist damit einer von 114 Hinweisen in einer sortierten Liste. [Pause] Mein Fazit: Bei Zeitreihen ist die Validierung wichtiger als das komplexeste Modell. Wie Beschaffung und Netzmanagement damit arbeiten, zeigt jetzt Patrick.</a:t>
            </a:r>
          </a:p>
          <a:p>
            <a:r>
              <a:rPr b="0"/>
              <a:t/>
            </a:r>
          </a:p>
          <a:p>
            <a:r>
              <a:rPr b="1"/>
              <a:t>SO LIEST DU DIE FOLIE</a:t>
            </a:r>
          </a:p>
          <a:p>
            <a:r>
              <a:rPr b="0"/>
              <a:t>• Screenshots aus dem Energie-Cockpit, Fall ZL-00147 · 08/2025. Die Bewertung ist eine Beispieleingabe und wird nur lokal im Browser gespeichert; kein Ticket, kein Backend.</a:t>
            </a:r>
          </a:p>
          <a:p>
            <a:r>
              <a:rPr b="0"/>
              <a:t>• Unterschied zu Patricks Verbrauchs-Cockpit: Dort entsteht nach der Prüfung ein Ticket. Hier wird der Fall fachlich bewertet und damit gelabelt.</a:t>
            </a:r>
          </a:p>
          <a:p>
            <a:r>
              <a:rPr b="0"/>
              <a:t/>
            </a:r>
          </a:p>
          <a:p>
            <a:r>
              <a:rPr b="1"/>
              <a:t>FALLS GEFRAGT WIRD</a:t>
            </a:r>
          </a:p>
          <a:p>
            <a:r>
              <a:rPr b="1"/>
              <a:t>• Wie viele Labels bräuchte ein Klassifikationsmodell? </a:t>
            </a:r>
            <a:r>
              <a:rPr b="0"/>
              <a:t>Vorab nicht seriös bezifferbar. Bei rund 9,5 Hinweisen pro Monat kommen im Jahr etwa 110 bewertete Fälle zusammen. Das reicht für eine erste Precision. Für Recall und ein robustes Modell braucht es zusätzlich eine Zufallsstichprobe unauffälliger Fälle und mehrere Perioden.</a:t>
            </a:r>
          </a:p>
          <a:p>
            <a:r>
              <a:rPr b="1"/>
              <a:t>• Ersetzt die Klassifikation dann die Regression? </a:t>
            </a:r>
            <a:r>
              <a:rPr b="0"/>
              <a:t>Nein. Die Regression liefert weiter den Erwartungswert für die Beschaffung. Die Klassifikation würde nur die Prüfliste besser priorisieren; eine Prozentangabe wäre erst nach eigener Validierung und Kalibrierung belastbar.</a:t>
            </a:r>
          </a:p>
          <a:p>
            <a:r>
              <a:rPr b="1"/>
              <a:t>• Was ist Precision, was ist Recall? </a:t>
            </a:r>
            <a:r>
              <a:rPr b="0"/>
              <a:t>Precision: Anteil der Prüfhinweise, die sich fachlich bestätigen. Recall: Anteil aller echten Anomalien, die wir mit einem Hinweis gefunden haben.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SPRECHTEXT</a:t>
            </a:r>
          </a:p>
          <a:p>
            <a:r>
              <a:rPr b="0"/>
              <a:t>Nur bei Rückfragen: zeigt den exakten Wortlaut des Berichts zu jedem Feld.</a:t>
            </a:r>
          </a:p>
          <a:p>
            <a:r>
              <a:rPr b="0"/>
              <a:t/>
            </a:r>
          </a:p>
          <a:p>
            <a:r>
              <a:rPr b="1"/>
              <a:t>SO LIEST DU DIE FOLIE</a:t>
            </a:r>
          </a:p>
          <a:p>
            <a:r>
              <a:rPr b="0"/>
              <a:t>• Links der Wortlaut aus Bericht Tab. A1, rechts die vier Kohärenzbeziehungen, die die Learning Journey abfragt.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SPRECHTEXT</a:t>
            </a:r>
          </a:p>
          <a:p>
            <a:r>
              <a:rPr b="0"/>
              <a:t>Nur bei Rückfragen zum Tuning zeigen.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SPRECHTEXT</a:t>
            </a:r>
          </a:p>
          <a:p>
            <a:r>
              <a:rPr b="0"/>
              <a:t>Top-3-Treiber: Verbrauchshistorie, Produktionsplan, Wartung. Nur bei Rückfragen zeigen.</a:t>
            </a:r>
          </a:p>
          <a:p>
            <a:r>
              <a:rPr b="0"/>
              <a:t/>
            </a:r>
          </a:p>
          <a:p>
            <a:r>
              <a:rPr b="1"/>
              <a:t>FALLS GEFRAGT WIRD</a:t>
            </a:r>
          </a:p>
          <a:p>
            <a:r>
              <a:rPr b="1"/>
              <a:t>• Wie stark trägt das Wetter bei? </a:t>
            </a:r>
            <a:r>
              <a:rPr b="0"/>
              <a:t>Beim Mischen steigt der RMSE um 154 kWh, bei der Historie um 7.256 kWh. Der saisonale Produktionsplan überlagert scheinbare Wettereffekte.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SPRECHTEXT</a:t>
            </a:r>
          </a:p>
          <a:p>
            <a:r>
              <a:rPr b="0"/>
              <a:t>Nur bei Rückfragen zu fehlenden Werten und Leakage.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SPRECHTEXT</a:t>
            </a:r>
          </a:p>
          <a:p>
            <a:r>
              <a:rPr b="0"/>
              <a:t>Gute Folie für kritische Rückfragen zu Grenzen, Ethik und Verantwortung.</a:t>
            </a:r>
          </a:p>
          <a:p>
            <a:r>
              <a:rPr b="0"/>
              <a:t/>
            </a:r>
          </a:p>
          <a:p>
            <a:r>
              <a:rPr b="1"/>
              <a:t>FALLS GEFRAGT WIRD</a:t>
            </a:r>
          </a:p>
          <a:p>
            <a:r>
              <a:rPr b="1"/>
              <a:t>• Werden bestimmte Gruppen benachteiligt? Wie steht es um den Datenschutz? </a:t>
            </a:r>
            <a:r>
              <a:rPr b="0"/>
              <a:t>Die Daten betreffen Zähler von Gewerbe-, Industrie- und kommunalen Kunden. VLS gleicht die Anschlussgröße aus. Die Hinweisquote je Kundentyp ist noch nicht ausgewertet und gehört ins Pilot-Monitoring. Bewertungen liegen im Prototyp nur lokal im Browser.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SPRECHTEXT</a:t>
            </a:r>
          </a:p>
          <a:p>
            <a:r>
              <a:rPr b="0"/>
              <a:t>Für Rückfragen zu Kosten und ROI: bewusst keine Euro-Annahmen.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15.png"/><Relationship Id="rId7" Type="http://schemas.openxmlformats.org/officeDocument/2006/relationships/image" Target="../media/image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image" Target="../media/image13.png"/><Relationship Id="rId15" Type="http://schemas.openxmlformats.org/officeDocument/2006/relationships/image" Target="../media/image22.png"/><Relationship Id="rId16" Type="http://schemas.openxmlformats.org/officeDocument/2006/relationships/image" Target="../media/image7.png"/><Relationship Id="rId17" Type="http://schemas.openxmlformats.org/officeDocument/2006/relationships/image" Target="../media/image23.png"/><Relationship Id="rId18" Type="http://schemas.openxmlformats.org/officeDocument/2006/relationships/image" Target="../media/image24.png"/><Relationship Id="rId19" Type="http://schemas.openxmlformats.org/officeDocument/2006/relationships/image" Target="../media/image25.png"/><Relationship Id="rId20"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16.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8.png"/><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33.png"/><Relationship Id="rId12" Type="http://schemas.openxmlformats.org/officeDocument/2006/relationships/image" Target="../media/image34.png"/><Relationship Id="rId13" Type="http://schemas.openxmlformats.org/officeDocument/2006/relationships/image" Target="../media/image35.png"/><Relationship Id="rId14" Type="http://schemas.openxmlformats.org/officeDocument/2006/relationships/image" Target="../media/image13.png"/><Relationship Id="rId15" Type="http://schemas.openxmlformats.org/officeDocument/2006/relationships/image" Target="../media/image5.png"/><Relationship Id="rId16" Type="http://schemas.openxmlformats.org/officeDocument/2006/relationships/image" Target="../media/image4.png"/><Relationship Id="rId17" Type="http://schemas.openxmlformats.org/officeDocument/2006/relationships/image" Target="../media/image22.png"/><Relationship Id="rId18" Type="http://schemas.openxmlformats.org/officeDocument/2006/relationships/image" Target="../media/image7.png"/><Relationship Id="rId19" Type="http://schemas.openxmlformats.org/officeDocument/2006/relationships/image" Target="../media/image36.png"/><Relationship Id="rId20" Type="http://schemas.openxmlformats.org/officeDocument/2006/relationships/image" Target="../media/image25.png"/><Relationship Id="rId21"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0.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13.png"/><Relationship Id="rId8" Type="http://schemas.openxmlformats.org/officeDocument/2006/relationships/image" Target="../media/image6.png"/><Relationship Id="rId9" Type="http://schemas.openxmlformats.org/officeDocument/2006/relationships/image" Target="../media/image9.png"/><Relationship Id="rId10" Type="http://schemas.openxmlformats.org/officeDocument/2006/relationships/image" Target="../media/image4.png"/><Relationship Id="rId11" Type="http://schemas.openxmlformats.org/officeDocument/2006/relationships/image" Target="../media/image22.png"/><Relationship Id="rId12" Type="http://schemas.openxmlformats.org/officeDocument/2006/relationships/image" Target="../media/image7.png"/><Relationship Id="rId13" Type="http://schemas.openxmlformats.org/officeDocument/2006/relationships/image" Target="../media/image36.png"/><Relationship Id="rId14" Type="http://schemas.openxmlformats.org/officeDocument/2006/relationships/image" Target="../media/image8.png"/><Relationship Id="rId15" Type="http://schemas.openxmlformats.org/officeDocument/2006/relationships/image" Target="../media/image25.png"/><Relationship Id="rId16"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0.png"/><Relationship Id="rId4" Type="http://schemas.openxmlformats.org/officeDocument/2006/relationships/image" Target="../media/image31.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13.png"/><Relationship Id="rId8" Type="http://schemas.openxmlformats.org/officeDocument/2006/relationships/image" Target="../media/image5.png"/><Relationship Id="rId9" Type="http://schemas.openxmlformats.org/officeDocument/2006/relationships/image" Target="../media/image8.png"/><Relationship Id="rId10" Type="http://schemas.openxmlformats.org/officeDocument/2006/relationships/image" Target="../media/image43.png"/><Relationship Id="rId11" Type="http://schemas.openxmlformats.org/officeDocument/2006/relationships/image" Target="../media/image22.png"/><Relationship Id="rId12" Type="http://schemas.openxmlformats.org/officeDocument/2006/relationships/image" Target="../media/image7.png"/><Relationship Id="rId13" Type="http://schemas.openxmlformats.org/officeDocument/2006/relationships/image" Target="../media/image36.png"/><Relationship Id="rId14" Type="http://schemas.openxmlformats.org/officeDocument/2006/relationships/image" Target="../media/image25.png"/><Relationship Id="rId15"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32.png"/><Relationship Id="rId5" Type="http://schemas.openxmlformats.org/officeDocument/2006/relationships/image" Target="../media/image6.png"/><Relationship Id="rId6" Type="http://schemas.openxmlformats.org/officeDocument/2006/relationships/image" Target="../media/image13.png"/><Relationship Id="rId7" Type="http://schemas.openxmlformats.org/officeDocument/2006/relationships/image" Target="../media/image8.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22.png"/><Relationship Id="rId11" Type="http://schemas.openxmlformats.org/officeDocument/2006/relationships/image" Target="../media/image7.png"/><Relationship Id="rId12" Type="http://schemas.openxmlformats.org/officeDocument/2006/relationships/image" Target="../media/image36.png"/><Relationship Id="rId13" Type="http://schemas.openxmlformats.org/officeDocument/2006/relationships/image" Target="../media/image25.png"/><Relationship Id="rId14"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33.png"/><Relationship Id="rId5" Type="http://schemas.openxmlformats.org/officeDocument/2006/relationships/image" Target="../media/image9.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13.png"/><Relationship Id="rId9" Type="http://schemas.openxmlformats.org/officeDocument/2006/relationships/image" Target="../media/image5.png"/><Relationship Id="rId10" Type="http://schemas.openxmlformats.org/officeDocument/2006/relationships/image" Target="../media/image3.png"/><Relationship Id="rId11" Type="http://schemas.openxmlformats.org/officeDocument/2006/relationships/image" Target="../media/image48.png"/><Relationship Id="rId12" Type="http://schemas.openxmlformats.org/officeDocument/2006/relationships/image" Target="../media/image22.png"/><Relationship Id="rId13" Type="http://schemas.openxmlformats.org/officeDocument/2006/relationships/image" Target="../media/image7.png"/><Relationship Id="rId14" Type="http://schemas.openxmlformats.org/officeDocument/2006/relationships/image" Target="../media/image36.png"/><Relationship Id="rId15" Type="http://schemas.openxmlformats.org/officeDocument/2006/relationships/image" Target="../media/image8.png"/><Relationship Id="rId16" Type="http://schemas.openxmlformats.org/officeDocument/2006/relationships/image" Target="../media/image25.png"/><Relationship Id="rId17"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13.png"/><Relationship Id="rId8" Type="http://schemas.openxmlformats.org/officeDocument/2006/relationships/image" Target="../media/image53.png"/><Relationship Id="rId9" Type="http://schemas.openxmlformats.org/officeDocument/2006/relationships/image" Target="../media/image54.png"/><Relationship Id="rId10" Type="http://schemas.openxmlformats.org/officeDocument/2006/relationships/image" Target="../media/image55.png"/><Relationship Id="rId11" Type="http://schemas.openxmlformats.org/officeDocument/2006/relationships/image" Target="../media/image56.png"/><Relationship Id="rId12" Type="http://schemas.openxmlformats.org/officeDocument/2006/relationships/image" Target="../media/image57.png"/><Relationship Id="rId13" Type="http://schemas.openxmlformats.org/officeDocument/2006/relationships/image" Target="../media/image58.png"/><Relationship Id="rId14" Type="http://schemas.openxmlformats.org/officeDocument/2006/relationships/image" Target="../media/image59.png"/><Relationship Id="rId15" Type="http://schemas.openxmlformats.org/officeDocument/2006/relationships/image" Target="../media/image60.png"/><Relationship Id="rId16" Type="http://schemas.openxmlformats.org/officeDocument/2006/relationships/image" Target="../media/image6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13.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64.png"/><Relationship Id="rId9" Type="http://schemas.openxmlformats.org/officeDocument/2006/relationships/image" Target="../media/image22.png"/><Relationship Id="rId10" Type="http://schemas.openxmlformats.org/officeDocument/2006/relationships/image" Target="../media/image7.png"/><Relationship Id="rId11" Type="http://schemas.openxmlformats.org/officeDocument/2006/relationships/image" Target="../media/image36.png"/><Relationship Id="rId12" Type="http://schemas.openxmlformats.org/officeDocument/2006/relationships/image" Target="../media/image8.png"/><Relationship Id="rId13" Type="http://schemas.openxmlformats.org/officeDocument/2006/relationships/image" Target="../media/image25.png"/><Relationship Id="rId14"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13.png"/><Relationship Id="rId7" Type="http://schemas.openxmlformats.org/officeDocument/2006/relationships/image" Target="../media/image3.png"/><Relationship Id="rId8" Type="http://schemas.openxmlformats.org/officeDocument/2006/relationships/image" Target="../media/image68.png"/><Relationship Id="rId9" Type="http://schemas.openxmlformats.org/officeDocument/2006/relationships/image" Target="../media/image22.png"/><Relationship Id="rId10" Type="http://schemas.openxmlformats.org/officeDocument/2006/relationships/image" Target="../media/image7.png"/><Relationship Id="rId11" Type="http://schemas.openxmlformats.org/officeDocument/2006/relationships/image" Target="../media/image36.png"/><Relationship Id="rId12" Type="http://schemas.openxmlformats.org/officeDocument/2006/relationships/image" Target="../media/image8.png"/><Relationship Id="rId13" Type="http://schemas.openxmlformats.org/officeDocument/2006/relationships/image" Target="../media/image25.png"/><Relationship Id="rId14"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73.png"/><Relationship Id="rId8" Type="http://schemas.openxmlformats.org/officeDocument/2006/relationships/image" Target="../media/image74.png"/><Relationship Id="rId9" Type="http://schemas.openxmlformats.org/officeDocument/2006/relationships/image" Target="../media/image75.png"/><Relationship Id="rId10" Type="http://schemas.openxmlformats.org/officeDocument/2006/relationships/image" Target="../media/image76.png"/><Relationship Id="rId11" Type="http://schemas.openxmlformats.org/officeDocument/2006/relationships/image" Target="../media/image77.png"/><Relationship Id="rId12" Type="http://schemas.openxmlformats.org/officeDocument/2006/relationships/image" Target="../media/image78.png"/><Relationship Id="rId13" Type="http://schemas.openxmlformats.org/officeDocument/2006/relationships/image" Target="../media/image79.png"/><Relationship Id="rId14" Type="http://schemas.openxmlformats.org/officeDocument/2006/relationships/image" Target="../media/image80.png"/><Relationship Id="rId15" Type="http://schemas.openxmlformats.org/officeDocument/2006/relationships/image" Target="../media/image13.png"/><Relationship Id="rId16" Type="http://schemas.openxmlformats.org/officeDocument/2006/relationships/image" Target="../media/image54.png"/><Relationship Id="rId17" Type="http://schemas.openxmlformats.org/officeDocument/2006/relationships/image" Target="../media/image81.png"/><Relationship Id="rId18" Type="http://schemas.openxmlformats.org/officeDocument/2006/relationships/image" Target="../media/image55.png"/><Relationship Id="rId19" Type="http://schemas.openxmlformats.org/officeDocument/2006/relationships/image" Target="../media/image56.png"/><Relationship Id="rId20" Type="http://schemas.openxmlformats.org/officeDocument/2006/relationships/image" Target="../media/image57.png"/><Relationship Id="rId21" Type="http://schemas.openxmlformats.org/officeDocument/2006/relationships/image" Target="../media/image58.png"/><Relationship Id="rId22" Type="http://schemas.openxmlformats.org/officeDocument/2006/relationships/image" Target="../media/image59.png"/><Relationship Id="rId23" Type="http://schemas.openxmlformats.org/officeDocument/2006/relationships/image" Target="../media/image60.png"/><Relationship Id="rId24" Type="http://schemas.openxmlformats.org/officeDocument/2006/relationships/image" Target="../media/image6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57.png"/><Relationship Id="rId6" Type="http://schemas.openxmlformats.org/officeDocument/2006/relationships/image" Target="../media/image50.png"/><Relationship Id="rId7" Type="http://schemas.openxmlformats.org/officeDocument/2006/relationships/image" Target="../media/image84.png"/><Relationship Id="rId8" Type="http://schemas.openxmlformats.org/officeDocument/2006/relationships/image" Target="../media/image59.png"/><Relationship Id="rId9" Type="http://schemas.openxmlformats.org/officeDocument/2006/relationships/image" Target="../media/image53.png"/><Relationship Id="rId10" Type="http://schemas.openxmlformats.org/officeDocument/2006/relationships/image" Target="../media/image54.png"/><Relationship Id="rId11" Type="http://schemas.openxmlformats.org/officeDocument/2006/relationships/image" Target="../media/image81.png"/><Relationship Id="rId12" Type="http://schemas.openxmlformats.org/officeDocument/2006/relationships/image" Target="../media/image85.png"/><Relationship Id="rId13" Type="http://schemas.openxmlformats.org/officeDocument/2006/relationships/image" Target="../media/image55.png"/><Relationship Id="rId14" Type="http://schemas.openxmlformats.org/officeDocument/2006/relationships/image" Target="../media/image86.png"/><Relationship Id="rId15"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87.png"/><Relationship Id="rId6" Type="http://schemas.openxmlformats.org/officeDocument/2006/relationships/image" Target="../media/image88.png"/><Relationship Id="rId7"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88.png"/><Relationship Id="rId5" Type="http://schemas.openxmlformats.org/officeDocument/2006/relationships/image" Target="../media/image89.png"/><Relationship Id="rId6" Type="http://schemas.openxmlformats.org/officeDocument/2006/relationships/image" Target="../media/image90.png"/><Relationship Id="rId7" Type="http://schemas.openxmlformats.org/officeDocument/2006/relationships/image" Target="../media/image13.png"/><Relationship Id="rId8" Type="http://schemas.openxmlformats.org/officeDocument/2006/relationships/image" Target="../media/image9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0.png"/><Relationship Id="rId4" Type="http://schemas.openxmlformats.org/officeDocument/2006/relationships/image" Target="../media/image92.png"/><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image" Target="../media/image13.png"/><Relationship Id="rId8" Type="http://schemas.openxmlformats.org/officeDocument/2006/relationships/image" Target="../media/image6.png"/><Relationship Id="rId9" Type="http://schemas.openxmlformats.org/officeDocument/2006/relationships/image" Target="../media/image9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96.png"/><Relationship Id="rId4" Type="http://schemas.openxmlformats.org/officeDocument/2006/relationships/image" Target="../media/image76.png"/><Relationship Id="rId5" Type="http://schemas.openxmlformats.org/officeDocument/2006/relationships/image" Target="../media/image97.png"/><Relationship Id="rId6" Type="http://schemas.openxmlformats.org/officeDocument/2006/relationships/image" Target="../media/image98.png"/><Relationship Id="rId7" Type="http://schemas.openxmlformats.org/officeDocument/2006/relationships/image" Target="../media/image52.png"/><Relationship Id="rId8"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62.png"/><Relationship Id="rId4" Type="http://schemas.openxmlformats.org/officeDocument/2006/relationships/image" Target="../media/image14.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13.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01.png"/></Relationships>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0718E"/>
            </a:solidFill>
            <a:ln>
              <a:noFill/>
            </a:ln>
            <a:effectLst/>
          </p:spPr>
          <p:txBody>
            <a:bodyPr rtlCol="0" anchor="ctr"/>
            <a:lstStyle/>
            <a:p>
              <a:pPr algn="ctr"/>
            </a:p>
          </p:txBody>
        </p:sp>
        <p:pic>
          <p:nvPicPr>
            <p:cNvPr id="4" name="Picture 3" descr="puzzle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733425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Passt vom Nutzen bis zur Wartung alles zusammen?</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ML Canvas: vom Nutzen zum Modell und zurück</a:t>
            </a:r>
          </a:p>
        </p:txBody>
      </p:sp>
      <p:sp>
        <p:nvSpPr>
          <p:cNvPr id="7" name="TextBox 6"/>
          <p:cNvSpPr txBox="1"/>
          <p:nvPr/>
        </p:nvSpPr>
        <p:spPr>
          <a:xfrm>
            <a:off x="5829300" y="428625"/>
            <a:ext cx="3143250" cy="171450"/>
          </a:xfrm>
          <a:prstGeom prst="rect">
            <a:avLst/>
          </a:prstGeom>
          <a:noFill/>
        </p:spPr>
        <p:txBody>
          <a:bodyPr wrap="none" lIns="0" rIns="0" tIns="0" bIns="0" anchor="t">
            <a:noAutofit/>
          </a:bodyPr>
          <a:lstStyle/>
          <a:p>
            <a:pPr algn="r">
              <a:lnSpc>
                <a:spcPts val="1350"/>
              </a:lnSpc>
            </a:pPr>
            <a:r>
              <a:rPr sz="1050" b="0" i="0" lang="de-DE">
                <a:solidFill>
                  <a:srgbClr val="657383"/>
                </a:solidFill>
                <a:latin typeface="IBM Plex Sans"/>
              </a:rPr>
              <a:t>10 von 10 Feldern</a:t>
            </a:r>
          </a:p>
        </p:txBody>
      </p:sp>
      <p:grpSp>
        <p:nvGrpSpPr>
          <p:cNvPr id="8" name="Canvas-Feld 01"/>
          <p:cNvGrpSpPr/>
          <p:nvPr/>
        </p:nvGrpSpPr>
        <p:grpSpPr>
          <a:xfrm>
            <a:off x="9010650" y="409575"/>
            <a:ext cx="323850" cy="209550"/>
            <a:chOff x="9010650" y="409575"/>
            <a:chExt cx="323850" cy="209550"/>
          </a:xfrm>
        </p:grpSpPr>
        <p:sp>
          <p:nvSpPr>
            <p:cNvPr id="9" name="Oval 8"/>
            <p:cNvSpPr/>
            <p:nvPr/>
          </p:nvSpPr>
          <p:spPr>
            <a:xfrm>
              <a:off x="9074944" y="416719"/>
              <a:ext cx="195262" cy="195262"/>
            </a:xfrm>
            <a:prstGeom prst="ellipse">
              <a:avLst/>
            </a:prstGeom>
            <a:solidFill>
              <a:srgbClr val="FFFFFF"/>
            </a:solidFill>
            <a:ln w="14287">
              <a:solidFill>
                <a:srgbClr val="B4BFCB"/>
              </a:solidFill>
            </a:ln>
            <a:effectLst/>
          </p:spPr>
          <p:txBody>
            <a:bodyPr rtlCol="0" anchor="ctr"/>
            <a:lstStyle/>
            <a:p>
              <a:pPr algn="ctr"/>
            </a:p>
          </p:txBody>
        </p:sp>
        <p:sp>
          <p:nvSpPr>
            <p:cNvPr id="10" name="TextBox 9"/>
            <p:cNvSpPr txBox="1"/>
            <p:nvPr/>
          </p:nvSpPr>
          <p:spPr>
            <a:xfrm>
              <a:off x="9010650" y="409575"/>
              <a:ext cx="323850" cy="209550"/>
            </a:xfrm>
            <a:prstGeom prst="rect">
              <a:avLst/>
            </a:prstGeom>
            <a:noFill/>
          </p:spPr>
          <p:txBody>
            <a:bodyPr wrap="none" lIns="0" rIns="0" tIns="0" bIns="0" anchor="ctr">
              <a:noAutofit/>
            </a:bodyPr>
            <a:lstStyle/>
            <a:p>
              <a:pPr algn="ctr">
                <a:lnSpc>
                  <a:spcPts val="975"/>
                </a:lnSpc>
              </a:pPr>
              <a:r>
                <a:rPr sz="825" b="1" i="0" lang="de-DE">
                  <a:solidFill>
                    <a:srgbClr val="657383"/>
                  </a:solidFill>
                  <a:latin typeface="Geist Mono"/>
                </a:rPr>
                <a:t>01</a:t>
              </a:r>
            </a:p>
          </p:txBody>
        </p:sp>
      </p:grpSp>
      <p:grpSp>
        <p:nvGrpSpPr>
          <p:cNvPr id="11" name="Canvas-Feld 02"/>
          <p:cNvGrpSpPr/>
          <p:nvPr/>
        </p:nvGrpSpPr>
        <p:grpSpPr>
          <a:xfrm>
            <a:off x="9258300" y="409575"/>
            <a:ext cx="323850" cy="209550"/>
            <a:chOff x="9258300" y="409575"/>
            <a:chExt cx="323850" cy="209550"/>
          </a:xfrm>
        </p:grpSpPr>
        <p:sp>
          <p:nvSpPr>
            <p:cNvPr id="12" name="Oval 11"/>
            <p:cNvSpPr/>
            <p:nvPr/>
          </p:nvSpPr>
          <p:spPr>
            <a:xfrm>
              <a:off x="9322594" y="416719"/>
              <a:ext cx="195262" cy="195262"/>
            </a:xfrm>
            <a:prstGeom prst="ellipse">
              <a:avLst/>
            </a:prstGeom>
            <a:solidFill>
              <a:srgbClr val="FFFFFF"/>
            </a:solidFill>
            <a:ln w="14287">
              <a:solidFill>
                <a:srgbClr val="B4BFCB"/>
              </a:solidFill>
            </a:ln>
            <a:effectLst/>
          </p:spPr>
          <p:txBody>
            <a:bodyPr rtlCol="0" anchor="ctr"/>
            <a:lstStyle/>
            <a:p>
              <a:pPr algn="ctr"/>
            </a:p>
          </p:txBody>
        </p:sp>
        <p:sp>
          <p:nvSpPr>
            <p:cNvPr id="13" name="TextBox 12"/>
            <p:cNvSpPr txBox="1"/>
            <p:nvPr/>
          </p:nvSpPr>
          <p:spPr>
            <a:xfrm>
              <a:off x="9258300" y="409575"/>
              <a:ext cx="323850" cy="209550"/>
            </a:xfrm>
            <a:prstGeom prst="rect">
              <a:avLst/>
            </a:prstGeom>
            <a:noFill/>
          </p:spPr>
          <p:txBody>
            <a:bodyPr wrap="none" lIns="0" rIns="0" tIns="0" bIns="0" anchor="ctr">
              <a:noAutofit/>
            </a:bodyPr>
            <a:lstStyle/>
            <a:p>
              <a:pPr algn="ctr">
                <a:lnSpc>
                  <a:spcPts val="975"/>
                </a:lnSpc>
              </a:pPr>
              <a:r>
                <a:rPr sz="825" b="1" i="0" lang="de-DE">
                  <a:solidFill>
                    <a:srgbClr val="657383"/>
                  </a:solidFill>
                  <a:latin typeface="Geist Mono"/>
                </a:rPr>
                <a:t>02</a:t>
              </a:r>
            </a:p>
          </p:txBody>
        </p:sp>
      </p:grpSp>
      <p:grpSp>
        <p:nvGrpSpPr>
          <p:cNvPr id="14" name="Canvas-Feld 03"/>
          <p:cNvGrpSpPr/>
          <p:nvPr/>
        </p:nvGrpSpPr>
        <p:grpSpPr>
          <a:xfrm>
            <a:off x="9505950" y="409575"/>
            <a:ext cx="323850" cy="209550"/>
            <a:chOff x="9505950" y="409575"/>
            <a:chExt cx="323850" cy="209550"/>
          </a:xfrm>
        </p:grpSpPr>
        <p:sp>
          <p:nvSpPr>
            <p:cNvPr id="15" name="Oval 14"/>
            <p:cNvSpPr/>
            <p:nvPr/>
          </p:nvSpPr>
          <p:spPr>
            <a:xfrm>
              <a:off x="9563100" y="409575"/>
              <a:ext cx="209550" cy="209550"/>
            </a:xfrm>
            <a:prstGeom prst="ellipse">
              <a:avLst/>
            </a:prstGeom>
            <a:solidFill>
              <a:srgbClr val="00718E"/>
            </a:solidFill>
            <a:ln>
              <a:noFill/>
            </a:ln>
            <a:effectLst/>
          </p:spPr>
          <p:txBody>
            <a:bodyPr rtlCol="0" anchor="ctr"/>
            <a:lstStyle/>
            <a:p>
              <a:pPr algn="ctr"/>
            </a:p>
          </p:txBody>
        </p:sp>
        <p:sp>
          <p:nvSpPr>
            <p:cNvPr id="16" name="TextBox 15"/>
            <p:cNvSpPr txBox="1"/>
            <p:nvPr/>
          </p:nvSpPr>
          <p:spPr>
            <a:xfrm>
              <a:off x="9505950" y="409575"/>
              <a:ext cx="323850" cy="209550"/>
            </a:xfrm>
            <a:prstGeom prst="rect">
              <a:avLst/>
            </a:prstGeom>
            <a:noFill/>
          </p:spPr>
          <p:txBody>
            <a:bodyPr wrap="none" lIns="0" rIns="0" tIns="0" bIns="0" anchor="ctr">
              <a:noAutofit/>
            </a:bodyPr>
            <a:lstStyle/>
            <a:p>
              <a:pPr algn="ctr">
                <a:lnSpc>
                  <a:spcPts val="975"/>
                </a:lnSpc>
              </a:pPr>
              <a:r>
                <a:rPr sz="825" b="1" i="0" lang="de-DE">
                  <a:solidFill>
                    <a:srgbClr val="FFFFFF"/>
                  </a:solidFill>
                  <a:latin typeface="Geist Mono"/>
                </a:rPr>
                <a:t>03</a:t>
              </a:r>
            </a:p>
          </p:txBody>
        </p:sp>
      </p:grpSp>
      <p:grpSp>
        <p:nvGrpSpPr>
          <p:cNvPr id="17" name="Canvas-Feld 04"/>
          <p:cNvGrpSpPr/>
          <p:nvPr/>
        </p:nvGrpSpPr>
        <p:grpSpPr>
          <a:xfrm>
            <a:off x="9753600" y="409575"/>
            <a:ext cx="323850" cy="209550"/>
            <a:chOff x="9753600" y="409575"/>
            <a:chExt cx="323850" cy="209550"/>
          </a:xfrm>
        </p:grpSpPr>
        <p:sp>
          <p:nvSpPr>
            <p:cNvPr id="18" name="Oval 17"/>
            <p:cNvSpPr/>
            <p:nvPr/>
          </p:nvSpPr>
          <p:spPr>
            <a:xfrm>
              <a:off x="9810750" y="409575"/>
              <a:ext cx="209550" cy="209550"/>
            </a:xfrm>
            <a:prstGeom prst="ellipse">
              <a:avLst/>
            </a:prstGeom>
            <a:solidFill>
              <a:srgbClr val="00718E"/>
            </a:solidFill>
            <a:ln>
              <a:noFill/>
            </a:ln>
            <a:effectLst/>
          </p:spPr>
          <p:txBody>
            <a:bodyPr rtlCol="0" anchor="ctr"/>
            <a:lstStyle/>
            <a:p>
              <a:pPr algn="ctr"/>
            </a:p>
          </p:txBody>
        </p:sp>
        <p:sp>
          <p:nvSpPr>
            <p:cNvPr id="19" name="TextBox 18"/>
            <p:cNvSpPr txBox="1"/>
            <p:nvPr/>
          </p:nvSpPr>
          <p:spPr>
            <a:xfrm>
              <a:off x="9753600" y="409575"/>
              <a:ext cx="323850" cy="209550"/>
            </a:xfrm>
            <a:prstGeom prst="rect">
              <a:avLst/>
            </a:prstGeom>
            <a:noFill/>
          </p:spPr>
          <p:txBody>
            <a:bodyPr wrap="none" lIns="0" rIns="0" tIns="0" bIns="0" anchor="ctr">
              <a:noAutofit/>
            </a:bodyPr>
            <a:lstStyle/>
            <a:p>
              <a:pPr algn="ctr">
                <a:lnSpc>
                  <a:spcPts val="975"/>
                </a:lnSpc>
              </a:pPr>
              <a:r>
                <a:rPr sz="825" b="1" i="0" lang="de-DE">
                  <a:solidFill>
                    <a:srgbClr val="FFFFFF"/>
                  </a:solidFill>
                  <a:latin typeface="Geist Mono"/>
                </a:rPr>
                <a:t>04</a:t>
              </a:r>
            </a:p>
          </p:txBody>
        </p:sp>
      </p:grpSp>
      <p:grpSp>
        <p:nvGrpSpPr>
          <p:cNvPr id="20" name="Canvas-Feld 05"/>
          <p:cNvGrpSpPr/>
          <p:nvPr/>
        </p:nvGrpSpPr>
        <p:grpSpPr>
          <a:xfrm>
            <a:off x="10001250" y="409575"/>
            <a:ext cx="323850" cy="209550"/>
            <a:chOff x="10001250" y="409575"/>
            <a:chExt cx="323850" cy="209550"/>
          </a:xfrm>
        </p:grpSpPr>
        <p:sp>
          <p:nvSpPr>
            <p:cNvPr id="21" name="Oval 20"/>
            <p:cNvSpPr/>
            <p:nvPr/>
          </p:nvSpPr>
          <p:spPr>
            <a:xfrm>
              <a:off x="10058400" y="409575"/>
              <a:ext cx="209550" cy="209550"/>
            </a:xfrm>
            <a:prstGeom prst="ellipse">
              <a:avLst/>
            </a:prstGeom>
            <a:solidFill>
              <a:srgbClr val="00718E"/>
            </a:solidFill>
            <a:ln>
              <a:noFill/>
            </a:ln>
            <a:effectLst/>
          </p:spPr>
          <p:txBody>
            <a:bodyPr rtlCol="0" anchor="ctr"/>
            <a:lstStyle/>
            <a:p>
              <a:pPr algn="ctr"/>
            </a:p>
          </p:txBody>
        </p:sp>
        <p:sp>
          <p:nvSpPr>
            <p:cNvPr id="22" name="TextBox 21"/>
            <p:cNvSpPr txBox="1"/>
            <p:nvPr/>
          </p:nvSpPr>
          <p:spPr>
            <a:xfrm>
              <a:off x="10001250" y="409575"/>
              <a:ext cx="323850" cy="209550"/>
            </a:xfrm>
            <a:prstGeom prst="rect">
              <a:avLst/>
            </a:prstGeom>
            <a:noFill/>
          </p:spPr>
          <p:txBody>
            <a:bodyPr wrap="none" lIns="0" rIns="0" tIns="0" bIns="0" anchor="ctr">
              <a:noAutofit/>
            </a:bodyPr>
            <a:lstStyle/>
            <a:p>
              <a:pPr algn="ctr">
                <a:lnSpc>
                  <a:spcPts val="975"/>
                </a:lnSpc>
              </a:pPr>
              <a:r>
                <a:rPr sz="825" b="1" i="0" lang="de-DE">
                  <a:solidFill>
                    <a:srgbClr val="FFFFFF"/>
                  </a:solidFill>
                  <a:latin typeface="Geist Mono"/>
                </a:rPr>
                <a:t>05</a:t>
              </a:r>
            </a:p>
          </p:txBody>
        </p:sp>
      </p:grpSp>
      <p:grpSp>
        <p:nvGrpSpPr>
          <p:cNvPr id="23" name="Canvas-Feld 06"/>
          <p:cNvGrpSpPr/>
          <p:nvPr/>
        </p:nvGrpSpPr>
        <p:grpSpPr>
          <a:xfrm>
            <a:off x="10248900" y="409575"/>
            <a:ext cx="323850" cy="209550"/>
            <a:chOff x="10248900" y="409575"/>
            <a:chExt cx="323850" cy="209550"/>
          </a:xfrm>
        </p:grpSpPr>
        <p:sp>
          <p:nvSpPr>
            <p:cNvPr id="24" name="Oval 23"/>
            <p:cNvSpPr/>
            <p:nvPr/>
          </p:nvSpPr>
          <p:spPr>
            <a:xfrm>
              <a:off x="10306050" y="409575"/>
              <a:ext cx="209550" cy="209550"/>
            </a:xfrm>
            <a:prstGeom prst="ellipse">
              <a:avLst/>
            </a:prstGeom>
            <a:solidFill>
              <a:srgbClr val="00718E"/>
            </a:solidFill>
            <a:ln>
              <a:noFill/>
            </a:ln>
            <a:effectLst/>
          </p:spPr>
          <p:txBody>
            <a:bodyPr rtlCol="0" anchor="ctr"/>
            <a:lstStyle/>
            <a:p>
              <a:pPr algn="ctr"/>
            </a:p>
          </p:txBody>
        </p:sp>
        <p:sp>
          <p:nvSpPr>
            <p:cNvPr id="25" name="TextBox 24"/>
            <p:cNvSpPr txBox="1"/>
            <p:nvPr/>
          </p:nvSpPr>
          <p:spPr>
            <a:xfrm>
              <a:off x="10248900" y="409575"/>
              <a:ext cx="323850" cy="209550"/>
            </a:xfrm>
            <a:prstGeom prst="rect">
              <a:avLst/>
            </a:prstGeom>
            <a:noFill/>
          </p:spPr>
          <p:txBody>
            <a:bodyPr wrap="none" lIns="0" rIns="0" tIns="0" bIns="0" anchor="ctr">
              <a:noAutofit/>
            </a:bodyPr>
            <a:lstStyle/>
            <a:p>
              <a:pPr algn="ctr">
                <a:lnSpc>
                  <a:spcPts val="975"/>
                </a:lnSpc>
              </a:pPr>
              <a:r>
                <a:rPr sz="825" b="1" i="0" lang="de-DE">
                  <a:solidFill>
                    <a:srgbClr val="FFFFFF"/>
                  </a:solidFill>
                  <a:latin typeface="Geist Mono"/>
                </a:rPr>
                <a:t>06</a:t>
              </a:r>
            </a:p>
          </p:txBody>
        </p:sp>
      </p:grpSp>
      <p:grpSp>
        <p:nvGrpSpPr>
          <p:cNvPr id="26" name="Canvas-Feld 07"/>
          <p:cNvGrpSpPr/>
          <p:nvPr/>
        </p:nvGrpSpPr>
        <p:grpSpPr>
          <a:xfrm>
            <a:off x="10496550" y="409575"/>
            <a:ext cx="323850" cy="209550"/>
            <a:chOff x="10496550" y="409575"/>
            <a:chExt cx="323850" cy="209550"/>
          </a:xfrm>
        </p:grpSpPr>
        <p:sp>
          <p:nvSpPr>
            <p:cNvPr id="27" name="Oval 26"/>
            <p:cNvSpPr/>
            <p:nvPr/>
          </p:nvSpPr>
          <p:spPr>
            <a:xfrm>
              <a:off x="10553700" y="409575"/>
              <a:ext cx="209550" cy="209550"/>
            </a:xfrm>
            <a:prstGeom prst="ellipse">
              <a:avLst/>
            </a:prstGeom>
            <a:solidFill>
              <a:srgbClr val="00718E"/>
            </a:solidFill>
            <a:ln>
              <a:noFill/>
            </a:ln>
            <a:effectLst/>
          </p:spPr>
          <p:txBody>
            <a:bodyPr rtlCol="0" anchor="ctr"/>
            <a:lstStyle/>
            <a:p>
              <a:pPr algn="ctr"/>
            </a:p>
          </p:txBody>
        </p:sp>
        <p:sp>
          <p:nvSpPr>
            <p:cNvPr id="28" name="TextBox 27"/>
            <p:cNvSpPr txBox="1"/>
            <p:nvPr/>
          </p:nvSpPr>
          <p:spPr>
            <a:xfrm>
              <a:off x="10496550" y="409575"/>
              <a:ext cx="323850" cy="209550"/>
            </a:xfrm>
            <a:prstGeom prst="rect">
              <a:avLst/>
            </a:prstGeom>
            <a:noFill/>
          </p:spPr>
          <p:txBody>
            <a:bodyPr wrap="none" lIns="0" rIns="0" tIns="0" bIns="0" anchor="ctr">
              <a:noAutofit/>
            </a:bodyPr>
            <a:lstStyle/>
            <a:p>
              <a:pPr algn="ctr">
                <a:lnSpc>
                  <a:spcPts val="975"/>
                </a:lnSpc>
              </a:pPr>
              <a:r>
                <a:rPr sz="825" b="1" i="0" lang="de-DE">
                  <a:solidFill>
                    <a:srgbClr val="FFFFFF"/>
                  </a:solidFill>
                  <a:latin typeface="Geist Mono"/>
                </a:rPr>
                <a:t>07</a:t>
              </a:r>
            </a:p>
          </p:txBody>
        </p:sp>
      </p:grpSp>
      <p:grpSp>
        <p:nvGrpSpPr>
          <p:cNvPr id="29" name="Canvas-Feld 08"/>
          <p:cNvGrpSpPr/>
          <p:nvPr/>
        </p:nvGrpSpPr>
        <p:grpSpPr>
          <a:xfrm>
            <a:off x="10744200" y="409575"/>
            <a:ext cx="323850" cy="209550"/>
            <a:chOff x="10744200" y="409575"/>
            <a:chExt cx="323850" cy="209550"/>
          </a:xfrm>
        </p:grpSpPr>
        <p:sp>
          <p:nvSpPr>
            <p:cNvPr id="30" name="Oval 29"/>
            <p:cNvSpPr/>
            <p:nvPr/>
          </p:nvSpPr>
          <p:spPr>
            <a:xfrm>
              <a:off x="10808494" y="416719"/>
              <a:ext cx="195262" cy="195262"/>
            </a:xfrm>
            <a:prstGeom prst="ellipse">
              <a:avLst/>
            </a:prstGeom>
            <a:solidFill>
              <a:srgbClr val="FFFFFF"/>
            </a:solidFill>
            <a:ln w="14287">
              <a:solidFill>
                <a:srgbClr val="B4BFCB"/>
              </a:solidFill>
            </a:ln>
            <a:effectLst/>
          </p:spPr>
          <p:txBody>
            <a:bodyPr rtlCol="0" anchor="ctr"/>
            <a:lstStyle/>
            <a:p>
              <a:pPr algn="ctr"/>
            </a:p>
          </p:txBody>
        </p:sp>
        <p:sp>
          <p:nvSpPr>
            <p:cNvPr id="31" name="TextBox 30"/>
            <p:cNvSpPr txBox="1"/>
            <p:nvPr/>
          </p:nvSpPr>
          <p:spPr>
            <a:xfrm>
              <a:off x="10744200" y="409575"/>
              <a:ext cx="323850" cy="209550"/>
            </a:xfrm>
            <a:prstGeom prst="rect">
              <a:avLst/>
            </a:prstGeom>
            <a:noFill/>
          </p:spPr>
          <p:txBody>
            <a:bodyPr wrap="none" lIns="0" rIns="0" tIns="0" bIns="0" anchor="ctr">
              <a:noAutofit/>
            </a:bodyPr>
            <a:lstStyle/>
            <a:p>
              <a:pPr algn="ctr">
                <a:lnSpc>
                  <a:spcPts val="975"/>
                </a:lnSpc>
              </a:pPr>
              <a:r>
                <a:rPr sz="825" b="1" i="0" lang="de-DE">
                  <a:solidFill>
                    <a:srgbClr val="657383"/>
                  </a:solidFill>
                  <a:latin typeface="Geist Mono"/>
                </a:rPr>
                <a:t>08</a:t>
              </a:r>
            </a:p>
          </p:txBody>
        </p:sp>
      </p:grpSp>
      <p:grpSp>
        <p:nvGrpSpPr>
          <p:cNvPr id="32" name="Canvas-Feld 09"/>
          <p:cNvGrpSpPr/>
          <p:nvPr/>
        </p:nvGrpSpPr>
        <p:grpSpPr>
          <a:xfrm>
            <a:off x="10991850" y="409575"/>
            <a:ext cx="323850" cy="209550"/>
            <a:chOff x="10991850" y="409575"/>
            <a:chExt cx="323850" cy="209550"/>
          </a:xfrm>
        </p:grpSpPr>
        <p:sp>
          <p:nvSpPr>
            <p:cNvPr id="33" name="Oval 32"/>
            <p:cNvSpPr/>
            <p:nvPr/>
          </p:nvSpPr>
          <p:spPr>
            <a:xfrm>
              <a:off x="11049000" y="409575"/>
              <a:ext cx="209550" cy="209550"/>
            </a:xfrm>
            <a:prstGeom prst="ellipse">
              <a:avLst/>
            </a:prstGeom>
            <a:solidFill>
              <a:srgbClr val="00718E"/>
            </a:solidFill>
            <a:ln>
              <a:noFill/>
            </a:ln>
            <a:effectLst/>
          </p:spPr>
          <p:txBody>
            <a:bodyPr rtlCol="0" anchor="ctr"/>
            <a:lstStyle/>
            <a:p>
              <a:pPr algn="ctr"/>
            </a:p>
          </p:txBody>
        </p:sp>
        <p:sp>
          <p:nvSpPr>
            <p:cNvPr id="34" name="TextBox 33"/>
            <p:cNvSpPr txBox="1"/>
            <p:nvPr/>
          </p:nvSpPr>
          <p:spPr>
            <a:xfrm>
              <a:off x="10991850" y="409575"/>
              <a:ext cx="323850" cy="209550"/>
            </a:xfrm>
            <a:prstGeom prst="rect">
              <a:avLst/>
            </a:prstGeom>
            <a:noFill/>
          </p:spPr>
          <p:txBody>
            <a:bodyPr wrap="none" lIns="0" rIns="0" tIns="0" bIns="0" anchor="ctr">
              <a:noAutofit/>
            </a:bodyPr>
            <a:lstStyle/>
            <a:p>
              <a:pPr algn="ctr">
                <a:lnSpc>
                  <a:spcPts val="975"/>
                </a:lnSpc>
              </a:pPr>
              <a:r>
                <a:rPr sz="825" b="1" i="0" lang="de-DE">
                  <a:solidFill>
                    <a:srgbClr val="FFFFFF"/>
                  </a:solidFill>
                  <a:latin typeface="Geist Mono"/>
                </a:rPr>
                <a:t>09</a:t>
              </a:r>
            </a:p>
          </p:txBody>
        </p:sp>
      </p:grpSp>
      <p:grpSp>
        <p:nvGrpSpPr>
          <p:cNvPr id="35" name="Canvas-Feld 10"/>
          <p:cNvGrpSpPr/>
          <p:nvPr/>
        </p:nvGrpSpPr>
        <p:grpSpPr>
          <a:xfrm>
            <a:off x="11239500" y="409575"/>
            <a:ext cx="323850" cy="209550"/>
            <a:chOff x="11239500" y="409575"/>
            <a:chExt cx="323850" cy="209550"/>
          </a:xfrm>
        </p:grpSpPr>
        <p:sp>
          <p:nvSpPr>
            <p:cNvPr id="36" name="Oval 35"/>
            <p:cNvSpPr/>
            <p:nvPr/>
          </p:nvSpPr>
          <p:spPr>
            <a:xfrm>
              <a:off x="11303794" y="416719"/>
              <a:ext cx="195262" cy="195262"/>
            </a:xfrm>
            <a:prstGeom prst="ellipse">
              <a:avLst/>
            </a:prstGeom>
            <a:solidFill>
              <a:srgbClr val="FFFFFF"/>
            </a:solidFill>
            <a:ln w="14287">
              <a:solidFill>
                <a:srgbClr val="B4BFCB"/>
              </a:solidFill>
            </a:ln>
            <a:effectLst/>
          </p:spPr>
          <p:txBody>
            <a:bodyPr rtlCol="0" anchor="ctr"/>
            <a:lstStyle/>
            <a:p>
              <a:pPr algn="ctr"/>
            </a:p>
          </p:txBody>
        </p:sp>
        <p:sp>
          <p:nvSpPr>
            <p:cNvPr id="37" name="TextBox 36"/>
            <p:cNvSpPr txBox="1"/>
            <p:nvPr/>
          </p:nvSpPr>
          <p:spPr>
            <a:xfrm>
              <a:off x="11239500" y="409575"/>
              <a:ext cx="323850" cy="209550"/>
            </a:xfrm>
            <a:prstGeom prst="rect">
              <a:avLst/>
            </a:prstGeom>
            <a:noFill/>
          </p:spPr>
          <p:txBody>
            <a:bodyPr wrap="none" lIns="0" rIns="0" tIns="0" bIns="0" anchor="ctr">
              <a:noAutofit/>
            </a:bodyPr>
            <a:lstStyle/>
            <a:p>
              <a:pPr algn="ctr">
                <a:lnSpc>
                  <a:spcPts val="975"/>
                </a:lnSpc>
              </a:pPr>
              <a:r>
                <a:rPr sz="825" b="1" i="0" lang="de-DE">
                  <a:solidFill>
                    <a:srgbClr val="657383"/>
                  </a:solidFill>
                  <a:latin typeface="Geist Mono"/>
                </a:rPr>
                <a:t>10</a:t>
              </a:r>
            </a:p>
          </p:txBody>
        </p:sp>
      </p:grpSp>
      <p:sp>
        <p:nvSpPr>
          <p:cNvPr id="38" name="Freeform 37"/>
          <p:cNvSpPr/>
          <p:nvPr/>
        </p:nvSpPr>
        <p:spPr>
          <a:xfrm>
            <a:off x="1933575" y="2838450"/>
            <a:ext cx="8315325" cy="152400"/>
          </a:xfrm>
          <a:custGeom>
            <a:avLst/>
            <a:gdLst/>
            <a:ahLst/>
            <a:cxnLst/>
            <a:rect l="l" t="t" r="r" b="b"/>
            <a:pathLst>
              <a:path w="8315325" h="152400">
                <a:moveTo>
                  <a:pt x="8315325" y="0"/>
                </a:moveTo>
                <a:lnTo>
                  <a:pt x="8315325" y="76200"/>
                </a:lnTo>
                <a:lnTo>
                  <a:pt x="0" y="76200"/>
                </a:lnTo>
                <a:lnTo>
                  <a:pt x="0" y="152400"/>
                </a:lnTo>
              </a:path>
            </a:pathLst>
          </a:custGeom>
          <a:noFill/>
          <a:ln w="23812">
            <a:solidFill>
              <a:srgbClr val="6CC0D2"/>
            </a:solidFill>
          </a:ln>
          <a:effectLst/>
        </p:spPr>
        <p:txBody>
          <a:bodyPr rtlCol="0" anchor="ctr"/>
          <a:lstStyle/>
          <a:p>
            <a:pPr algn="ctr"/>
          </a:p>
        </p:txBody>
      </p:sp>
      <p:sp>
        <p:nvSpPr>
          <p:cNvPr id="39" name="Freeform 38"/>
          <p:cNvSpPr/>
          <p:nvPr/>
        </p:nvSpPr>
        <p:spPr>
          <a:xfrm>
            <a:off x="3219450" y="4419600"/>
            <a:ext cx="7029450" cy="152400"/>
          </a:xfrm>
          <a:custGeom>
            <a:avLst/>
            <a:gdLst/>
            <a:ahLst/>
            <a:cxnLst/>
            <a:rect l="l" t="t" r="r" b="b"/>
            <a:pathLst>
              <a:path w="7029450" h="152400">
                <a:moveTo>
                  <a:pt x="7029450" y="0"/>
                </a:moveTo>
                <a:lnTo>
                  <a:pt x="7029450" y="76200"/>
                </a:lnTo>
                <a:lnTo>
                  <a:pt x="0" y="76200"/>
                </a:lnTo>
                <a:lnTo>
                  <a:pt x="0" y="152400"/>
                </a:lnTo>
              </a:path>
            </a:pathLst>
          </a:custGeom>
          <a:noFill/>
          <a:ln w="23812">
            <a:solidFill>
              <a:srgbClr val="6CC0D2"/>
            </a:solidFill>
          </a:ln>
          <a:effectLst/>
        </p:spPr>
        <p:txBody>
          <a:bodyPr rtlCol="0" anchor="ctr"/>
          <a:lstStyle/>
          <a:p>
            <a:pPr algn="ctr"/>
          </a:p>
        </p:txBody>
      </p:sp>
      <p:sp>
        <p:nvSpPr>
          <p:cNvPr id="40" name="Canvas 01"/>
          <p:cNvSpPr/>
          <p:nvPr/>
        </p:nvSpPr>
        <p:spPr>
          <a:xfrm>
            <a:off x="685800" y="1409700"/>
            <a:ext cx="2505075" cy="1428750"/>
          </a:xfrm>
          <a:prstGeom prst="roundRect">
            <a:avLst>
              <a:gd name="adj" fmla="val 6666"/>
            </a:avLst>
          </a:prstGeom>
          <a:solidFill>
            <a:srgbClr val="F1F4F7"/>
          </a:solidFill>
          <a:ln w="9525">
            <a:solidFill>
              <a:srgbClr val="E4E9EF"/>
            </a:solidFill>
          </a:ln>
          <a:effectLst/>
        </p:spPr>
        <p:txBody>
          <a:bodyPr rtlCol="0" anchor="ctr"/>
          <a:lstStyle/>
          <a:p>
            <a:pPr algn="ctr"/>
          </a:p>
        </p:txBody>
      </p:sp>
      <p:grpSp>
        <p:nvGrpSpPr>
          <p:cNvPr id="41" name="Scheibe gem"/>
          <p:cNvGrpSpPr/>
          <p:nvPr/>
        </p:nvGrpSpPr>
        <p:grpSpPr>
          <a:xfrm>
            <a:off x="854869" y="1559719"/>
            <a:ext cx="328612" cy="328612"/>
            <a:chOff x="854869" y="1559719"/>
            <a:chExt cx="328612" cy="328612"/>
          </a:xfrm>
        </p:grpSpPr>
        <p:sp>
          <p:nvSpPr>
            <p:cNvPr id="42" name="Oval 41"/>
            <p:cNvSpPr/>
            <p:nvPr/>
          </p:nvSpPr>
          <p:spPr>
            <a:xfrm>
              <a:off x="854869" y="1559719"/>
              <a:ext cx="328612" cy="328612"/>
            </a:xfrm>
            <a:prstGeom prst="ellipse">
              <a:avLst/>
            </a:prstGeom>
            <a:solidFill>
              <a:srgbClr val="FFFFFF"/>
            </a:solidFill>
            <a:ln w="14287">
              <a:solidFill>
                <a:srgbClr val="B4BFCB"/>
              </a:solidFill>
            </a:ln>
            <a:effectLst/>
          </p:spPr>
          <p:txBody>
            <a:bodyPr rtlCol="0" anchor="ctr"/>
            <a:lstStyle/>
            <a:p>
              <a:pPr algn="ctr"/>
            </a:p>
          </p:txBody>
        </p:sp>
        <p:pic>
          <p:nvPicPr>
            <p:cNvPr id="43" name="Picture 42" descr="gem__084878.png"/>
            <p:cNvPicPr>
              <a:picLocks noChangeAspect="1"/>
            </p:cNvPicPr>
            <p:nvPr/>
          </p:nvPicPr>
          <p:blipFill>
            <a:blip r:embed="rId4"/>
            <a:stretch>
              <a:fillRect/>
            </a:stretch>
          </p:blipFill>
          <p:spPr>
            <a:xfrm>
              <a:off x="930021" y="1634871"/>
              <a:ext cx="178308" cy="178308"/>
            </a:xfrm>
            <a:prstGeom prst="rect">
              <a:avLst/>
            </a:prstGeom>
          </p:spPr>
        </p:pic>
      </p:grpSp>
      <p:sp>
        <p:nvSpPr>
          <p:cNvPr id="44" name="TextBox 43"/>
          <p:cNvSpPr txBox="1"/>
          <p:nvPr/>
        </p:nvSpPr>
        <p:spPr>
          <a:xfrm>
            <a:off x="1266825" y="1638300"/>
            <a:ext cx="266700" cy="171450"/>
          </a:xfrm>
          <a:prstGeom prst="rect">
            <a:avLst/>
          </a:prstGeom>
          <a:noFill/>
        </p:spPr>
        <p:txBody>
          <a:bodyPr wrap="none" lIns="0" rIns="0" tIns="0" bIns="0" anchor="t">
            <a:noAutofit/>
          </a:bodyPr>
          <a:lstStyle/>
          <a:p>
            <a:pPr algn="l">
              <a:lnSpc>
                <a:spcPts val="1350"/>
              </a:lnSpc>
            </a:pPr>
            <a:r>
              <a:rPr sz="1050" b="1" i="0" lang="de-DE">
                <a:solidFill>
                  <a:srgbClr val="657383"/>
                </a:solidFill>
                <a:latin typeface="Geist Mono"/>
              </a:rPr>
              <a:t>01</a:t>
            </a:r>
          </a:p>
        </p:txBody>
      </p:sp>
      <p:sp>
        <p:nvSpPr>
          <p:cNvPr id="45" name="TextBox 44"/>
          <p:cNvSpPr txBox="1"/>
          <p:nvPr/>
        </p:nvSpPr>
        <p:spPr>
          <a:xfrm>
            <a:off x="1503045" y="1638300"/>
            <a:ext cx="1676400" cy="171450"/>
          </a:xfrm>
          <a:prstGeom prst="rect">
            <a:avLst/>
          </a:prstGeom>
          <a:noFill/>
        </p:spPr>
        <p:txBody>
          <a:bodyPr wrap="none" lIns="0" rIns="0" tIns="0" bIns="0" anchor="t">
            <a:noAutofit/>
          </a:bodyPr>
          <a:lstStyle/>
          <a:p>
            <a:pPr algn="l">
              <a:lnSpc>
                <a:spcPts val="1350"/>
              </a:lnSpc>
            </a:pPr>
            <a:r>
              <a:rPr sz="1050" b="1" i="0" lang="de-DE" spc="63">
                <a:solidFill>
                  <a:srgbClr val="4E5A68"/>
                </a:solidFill>
                <a:latin typeface="IBM Plex Sans"/>
              </a:rPr>
              <a:t>MEHRWERT</a:t>
            </a:r>
          </a:p>
        </p:txBody>
      </p:sp>
      <p:sp>
        <p:nvSpPr>
          <p:cNvPr id="46" name="TextBox 45"/>
          <p:cNvSpPr txBox="1"/>
          <p:nvPr/>
        </p:nvSpPr>
        <p:spPr>
          <a:xfrm>
            <a:off x="2085975" y="1643062"/>
            <a:ext cx="942975" cy="161925"/>
          </a:xfrm>
          <a:prstGeom prst="rect">
            <a:avLst/>
          </a:prstGeom>
          <a:noFill/>
        </p:spPr>
        <p:txBody>
          <a:bodyPr wrap="none" lIns="0" rIns="0" tIns="0" bIns="0" anchor="t">
            <a:noAutofit/>
          </a:bodyPr>
          <a:lstStyle/>
          <a:p>
            <a:pPr algn="r">
              <a:lnSpc>
                <a:spcPts val="1275"/>
              </a:lnSpc>
            </a:pPr>
            <a:r>
              <a:rPr sz="975" b="0" i="0" lang="de-DE">
                <a:solidFill>
                  <a:srgbClr val="657383"/>
                </a:solidFill>
                <a:latin typeface="IBM Plex Sans"/>
              </a:rPr>
              <a:t>← Iana</a:t>
            </a:r>
          </a:p>
        </p:txBody>
      </p:sp>
      <p:sp>
        <p:nvSpPr>
          <p:cNvPr id="47" name="TextBox 46"/>
          <p:cNvSpPr txBox="1"/>
          <p:nvPr/>
        </p:nvSpPr>
        <p:spPr>
          <a:xfrm>
            <a:off x="847725" y="1990725"/>
            <a:ext cx="2181225" cy="219075"/>
          </a:xfrm>
          <a:prstGeom prst="rect">
            <a:avLst/>
          </a:prstGeom>
          <a:noFill/>
        </p:spPr>
        <p:txBody>
          <a:bodyPr wrap="square" lIns="0" rIns="0" tIns="0" bIns="0" anchor="t">
            <a:noAutofit/>
          </a:bodyPr>
          <a:lstStyle/>
          <a:p>
            <a:pPr algn="l">
              <a:lnSpc>
                <a:spcPts val="1725"/>
              </a:lnSpc>
            </a:pPr>
            <a:r>
              <a:rPr sz="1350" b="1" i="0" lang="de-DE">
                <a:solidFill>
                  <a:srgbClr val="141A21"/>
                </a:solidFill>
                <a:latin typeface="IBM Plex Sans"/>
              </a:rPr>
              <a:t>Planen &amp; früher prüfen</a:t>
            </a:r>
          </a:p>
        </p:txBody>
      </p:sp>
      <p:sp>
        <p:nvSpPr>
          <p:cNvPr id="48" name="TextBox 47"/>
          <p:cNvSpPr txBox="1"/>
          <p:nvPr/>
        </p:nvSpPr>
        <p:spPr>
          <a:xfrm>
            <a:off x="847725" y="2247900"/>
            <a:ext cx="2181225"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Spotmarkt-Ausgleich senken, Auffälliges monatlich prüfen.</a:t>
            </a:r>
          </a:p>
        </p:txBody>
      </p:sp>
      <p:sp>
        <p:nvSpPr>
          <p:cNvPr id="49" name="Canvas 07"/>
          <p:cNvSpPr/>
          <p:nvPr/>
        </p:nvSpPr>
        <p:spPr>
          <a:xfrm>
            <a:off x="3457575" y="1409700"/>
            <a:ext cx="2505075" cy="1428750"/>
          </a:xfrm>
          <a:prstGeom prst="roundRect">
            <a:avLst>
              <a:gd name="adj" fmla="val 6666"/>
            </a:avLst>
          </a:prstGeom>
          <a:solidFill>
            <a:srgbClr val="FFFFFF"/>
          </a:solidFill>
          <a:ln w="19050">
            <a:solidFill>
              <a:srgbClr val="00718E"/>
            </a:solidFill>
          </a:ln>
          <a:effectLst/>
        </p:spPr>
        <p:txBody>
          <a:bodyPr rtlCol="0" anchor="ctr"/>
          <a:lstStyle/>
          <a:p>
            <a:pPr algn="ctr"/>
          </a:p>
        </p:txBody>
      </p:sp>
      <p:grpSp>
        <p:nvGrpSpPr>
          <p:cNvPr id="50" name="Scheibe split"/>
          <p:cNvGrpSpPr/>
          <p:nvPr/>
        </p:nvGrpSpPr>
        <p:grpSpPr>
          <a:xfrm>
            <a:off x="3629025" y="1562100"/>
            <a:ext cx="342900" cy="342900"/>
            <a:chOff x="3629025" y="1562100"/>
            <a:chExt cx="342900" cy="342900"/>
          </a:xfrm>
        </p:grpSpPr>
        <p:sp>
          <p:nvSpPr>
            <p:cNvPr id="51" name="Oval 50"/>
            <p:cNvSpPr/>
            <p:nvPr/>
          </p:nvSpPr>
          <p:spPr>
            <a:xfrm>
              <a:off x="3629025" y="1562100"/>
              <a:ext cx="342900" cy="342900"/>
            </a:xfrm>
            <a:prstGeom prst="ellipse">
              <a:avLst/>
            </a:prstGeom>
            <a:solidFill>
              <a:srgbClr val="00718E"/>
            </a:solidFill>
            <a:ln>
              <a:noFill/>
            </a:ln>
            <a:effectLst/>
          </p:spPr>
          <p:txBody>
            <a:bodyPr rtlCol="0" anchor="ctr"/>
            <a:lstStyle/>
            <a:p>
              <a:pPr algn="ctr"/>
            </a:p>
          </p:txBody>
        </p:sp>
        <p:pic>
          <p:nvPicPr>
            <p:cNvPr id="52" name="Picture 51" descr="split__FFFFFF.png"/>
            <p:cNvPicPr>
              <a:picLocks noChangeAspect="1"/>
            </p:cNvPicPr>
            <p:nvPr/>
          </p:nvPicPr>
          <p:blipFill>
            <a:blip r:embed="rId5"/>
            <a:stretch>
              <a:fillRect/>
            </a:stretch>
          </p:blipFill>
          <p:spPr>
            <a:xfrm>
              <a:off x="3711321" y="1644396"/>
              <a:ext cx="178308" cy="178308"/>
            </a:xfrm>
            <a:prstGeom prst="rect">
              <a:avLst/>
            </a:prstGeom>
          </p:spPr>
        </p:pic>
      </p:grpSp>
      <p:sp>
        <p:nvSpPr>
          <p:cNvPr id="53" name="TextBox 52"/>
          <p:cNvSpPr txBox="1"/>
          <p:nvPr/>
        </p:nvSpPr>
        <p:spPr>
          <a:xfrm>
            <a:off x="4048125" y="1647825"/>
            <a:ext cx="26670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07</a:t>
            </a:r>
          </a:p>
        </p:txBody>
      </p:sp>
      <p:sp>
        <p:nvSpPr>
          <p:cNvPr id="54" name="TextBox 53"/>
          <p:cNvSpPr txBox="1"/>
          <p:nvPr/>
        </p:nvSpPr>
        <p:spPr>
          <a:xfrm>
            <a:off x="4284345" y="1647825"/>
            <a:ext cx="1676400" cy="171450"/>
          </a:xfrm>
          <a:prstGeom prst="rect">
            <a:avLst/>
          </a:prstGeom>
          <a:noFill/>
        </p:spPr>
        <p:txBody>
          <a:bodyPr wrap="none" lIns="0" rIns="0" tIns="0" bIns="0" anchor="t">
            <a:noAutofit/>
          </a:bodyPr>
          <a:lstStyle/>
          <a:p>
            <a:pPr algn="l">
              <a:lnSpc>
                <a:spcPts val="1350"/>
              </a:lnSpc>
            </a:pPr>
            <a:r>
              <a:rPr sz="1050" b="1" i="0" lang="de-DE" spc="63">
                <a:solidFill>
                  <a:srgbClr val="4E5A68"/>
                </a:solidFill>
                <a:latin typeface="IBM Plex Sans"/>
              </a:rPr>
              <a:t>ENTSCHEIDUNG</a:t>
            </a:r>
          </a:p>
        </p:txBody>
      </p:sp>
      <p:sp>
        <p:nvSpPr>
          <p:cNvPr id="55" name="TextBox 54"/>
          <p:cNvSpPr txBox="1"/>
          <p:nvPr/>
        </p:nvSpPr>
        <p:spPr>
          <a:xfrm>
            <a:off x="3629025" y="2000250"/>
            <a:ext cx="2162175" cy="219075"/>
          </a:xfrm>
          <a:prstGeom prst="rect">
            <a:avLst/>
          </a:prstGeom>
          <a:noFill/>
        </p:spPr>
        <p:txBody>
          <a:bodyPr wrap="square" lIns="0" rIns="0" tIns="0" bIns="0" anchor="t">
            <a:noAutofit/>
          </a:bodyPr>
          <a:lstStyle/>
          <a:p>
            <a:pPr algn="l">
              <a:lnSpc>
                <a:spcPts val="1725"/>
              </a:lnSpc>
            </a:pPr>
            <a:r>
              <a:rPr sz="1350" b="1" i="0" lang="de-DE">
                <a:solidFill>
                  <a:srgbClr val="084878"/>
                </a:solidFill>
                <a:latin typeface="IBM Plex Sans"/>
              </a:rPr>
              <a:t>Beschaffen oder prüfen</a:t>
            </a:r>
          </a:p>
        </p:txBody>
      </p:sp>
      <p:sp>
        <p:nvSpPr>
          <p:cNvPr id="56" name="TextBox 55"/>
          <p:cNvSpPr txBox="1"/>
          <p:nvPr/>
        </p:nvSpPr>
        <p:spPr>
          <a:xfrm>
            <a:off x="3629025" y="2257425"/>
            <a:ext cx="2162175"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Prognose → Beschaffung; |F| ≥ 1 → Netzmanagement.</a:t>
            </a:r>
          </a:p>
        </p:txBody>
      </p:sp>
      <p:sp>
        <p:nvSpPr>
          <p:cNvPr id="57" name="Canvas 09"/>
          <p:cNvSpPr/>
          <p:nvPr/>
        </p:nvSpPr>
        <p:spPr>
          <a:xfrm>
            <a:off x="6229350" y="1409700"/>
            <a:ext cx="2505075" cy="1428750"/>
          </a:xfrm>
          <a:prstGeom prst="roundRect">
            <a:avLst>
              <a:gd name="adj" fmla="val 6666"/>
            </a:avLst>
          </a:prstGeom>
          <a:solidFill>
            <a:srgbClr val="FFFFFF"/>
          </a:solidFill>
          <a:ln w="19050">
            <a:solidFill>
              <a:srgbClr val="00718E"/>
            </a:solidFill>
          </a:ln>
          <a:effectLst/>
        </p:spPr>
        <p:txBody>
          <a:bodyPr rtlCol="0" anchor="ctr"/>
          <a:lstStyle/>
          <a:p>
            <a:pPr algn="ctr"/>
          </a:p>
        </p:txBody>
      </p:sp>
      <p:grpSp>
        <p:nvGrpSpPr>
          <p:cNvPr id="58" name="Scheibe calendar-clock"/>
          <p:cNvGrpSpPr/>
          <p:nvPr/>
        </p:nvGrpSpPr>
        <p:grpSpPr>
          <a:xfrm>
            <a:off x="6400800" y="1562100"/>
            <a:ext cx="342900" cy="342900"/>
            <a:chOff x="6400800" y="1562100"/>
            <a:chExt cx="342900" cy="342900"/>
          </a:xfrm>
        </p:grpSpPr>
        <p:sp>
          <p:nvSpPr>
            <p:cNvPr id="59" name="Oval 58"/>
            <p:cNvSpPr/>
            <p:nvPr/>
          </p:nvSpPr>
          <p:spPr>
            <a:xfrm>
              <a:off x="6400800" y="1562100"/>
              <a:ext cx="342900" cy="342900"/>
            </a:xfrm>
            <a:prstGeom prst="ellipse">
              <a:avLst/>
            </a:prstGeom>
            <a:solidFill>
              <a:srgbClr val="00718E"/>
            </a:solidFill>
            <a:ln>
              <a:noFill/>
            </a:ln>
            <a:effectLst/>
          </p:spPr>
          <p:txBody>
            <a:bodyPr rtlCol="0" anchor="ctr"/>
            <a:lstStyle/>
            <a:p>
              <a:pPr algn="ctr"/>
            </a:p>
          </p:txBody>
        </p:sp>
        <p:pic>
          <p:nvPicPr>
            <p:cNvPr id="60" name="Picture 59" descr="calendar-clock__FFFFFF.png"/>
            <p:cNvPicPr>
              <a:picLocks noChangeAspect="1"/>
            </p:cNvPicPr>
            <p:nvPr/>
          </p:nvPicPr>
          <p:blipFill>
            <a:blip r:embed="rId6"/>
            <a:stretch>
              <a:fillRect/>
            </a:stretch>
          </p:blipFill>
          <p:spPr>
            <a:xfrm>
              <a:off x="6483096" y="1644396"/>
              <a:ext cx="178308" cy="178308"/>
            </a:xfrm>
            <a:prstGeom prst="rect">
              <a:avLst/>
            </a:prstGeom>
          </p:spPr>
        </p:pic>
      </p:grpSp>
      <p:sp>
        <p:nvSpPr>
          <p:cNvPr id="61" name="TextBox 60"/>
          <p:cNvSpPr txBox="1"/>
          <p:nvPr/>
        </p:nvSpPr>
        <p:spPr>
          <a:xfrm>
            <a:off x="6819900" y="1647825"/>
            <a:ext cx="26670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09</a:t>
            </a:r>
          </a:p>
        </p:txBody>
      </p:sp>
      <p:sp>
        <p:nvSpPr>
          <p:cNvPr id="62" name="TextBox 61"/>
          <p:cNvSpPr txBox="1"/>
          <p:nvPr/>
        </p:nvSpPr>
        <p:spPr>
          <a:xfrm>
            <a:off x="7056120" y="1647825"/>
            <a:ext cx="1676400" cy="171450"/>
          </a:xfrm>
          <a:prstGeom prst="rect">
            <a:avLst/>
          </a:prstGeom>
          <a:noFill/>
        </p:spPr>
        <p:txBody>
          <a:bodyPr wrap="none" lIns="0" rIns="0" tIns="0" bIns="0" anchor="t">
            <a:noAutofit/>
          </a:bodyPr>
          <a:lstStyle/>
          <a:p>
            <a:pPr algn="l">
              <a:lnSpc>
                <a:spcPts val="1350"/>
              </a:lnSpc>
            </a:pPr>
            <a:r>
              <a:rPr sz="1050" b="1" i="0" lang="de-DE" spc="63">
                <a:solidFill>
                  <a:srgbClr val="4E5A68"/>
                </a:solidFill>
                <a:latin typeface="IBM Plex Sans"/>
              </a:rPr>
              <a:t>ZEITPUNKT</a:t>
            </a:r>
          </a:p>
        </p:txBody>
      </p:sp>
      <p:sp>
        <p:nvSpPr>
          <p:cNvPr id="63" name="TextBox 62"/>
          <p:cNvSpPr txBox="1"/>
          <p:nvPr/>
        </p:nvSpPr>
        <p:spPr>
          <a:xfrm>
            <a:off x="6400800" y="2000250"/>
            <a:ext cx="2162175" cy="219075"/>
          </a:xfrm>
          <a:prstGeom prst="rect">
            <a:avLst/>
          </a:prstGeom>
          <a:noFill/>
        </p:spPr>
        <p:txBody>
          <a:bodyPr wrap="square" lIns="0" rIns="0" tIns="0" bIns="0" anchor="t">
            <a:noAutofit/>
          </a:bodyPr>
          <a:lstStyle/>
          <a:p>
            <a:pPr algn="l">
              <a:lnSpc>
                <a:spcPts val="1725"/>
              </a:lnSpc>
            </a:pPr>
            <a:r>
              <a:rPr sz="1350" b="1" i="0" lang="de-DE">
                <a:solidFill>
                  <a:srgbClr val="084878"/>
                </a:solidFill>
                <a:latin typeface="IBM Plex Sans"/>
              </a:rPr>
              <a:t>Monatlich, zwei Takte</a:t>
            </a:r>
          </a:p>
        </p:txBody>
      </p:sp>
      <p:sp>
        <p:nvSpPr>
          <p:cNvPr id="64" name="TextBox 63"/>
          <p:cNvSpPr txBox="1"/>
          <p:nvPr/>
        </p:nvSpPr>
        <p:spPr>
          <a:xfrm>
            <a:off x="6400800" y="2257425"/>
            <a:ext cx="2162175"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Prognose vor Monatsbeginn, Prüfung nach Monatsende.</a:t>
            </a:r>
          </a:p>
        </p:txBody>
      </p:sp>
      <p:sp>
        <p:nvSpPr>
          <p:cNvPr id="65" name="Canvas 03"/>
          <p:cNvSpPr/>
          <p:nvPr/>
        </p:nvSpPr>
        <p:spPr>
          <a:xfrm>
            <a:off x="9001125" y="1409700"/>
            <a:ext cx="2505075" cy="1428750"/>
          </a:xfrm>
          <a:prstGeom prst="roundRect">
            <a:avLst>
              <a:gd name="adj" fmla="val 6666"/>
            </a:avLst>
          </a:prstGeom>
          <a:solidFill>
            <a:srgbClr val="FFFFFF"/>
          </a:solidFill>
          <a:ln w="19050">
            <a:solidFill>
              <a:srgbClr val="00718E"/>
            </a:solidFill>
          </a:ln>
          <a:effectLst/>
        </p:spPr>
        <p:txBody>
          <a:bodyPr rtlCol="0" anchor="ctr"/>
          <a:lstStyle/>
          <a:p>
            <a:pPr algn="ctr"/>
          </a:p>
        </p:txBody>
      </p:sp>
      <p:grpSp>
        <p:nvGrpSpPr>
          <p:cNvPr id="66" name="Scheibe chart-spline"/>
          <p:cNvGrpSpPr/>
          <p:nvPr/>
        </p:nvGrpSpPr>
        <p:grpSpPr>
          <a:xfrm>
            <a:off x="9172575" y="1562100"/>
            <a:ext cx="342900" cy="342900"/>
            <a:chOff x="9172575" y="1562100"/>
            <a:chExt cx="342900" cy="342900"/>
          </a:xfrm>
        </p:grpSpPr>
        <p:sp>
          <p:nvSpPr>
            <p:cNvPr id="67" name="Oval 66"/>
            <p:cNvSpPr/>
            <p:nvPr/>
          </p:nvSpPr>
          <p:spPr>
            <a:xfrm>
              <a:off x="9172575" y="1562100"/>
              <a:ext cx="342900" cy="342900"/>
            </a:xfrm>
            <a:prstGeom prst="ellipse">
              <a:avLst/>
            </a:prstGeom>
            <a:solidFill>
              <a:srgbClr val="00718E"/>
            </a:solidFill>
            <a:ln>
              <a:noFill/>
            </a:ln>
            <a:effectLst/>
          </p:spPr>
          <p:txBody>
            <a:bodyPr rtlCol="0" anchor="ctr"/>
            <a:lstStyle/>
            <a:p>
              <a:pPr algn="ctr"/>
            </a:p>
          </p:txBody>
        </p:sp>
        <p:pic>
          <p:nvPicPr>
            <p:cNvPr id="68" name="Picture 67" descr="chart-spline__FFFFFF.png"/>
            <p:cNvPicPr>
              <a:picLocks noChangeAspect="1"/>
            </p:cNvPicPr>
            <p:nvPr/>
          </p:nvPicPr>
          <p:blipFill>
            <a:blip r:embed="rId7"/>
            <a:stretch>
              <a:fillRect/>
            </a:stretch>
          </p:blipFill>
          <p:spPr>
            <a:xfrm>
              <a:off x="9254871" y="1644396"/>
              <a:ext cx="178308" cy="178308"/>
            </a:xfrm>
            <a:prstGeom prst="rect">
              <a:avLst/>
            </a:prstGeom>
          </p:spPr>
        </p:pic>
      </p:grpSp>
      <p:sp>
        <p:nvSpPr>
          <p:cNvPr id="69" name="TextBox 68"/>
          <p:cNvSpPr txBox="1"/>
          <p:nvPr/>
        </p:nvSpPr>
        <p:spPr>
          <a:xfrm>
            <a:off x="9591675" y="1647825"/>
            <a:ext cx="26670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03</a:t>
            </a:r>
          </a:p>
        </p:txBody>
      </p:sp>
      <p:sp>
        <p:nvSpPr>
          <p:cNvPr id="70" name="TextBox 69"/>
          <p:cNvSpPr txBox="1"/>
          <p:nvPr/>
        </p:nvSpPr>
        <p:spPr>
          <a:xfrm>
            <a:off x="9827895" y="1647825"/>
            <a:ext cx="1676400" cy="171450"/>
          </a:xfrm>
          <a:prstGeom prst="rect">
            <a:avLst/>
          </a:prstGeom>
          <a:noFill/>
        </p:spPr>
        <p:txBody>
          <a:bodyPr wrap="none" lIns="0" rIns="0" tIns="0" bIns="0" anchor="t">
            <a:noAutofit/>
          </a:bodyPr>
          <a:lstStyle/>
          <a:p>
            <a:pPr algn="l">
              <a:lnSpc>
                <a:spcPts val="1350"/>
              </a:lnSpc>
            </a:pPr>
            <a:r>
              <a:rPr sz="1050" b="1" i="0" lang="de-DE" spc="63">
                <a:solidFill>
                  <a:srgbClr val="4E5A68"/>
                </a:solidFill>
                <a:latin typeface="IBM Plex Sans"/>
              </a:rPr>
              <a:t>VORHERSAGE</a:t>
            </a:r>
          </a:p>
        </p:txBody>
      </p:sp>
      <p:sp>
        <p:nvSpPr>
          <p:cNvPr id="71" name="TextBox 70"/>
          <p:cNvSpPr txBox="1"/>
          <p:nvPr/>
        </p:nvSpPr>
        <p:spPr>
          <a:xfrm>
            <a:off x="9172575" y="2000250"/>
            <a:ext cx="2162175" cy="219075"/>
          </a:xfrm>
          <a:prstGeom prst="rect">
            <a:avLst/>
          </a:prstGeom>
          <a:noFill/>
        </p:spPr>
        <p:txBody>
          <a:bodyPr wrap="square" lIns="0" rIns="0" tIns="0" bIns="0" anchor="t">
            <a:noAutofit/>
          </a:bodyPr>
          <a:lstStyle/>
          <a:p>
            <a:pPr algn="l">
              <a:lnSpc>
                <a:spcPts val="1725"/>
              </a:lnSpc>
            </a:pPr>
            <a:r>
              <a:rPr sz="1350" b="1" i="0" lang="de-DE">
                <a:solidFill>
                  <a:srgbClr val="084878"/>
                </a:solidFill>
                <a:latin typeface="IBM Plex Sans"/>
              </a:rPr>
              <a:t>Regression je Zähler</a:t>
            </a:r>
          </a:p>
        </p:txBody>
      </p:sp>
      <p:sp>
        <p:nvSpPr>
          <p:cNvPr id="72" name="TextBox 71"/>
          <p:cNvSpPr txBox="1"/>
          <p:nvPr/>
        </p:nvSpPr>
        <p:spPr>
          <a:xfrm>
            <a:off x="9172575" y="2257425"/>
            <a:ext cx="2162175"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Folgemonat in VLS, zurück in kWh; Residuum → Hinweis.</a:t>
            </a:r>
          </a:p>
        </p:txBody>
      </p:sp>
      <p:sp>
        <p:nvSpPr>
          <p:cNvPr id="73" name="Canvas 04"/>
          <p:cNvSpPr/>
          <p:nvPr/>
        </p:nvSpPr>
        <p:spPr>
          <a:xfrm>
            <a:off x="685800" y="2990850"/>
            <a:ext cx="2505075" cy="1428750"/>
          </a:xfrm>
          <a:prstGeom prst="roundRect">
            <a:avLst>
              <a:gd name="adj" fmla="val 6666"/>
            </a:avLst>
          </a:prstGeom>
          <a:solidFill>
            <a:srgbClr val="FFFFFF"/>
          </a:solidFill>
          <a:ln w="19050">
            <a:solidFill>
              <a:srgbClr val="00718E"/>
            </a:solidFill>
          </a:ln>
          <a:effectLst/>
        </p:spPr>
        <p:txBody>
          <a:bodyPr rtlCol="0" anchor="ctr"/>
          <a:lstStyle/>
          <a:p>
            <a:pPr algn="ctr"/>
          </a:p>
        </p:txBody>
      </p:sp>
      <p:grpSp>
        <p:nvGrpSpPr>
          <p:cNvPr id="74" name="Scheibe sliders-horizontal"/>
          <p:cNvGrpSpPr/>
          <p:nvPr/>
        </p:nvGrpSpPr>
        <p:grpSpPr>
          <a:xfrm>
            <a:off x="857250" y="3143250"/>
            <a:ext cx="342900" cy="342900"/>
            <a:chOff x="857250" y="3143250"/>
            <a:chExt cx="342900" cy="342900"/>
          </a:xfrm>
        </p:grpSpPr>
        <p:sp>
          <p:nvSpPr>
            <p:cNvPr id="75" name="Oval 74"/>
            <p:cNvSpPr/>
            <p:nvPr/>
          </p:nvSpPr>
          <p:spPr>
            <a:xfrm>
              <a:off x="857250" y="3143250"/>
              <a:ext cx="342900" cy="342900"/>
            </a:xfrm>
            <a:prstGeom prst="ellipse">
              <a:avLst/>
            </a:prstGeom>
            <a:solidFill>
              <a:srgbClr val="00718E"/>
            </a:solidFill>
            <a:ln>
              <a:noFill/>
            </a:ln>
            <a:effectLst/>
          </p:spPr>
          <p:txBody>
            <a:bodyPr rtlCol="0" anchor="ctr"/>
            <a:lstStyle/>
            <a:p>
              <a:pPr algn="ctr"/>
            </a:p>
          </p:txBody>
        </p:sp>
        <p:pic>
          <p:nvPicPr>
            <p:cNvPr id="76" name="Picture 75" descr="sliders-horizontal__FFFFFF.png"/>
            <p:cNvPicPr>
              <a:picLocks noChangeAspect="1"/>
            </p:cNvPicPr>
            <p:nvPr/>
          </p:nvPicPr>
          <p:blipFill>
            <a:blip r:embed="rId8"/>
            <a:stretch>
              <a:fillRect/>
            </a:stretch>
          </p:blipFill>
          <p:spPr>
            <a:xfrm>
              <a:off x="939546" y="3225546"/>
              <a:ext cx="178308" cy="178308"/>
            </a:xfrm>
            <a:prstGeom prst="rect">
              <a:avLst/>
            </a:prstGeom>
          </p:spPr>
        </p:pic>
      </p:grpSp>
      <p:sp>
        <p:nvSpPr>
          <p:cNvPr id="77" name="TextBox 76"/>
          <p:cNvSpPr txBox="1"/>
          <p:nvPr/>
        </p:nvSpPr>
        <p:spPr>
          <a:xfrm>
            <a:off x="1276350" y="3228975"/>
            <a:ext cx="26670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04</a:t>
            </a:r>
          </a:p>
        </p:txBody>
      </p:sp>
      <p:sp>
        <p:nvSpPr>
          <p:cNvPr id="78" name="TextBox 77"/>
          <p:cNvSpPr txBox="1"/>
          <p:nvPr/>
        </p:nvSpPr>
        <p:spPr>
          <a:xfrm>
            <a:off x="1512570" y="3228975"/>
            <a:ext cx="1676400" cy="171450"/>
          </a:xfrm>
          <a:prstGeom prst="rect">
            <a:avLst/>
          </a:prstGeom>
          <a:noFill/>
        </p:spPr>
        <p:txBody>
          <a:bodyPr wrap="none" lIns="0" rIns="0" tIns="0" bIns="0" anchor="t">
            <a:noAutofit/>
          </a:bodyPr>
          <a:lstStyle/>
          <a:p>
            <a:pPr algn="l">
              <a:lnSpc>
                <a:spcPts val="1350"/>
              </a:lnSpc>
            </a:pPr>
            <a:r>
              <a:rPr sz="1050" b="1" i="0" lang="de-DE" spc="63">
                <a:solidFill>
                  <a:srgbClr val="4E5A68"/>
                </a:solidFill>
                <a:latin typeface="IBM Plex Sans"/>
              </a:rPr>
              <a:t>MERKMALE</a:t>
            </a:r>
          </a:p>
        </p:txBody>
      </p:sp>
      <p:sp>
        <p:nvSpPr>
          <p:cNvPr id="79" name="TextBox 78"/>
          <p:cNvSpPr txBox="1"/>
          <p:nvPr/>
        </p:nvSpPr>
        <p:spPr>
          <a:xfrm>
            <a:off x="857250" y="3581400"/>
            <a:ext cx="2162175" cy="219075"/>
          </a:xfrm>
          <a:prstGeom prst="rect">
            <a:avLst/>
          </a:prstGeom>
          <a:noFill/>
        </p:spPr>
        <p:txBody>
          <a:bodyPr wrap="square" lIns="0" rIns="0" tIns="0" bIns="0" anchor="t">
            <a:noAutofit/>
          </a:bodyPr>
          <a:lstStyle/>
          <a:p>
            <a:pPr algn="l">
              <a:lnSpc>
                <a:spcPts val="1725"/>
              </a:lnSpc>
            </a:pPr>
            <a:r>
              <a:rPr sz="1350" b="1" i="0" lang="de-DE">
                <a:solidFill>
                  <a:srgbClr val="084878"/>
                </a:solidFill>
                <a:latin typeface="IBM Plex Sans"/>
              </a:rPr>
              <a:t>9 Merkmale, alle vorab</a:t>
            </a:r>
          </a:p>
        </p:txBody>
      </p:sp>
      <p:sp>
        <p:nvSpPr>
          <p:cNvPr id="80" name="TextBox 79"/>
          <p:cNvSpPr txBox="1"/>
          <p:nvPr/>
        </p:nvSpPr>
        <p:spPr>
          <a:xfrm>
            <a:off x="857250" y="3838575"/>
            <a:ext cx="2162175"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Bewusst weg: Vorjahr, Temperatur, Anomalie-Spalte.</a:t>
            </a:r>
          </a:p>
        </p:txBody>
      </p:sp>
      <p:sp>
        <p:nvSpPr>
          <p:cNvPr id="81" name="Canvas 02"/>
          <p:cNvSpPr/>
          <p:nvPr/>
        </p:nvSpPr>
        <p:spPr>
          <a:xfrm>
            <a:off x="3457575" y="2990850"/>
            <a:ext cx="2505075" cy="1428750"/>
          </a:xfrm>
          <a:prstGeom prst="roundRect">
            <a:avLst>
              <a:gd name="adj" fmla="val 6666"/>
            </a:avLst>
          </a:prstGeom>
          <a:solidFill>
            <a:srgbClr val="F1F4F7"/>
          </a:solidFill>
          <a:ln w="9525">
            <a:solidFill>
              <a:srgbClr val="E4E9EF"/>
            </a:solidFill>
          </a:ln>
          <a:effectLst/>
        </p:spPr>
        <p:txBody>
          <a:bodyPr rtlCol="0" anchor="ctr"/>
          <a:lstStyle/>
          <a:p>
            <a:pPr algn="ctr"/>
          </a:p>
        </p:txBody>
      </p:sp>
      <p:grpSp>
        <p:nvGrpSpPr>
          <p:cNvPr id="82" name="Scheibe database"/>
          <p:cNvGrpSpPr/>
          <p:nvPr/>
        </p:nvGrpSpPr>
        <p:grpSpPr>
          <a:xfrm>
            <a:off x="3626644" y="3140869"/>
            <a:ext cx="328612" cy="328612"/>
            <a:chOff x="3626644" y="3140869"/>
            <a:chExt cx="328612" cy="328612"/>
          </a:xfrm>
        </p:grpSpPr>
        <p:sp>
          <p:nvSpPr>
            <p:cNvPr id="83" name="Oval 82"/>
            <p:cNvSpPr/>
            <p:nvPr/>
          </p:nvSpPr>
          <p:spPr>
            <a:xfrm>
              <a:off x="3626644" y="3140869"/>
              <a:ext cx="328612" cy="328612"/>
            </a:xfrm>
            <a:prstGeom prst="ellipse">
              <a:avLst/>
            </a:prstGeom>
            <a:solidFill>
              <a:srgbClr val="FFFFFF"/>
            </a:solidFill>
            <a:ln w="14287">
              <a:solidFill>
                <a:srgbClr val="B4BFCB"/>
              </a:solidFill>
            </a:ln>
            <a:effectLst/>
          </p:spPr>
          <p:txBody>
            <a:bodyPr rtlCol="0" anchor="ctr"/>
            <a:lstStyle/>
            <a:p>
              <a:pPr algn="ctr"/>
            </a:p>
          </p:txBody>
        </p:sp>
        <p:pic>
          <p:nvPicPr>
            <p:cNvPr id="84" name="Picture 83" descr="database__084878.png"/>
            <p:cNvPicPr>
              <a:picLocks noChangeAspect="1"/>
            </p:cNvPicPr>
            <p:nvPr/>
          </p:nvPicPr>
          <p:blipFill>
            <a:blip r:embed="rId9"/>
            <a:stretch>
              <a:fillRect/>
            </a:stretch>
          </p:blipFill>
          <p:spPr>
            <a:xfrm>
              <a:off x="3701796" y="3216021"/>
              <a:ext cx="178308" cy="178308"/>
            </a:xfrm>
            <a:prstGeom prst="rect">
              <a:avLst/>
            </a:prstGeom>
          </p:spPr>
        </p:pic>
      </p:grpSp>
      <p:sp>
        <p:nvSpPr>
          <p:cNvPr id="85" name="TextBox 84"/>
          <p:cNvSpPr txBox="1"/>
          <p:nvPr/>
        </p:nvSpPr>
        <p:spPr>
          <a:xfrm>
            <a:off x="4038600" y="3219450"/>
            <a:ext cx="266700" cy="171450"/>
          </a:xfrm>
          <a:prstGeom prst="rect">
            <a:avLst/>
          </a:prstGeom>
          <a:noFill/>
        </p:spPr>
        <p:txBody>
          <a:bodyPr wrap="none" lIns="0" rIns="0" tIns="0" bIns="0" anchor="t">
            <a:noAutofit/>
          </a:bodyPr>
          <a:lstStyle/>
          <a:p>
            <a:pPr algn="l">
              <a:lnSpc>
                <a:spcPts val="1350"/>
              </a:lnSpc>
            </a:pPr>
            <a:r>
              <a:rPr sz="1050" b="1" i="0" lang="de-DE">
                <a:solidFill>
                  <a:srgbClr val="657383"/>
                </a:solidFill>
                <a:latin typeface="Geist Mono"/>
              </a:rPr>
              <a:t>02</a:t>
            </a:r>
          </a:p>
        </p:txBody>
      </p:sp>
      <p:sp>
        <p:nvSpPr>
          <p:cNvPr id="86" name="TextBox 85"/>
          <p:cNvSpPr txBox="1"/>
          <p:nvPr/>
        </p:nvSpPr>
        <p:spPr>
          <a:xfrm>
            <a:off x="4274820" y="3219450"/>
            <a:ext cx="1676400" cy="171450"/>
          </a:xfrm>
          <a:prstGeom prst="rect">
            <a:avLst/>
          </a:prstGeom>
          <a:noFill/>
        </p:spPr>
        <p:txBody>
          <a:bodyPr wrap="none" lIns="0" rIns="0" tIns="0" bIns="0" anchor="t">
            <a:noAutofit/>
          </a:bodyPr>
          <a:lstStyle/>
          <a:p>
            <a:pPr algn="l">
              <a:lnSpc>
                <a:spcPts val="1350"/>
              </a:lnSpc>
            </a:pPr>
            <a:r>
              <a:rPr sz="1050" b="1" i="0" lang="de-DE" spc="63">
                <a:solidFill>
                  <a:srgbClr val="4E5A68"/>
                </a:solidFill>
                <a:latin typeface="IBM Plex Sans"/>
              </a:rPr>
              <a:t>DATENQUELLEN</a:t>
            </a:r>
          </a:p>
        </p:txBody>
      </p:sp>
      <p:sp>
        <p:nvSpPr>
          <p:cNvPr id="87" name="TextBox 86"/>
          <p:cNvSpPr txBox="1"/>
          <p:nvPr/>
        </p:nvSpPr>
        <p:spPr>
          <a:xfrm>
            <a:off x="4857750" y="3224212"/>
            <a:ext cx="942975" cy="161925"/>
          </a:xfrm>
          <a:prstGeom prst="rect">
            <a:avLst/>
          </a:prstGeom>
          <a:noFill/>
        </p:spPr>
        <p:txBody>
          <a:bodyPr wrap="none" lIns="0" rIns="0" tIns="0" bIns="0" anchor="t">
            <a:noAutofit/>
          </a:bodyPr>
          <a:lstStyle/>
          <a:p>
            <a:pPr algn="r">
              <a:lnSpc>
                <a:spcPts val="1275"/>
              </a:lnSpc>
            </a:pPr>
            <a:r>
              <a:rPr sz="975" b="0" i="0" lang="de-DE">
                <a:solidFill>
                  <a:srgbClr val="657383"/>
                </a:solidFill>
                <a:latin typeface="IBM Plex Sans"/>
              </a:rPr>
              <a:t>← Iana</a:t>
            </a:r>
          </a:p>
        </p:txBody>
      </p:sp>
      <p:sp>
        <p:nvSpPr>
          <p:cNvPr id="88" name="TextBox 87"/>
          <p:cNvSpPr txBox="1"/>
          <p:nvPr/>
        </p:nvSpPr>
        <p:spPr>
          <a:xfrm>
            <a:off x="3619500" y="3571875"/>
            <a:ext cx="2181225" cy="219075"/>
          </a:xfrm>
          <a:prstGeom prst="rect">
            <a:avLst/>
          </a:prstGeom>
          <a:noFill/>
        </p:spPr>
        <p:txBody>
          <a:bodyPr wrap="square" lIns="0" rIns="0" tIns="0" bIns="0" anchor="t">
            <a:noAutofit/>
          </a:bodyPr>
          <a:lstStyle/>
          <a:p>
            <a:pPr algn="l">
              <a:lnSpc>
                <a:spcPts val="1725"/>
              </a:lnSpc>
            </a:pPr>
            <a:r>
              <a:rPr sz="1350" b="1" i="0" lang="de-DE">
                <a:solidFill>
                  <a:srgbClr val="141A21"/>
                </a:solidFill>
                <a:latin typeface="IBM Plex Sans"/>
              </a:rPr>
              <a:t>700 Zähler · 24 Monate</a:t>
            </a:r>
          </a:p>
        </p:txBody>
      </p:sp>
      <p:sp>
        <p:nvSpPr>
          <p:cNvPr id="89" name="TextBox 88"/>
          <p:cNvSpPr txBox="1"/>
          <p:nvPr/>
        </p:nvSpPr>
        <p:spPr>
          <a:xfrm>
            <a:off x="3619500" y="3829050"/>
            <a:ext cx="2181225"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CSV-Monatswerte: Verbrauch, Vertrag, Wetter, Pläne.</a:t>
            </a:r>
          </a:p>
        </p:txBody>
      </p:sp>
      <p:sp>
        <p:nvSpPr>
          <p:cNvPr id="90" name="Canvas 05"/>
          <p:cNvSpPr/>
          <p:nvPr/>
        </p:nvSpPr>
        <p:spPr>
          <a:xfrm>
            <a:off x="6229350" y="2990850"/>
            <a:ext cx="2505075" cy="1428750"/>
          </a:xfrm>
          <a:prstGeom prst="roundRect">
            <a:avLst>
              <a:gd name="adj" fmla="val 6666"/>
            </a:avLst>
          </a:prstGeom>
          <a:solidFill>
            <a:srgbClr val="FFFFFF"/>
          </a:solidFill>
          <a:ln w="19050">
            <a:solidFill>
              <a:srgbClr val="00718E"/>
            </a:solidFill>
          </a:ln>
          <a:effectLst/>
        </p:spPr>
        <p:txBody>
          <a:bodyPr rtlCol="0" anchor="ctr"/>
          <a:lstStyle/>
          <a:p>
            <a:pPr algn="ctr"/>
          </a:p>
        </p:txBody>
      </p:sp>
      <p:grpSp>
        <p:nvGrpSpPr>
          <p:cNvPr id="91" name="Scheibe trees"/>
          <p:cNvGrpSpPr/>
          <p:nvPr/>
        </p:nvGrpSpPr>
        <p:grpSpPr>
          <a:xfrm>
            <a:off x="6400800" y="3143250"/>
            <a:ext cx="342900" cy="342900"/>
            <a:chOff x="6400800" y="3143250"/>
            <a:chExt cx="342900" cy="342900"/>
          </a:xfrm>
        </p:grpSpPr>
        <p:sp>
          <p:nvSpPr>
            <p:cNvPr id="92" name="Oval 91"/>
            <p:cNvSpPr/>
            <p:nvPr/>
          </p:nvSpPr>
          <p:spPr>
            <a:xfrm>
              <a:off x="6400800" y="3143250"/>
              <a:ext cx="342900" cy="342900"/>
            </a:xfrm>
            <a:prstGeom prst="ellipse">
              <a:avLst/>
            </a:prstGeom>
            <a:solidFill>
              <a:srgbClr val="00718E"/>
            </a:solidFill>
            <a:ln>
              <a:noFill/>
            </a:ln>
            <a:effectLst/>
          </p:spPr>
          <p:txBody>
            <a:bodyPr rtlCol="0" anchor="ctr"/>
            <a:lstStyle/>
            <a:p>
              <a:pPr algn="ctr"/>
            </a:p>
          </p:txBody>
        </p:sp>
        <p:pic>
          <p:nvPicPr>
            <p:cNvPr id="93" name="Picture 92" descr="trees__FFFFFF.png"/>
            <p:cNvPicPr>
              <a:picLocks noChangeAspect="1"/>
            </p:cNvPicPr>
            <p:nvPr/>
          </p:nvPicPr>
          <p:blipFill>
            <a:blip r:embed="rId10"/>
            <a:stretch>
              <a:fillRect/>
            </a:stretch>
          </p:blipFill>
          <p:spPr>
            <a:xfrm>
              <a:off x="6483096" y="3225546"/>
              <a:ext cx="178308" cy="178308"/>
            </a:xfrm>
            <a:prstGeom prst="rect">
              <a:avLst/>
            </a:prstGeom>
          </p:spPr>
        </p:pic>
      </p:grpSp>
      <p:sp>
        <p:nvSpPr>
          <p:cNvPr id="94" name="TextBox 93"/>
          <p:cNvSpPr txBox="1"/>
          <p:nvPr/>
        </p:nvSpPr>
        <p:spPr>
          <a:xfrm>
            <a:off x="6819900" y="3228975"/>
            <a:ext cx="26670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05</a:t>
            </a:r>
          </a:p>
        </p:txBody>
      </p:sp>
      <p:sp>
        <p:nvSpPr>
          <p:cNvPr id="95" name="TextBox 94"/>
          <p:cNvSpPr txBox="1"/>
          <p:nvPr/>
        </p:nvSpPr>
        <p:spPr>
          <a:xfrm>
            <a:off x="7056120" y="3228975"/>
            <a:ext cx="1676400" cy="171450"/>
          </a:xfrm>
          <a:prstGeom prst="rect">
            <a:avLst/>
          </a:prstGeom>
          <a:noFill/>
        </p:spPr>
        <p:txBody>
          <a:bodyPr wrap="none" lIns="0" rIns="0" tIns="0" bIns="0" anchor="t">
            <a:noAutofit/>
          </a:bodyPr>
          <a:lstStyle/>
          <a:p>
            <a:pPr algn="l">
              <a:lnSpc>
                <a:spcPts val="1350"/>
              </a:lnSpc>
            </a:pPr>
            <a:r>
              <a:rPr sz="1050" b="1" i="0" lang="de-DE" spc="63">
                <a:solidFill>
                  <a:srgbClr val="4E5A68"/>
                </a:solidFill>
                <a:latin typeface="IBM Plex Sans"/>
              </a:rPr>
              <a:t>LERNANSATZ</a:t>
            </a:r>
          </a:p>
        </p:txBody>
      </p:sp>
      <p:sp>
        <p:nvSpPr>
          <p:cNvPr id="96" name="TextBox 95"/>
          <p:cNvSpPr txBox="1"/>
          <p:nvPr/>
        </p:nvSpPr>
        <p:spPr>
          <a:xfrm>
            <a:off x="6400800" y="3581400"/>
            <a:ext cx="2162175" cy="219075"/>
          </a:xfrm>
          <a:prstGeom prst="rect">
            <a:avLst/>
          </a:prstGeom>
          <a:noFill/>
        </p:spPr>
        <p:txBody>
          <a:bodyPr wrap="square" lIns="0" rIns="0" tIns="0" bIns="0" anchor="t">
            <a:noAutofit/>
          </a:bodyPr>
          <a:lstStyle/>
          <a:p>
            <a:pPr algn="l">
              <a:lnSpc>
                <a:spcPts val="1725"/>
              </a:lnSpc>
            </a:pPr>
            <a:r>
              <a:rPr sz="1350" b="1" i="0" lang="de-DE">
                <a:solidFill>
                  <a:srgbClr val="084878"/>
                </a:solidFill>
                <a:latin typeface="IBM Plex Sans"/>
              </a:rPr>
              <a:t>Überwachte Regression</a:t>
            </a:r>
          </a:p>
        </p:txBody>
      </p:sp>
      <p:sp>
        <p:nvSpPr>
          <p:cNvPr id="97" name="TextBox 96"/>
          <p:cNvSpPr txBox="1"/>
          <p:nvPr/>
        </p:nvSpPr>
        <p:spPr>
          <a:xfrm>
            <a:off x="6400800" y="3838575"/>
            <a:ext cx="2162175"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Random Forest gegen lineare Referenz; noch keine Labels.</a:t>
            </a:r>
          </a:p>
        </p:txBody>
      </p:sp>
      <p:sp>
        <p:nvSpPr>
          <p:cNvPr id="98" name="Canvas 06"/>
          <p:cNvSpPr/>
          <p:nvPr/>
        </p:nvSpPr>
        <p:spPr>
          <a:xfrm>
            <a:off x="9001125" y="2990850"/>
            <a:ext cx="2505075" cy="1428750"/>
          </a:xfrm>
          <a:prstGeom prst="roundRect">
            <a:avLst>
              <a:gd name="adj" fmla="val 6666"/>
            </a:avLst>
          </a:prstGeom>
          <a:solidFill>
            <a:srgbClr val="FFFFFF"/>
          </a:solidFill>
          <a:ln w="19050">
            <a:solidFill>
              <a:srgbClr val="00718E"/>
            </a:solidFill>
          </a:ln>
          <a:effectLst/>
        </p:spPr>
        <p:txBody>
          <a:bodyPr rtlCol="0" anchor="ctr"/>
          <a:lstStyle/>
          <a:p>
            <a:pPr algn="ctr"/>
          </a:p>
        </p:txBody>
      </p:sp>
      <p:grpSp>
        <p:nvGrpSpPr>
          <p:cNvPr id="99" name="Scheibe ruler"/>
          <p:cNvGrpSpPr/>
          <p:nvPr/>
        </p:nvGrpSpPr>
        <p:grpSpPr>
          <a:xfrm>
            <a:off x="9172575" y="3143250"/>
            <a:ext cx="342900" cy="342900"/>
            <a:chOff x="9172575" y="3143250"/>
            <a:chExt cx="342900" cy="342900"/>
          </a:xfrm>
        </p:grpSpPr>
        <p:sp>
          <p:nvSpPr>
            <p:cNvPr id="100" name="Oval 99"/>
            <p:cNvSpPr/>
            <p:nvPr/>
          </p:nvSpPr>
          <p:spPr>
            <a:xfrm>
              <a:off x="9172575" y="3143250"/>
              <a:ext cx="342900" cy="342900"/>
            </a:xfrm>
            <a:prstGeom prst="ellipse">
              <a:avLst/>
            </a:prstGeom>
            <a:solidFill>
              <a:srgbClr val="00718E"/>
            </a:solidFill>
            <a:ln>
              <a:noFill/>
            </a:ln>
            <a:effectLst/>
          </p:spPr>
          <p:txBody>
            <a:bodyPr rtlCol="0" anchor="ctr"/>
            <a:lstStyle/>
            <a:p>
              <a:pPr algn="ctr"/>
            </a:p>
          </p:txBody>
        </p:sp>
        <p:pic>
          <p:nvPicPr>
            <p:cNvPr id="101" name="Picture 100" descr="ruler__FFFFFF.png"/>
            <p:cNvPicPr>
              <a:picLocks noChangeAspect="1"/>
            </p:cNvPicPr>
            <p:nvPr/>
          </p:nvPicPr>
          <p:blipFill>
            <a:blip r:embed="rId11"/>
            <a:stretch>
              <a:fillRect/>
            </a:stretch>
          </p:blipFill>
          <p:spPr>
            <a:xfrm>
              <a:off x="9254871" y="3225546"/>
              <a:ext cx="178308" cy="178308"/>
            </a:xfrm>
            <a:prstGeom prst="rect">
              <a:avLst/>
            </a:prstGeom>
          </p:spPr>
        </p:pic>
      </p:grpSp>
      <p:sp>
        <p:nvSpPr>
          <p:cNvPr id="102" name="TextBox 101"/>
          <p:cNvSpPr txBox="1"/>
          <p:nvPr/>
        </p:nvSpPr>
        <p:spPr>
          <a:xfrm>
            <a:off x="9591675" y="3228975"/>
            <a:ext cx="26670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06</a:t>
            </a:r>
          </a:p>
        </p:txBody>
      </p:sp>
      <p:sp>
        <p:nvSpPr>
          <p:cNvPr id="103" name="TextBox 102"/>
          <p:cNvSpPr txBox="1"/>
          <p:nvPr/>
        </p:nvSpPr>
        <p:spPr>
          <a:xfrm>
            <a:off x="9827895" y="3228975"/>
            <a:ext cx="1676400" cy="171450"/>
          </a:xfrm>
          <a:prstGeom prst="rect">
            <a:avLst/>
          </a:prstGeom>
          <a:noFill/>
        </p:spPr>
        <p:txBody>
          <a:bodyPr wrap="none" lIns="0" rIns="0" tIns="0" bIns="0" anchor="t">
            <a:noAutofit/>
          </a:bodyPr>
          <a:lstStyle/>
          <a:p>
            <a:pPr algn="l">
              <a:lnSpc>
                <a:spcPts val="1350"/>
              </a:lnSpc>
            </a:pPr>
            <a:r>
              <a:rPr sz="1050" b="1" i="0" lang="de-DE" spc="63">
                <a:solidFill>
                  <a:srgbClr val="4E5A68"/>
                </a:solidFill>
                <a:latin typeface="IBM Plex Sans"/>
              </a:rPr>
              <a:t>EVALUATION</a:t>
            </a:r>
          </a:p>
        </p:txBody>
      </p:sp>
      <p:sp>
        <p:nvSpPr>
          <p:cNvPr id="104" name="TextBox 103"/>
          <p:cNvSpPr txBox="1"/>
          <p:nvPr/>
        </p:nvSpPr>
        <p:spPr>
          <a:xfrm>
            <a:off x="9172575" y="3581400"/>
            <a:ext cx="2162175" cy="219075"/>
          </a:xfrm>
          <a:prstGeom prst="rect">
            <a:avLst/>
          </a:prstGeom>
          <a:noFill/>
        </p:spPr>
        <p:txBody>
          <a:bodyPr wrap="square" lIns="0" rIns="0" tIns="0" bIns="0" anchor="t">
            <a:noAutofit/>
          </a:bodyPr>
          <a:lstStyle/>
          <a:p>
            <a:pPr algn="l">
              <a:lnSpc>
                <a:spcPts val="1725"/>
              </a:lnSpc>
            </a:pPr>
            <a:r>
              <a:rPr sz="1350" b="1" i="0" lang="de-DE">
                <a:solidFill>
                  <a:srgbClr val="084878"/>
                </a:solidFill>
                <a:latin typeface="IBM Plex Sans"/>
              </a:rPr>
              <a:t>RMSE in kWh</a:t>
            </a:r>
          </a:p>
        </p:txBody>
      </p:sp>
      <p:sp>
        <p:nvSpPr>
          <p:cNvPr id="105" name="TextBox 104"/>
          <p:cNvSpPr txBox="1"/>
          <p:nvPr/>
        </p:nvSpPr>
        <p:spPr>
          <a:xfrm>
            <a:off x="9172575" y="3838575"/>
            <a:ext cx="2162175"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2 Baselines, 3 Zeit-Folds, Test 2025; Precision@K im Pilot.</a:t>
            </a:r>
          </a:p>
        </p:txBody>
      </p:sp>
      <p:sp>
        <p:nvSpPr>
          <p:cNvPr id="106" name="Canvas 08"/>
          <p:cNvSpPr/>
          <p:nvPr/>
        </p:nvSpPr>
        <p:spPr>
          <a:xfrm>
            <a:off x="685800" y="4572000"/>
            <a:ext cx="5067300" cy="1371600"/>
          </a:xfrm>
          <a:prstGeom prst="roundRect">
            <a:avLst>
              <a:gd name="adj" fmla="val 6944"/>
            </a:avLst>
          </a:prstGeom>
          <a:solidFill>
            <a:srgbClr val="F1F4F7"/>
          </a:solidFill>
          <a:ln w="9525">
            <a:solidFill>
              <a:srgbClr val="E4E9EF"/>
            </a:solidFill>
          </a:ln>
          <a:effectLst/>
        </p:spPr>
        <p:txBody>
          <a:bodyPr rtlCol="0" anchor="ctr"/>
          <a:lstStyle/>
          <a:p>
            <a:pPr algn="ctr"/>
          </a:p>
        </p:txBody>
      </p:sp>
      <p:grpSp>
        <p:nvGrpSpPr>
          <p:cNvPr id="107" name="Scheibe target"/>
          <p:cNvGrpSpPr/>
          <p:nvPr/>
        </p:nvGrpSpPr>
        <p:grpSpPr>
          <a:xfrm>
            <a:off x="854869" y="4722019"/>
            <a:ext cx="328612" cy="328612"/>
            <a:chOff x="854869" y="4722019"/>
            <a:chExt cx="328612" cy="328612"/>
          </a:xfrm>
        </p:grpSpPr>
        <p:sp>
          <p:nvSpPr>
            <p:cNvPr id="108" name="Oval 107"/>
            <p:cNvSpPr/>
            <p:nvPr/>
          </p:nvSpPr>
          <p:spPr>
            <a:xfrm>
              <a:off x="854869" y="4722019"/>
              <a:ext cx="328612" cy="328612"/>
            </a:xfrm>
            <a:prstGeom prst="ellipse">
              <a:avLst/>
            </a:prstGeom>
            <a:solidFill>
              <a:srgbClr val="FFFFFF"/>
            </a:solidFill>
            <a:ln w="14287">
              <a:solidFill>
                <a:srgbClr val="B4BFCB"/>
              </a:solidFill>
            </a:ln>
            <a:effectLst/>
          </p:spPr>
          <p:txBody>
            <a:bodyPr rtlCol="0" anchor="ctr"/>
            <a:lstStyle/>
            <a:p>
              <a:pPr algn="ctr"/>
            </a:p>
          </p:txBody>
        </p:sp>
        <p:pic>
          <p:nvPicPr>
            <p:cNvPr id="109" name="Picture 108" descr="target__084878.png"/>
            <p:cNvPicPr>
              <a:picLocks noChangeAspect="1"/>
            </p:cNvPicPr>
            <p:nvPr/>
          </p:nvPicPr>
          <p:blipFill>
            <a:blip r:embed="rId12"/>
            <a:stretch>
              <a:fillRect/>
            </a:stretch>
          </p:blipFill>
          <p:spPr>
            <a:xfrm>
              <a:off x="930021" y="4797171"/>
              <a:ext cx="178308" cy="178308"/>
            </a:xfrm>
            <a:prstGeom prst="rect">
              <a:avLst/>
            </a:prstGeom>
          </p:spPr>
        </p:pic>
      </p:grpSp>
      <p:sp>
        <p:nvSpPr>
          <p:cNvPr id="110" name="TextBox 109"/>
          <p:cNvSpPr txBox="1"/>
          <p:nvPr/>
        </p:nvSpPr>
        <p:spPr>
          <a:xfrm>
            <a:off x="1266825" y="4800600"/>
            <a:ext cx="266700" cy="171450"/>
          </a:xfrm>
          <a:prstGeom prst="rect">
            <a:avLst/>
          </a:prstGeom>
          <a:noFill/>
        </p:spPr>
        <p:txBody>
          <a:bodyPr wrap="none" lIns="0" rIns="0" tIns="0" bIns="0" anchor="t">
            <a:noAutofit/>
          </a:bodyPr>
          <a:lstStyle/>
          <a:p>
            <a:pPr algn="l">
              <a:lnSpc>
                <a:spcPts val="1350"/>
              </a:lnSpc>
            </a:pPr>
            <a:r>
              <a:rPr sz="1050" b="1" i="0" lang="de-DE">
                <a:solidFill>
                  <a:srgbClr val="657383"/>
                </a:solidFill>
                <a:latin typeface="Geist Mono"/>
              </a:rPr>
              <a:t>08</a:t>
            </a:r>
          </a:p>
        </p:txBody>
      </p:sp>
      <p:sp>
        <p:nvSpPr>
          <p:cNvPr id="111" name="TextBox 110"/>
          <p:cNvSpPr txBox="1"/>
          <p:nvPr/>
        </p:nvSpPr>
        <p:spPr>
          <a:xfrm>
            <a:off x="1503045" y="4800600"/>
            <a:ext cx="1676400" cy="171450"/>
          </a:xfrm>
          <a:prstGeom prst="rect">
            <a:avLst/>
          </a:prstGeom>
          <a:noFill/>
        </p:spPr>
        <p:txBody>
          <a:bodyPr wrap="none" lIns="0" rIns="0" tIns="0" bIns="0" anchor="t">
            <a:noAutofit/>
          </a:bodyPr>
          <a:lstStyle/>
          <a:p>
            <a:pPr algn="l">
              <a:lnSpc>
                <a:spcPts val="1350"/>
              </a:lnSpc>
            </a:pPr>
            <a:r>
              <a:rPr sz="1050" b="1" i="0" lang="de-DE" spc="63">
                <a:solidFill>
                  <a:srgbClr val="4E5A68"/>
                </a:solidFill>
                <a:latin typeface="IBM Plex Sans"/>
              </a:rPr>
              <a:t>IMPACT</a:t>
            </a:r>
          </a:p>
        </p:txBody>
      </p:sp>
      <p:sp>
        <p:nvSpPr>
          <p:cNvPr id="112" name="TextBox 111"/>
          <p:cNvSpPr txBox="1"/>
          <p:nvPr/>
        </p:nvSpPr>
        <p:spPr>
          <a:xfrm>
            <a:off x="4648200" y="4805362"/>
            <a:ext cx="942975" cy="161925"/>
          </a:xfrm>
          <a:prstGeom prst="rect">
            <a:avLst/>
          </a:prstGeom>
          <a:noFill/>
        </p:spPr>
        <p:txBody>
          <a:bodyPr wrap="none" lIns="0" rIns="0" tIns="0" bIns="0" anchor="t">
            <a:noAutofit/>
          </a:bodyPr>
          <a:lstStyle/>
          <a:p>
            <a:pPr algn="r">
              <a:lnSpc>
                <a:spcPts val="1275"/>
              </a:lnSpc>
            </a:pPr>
            <a:r>
              <a:rPr sz="975" b="0" i="0" lang="de-DE">
                <a:solidFill>
                  <a:srgbClr val="657383"/>
                </a:solidFill>
                <a:latin typeface="IBM Plex Sans"/>
              </a:rPr>
              <a:t>→ Patrick</a:t>
            </a:r>
          </a:p>
        </p:txBody>
      </p:sp>
      <p:sp>
        <p:nvSpPr>
          <p:cNvPr id="113" name="TextBox 112"/>
          <p:cNvSpPr txBox="1"/>
          <p:nvPr/>
        </p:nvSpPr>
        <p:spPr>
          <a:xfrm>
            <a:off x="847725" y="5153025"/>
            <a:ext cx="4743450" cy="219075"/>
          </a:xfrm>
          <a:prstGeom prst="rect">
            <a:avLst/>
          </a:prstGeom>
          <a:noFill/>
        </p:spPr>
        <p:txBody>
          <a:bodyPr wrap="square" lIns="0" rIns="0" tIns="0" bIns="0" anchor="t">
            <a:noAutofit/>
          </a:bodyPr>
          <a:lstStyle/>
          <a:p>
            <a:pPr algn="l">
              <a:lnSpc>
                <a:spcPts val="1725"/>
              </a:lnSpc>
            </a:pPr>
            <a:r>
              <a:rPr sz="1350" b="1" i="0" lang="de-DE">
                <a:solidFill>
                  <a:srgbClr val="141A21"/>
                </a:solidFill>
                <a:latin typeface="IBM Plex Sans"/>
              </a:rPr>
              <a:t>Test 2025: −15,9 % RMSE · 9,5 Hinweise/Monat</a:t>
            </a:r>
          </a:p>
        </p:txBody>
      </p:sp>
      <p:sp>
        <p:nvSpPr>
          <p:cNvPr id="114" name="TextBox 113"/>
          <p:cNvSpPr txBox="1"/>
          <p:nvPr/>
        </p:nvSpPr>
        <p:spPr>
          <a:xfrm>
            <a:off x="847725" y="5410200"/>
            <a:ext cx="4743450"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Euro nicht belegt: Spotmarkt-Kosten, Prüfzeit und Bestätigungsquote misst der Pilot.</a:t>
            </a:r>
          </a:p>
        </p:txBody>
      </p:sp>
      <p:sp>
        <p:nvSpPr>
          <p:cNvPr id="115" name="Canvas 10"/>
          <p:cNvSpPr/>
          <p:nvPr/>
        </p:nvSpPr>
        <p:spPr>
          <a:xfrm>
            <a:off x="6019800" y="4572000"/>
            <a:ext cx="5067300" cy="1371600"/>
          </a:xfrm>
          <a:prstGeom prst="roundRect">
            <a:avLst>
              <a:gd name="adj" fmla="val 6944"/>
            </a:avLst>
          </a:prstGeom>
          <a:solidFill>
            <a:srgbClr val="F1F4F7"/>
          </a:solidFill>
          <a:ln w="9525">
            <a:solidFill>
              <a:srgbClr val="E4E9EF"/>
            </a:solidFill>
          </a:ln>
          <a:effectLst/>
        </p:spPr>
        <p:txBody>
          <a:bodyPr rtlCol="0" anchor="ctr"/>
          <a:lstStyle/>
          <a:p>
            <a:pPr algn="ctr"/>
          </a:p>
        </p:txBody>
      </p:sp>
      <p:grpSp>
        <p:nvGrpSpPr>
          <p:cNvPr id="116" name="Scheibe activity"/>
          <p:cNvGrpSpPr/>
          <p:nvPr/>
        </p:nvGrpSpPr>
        <p:grpSpPr>
          <a:xfrm>
            <a:off x="6188869" y="4722019"/>
            <a:ext cx="328612" cy="328612"/>
            <a:chOff x="6188869" y="4722019"/>
            <a:chExt cx="328612" cy="328612"/>
          </a:xfrm>
        </p:grpSpPr>
        <p:sp>
          <p:nvSpPr>
            <p:cNvPr id="117" name="Oval 116"/>
            <p:cNvSpPr/>
            <p:nvPr/>
          </p:nvSpPr>
          <p:spPr>
            <a:xfrm>
              <a:off x="6188869" y="4722019"/>
              <a:ext cx="328612" cy="328612"/>
            </a:xfrm>
            <a:prstGeom prst="ellipse">
              <a:avLst/>
            </a:prstGeom>
            <a:solidFill>
              <a:srgbClr val="FFFFFF"/>
            </a:solidFill>
            <a:ln w="14287">
              <a:solidFill>
                <a:srgbClr val="B4BFCB"/>
              </a:solidFill>
            </a:ln>
            <a:effectLst/>
          </p:spPr>
          <p:txBody>
            <a:bodyPr rtlCol="0" anchor="ctr"/>
            <a:lstStyle/>
            <a:p>
              <a:pPr algn="ctr"/>
            </a:p>
          </p:txBody>
        </p:sp>
        <p:pic>
          <p:nvPicPr>
            <p:cNvPr id="118" name="Picture 117" descr="activity__084878.png"/>
            <p:cNvPicPr>
              <a:picLocks noChangeAspect="1"/>
            </p:cNvPicPr>
            <p:nvPr/>
          </p:nvPicPr>
          <p:blipFill>
            <a:blip r:embed="rId13"/>
            <a:stretch>
              <a:fillRect/>
            </a:stretch>
          </p:blipFill>
          <p:spPr>
            <a:xfrm>
              <a:off x="6264021" y="4797171"/>
              <a:ext cx="178308" cy="178308"/>
            </a:xfrm>
            <a:prstGeom prst="rect">
              <a:avLst/>
            </a:prstGeom>
          </p:spPr>
        </p:pic>
      </p:grpSp>
      <p:sp>
        <p:nvSpPr>
          <p:cNvPr id="119" name="TextBox 118"/>
          <p:cNvSpPr txBox="1"/>
          <p:nvPr/>
        </p:nvSpPr>
        <p:spPr>
          <a:xfrm>
            <a:off x="6600825" y="4800600"/>
            <a:ext cx="266700" cy="171450"/>
          </a:xfrm>
          <a:prstGeom prst="rect">
            <a:avLst/>
          </a:prstGeom>
          <a:noFill/>
        </p:spPr>
        <p:txBody>
          <a:bodyPr wrap="none" lIns="0" rIns="0" tIns="0" bIns="0" anchor="t">
            <a:noAutofit/>
          </a:bodyPr>
          <a:lstStyle/>
          <a:p>
            <a:pPr algn="l">
              <a:lnSpc>
                <a:spcPts val="1350"/>
              </a:lnSpc>
            </a:pPr>
            <a:r>
              <a:rPr sz="1050" b="1" i="0" lang="de-DE">
                <a:solidFill>
                  <a:srgbClr val="657383"/>
                </a:solidFill>
                <a:latin typeface="Geist Mono"/>
              </a:rPr>
              <a:t>10</a:t>
            </a:r>
          </a:p>
        </p:txBody>
      </p:sp>
      <p:sp>
        <p:nvSpPr>
          <p:cNvPr id="120" name="TextBox 119"/>
          <p:cNvSpPr txBox="1"/>
          <p:nvPr/>
        </p:nvSpPr>
        <p:spPr>
          <a:xfrm>
            <a:off x="6837045" y="4800600"/>
            <a:ext cx="1676400" cy="171450"/>
          </a:xfrm>
          <a:prstGeom prst="rect">
            <a:avLst/>
          </a:prstGeom>
          <a:noFill/>
        </p:spPr>
        <p:txBody>
          <a:bodyPr wrap="none" lIns="0" rIns="0" tIns="0" bIns="0" anchor="t">
            <a:noAutofit/>
          </a:bodyPr>
          <a:lstStyle/>
          <a:p>
            <a:pPr algn="l">
              <a:lnSpc>
                <a:spcPts val="1350"/>
              </a:lnSpc>
            </a:pPr>
            <a:r>
              <a:rPr sz="1050" b="1" i="0" lang="de-DE" spc="63">
                <a:solidFill>
                  <a:srgbClr val="4E5A68"/>
                </a:solidFill>
                <a:latin typeface="IBM Plex Sans"/>
              </a:rPr>
              <a:t>MONITORING</a:t>
            </a:r>
          </a:p>
        </p:txBody>
      </p:sp>
      <p:sp>
        <p:nvSpPr>
          <p:cNvPr id="121" name="TextBox 120"/>
          <p:cNvSpPr txBox="1"/>
          <p:nvPr/>
        </p:nvSpPr>
        <p:spPr>
          <a:xfrm>
            <a:off x="9982200" y="4805362"/>
            <a:ext cx="942975" cy="161925"/>
          </a:xfrm>
          <a:prstGeom prst="rect">
            <a:avLst/>
          </a:prstGeom>
          <a:noFill/>
        </p:spPr>
        <p:txBody>
          <a:bodyPr wrap="none" lIns="0" rIns="0" tIns="0" bIns="0" anchor="t">
            <a:noAutofit/>
          </a:bodyPr>
          <a:lstStyle/>
          <a:p>
            <a:pPr algn="r">
              <a:lnSpc>
                <a:spcPts val="1275"/>
              </a:lnSpc>
            </a:pPr>
            <a:r>
              <a:rPr sz="975" b="0" i="0" lang="de-DE">
                <a:solidFill>
                  <a:srgbClr val="657383"/>
                </a:solidFill>
                <a:latin typeface="IBM Plex Sans"/>
              </a:rPr>
              <a:t>→ Patrick</a:t>
            </a:r>
          </a:p>
        </p:txBody>
      </p:sp>
      <p:sp>
        <p:nvSpPr>
          <p:cNvPr id="122" name="TextBox 121"/>
          <p:cNvSpPr txBox="1"/>
          <p:nvPr/>
        </p:nvSpPr>
        <p:spPr>
          <a:xfrm>
            <a:off x="6181725" y="5153025"/>
            <a:ext cx="4743450" cy="219075"/>
          </a:xfrm>
          <a:prstGeom prst="rect">
            <a:avLst/>
          </a:prstGeom>
          <a:noFill/>
        </p:spPr>
        <p:txBody>
          <a:bodyPr wrap="square" lIns="0" rIns="0" tIns="0" bIns="0" anchor="t">
            <a:noAutofit/>
          </a:bodyPr>
          <a:lstStyle/>
          <a:p>
            <a:pPr algn="l">
              <a:lnSpc>
                <a:spcPts val="1725"/>
              </a:lnSpc>
            </a:pPr>
            <a:r>
              <a:rPr sz="1350" b="1" i="0" lang="de-DE">
                <a:solidFill>
                  <a:srgbClr val="141A21"/>
                </a:solidFill>
                <a:latin typeface="IBM Plex Sans"/>
              </a:rPr>
              <a:t>Monatlich kontrollieren</a:t>
            </a:r>
          </a:p>
        </p:txBody>
      </p:sp>
      <p:sp>
        <p:nvSpPr>
          <p:cNvPr id="123" name="TextBox 122"/>
          <p:cNvSpPr txBox="1"/>
          <p:nvPr/>
        </p:nvSpPr>
        <p:spPr>
          <a:xfrm>
            <a:off x="6181725" y="5410200"/>
            <a:ext cx="4743450" cy="381000"/>
          </a:xfrm>
          <a:prstGeom prst="rect">
            <a:avLst/>
          </a:prstGeom>
          <a:noFill/>
        </p:spPr>
        <p:txBody>
          <a:bodyPr wrap="square" lIns="0" rIns="0" tIns="0" bIns="0" anchor="t">
            <a:noAutofit/>
          </a:bodyPr>
          <a:lstStyle/>
          <a:p>
            <a:pPr algn="l">
              <a:lnSpc>
                <a:spcPts val="1500"/>
              </a:lnSpc>
            </a:pPr>
            <a:r>
              <a:rPr sz="1125" b="0" i="0" lang="de-DE">
                <a:solidFill>
                  <a:srgbClr val="4E5A68"/>
                </a:solidFill>
                <a:latin typeface="IBM Plex Sans"/>
              </a:rPr>
              <a:t>Fehler, Drift, Hinweisvolumen je Monat; Schwelle oder Modell erst bei belegter Verschlechterung erneuern.</a:t>
            </a:r>
          </a:p>
        </p:txBody>
      </p:sp>
      <p:sp>
        <p:nvSpPr>
          <p:cNvPr id="124" name="Chevron"/>
          <p:cNvSpPr/>
          <p:nvPr/>
        </p:nvSpPr>
        <p:spPr>
          <a:xfrm>
            <a:off x="3305175" y="2063458"/>
            <a:ext cx="60617" cy="121234"/>
          </a:xfrm>
          <a:custGeom>
            <a:avLst/>
            <a:gdLst/>
            <a:ahLst/>
            <a:cxnLst/>
            <a:rect l="l" t="t" r="r" b="b"/>
            <a:pathLst>
              <a:path w="60617" h="121234">
                <a:moveTo>
                  <a:pt x="0" y="0"/>
                </a:moveTo>
                <a:lnTo>
                  <a:pt x="60617" y="60617"/>
                </a:lnTo>
                <a:lnTo>
                  <a:pt x="0" y="121234"/>
                </a:lnTo>
              </a:path>
            </a:pathLst>
          </a:custGeom>
          <a:noFill/>
          <a:ln w="28575">
            <a:solidFill>
              <a:srgbClr val="6CC0D2"/>
            </a:solidFill>
            <a:miter/>
          </a:ln>
          <a:effectLst/>
        </p:spPr>
        <p:txBody>
          <a:bodyPr rtlCol="0" anchor="ctr"/>
          <a:lstStyle/>
          <a:p>
            <a:pPr algn="ctr"/>
          </a:p>
        </p:txBody>
      </p:sp>
      <p:sp>
        <p:nvSpPr>
          <p:cNvPr id="125" name="Chevron"/>
          <p:cNvSpPr/>
          <p:nvPr/>
        </p:nvSpPr>
        <p:spPr>
          <a:xfrm>
            <a:off x="3305175" y="3644608"/>
            <a:ext cx="60617" cy="121234"/>
          </a:xfrm>
          <a:custGeom>
            <a:avLst/>
            <a:gdLst/>
            <a:ahLst/>
            <a:cxnLst/>
            <a:rect l="l" t="t" r="r" b="b"/>
            <a:pathLst>
              <a:path w="60617" h="121234">
                <a:moveTo>
                  <a:pt x="0" y="0"/>
                </a:moveTo>
                <a:lnTo>
                  <a:pt x="60617" y="60617"/>
                </a:lnTo>
                <a:lnTo>
                  <a:pt x="0" y="121234"/>
                </a:lnTo>
              </a:path>
            </a:pathLst>
          </a:custGeom>
          <a:noFill/>
          <a:ln w="28575">
            <a:solidFill>
              <a:srgbClr val="6CC0D2"/>
            </a:solidFill>
            <a:miter/>
          </a:ln>
          <a:effectLst/>
        </p:spPr>
        <p:txBody>
          <a:bodyPr rtlCol="0" anchor="ctr"/>
          <a:lstStyle/>
          <a:p>
            <a:pPr algn="ctr"/>
          </a:p>
        </p:txBody>
      </p:sp>
      <p:sp>
        <p:nvSpPr>
          <p:cNvPr id="126" name="Chevron"/>
          <p:cNvSpPr/>
          <p:nvPr/>
        </p:nvSpPr>
        <p:spPr>
          <a:xfrm>
            <a:off x="6076950" y="2063458"/>
            <a:ext cx="60617" cy="121234"/>
          </a:xfrm>
          <a:custGeom>
            <a:avLst/>
            <a:gdLst/>
            <a:ahLst/>
            <a:cxnLst/>
            <a:rect l="l" t="t" r="r" b="b"/>
            <a:pathLst>
              <a:path w="60617" h="121234">
                <a:moveTo>
                  <a:pt x="0" y="0"/>
                </a:moveTo>
                <a:lnTo>
                  <a:pt x="60617" y="60617"/>
                </a:lnTo>
                <a:lnTo>
                  <a:pt x="0" y="121234"/>
                </a:lnTo>
              </a:path>
            </a:pathLst>
          </a:custGeom>
          <a:noFill/>
          <a:ln w="28575">
            <a:solidFill>
              <a:srgbClr val="6CC0D2"/>
            </a:solidFill>
            <a:miter/>
          </a:ln>
          <a:effectLst/>
        </p:spPr>
        <p:txBody>
          <a:bodyPr rtlCol="0" anchor="ctr"/>
          <a:lstStyle/>
          <a:p>
            <a:pPr algn="ctr"/>
          </a:p>
        </p:txBody>
      </p:sp>
      <p:sp>
        <p:nvSpPr>
          <p:cNvPr id="127" name="Chevron"/>
          <p:cNvSpPr/>
          <p:nvPr/>
        </p:nvSpPr>
        <p:spPr>
          <a:xfrm>
            <a:off x="6076950" y="3644608"/>
            <a:ext cx="60617" cy="121234"/>
          </a:xfrm>
          <a:custGeom>
            <a:avLst/>
            <a:gdLst/>
            <a:ahLst/>
            <a:cxnLst/>
            <a:rect l="l" t="t" r="r" b="b"/>
            <a:pathLst>
              <a:path w="60617" h="121234">
                <a:moveTo>
                  <a:pt x="0" y="0"/>
                </a:moveTo>
                <a:lnTo>
                  <a:pt x="60617" y="60617"/>
                </a:lnTo>
                <a:lnTo>
                  <a:pt x="0" y="121234"/>
                </a:lnTo>
              </a:path>
            </a:pathLst>
          </a:custGeom>
          <a:noFill/>
          <a:ln w="28575">
            <a:solidFill>
              <a:srgbClr val="6CC0D2"/>
            </a:solidFill>
            <a:miter/>
          </a:ln>
          <a:effectLst/>
        </p:spPr>
        <p:txBody>
          <a:bodyPr rtlCol="0" anchor="ctr"/>
          <a:lstStyle/>
          <a:p>
            <a:pPr algn="ctr"/>
          </a:p>
        </p:txBody>
      </p:sp>
      <p:sp>
        <p:nvSpPr>
          <p:cNvPr id="128" name="Chevron"/>
          <p:cNvSpPr/>
          <p:nvPr/>
        </p:nvSpPr>
        <p:spPr>
          <a:xfrm>
            <a:off x="8848725" y="2063458"/>
            <a:ext cx="60617" cy="121234"/>
          </a:xfrm>
          <a:custGeom>
            <a:avLst/>
            <a:gdLst/>
            <a:ahLst/>
            <a:cxnLst/>
            <a:rect l="l" t="t" r="r" b="b"/>
            <a:pathLst>
              <a:path w="60617" h="121234">
                <a:moveTo>
                  <a:pt x="0" y="0"/>
                </a:moveTo>
                <a:lnTo>
                  <a:pt x="60617" y="60617"/>
                </a:lnTo>
                <a:lnTo>
                  <a:pt x="0" y="121234"/>
                </a:lnTo>
              </a:path>
            </a:pathLst>
          </a:custGeom>
          <a:noFill/>
          <a:ln w="28575">
            <a:solidFill>
              <a:srgbClr val="6CC0D2"/>
            </a:solidFill>
            <a:miter/>
          </a:ln>
          <a:effectLst/>
        </p:spPr>
        <p:txBody>
          <a:bodyPr rtlCol="0" anchor="ctr"/>
          <a:lstStyle/>
          <a:p>
            <a:pPr algn="ctr"/>
          </a:p>
        </p:txBody>
      </p:sp>
      <p:sp>
        <p:nvSpPr>
          <p:cNvPr id="129" name="Chevron"/>
          <p:cNvSpPr/>
          <p:nvPr/>
        </p:nvSpPr>
        <p:spPr>
          <a:xfrm>
            <a:off x="8848725" y="3644608"/>
            <a:ext cx="60617" cy="121234"/>
          </a:xfrm>
          <a:custGeom>
            <a:avLst/>
            <a:gdLst/>
            <a:ahLst/>
            <a:cxnLst/>
            <a:rect l="l" t="t" r="r" b="b"/>
            <a:pathLst>
              <a:path w="60617" h="121234">
                <a:moveTo>
                  <a:pt x="0" y="0"/>
                </a:moveTo>
                <a:lnTo>
                  <a:pt x="60617" y="60617"/>
                </a:lnTo>
                <a:lnTo>
                  <a:pt x="0" y="121234"/>
                </a:lnTo>
              </a:path>
            </a:pathLst>
          </a:custGeom>
          <a:noFill/>
          <a:ln w="28575">
            <a:solidFill>
              <a:srgbClr val="6CC0D2"/>
            </a:solidFill>
            <a:miter/>
          </a:ln>
          <a:effectLst/>
        </p:spPr>
        <p:txBody>
          <a:bodyPr rtlCol="0" anchor="ctr"/>
          <a:lstStyle/>
          <a:p>
            <a:pPr algn="ctr"/>
          </a:p>
        </p:txBody>
      </p:sp>
      <p:sp>
        <p:nvSpPr>
          <p:cNvPr id="130" name="Chevron"/>
          <p:cNvSpPr/>
          <p:nvPr/>
        </p:nvSpPr>
        <p:spPr>
          <a:xfrm>
            <a:off x="5867400" y="5197183"/>
            <a:ext cx="60617" cy="121234"/>
          </a:xfrm>
          <a:custGeom>
            <a:avLst/>
            <a:gdLst/>
            <a:ahLst/>
            <a:cxnLst/>
            <a:rect l="l" t="t" r="r" b="b"/>
            <a:pathLst>
              <a:path w="60617" h="121234">
                <a:moveTo>
                  <a:pt x="0" y="0"/>
                </a:moveTo>
                <a:lnTo>
                  <a:pt x="60617" y="60617"/>
                </a:lnTo>
                <a:lnTo>
                  <a:pt x="0" y="121234"/>
                </a:lnTo>
              </a:path>
            </a:pathLst>
          </a:custGeom>
          <a:noFill/>
          <a:ln w="28575">
            <a:solidFill>
              <a:srgbClr val="6CC0D2"/>
            </a:solidFill>
            <a:miter/>
          </a:ln>
          <a:effectLst/>
        </p:spPr>
        <p:txBody>
          <a:bodyPr rtlCol="0" anchor="ctr"/>
          <a:lstStyle/>
          <a:p>
            <a:pPr algn="ctr"/>
          </a:p>
        </p:txBody>
      </p:sp>
      <p:grpSp>
        <p:nvGrpSpPr>
          <p:cNvPr id="131" name="Rücksprung zu 01"/>
          <p:cNvGrpSpPr/>
          <p:nvPr/>
        </p:nvGrpSpPr>
        <p:grpSpPr>
          <a:xfrm>
            <a:off x="11170444" y="4979194"/>
            <a:ext cx="290512" cy="290512"/>
            <a:chOff x="11170444" y="4979194"/>
            <a:chExt cx="290512" cy="290512"/>
          </a:xfrm>
        </p:grpSpPr>
        <p:sp>
          <p:nvSpPr>
            <p:cNvPr id="132" name="Oval 131"/>
            <p:cNvSpPr/>
            <p:nvPr/>
          </p:nvSpPr>
          <p:spPr>
            <a:xfrm>
              <a:off x="11170444" y="4979194"/>
              <a:ext cx="290512" cy="290512"/>
            </a:xfrm>
            <a:prstGeom prst="ellipse">
              <a:avLst/>
            </a:prstGeom>
            <a:solidFill>
              <a:srgbClr val="FFFFFF"/>
            </a:solidFill>
            <a:ln w="14287">
              <a:solidFill>
                <a:srgbClr val="B4BFCB"/>
              </a:solidFill>
            </a:ln>
            <a:effectLst/>
          </p:spPr>
          <p:txBody>
            <a:bodyPr rtlCol="0" anchor="ctr"/>
            <a:lstStyle/>
            <a:p>
              <a:pPr algn="ctr"/>
            </a:p>
          </p:txBody>
        </p:sp>
        <p:pic>
          <p:nvPicPr>
            <p:cNvPr id="133" name="Picture 132" descr="rotate-ccw__084878.png"/>
            <p:cNvPicPr>
              <a:picLocks noChangeAspect="1"/>
            </p:cNvPicPr>
            <p:nvPr/>
          </p:nvPicPr>
          <p:blipFill>
            <a:blip r:embed="rId14"/>
            <a:stretch>
              <a:fillRect/>
            </a:stretch>
          </p:blipFill>
          <p:spPr>
            <a:xfrm>
              <a:off x="11236452" y="5045202"/>
              <a:ext cx="158496" cy="158496"/>
            </a:xfrm>
            <a:prstGeom prst="rect">
              <a:avLst/>
            </a:prstGeom>
          </p:spPr>
        </p:pic>
      </p:grpSp>
      <p:sp>
        <p:nvSpPr>
          <p:cNvPr id="134" name="TextBox 133"/>
          <p:cNvSpPr txBox="1"/>
          <p:nvPr/>
        </p:nvSpPr>
        <p:spPr>
          <a:xfrm>
            <a:off x="11106150" y="5314950"/>
            <a:ext cx="419100" cy="171450"/>
          </a:xfrm>
          <a:prstGeom prst="rect">
            <a:avLst/>
          </a:prstGeom>
          <a:noFill/>
        </p:spPr>
        <p:txBody>
          <a:bodyPr wrap="none" lIns="0" rIns="0" tIns="0" bIns="0" anchor="t">
            <a:noAutofit/>
          </a:bodyPr>
          <a:lstStyle/>
          <a:p>
            <a:pPr algn="ctr">
              <a:lnSpc>
                <a:spcPts val="1350"/>
              </a:lnSpc>
            </a:pPr>
            <a:r>
              <a:rPr sz="1050" b="1" i="0" lang="de-DE">
                <a:solidFill>
                  <a:srgbClr val="00718E"/>
                </a:solidFill>
                <a:latin typeface="Geist Mono"/>
              </a:rPr>
              <a:t>01</a:t>
            </a:r>
          </a:p>
        </p:txBody>
      </p:sp>
      <p:cxnSp>
        <p:nvCxnSpPr>
          <p:cNvPr id="135"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136" name="Logo" descr="image.png"/>
          <p:cNvPicPr>
            <a:picLocks noChangeAspect="1"/>
          </p:cNvPicPr>
          <p:nvPr/>
        </p:nvPicPr>
        <p:blipFill>
          <a:blip r:embed="rId15"/>
          <a:stretch>
            <a:fillRect/>
          </a:stretch>
        </p:blipFill>
        <p:spPr>
          <a:xfrm>
            <a:off x="685800" y="6400800"/>
            <a:ext cx="715863" cy="247650"/>
          </a:xfrm>
          <a:prstGeom prst="rect">
            <a:avLst/>
          </a:prstGeom>
        </p:spPr>
      </p:pic>
      <p:sp>
        <p:nvSpPr>
          <p:cNvPr id="137" name="TextBox 136"/>
          <p:cNvSpPr txBox="1"/>
          <p:nvPr/>
        </p:nvSpPr>
        <p:spPr>
          <a:xfrm>
            <a:off x="1554480" y="6429375"/>
            <a:ext cx="289179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138" name="Connector 137"/>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4516755" y="6438900"/>
            <a:ext cx="5867400" cy="171450"/>
          </a:xfrm>
          <a:prstGeom prst="rect">
            <a:avLst/>
          </a:prstGeom>
          <a:noFill/>
        </p:spPr>
        <p:txBody>
          <a:bodyPr wrap="none" lIns="0" rIns="0" tIns="0" bIns="0" anchor="t">
            <a:noAutofit/>
          </a:bodyPr>
          <a:lstStyle/>
          <a:p>
            <a:pPr algn="l">
              <a:lnSpc>
                <a:spcPts val="1350"/>
              </a:lnSpc>
            </a:pPr>
            <a:r>
              <a:rPr sz="1050" b="0" i="0" lang="de-DE">
                <a:solidFill>
                  <a:srgbClr val="657383"/>
                </a:solidFill>
                <a:latin typeface="IBM Plex Sans"/>
              </a:rPr>
              <a:t>Sponsor: Stefan Lechtenberg, Energiebeschaffung · Wortlaut: Bericht Tab. A1</a:t>
            </a:r>
          </a:p>
        </p:txBody>
      </p:sp>
      <p:sp>
        <p:nvSpPr>
          <p:cNvPr id="140" name="TextBox 139"/>
          <p:cNvSpPr txBox="1"/>
          <p:nvPr/>
        </p:nvSpPr>
        <p:spPr>
          <a:xfrm>
            <a:off x="9486900" y="6429375"/>
            <a:ext cx="12573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141" name="Seitenzahl"/>
          <p:cNvSpPr txBox="1"/>
          <p:nvPr/>
        </p:nvSpPr>
        <p:spPr>
          <a:xfrm>
            <a:off x="10835640" y="6424612"/>
            <a:ext cx="67056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1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4F7"/>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0718E"/>
            </a:solidFill>
            <a:ln>
              <a:noFill/>
            </a:ln>
            <a:effectLst/>
          </p:spPr>
          <p:txBody>
            <a:bodyPr rtlCol="0" anchor="ctr"/>
            <a:lstStyle/>
            <a:p>
              <a:pPr algn="ctr"/>
            </a:p>
          </p:txBody>
        </p:sp>
        <p:pic>
          <p:nvPicPr>
            <p:cNvPr id="4" name="Picture 3" descr="scale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733425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Was kostet es, wenn das Modell falsch liegt?</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Fehler kosten Spotmarkt-Ausgleich oder Prüfzeit</a:t>
            </a:r>
          </a:p>
        </p:txBody>
      </p:sp>
      <p:sp>
        <p:nvSpPr>
          <p:cNvPr id="7" name="Rounded Rectangle 6"/>
          <p:cNvSpPr/>
          <p:nvPr/>
        </p:nvSpPr>
        <p:spPr>
          <a:xfrm>
            <a:off x="685800" y="1362075"/>
            <a:ext cx="3002280" cy="849630"/>
          </a:xfrm>
          <a:prstGeom prst="roundRect">
            <a:avLst>
              <a:gd name="adj" fmla="val 11210"/>
            </a:avLst>
          </a:prstGeom>
          <a:solidFill>
            <a:srgbClr val="FFFFFF"/>
          </a:solidFill>
          <a:ln w="9525">
            <a:solidFill>
              <a:srgbClr val="D2DAE2"/>
            </a:solidFill>
          </a:ln>
          <a:effectLst/>
        </p:spPr>
        <p:txBody>
          <a:bodyPr rtlCol="0" anchor="ctr"/>
          <a:lstStyle/>
          <a:p>
            <a:pPr algn="ctr"/>
          </a:p>
        </p:txBody>
      </p:sp>
      <p:grpSp>
        <p:nvGrpSpPr>
          <p:cNvPr id="8" name="Scheibe gem"/>
          <p:cNvGrpSpPr/>
          <p:nvPr/>
        </p:nvGrpSpPr>
        <p:grpSpPr>
          <a:xfrm>
            <a:off x="854869" y="1632109"/>
            <a:ext cx="309562" cy="309562"/>
            <a:chOff x="854869" y="1632109"/>
            <a:chExt cx="309562" cy="309562"/>
          </a:xfrm>
        </p:grpSpPr>
        <p:sp>
          <p:nvSpPr>
            <p:cNvPr id="9" name="Oval 8"/>
            <p:cNvSpPr/>
            <p:nvPr/>
          </p:nvSpPr>
          <p:spPr>
            <a:xfrm>
              <a:off x="854869" y="1632109"/>
              <a:ext cx="309562" cy="309562"/>
            </a:xfrm>
            <a:prstGeom prst="ellipse">
              <a:avLst/>
            </a:prstGeom>
            <a:solidFill>
              <a:srgbClr val="FFFFFF"/>
            </a:solidFill>
            <a:ln w="14287">
              <a:solidFill>
                <a:srgbClr val="B4BFCB"/>
              </a:solidFill>
            </a:ln>
            <a:effectLst/>
          </p:spPr>
          <p:txBody>
            <a:bodyPr rtlCol="0" anchor="ctr"/>
            <a:lstStyle/>
            <a:p>
              <a:pPr algn="ctr"/>
            </a:p>
          </p:txBody>
        </p:sp>
        <p:pic>
          <p:nvPicPr>
            <p:cNvPr id="10" name="Picture 9" descr="gem__084878.png"/>
            <p:cNvPicPr>
              <a:picLocks noChangeAspect="1"/>
            </p:cNvPicPr>
            <p:nvPr/>
          </p:nvPicPr>
          <p:blipFill>
            <a:blip r:embed="rId4"/>
            <a:stretch>
              <a:fillRect/>
            </a:stretch>
          </p:blipFill>
          <p:spPr>
            <a:xfrm>
              <a:off x="925449" y="1702689"/>
              <a:ext cx="168402" cy="168402"/>
            </a:xfrm>
            <a:prstGeom prst="rect">
              <a:avLst/>
            </a:prstGeom>
          </p:spPr>
        </p:pic>
      </p:grpSp>
      <p:sp>
        <p:nvSpPr>
          <p:cNvPr id="11" name="TextBox 10"/>
          <p:cNvSpPr txBox="1"/>
          <p:nvPr/>
        </p:nvSpPr>
        <p:spPr>
          <a:xfrm>
            <a:off x="1285875" y="1485900"/>
            <a:ext cx="2464308" cy="161925"/>
          </a:xfrm>
          <a:prstGeom prst="rect">
            <a:avLst/>
          </a:prstGeom>
          <a:noFill/>
        </p:spPr>
        <p:txBody>
          <a:bodyPr wrap="none" lIns="0" rIns="0" tIns="0" bIns="0" anchor="t">
            <a:noAutofit/>
          </a:bodyPr>
          <a:lstStyle/>
          <a:p>
            <a:pPr algn="l">
              <a:lnSpc>
                <a:spcPts val="1275"/>
              </a:lnSpc>
            </a:pPr>
            <a:r>
              <a:rPr sz="975" b="1" i="0" lang="de-DE" spc="78">
                <a:solidFill>
                  <a:srgbClr val="657383"/>
                </a:solidFill>
                <a:latin typeface="IBM Plex Sans"/>
              </a:rPr>
              <a:t>01 MEHRWERT</a:t>
            </a:r>
          </a:p>
        </p:txBody>
      </p:sp>
      <p:sp>
        <p:nvSpPr>
          <p:cNvPr id="12" name="TextBox 11"/>
          <p:cNvSpPr txBox="1"/>
          <p:nvPr/>
        </p:nvSpPr>
        <p:spPr>
          <a:xfrm>
            <a:off x="1285875" y="1676400"/>
            <a:ext cx="2259330" cy="419100"/>
          </a:xfrm>
          <a:prstGeom prst="rect">
            <a:avLst/>
          </a:prstGeom>
          <a:noFill/>
        </p:spPr>
        <p:txBody>
          <a:bodyPr wrap="square" lIns="0" rIns="0" tIns="0" bIns="0" anchor="t">
            <a:noAutofit/>
          </a:bodyPr>
          <a:lstStyle/>
          <a:p>
            <a:pPr algn="l">
              <a:lnSpc>
                <a:spcPts val="1620"/>
              </a:lnSpc>
            </a:pPr>
            <a:r>
              <a:rPr sz="1200" b="1" i="0" lang="de-DE">
                <a:solidFill>
                  <a:srgbClr val="141A21"/>
                </a:solidFill>
                <a:latin typeface="IBM Plex Sans"/>
              </a:rPr>
              <a:t>genauer beschaffen · früher prüfen</a:t>
            </a:r>
          </a:p>
        </p:txBody>
      </p:sp>
      <p:sp>
        <p:nvSpPr>
          <p:cNvPr id="13" name="Rounded Rectangle 12"/>
          <p:cNvSpPr/>
          <p:nvPr/>
        </p:nvSpPr>
        <p:spPr>
          <a:xfrm>
            <a:off x="4126230" y="1362075"/>
            <a:ext cx="3939540" cy="849630"/>
          </a:xfrm>
          <a:prstGeom prst="roundRect">
            <a:avLst>
              <a:gd name="adj" fmla="val 11210"/>
            </a:avLst>
          </a:prstGeom>
          <a:solidFill>
            <a:srgbClr val="E3F3F7"/>
          </a:solidFill>
          <a:ln w="9525">
            <a:solidFill>
              <a:srgbClr val="B2DEE7"/>
            </a:solidFill>
          </a:ln>
          <a:effectLst/>
        </p:spPr>
        <p:txBody>
          <a:bodyPr rtlCol="0" anchor="ctr"/>
          <a:lstStyle/>
          <a:p>
            <a:pPr algn="ctr"/>
          </a:p>
        </p:txBody>
      </p:sp>
      <p:grpSp>
        <p:nvGrpSpPr>
          <p:cNvPr id="14" name="Scheibe scale"/>
          <p:cNvGrpSpPr/>
          <p:nvPr/>
        </p:nvGrpSpPr>
        <p:grpSpPr>
          <a:xfrm>
            <a:off x="4288155" y="1624965"/>
            <a:ext cx="323850" cy="323850"/>
            <a:chOff x="4288155" y="1624965"/>
            <a:chExt cx="323850" cy="323850"/>
          </a:xfrm>
        </p:grpSpPr>
        <p:sp>
          <p:nvSpPr>
            <p:cNvPr id="15" name="Oval 14"/>
            <p:cNvSpPr/>
            <p:nvPr/>
          </p:nvSpPr>
          <p:spPr>
            <a:xfrm>
              <a:off x="4288155" y="1624965"/>
              <a:ext cx="323850" cy="323850"/>
            </a:xfrm>
            <a:prstGeom prst="ellipse">
              <a:avLst/>
            </a:prstGeom>
            <a:solidFill>
              <a:srgbClr val="00718E"/>
            </a:solidFill>
            <a:ln>
              <a:noFill/>
            </a:ln>
            <a:effectLst/>
          </p:spPr>
          <p:txBody>
            <a:bodyPr rtlCol="0" anchor="ctr"/>
            <a:lstStyle/>
            <a:p>
              <a:pPr algn="ctr"/>
            </a:p>
          </p:txBody>
        </p:sp>
        <p:pic>
          <p:nvPicPr>
            <p:cNvPr id="16" name="Picture 15" descr="scale__FFFFFF.png"/>
            <p:cNvPicPr>
              <a:picLocks noChangeAspect="1"/>
            </p:cNvPicPr>
            <p:nvPr/>
          </p:nvPicPr>
          <p:blipFill>
            <a:blip r:embed="rId3"/>
            <a:stretch>
              <a:fillRect/>
            </a:stretch>
          </p:blipFill>
          <p:spPr>
            <a:xfrm>
              <a:off x="4365879" y="1702689"/>
              <a:ext cx="168402" cy="168402"/>
            </a:xfrm>
            <a:prstGeom prst="rect">
              <a:avLst/>
            </a:prstGeom>
          </p:spPr>
        </p:pic>
      </p:grpSp>
      <p:sp>
        <p:nvSpPr>
          <p:cNvPr id="17" name="TextBox 16"/>
          <p:cNvSpPr txBox="1"/>
          <p:nvPr/>
        </p:nvSpPr>
        <p:spPr>
          <a:xfrm>
            <a:off x="4726305" y="1485900"/>
            <a:ext cx="3495294" cy="161925"/>
          </a:xfrm>
          <a:prstGeom prst="rect">
            <a:avLst/>
          </a:prstGeom>
          <a:noFill/>
        </p:spPr>
        <p:txBody>
          <a:bodyPr wrap="none" lIns="0" rIns="0" tIns="0" bIns="0" anchor="t">
            <a:noAutofit/>
          </a:bodyPr>
          <a:lstStyle/>
          <a:p>
            <a:pPr algn="l">
              <a:lnSpc>
                <a:spcPts val="1275"/>
              </a:lnSpc>
            </a:pPr>
            <a:r>
              <a:rPr sz="975" b="1" i="0" lang="de-DE" spc="78">
                <a:solidFill>
                  <a:srgbClr val="657383"/>
                </a:solidFill>
                <a:latin typeface="IBM Plex Sans"/>
              </a:rPr>
              <a:t>GLEICHE EINHEITEN</a:t>
            </a:r>
          </a:p>
        </p:txBody>
      </p:sp>
      <p:sp>
        <p:nvSpPr>
          <p:cNvPr id="18" name="TextBox 17"/>
          <p:cNvSpPr txBox="1"/>
          <p:nvPr/>
        </p:nvSpPr>
        <p:spPr>
          <a:xfrm>
            <a:off x="4726305" y="1676400"/>
            <a:ext cx="3196590" cy="419100"/>
          </a:xfrm>
          <a:prstGeom prst="rect">
            <a:avLst/>
          </a:prstGeom>
          <a:noFill/>
        </p:spPr>
        <p:txBody>
          <a:bodyPr wrap="square" lIns="0" rIns="0" tIns="0" bIns="0" anchor="t">
            <a:noAutofit/>
          </a:bodyPr>
          <a:lstStyle/>
          <a:p>
            <a:pPr algn="l">
              <a:lnSpc>
                <a:spcPts val="1620"/>
              </a:lnSpc>
            </a:pPr>
            <a:r>
              <a:rPr sz="1200" b="1" i="0" lang="de-DE">
                <a:solidFill>
                  <a:srgbClr val="00718E"/>
                </a:solidFill>
                <a:latin typeface="Geist Mono"/>
              </a:rPr>
              <a:t>kWh</a:t>
            </a:r>
            <a:r>
              <a:rPr sz="1200" b="1" i="0" lang="de-DE">
                <a:solidFill>
                  <a:srgbClr val="141A21"/>
                </a:solidFill>
                <a:latin typeface="IBM Plex Sans"/>
              </a:rPr>
              <a:t> Prognosefehler · </a:t>
            </a:r>
            <a:r>
              <a:rPr sz="1200" b="1" i="0" lang="de-DE">
                <a:solidFill>
                  <a:srgbClr val="00718E"/>
                </a:solidFill>
                <a:latin typeface="Geist Mono"/>
              </a:rPr>
              <a:t>Fälle/Monat</a:t>
            </a:r>
            <a:r>
              <a:rPr sz="1200" b="1" i="0" lang="de-DE">
                <a:solidFill>
                  <a:srgbClr val="141A21"/>
                </a:solidFill>
                <a:latin typeface="IBM Plex Sans"/>
              </a:rPr>
              <a:t> Prüfvolumen · </a:t>
            </a:r>
            <a:r>
              <a:rPr sz="1200" b="1" i="0" lang="de-DE">
                <a:solidFill>
                  <a:srgbClr val="00718E"/>
                </a:solidFill>
                <a:latin typeface="Geist Mono"/>
              </a:rPr>
              <a:t>Stunden</a:t>
            </a:r>
            <a:r>
              <a:rPr sz="1200" b="1" i="0" lang="de-DE">
                <a:solidFill>
                  <a:srgbClr val="141A21"/>
                </a:solidFill>
                <a:latin typeface="IBM Plex Sans"/>
              </a:rPr>
              <a:t> Prüfzeit</a:t>
            </a:r>
          </a:p>
        </p:txBody>
      </p:sp>
      <p:sp>
        <p:nvSpPr>
          <p:cNvPr id="19" name="Rounded Rectangle 18"/>
          <p:cNvSpPr/>
          <p:nvPr/>
        </p:nvSpPr>
        <p:spPr>
          <a:xfrm>
            <a:off x="8503920" y="1362075"/>
            <a:ext cx="3002280" cy="849630"/>
          </a:xfrm>
          <a:prstGeom prst="roundRect">
            <a:avLst>
              <a:gd name="adj" fmla="val 11210"/>
            </a:avLst>
          </a:prstGeom>
          <a:solidFill>
            <a:srgbClr val="FFFFFF"/>
          </a:solidFill>
          <a:ln w="9525">
            <a:solidFill>
              <a:srgbClr val="D2DAE2"/>
            </a:solidFill>
          </a:ln>
          <a:effectLst/>
        </p:spPr>
        <p:txBody>
          <a:bodyPr rtlCol="0" anchor="ctr"/>
          <a:lstStyle/>
          <a:p>
            <a:pPr algn="ctr"/>
          </a:p>
        </p:txBody>
      </p:sp>
      <p:grpSp>
        <p:nvGrpSpPr>
          <p:cNvPr id="20" name="Scheibe target"/>
          <p:cNvGrpSpPr/>
          <p:nvPr/>
        </p:nvGrpSpPr>
        <p:grpSpPr>
          <a:xfrm>
            <a:off x="8672989" y="1632109"/>
            <a:ext cx="309562" cy="309562"/>
            <a:chOff x="8672989" y="1632109"/>
            <a:chExt cx="309562" cy="309562"/>
          </a:xfrm>
        </p:grpSpPr>
        <p:sp>
          <p:nvSpPr>
            <p:cNvPr id="21" name="Oval 20"/>
            <p:cNvSpPr/>
            <p:nvPr/>
          </p:nvSpPr>
          <p:spPr>
            <a:xfrm>
              <a:off x="8672989" y="1632109"/>
              <a:ext cx="309562" cy="309562"/>
            </a:xfrm>
            <a:prstGeom prst="ellipse">
              <a:avLst/>
            </a:prstGeom>
            <a:solidFill>
              <a:srgbClr val="FFFFFF"/>
            </a:solidFill>
            <a:ln w="14287">
              <a:solidFill>
                <a:srgbClr val="B4BFCB"/>
              </a:solidFill>
            </a:ln>
            <a:effectLst/>
          </p:spPr>
          <p:txBody>
            <a:bodyPr rtlCol="0" anchor="ctr"/>
            <a:lstStyle/>
            <a:p>
              <a:pPr algn="ctr"/>
            </a:p>
          </p:txBody>
        </p:sp>
        <p:pic>
          <p:nvPicPr>
            <p:cNvPr id="22" name="Picture 21" descr="target__084878.png"/>
            <p:cNvPicPr>
              <a:picLocks noChangeAspect="1"/>
            </p:cNvPicPr>
            <p:nvPr/>
          </p:nvPicPr>
          <p:blipFill>
            <a:blip r:embed="rId5"/>
            <a:stretch>
              <a:fillRect/>
            </a:stretch>
          </p:blipFill>
          <p:spPr>
            <a:xfrm>
              <a:off x="8743569" y="1702689"/>
              <a:ext cx="168402" cy="168402"/>
            </a:xfrm>
            <a:prstGeom prst="rect">
              <a:avLst/>
            </a:prstGeom>
          </p:spPr>
        </p:pic>
      </p:grpSp>
      <p:sp>
        <p:nvSpPr>
          <p:cNvPr id="23" name="TextBox 22"/>
          <p:cNvSpPr txBox="1"/>
          <p:nvPr/>
        </p:nvSpPr>
        <p:spPr>
          <a:xfrm>
            <a:off x="9103995" y="1485900"/>
            <a:ext cx="2464308" cy="161925"/>
          </a:xfrm>
          <a:prstGeom prst="rect">
            <a:avLst/>
          </a:prstGeom>
          <a:noFill/>
        </p:spPr>
        <p:txBody>
          <a:bodyPr wrap="none" lIns="0" rIns="0" tIns="0" bIns="0" anchor="t">
            <a:noAutofit/>
          </a:bodyPr>
          <a:lstStyle/>
          <a:p>
            <a:pPr algn="l">
              <a:lnSpc>
                <a:spcPts val="1275"/>
              </a:lnSpc>
            </a:pPr>
            <a:r>
              <a:rPr sz="975" b="1" i="0" lang="de-DE" spc="78">
                <a:solidFill>
                  <a:srgbClr val="657383"/>
                </a:solidFill>
                <a:latin typeface="IBM Plex Sans"/>
              </a:rPr>
              <a:t>08 IMPACT</a:t>
            </a:r>
          </a:p>
        </p:txBody>
      </p:sp>
      <p:sp>
        <p:nvSpPr>
          <p:cNvPr id="24" name="TextBox 23"/>
          <p:cNvSpPr txBox="1"/>
          <p:nvPr/>
        </p:nvSpPr>
        <p:spPr>
          <a:xfrm>
            <a:off x="9103995" y="1676400"/>
            <a:ext cx="2259330" cy="419100"/>
          </a:xfrm>
          <a:prstGeom prst="rect">
            <a:avLst/>
          </a:prstGeom>
          <a:noFill/>
        </p:spPr>
        <p:txBody>
          <a:bodyPr wrap="square" lIns="0" rIns="0" tIns="0" bIns="0" anchor="t">
            <a:noAutofit/>
          </a:bodyPr>
          <a:lstStyle/>
          <a:p>
            <a:pPr algn="l">
              <a:lnSpc>
                <a:spcPts val="1620"/>
              </a:lnSpc>
            </a:pPr>
            <a:r>
              <a:rPr sz="1200" b="1" i="0" lang="de-DE">
                <a:solidFill>
                  <a:srgbClr val="141A21"/>
                </a:solidFill>
                <a:latin typeface="IBM Plex Sans"/>
              </a:rPr>
              <a:t>−15,9 % RMSE · 9,5 Hinweise/Monat</a:t>
            </a:r>
          </a:p>
        </p:txBody>
      </p:sp>
      <p:pic>
        <p:nvPicPr>
          <p:cNvPr id="25" name="Icon arrow-right" descr="arrow-right__6CC0D2.png"/>
          <p:cNvPicPr>
            <a:picLocks noChangeAspect="1"/>
          </p:cNvPicPr>
          <p:nvPr/>
        </p:nvPicPr>
        <p:blipFill>
          <a:blip r:embed="rId6"/>
          <a:stretch>
            <a:fillRect/>
          </a:stretch>
        </p:blipFill>
        <p:spPr>
          <a:xfrm>
            <a:off x="3783330" y="1663065"/>
            <a:ext cx="247650" cy="247650"/>
          </a:xfrm>
          <a:prstGeom prst="rect">
            <a:avLst/>
          </a:prstGeom>
        </p:spPr>
      </p:pic>
      <p:pic>
        <p:nvPicPr>
          <p:cNvPr id="26" name="Icon arrow-right" descr="arrow-right__6CC0D2.png"/>
          <p:cNvPicPr>
            <a:picLocks noChangeAspect="1"/>
          </p:cNvPicPr>
          <p:nvPr/>
        </p:nvPicPr>
        <p:blipFill>
          <a:blip r:embed="rId6"/>
          <a:stretch>
            <a:fillRect/>
          </a:stretch>
        </p:blipFill>
        <p:spPr>
          <a:xfrm>
            <a:off x="8161020" y="1663065"/>
            <a:ext cx="247650" cy="247650"/>
          </a:xfrm>
          <a:prstGeom prst="rect">
            <a:avLst/>
          </a:prstGeom>
        </p:spPr>
      </p:pic>
      <p:grpSp>
        <p:nvGrpSpPr>
          <p:cNvPr id="27" name="Scheibe chart-spline"/>
          <p:cNvGrpSpPr/>
          <p:nvPr/>
        </p:nvGrpSpPr>
        <p:grpSpPr>
          <a:xfrm>
            <a:off x="2457450" y="2440305"/>
            <a:ext cx="266700" cy="266700"/>
            <a:chOff x="2457450" y="2440305"/>
            <a:chExt cx="266700" cy="266700"/>
          </a:xfrm>
        </p:grpSpPr>
        <p:sp>
          <p:nvSpPr>
            <p:cNvPr id="28" name="Oval 27"/>
            <p:cNvSpPr/>
            <p:nvPr/>
          </p:nvSpPr>
          <p:spPr>
            <a:xfrm>
              <a:off x="2457450" y="2440305"/>
              <a:ext cx="266700" cy="266700"/>
            </a:xfrm>
            <a:prstGeom prst="ellipse">
              <a:avLst/>
            </a:prstGeom>
            <a:solidFill>
              <a:srgbClr val="084878"/>
            </a:solidFill>
            <a:ln>
              <a:noFill/>
            </a:ln>
            <a:effectLst/>
          </p:spPr>
          <p:txBody>
            <a:bodyPr rtlCol="0" anchor="ctr"/>
            <a:lstStyle/>
            <a:p>
              <a:pPr algn="ctr"/>
            </a:p>
          </p:txBody>
        </p:sp>
        <p:pic>
          <p:nvPicPr>
            <p:cNvPr id="29" name="Picture 28" descr="chart-spline__FFFFFF.png"/>
            <p:cNvPicPr>
              <a:picLocks noChangeAspect="1"/>
            </p:cNvPicPr>
            <p:nvPr/>
          </p:nvPicPr>
          <p:blipFill>
            <a:blip r:embed="rId7"/>
            <a:stretch>
              <a:fillRect/>
            </a:stretch>
          </p:blipFill>
          <p:spPr>
            <a:xfrm>
              <a:off x="2521458" y="2504313"/>
              <a:ext cx="138684" cy="138684"/>
            </a:xfrm>
            <a:prstGeom prst="rect">
              <a:avLst/>
            </a:prstGeom>
          </p:spPr>
        </p:pic>
      </p:grpSp>
      <p:sp>
        <p:nvSpPr>
          <p:cNvPr id="30" name="TextBox 29"/>
          <p:cNvSpPr txBox="1"/>
          <p:nvPr/>
        </p:nvSpPr>
        <p:spPr>
          <a:xfrm>
            <a:off x="2819400" y="2383155"/>
            <a:ext cx="4400550" cy="190500"/>
          </a:xfrm>
          <a:prstGeom prst="rect">
            <a:avLst/>
          </a:prstGeom>
          <a:noFill/>
        </p:spPr>
        <p:txBody>
          <a:bodyPr wrap="none" lIns="0" rIns="0" tIns="0" bIns="0" anchor="t">
            <a:noAutofit/>
          </a:bodyPr>
          <a:lstStyle/>
          <a:p>
            <a:pPr algn="l">
              <a:lnSpc>
                <a:spcPts val="1500"/>
              </a:lnSpc>
            </a:pPr>
            <a:r>
              <a:rPr sz="1200" b="1" i="0" lang="de-DE">
                <a:solidFill>
                  <a:srgbClr val="141A21"/>
                </a:solidFill>
                <a:latin typeface="IBM Plex Sans"/>
              </a:rPr>
              <a:t>Stufe 1 · Prognose</a:t>
            </a:r>
          </a:p>
        </p:txBody>
      </p:sp>
      <p:sp>
        <p:nvSpPr>
          <p:cNvPr id="31" name="TextBox 30"/>
          <p:cNvSpPr txBox="1"/>
          <p:nvPr/>
        </p:nvSpPr>
        <p:spPr>
          <a:xfrm>
            <a:off x="2819400" y="2592705"/>
            <a:ext cx="4400550" cy="171450"/>
          </a:xfrm>
          <a:prstGeom prst="rect">
            <a:avLst/>
          </a:prstGeom>
          <a:noFill/>
        </p:spPr>
        <p:txBody>
          <a:bodyPr wrap="none" lIns="0" rIns="0" tIns="0" bIns="0" anchor="t">
            <a:noAutofit/>
          </a:bodyPr>
          <a:lstStyle/>
          <a:p>
            <a:pPr algn="l">
              <a:lnSpc>
                <a:spcPts val="1350"/>
              </a:lnSpc>
            </a:pPr>
            <a:r>
              <a:rPr sz="1050" b="0" i="0" lang="de-DE">
                <a:solidFill>
                  <a:srgbClr val="657383"/>
                </a:solidFill>
                <a:latin typeface="IBM Plex Sans"/>
              </a:rPr>
              <a:t>→ Beschaffung (Stefan Lechtenberg)</a:t>
            </a:r>
          </a:p>
        </p:txBody>
      </p:sp>
      <p:grpSp>
        <p:nvGrpSpPr>
          <p:cNvPr id="32" name="Scheibe flag"/>
          <p:cNvGrpSpPr/>
          <p:nvPr/>
        </p:nvGrpSpPr>
        <p:grpSpPr>
          <a:xfrm>
            <a:off x="7067550" y="2440305"/>
            <a:ext cx="266700" cy="266700"/>
            <a:chOff x="7067550" y="2440305"/>
            <a:chExt cx="266700" cy="266700"/>
          </a:xfrm>
        </p:grpSpPr>
        <p:sp>
          <p:nvSpPr>
            <p:cNvPr id="33" name="Oval 32"/>
            <p:cNvSpPr/>
            <p:nvPr/>
          </p:nvSpPr>
          <p:spPr>
            <a:xfrm>
              <a:off x="7067550" y="2440305"/>
              <a:ext cx="266700" cy="266700"/>
            </a:xfrm>
            <a:prstGeom prst="ellipse">
              <a:avLst/>
            </a:prstGeom>
            <a:solidFill>
              <a:srgbClr val="A86505"/>
            </a:solidFill>
            <a:ln>
              <a:noFill/>
            </a:ln>
            <a:effectLst/>
          </p:spPr>
          <p:txBody>
            <a:bodyPr rtlCol="0" anchor="ctr"/>
            <a:lstStyle/>
            <a:p>
              <a:pPr algn="ctr"/>
            </a:p>
          </p:txBody>
        </p:sp>
        <p:pic>
          <p:nvPicPr>
            <p:cNvPr id="34" name="Picture 33" descr="flag__FFFFFF.png"/>
            <p:cNvPicPr>
              <a:picLocks noChangeAspect="1"/>
            </p:cNvPicPr>
            <p:nvPr/>
          </p:nvPicPr>
          <p:blipFill>
            <a:blip r:embed="rId8"/>
            <a:stretch>
              <a:fillRect/>
            </a:stretch>
          </p:blipFill>
          <p:spPr>
            <a:xfrm>
              <a:off x="7131558" y="2504313"/>
              <a:ext cx="138684" cy="138684"/>
            </a:xfrm>
            <a:prstGeom prst="rect">
              <a:avLst/>
            </a:prstGeom>
          </p:spPr>
        </p:pic>
      </p:grpSp>
      <p:sp>
        <p:nvSpPr>
          <p:cNvPr id="35" name="TextBox 34"/>
          <p:cNvSpPr txBox="1"/>
          <p:nvPr/>
        </p:nvSpPr>
        <p:spPr>
          <a:xfrm>
            <a:off x="7429500" y="2383155"/>
            <a:ext cx="4400550" cy="190500"/>
          </a:xfrm>
          <a:prstGeom prst="rect">
            <a:avLst/>
          </a:prstGeom>
          <a:noFill/>
        </p:spPr>
        <p:txBody>
          <a:bodyPr wrap="none" lIns="0" rIns="0" tIns="0" bIns="0" anchor="t">
            <a:noAutofit/>
          </a:bodyPr>
          <a:lstStyle/>
          <a:p>
            <a:pPr algn="l">
              <a:lnSpc>
                <a:spcPts val="1500"/>
              </a:lnSpc>
            </a:pPr>
            <a:r>
              <a:rPr sz="1200" b="1" i="0" lang="de-DE">
                <a:solidFill>
                  <a:srgbClr val="141A21"/>
                </a:solidFill>
                <a:latin typeface="IBM Plex Sans"/>
              </a:rPr>
              <a:t>Stufe 2 · Prüfhinweis</a:t>
            </a:r>
          </a:p>
        </p:txBody>
      </p:sp>
      <p:sp>
        <p:nvSpPr>
          <p:cNvPr id="36" name="TextBox 35"/>
          <p:cNvSpPr txBox="1"/>
          <p:nvPr/>
        </p:nvSpPr>
        <p:spPr>
          <a:xfrm>
            <a:off x="7429500" y="2592705"/>
            <a:ext cx="4400550" cy="171450"/>
          </a:xfrm>
          <a:prstGeom prst="rect">
            <a:avLst/>
          </a:prstGeom>
          <a:noFill/>
        </p:spPr>
        <p:txBody>
          <a:bodyPr wrap="none" lIns="0" rIns="0" tIns="0" bIns="0" anchor="t">
            <a:noAutofit/>
          </a:bodyPr>
          <a:lstStyle/>
          <a:p>
            <a:pPr algn="l">
              <a:lnSpc>
                <a:spcPts val="1350"/>
              </a:lnSpc>
            </a:pPr>
            <a:r>
              <a:rPr sz="1050" b="0" i="0" lang="de-DE">
                <a:solidFill>
                  <a:srgbClr val="657383"/>
                </a:solidFill>
                <a:latin typeface="IBM Plex Sans"/>
              </a:rPr>
              <a:t>→ Netzmanagement (Anke Bürger)</a:t>
            </a:r>
          </a:p>
        </p:txBody>
      </p:sp>
      <p:sp>
        <p:nvSpPr>
          <p:cNvPr id="37" name="TextBox 36"/>
          <p:cNvSpPr txBox="1"/>
          <p:nvPr/>
        </p:nvSpPr>
        <p:spPr>
          <a:xfrm>
            <a:off x="723900" y="3080385"/>
            <a:ext cx="1562100" cy="219075"/>
          </a:xfrm>
          <a:prstGeom prst="rect">
            <a:avLst/>
          </a:prstGeom>
          <a:noFill/>
        </p:spPr>
        <p:txBody>
          <a:bodyPr wrap="square" lIns="0" rIns="0" tIns="0" bIns="0" anchor="t">
            <a:noAutofit/>
          </a:bodyPr>
          <a:lstStyle/>
          <a:p>
            <a:pPr algn="l">
              <a:lnSpc>
                <a:spcPts val="1725"/>
              </a:lnSpc>
            </a:pPr>
            <a:r>
              <a:rPr sz="1350" b="1" i="0" lang="de-DE">
                <a:solidFill>
                  <a:srgbClr val="141A21"/>
                </a:solidFill>
                <a:latin typeface="IBM Plex Sans"/>
              </a:rPr>
              <a:t>Zu viel</a:t>
            </a:r>
          </a:p>
        </p:txBody>
      </p:sp>
      <p:sp>
        <p:nvSpPr>
          <p:cNvPr id="38" name="TextBox 37"/>
          <p:cNvSpPr txBox="1"/>
          <p:nvPr/>
        </p:nvSpPr>
        <p:spPr>
          <a:xfrm>
            <a:off x="723900" y="3299460"/>
            <a:ext cx="1562100" cy="352425"/>
          </a:xfrm>
          <a:prstGeom prst="rect">
            <a:avLst/>
          </a:prstGeom>
          <a:noFill/>
        </p:spPr>
        <p:txBody>
          <a:bodyPr wrap="square" lIns="0" rIns="0" tIns="0" bIns="0" anchor="t">
            <a:noAutofit/>
          </a:bodyPr>
          <a:lstStyle/>
          <a:p>
            <a:pPr algn="l">
              <a:lnSpc>
                <a:spcPts val="1364"/>
              </a:lnSpc>
            </a:pPr>
            <a:r>
              <a:rPr sz="1050" b="0" i="0" lang="de-DE">
                <a:solidFill>
                  <a:srgbClr val="657383"/>
                </a:solidFill>
                <a:latin typeface="IBM Plex Sans"/>
              </a:rPr>
              <a:t>Prognose zu hoch · Fehlalarm</a:t>
            </a:r>
          </a:p>
        </p:txBody>
      </p:sp>
      <p:sp>
        <p:nvSpPr>
          <p:cNvPr id="39" name="TextBox 38"/>
          <p:cNvSpPr txBox="1"/>
          <p:nvPr/>
        </p:nvSpPr>
        <p:spPr>
          <a:xfrm>
            <a:off x="723900" y="4246245"/>
            <a:ext cx="1562100" cy="219075"/>
          </a:xfrm>
          <a:prstGeom prst="rect">
            <a:avLst/>
          </a:prstGeom>
          <a:noFill/>
        </p:spPr>
        <p:txBody>
          <a:bodyPr wrap="square" lIns="0" rIns="0" tIns="0" bIns="0" anchor="t">
            <a:noAutofit/>
          </a:bodyPr>
          <a:lstStyle/>
          <a:p>
            <a:pPr algn="l">
              <a:lnSpc>
                <a:spcPts val="1725"/>
              </a:lnSpc>
            </a:pPr>
            <a:r>
              <a:rPr sz="1350" b="1" i="0" lang="de-DE">
                <a:solidFill>
                  <a:srgbClr val="141A21"/>
                </a:solidFill>
                <a:latin typeface="IBM Plex Sans"/>
              </a:rPr>
              <a:t>Zu wenig</a:t>
            </a:r>
          </a:p>
        </p:txBody>
      </p:sp>
      <p:sp>
        <p:nvSpPr>
          <p:cNvPr id="40" name="TextBox 39"/>
          <p:cNvSpPr txBox="1"/>
          <p:nvPr/>
        </p:nvSpPr>
        <p:spPr>
          <a:xfrm>
            <a:off x="723900" y="4465320"/>
            <a:ext cx="1562100" cy="352425"/>
          </a:xfrm>
          <a:prstGeom prst="rect">
            <a:avLst/>
          </a:prstGeom>
          <a:noFill/>
        </p:spPr>
        <p:txBody>
          <a:bodyPr wrap="square" lIns="0" rIns="0" tIns="0" bIns="0" anchor="t">
            <a:noAutofit/>
          </a:bodyPr>
          <a:lstStyle/>
          <a:p>
            <a:pPr algn="l">
              <a:lnSpc>
                <a:spcPts val="1364"/>
              </a:lnSpc>
            </a:pPr>
            <a:r>
              <a:rPr sz="1050" b="0" i="0" lang="de-DE">
                <a:solidFill>
                  <a:srgbClr val="657383"/>
                </a:solidFill>
                <a:latin typeface="IBM Plex Sans"/>
              </a:rPr>
              <a:t>Prognose zu niedrig · übersehen</a:t>
            </a:r>
          </a:p>
        </p:txBody>
      </p:sp>
      <p:sp>
        <p:nvSpPr>
          <p:cNvPr id="41" name="Rounded Rectangle 40"/>
          <p:cNvSpPr/>
          <p:nvPr/>
        </p:nvSpPr>
        <p:spPr>
          <a:xfrm>
            <a:off x="2419350" y="2878455"/>
            <a:ext cx="4476750" cy="969645"/>
          </a:xfrm>
          <a:prstGeom prst="roundRect">
            <a:avLst>
              <a:gd name="adj" fmla="val 9823"/>
            </a:avLst>
          </a:prstGeom>
          <a:solidFill>
            <a:srgbClr val="FFFFFF"/>
          </a:solidFill>
          <a:ln w="9525">
            <a:solidFill>
              <a:srgbClr val="D2DAE2"/>
            </a:solidFill>
          </a:ln>
          <a:effectLst/>
        </p:spPr>
        <p:txBody>
          <a:bodyPr rtlCol="0" anchor="ctr"/>
          <a:lstStyle/>
          <a:p>
            <a:pPr algn="ctr"/>
          </a:p>
        </p:txBody>
      </p:sp>
      <p:grpSp>
        <p:nvGrpSpPr>
          <p:cNvPr id="42" name="Scheibe trending-up"/>
          <p:cNvGrpSpPr/>
          <p:nvPr/>
        </p:nvGrpSpPr>
        <p:grpSpPr>
          <a:xfrm>
            <a:off x="2581275" y="3021330"/>
            <a:ext cx="342900" cy="342900"/>
            <a:chOff x="2581275" y="3021330"/>
            <a:chExt cx="342900" cy="342900"/>
          </a:xfrm>
        </p:grpSpPr>
        <p:sp>
          <p:nvSpPr>
            <p:cNvPr id="43" name="Oval 42"/>
            <p:cNvSpPr/>
            <p:nvPr/>
          </p:nvSpPr>
          <p:spPr>
            <a:xfrm>
              <a:off x="2581275" y="3021330"/>
              <a:ext cx="342900" cy="342900"/>
            </a:xfrm>
            <a:prstGeom prst="ellipse">
              <a:avLst/>
            </a:prstGeom>
            <a:solidFill>
              <a:srgbClr val="084878"/>
            </a:solidFill>
            <a:ln>
              <a:noFill/>
            </a:ln>
            <a:effectLst/>
          </p:spPr>
          <p:txBody>
            <a:bodyPr rtlCol="0" anchor="ctr"/>
            <a:lstStyle/>
            <a:p>
              <a:pPr algn="ctr"/>
            </a:p>
          </p:txBody>
        </p:sp>
        <p:pic>
          <p:nvPicPr>
            <p:cNvPr id="44" name="Picture 43" descr="trending-up__FFFFFF.png"/>
            <p:cNvPicPr>
              <a:picLocks noChangeAspect="1"/>
            </p:cNvPicPr>
            <p:nvPr/>
          </p:nvPicPr>
          <p:blipFill>
            <a:blip r:embed="rId9"/>
            <a:stretch>
              <a:fillRect/>
            </a:stretch>
          </p:blipFill>
          <p:spPr>
            <a:xfrm>
              <a:off x="2663571" y="3103626"/>
              <a:ext cx="178308" cy="178308"/>
            </a:xfrm>
            <a:prstGeom prst="rect">
              <a:avLst/>
            </a:prstGeom>
          </p:spPr>
        </p:pic>
      </p:grpSp>
      <p:sp>
        <p:nvSpPr>
          <p:cNvPr id="45" name="TextBox 44"/>
          <p:cNvSpPr txBox="1"/>
          <p:nvPr/>
        </p:nvSpPr>
        <p:spPr>
          <a:xfrm>
            <a:off x="3057525" y="3021330"/>
            <a:ext cx="3676650" cy="209550"/>
          </a:xfrm>
          <a:prstGeom prst="rect">
            <a:avLst/>
          </a:prstGeom>
          <a:noFill/>
        </p:spPr>
        <p:txBody>
          <a:bodyPr wrap="square" lIns="0" rIns="0" tIns="0" bIns="0" anchor="t">
            <a:noAutofit/>
          </a:bodyPr>
          <a:lstStyle/>
          <a:p>
            <a:pPr algn="l">
              <a:lnSpc>
                <a:spcPts val="1650"/>
              </a:lnSpc>
            </a:pPr>
            <a:r>
              <a:rPr sz="1275" b="1" i="0" lang="de-DE">
                <a:solidFill>
                  <a:srgbClr val="141A21"/>
                </a:solidFill>
                <a:latin typeface="IBM Plex Sans"/>
              </a:rPr>
              <a:t>Prognose zu hoch</a:t>
            </a:r>
          </a:p>
        </p:txBody>
      </p:sp>
      <p:sp>
        <p:nvSpPr>
          <p:cNvPr id="46" name="TextBox 45"/>
          <p:cNvSpPr txBox="1"/>
          <p:nvPr/>
        </p:nvSpPr>
        <p:spPr>
          <a:xfrm>
            <a:off x="3057525" y="3249930"/>
            <a:ext cx="3676650" cy="200025"/>
          </a:xfrm>
          <a:prstGeom prst="rect">
            <a:avLst/>
          </a:prstGeom>
          <a:noFill/>
        </p:spPr>
        <p:txBody>
          <a:bodyPr wrap="square" lIns="0" rIns="0" tIns="0" bIns="0" anchor="t">
            <a:noAutofit/>
          </a:bodyPr>
          <a:lstStyle/>
          <a:p>
            <a:pPr algn="l">
              <a:lnSpc>
                <a:spcPts val="1567"/>
              </a:lnSpc>
            </a:pPr>
            <a:r>
              <a:rPr sz="1162" b="0" i="0" lang="de-DE">
                <a:solidFill>
                  <a:srgbClr val="4E5A68"/>
                </a:solidFill>
                <a:latin typeface="IBM Plex Sans"/>
              </a:rPr>
              <a:t>Überschuss am Spotmarkt verkaufen.</a:t>
            </a:r>
          </a:p>
        </p:txBody>
      </p:sp>
      <p:pic>
        <p:nvPicPr>
          <p:cNvPr id="47" name="Icon arrow-right" descr="arrow-right__00718E.png"/>
          <p:cNvPicPr>
            <a:picLocks noChangeAspect="1"/>
          </p:cNvPicPr>
          <p:nvPr/>
        </p:nvPicPr>
        <p:blipFill>
          <a:blip r:embed="rId10"/>
          <a:stretch>
            <a:fillRect/>
          </a:stretch>
        </p:blipFill>
        <p:spPr>
          <a:xfrm>
            <a:off x="3057525" y="3534251"/>
            <a:ext cx="142875" cy="142875"/>
          </a:xfrm>
          <a:prstGeom prst="rect">
            <a:avLst/>
          </a:prstGeom>
        </p:spPr>
      </p:pic>
      <p:sp>
        <p:nvSpPr>
          <p:cNvPr id="48" name="TextBox 47"/>
          <p:cNvSpPr txBox="1"/>
          <p:nvPr/>
        </p:nvSpPr>
        <p:spPr>
          <a:xfrm>
            <a:off x="3257550" y="3506152"/>
            <a:ext cx="3476625" cy="200025"/>
          </a:xfrm>
          <a:prstGeom prst="rect">
            <a:avLst/>
          </a:prstGeom>
          <a:noFill/>
        </p:spPr>
        <p:txBody>
          <a:bodyPr wrap="square" lIns="0" rIns="0" tIns="0" bIns="0" anchor="t">
            <a:noAutofit/>
          </a:bodyPr>
          <a:lstStyle/>
          <a:p>
            <a:pPr algn="l">
              <a:lnSpc>
                <a:spcPts val="1567"/>
              </a:lnSpc>
            </a:pPr>
            <a:r>
              <a:rPr sz="1162" b="0" i="0" lang="de-DE">
                <a:solidFill>
                  <a:srgbClr val="00718E"/>
                </a:solidFill>
                <a:latin typeface="IBM Plex Sans"/>
              </a:rPr>
              <a:t>Hebel: RMSE 2025 9.188 statt 10.922 kWh</a:t>
            </a:r>
          </a:p>
        </p:txBody>
      </p:sp>
      <p:sp>
        <p:nvSpPr>
          <p:cNvPr id="49" name="Rounded Rectangle 48"/>
          <p:cNvSpPr/>
          <p:nvPr/>
        </p:nvSpPr>
        <p:spPr>
          <a:xfrm>
            <a:off x="7029450" y="2878455"/>
            <a:ext cx="4476750" cy="969645"/>
          </a:xfrm>
          <a:prstGeom prst="roundRect">
            <a:avLst>
              <a:gd name="adj" fmla="val 9823"/>
            </a:avLst>
          </a:prstGeom>
          <a:solidFill>
            <a:srgbClr val="FFFFFF"/>
          </a:solidFill>
          <a:ln w="9525">
            <a:solidFill>
              <a:srgbClr val="D2DAE2"/>
            </a:solidFill>
          </a:ln>
          <a:effectLst/>
        </p:spPr>
        <p:txBody>
          <a:bodyPr rtlCol="0" anchor="ctr"/>
          <a:lstStyle/>
          <a:p>
            <a:pPr algn="ctr"/>
          </a:p>
        </p:txBody>
      </p:sp>
      <p:grpSp>
        <p:nvGrpSpPr>
          <p:cNvPr id="50" name="Scheibe bell-ring"/>
          <p:cNvGrpSpPr/>
          <p:nvPr/>
        </p:nvGrpSpPr>
        <p:grpSpPr>
          <a:xfrm>
            <a:off x="7191375" y="3021330"/>
            <a:ext cx="342900" cy="342900"/>
            <a:chOff x="7191375" y="3021330"/>
            <a:chExt cx="342900" cy="342900"/>
          </a:xfrm>
        </p:grpSpPr>
        <p:sp>
          <p:nvSpPr>
            <p:cNvPr id="51" name="Oval 50"/>
            <p:cNvSpPr/>
            <p:nvPr/>
          </p:nvSpPr>
          <p:spPr>
            <a:xfrm>
              <a:off x="7191375" y="3021330"/>
              <a:ext cx="342900" cy="342900"/>
            </a:xfrm>
            <a:prstGeom prst="ellipse">
              <a:avLst/>
            </a:prstGeom>
            <a:solidFill>
              <a:srgbClr val="A86505"/>
            </a:solidFill>
            <a:ln>
              <a:noFill/>
            </a:ln>
            <a:effectLst/>
          </p:spPr>
          <p:txBody>
            <a:bodyPr rtlCol="0" anchor="ctr"/>
            <a:lstStyle/>
            <a:p>
              <a:pPr algn="ctr"/>
            </a:p>
          </p:txBody>
        </p:sp>
        <p:pic>
          <p:nvPicPr>
            <p:cNvPr id="52" name="Picture 51" descr="bell-ring__FFFFFF.png"/>
            <p:cNvPicPr>
              <a:picLocks noChangeAspect="1"/>
            </p:cNvPicPr>
            <p:nvPr/>
          </p:nvPicPr>
          <p:blipFill>
            <a:blip r:embed="rId11"/>
            <a:stretch>
              <a:fillRect/>
            </a:stretch>
          </p:blipFill>
          <p:spPr>
            <a:xfrm>
              <a:off x="7273671" y="3103626"/>
              <a:ext cx="178308" cy="178308"/>
            </a:xfrm>
            <a:prstGeom prst="rect">
              <a:avLst/>
            </a:prstGeom>
          </p:spPr>
        </p:pic>
      </p:grpSp>
      <p:sp>
        <p:nvSpPr>
          <p:cNvPr id="53" name="TextBox 52"/>
          <p:cNvSpPr txBox="1"/>
          <p:nvPr/>
        </p:nvSpPr>
        <p:spPr>
          <a:xfrm>
            <a:off x="7667625" y="3021330"/>
            <a:ext cx="3676650" cy="209550"/>
          </a:xfrm>
          <a:prstGeom prst="rect">
            <a:avLst/>
          </a:prstGeom>
          <a:noFill/>
        </p:spPr>
        <p:txBody>
          <a:bodyPr wrap="square" lIns="0" rIns="0" tIns="0" bIns="0" anchor="t">
            <a:noAutofit/>
          </a:bodyPr>
          <a:lstStyle/>
          <a:p>
            <a:pPr algn="l">
              <a:lnSpc>
                <a:spcPts val="1650"/>
              </a:lnSpc>
            </a:pPr>
            <a:r>
              <a:rPr sz="1275" b="1" i="0" lang="de-DE">
                <a:solidFill>
                  <a:srgbClr val="141A21"/>
                </a:solidFill>
                <a:latin typeface="IBM Plex Sans"/>
              </a:rPr>
              <a:t>Fehlalarm</a:t>
            </a:r>
          </a:p>
        </p:txBody>
      </p:sp>
      <p:sp>
        <p:nvSpPr>
          <p:cNvPr id="54" name="TextBox 53"/>
          <p:cNvSpPr txBox="1"/>
          <p:nvPr/>
        </p:nvSpPr>
        <p:spPr>
          <a:xfrm>
            <a:off x="7667625" y="3249930"/>
            <a:ext cx="3676650" cy="200025"/>
          </a:xfrm>
          <a:prstGeom prst="rect">
            <a:avLst/>
          </a:prstGeom>
          <a:noFill/>
        </p:spPr>
        <p:txBody>
          <a:bodyPr wrap="square" lIns="0" rIns="0" tIns="0" bIns="0" anchor="t">
            <a:noAutofit/>
          </a:bodyPr>
          <a:lstStyle/>
          <a:p>
            <a:pPr algn="l">
              <a:lnSpc>
                <a:spcPts val="1567"/>
              </a:lnSpc>
            </a:pPr>
            <a:r>
              <a:rPr sz="1162" b="0" i="0" lang="de-DE">
                <a:solidFill>
                  <a:srgbClr val="4E5A68"/>
                </a:solidFill>
                <a:latin typeface="IBM Plex Sans"/>
              </a:rPr>
              <a:t>Prüfzeit ohne Befund.</a:t>
            </a:r>
          </a:p>
        </p:txBody>
      </p:sp>
      <p:pic>
        <p:nvPicPr>
          <p:cNvPr id="55" name="Icon arrow-right" descr="arrow-right__00718E.png"/>
          <p:cNvPicPr>
            <a:picLocks noChangeAspect="1"/>
          </p:cNvPicPr>
          <p:nvPr/>
        </p:nvPicPr>
        <p:blipFill>
          <a:blip r:embed="rId10"/>
          <a:stretch>
            <a:fillRect/>
          </a:stretch>
        </p:blipFill>
        <p:spPr>
          <a:xfrm>
            <a:off x="7667625" y="3534251"/>
            <a:ext cx="142875" cy="142875"/>
          </a:xfrm>
          <a:prstGeom prst="rect">
            <a:avLst/>
          </a:prstGeom>
        </p:spPr>
      </p:pic>
      <p:sp>
        <p:nvSpPr>
          <p:cNvPr id="56" name="TextBox 55"/>
          <p:cNvSpPr txBox="1"/>
          <p:nvPr/>
        </p:nvSpPr>
        <p:spPr>
          <a:xfrm>
            <a:off x="7867650" y="3506152"/>
            <a:ext cx="3476625" cy="200025"/>
          </a:xfrm>
          <a:prstGeom prst="rect">
            <a:avLst/>
          </a:prstGeom>
          <a:noFill/>
        </p:spPr>
        <p:txBody>
          <a:bodyPr wrap="square" lIns="0" rIns="0" tIns="0" bIns="0" anchor="t">
            <a:noAutofit/>
          </a:bodyPr>
          <a:lstStyle/>
          <a:p>
            <a:pPr algn="l">
              <a:lnSpc>
                <a:spcPts val="1567"/>
              </a:lnSpc>
            </a:pPr>
            <a:r>
              <a:rPr sz="1162" b="0" i="0" lang="de-DE">
                <a:solidFill>
                  <a:srgbClr val="00718E"/>
                </a:solidFill>
                <a:latin typeface="IBM Plex Sans"/>
              </a:rPr>
              <a:t>Hebel: q99 = 9,5 statt 33,3 Fälle/Monat (q95)</a:t>
            </a:r>
          </a:p>
        </p:txBody>
      </p:sp>
      <p:sp>
        <p:nvSpPr>
          <p:cNvPr id="57" name="Rounded Rectangle 56"/>
          <p:cNvSpPr/>
          <p:nvPr/>
        </p:nvSpPr>
        <p:spPr>
          <a:xfrm>
            <a:off x="2419350" y="3944302"/>
            <a:ext cx="4476750" cy="1169670"/>
          </a:xfrm>
          <a:prstGeom prst="roundRect">
            <a:avLst>
              <a:gd name="adj" fmla="val 8143"/>
            </a:avLst>
          </a:prstGeom>
          <a:solidFill>
            <a:srgbClr val="FFFFFF"/>
          </a:solidFill>
          <a:ln w="9525">
            <a:solidFill>
              <a:srgbClr val="D2DAE2"/>
            </a:solidFill>
          </a:ln>
          <a:effectLst/>
        </p:spPr>
        <p:txBody>
          <a:bodyPr rtlCol="0" anchor="ctr"/>
          <a:lstStyle/>
          <a:p>
            <a:pPr algn="ctr"/>
          </a:p>
        </p:txBody>
      </p:sp>
      <p:grpSp>
        <p:nvGrpSpPr>
          <p:cNvPr id="58" name="Scheibe trending-down"/>
          <p:cNvGrpSpPr/>
          <p:nvPr/>
        </p:nvGrpSpPr>
        <p:grpSpPr>
          <a:xfrm>
            <a:off x="2581275" y="4087178"/>
            <a:ext cx="342900" cy="342900"/>
            <a:chOff x="2581275" y="4087178"/>
            <a:chExt cx="342900" cy="342900"/>
          </a:xfrm>
        </p:grpSpPr>
        <p:sp>
          <p:nvSpPr>
            <p:cNvPr id="59" name="Oval 58"/>
            <p:cNvSpPr/>
            <p:nvPr/>
          </p:nvSpPr>
          <p:spPr>
            <a:xfrm>
              <a:off x="2581275" y="4087178"/>
              <a:ext cx="342900" cy="342900"/>
            </a:xfrm>
            <a:prstGeom prst="ellipse">
              <a:avLst/>
            </a:prstGeom>
            <a:solidFill>
              <a:srgbClr val="084878"/>
            </a:solidFill>
            <a:ln>
              <a:noFill/>
            </a:ln>
            <a:effectLst/>
          </p:spPr>
          <p:txBody>
            <a:bodyPr rtlCol="0" anchor="ctr"/>
            <a:lstStyle/>
            <a:p>
              <a:pPr algn="ctr"/>
            </a:p>
          </p:txBody>
        </p:sp>
        <p:pic>
          <p:nvPicPr>
            <p:cNvPr id="60" name="Picture 59" descr="trending-down__FFFFFF.png"/>
            <p:cNvPicPr>
              <a:picLocks noChangeAspect="1"/>
            </p:cNvPicPr>
            <p:nvPr/>
          </p:nvPicPr>
          <p:blipFill>
            <a:blip r:embed="rId12"/>
            <a:stretch>
              <a:fillRect/>
            </a:stretch>
          </p:blipFill>
          <p:spPr>
            <a:xfrm>
              <a:off x="2663571" y="4169474"/>
              <a:ext cx="178308" cy="178308"/>
            </a:xfrm>
            <a:prstGeom prst="rect">
              <a:avLst/>
            </a:prstGeom>
          </p:spPr>
        </p:pic>
      </p:grpSp>
      <p:sp>
        <p:nvSpPr>
          <p:cNvPr id="61" name="TextBox 60"/>
          <p:cNvSpPr txBox="1"/>
          <p:nvPr/>
        </p:nvSpPr>
        <p:spPr>
          <a:xfrm>
            <a:off x="3057525" y="4087178"/>
            <a:ext cx="3676650" cy="209550"/>
          </a:xfrm>
          <a:prstGeom prst="rect">
            <a:avLst/>
          </a:prstGeom>
          <a:noFill/>
        </p:spPr>
        <p:txBody>
          <a:bodyPr wrap="square" lIns="0" rIns="0" tIns="0" bIns="0" anchor="t">
            <a:noAutofit/>
          </a:bodyPr>
          <a:lstStyle/>
          <a:p>
            <a:pPr algn="l">
              <a:lnSpc>
                <a:spcPts val="1650"/>
              </a:lnSpc>
            </a:pPr>
            <a:r>
              <a:rPr sz="1275" b="1" i="0" lang="de-DE">
                <a:solidFill>
                  <a:srgbClr val="141A21"/>
                </a:solidFill>
                <a:latin typeface="IBM Plex Sans"/>
              </a:rPr>
              <a:t>Prognose zu niedrig</a:t>
            </a:r>
          </a:p>
        </p:txBody>
      </p:sp>
      <p:sp>
        <p:nvSpPr>
          <p:cNvPr id="62" name="TextBox 61"/>
          <p:cNvSpPr txBox="1"/>
          <p:nvPr/>
        </p:nvSpPr>
        <p:spPr>
          <a:xfrm>
            <a:off x="3057525" y="4315778"/>
            <a:ext cx="3676650" cy="200025"/>
          </a:xfrm>
          <a:prstGeom prst="rect">
            <a:avLst/>
          </a:prstGeom>
          <a:noFill/>
        </p:spPr>
        <p:txBody>
          <a:bodyPr wrap="square" lIns="0" rIns="0" tIns="0" bIns="0" anchor="t">
            <a:noAutofit/>
          </a:bodyPr>
          <a:lstStyle/>
          <a:p>
            <a:pPr algn="l">
              <a:lnSpc>
                <a:spcPts val="1567"/>
              </a:lnSpc>
            </a:pPr>
            <a:r>
              <a:rPr sz="1162" b="0" i="0" lang="de-DE">
                <a:solidFill>
                  <a:srgbClr val="4E5A68"/>
                </a:solidFill>
                <a:latin typeface="IBM Plex Sans"/>
              </a:rPr>
              <a:t>Fehlmenge am Spotmarkt zukaufen.</a:t>
            </a:r>
          </a:p>
        </p:txBody>
      </p:sp>
      <p:pic>
        <p:nvPicPr>
          <p:cNvPr id="63" name="Icon arrow-right" descr="arrow-right__00718E.png"/>
          <p:cNvPicPr>
            <a:picLocks noChangeAspect="1"/>
          </p:cNvPicPr>
          <p:nvPr/>
        </p:nvPicPr>
        <p:blipFill>
          <a:blip r:embed="rId10"/>
          <a:stretch>
            <a:fillRect/>
          </a:stretch>
        </p:blipFill>
        <p:spPr>
          <a:xfrm>
            <a:off x="3057525" y="4600099"/>
            <a:ext cx="142875" cy="142875"/>
          </a:xfrm>
          <a:prstGeom prst="rect">
            <a:avLst/>
          </a:prstGeom>
        </p:spPr>
      </p:pic>
      <p:sp>
        <p:nvSpPr>
          <p:cNvPr id="64" name="TextBox 63"/>
          <p:cNvSpPr txBox="1"/>
          <p:nvPr/>
        </p:nvSpPr>
        <p:spPr>
          <a:xfrm>
            <a:off x="3257550" y="4572000"/>
            <a:ext cx="3476625" cy="200025"/>
          </a:xfrm>
          <a:prstGeom prst="rect">
            <a:avLst/>
          </a:prstGeom>
          <a:noFill/>
        </p:spPr>
        <p:txBody>
          <a:bodyPr wrap="square" lIns="0" rIns="0" tIns="0" bIns="0" anchor="t">
            <a:noAutofit/>
          </a:bodyPr>
          <a:lstStyle/>
          <a:p>
            <a:pPr algn="l">
              <a:lnSpc>
                <a:spcPts val="1567"/>
              </a:lnSpc>
            </a:pPr>
            <a:r>
              <a:rPr sz="1162" b="0" i="0" lang="de-DE">
                <a:solidFill>
                  <a:srgbClr val="00718E"/>
                </a:solidFill>
                <a:latin typeface="IBM Plex Sans"/>
              </a:rPr>
              <a:t>Hebel: RMSE bestraft große Fehler stärker</a:t>
            </a:r>
          </a:p>
        </p:txBody>
      </p:sp>
      <p:sp>
        <p:nvSpPr>
          <p:cNvPr id="65" name="Rounded Rectangle 64"/>
          <p:cNvSpPr/>
          <p:nvPr/>
        </p:nvSpPr>
        <p:spPr>
          <a:xfrm>
            <a:off x="7029450" y="3944302"/>
            <a:ext cx="4476750" cy="1169670"/>
          </a:xfrm>
          <a:prstGeom prst="roundRect">
            <a:avLst>
              <a:gd name="adj" fmla="val 8143"/>
            </a:avLst>
          </a:prstGeom>
          <a:solidFill>
            <a:srgbClr val="FFFFFF"/>
          </a:solidFill>
          <a:ln w="9525">
            <a:solidFill>
              <a:srgbClr val="D2DAE2"/>
            </a:solidFill>
          </a:ln>
          <a:effectLst/>
        </p:spPr>
        <p:txBody>
          <a:bodyPr rtlCol="0" anchor="ctr"/>
          <a:lstStyle/>
          <a:p>
            <a:pPr algn="ctr"/>
          </a:p>
        </p:txBody>
      </p:sp>
      <p:grpSp>
        <p:nvGrpSpPr>
          <p:cNvPr id="66" name="Scheibe eye-off"/>
          <p:cNvGrpSpPr/>
          <p:nvPr/>
        </p:nvGrpSpPr>
        <p:grpSpPr>
          <a:xfrm>
            <a:off x="7191375" y="4087178"/>
            <a:ext cx="342900" cy="342900"/>
            <a:chOff x="7191375" y="4087178"/>
            <a:chExt cx="342900" cy="342900"/>
          </a:xfrm>
        </p:grpSpPr>
        <p:sp>
          <p:nvSpPr>
            <p:cNvPr id="67" name="Oval 66"/>
            <p:cNvSpPr/>
            <p:nvPr/>
          </p:nvSpPr>
          <p:spPr>
            <a:xfrm>
              <a:off x="7191375" y="4087178"/>
              <a:ext cx="342900" cy="342900"/>
            </a:xfrm>
            <a:prstGeom prst="ellipse">
              <a:avLst/>
            </a:prstGeom>
            <a:solidFill>
              <a:srgbClr val="A86505"/>
            </a:solidFill>
            <a:ln>
              <a:noFill/>
            </a:ln>
            <a:effectLst/>
          </p:spPr>
          <p:txBody>
            <a:bodyPr rtlCol="0" anchor="ctr"/>
            <a:lstStyle/>
            <a:p>
              <a:pPr algn="ctr"/>
            </a:p>
          </p:txBody>
        </p:sp>
        <p:pic>
          <p:nvPicPr>
            <p:cNvPr id="68" name="Picture 67" descr="eye-off__FFFFFF.png"/>
            <p:cNvPicPr>
              <a:picLocks noChangeAspect="1"/>
            </p:cNvPicPr>
            <p:nvPr/>
          </p:nvPicPr>
          <p:blipFill>
            <a:blip r:embed="rId13"/>
            <a:stretch>
              <a:fillRect/>
            </a:stretch>
          </p:blipFill>
          <p:spPr>
            <a:xfrm>
              <a:off x="7273671" y="4169474"/>
              <a:ext cx="178308" cy="178308"/>
            </a:xfrm>
            <a:prstGeom prst="rect">
              <a:avLst/>
            </a:prstGeom>
          </p:spPr>
        </p:pic>
      </p:grpSp>
      <p:sp>
        <p:nvSpPr>
          <p:cNvPr id="69" name="TextBox 68"/>
          <p:cNvSpPr txBox="1"/>
          <p:nvPr/>
        </p:nvSpPr>
        <p:spPr>
          <a:xfrm>
            <a:off x="7667625" y="4087178"/>
            <a:ext cx="3676650" cy="209550"/>
          </a:xfrm>
          <a:prstGeom prst="rect">
            <a:avLst/>
          </a:prstGeom>
          <a:noFill/>
        </p:spPr>
        <p:txBody>
          <a:bodyPr wrap="square" lIns="0" rIns="0" tIns="0" bIns="0" anchor="t">
            <a:noAutofit/>
          </a:bodyPr>
          <a:lstStyle/>
          <a:p>
            <a:pPr algn="l">
              <a:lnSpc>
                <a:spcPts val="1650"/>
              </a:lnSpc>
            </a:pPr>
            <a:r>
              <a:rPr sz="1275" b="1" i="0" lang="de-DE">
                <a:solidFill>
                  <a:srgbClr val="141A21"/>
                </a:solidFill>
                <a:latin typeface="IBM Plex Sans"/>
              </a:rPr>
              <a:t>Übersehen</a:t>
            </a:r>
          </a:p>
        </p:txBody>
      </p:sp>
      <p:sp>
        <p:nvSpPr>
          <p:cNvPr id="70" name="TextBox 69"/>
          <p:cNvSpPr txBox="1"/>
          <p:nvPr/>
        </p:nvSpPr>
        <p:spPr>
          <a:xfrm>
            <a:off x="7667625" y="4315778"/>
            <a:ext cx="3676650" cy="200025"/>
          </a:xfrm>
          <a:prstGeom prst="rect">
            <a:avLst/>
          </a:prstGeom>
          <a:noFill/>
        </p:spPr>
        <p:txBody>
          <a:bodyPr wrap="square" lIns="0" rIns="0" tIns="0" bIns="0" anchor="t">
            <a:noAutofit/>
          </a:bodyPr>
          <a:lstStyle/>
          <a:p>
            <a:pPr algn="l">
              <a:lnSpc>
                <a:spcPts val="1567"/>
              </a:lnSpc>
            </a:pPr>
            <a:r>
              <a:rPr sz="1162" b="0" i="0" lang="de-DE">
                <a:solidFill>
                  <a:srgbClr val="4E5A68"/>
                </a:solidFill>
                <a:latin typeface="IBM Plex Sans"/>
              </a:rPr>
              <a:t>Fällt wie heute erst in der Quartalsauswertung auf.</a:t>
            </a:r>
          </a:p>
        </p:txBody>
      </p:sp>
      <p:pic>
        <p:nvPicPr>
          <p:cNvPr id="71" name="Icon arrow-right" descr="arrow-right__00718E.png"/>
          <p:cNvPicPr>
            <a:picLocks noChangeAspect="1"/>
          </p:cNvPicPr>
          <p:nvPr/>
        </p:nvPicPr>
        <p:blipFill>
          <a:blip r:embed="rId10"/>
          <a:stretch>
            <a:fillRect/>
          </a:stretch>
        </p:blipFill>
        <p:spPr>
          <a:xfrm>
            <a:off x="7667625" y="4699635"/>
            <a:ext cx="142875" cy="142875"/>
          </a:xfrm>
          <a:prstGeom prst="rect">
            <a:avLst/>
          </a:prstGeom>
        </p:spPr>
      </p:pic>
      <p:sp>
        <p:nvSpPr>
          <p:cNvPr id="72" name="TextBox 71"/>
          <p:cNvSpPr txBox="1"/>
          <p:nvPr/>
        </p:nvSpPr>
        <p:spPr>
          <a:xfrm>
            <a:off x="7867650" y="4572000"/>
            <a:ext cx="3476625" cy="400050"/>
          </a:xfrm>
          <a:prstGeom prst="rect">
            <a:avLst/>
          </a:prstGeom>
          <a:noFill/>
        </p:spPr>
        <p:txBody>
          <a:bodyPr wrap="square" lIns="0" rIns="0" tIns="0" bIns="0" anchor="t">
            <a:noAutofit/>
          </a:bodyPr>
          <a:lstStyle/>
          <a:p>
            <a:pPr algn="l">
              <a:lnSpc>
                <a:spcPts val="1567"/>
              </a:lnSpc>
            </a:pPr>
            <a:r>
              <a:rPr sz="1162" b="0" i="0" lang="de-DE">
                <a:solidFill>
                  <a:srgbClr val="00718E"/>
                </a:solidFill>
                <a:latin typeface="IBM Plex Sans"/>
              </a:rPr>
              <a:t>Hebel: Stichprobe unauffälliger Fälle misst den Recall</a:t>
            </a:r>
          </a:p>
        </p:txBody>
      </p:sp>
      <p:sp>
        <p:nvSpPr>
          <p:cNvPr id="73" name="TextBox 72"/>
          <p:cNvSpPr txBox="1"/>
          <p:nvPr/>
        </p:nvSpPr>
        <p:spPr>
          <a:xfrm>
            <a:off x="685800" y="5265420"/>
            <a:ext cx="10820400" cy="171450"/>
          </a:xfrm>
          <a:prstGeom prst="rect">
            <a:avLst/>
          </a:prstGeom>
          <a:noFill/>
        </p:spPr>
        <p:txBody>
          <a:bodyPr wrap="square" lIns="0" rIns="0" tIns="0" bIns="0" anchor="t">
            <a:noAutofit/>
          </a:bodyPr>
          <a:lstStyle/>
          <a:p>
            <a:pPr algn="l">
              <a:lnSpc>
                <a:spcPts val="1350"/>
              </a:lnSpc>
            </a:pPr>
            <a:r>
              <a:rPr sz="1050" b="0" i="0" lang="de-DE">
                <a:solidFill>
                  <a:srgbClr val="657383"/>
                </a:solidFill>
                <a:latin typeface="IBM Plex Sans"/>
              </a:rPr>
              <a:t>Euro-Beträge sind nicht belegt: Spotmarkt-Kosten, Prüfzeit und Bestätigungsquote misst der Pilot (Bericht, Canvas-Feld 08).</a:t>
            </a:r>
          </a:p>
        </p:txBody>
      </p:sp>
      <p:cxnSp>
        <p:nvCxnSpPr>
          <p:cNvPr id="74"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75" name="Logo" descr="image.png"/>
          <p:cNvPicPr>
            <a:picLocks noChangeAspect="1"/>
          </p:cNvPicPr>
          <p:nvPr/>
        </p:nvPicPr>
        <p:blipFill>
          <a:blip r:embed="rId14"/>
          <a:stretch>
            <a:fillRect/>
          </a:stretch>
        </p:blipFill>
        <p:spPr>
          <a:xfrm>
            <a:off x="685800" y="6400800"/>
            <a:ext cx="715863" cy="247650"/>
          </a:xfrm>
          <a:prstGeom prst="rect">
            <a:avLst/>
          </a:prstGeom>
        </p:spPr>
      </p:pic>
      <p:sp>
        <p:nvSpPr>
          <p:cNvPr id="76" name="TextBox 75"/>
          <p:cNvSpPr txBox="1"/>
          <p:nvPr/>
        </p:nvSpPr>
        <p:spPr>
          <a:xfrm>
            <a:off x="1554480" y="6429375"/>
            <a:ext cx="289179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77" name="Connector 76"/>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78" name="Scheibe gem"/>
          <p:cNvGrpSpPr/>
          <p:nvPr/>
        </p:nvGrpSpPr>
        <p:grpSpPr>
          <a:xfrm>
            <a:off x="4523899" y="6426994"/>
            <a:ext cx="195262" cy="195262"/>
            <a:chOff x="4523899" y="6426994"/>
            <a:chExt cx="195262" cy="195262"/>
          </a:xfrm>
        </p:grpSpPr>
        <p:sp>
          <p:nvSpPr>
            <p:cNvPr id="79" name="Oval 78"/>
            <p:cNvSpPr/>
            <p:nvPr/>
          </p:nvSpPr>
          <p:spPr>
            <a:xfrm>
              <a:off x="4523899" y="6426994"/>
              <a:ext cx="195262" cy="195262"/>
            </a:xfrm>
            <a:prstGeom prst="ellipse">
              <a:avLst/>
            </a:prstGeom>
            <a:solidFill>
              <a:srgbClr val="FFFFFF"/>
            </a:solidFill>
            <a:ln w="14287">
              <a:solidFill>
                <a:srgbClr val="B4BFCB"/>
              </a:solidFill>
            </a:ln>
            <a:effectLst/>
          </p:spPr>
          <p:txBody>
            <a:bodyPr rtlCol="0" anchor="ctr"/>
            <a:lstStyle/>
            <a:p>
              <a:pPr algn="ctr"/>
            </a:p>
          </p:txBody>
        </p:sp>
        <p:pic>
          <p:nvPicPr>
            <p:cNvPr id="80" name="Picture 79" descr="gem__084878.png"/>
            <p:cNvPicPr>
              <a:picLocks noChangeAspect="1"/>
            </p:cNvPicPr>
            <p:nvPr/>
          </p:nvPicPr>
          <p:blipFill>
            <a:blip r:embed="rId4"/>
            <a:stretch>
              <a:fillRect/>
            </a:stretch>
          </p:blipFill>
          <p:spPr>
            <a:xfrm>
              <a:off x="4567047" y="6470142"/>
              <a:ext cx="108966" cy="108966"/>
            </a:xfrm>
            <a:prstGeom prst="rect">
              <a:avLst/>
            </a:prstGeom>
          </p:spPr>
        </p:pic>
      </p:grpSp>
      <p:sp>
        <p:nvSpPr>
          <p:cNvPr id="81" name="TextBox 80"/>
          <p:cNvSpPr txBox="1"/>
          <p:nvPr/>
        </p:nvSpPr>
        <p:spPr>
          <a:xfrm>
            <a:off x="4783455"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01</a:t>
            </a:r>
          </a:p>
        </p:txBody>
      </p:sp>
      <p:sp>
        <p:nvSpPr>
          <p:cNvPr id="82" name="TextBox 81"/>
          <p:cNvSpPr txBox="1"/>
          <p:nvPr/>
        </p:nvSpPr>
        <p:spPr>
          <a:xfrm>
            <a:off x="5000625" y="6438900"/>
            <a:ext cx="741388"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Mehrwert</a:t>
            </a:r>
          </a:p>
        </p:txBody>
      </p:sp>
      <p:grpSp>
        <p:nvGrpSpPr>
          <p:cNvPr id="83" name="Scheibe target"/>
          <p:cNvGrpSpPr/>
          <p:nvPr/>
        </p:nvGrpSpPr>
        <p:grpSpPr>
          <a:xfrm>
            <a:off x="5700808" y="6426994"/>
            <a:ext cx="195262" cy="195262"/>
            <a:chOff x="5700808" y="6426994"/>
            <a:chExt cx="195262" cy="195262"/>
          </a:xfrm>
        </p:grpSpPr>
        <p:sp>
          <p:nvSpPr>
            <p:cNvPr id="84" name="Oval 83"/>
            <p:cNvSpPr/>
            <p:nvPr/>
          </p:nvSpPr>
          <p:spPr>
            <a:xfrm>
              <a:off x="5700808" y="6426994"/>
              <a:ext cx="195262" cy="195262"/>
            </a:xfrm>
            <a:prstGeom prst="ellipse">
              <a:avLst/>
            </a:prstGeom>
            <a:solidFill>
              <a:srgbClr val="FFFFFF"/>
            </a:solidFill>
            <a:ln w="14287">
              <a:solidFill>
                <a:srgbClr val="B4BFCB"/>
              </a:solidFill>
            </a:ln>
            <a:effectLst/>
          </p:spPr>
          <p:txBody>
            <a:bodyPr rtlCol="0" anchor="ctr"/>
            <a:lstStyle/>
            <a:p>
              <a:pPr algn="ctr"/>
            </a:p>
          </p:txBody>
        </p:sp>
        <p:pic>
          <p:nvPicPr>
            <p:cNvPr id="85" name="Picture 84" descr="target__084878.png"/>
            <p:cNvPicPr>
              <a:picLocks noChangeAspect="1"/>
            </p:cNvPicPr>
            <p:nvPr/>
          </p:nvPicPr>
          <p:blipFill>
            <a:blip r:embed="rId5"/>
            <a:stretch>
              <a:fillRect/>
            </a:stretch>
          </p:blipFill>
          <p:spPr>
            <a:xfrm>
              <a:off x="5743956" y="6470142"/>
              <a:ext cx="108966" cy="108966"/>
            </a:xfrm>
            <a:prstGeom prst="rect">
              <a:avLst/>
            </a:prstGeom>
          </p:spPr>
        </p:pic>
      </p:grpSp>
      <p:sp>
        <p:nvSpPr>
          <p:cNvPr id="86" name="TextBox 85"/>
          <p:cNvSpPr txBox="1"/>
          <p:nvPr/>
        </p:nvSpPr>
        <p:spPr>
          <a:xfrm>
            <a:off x="5960364"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08</a:t>
            </a:r>
          </a:p>
        </p:txBody>
      </p:sp>
      <p:sp>
        <p:nvSpPr>
          <p:cNvPr id="87" name="TextBox 86"/>
          <p:cNvSpPr txBox="1"/>
          <p:nvPr/>
        </p:nvSpPr>
        <p:spPr>
          <a:xfrm>
            <a:off x="6177534" y="6438900"/>
            <a:ext cx="578568"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Impact</a:t>
            </a:r>
          </a:p>
        </p:txBody>
      </p:sp>
      <p:sp>
        <p:nvSpPr>
          <p:cNvPr id="88" name="TextBox 87"/>
          <p:cNvSpPr txBox="1"/>
          <p:nvPr/>
        </p:nvSpPr>
        <p:spPr>
          <a:xfrm>
            <a:off x="9486900" y="6429375"/>
            <a:ext cx="12573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89" name="Seitenzahl"/>
          <p:cNvSpPr txBox="1"/>
          <p:nvPr/>
        </p:nvSpPr>
        <p:spPr>
          <a:xfrm>
            <a:off x="10835640" y="6424612"/>
            <a:ext cx="67056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2 / 11</a:t>
            </a:r>
          </a:p>
        </p:txBody>
      </p:sp>
      <p:grpSp>
        <p:nvGrpSpPr>
          <p:cNvPr id="90" name="Kapitel 01"/>
          <p:cNvGrpSpPr/>
          <p:nvPr/>
        </p:nvGrpSpPr>
        <p:grpSpPr>
          <a:xfrm>
            <a:off x="9532144" y="407194"/>
            <a:ext cx="233362" cy="233362"/>
            <a:chOff x="9532144" y="407194"/>
            <a:chExt cx="233362" cy="233362"/>
          </a:xfrm>
        </p:grpSpPr>
        <p:sp>
          <p:nvSpPr>
            <p:cNvPr id="91" name="Oval 90"/>
            <p:cNvSpPr/>
            <p:nvPr/>
          </p:nvSpPr>
          <p:spPr>
            <a:xfrm>
              <a:off x="953214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92" name="Picture 91" descr="building-2__084878.png"/>
            <p:cNvPicPr>
              <a:picLocks noChangeAspect="1"/>
            </p:cNvPicPr>
            <p:nvPr/>
          </p:nvPicPr>
          <p:blipFill>
            <a:blip r:embed="rId15"/>
            <a:stretch>
              <a:fillRect/>
            </a:stretch>
          </p:blipFill>
          <p:spPr>
            <a:xfrm>
              <a:off x="9584436" y="459486"/>
              <a:ext cx="128778" cy="128778"/>
            </a:xfrm>
            <a:prstGeom prst="rect">
              <a:avLst/>
            </a:prstGeom>
          </p:spPr>
        </p:pic>
      </p:grpSp>
      <p:grpSp>
        <p:nvGrpSpPr>
          <p:cNvPr id="93" name="Kapitel 02"/>
          <p:cNvGrpSpPr/>
          <p:nvPr/>
        </p:nvGrpSpPr>
        <p:grpSpPr>
          <a:xfrm>
            <a:off x="9817894" y="407194"/>
            <a:ext cx="233362" cy="233362"/>
            <a:chOff x="9817894" y="407194"/>
            <a:chExt cx="233362" cy="233362"/>
          </a:xfrm>
        </p:grpSpPr>
        <p:sp>
          <p:nvSpPr>
            <p:cNvPr id="94" name="Oval 93"/>
            <p:cNvSpPr/>
            <p:nvPr/>
          </p:nvSpPr>
          <p:spPr>
            <a:xfrm>
              <a:off x="981789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95" name="Picture 94" descr="database__084878.png"/>
            <p:cNvPicPr>
              <a:picLocks noChangeAspect="1"/>
            </p:cNvPicPr>
            <p:nvPr/>
          </p:nvPicPr>
          <p:blipFill>
            <a:blip r:embed="rId16"/>
            <a:stretch>
              <a:fillRect/>
            </a:stretch>
          </p:blipFill>
          <p:spPr>
            <a:xfrm>
              <a:off x="9870186" y="459486"/>
              <a:ext cx="128778" cy="128778"/>
            </a:xfrm>
            <a:prstGeom prst="rect">
              <a:avLst/>
            </a:prstGeom>
          </p:spPr>
        </p:pic>
      </p:grpSp>
      <p:grpSp>
        <p:nvGrpSpPr>
          <p:cNvPr id="96" name="Kapitel 03 aktiv"/>
          <p:cNvGrpSpPr/>
          <p:nvPr/>
        </p:nvGrpSpPr>
        <p:grpSpPr>
          <a:xfrm>
            <a:off x="10248900" y="400050"/>
            <a:ext cx="247650" cy="247650"/>
            <a:chOff x="10248900" y="400050"/>
            <a:chExt cx="247650" cy="247650"/>
          </a:xfrm>
        </p:grpSpPr>
        <p:sp>
          <p:nvSpPr>
            <p:cNvPr id="97" name="Oval 96"/>
            <p:cNvSpPr/>
            <p:nvPr/>
          </p:nvSpPr>
          <p:spPr>
            <a:xfrm>
              <a:off x="10248900" y="400050"/>
              <a:ext cx="247650" cy="247650"/>
            </a:xfrm>
            <a:prstGeom prst="ellipse">
              <a:avLst/>
            </a:prstGeom>
            <a:solidFill>
              <a:srgbClr val="084878"/>
            </a:solidFill>
            <a:ln>
              <a:noFill/>
            </a:ln>
            <a:effectLst/>
          </p:spPr>
          <p:txBody>
            <a:bodyPr rtlCol="0" anchor="ctr"/>
            <a:lstStyle/>
            <a:p>
              <a:pPr algn="ctr"/>
            </a:p>
          </p:txBody>
        </p:sp>
        <p:pic>
          <p:nvPicPr>
            <p:cNvPr id="98" name="Picture 97" descr="layout-grid__FFFFFF.png"/>
            <p:cNvPicPr>
              <a:picLocks noChangeAspect="1"/>
            </p:cNvPicPr>
            <p:nvPr/>
          </p:nvPicPr>
          <p:blipFill>
            <a:blip r:embed="rId17"/>
            <a:stretch>
              <a:fillRect/>
            </a:stretch>
          </p:blipFill>
          <p:spPr>
            <a:xfrm>
              <a:off x="10308336" y="459486"/>
              <a:ext cx="128778" cy="128778"/>
            </a:xfrm>
            <a:prstGeom prst="rect">
              <a:avLst/>
            </a:prstGeom>
          </p:spPr>
        </p:pic>
      </p:grpSp>
      <p:grpSp>
        <p:nvGrpSpPr>
          <p:cNvPr id="99" name="Kapitel 04"/>
          <p:cNvGrpSpPr/>
          <p:nvPr/>
        </p:nvGrpSpPr>
        <p:grpSpPr>
          <a:xfrm>
            <a:off x="10541794" y="407194"/>
            <a:ext cx="233362" cy="233362"/>
            <a:chOff x="10541794" y="407194"/>
            <a:chExt cx="233362" cy="233362"/>
          </a:xfrm>
        </p:grpSpPr>
        <p:sp>
          <p:nvSpPr>
            <p:cNvPr id="100" name="Oval 99"/>
            <p:cNvSpPr/>
            <p:nvPr/>
          </p:nvSpPr>
          <p:spPr>
            <a:xfrm>
              <a:off x="10541794" y="407194"/>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01" name="Picture 100" descr="trees__8A96A3.png"/>
            <p:cNvPicPr>
              <a:picLocks noChangeAspect="1"/>
            </p:cNvPicPr>
            <p:nvPr/>
          </p:nvPicPr>
          <p:blipFill>
            <a:blip r:embed="rId18"/>
            <a:stretch>
              <a:fillRect/>
            </a:stretch>
          </p:blipFill>
          <p:spPr>
            <a:xfrm>
              <a:off x="10594086" y="459486"/>
              <a:ext cx="128778" cy="128778"/>
            </a:xfrm>
            <a:prstGeom prst="rect">
              <a:avLst/>
            </a:prstGeom>
          </p:spPr>
        </p:pic>
      </p:grpSp>
      <p:grpSp>
        <p:nvGrpSpPr>
          <p:cNvPr id="102" name="Kapitel 05"/>
          <p:cNvGrpSpPr/>
          <p:nvPr/>
        </p:nvGrpSpPr>
        <p:grpSpPr>
          <a:xfrm>
            <a:off x="10979944" y="407194"/>
            <a:ext cx="233362" cy="233362"/>
            <a:chOff x="10979944" y="407194"/>
            <a:chExt cx="233362" cy="233362"/>
          </a:xfrm>
        </p:grpSpPr>
        <p:sp>
          <p:nvSpPr>
            <p:cNvPr id="103" name="Oval 102"/>
            <p:cNvSpPr/>
            <p:nvPr/>
          </p:nvSpPr>
          <p:spPr>
            <a:xfrm>
              <a:off x="10979944" y="407194"/>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04" name="Picture 103" descr="chart-column__8A96A3.png"/>
            <p:cNvPicPr>
              <a:picLocks noChangeAspect="1"/>
            </p:cNvPicPr>
            <p:nvPr/>
          </p:nvPicPr>
          <p:blipFill>
            <a:blip r:embed="rId19"/>
            <a:stretch>
              <a:fillRect/>
            </a:stretch>
          </p:blipFill>
          <p:spPr>
            <a:xfrm>
              <a:off x="11032236" y="459486"/>
              <a:ext cx="128778" cy="128778"/>
            </a:xfrm>
            <a:prstGeom prst="rect">
              <a:avLst/>
            </a:prstGeom>
          </p:spPr>
        </p:pic>
      </p:grpSp>
      <p:grpSp>
        <p:nvGrpSpPr>
          <p:cNvPr id="105" name="Kapitel 06"/>
          <p:cNvGrpSpPr/>
          <p:nvPr/>
        </p:nvGrpSpPr>
        <p:grpSpPr>
          <a:xfrm>
            <a:off x="11265694" y="407194"/>
            <a:ext cx="233362" cy="233362"/>
            <a:chOff x="11265694" y="407194"/>
            <a:chExt cx="233362" cy="233362"/>
          </a:xfrm>
        </p:grpSpPr>
        <p:sp>
          <p:nvSpPr>
            <p:cNvPr id="106" name="Oval 105"/>
            <p:cNvSpPr/>
            <p:nvPr/>
          </p:nvSpPr>
          <p:spPr>
            <a:xfrm>
              <a:off x="11265694" y="407194"/>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07" name="Picture 106" descr="compass__8A96A3.png"/>
            <p:cNvPicPr>
              <a:picLocks noChangeAspect="1"/>
            </p:cNvPicPr>
            <p:nvPr/>
          </p:nvPicPr>
          <p:blipFill>
            <a:blip r:embed="rId20"/>
            <a:stretch>
              <a:fillRect/>
            </a:stretch>
          </p:blipFill>
          <p:spPr>
            <a:xfrm>
              <a:off x="11317986" y="459486"/>
              <a:ext cx="128778" cy="128778"/>
            </a:xfrm>
            <a:prstGeom prst="rect">
              <a:avLst/>
            </a:prstGeom>
          </p:spPr>
        </p:pic>
      </p:grpSp>
      <p:cxnSp>
        <p:nvCxnSpPr>
          <p:cNvPr id="108" name="Kapitel-Lücke"/>
          <p:cNvCxnSpPr/>
          <p:nvPr/>
        </p:nvCxnSpPr>
        <p:spPr>
          <a:xfrm>
            <a:off x="10115550" y="523875"/>
            <a:ext cx="7620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cxnSp>
        <p:nvCxnSpPr>
          <p:cNvPr id="109" name="Kapitel-Lücke"/>
          <p:cNvCxnSpPr/>
          <p:nvPr/>
        </p:nvCxnSpPr>
        <p:spPr>
          <a:xfrm>
            <a:off x="10839450" y="523875"/>
            <a:ext cx="7620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sp>
        <p:nvSpPr>
          <p:cNvPr id="110" name="Kapitel-Label"/>
          <p:cNvSpPr txBox="1"/>
          <p:nvPr/>
        </p:nvSpPr>
        <p:spPr>
          <a:xfrm>
            <a:off x="6267450" y="428625"/>
            <a:ext cx="3143250" cy="171450"/>
          </a:xfrm>
          <a:prstGeom prst="rect">
            <a:avLst/>
          </a:prstGeom>
          <a:noFill/>
        </p:spPr>
        <p:txBody>
          <a:bodyPr wrap="none" lIns="0" rIns="0" tIns="0" bIns="0" anchor="t">
            <a:noAutofit/>
          </a:bodyPr>
          <a:lstStyle/>
          <a:p>
            <a:pPr algn="r">
              <a:lnSpc>
                <a:spcPts val="1350"/>
              </a:lnSpc>
            </a:pPr>
            <a:r>
              <a:rPr sz="1050" b="1" i="0" lang="de-DE">
                <a:solidFill>
                  <a:srgbClr val="005E77"/>
                </a:solidFill>
                <a:latin typeface="IBM Plex Sans"/>
              </a:rPr>
              <a:t>03 · ML Canvas · Kiko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plit links"/>
          <p:cNvSpPr/>
          <p:nvPr/>
        </p:nvSpPr>
        <p:spPr>
          <a:xfrm>
            <a:off x="0" y="0"/>
            <a:ext cx="4876800" cy="6219825"/>
          </a:xfrm>
          <a:prstGeom prst="rect">
            <a:avLst/>
          </a:prstGeom>
          <a:solidFill>
            <a:srgbClr val="063659"/>
          </a:solidFill>
          <a:ln>
            <a:noFill/>
          </a:ln>
          <a:effectLst/>
        </p:spPr>
        <p:txBody>
          <a:bodyPr rtlCol="0" anchor="ctr"/>
          <a:lstStyle/>
          <a:p>
            <a:pPr algn="ctr"/>
          </a:p>
        </p:txBody>
      </p:sp>
      <p:sp>
        <p:nvSpPr>
          <p:cNvPr id="3" name="Ring"/>
          <p:cNvSpPr/>
          <p:nvPr/>
        </p:nvSpPr>
        <p:spPr>
          <a:xfrm>
            <a:off x="2790825" y="0"/>
            <a:ext cx="2085975" cy="2181225"/>
          </a:xfrm>
          <a:custGeom>
            <a:avLst/>
            <a:gdLst/>
            <a:ahLst/>
            <a:cxnLst/>
            <a:rect l="l" t="t" r="r" b="b"/>
            <a:pathLst>
              <a:path w="2085975" h="2181225">
                <a:moveTo>
                  <a:pt x="2085975" y="2178945"/>
                </a:moveTo>
                <a:lnTo>
                  <a:pt x="2077559" y="2179330"/>
                </a:lnTo>
                <a:lnTo>
                  <a:pt x="2060200" y="2180012"/>
                </a:lnTo>
                <a:lnTo>
                  <a:pt x="2042836" y="2180543"/>
                </a:lnTo>
                <a:lnTo>
                  <a:pt x="2025468" y="2180922"/>
                </a:lnTo>
                <a:lnTo>
                  <a:pt x="2008097" y="2181149"/>
                </a:lnTo>
                <a:lnTo>
                  <a:pt x="1990725" y="2181225"/>
                </a:lnTo>
                <a:lnTo>
                  <a:pt x="1973353" y="2181149"/>
                </a:lnTo>
                <a:lnTo>
                  <a:pt x="1955982" y="2180922"/>
                </a:lnTo>
                <a:lnTo>
                  <a:pt x="1938614" y="2180543"/>
                </a:lnTo>
                <a:lnTo>
                  <a:pt x="1921250" y="2180012"/>
                </a:lnTo>
                <a:lnTo>
                  <a:pt x="1903891" y="2179330"/>
                </a:lnTo>
                <a:lnTo>
                  <a:pt x="1886539" y="2178497"/>
                </a:lnTo>
                <a:lnTo>
                  <a:pt x="1869194" y="2177512"/>
                </a:lnTo>
                <a:lnTo>
                  <a:pt x="1851859" y="2176376"/>
                </a:lnTo>
                <a:lnTo>
                  <a:pt x="1834535" y="2175088"/>
                </a:lnTo>
                <a:lnTo>
                  <a:pt x="1817222" y="2173650"/>
                </a:lnTo>
                <a:lnTo>
                  <a:pt x="1799922" y="2172060"/>
                </a:lnTo>
                <a:lnTo>
                  <a:pt x="1782638" y="2170320"/>
                </a:lnTo>
                <a:lnTo>
                  <a:pt x="1765369" y="2168428"/>
                </a:lnTo>
                <a:lnTo>
                  <a:pt x="1748117" y="2166386"/>
                </a:lnTo>
                <a:lnTo>
                  <a:pt x="1730883" y="2164194"/>
                </a:lnTo>
                <a:lnTo>
                  <a:pt x="1713670" y="2161851"/>
                </a:lnTo>
                <a:lnTo>
                  <a:pt x="1696477" y="2159359"/>
                </a:lnTo>
                <a:lnTo>
                  <a:pt x="1679307" y="2156716"/>
                </a:lnTo>
                <a:lnTo>
                  <a:pt x="1662161" y="2153923"/>
                </a:lnTo>
                <a:lnTo>
                  <a:pt x="1645039" y="2150981"/>
                </a:lnTo>
                <a:lnTo>
                  <a:pt x="1627944" y="2147890"/>
                </a:lnTo>
                <a:lnTo>
                  <a:pt x="1610877" y="2144650"/>
                </a:lnTo>
                <a:lnTo>
                  <a:pt x="1593838" y="2141261"/>
                </a:lnTo>
                <a:lnTo>
                  <a:pt x="1576830" y="2137723"/>
                </a:lnTo>
                <a:lnTo>
                  <a:pt x="1559853" y="2134037"/>
                </a:lnTo>
                <a:lnTo>
                  <a:pt x="1542909" y="2130203"/>
                </a:lnTo>
                <a:lnTo>
                  <a:pt x="1525999" y="2126221"/>
                </a:lnTo>
                <a:lnTo>
                  <a:pt x="1509125" y="2122092"/>
                </a:lnTo>
                <a:lnTo>
                  <a:pt x="1492287" y="2117816"/>
                </a:lnTo>
                <a:lnTo>
                  <a:pt x="1475487" y="2113393"/>
                </a:lnTo>
                <a:lnTo>
                  <a:pt x="1458727" y="2108823"/>
                </a:lnTo>
                <a:lnTo>
                  <a:pt x="1442007" y="2104108"/>
                </a:lnTo>
                <a:lnTo>
                  <a:pt x="1425329" y="2099246"/>
                </a:lnTo>
                <a:lnTo>
                  <a:pt x="1408693" y="2094240"/>
                </a:lnTo>
                <a:lnTo>
                  <a:pt x="1392102" y="2089088"/>
                </a:lnTo>
                <a:lnTo>
                  <a:pt x="1375557" y="2083792"/>
                </a:lnTo>
                <a:lnTo>
                  <a:pt x="1359059" y="2078352"/>
                </a:lnTo>
                <a:lnTo>
                  <a:pt x="1342608" y="2072767"/>
                </a:lnTo>
                <a:lnTo>
                  <a:pt x="1326207" y="2067040"/>
                </a:lnTo>
                <a:lnTo>
                  <a:pt x="1309857" y="2061170"/>
                </a:lnTo>
                <a:lnTo>
                  <a:pt x="1293558" y="2055157"/>
                </a:lnTo>
                <a:lnTo>
                  <a:pt x="1277313" y="2049002"/>
                </a:lnTo>
                <a:lnTo>
                  <a:pt x="1261122" y="2042706"/>
                </a:lnTo>
                <a:lnTo>
                  <a:pt x="1244986" y="2036268"/>
                </a:lnTo>
                <a:lnTo>
                  <a:pt x="1228908" y="2029690"/>
                </a:lnTo>
                <a:lnTo>
                  <a:pt x="1212887" y="2022972"/>
                </a:lnTo>
                <a:lnTo>
                  <a:pt x="1196925" y="2016114"/>
                </a:lnTo>
                <a:lnTo>
                  <a:pt x="1181024" y="2009118"/>
                </a:lnTo>
                <a:lnTo>
                  <a:pt x="1165185" y="2001983"/>
                </a:lnTo>
                <a:lnTo>
                  <a:pt x="1149408" y="1994710"/>
                </a:lnTo>
                <a:lnTo>
                  <a:pt x="1133696" y="1987299"/>
                </a:lnTo>
                <a:lnTo>
                  <a:pt x="1118049" y="1979752"/>
                </a:lnTo>
                <a:lnTo>
                  <a:pt x="1102468" y="1972068"/>
                </a:lnTo>
                <a:lnTo>
                  <a:pt x="1086955" y="1964249"/>
                </a:lnTo>
                <a:lnTo>
                  <a:pt x="1071510" y="1956295"/>
                </a:lnTo>
                <a:lnTo>
                  <a:pt x="1056136" y="1948206"/>
                </a:lnTo>
                <a:lnTo>
                  <a:pt x="1040833" y="1939983"/>
                </a:lnTo>
                <a:lnTo>
                  <a:pt x="1025602" y="1931627"/>
                </a:lnTo>
                <a:lnTo>
                  <a:pt x="1010445" y="1923139"/>
                </a:lnTo>
                <a:lnTo>
                  <a:pt x="995363" y="1914518"/>
                </a:lnTo>
                <a:lnTo>
                  <a:pt x="980356" y="1905767"/>
                </a:lnTo>
                <a:lnTo>
                  <a:pt x="965426" y="1896884"/>
                </a:lnTo>
                <a:lnTo>
                  <a:pt x="950574" y="1887872"/>
                </a:lnTo>
                <a:lnTo>
                  <a:pt x="935801" y="1878731"/>
                </a:lnTo>
                <a:lnTo>
                  <a:pt x="921109" y="1869460"/>
                </a:lnTo>
                <a:lnTo>
                  <a:pt x="906498" y="1860062"/>
                </a:lnTo>
                <a:lnTo>
                  <a:pt x="891970" y="1850537"/>
                </a:lnTo>
                <a:lnTo>
                  <a:pt x="877526" y="1840886"/>
                </a:lnTo>
                <a:lnTo>
                  <a:pt x="863166" y="1831109"/>
                </a:lnTo>
                <a:lnTo>
                  <a:pt x="848892" y="1821206"/>
                </a:lnTo>
                <a:lnTo>
                  <a:pt x="834705" y="1811180"/>
                </a:lnTo>
                <a:lnTo>
                  <a:pt x="820606" y="1801030"/>
                </a:lnTo>
                <a:lnTo>
                  <a:pt x="806596" y="1790758"/>
                </a:lnTo>
                <a:lnTo>
                  <a:pt x="792677" y="1780364"/>
                </a:lnTo>
                <a:lnTo>
                  <a:pt x="778848" y="1769848"/>
                </a:lnTo>
                <a:lnTo>
                  <a:pt x="765112" y="1759213"/>
                </a:lnTo>
                <a:lnTo>
                  <a:pt x="751470" y="1748458"/>
                </a:lnTo>
                <a:lnTo>
                  <a:pt x="737921" y="1737584"/>
                </a:lnTo>
                <a:lnTo>
                  <a:pt x="724468" y="1726592"/>
                </a:lnTo>
                <a:lnTo>
                  <a:pt x="711112" y="1715484"/>
                </a:lnTo>
                <a:lnTo>
                  <a:pt x="697853" y="1704259"/>
                </a:lnTo>
                <a:lnTo>
                  <a:pt x="684692" y="1692919"/>
                </a:lnTo>
                <a:lnTo>
                  <a:pt x="671631" y="1681465"/>
                </a:lnTo>
                <a:lnTo>
                  <a:pt x="658670" y="1669897"/>
                </a:lnTo>
                <a:lnTo>
                  <a:pt x="645811" y="1658216"/>
                </a:lnTo>
                <a:lnTo>
                  <a:pt x="633054" y="1646424"/>
                </a:lnTo>
                <a:lnTo>
                  <a:pt x="620400" y="1634521"/>
                </a:lnTo>
                <a:lnTo>
                  <a:pt x="607851" y="1622508"/>
                </a:lnTo>
                <a:lnTo>
                  <a:pt x="595407" y="1610386"/>
                </a:lnTo>
                <a:lnTo>
                  <a:pt x="583070" y="1598155"/>
                </a:lnTo>
                <a:lnTo>
                  <a:pt x="570839" y="1585818"/>
                </a:lnTo>
                <a:lnTo>
                  <a:pt x="558717" y="1573374"/>
                </a:lnTo>
                <a:lnTo>
                  <a:pt x="546704" y="1560825"/>
                </a:lnTo>
                <a:lnTo>
                  <a:pt x="534801" y="1548171"/>
                </a:lnTo>
                <a:lnTo>
                  <a:pt x="523009" y="1535414"/>
                </a:lnTo>
                <a:lnTo>
                  <a:pt x="511328" y="1522555"/>
                </a:lnTo>
                <a:lnTo>
                  <a:pt x="499760" y="1509594"/>
                </a:lnTo>
                <a:lnTo>
                  <a:pt x="488306" y="1496533"/>
                </a:lnTo>
                <a:lnTo>
                  <a:pt x="476966" y="1483372"/>
                </a:lnTo>
                <a:lnTo>
                  <a:pt x="465741" y="1470113"/>
                </a:lnTo>
                <a:lnTo>
                  <a:pt x="454633" y="1456757"/>
                </a:lnTo>
                <a:lnTo>
                  <a:pt x="443641" y="1443304"/>
                </a:lnTo>
                <a:lnTo>
                  <a:pt x="432767" y="1429755"/>
                </a:lnTo>
                <a:lnTo>
                  <a:pt x="422012" y="1416113"/>
                </a:lnTo>
                <a:lnTo>
                  <a:pt x="411377" y="1402377"/>
                </a:lnTo>
                <a:lnTo>
                  <a:pt x="400861" y="1388548"/>
                </a:lnTo>
                <a:lnTo>
                  <a:pt x="390467" y="1374629"/>
                </a:lnTo>
                <a:lnTo>
                  <a:pt x="380195" y="1360619"/>
                </a:lnTo>
                <a:lnTo>
                  <a:pt x="370045" y="1346520"/>
                </a:lnTo>
                <a:lnTo>
                  <a:pt x="360019" y="1332333"/>
                </a:lnTo>
                <a:lnTo>
                  <a:pt x="350116" y="1318059"/>
                </a:lnTo>
                <a:lnTo>
                  <a:pt x="340339" y="1303699"/>
                </a:lnTo>
                <a:lnTo>
                  <a:pt x="330688" y="1289255"/>
                </a:lnTo>
                <a:lnTo>
                  <a:pt x="321163" y="1274727"/>
                </a:lnTo>
                <a:lnTo>
                  <a:pt x="311765" y="1260116"/>
                </a:lnTo>
                <a:lnTo>
                  <a:pt x="302494" y="1245424"/>
                </a:lnTo>
                <a:lnTo>
                  <a:pt x="293353" y="1230651"/>
                </a:lnTo>
                <a:lnTo>
                  <a:pt x="284341" y="1215799"/>
                </a:lnTo>
                <a:lnTo>
                  <a:pt x="275458" y="1200869"/>
                </a:lnTo>
                <a:lnTo>
                  <a:pt x="266707" y="1185862"/>
                </a:lnTo>
                <a:lnTo>
                  <a:pt x="258086" y="1170780"/>
                </a:lnTo>
                <a:lnTo>
                  <a:pt x="249598" y="1155623"/>
                </a:lnTo>
                <a:lnTo>
                  <a:pt x="241242" y="1140392"/>
                </a:lnTo>
                <a:lnTo>
                  <a:pt x="233019" y="1125089"/>
                </a:lnTo>
                <a:lnTo>
                  <a:pt x="224930" y="1109715"/>
                </a:lnTo>
                <a:lnTo>
                  <a:pt x="216976" y="1094270"/>
                </a:lnTo>
                <a:lnTo>
                  <a:pt x="209157" y="1078757"/>
                </a:lnTo>
                <a:lnTo>
                  <a:pt x="201473" y="1063176"/>
                </a:lnTo>
                <a:lnTo>
                  <a:pt x="193926" y="1047529"/>
                </a:lnTo>
                <a:lnTo>
                  <a:pt x="186515" y="1031817"/>
                </a:lnTo>
                <a:lnTo>
                  <a:pt x="179242" y="1016040"/>
                </a:lnTo>
                <a:lnTo>
                  <a:pt x="172107" y="1000201"/>
                </a:lnTo>
                <a:lnTo>
                  <a:pt x="165111" y="984300"/>
                </a:lnTo>
                <a:lnTo>
                  <a:pt x="158253" y="968338"/>
                </a:lnTo>
                <a:lnTo>
                  <a:pt x="151535" y="952317"/>
                </a:lnTo>
                <a:lnTo>
                  <a:pt x="144957" y="936239"/>
                </a:lnTo>
                <a:lnTo>
                  <a:pt x="138519" y="920103"/>
                </a:lnTo>
                <a:lnTo>
                  <a:pt x="132223" y="903912"/>
                </a:lnTo>
                <a:lnTo>
                  <a:pt x="126068" y="887667"/>
                </a:lnTo>
                <a:lnTo>
                  <a:pt x="120055" y="871368"/>
                </a:lnTo>
                <a:lnTo>
                  <a:pt x="114185" y="855018"/>
                </a:lnTo>
                <a:lnTo>
                  <a:pt x="108458" y="838617"/>
                </a:lnTo>
                <a:lnTo>
                  <a:pt x="102873" y="822166"/>
                </a:lnTo>
                <a:lnTo>
                  <a:pt x="97433" y="805668"/>
                </a:lnTo>
                <a:lnTo>
                  <a:pt x="92137" y="789123"/>
                </a:lnTo>
                <a:lnTo>
                  <a:pt x="86985" y="772532"/>
                </a:lnTo>
                <a:lnTo>
                  <a:pt x="81979" y="755896"/>
                </a:lnTo>
                <a:lnTo>
                  <a:pt x="77117" y="739218"/>
                </a:lnTo>
                <a:lnTo>
                  <a:pt x="72402" y="722498"/>
                </a:lnTo>
                <a:lnTo>
                  <a:pt x="67832" y="705738"/>
                </a:lnTo>
                <a:lnTo>
                  <a:pt x="63409" y="688938"/>
                </a:lnTo>
                <a:lnTo>
                  <a:pt x="59133" y="672100"/>
                </a:lnTo>
                <a:lnTo>
                  <a:pt x="55004" y="655226"/>
                </a:lnTo>
                <a:lnTo>
                  <a:pt x="51022" y="638316"/>
                </a:lnTo>
                <a:lnTo>
                  <a:pt x="47188" y="621372"/>
                </a:lnTo>
                <a:lnTo>
                  <a:pt x="43502" y="604395"/>
                </a:lnTo>
                <a:lnTo>
                  <a:pt x="39964" y="587387"/>
                </a:lnTo>
                <a:lnTo>
                  <a:pt x="36575" y="570348"/>
                </a:lnTo>
                <a:lnTo>
                  <a:pt x="33335" y="553281"/>
                </a:lnTo>
                <a:lnTo>
                  <a:pt x="30244" y="536186"/>
                </a:lnTo>
                <a:lnTo>
                  <a:pt x="27302" y="519064"/>
                </a:lnTo>
                <a:lnTo>
                  <a:pt x="24509" y="501918"/>
                </a:lnTo>
                <a:lnTo>
                  <a:pt x="21866" y="484748"/>
                </a:lnTo>
                <a:lnTo>
                  <a:pt x="19374" y="467555"/>
                </a:lnTo>
                <a:lnTo>
                  <a:pt x="17031" y="450342"/>
                </a:lnTo>
                <a:lnTo>
                  <a:pt x="14839" y="433108"/>
                </a:lnTo>
                <a:lnTo>
                  <a:pt x="12797" y="415856"/>
                </a:lnTo>
                <a:lnTo>
                  <a:pt x="10905" y="398587"/>
                </a:lnTo>
                <a:lnTo>
                  <a:pt x="9165" y="381303"/>
                </a:lnTo>
                <a:lnTo>
                  <a:pt x="7575" y="364003"/>
                </a:lnTo>
                <a:lnTo>
                  <a:pt x="6137" y="346690"/>
                </a:lnTo>
                <a:lnTo>
                  <a:pt x="4849" y="329366"/>
                </a:lnTo>
                <a:lnTo>
                  <a:pt x="3713" y="312031"/>
                </a:lnTo>
                <a:lnTo>
                  <a:pt x="2728" y="294686"/>
                </a:lnTo>
                <a:lnTo>
                  <a:pt x="1895" y="277334"/>
                </a:lnTo>
                <a:lnTo>
                  <a:pt x="1213" y="259975"/>
                </a:lnTo>
                <a:lnTo>
                  <a:pt x="682" y="242611"/>
                </a:lnTo>
                <a:lnTo>
                  <a:pt x="303" y="225243"/>
                </a:lnTo>
                <a:lnTo>
                  <a:pt x="76" y="207872"/>
                </a:lnTo>
                <a:lnTo>
                  <a:pt x="0" y="190500"/>
                </a:lnTo>
                <a:lnTo>
                  <a:pt x="76" y="173128"/>
                </a:lnTo>
                <a:lnTo>
                  <a:pt x="303" y="155757"/>
                </a:lnTo>
                <a:lnTo>
                  <a:pt x="682" y="138389"/>
                </a:lnTo>
                <a:lnTo>
                  <a:pt x="1213" y="121025"/>
                </a:lnTo>
                <a:lnTo>
                  <a:pt x="1895" y="103666"/>
                </a:lnTo>
                <a:lnTo>
                  <a:pt x="2728" y="86314"/>
                </a:lnTo>
                <a:lnTo>
                  <a:pt x="3713" y="68969"/>
                </a:lnTo>
                <a:lnTo>
                  <a:pt x="4849" y="51634"/>
                </a:lnTo>
                <a:lnTo>
                  <a:pt x="6137" y="34310"/>
                </a:lnTo>
                <a:lnTo>
                  <a:pt x="7575" y="16997"/>
                </a:lnTo>
                <a:lnTo>
                  <a:pt x="9136" y="0"/>
                </a:lnTo>
              </a:path>
            </a:pathLst>
          </a:custGeom>
          <a:noFill/>
          <a:ln w="19050">
            <a:solidFill>
              <a:srgbClr val="1A5271"/>
            </a:solidFill>
          </a:ln>
          <a:effectLst/>
        </p:spPr>
        <p:txBody>
          <a:bodyPr rtlCol="0" anchor="ctr"/>
          <a:lstStyle/>
          <a:p>
            <a:pPr algn="ctr"/>
          </a:p>
        </p:txBody>
      </p:sp>
      <p:sp>
        <p:nvSpPr>
          <p:cNvPr id="4" name="Ring"/>
          <p:cNvSpPr/>
          <p:nvPr/>
        </p:nvSpPr>
        <p:spPr>
          <a:xfrm>
            <a:off x="3362325" y="0"/>
            <a:ext cx="1514475" cy="1609725"/>
          </a:xfrm>
          <a:custGeom>
            <a:avLst/>
            <a:gdLst/>
            <a:ahLst/>
            <a:cxnLst/>
            <a:rect l="l" t="t" r="r" b="b"/>
            <a:pathLst>
              <a:path w="1514475" h="1609725">
                <a:moveTo>
                  <a:pt x="1514475" y="1595948"/>
                </a:moveTo>
                <a:lnTo>
                  <a:pt x="1508237" y="1596840"/>
                </a:lnTo>
                <a:lnTo>
                  <a:pt x="1496788" y="1598398"/>
                </a:lnTo>
                <a:lnTo>
                  <a:pt x="1485327" y="1599856"/>
                </a:lnTo>
                <a:lnTo>
                  <a:pt x="1473853" y="1601214"/>
                </a:lnTo>
                <a:lnTo>
                  <a:pt x="1462368" y="1602472"/>
                </a:lnTo>
                <a:lnTo>
                  <a:pt x="1450872" y="1603630"/>
                </a:lnTo>
                <a:lnTo>
                  <a:pt x="1439367" y="1604687"/>
                </a:lnTo>
                <a:lnTo>
                  <a:pt x="1427853" y="1605644"/>
                </a:lnTo>
                <a:lnTo>
                  <a:pt x="1416331" y="1606500"/>
                </a:lnTo>
                <a:lnTo>
                  <a:pt x="1404802" y="1607256"/>
                </a:lnTo>
                <a:lnTo>
                  <a:pt x="1393266" y="1607911"/>
                </a:lnTo>
                <a:lnTo>
                  <a:pt x="1381726" y="1608465"/>
                </a:lnTo>
                <a:lnTo>
                  <a:pt x="1370181" y="1608918"/>
                </a:lnTo>
                <a:lnTo>
                  <a:pt x="1358633" y="1609271"/>
                </a:lnTo>
                <a:lnTo>
                  <a:pt x="1347082" y="1609523"/>
                </a:lnTo>
                <a:lnTo>
                  <a:pt x="1335529" y="1609675"/>
                </a:lnTo>
                <a:lnTo>
                  <a:pt x="1323975" y="1609725"/>
                </a:lnTo>
                <a:lnTo>
                  <a:pt x="1312421" y="1609675"/>
                </a:lnTo>
                <a:lnTo>
                  <a:pt x="1300868" y="1609523"/>
                </a:lnTo>
                <a:lnTo>
                  <a:pt x="1289317" y="1609271"/>
                </a:lnTo>
                <a:lnTo>
                  <a:pt x="1277769" y="1608918"/>
                </a:lnTo>
                <a:lnTo>
                  <a:pt x="1266224" y="1608465"/>
                </a:lnTo>
                <a:lnTo>
                  <a:pt x="1254684" y="1607911"/>
                </a:lnTo>
                <a:lnTo>
                  <a:pt x="1243148" y="1607256"/>
                </a:lnTo>
                <a:lnTo>
                  <a:pt x="1231619" y="1606500"/>
                </a:lnTo>
                <a:lnTo>
                  <a:pt x="1220097" y="1605644"/>
                </a:lnTo>
                <a:lnTo>
                  <a:pt x="1208583" y="1604687"/>
                </a:lnTo>
                <a:lnTo>
                  <a:pt x="1197078" y="1603630"/>
                </a:lnTo>
                <a:lnTo>
                  <a:pt x="1185582" y="1602472"/>
                </a:lnTo>
                <a:lnTo>
                  <a:pt x="1174097" y="1601214"/>
                </a:lnTo>
                <a:lnTo>
                  <a:pt x="1162623" y="1599856"/>
                </a:lnTo>
                <a:lnTo>
                  <a:pt x="1151162" y="1598398"/>
                </a:lnTo>
                <a:lnTo>
                  <a:pt x="1139713" y="1596840"/>
                </a:lnTo>
                <a:lnTo>
                  <a:pt x="1128279" y="1595182"/>
                </a:lnTo>
                <a:lnTo>
                  <a:pt x="1116860" y="1593425"/>
                </a:lnTo>
                <a:lnTo>
                  <a:pt x="1105456" y="1591567"/>
                </a:lnTo>
                <a:lnTo>
                  <a:pt x="1094069" y="1589611"/>
                </a:lnTo>
                <a:lnTo>
                  <a:pt x="1082700" y="1587555"/>
                </a:lnTo>
                <a:lnTo>
                  <a:pt x="1071349" y="1585400"/>
                </a:lnTo>
                <a:lnTo>
                  <a:pt x="1060017" y="1583146"/>
                </a:lnTo>
                <a:lnTo>
                  <a:pt x="1048705" y="1580793"/>
                </a:lnTo>
                <a:lnTo>
                  <a:pt x="1037414" y="1578342"/>
                </a:lnTo>
                <a:lnTo>
                  <a:pt x="1026145" y="1575792"/>
                </a:lnTo>
                <a:lnTo>
                  <a:pt x="1014899" y="1573143"/>
                </a:lnTo>
                <a:lnTo>
                  <a:pt x="1003676" y="1570397"/>
                </a:lnTo>
                <a:lnTo>
                  <a:pt x="992478" y="1567553"/>
                </a:lnTo>
                <a:lnTo>
                  <a:pt x="981305" y="1564612"/>
                </a:lnTo>
                <a:lnTo>
                  <a:pt x="970158" y="1561573"/>
                </a:lnTo>
                <a:lnTo>
                  <a:pt x="959038" y="1558436"/>
                </a:lnTo>
                <a:lnTo>
                  <a:pt x="947946" y="1555203"/>
                </a:lnTo>
                <a:lnTo>
                  <a:pt x="936882" y="1551874"/>
                </a:lnTo>
                <a:lnTo>
                  <a:pt x="925848" y="1548447"/>
                </a:lnTo>
                <a:lnTo>
                  <a:pt x="914844" y="1544925"/>
                </a:lnTo>
                <a:lnTo>
                  <a:pt x="903872" y="1541307"/>
                </a:lnTo>
                <a:lnTo>
                  <a:pt x="892931" y="1537593"/>
                </a:lnTo>
                <a:lnTo>
                  <a:pt x="882023" y="1533784"/>
                </a:lnTo>
                <a:lnTo>
                  <a:pt x="871149" y="1529880"/>
                </a:lnTo>
                <a:lnTo>
                  <a:pt x="860309" y="1525881"/>
                </a:lnTo>
                <a:lnTo>
                  <a:pt x="849505" y="1521787"/>
                </a:lnTo>
                <a:lnTo>
                  <a:pt x="838737" y="1517600"/>
                </a:lnTo>
                <a:lnTo>
                  <a:pt x="828005" y="1513318"/>
                </a:lnTo>
                <a:lnTo>
                  <a:pt x="817312" y="1508943"/>
                </a:lnTo>
                <a:lnTo>
                  <a:pt x="806657" y="1504475"/>
                </a:lnTo>
                <a:lnTo>
                  <a:pt x="796041" y="1499915"/>
                </a:lnTo>
                <a:lnTo>
                  <a:pt x="785466" y="1495261"/>
                </a:lnTo>
                <a:lnTo>
                  <a:pt x="774932" y="1490516"/>
                </a:lnTo>
                <a:lnTo>
                  <a:pt x="764439" y="1485679"/>
                </a:lnTo>
                <a:lnTo>
                  <a:pt x="753989" y="1480750"/>
                </a:lnTo>
                <a:lnTo>
                  <a:pt x="743583" y="1475731"/>
                </a:lnTo>
                <a:lnTo>
                  <a:pt x="733220" y="1470621"/>
                </a:lnTo>
                <a:lnTo>
                  <a:pt x="722903" y="1465420"/>
                </a:lnTo>
                <a:lnTo>
                  <a:pt x="712631" y="1460130"/>
                </a:lnTo>
                <a:lnTo>
                  <a:pt x="702406" y="1454751"/>
                </a:lnTo>
                <a:lnTo>
                  <a:pt x="692229" y="1449282"/>
                </a:lnTo>
                <a:lnTo>
                  <a:pt x="682099" y="1443725"/>
                </a:lnTo>
                <a:lnTo>
                  <a:pt x="672019" y="1438079"/>
                </a:lnTo>
                <a:lnTo>
                  <a:pt x="661987" y="1432346"/>
                </a:lnTo>
                <a:lnTo>
                  <a:pt x="652007" y="1426525"/>
                </a:lnTo>
                <a:lnTo>
                  <a:pt x="642077" y="1420618"/>
                </a:lnTo>
                <a:lnTo>
                  <a:pt x="632200" y="1414624"/>
                </a:lnTo>
                <a:lnTo>
                  <a:pt x="622375" y="1408544"/>
                </a:lnTo>
                <a:lnTo>
                  <a:pt x="612604" y="1402379"/>
                </a:lnTo>
                <a:lnTo>
                  <a:pt x="602887" y="1396129"/>
                </a:lnTo>
                <a:lnTo>
                  <a:pt x="593224" y="1389794"/>
                </a:lnTo>
                <a:lnTo>
                  <a:pt x="583618" y="1383375"/>
                </a:lnTo>
                <a:lnTo>
                  <a:pt x="574067" y="1376872"/>
                </a:lnTo>
                <a:lnTo>
                  <a:pt x="564574" y="1370287"/>
                </a:lnTo>
                <a:lnTo>
                  <a:pt x="555139" y="1363619"/>
                </a:lnTo>
                <a:lnTo>
                  <a:pt x="545762" y="1356868"/>
                </a:lnTo>
                <a:lnTo>
                  <a:pt x="536445" y="1350036"/>
                </a:lnTo>
                <a:lnTo>
                  <a:pt x="527187" y="1343123"/>
                </a:lnTo>
                <a:lnTo>
                  <a:pt x="517990" y="1336130"/>
                </a:lnTo>
                <a:lnTo>
                  <a:pt x="508855" y="1329057"/>
                </a:lnTo>
                <a:lnTo>
                  <a:pt x="499781" y="1321904"/>
                </a:lnTo>
                <a:lnTo>
                  <a:pt x="490771" y="1314672"/>
                </a:lnTo>
                <a:lnTo>
                  <a:pt x="481823" y="1307362"/>
                </a:lnTo>
                <a:lnTo>
                  <a:pt x="472940" y="1299974"/>
                </a:lnTo>
                <a:lnTo>
                  <a:pt x="464122" y="1292508"/>
                </a:lnTo>
                <a:lnTo>
                  <a:pt x="455369" y="1284967"/>
                </a:lnTo>
                <a:lnTo>
                  <a:pt x="446683" y="1277349"/>
                </a:lnTo>
                <a:lnTo>
                  <a:pt x="438063" y="1269655"/>
                </a:lnTo>
                <a:lnTo>
                  <a:pt x="429510" y="1261887"/>
                </a:lnTo>
                <a:lnTo>
                  <a:pt x="421026" y="1254044"/>
                </a:lnTo>
                <a:lnTo>
                  <a:pt x="412611" y="1246128"/>
                </a:lnTo>
                <a:lnTo>
                  <a:pt x="404265" y="1238138"/>
                </a:lnTo>
                <a:lnTo>
                  <a:pt x="395989" y="1230076"/>
                </a:lnTo>
                <a:lnTo>
                  <a:pt x="387783" y="1221942"/>
                </a:lnTo>
                <a:lnTo>
                  <a:pt x="379649" y="1213736"/>
                </a:lnTo>
                <a:lnTo>
                  <a:pt x="371587" y="1205460"/>
                </a:lnTo>
                <a:lnTo>
                  <a:pt x="363597" y="1197114"/>
                </a:lnTo>
                <a:lnTo>
                  <a:pt x="355681" y="1188699"/>
                </a:lnTo>
                <a:lnTo>
                  <a:pt x="347838" y="1180215"/>
                </a:lnTo>
                <a:lnTo>
                  <a:pt x="340070" y="1171662"/>
                </a:lnTo>
                <a:lnTo>
                  <a:pt x="332376" y="1163042"/>
                </a:lnTo>
                <a:lnTo>
                  <a:pt x="324758" y="1154356"/>
                </a:lnTo>
                <a:lnTo>
                  <a:pt x="317217" y="1145603"/>
                </a:lnTo>
                <a:lnTo>
                  <a:pt x="309751" y="1136785"/>
                </a:lnTo>
                <a:lnTo>
                  <a:pt x="302363" y="1127902"/>
                </a:lnTo>
                <a:lnTo>
                  <a:pt x="295053" y="1118954"/>
                </a:lnTo>
                <a:lnTo>
                  <a:pt x="287821" y="1109944"/>
                </a:lnTo>
                <a:lnTo>
                  <a:pt x="280668" y="1100870"/>
                </a:lnTo>
                <a:lnTo>
                  <a:pt x="273595" y="1091735"/>
                </a:lnTo>
                <a:lnTo>
                  <a:pt x="266602" y="1082538"/>
                </a:lnTo>
                <a:lnTo>
                  <a:pt x="259689" y="1073280"/>
                </a:lnTo>
                <a:lnTo>
                  <a:pt x="252857" y="1063963"/>
                </a:lnTo>
                <a:lnTo>
                  <a:pt x="246106" y="1054586"/>
                </a:lnTo>
                <a:lnTo>
                  <a:pt x="239438" y="1045151"/>
                </a:lnTo>
                <a:lnTo>
                  <a:pt x="232853" y="1035658"/>
                </a:lnTo>
                <a:lnTo>
                  <a:pt x="226350" y="1026107"/>
                </a:lnTo>
                <a:lnTo>
                  <a:pt x="219931" y="1016501"/>
                </a:lnTo>
                <a:lnTo>
                  <a:pt x="213596" y="1006838"/>
                </a:lnTo>
                <a:lnTo>
                  <a:pt x="207346" y="997121"/>
                </a:lnTo>
                <a:lnTo>
                  <a:pt x="201181" y="987350"/>
                </a:lnTo>
                <a:lnTo>
                  <a:pt x="195101" y="977525"/>
                </a:lnTo>
                <a:lnTo>
                  <a:pt x="189107" y="967648"/>
                </a:lnTo>
                <a:lnTo>
                  <a:pt x="183200" y="957718"/>
                </a:lnTo>
                <a:lnTo>
                  <a:pt x="177379" y="947737"/>
                </a:lnTo>
                <a:lnTo>
                  <a:pt x="171646" y="937706"/>
                </a:lnTo>
                <a:lnTo>
                  <a:pt x="166000" y="927626"/>
                </a:lnTo>
                <a:lnTo>
                  <a:pt x="160443" y="917496"/>
                </a:lnTo>
                <a:lnTo>
                  <a:pt x="154974" y="907319"/>
                </a:lnTo>
                <a:lnTo>
                  <a:pt x="149595" y="897094"/>
                </a:lnTo>
                <a:lnTo>
                  <a:pt x="144305" y="886822"/>
                </a:lnTo>
                <a:lnTo>
                  <a:pt x="139104" y="876505"/>
                </a:lnTo>
                <a:lnTo>
                  <a:pt x="133994" y="866142"/>
                </a:lnTo>
                <a:lnTo>
                  <a:pt x="128975" y="855736"/>
                </a:lnTo>
                <a:lnTo>
                  <a:pt x="124046" y="845286"/>
                </a:lnTo>
                <a:lnTo>
                  <a:pt x="119209" y="834793"/>
                </a:lnTo>
                <a:lnTo>
                  <a:pt x="114464" y="824259"/>
                </a:lnTo>
                <a:lnTo>
                  <a:pt x="109810" y="813684"/>
                </a:lnTo>
                <a:lnTo>
                  <a:pt x="105250" y="803068"/>
                </a:lnTo>
                <a:lnTo>
                  <a:pt x="100782" y="792413"/>
                </a:lnTo>
                <a:lnTo>
                  <a:pt x="96407" y="781720"/>
                </a:lnTo>
                <a:lnTo>
                  <a:pt x="92125" y="770988"/>
                </a:lnTo>
                <a:lnTo>
                  <a:pt x="87938" y="760220"/>
                </a:lnTo>
                <a:lnTo>
                  <a:pt x="83844" y="749416"/>
                </a:lnTo>
                <a:lnTo>
                  <a:pt x="79845" y="738576"/>
                </a:lnTo>
                <a:lnTo>
                  <a:pt x="75941" y="727702"/>
                </a:lnTo>
                <a:lnTo>
                  <a:pt x="72132" y="716794"/>
                </a:lnTo>
                <a:lnTo>
                  <a:pt x="68418" y="705853"/>
                </a:lnTo>
                <a:lnTo>
                  <a:pt x="64800" y="694881"/>
                </a:lnTo>
                <a:lnTo>
                  <a:pt x="61278" y="683877"/>
                </a:lnTo>
                <a:lnTo>
                  <a:pt x="57851" y="672843"/>
                </a:lnTo>
                <a:lnTo>
                  <a:pt x="54522" y="661779"/>
                </a:lnTo>
                <a:lnTo>
                  <a:pt x="51289" y="650687"/>
                </a:lnTo>
                <a:lnTo>
                  <a:pt x="48152" y="639567"/>
                </a:lnTo>
                <a:lnTo>
                  <a:pt x="45113" y="628420"/>
                </a:lnTo>
                <a:lnTo>
                  <a:pt x="42172" y="617247"/>
                </a:lnTo>
                <a:lnTo>
                  <a:pt x="39328" y="606049"/>
                </a:lnTo>
                <a:lnTo>
                  <a:pt x="36582" y="594826"/>
                </a:lnTo>
                <a:lnTo>
                  <a:pt x="33933" y="583580"/>
                </a:lnTo>
                <a:lnTo>
                  <a:pt x="31383" y="572311"/>
                </a:lnTo>
                <a:lnTo>
                  <a:pt x="28932" y="561020"/>
                </a:lnTo>
                <a:lnTo>
                  <a:pt x="26579" y="549708"/>
                </a:lnTo>
                <a:lnTo>
                  <a:pt x="24325" y="538376"/>
                </a:lnTo>
                <a:lnTo>
                  <a:pt x="22170" y="527025"/>
                </a:lnTo>
                <a:lnTo>
                  <a:pt x="20114" y="515656"/>
                </a:lnTo>
                <a:lnTo>
                  <a:pt x="18158" y="504269"/>
                </a:lnTo>
                <a:lnTo>
                  <a:pt x="16300" y="492865"/>
                </a:lnTo>
                <a:lnTo>
                  <a:pt x="14543" y="481446"/>
                </a:lnTo>
                <a:lnTo>
                  <a:pt x="12885" y="470012"/>
                </a:lnTo>
                <a:lnTo>
                  <a:pt x="11327" y="458563"/>
                </a:lnTo>
                <a:lnTo>
                  <a:pt x="9869" y="447102"/>
                </a:lnTo>
                <a:lnTo>
                  <a:pt x="8511" y="435628"/>
                </a:lnTo>
                <a:lnTo>
                  <a:pt x="7253" y="424143"/>
                </a:lnTo>
                <a:lnTo>
                  <a:pt x="6095" y="412647"/>
                </a:lnTo>
                <a:lnTo>
                  <a:pt x="5038" y="401142"/>
                </a:lnTo>
                <a:lnTo>
                  <a:pt x="4081" y="389628"/>
                </a:lnTo>
                <a:lnTo>
                  <a:pt x="3225" y="378106"/>
                </a:lnTo>
                <a:lnTo>
                  <a:pt x="2469" y="366577"/>
                </a:lnTo>
                <a:lnTo>
                  <a:pt x="1814" y="355041"/>
                </a:lnTo>
                <a:lnTo>
                  <a:pt x="1260" y="343501"/>
                </a:lnTo>
                <a:lnTo>
                  <a:pt x="807" y="331956"/>
                </a:lnTo>
                <a:lnTo>
                  <a:pt x="454" y="320408"/>
                </a:lnTo>
                <a:lnTo>
                  <a:pt x="202" y="308857"/>
                </a:lnTo>
                <a:lnTo>
                  <a:pt x="50" y="297304"/>
                </a:lnTo>
                <a:lnTo>
                  <a:pt x="0" y="285750"/>
                </a:lnTo>
                <a:lnTo>
                  <a:pt x="50" y="274196"/>
                </a:lnTo>
                <a:lnTo>
                  <a:pt x="202" y="262643"/>
                </a:lnTo>
                <a:lnTo>
                  <a:pt x="454" y="251092"/>
                </a:lnTo>
                <a:lnTo>
                  <a:pt x="807" y="239544"/>
                </a:lnTo>
                <a:lnTo>
                  <a:pt x="1260" y="227999"/>
                </a:lnTo>
                <a:lnTo>
                  <a:pt x="1814" y="216459"/>
                </a:lnTo>
                <a:lnTo>
                  <a:pt x="2469" y="204923"/>
                </a:lnTo>
                <a:lnTo>
                  <a:pt x="3225" y="193394"/>
                </a:lnTo>
                <a:lnTo>
                  <a:pt x="4081" y="181872"/>
                </a:lnTo>
                <a:lnTo>
                  <a:pt x="5038" y="170358"/>
                </a:lnTo>
                <a:lnTo>
                  <a:pt x="6095" y="158853"/>
                </a:lnTo>
                <a:lnTo>
                  <a:pt x="7253" y="147357"/>
                </a:lnTo>
                <a:lnTo>
                  <a:pt x="8511" y="135872"/>
                </a:lnTo>
                <a:lnTo>
                  <a:pt x="9869" y="124398"/>
                </a:lnTo>
                <a:lnTo>
                  <a:pt x="11327" y="112937"/>
                </a:lnTo>
                <a:lnTo>
                  <a:pt x="12885" y="101488"/>
                </a:lnTo>
                <a:lnTo>
                  <a:pt x="14543" y="90054"/>
                </a:lnTo>
                <a:lnTo>
                  <a:pt x="16300" y="78635"/>
                </a:lnTo>
                <a:lnTo>
                  <a:pt x="18158" y="67231"/>
                </a:lnTo>
                <a:lnTo>
                  <a:pt x="20114" y="55844"/>
                </a:lnTo>
                <a:lnTo>
                  <a:pt x="22170" y="44475"/>
                </a:lnTo>
                <a:lnTo>
                  <a:pt x="24325" y="33124"/>
                </a:lnTo>
                <a:lnTo>
                  <a:pt x="26579" y="21792"/>
                </a:lnTo>
                <a:lnTo>
                  <a:pt x="28932" y="10480"/>
                </a:lnTo>
                <a:lnTo>
                  <a:pt x="31204" y="0"/>
                </a:lnTo>
              </a:path>
            </a:pathLst>
          </a:custGeom>
          <a:noFill/>
          <a:ln w="19050">
            <a:solidFill>
              <a:srgbClr val="124768"/>
            </a:solidFill>
          </a:ln>
          <a:effectLst/>
        </p:spPr>
        <p:txBody>
          <a:bodyPr rtlCol="0" anchor="ctr"/>
          <a:lstStyle/>
          <a:p>
            <a:pPr algn="ctr"/>
          </a:p>
        </p:txBody>
      </p:sp>
      <p:sp>
        <p:nvSpPr>
          <p:cNvPr id="5" name="TextBox 4"/>
          <p:cNvSpPr txBox="1"/>
          <p:nvPr/>
        </p:nvSpPr>
        <p:spPr>
          <a:xfrm>
            <a:off x="533400" y="381000"/>
            <a:ext cx="4274820" cy="822960"/>
          </a:xfrm>
          <a:prstGeom prst="rect">
            <a:avLst/>
          </a:prstGeom>
          <a:noFill/>
        </p:spPr>
        <p:txBody>
          <a:bodyPr wrap="none" lIns="0" rIns="0" tIns="0" bIns="0" anchor="t">
            <a:noAutofit/>
          </a:bodyPr>
          <a:lstStyle/>
          <a:p>
            <a:pPr algn="l">
              <a:lnSpc>
                <a:spcPts val="6480"/>
              </a:lnSpc>
            </a:pPr>
            <a:r>
              <a:rPr sz="7200" b="1" i="0" lang="de-DE">
                <a:solidFill>
                  <a:srgbClr val="397B96"/>
                </a:solidFill>
                <a:latin typeface="Geist Mono"/>
              </a:rPr>
              <a:t>04</a:t>
            </a:r>
          </a:p>
        </p:txBody>
      </p:sp>
      <p:sp>
        <p:nvSpPr>
          <p:cNvPr id="6" name="Titel"/>
          <p:cNvSpPr txBox="1"/>
          <p:nvPr/>
        </p:nvSpPr>
        <p:spPr>
          <a:xfrm>
            <a:off x="533400" y="1299210"/>
            <a:ext cx="4000500" cy="400050"/>
          </a:xfrm>
          <a:prstGeom prst="rect">
            <a:avLst/>
          </a:prstGeom>
          <a:noFill/>
        </p:spPr>
        <p:txBody>
          <a:bodyPr wrap="square" lIns="0" rIns="0" tIns="0" bIns="0" anchor="t">
            <a:noAutofit/>
          </a:bodyPr>
          <a:lstStyle/>
          <a:p>
            <a:pPr algn="l">
              <a:lnSpc>
                <a:spcPts val="3135"/>
              </a:lnSpc>
            </a:pPr>
            <a:r>
              <a:rPr sz="2850" b="1" i="0" lang="de-DE" spc="-57">
                <a:solidFill>
                  <a:srgbClr val="FFFFFF"/>
                </a:solidFill>
                <a:latin typeface="IBM Plex Sans"/>
              </a:rPr>
              <a:t>Methodik und Modell</a:t>
            </a:r>
          </a:p>
        </p:txBody>
      </p:sp>
      <p:sp>
        <p:nvSpPr>
          <p:cNvPr id="7" name="Hook"/>
          <p:cNvSpPr/>
          <p:nvPr/>
        </p:nvSpPr>
        <p:spPr>
          <a:xfrm>
            <a:off x="533400" y="3209925"/>
            <a:ext cx="3886200" cy="2705100"/>
          </a:xfrm>
          <a:prstGeom prst="roundRect">
            <a:avLst>
              <a:gd name="adj" fmla="val 4225"/>
            </a:avLst>
          </a:prstGeom>
          <a:solidFill>
            <a:srgbClr val="174465"/>
          </a:solidFill>
          <a:ln w="9525">
            <a:solidFill>
              <a:srgbClr val="2E5674"/>
            </a:solidFill>
          </a:ln>
          <a:effectLst/>
        </p:spPr>
        <p:txBody>
          <a:bodyPr rtlCol="0" anchor="ctr"/>
          <a:lstStyle/>
          <a:p>
            <a:pPr algn="ctr"/>
          </a:p>
        </p:txBody>
      </p:sp>
      <p:grpSp>
        <p:nvGrpSpPr>
          <p:cNvPr id="8" name="Scheibe gauge"/>
          <p:cNvGrpSpPr/>
          <p:nvPr/>
        </p:nvGrpSpPr>
        <p:grpSpPr>
          <a:xfrm>
            <a:off x="714375" y="3371850"/>
            <a:ext cx="323850" cy="323850"/>
            <a:chOff x="714375" y="3371850"/>
            <a:chExt cx="323850" cy="323850"/>
          </a:xfrm>
        </p:grpSpPr>
        <p:sp>
          <p:nvSpPr>
            <p:cNvPr id="9" name="Oval 8"/>
            <p:cNvSpPr/>
            <p:nvPr/>
          </p:nvSpPr>
          <p:spPr>
            <a:xfrm>
              <a:off x="714375" y="3371850"/>
              <a:ext cx="323850" cy="323850"/>
            </a:xfrm>
            <a:prstGeom prst="ellipse">
              <a:avLst/>
            </a:prstGeom>
            <a:solidFill>
              <a:srgbClr val="6CC0D2"/>
            </a:solidFill>
            <a:ln>
              <a:noFill/>
            </a:ln>
            <a:effectLst/>
          </p:spPr>
          <p:txBody>
            <a:bodyPr rtlCol="0" anchor="ctr"/>
            <a:lstStyle/>
            <a:p>
              <a:pPr algn="ctr"/>
            </a:p>
          </p:txBody>
        </p:sp>
        <p:pic>
          <p:nvPicPr>
            <p:cNvPr id="10" name="Picture 9" descr="gauge__04263F.png"/>
            <p:cNvPicPr>
              <a:picLocks noChangeAspect="1"/>
            </p:cNvPicPr>
            <p:nvPr/>
          </p:nvPicPr>
          <p:blipFill>
            <a:blip r:embed="rId3"/>
            <a:stretch>
              <a:fillRect/>
            </a:stretch>
          </p:blipFill>
          <p:spPr>
            <a:xfrm>
              <a:off x="792099" y="3449574"/>
              <a:ext cx="168402" cy="168402"/>
            </a:xfrm>
            <a:prstGeom prst="rect">
              <a:avLst/>
            </a:prstGeom>
          </p:spPr>
        </p:pic>
      </p:grpSp>
      <p:sp>
        <p:nvSpPr>
          <p:cNvPr id="11" name="TextBox 10"/>
          <p:cNvSpPr txBox="1"/>
          <p:nvPr/>
        </p:nvSpPr>
        <p:spPr>
          <a:xfrm>
            <a:off x="1133475" y="3429000"/>
            <a:ext cx="3457575" cy="209550"/>
          </a:xfrm>
          <a:prstGeom prst="rect">
            <a:avLst/>
          </a:prstGeom>
          <a:noFill/>
        </p:spPr>
        <p:txBody>
          <a:bodyPr wrap="none" lIns="0" rIns="0" tIns="0" bIns="0" anchor="t">
            <a:noAutofit/>
          </a:bodyPr>
          <a:lstStyle/>
          <a:p>
            <a:pPr algn="l">
              <a:lnSpc>
                <a:spcPts val="1650"/>
              </a:lnSpc>
            </a:pPr>
            <a:r>
              <a:rPr sz="1275" b="0" i="0" lang="de-DE">
                <a:solidFill>
                  <a:srgbClr val="6CC0D2"/>
                </a:solidFill>
                <a:latin typeface="Geist Mono"/>
              </a:rPr>
              <a:t>ZL-00147 · August 2025</a:t>
            </a:r>
          </a:p>
        </p:txBody>
      </p:sp>
      <p:sp>
        <p:nvSpPr>
          <p:cNvPr id="12" name="TextBox 11"/>
          <p:cNvSpPr txBox="1"/>
          <p:nvPr/>
        </p:nvSpPr>
        <p:spPr>
          <a:xfrm>
            <a:off x="714375" y="3810000"/>
            <a:ext cx="3524250" cy="171450"/>
          </a:xfrm>
          <a:prstGeom prst="rect">
            <a:avLst/>
          </a:prstGeom>
          <a:noFill/>
        </p:spPr>
        <p:txBody>
          <a:bodyPr wrap="square" lIns="0" rIns="0" tIns="0" bIns="0" anchor="t">
            <a:noAutofit/>
          </a:bodyPr>
          <a:lstStyle/>
          <a:p>
            <a:pPr algn="l">
              <a:lnSpc>
                <a:spcPts val="1350"/>
              </a:lnSpc>
            </a:pPr>
            <a:r>
              <a:rPr sz="1050" b="0" i="0" lang="de-DE">
                <a:solidFill>
                  <a:srgbClr val="9CC3E0"/>
                </a:solidFill>
                <a:latin typeface="IBM Plex Sans"/>
              </a:rPr>
              <a:t>gemessen</a:t>
            </a:r>
          </a:p>
        </p:txBody>
      </p:sp>
      <p:grpSp>
        <p:nvGrpSpPr>
          <p:cNvPr id="13" name="Zählwerk 23.563"/>
          <p:cNvGrpSpPr/>
          <p:nvPr/>
        </p:nvGrpSpPr>
        <p:grpSpPr>
          <a:xfrm>
            <a:off x="633889" y="4038600"/>
            <a:ext cx="2227898" cy="552450"/>
            <a:chOff x="633889" y="4038600"/>
            <a:chExt cx="2227898" cy="552450"/>
          </a:xfrm>
        </p:grpSpPr>
        <p:sp>
          <p:nvSpPr>
            <p:cNvPr id="14" name="Rounded Rectangle 13"/>
            <p:cNvSpPr/>
            <p:nvPr/>
          </p:nvSpPr>
          <p:spPr>
            <a:xfrm>
              <a:off x="714375" y="4038600"/>
              <a:ext cx="352425" cy="552450"/>
            </a:xfrm>
            <a:prstGeom prst="roundRect">
              <a:avLst>
                <a:gd name="adj" fmla="val 16216"/>
              </a:avLst>
            </a:prstGeom>
            <a:solidFill>
              <a:srgbClr val="2E5774"/>
            </a:solidFill>
            <a:ln w="9525">
              <a:solidFill>
                <a:srgbClr val="4A6D87"/>
              </a:solidFill>
            </a:ln>
            <a:effectLst/>
          </p:spPr>
          <p:txBody>
            <a:bodyPr rtlCol="0" anchor="ctr"/>
            <a:lstStyle/>
            <a:p>
              <a:pPr algn="ctr"/>
            </a:p>
          </p:txBody>
        </p:sp>
        <p:sp>
          <p:nvSpPr>
            <p:cNvPr id="15" name="TextBox 14"/>
            <p:cNvSpPr txBox="1"/>
            <p:nvPr/>
          </p:nvSpPr>
          <p:spPr>
            <a:xfrm>
              <a:off x="633889" y="4038600"/>
              <a:ext cx="513398" cy="552450"/>
            </a:xfrm>
            <a:prstGeom prst="rect">
              <a:avLst/>
            </a:prstGeom>
            <a:noFill/>
          </p:spPr>
          <p:txBody>
            <a:bodyPr wrap="none" lIns="0" rIns="0" tIns="0" bIns="0" anchor="ctr">
              <a:noAutofit/>
            </a:bodyPr>
            <a:lstStyle/>
            <a:p>
              <a:pPr algn="ctr">
                <a:lnSpc>
                  <a:spcPts val="3750"/>
                </a:lnSpc>
              </a:pPr>
              <a:r>
                <a:rPr sz="3750" b="1" i="0" lang="de-DE">
                  <a:solidFill>
                    <a:srgbClr val="FFFFFF"/>
                  </a:solidFill>
                  <a:latin typeface="Geist Mono"/>
                </a:rPr>
                <a:t>2</a:t>
              </a:r>
            </a:p>
          </p:txBody>
        </p:sp>
        <p:sp>
          <p:nvSpPr>
            <p:cNvPr id="16" name="Rounded Rectangle 15"/>
            <p:cNvSpPr/>
            <p:nvPr/>
          </p:nvSpPr>
          <p:spPr>
            <a:xfrm>
              <a:off x="1095375" y="4038600"/>
              <a:ext cx="352425" cy="552450"/>
            </a:xfrm>
            <a:prstGeom prst="roundRect">
              <a:avLst>
                <a:gd name="adj" fmla="val 16216"/>
              </a:avLst>
            </a:prstGeom>
            <a:solidFill>
              <a:srgbClr val="2E5774"/>
            </a:solidFill>
            <a:ln w="9525">
              <a:solidFill>
                <a:srgbClr val="4A6D87"/>
              </a:solidFill>
            </a:ln>
            <a:effectLst/>
          </p:spPr>
          <p:txBody>
            <a:bodyPr rtlCol="0" anchor="ctr"/>
            <a:lstStyle/>
            <a:p>
              <a:pPr algn="ctr"/>
            </a:p>
          </p:txBody>
        </p:sp>
        <p:sp>
          <p:nvSpPr>
            <p:cNvPr id="17" name="TextBox 16"/>
            <p:cNvSpPr txBox="1"/>
            <p:nvPr/>
          </p:nvSpPr>
          <p:spPr>
            <a:xfrm>
              <a:off x="1014889" y="4038600"/>
              <a:ext cx="513398" cy="552450"/>
            </a:xfrm>
            <a:prstGeom prst="rect">
              <a:avLst/>
            </a:prstGeom>
            <a:noFill/>
          </p:spPr>
          <p:txBody>
            <a:bodyPr wrap="none" lIns="0" rIns="0" tIns="0" bIns="0" anchor="ctr">
              <a:noAutofit/>
            </a:bodyPr>
            <a:lstStyle/>
            <a:p>
              <a:pPr algn="ctr">
                <a:lnSpc>
                  <a:spcPts val="3750"/>
                </a:lnSpc>
              </a:pPr>
              <a:r>
                <a:rPr sz="3750" b="1" i="0" lang="de-DE">
                  <a:solidFill>
                    <a:srgbClr val="FFFFFF"/>
                  </a:solidFill>
                  <a:latin typeface="Geist Mono"/>
                </a:rPr>
                <a:t>3</a:t>
              </a:r>
            </a:p>
          </p:txBody>
        </p:sp>
        <p:sp>
          <p:nvSpPr>
            <p:cNvPr id="18" name="TextBox 17"/>
            <p:cNvSpPr txBox="1"/>
            <p:nvPr/>
          </p:nvSpPr>
          <p:spPr>
            <a:xfrm>
              <a:off x="1258729" y="4038600"/>
              <a:ext cx="597218" cy="552450"/>
            </a:xfrm>
            <a:prstGeom prst="rect">
              <a:avLst/>
            </a:prstGeom>
            <a:noFill/>
          </p:spPr>
          <p:txBody>
            <a:bodyPr wrap="none" lIns="0" rIns="0" tIns="0" bIns="0" anchor="ctr">
              <a:noAutofit/>
            </a:bodyPr>
            <a:lstStyle/>
            <a:p>
              <a:pPr algn="ctr">
                <a:lnSpc>
                  <a:spcPts val="3750"/>
                </a:lnSpc>
              </a:pPr>
              <a:r>
                <a:rPr sz="3750" b="1" i="0" lang="de-DE">
                  <a:solidFill>
                    <a:srgbClr val="6CC0D2"/>
                  </a:solidFill>
                  <a:latin typeface="Geist Mono"/>
                </a:rPr>
                <a:t>.</a:t>
              </a:r>
            </a:p>
          </p:txBody>
        </p:sp>
        <p:sp>
          <p:nvSpPr>
            <p:cNvPr id="19" name="Rounded Rectangle 18"/>
            <p:cNvSpPr/>
            <p:nvPr/>
          </p:nvSpPr>
          <p:spPr>
            <a:xfrm>
              <a:off x="1666875" y="4038600"/>
              <a:ext cx="352425" cy="552450"/>
            </a:xfrm>
            <a:prstGeom prst="roundRect">
              <a:avLst>
                <a:gd name="adj" fmla="val 16216"/>
              </a:avLst>
            </a:prstGeom>
            <a:solidFill>
              <a:srgbClr val="2E5774"/>
            </a:solidFill>
            <a:ln w="9525">
              <a:solidFill>
                <a:srgbClr val="4A6D87"/>
              </a:solidFill>
            </a:ln>
            <a:effectLst/>
          </p:spPr>
          <p:txBody>
            <a:bodyPr rtlCol="0" anchor="ctr"/>
            <a:lstStyle/>
            <a:p>
              <a:pPr algn="ctr"/>
            </a:p>
          </p:txBody>
        </p:sp>
        <p:sp>
          <p:nvSpPr>
            <p:cNvPr id="20" name="TextBox 19"/>
            <p:cNvSpPr txBox="1"/>
            <p:nvPr/>
          </p:nvSpPr>
          <p:spPr>
            <a:xfrm>
              <a:off x="1586389" y="4038600"/>
              <a:ext cx="513398" cy="552450"/>
            </a:xfrm>
            <a:prstGeom prst="rect">
              <a:avLst/>
            </a:prstGeom>
            <a:noFill/>
          </p:spPr>
          <p:txBody>
            <a:bodyPr wrap="none" lIns="0" rIns="0" tIns="0" bIns="0" anchor="ctr">
              <a:noAutofit/>
            </a:bodyPr>
            <a:lstStyle/>
            <a:p>
              <a:pPr algn="ctr">
                <a:lnSpc>
                  <a:spcPts val="3750"/>
                </a:lnSpc>
              </a:pPr>
              <a:r>
                <a:rPr sz="3750" b="1" i="0" lang="de-DE">
                  <a:solidFill>
                    <a:srgbClr val="FFFFFF"/>
                  </a:solidFill>
                  <a:latin typeface="Geist Mono"/>
                </a:rPr>
                <a:t>5</a:t>
              </a:r>
            </a:p>
          </p:txBody>
        </p:sp>
        <p:sp>
          <p:nvSpPr>
            <p:cNvPr id="21" name="Rounded Rectangle 20"/>
            <p:cNvSpPr/>
            <p:nvPr/>
          </p:nvSpPr>
          <p:spPr>
            <a:xfrm>
              <a:off x="2047875" y="4038600"/>
              <a:ext cx="352425" cy="552450"/>
            </a:xfrm>
            <a:prstGeom prst="roundRect">
              <a:avLst>
                <a:gd name="adj" fmla="val 16216"/>
              </a:avLst>
            </a:prstGeom>
            <a:solidFill>
              <a:srgbClr val="2E5774"/>
            </a:solidFill>
            <a:ln w="9525">
              <a:solidFill>
                <a:srgbClr val="4A6D87"/>
              </a:solidFill>
            </a:ln>
            <a:effectLst/>
          </p:spPr>
          <p:txBody>
            <a:bodyPr rtlCol="0" anchor="ctr"/>
            <a:lstStyle/>
            <a:p>
              <a:pPr algn="ctr"/>
            </a:p>
          </p:txBody>
        </p:sp>
        <p:sp>
          <p:nvSpPr>
            <p:cNvPr id="22" name="TextBox 21"/>
            <p:cNvSpPr txBox="1"/>
            <p:nvPr/>
          </p:nvSpPr>
          <p:spPr>
            <a:xfrm>
              <a:off x="1967389" y="4038600"/>
              <a:ext cx="513398" cy="552450"/>
            </a:xfrm>
            <a:prstGeom prst="rect">
              <a:avLst/>
            </a:prstGeom>
            <a:noFill/>
          </p:spPr>
          <p:txBody>
            <a:bodyPr wrap="none" lIns="0" rIns="0" tIns="0" bIns="0" anchor="ctr">
              <a:noAutofit/>
            </a:bodyPr>
            <a:lstStyle/>
            <a:p>
              <a:pPr algn="ctr">
                <a:lnSpc>
                  <a:spcPts val="3750"/>
                </a:lnSpc>
              </a:pPr>
              <a:r>
                <a:rPr sz="3750" b="1" i="0" lang="de-DE">
                  <a:solidFill>
                    <a:srgbClr val="FFFFFF"/>
                  </a:solidFill>
                  <a:latin typeface="Geist Mono"/>
                </a:rPr>
                <a:t>6</a:t>
              </a:r>
            </a:p>
          </p:txBody>
        </p:sp>
        <p:sp>
          <p:nvSpPr>
            <p:cNvPr id="23" name="Rounded Rectangle 22"/>
            <p:cNvSpPr/>
            <p:nvPr/>
          </p:nvSpPr>
          <p:spPr>
            <a:xfrm>
              <a:off x="2428875" y="4038600"/>
              <a:ext cx="352425" cy="552450"/>
            </a:xfrm>
            <a:prstGeom prst="roundRect">
              <a:avLst>
                <a:gd name="adj" fmla="val 16216"/>
              </a:avLst>
            </a:prstGeom>
            <a:solidFill>
              <a:srgbClr val="2E5774"/>
            </a:solidFill>
            <a:ln w="9525">
              <a:solidFill>
                <a:srgbClr val="4A6D87"/>
              </a:solidFill>
            </a:ln>
            <a:effectLst/>
          </p:spPr>
          <p:txBody>
            <a:bodyPr rtlCol="0" anchor="ctr"/>
            <a:lstStyle/>
            <a:p>
              <a:pPr algn="ctr"/>
            </a:p>
          </p:txBody>
        </p:sp>
        <p:sp>
          <p:nvSpPr>
            <p:cNvPr id="24" name="TextBox 23"/>
            <p:cNvSpPr txBox="1"/>
            <p:nvPr/>
          </p:nvSpPr>
          <p:spPr>
            <a:xfrm>
              <a:off x="2348389" y="4038600"/>
              <a:ext cx="513398" cy="552450"/>
            </a:xfrm>
            <a:prstGeom prst="rect">
              <a:avLst/>
            </a:prstGeom>
            <a:noFill/>
          </p:spPr>
          <p:txBody>
            <a:bodyPr wrap="none" lIns="0" rIns="0" tIns="0" bIns="0" anchor="ctr">
              <a:noAutofit/>
            </a:bodyPr>
            <a:lstStyle/>
            <a:p>
              <a:pPr algn="ctr">
                <a:lnSpc>
                  <a:spcPts val="3750"/>
                </a:lnSpc>
              </a:pPr>
              <a:r>
                <a:rPr sz="3750" b="1" i="0" lang="de-DE">
                  <a:solidFill>
                    <a:srgbClr val="FFFFFF"/>
                  </a:solidFill>
                  <a:latin typeface="Geist Mono"/>
                </a:rPr>
                <a:t>3</a:t>
              </a:r>
            </a:p>
          </p:txBody>
        </p:sp>
      </p:grpSp>
      <p:sp>
        <p:nvSpPr>
          <p:cNvPr id="25" name="TextBox 24"/>
          <p:cNvSpPr txBox="1"/>
          <p:nvPr/>
        </p:nvSpPr>
        <p:spPr>
          <a:xfrm>
            <a:off x="2876550" y="4257675"/>
            <a:ext cx="733425" cy="276225"/>
          </a:xfrm>
          <a:prstGeom prst="rect">
            <a:avLst/>
          </a:prstGeom>
          <a:noFill/>
        </p:spPr>
        <p:txBody>
          <a:bodyPr wrap="none" lIns="0" rIns="0" tIns="0" bIns="0" anchor="t">
            <a:noAutofit/>
          </a:bodyPr>
          <a:lstStyle/>
          <a:p>
            <a:pPr algn="l">
              <a:lnSpc>
                <a:spcPts val="2175"/>
              </a:lnSpc>
            </a:pPr>
            <a:r>
              <a:rPr sz="1650" b="0" i="0" lang="de-DE">
                <a:solidFill>
                  <a:srgbClr val="BBD7EA"/>
                </a:solidFill>
                <a:latin typeface="IBM Plex Sans"/>
              </a:rPr>
              <a:t>kWh</a:t>
            </a:r>
          </a:p>
        </p:txBody>
      </p:sp>
      <p:sp>
        <p:nvSpPr>
          <p:cNvPr id="26" name="TextBox 25"/>
          <p:cNvSpPr txBox="1"/>
          <p:nvPr/>
        </p:nvSpPr>
        <p:spPr>
          <a:xfrm>
            <a:off x="714375" y="4686300"/>
            <a:ext cx="3619500" cy="209550"/>
          </a:xfrm>
          <a:prstGeom prst="rect">
            <a:avLst/>
          </a:prstGeom>
          <a:noFill/>
        </p:spPr>
        <p:txBody>
          <a:bodyPr wrap="square" lIns="0" rIns="0" tIns="0" bIns="0" anchor="t">
            <a:noAutofit/>
          </a:bodyPr>
          <a:lstStyle/>
          <a:p>
            <a:pPr algn="l">
              <a:lnSpc>
                <a:spcPts val="1650"/>
              </a:lnSpc>
            </a:pPr>
            <a:r>
              <a:rPr sz="1275" b="0" i="0" lang="de-DE">
                <a:solidFill>
                  <a:srgbClr val="BBD7EA"/>
                </a:solidFill>
                <a:latin typeface="IBM Plex Sans"/>
              </a:rPr>
              <a:t>erwartet </a:t>
            </a:r>
            <a:r>
              <a:rPr sz="1275" b="1" i="0" lang="de-DE">
                <a:solidFill>
                  <a:srgbClr val="FFFFFF"/>
                </a:solidFill>
                <a:latin typeface="Geist Mono"/>
              </a:rPr>
              <a:t>7.304 kWh</a:t>
            </a:r>
            <a:r>
              <a:rPr sz="1275" b="0" i="0" lang="de-DE">
                <a:solidFill>
                  <a:srgbClr val="BBD7EA"/>
                </a:solidFill>
                <a:latin typeface="IBM Plex Sans"/>
              </a:rPr>
              <a:t> · gut das Dreifache</a:t>
            </a:r>
          </a:p>
        </p:txBody>
      </p:sp>
      <p:sp>
        <p:nvSpPr>
          <p:cNvPr id="27" name="Rounded Rectangle 26"/>
          <p:cNvSpPr/>
          <p:nvPr/>
        </p:nvSpPr>
        <p:spPr>
          <a:xfrm>
            <a:off x="714375" y="5010150"/>
            <a:ext cx="3524250" cy="333375"/>
          </a:xfrm>
          <a:prstGeom prst="roundRect">
            <a:avLst>
              <a:gd name="adj" fmla="val 22857"/>
            </a:avLst>
          </a:prstGeom>
          <a:solidFill>
            <a:srgbClr val="234D6D"/>
          </a:solidFill>
          <a:ln>
            <a:noFill/>
          </a:ln>
          <a:effectLst/>
        </p:spPr>
        <p:txBody>
          <a:bodyPr rtlCol="0" anchor="ctr"/>
          <a:lstStyle/>
          <a:p>
            <a:pPr algn="ctr"/>
          </a:p>
        </p:txBody>
      </p:sp>
      <p:pic>
        <p:nvPicPr>
          <p:cNvPr id="28" name="Icon calendar-range" descr="calendar-range__BBD7EA.png"/>
          <p:cNvPicPr>
            <a:picLocks noChangeAspect="1"/>
          </p:cNvPicPr>
          <p:nvPr/>
        </p:nvPicPr>
        <p:blipFill>
          <a:blip r:embed="rId4"/>
          <a:stretch>
            <a:fillRect/>
          </a:stretch>
        </p:blipFill>
        <p:spPr>
          <a:xfrm>
            <a:off x="828675" y="5091112"/>
            <a:ext cx="171450" cy="171450"/>
          </a:xfrm>
          <a:prstGeom prst="rect">
            <a:avLst/>
          </a:prstGeom>
        </p:spPr>
      </p:pic>
      <p:sp>
        <p:nvSpPr>
          <p:cNvPr id="29" name="TextBox 28"/>
          <p:cNvSpPr txBox="1"/>
          <p:nvPr/>
        </p:nvSpPr>
        <p:spPr>
          <a:xfrm>
            <a:off x="1095375" y="5083969"/>
            <a:ext cx="3405188" cy="185738"/>
          </a:xfrm>
          <a:prstGeom prst="rect">
            <a:avLst/>
          </a:prstGeom>
          <a:noFill/>
        </p:spPr>
        <p:txBody>
          <a:bodyPr wrap="none" lIns="0" rIns="0" tIns="0" bIns="0" anchor="t">
            <a:noAutofit/>
          </a:bodyPr>
          <a:lstStyle/>
          <a:p>
            <a:pPr algn="l">
              <a:lnSpc>
                <a:spcPts val="1462"/>
              </a:lnSpc>
            </a:pPr>
            <a:r>
              <a:rPr sz="1125" b="0" i="0" lang="de-DE">
                <a:solidFill>
                  <a:srgbClr val="BBD7EA"/>
                </a:solidFill>
                <a:latin typeface="IBM Plex Sans"/>
              </a:rPr>
              <a:t>Bisher: fällt erst in der Quartalsauswertung auf</a:t>
            </a:r>
          </a:p>
        </p:txBody>
      </p:sp>
      <p:sp>
        <p:nvSpPr>
          <p:cNvPr id="30" name="Rounded Rectangle 29"/>
          <p:cNvSpPr/>
          <p:nvPr/>
        </p:nvSpPr>
        <p:spPr>
          <a:xfrm>
            <a:off x="714375" y="5419725"/>
            <a:ext cx="3524250" cy="333375"/>
          </a:xfrm>
          <a:prstGeom prst="roundRect">
            <a:avLst>
              <a:gd name="adj" fmla="val 22857"/>
            </a:avLst>
          </a:prstGeom>
          <a:solidFill>
            <a:srgbClr val="00718E"/>
          </a:solidFill>
          <a:ln>
            <a:noFill/>
          </a:ln>
          <a:effectLst/>
        </p:spPr>
        <p:txBody>
          <a:bodyPr rtlCol="0" anchor="ctr"/>
          <a:lstStyle/>
          <a:p>
            <a:pPr algn="ctr"/>
          </a:p>
        </p:txBody>
      </p:sp>
      <p:pic>
        <p:nvPicPr>
          <p:cNvPr id="31" name="Icon flag" descr="flag__FFFFFF.png"/>
          <p:cNvPicPr>
            <a:picLocks noChangeAspect="1"/>
          </p:cNvPicPr>
          <p:nvPr/>
        </p:nvPicPr>
        <p:blipFill>
          <a:blip r:embed="rId5"/>
          <a:stretch>
            <a:fillRect/>
          </a:stretch>
        </p:blipFill>
        <p:spPr>
          <a:xfrm>
            <a:off x="828675" y="5500688"/>
            <a:ext cx="171450" cy="171450"/>
          </a:xfrm>
          <a:prstGeom prst="rect">
            <a:avLst/>
          </a:prstGeom>
        </p:spPr>
      </p:pic>
      <p:sp>
        <p:nvSpPr>
          <p:cNvPr id="32" name="TextBox 31"/>
          <p:cNvSpPr txBox="1"/>
          <p:nvPr/>
        </p:nvSpPr>
        <p:spPr>
          <a:xfrm>
            <a:off x="1095375" y="5493544"/>
            <a:ext cx="3405188" cy="185738"/>
          </a:xfrm>
          <a:prstGeom prst="rect">
            <a:avLst/>
          </a:prstGeom>
          <a:noFill/>
        </p:spPr>
        <p:txBody>
          <a:bodyPr wrap="none" lIns="0" rIns="0" tIns="0" bIns="0" anchor="t">
            <a:noAutofit/>
          </a:bodyPr>
          <a:lstStyle/>
          <a:p>
            <a:pPr algn="l">
              <a:lnSpc>
                <a:spcPts val="1462"/>
              </a:lnSpc>
            </a:pPr>
            <a:r>
              <a:rPr sz="1125" b="0" i="0" lang="de-DE">
                <a:solidFill>
                  <a:srgbClr val="FFFFFF"/>
                </a:solidFill>
                <a:latin typeface="IBM Plex Sans"/>
              </a:rPr>
              <a:t>Neu: Prüfhinweis direkt nach Monatsende</a:t>
            </a:r>
          </a:p>
        </p:txBody>
      </p:sp>
      <p:grpSp>
        <p:nvGrpSpPr>
          <p:cNvPr id="33" name="Leitfrage-Scheibe"/>
          <p:cNvGrpSpPr/>
          <p:nvPr/>
        </p:nvGrpSpPr>
        <p:grpSpPr>
          <a:xfrm>
            <a:off x="5334000" y="342900"/>
            <a:ext cx="304800" cy="304800"/>
            <a:chOff x="5334000" y="342900"/>
            <a:chExt cx="304800" cy="304800"/>
          </a:xfrm>
        </p:grpSpPr>
        <p:sp>
          <p:nvSpPr>
            <p:cNvPr id="34" name="Oval 33"/>
            <p:cNvSpPr/>
            <p:nvPr/>
          </p:nvSpPr>
          <p:spPr>
            <a:xfrm>
              <a:off x="5334000" y="342900"/>
              <a:ext cx="304800" cy="304800"/>
            </a:xfrm>
            <a:prstGeom prst="ellipse">
              <a:avLst/>
            </a:prstGeom>
            <a:solidFill>
              <a:srgbClr val="00718E"/>
            </a:solidFill>
            <a:ln>
              <a:noFill/>
            </a:ln>
            <a:effectLst/>
          </p:spPr>
          <p:txBody>
            <a:bodyPr rtlCol="0" anchor="ctr"/>
            <a:lstStyle/>
            <a:p>
              <a:pPr algn="ctr"/>
            </a:p>
          </p:txBody>
        </p:sp>
        <p:pic>
          <p:nvPicPr>
            <p:cNvPr id="35" name="Picture 34" descr="route__FFFFFF.png"/>
            <p:cNvPicPr>
              <a:picLocks noChangeAspect="1"/>
            </p:cNvPicPr>
            <p:nvPr/>
          </p:nvPicPr>
          <p:blipFill>
            <a:blip r:embed="rId6"/>
            <a:stretch>
              <a:fillRect/>
            </a:stretch>
          </p:blipFill>
          <p:spPr>
            <a:xfrm>
              <a:off x="5407152" y="416052"/>
              <a:ext cx="158496" cy="158496"/>
            </a:xfrm>
            <a:prstGeom prst="rect">
              <a:avLst/>
            </a:prstGeom>
          </p:spPr>
        </p:pic>
      </p:grpSp>
      <p:sp>
        <p:nvSpPr>
          <p:cNvPr id="36" name="Leitfrage"/>
          <p:cNvSpPr txBox="1"/>
          <p:nvPr/>
        </p:nvSpPr>
        <p:spPr>
          <a:xfrm>
            <a:off x="5753100" y="366712"/>
            <a:ext cx="649605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Wie wird aus Daten ein Prüfhinweis?</a:t>
            </a:r>
          </a:p>
        </p:txBody>
      </p:sp>
      <p:sp>
        <p:nvSpPr>
          <p:cNvPr id="37" name="Faden"/>
          <p:cNvSpPr/>
          <p:nvPr/>
        </p:nvSpPr>
        <p:spPr>
          <a:xfrm>
            <a:off x="5514975" y="1219200"/>
            <a:ext cx="19050" cy="3248025"/>
          </a:xfrm>
          <a:prstGeom prst="rect">
            <a:avLst/>
          </a:prstGeom>
          <a:solidFill>
            <a:srgbClr val="D2DAE2"/>
          </a:solidFill>
          <a:ln>
            <a:noFill/>
          </a:ln>
          <a:effectLst/>
        </p:spPr>
        <p:txBody>
          <a:bodyPr rtlCol="0" anchor="ctr"/>
          <a:lstStyle/>
          <a:p>
            <a:pPr algn="ctr"/>
          </a:p>
        </p:txBody>
      </p:sp>
      <p:sp>
        <p:nvSpPr>
          <p:cNvPr id="38" name="TextBox 37"/>
          <p:cNvSpPr txBox="1"/>
          <p:nvPr/>
        </p:nvSpPr>
        <p:spPr>
          <a:xfrm>
            <a:off x="5867400" y="819150"/>
            <a:ext cx="4191000" cy="171450"/>
          </a:xfrm>
          <a:prstGeom prst="rect">
            <a:avLst/>
          </a:prstGeom>
          <a:noFill/>
        </p:spPr>
        <p:txBody>
          <a:bodyPr wrap="none" lIns="0" rIns="0" tIns="0" bIns="0" anchor="t">
            <a:noAutofit/>
          </a:bodyPr>
          <a:lstStyle/>
          <a:p>
            <a:pPr algn="l">
              <a:lnSpc>
                <a:spcPts val="1350"/>
              </a:lnSpc>
            </a:pPr>
            <a:r>
              <a:rPr sz="975" b="1" i="0" lang="de-DE" spc="78">
                <a:solidFill>
                  <a:srgbClr val="084878"/>
                </a:solidFill>
                <a:latin typeface="IBM Plex Sans"/>
              </a:rPr>
              <a:t>VOR MONATSBEGINN · PROGNOSE</a:t>
            </a:r>
          </a:p>
        </p:txBody>
      </p:sp>
      <p:sp>
        <p:nvSpPr>
          <p:cNvPr id="39" name="TextBox 38"/>
          <p:cNvSpPr txBox="1"/>
          <p:nvPr/>
        </p:nvSpPr>
        <p:spPr>
          <a:xfrm>
            <a:off x="8240078" y="828675"/>
            <a:ext cx="3143250" cy="161925"/>
          </a:xfrm>
          <a:prstGeom prst="rect">
            <a:avLst/>
          </a:prstGeom>
          <a:noFill/>
        </p:spPr>
        <p:txBody>
          <a:bodyPr wrap="none" lIns="0" rIns="0" tIns="0" bIns="0" anchor="t">
            <a:noAutofit/>
          </a:bodyPr>
          <a:lstStyle/>
          <a:p>
            <a:pPr algn="l">
              <a:lnSpc>
                <a:spcPts val="1275"/>
              </a:lnSpc>
            </a:pPr>
            <a:r>
              <a:rPr sz="975" b="0" i="0" lang="de-DE">
                <a:solidFill>
                  <a:srgbClr val="657383"/>
                </a:solidFill>
                <a:latin typeface="IBM Plex Sans"/>
              </a:rPr>
              <a:t>→ Beschaffung (S. Lechtenberg)</a:t>
            </a:r>
          </a:p>
        </p:txBody>
      </p:sp>
      <p:sp>
        <p:nvSpPr>
          <p:cNvPr id="40" name="TextBox 39"/>
          <p:cNvSpPr txBox="1"/>
          <p:nvPr/>
        </p:nvSpPr>
        <p:spPr>
          <a:xfrm>
            <a:off x="5867400" y="2924175"/>
            <a:ext cx="4191000" cy="171450"/>
          </a:xfrm>
          <a:prstGeom prst="rect">
            <a:avLst/>
          </a:prstGeom>
          <a:noFill/>
        </p:spPr>
        <p:txBody>
          <a:bodyPr wrap="none" lIns="0" rIns="0" tIns="0" bIns="0" anchor="t">
            <a:noAutofit/>
          </a:bodyPr>
          <a:lstStyle/>
          <a:p>
            <a:pPr algn="l">
              <a:lnSpc>
                <a:spcPts val="1350"/>
              </a:lnSpc>
            </a:pPr>
            <a:r>
              <a:rPr sz="975" b="1" i="0" lang="de-DE" spc="78">
                <a:solidFill>
                  <a:srgbClr val="00718E"/>
                </a:solidFill>
                <a:latin typeface="IBM Plex Sans"/>
              </a:rPr>
              <a:t>NACH MONATSENDE · PRÜFUNG</a:t>
            </a:r>
          </a:p>
        </p:txBody>
      </p:sp>
      <p:sp>
        <p:nvSpPr>
          <p:cNvPr id="41" name="TextBox 40"/>
          <p:cNvSpPr txBox="1"/>
          <p:nvPr/>
        </p:nvSpPr>
        <p:spPr>
          <a:xfrm>
            <a:off x="8076629" y="2933700"/>
            <a:ext cx="3143250" cy="161925"/>
          </a:xfrm>
          <a:prstGeom prst="rect">
            <a:avLst/>
          </a:prstGeom>
          <a:noFill/>
        </p:spPr>
        <p:txBody>
          <a:bodyPr wrap="none" lIns="0" rIns="0" tIns="0" bIns="0" anchor="t">
            <a:noAutofit/>
          </a:bodyPr>
          <a:lstStyle/>
          <a:p>
            <a:pPr algn="l">
              <a:lnSpc>
                <a:spcPts val="1275"/>
              </a:lnSpc>
            </a:pPr>
            <a:r>
              <a:rPr sz="975" b="0" i="0" lang="de-DE">
                <a:solidFill>
                  <a:srgbClr val="657383"/>
                </a:solidFill>
                <a:latin typeface="IBM Plex Sans"/>
              </a:rPr>
              <a:t>→ Netzmanagement (A. Bürger)</a:t>
            </a:r>
          </a:p>
        </p:txBody>
      </p:sp>
      <p:grpSp>
        <p:nvGrpSpPr>
          <p:cNvPr id="42" name="Scheibe history"/>
          <p:cNvGrpSpPr/>
          <p:nvPr/>
        </p:nvGrpSpPr>
        <p:grpSpPr>
          <a:xfrm>
            <a:off x="5334000" y="1104900"/>
            <a:ext cx="381000" cy="381000"/>
            <a:chOff x="5334000" y="1104900"/>
            <a:chExt cx="381000" cy="381000"/>
          </a:xfrm>
        </p:grpSpPr>
        <p:sp>
          <p:nvSpPr>
            <p:cNvPr id="43" name="Oval 42"/>
            <p:cNvSpPr/>
            <p:nvPr/>
          </p:nvSpPr>
          <p:spPr>
            <a:xfrm>
              <a:off x="5334000" y="1104900"/>
              <a:ext cx="381000" cy="381000"/>
            </a:xfrm>
            <a:prstGeom prst="ellipse">
              <a:avLst/>
            </a:prstGeom>
            <a:solidFill>
              <a:srgbClr val="084878"/>
            </a:solidFill>
            <a:ln>
              <a:noFill/>
            </a:ln>
            <a:effectLst/>
          </p:spPr>
          <p:txBody>
            <a:bodyPr rtlCol="0" anchor="ctr"/>
            <a:lstStyle/>
            <a:p>
              <a:pPr algn="ctr"/>
            </a:p>
          </p:txBody>
        </p:sp>
        <p:pic>
          <p:nvPicPr>
            <p:cNvPr id="44" name="Picture 43" descr="history__FFFFFF.png"/>
            <p:cNvPicPr>
              <a:picLocks noChangeAspect="1"/>
            </p:cNvPicPr>
            <p:nvPr/>
          </p:nvPicPr>
          <p:blipFill>
            <a:blip r:embed="rId7"/>
            <a:stretch>
              <a:fillRect/>
            </a:stretch>
          </p:blipFill>
          <p:spPr>
            <a:xfrm>
              <a:off x="5425440" y="1196340"/>
              <a:ext cx="198120" cy="198120"/>
            </a:xfrm>
            <a:prstGeom prst="rect">
              <a:avLst/>
            </a:prstGeom>
          </p:spPr>
        </p:pic>
      </p:grpSp>
      <p:sp>
        <p:nvSpPr>
          <p:cNvPr id="45" name="TextBox 44"/>
          <p:cNvSpPr txBox="1"/>
          <p:nvPr/>
        </p:nvSpPr>
        <p:spPr>
          <a:xfrm>
            <a:off x="5867400" y="1093470"/>
            <a:ext cx="323850" cy="209550"/>
          </a:xfrm>
          <a:prstGeom prst="rect">
            <a:avLst/>
          </a:prstGeom>
          <a:noFill/>
        </p:spPr>
        <p:txBody>
          <a:bodyPr wrap="none" lIns="0" rIns="0" tIns="0" bIns="0" anchor="t">
            <a:noAutofit/>
          </a:bodyPr>
          <a:lstStyle/>
          <a:p>
            <a:pPr algn="l">
              <a:lnSpc>
                <a:spcPts val="1650"/>
              </a:lnSpc>
            </a:pPr>
            <a:r>
              <a:rPr sz="1275" b="1" i="0" lang="de-DE">
                <a:solidFill>
                  <a:srgbClr val="657383"/>
                </a:solidFill>
                <a:latin typeface="Geist Mono"/>
              </a:rPr>
              <a:t>1</a:t>
            </a:r>
          </a:p>
        </p:txBody>
      </p:sp>
      <p:sp>
        <p:nvSpPr>
          <p:cNvPr id="46" name="TextBox 45"/>
          <p:cNvSpPr txBox="1"/>
          <p:nvPr/>
        </p:nvSpPr>
        <p:spPr>
          <a:xfrm>
            <a:off x="6041517" y="1093470"/>
            <a:ext cx="5867400" cy="209550"/>
          </a:xfrm>
          <a:prstGeom prst="rect">
            <a:avLst/>
          </a:prstGeom>
          <a:noFill/>
        </p:spPr>
        <p:txBody>
          <a:bodyPr wrap="none" lIns="0" rIns="0" tIns="0" bIns="0" anchor="t">
            <a:noAutofit/>
          </a:bodyPr>
          <a:lstStyle/>
          <a:p>
            <a:pPr algn="l">
              <a:lnSpc>
                <a:spcPts val="1650"/>
              </a:lnSpc>
            </a:pPr>
            <a:r>
              <a:rPr sz="1275" b="1" i="0" lang="de-DE">
                <a:solidFill>
                  <a:srgbClr val="141A21"/>
                </a:solidFill>
                <a:latin typeface="IBM Plex Sans"/>
              </a:rPr>
              <a:t>Vergangenheit</a:t>
            </a:r>
          </a:p>
        </p:txBody>
      </p:sp>
      <p:sp>
        <p:nvSpPr>
          <p:cNvPr id="47" name="TextBox 46"/>
          <p:cNvSpPr txBox="1"/>
          <p:nvPr/>
        </p:nvSpPr>
        <p:spPr>
          <a:xfrm>
            <a:off x="5867400" y="1312545"/>
            <a:ext cx="5715000" cy="190500"/>
          </a:xfrm>
          <a:prstGeom prst="rect">
            <a:avLst/>
          </a:prstGeom>
          <a:noFill/>
        </p:spPr>
        <p:txBody>
          <a:bodyPr wrap="square" lIns="0" rIns="0" tIns="0" bIns="0" anchor="t">
            <a:noAutofit/>
          </a:bodyPr>
          <a:lstStyle/>
          <a:p>
            <a:pPr algn="l">
              <a:lnSpc>
                <a:spcPts val="1462"/>
              </a:lnSpc>
            </a:pPr>
            <a:r>
              <a:rPr sz="1125" b="0" i="0" lang="de-DE">
                <a:solidFill>
                  <a:srgbClr val="4E5A68"/>
                </a:solidFill>
                <a:latin typeface="IBM Plex Sans"/>
              </a:rPr>
              <a:t>Nur Informationen, die vor dem Prognosemonat bekannt sind.</a:t>
            </a:r>
          </a:p>
        </p:txBody>
      </p:sp>
      <p:grpSp>
        <p:nvGrpSpPr>
          <p:cNvPr id="48" name="Scheibe trees"/>
          <p:cNvGrpSpPr/>
          <p:nvPr/>
        </p:nvGrpSpPr>
        <p:grpSpPr>
          <a:xfrm>
            <a:off x="5334000" y="1638300"/>
            <a:ext cx="381000" cy="381000"/>
            <a:chOff x="5334000" y="1638300"/>
            <a:chExt cx="381000" cy="381000"/>
          </a:xfrm>
        </p:grpSpPr>
        <p:sp>
          <p:nvSpPr>
            <p:cNvPr id="49" name="Oval 48"/>
            <p:cNvSpPr/>
            <p:nvPr/>
          </p:nvSpPr>
          <p:spPr>
            <a:xfrm>
              <a:off x="5334000" y="1638300"/>
              <a:ext cx="381000" cy="381000"/>
            </a:xfrm>
            <a:prstGeom prst="ellipse">
              <a:avLst/>
            </a:prstGeom>
            <a:solidFill>
              <a:srgbClr val="084878"/>
            </a:solidFill>
            <a:ln>
              <a:noFill/>
            </a:ln>
            <a:effectLst/>
          </p:spPr>
          <p:txBody>
            <a:bodyPr rtlCol="0" anchor="ctr"/>
            <a:lstStyle/>
            <a:p>
              <a:pPr algn="ctr"/>
            </a:p>
          </p:txBody>
        </p:sp>
        <p:pic>
          <p:nvPicPr>
            <p:cNvPr id="50" name="Picture 49" descr="trees__FFFFFF.png"/>
            <p:cNvPicPr>
              <a:picLocks noChangeAspect="1"/>
            </p:cNvPicPr>
            <p:nvPr/>
          </p:nvPicPr>
          <p:blipFill>
            <a:blip r:embed="rId8"/>
            <a:stretch>
              <a:fillRect/>
            </a:stretch>
          </p:blipFill>
          <p:spPr>
            <a:xfrm>
              <a:off x="5425440" y="1729740"/>
              <a:ext cx="198120" cy="198120"/>
            </a:xfrm>
            <a:prstGeom prst="rect">
              <a:avLst/>
            </a:prstGeom>
          </p:spPr>
        </p:pic>
      </p:grpSp>
      <p:sp>
        <p:nvSpPr>
          <p:cNvPr id="51" name="TextBox 50"/>
          <p:cNvSpPr txBox="1"/>
          <p:nvPr/>
        </p:nvSpPr>
        <p:spPr>
          <a:xfrm>
            <a:off x="5867400" y="1626870"/>
            <a:ext cx="323850" cy="209550"/>
          </a:xfrm>
          <a:prstGeom prst="rect">
            <a:avLst/>
          </a:prstGeom>
          <a:noFill/>
        </p:spPr>
        <p:txBody>
          <a:bodyPr wrap="none" lIns="0" rIns="0" tIns="0" bIns="0" anchor="t">
            <a:noAutofit/>
          </a:bodyPr>
          <a:lstStyle/>
          <a:p>
            <a:pPr algn="l">
              <a:lnSpc>
                <a:spcPts val="1650"/>
              </a:lnSpc>
            </a:pPr>
            <a:r>
              <a:rPr sz="1275" b="1" i="0" lang="de-DE">
                <a:solidFill>
                  <a:srgbClr val="657383"/>
                </a:solidFill>
                <a:latin typeface="Geist Mono"/>
              </a:rPr>
              <a:t>2</a:t>
            </a:r>
          </a:p>
        </p:txBody>
      </p:sp>
      <p:sp>
        <p:nvSpPr>
          <p:cNvPr id="52" name="TextBox 51"/>
          <p:cNvSpPr txBox="1"/>
          <p:nvPr/>
        </p:nvSpPr>
        <p:spPr>
          <a:xfrm>
            <a:off x="6041517" y="1626870"/>
            <a:ext cx="5867400" cy="209550"/>
          </a:xfrm>
          <a:prstGeom prst="rect">
            <a:avLst/>
          </a:prstGeom>
          <a:noFill/>
        </p:spPr>
        <p:txBody>
          <a:bodyPr wrap="none" lIns="0" rIns="0" tIns="0" bIns="0" anchor="t">
            <a:noAutofit/>
          </a:bodyPr>
          <a:lstStyle/>
          <a:p>
            <a:pPr algn="l">
              <a:lnSpc>
                <a:spcPts val="1650"/>
              </a:lnSpc>
            </a:pPr>
            <a:r>
              <a:rPr sz="1275" b="1" i="0" lang="de-DE">
                <a:solidFill>
                  <a:srgbClr val="141A21"/>
                </a:solidFill>
                <a:latin typeface="IBM Plex Sans"/>
              </a:rPr>
              <a:t>Modell</a:t>
            </a:r>
          </a:p>
        </p:txBody>
      </p:sp>
      <p:sp>
        <p:nvSpPr>
          <p:cNvPr id="53" name="TextBox 52"/>
          <p:cNvSpPr txBox="1"/>
          <p:nvPr/>
        </p:nvSpPr>
        <p:spPr>
          <a:xfrm>
            <a:off x="5867400" y="1845945"/>
            <a:ext cx="5715000" cy="190500"/>
          </a:xfrm>
          <a:prstGeom prst="rect">
            <a:avLst/>
          </a:prstGeom>
          <a:noFill/>
        </p:spPr>
        <p:txBody>
          <a:bodyPr wrap="square" lIns="0" rIns="0" tIns="0" bIns="0" anchor="t">
            <a:noAutofit/>
          </a:bodyPr>
          <a:lstStyle/>
          <a:p>
            <a:pPr algn="l">
              <a:lnSpc>
                <a:spcPts val="1462"/>
              </a:lnSpc>
            </a:pPr>
            <a:r>
              <a:rPr sz="1125" b="0" i="0" lang="de-DE">
                <a:solidFill>
                  <a:srgbClr val="4E5A68"/>
                </a:solidFill>
                <a:latin typeface="IBM Plex Sans"/>
              </a:rPr>
              <a:t>Random Forest schätzt die Vollaststunden (VLS) des Folgemonats.</a:t>
            </a:r>
          </a:p>
        </p:txBody>
      </p:sp>
      <p:grpSp>
        <p:nvGrpSpPr>
          <p:cNvPr id="54" name="Scheibe calculator"/>
          <p:cNvGrpSpPr/>
          <p:nvPr/>
        </p:nvGrpSpPr>
        <p:grpSpPr>
          <a:xfrm>
            <a:off x="5334000" y="2171700"/>
            <a:ext cx="381000" cy="381000"/>
            <a:chOff x="5334000" y="2171700"/>
            <a:chExt cx="381000" cy="381000"/>
          </a:xfrm>
        </p:grpSpPr>
        <p:sp>
          <p:nvSpPr>
            <p:cNvPr id="55" name="Oval 54"/>
            <p:cNvSpPr/>
            <p:nvPr/>
          </p:nvSpPr>
          <p:spPr>
            <a:xfrm>
              <a:off x="5334000" y="2171700"/>
              <a:ext cx="381000" cy="381000"/>
            </a:xfrm>
            <a:prstGeom prst="ellipse">
              <a:avLst/>
            </a:prstGeom>
            <a:solidFill>
              <a:srgbClr val="084878"/>
            </a:solidFill>
            <a:ln>
              <a:noFill/>
            </a:ln>
            <a:effectLst/>
          </p:spPr>
          <p:txBody>
            <a:bodyPr rtlCol="0" anchor="ctr"/>
            <a:lstStyle/>
            <a:p>
              <a:pPr algn="ctr"/>
            </a:p>
          </p:txBody>
        </p:sp>
        <p:pic>
          <p:nvPicPr>
            <p:cNvPr id="56" name="Picture 55" descr="calculator__FFFFFF.png"/>
            <p:cNvPicPr>
              <a:picLocks noChangeAspect="1"/>
            </p:cNvPicPr>
            <p:nvPr/>
          </p:nvPicPr>
          <p:blipFill>
            <a:blip r:embed="rId9"/>
            <a:stretch>
              <a:fillRect/>
            </a:stretch>
          </p:blipFill>
          <p:spPr>
            <a:xfrm>
              <a:off x="5425440" y="2263140"/>
              <a:ext cx="198120" cy="198120"/>
            </a:xfrm>
            <a:prstGeom prst="rect">
              <a:avLst/>
            </a:prstGeom>
          </p:spPr>
        </p:pic>
      </p:grpSp>
      <p:sp>
        <p:nvSpPr>
          <p:cNvPr id="57" name="TextBox 56"/>
          <p:cNvSpPr txBox="1"/>
          <p:nvPr/>
        </p:nvSpPr>
        <p:spPr>
          <a:xfrm>
            <a:off x="5867400" y="2160270"/>
            <a:ext cx="323850" cy="209550"/>
          </a:xfrm>
          <a:prstGeom prst="rect">
            <a:avLst/>
          </a:prstGeom>
          <a:noFill/>
        </p:spPr>
        <p:txBody>
          <a:bodyPr wrap="none" lIns="0" rIns="0" tIns="0" bIns="0" anchor="t">
            <a:noAutofit/>
          </a:bodyPr>
          <a:lstStyle/>
          <a:p>
            <a:pPr algn="l">
              <a:lnSpc>
                <a:spcPts val="1650"/>
              </a:lnSpc>
            </a:pPr>
            <a:r>
              <a:rPr sz="1275" b="1" i="0" lang="de-DE">
                <a:solidFill>
                  <a:srgbClr val="657383"/>
                </a:solidFill>
                <a:latin typeface="Geist Mono"/>
              </a:rPr>
              <a:t>3</a:t>
            </a:r>
          </a:p>
        </p:txBody>
      </p:sp>
      <p:sp>
        <p:nvSpPr>
          <p:cNvPr id="58" name="TextBox 57"/>
          <p:cNvSpPr txBox="1"/>
          <p:nvPr/>
        </p:nvSpPr>
        <p:spPr>
          <a:xfrm>
            <a:off x="6041517" y="2160270"/>
            <a:ext cx="5867400" cy="209550"/>
          </a:xfrm>
          <a:prstGeom prst="rect">
            <a:avLst/>
          </a:prstGeom>
          <a:noFill/>
        </p:spPr>
        <p:txBody>
          <a:bodyPr wrap="none" lIns="0" rIns="0" tIns="0" bIns="0" anchor="t">
            <a:noAutofit/>
          </a:bodyPr>
          <a:lstStyle/>
          <a:p>
            <a:pPr algn="l">
              <a:lnSpc>
                <a:spcPts val="1650"/>
              </a:lnSpc>
            </a:pPr>
            <a:r>
              <a:rPr sz="1275" b="1" i="0" lang="de-DE">
                <a:solidFill>
                  <a:srgbClr val="141A21"/>
                </a:solidFill>
                <a:latin typeface="IBM Plex Sans"/>
              </a:rPr>
              <a:t>Rückrechnung</a:t>
            </a:r>
          </a:p>
        </p:txBody>
      </p:sp>
      <p:sp>
        <p:nvSpPr>
          <p:cNvPr id="59" name="TextBox 58"/>
          <p:cNvSpPr txBox="1"/>
          <p:nvPr/>
        </p:nvSpPr>
        <p:spPr>
          <a:xfrm>
            <a:off x="5867400" y="2379345"/>
            <a:ext cx="5715000" cy="190500"/>
          </a:xfrm>
          <a:prstGeom prst="rect">
            <a:avLst/>
          </a:prstGeom>
          <a:noFill/>
        </p:spPr>
        <p:txBody>
          <a:bodyPr wrap="square" lIns="0" rIns="0" tIns="0" bIns="0" anchor="t">
            <a:noAutofit/>
          </a:bodyPr>
          <a:lstStyle/>
          <a:p>
            <a:pPr algn="l">
              <a:lnSpc>
                <a:spcPts val="1462"/>
              </a:lnSpc>
            </a:pPr>
            <a:r>
              <a:rPr sz="1125" b="0" i="0" lang="de-DE">
                <a:solidFill>
                  <a:srgbClr val="4E5A68"/>
                </a:solidFill>
                <a:latin typeface="IBM Plex Sans"/>
              </a:rPr>
              <a:t>Prognose-VLS × Vertragsleistung = Prognose in kWh.</a:t>
            </a:r>
          </a:p>
        </p:txBody>
      </p:sp>
      <p:grpSp>
        <p:nvGrpSpPr>
          <p:cNvPr id="60" name="Scheibe gauge"/>
          <p:cNvGrpSpPr/>
          <p:nvPr/>
        </p:nvGrpSpPr>
        <p:grpSpPr>
          <a:xfrm>
            <a:off x="5334000" y="3209925"/>
            <a:ext cx="381000" cy="381000"/>
            <a:chOff x="5334000" y="3209925"/>
            <a:chExt cx="381000" cy="381000"/>
          </a:xfrm>
        </p:grpSpPr>
        <p:sp>
          <p:nvSpPr>
            <p:cNvPr id="61" name="Oval 60"/>
            <p:cNvSpPr/>
            <p:nvPr/>
          </p:nvSpPr>
          <p:spPr>
            <a:xfrm>
              <a:off x="5334000" y="3209925"/>
              <a:ext cx="381000" cy="381000"/>
            </a:xfrm>
            <a:prstGeom prst="ellipse">
              <a:avLst/>
            </a:prstGeom>
            <a:solidFill>
              <a:srgbClr val="00718E"/>
            </a:solidFill>
            <a:ln>
              <a:noFill/>
            </a:ln>
            <a:effectLst/>
          </p:spPr>
          <p:txBody>
            <a:bodyPr rtlCol="0" anchor="ctr"/>
            <a:lstStyle/>
            <a:p>
              <a:pPr algn="ctr"/>
            </a:p>
          </p:txBody>
        </p:sp>
        <p:pic>
          <p:nvPicPr>
            <p:cNvPr id="62" name="Picture 61" descr="gauge__FFFFFF.png"/>
            <p:cNvPicPr>
              <a:picLocks noChangeAspect="1"/>
            </p:cNvPicPr>
            <p:nvPr/>
          </p:nvPicPr>
          <p:blipFill>
            <a:blip r:embed="rId10"/>
            <a:stretch>
              <a:fillRect/>
            </a:stretch>
          </p:blipFill>
          <p:spPr>
            <a:xfrm>
              <a:off x="5425440" y="3301365"/>
              <a:ext cx="198120" cy="198120"/>
            </a:xfrm>
            <a:prstGeom prst="rect">
              <a:avLst/>
            </a:prstGeom>
          </p:spPr>
        </p:pic>
      </p:grpSp>
      <p:sp>
        <p:nvSpPr>
          <p:cNvPr id="63" name="TextBox 62"/>
          <p:cNvSpPr txBox="1"/>
          <p:nvPr/>
        </p:nvSpPr>
        <p:spPr>
          <a:xfrm>
            <a:off x="5867400" y="3198495"/>
            <a:ext cx="323850" cy="209550"/>
          </a:xfrm>
          <a:prstGeom prst="rect">
            <a:avLst/>
          </a:prstGeom>
          <a:noFill/>
        </p:spPr>
        <p:txBody>
          <a:bodyPr wrap="none" lIns="0" rIns="0" tIns="0" bIns="0" anchor="t">
            <a:noAutofit/>
          </a:bodyPr>
          <a:lstStyle/>
          <a:p>
            <a:pPr algn="l">
              <a:lnSpc>
                <a:spcPts val="1650"/>
              </a:lnSpc>
            </a:pPr>
            <a:r>
              <a:rPr sz="1275" b="1" i="0" lang="de-DE">
                <a:solidFill>
                  <a:srgbClr val="657383"/>
                </a:solidFill>
                <a:latin typeface="Geist Mono"/>
              </a:rPr>
              <a:t>4</a:t>
            </a:r>
          </a:p>
        </p:txBody>
      </p:sp>
      <p:sp>
        <p:nvSpPr>
          <p:cNvPr id="64" name="TextBox 63"/>
          <p:cNvSpPr txBox="1"/>
          <p:nvPr/>
        </p:nvSpPr>
        <p:spPr>
          <a:xfrm>
            <a:off x="6041517" y="3198495"/>
            <a:ext cx="5867400" cy="209550"/>
          </a:xfrm>
          <a:prstGeom prst="rect">
            <a:avLst/>
          </a:prstGeom>
          <a:noFill/>
        </p:spPr>
        <p:txBody>
          <a:bodyPr wrap="none" lIns="0" rIns="0" tIns="0" bIns="0" anchor="t">
            <a:noAutofit/>
          </a:bodyPr>
          <a:lstStyle/>
          <a:p>
            <a:pPr algn="l">
              <a:lnSpc>
                <a:spcPts val="1650"/>
              </a:lnSpc>
            </a:pPr>
            <a:r>
              <a:rPr sz="1275" b="1" i="0" lang="de-DE">
                <a:solidFill>
                  <a:srgbClr val="141A21"/>
                </a:solidFill>
                <a:latin typeface="IBM Plex Sans"/>
              </a:rPr>
              <a:t>Istwert</a:t>
            </a:r>
          </a:p>
        </p:txBody>
      </p:sp>
      <p:sp>
        <p:nvSpPr>
          <p:cNvPr id="65" name="TextBox 64"/>
          <p:cNvSpPr txBox="1"/>
          <p:nvPr/>
        </p:nvSpPr>
        <p:spPr>
          <a:xfrm>
            <a:off x="5867400" y="3417570"/>
            <a:ext cx="5715000" cy="190500"/>
          </a:xfrm>
          <a:prstGeom prst="rect">
            <a:avLst/>
          </a:prstGeom>
          <a:noFill/>
        </p:spPr>
        <p:txBody>
          <a:bodyPr wrap="square" lIns="0" rIns="0" tIns="0" bIns="0" anchor="t">
            <a:noAutofit/>
          </a:bodyPr>
          <a:lstStyle/>
          <a:p>
            <a:pPr algn="l">
              <a:lnSpc>
                <a:spcPts val="1462"/>
              </a:lnSpc>
            </a:pPr>
            <a:r>
              <a:rPr sz="1125" b="0" i="0" lang="de-DE">
                <a:solidFill>
                  <a:srgbClr val="4E5A68"/>
                </a:solidFill>
                <a:latin typeface="IBM Plex Sans"/>
              </a:rPr>
              <a:t>Nach Monatsende kommt der gemessene Verbrauch.</a:t>
            </a:r>
          </a:p>
        </p:txBody>
      </p:sp>
      <p:grpSp>
        <p:nvGrpSpPr>
          <p:cNvPr id="66" name="Scheibe diff"/>
          <p:cNvGrpSpPr/>
          <p:nvPr/>
        </p:nvGrpSpPr>
        <p:grpSpPr>
          <a:xfrm>
            <a:off x="5334000" y="3743325"/>
            <a:ext cx="381000" cy="381000"/>
            <a:chOff x="5334000" y="3743325"/>
            <a:chExt cx="381000" cy="381000"/>
          </a:xfrm>
        </p:grpSpPr>
        <p:sp>
          <p:nvSpPr>
            <p:cNvPr id="67" name="Oval 66"/>
            <p:cNvSpPr/>
            <p:nvPr/>
          </p:nvSpPr>
          <p:spPr>
            <a:xfrm>
              <a:off x="5334000" y="3743325"/>
              <a:ext cx="381000" cy="381000"/>
            </a:xfrm>
            <a:prstGeom prst="ellipse">
              <a:avLst/>
            </a:prstGeom>
            <a:solidFill>
              <a:srgbClr val="00718E"/>
            </a:solidFill>
            <a:ln>
              <a:noFill/>
            </a:ln>
            <a:effectLst/>
          </p:spPr>
          <p:txBody>
            <a:bodyPr rtlCol="0" anchor="ctr"/>
            <a:lstStyle/>
            <a:p>
              <a:pPr algn="ctr"/>
            </a:p>
          </p:txBody>
        </p:sp>
        <p:pic>
          <p:nvPicPr>
            <p:cNvPr id="68" name="Picture 67" descr="diff__FFFFFF.png"/>
            <p:cNvPicPr>
              <a:picLocks noChangeAspect="1"/>
            </p:cNvPicPr>
            <p:nvPr/>
          </p:nvPicPr>
          <p:blipFill>
            <a:blip r:embed="rId11"/>
            <a:stretch>
              <a:fillRect/>
            </a:stretch>
          </p:blipFill>
          <p:spPr>
            <a:xfrm>
              <a:off x="5425440" y="3834765"/>
              <a:ext cx="198120" cy="198120"/>
            </a:xfrm>
            <a:prstGeom prst="rect">
              <a:avLst/>
            </a:prstGeom>
          </p:spPr>
        </p:pic>
      </p:grpSp>
      <p:sp>
        <p:nvSpPr>
          <p:cNvPr id="69" name="TextBox 68"/>
          <p:cNvSpPr txBox="1"/>
          <p:nvPr/>
        </p:nvSpPr>
        <p:spPr>
          <a:xfrm>
            <a:off x="5867400" y="3731895"/>
            <a:ext cx="323850" cy="209550"/>
          </a:xfrm>
          <a:prstGeom prst="rect">
            <a:avLst/>
          </a:prstGeom>
          <a:noFill/>
        </p:spPr>
        <p:txBody>
          <a:bodyPr wrap="none" lIns="0" rIns="0" tIns="0" bIns="0" anchor="t">
            <a:noAutofit/>
          </a:bodyPr>
          <a:lstStyle/>
          <a:p>
            <a:pPr algn="l">
              <a:lnSpc>
                <a:spcPts val="1650"/>
              </a:lnSpc>
            </a:pPr>
            <a:r>
              <a:rPr sz="1275" b="1" i="0" lang="de-DE">
                <a:solidFill>
                  <a:srgbClr val="657383"/>
                </a:solidFill>
                <a:latin typeface="Geist Mono"/>
              </a:rPr>
              <a:t>5</a:t>
            </a:r>
          </a:p>
        </p:txBody>
      </p:sp>
      <p:sp>
        <p:nvSpPr>
          <p:cNvPr id="70" name="TextBox 69"/>
          <p:cNvSpPr txBox="1"/>
          <p:nvPr/>
        </p:nvSpPr>
        <p:spPr>
          <a:xfrm>
            <a:off x="6041517" y="3731895"/>
            <a:ext cx="5867400" cy="209550"/>
          </a:xfrm>
          <a:prstGeom prst="rect">
            <a:avLst/>
          </a:prstGeom>
          <a:noFill/>
        </p:spPr>
        <p:txBody>
          <a:bodyPr wrap="none" lIns="0" rIns="0" tIns="0" bIns="0" anchor="t">
            <a:noAutofit/>
          </a:bodyPr>
          <a:lstStyle/>
          <a:p>
            <a:pPr algn="l">
              <a:lnSpc>
                <a:spcPts val="1650"/>
              </a:lnSpc>
            </a:pPr>
            <a:r>
              <a:rPr sz="1275" b="1" i="0" lang="de-DE">
                <a:solidFill>
                  <a:srgbClr val="141A21"/>
                </a:solidFill>
                <a:latin typeface="IBM Plex Sans"/>
              </a:rPr>
              <a:t>Residuum</a:t>
            </a:r>
          </a:p>
        </p:txBody>
      </p:sp>
      <p:sp>
        <p:nvSpPr>
          <p:cNvPr id="71" name="TextBox 70"/>
          <p:cNvSpPr txBox="1"/>
          <p:nvPr/>
        </p:nvSpPr>
        <p:spPr>
          <a:xfrm>
            <a:off x="5867400" y="3950970"/>
            <a:ext cx="5715000" cy="190500"/>
          </a:xfrm>
          <a:prstGeom prst="rect">
            <a:avLst/>
          </a:prstGeom>
          <a:noFill/>
        </p:spPr>
        <p:txBody>
          <a:bodyPr wrap="square" lIns="0" rIns="0" tIns="0" bIns="0" anchor="t">
            <a:noAutofit/>
          </a:bodyPr>
          <a:lstStyle/>
          <a:p>
            <a:pPr algn="l">
              <a:lnSpc>
                <a:spcPts val="1462"/>
              </a:lnSpc>
            </a:pPr>
            <a:r>
              <a:rPr sz="1125" b="0" i="0" lang="de-DE">
                <a:solidFill>
                  <a:srgbClr val="4E5A68"/>
                </a:solidFill>
                <a:latin typeface="IBM Plex Sans"/>
              </a:rPr>
              <a:t>Ist minus Prognose, bezogen auf die Anschlussgröße.</a:t>
            </a:r>
          </a:p>
        </p:txBody>
      </p:sp>
      <p:grpSp>
        <p:nvGrpSpPr>
          <p:cNvPr id="72" name="Scheibe flag"/>
          <p:cNvGrpSpPr/>
          <p:nvPr/>
        </p:nvGrpSpPr>
        <p:grpSpPr>
          <a:xfrm>
            <a:off x="5334000" y="4276725"/>
            <a:ext cx="381000" cy="381000"/>
            <a:chOff x="5334000" y="4276725"/>
            <a:chExt cx="381000" cy="381000"/>
          </a:xfrm>
        </p:grpSpPr>
        <p:sp>
          <p:nvSpPr>
            <p:cNvPr id="73" name="Oval 72"/>
            <p:cNvSpPr/>
            <p:nvPr/>
          </p:nvSpPr>
          <p:spPr>
            <a:xfrm>
              <a:off x="5334000" y="4276725"/>
              <a:ext cx="381000" cy="381000"/>
            </a:xfrm>
            <a:prstGeom prst="ellipse">
              <a:avLst/>
            </a:prstGeom>
            <a:solidFill>
              <a:srgbClr val="00718E"/>
            </a:solidFill>
            <a:ln>
              <a:noFill/>
            </a:ln>
            <a:effectLst/>
          </p:spPr>
          <p:txBody>
            <a:bodyPr rtlCol="0" anchor="ctr"/>
            <a:lstStyle/>
            <a:p>
              <a:pPr algn="ctr"/>
            </a:p>
          </p:txBody>
        </p:sp>
        <p:pic>
          <p:nvPicPr>
            <p:cNvPr id="74" name="Picture 73" descr="flag__FFFFFF.png"/>
            <p:cNvPicPr>
              <a:picLocks noChangeAspect="1"/>
            </p:cNvPicPr>
            <p:nvPr/>
          </p:nvPicPr>
          <p:blipFill>
            <a:blip r:embed="rId5"/>
            <a:stretch>
              <a:fillRect/>
            </a:stretch>
          </p:blipFill>
          <p:spPr>
            <a:xfrm>
              <a:off x="5425440" y="4368165"/>
              <a:ext cx="198120" cy="198120"/>
            </a:xfrm>
            <a:prstGeom prst="rect">
              <a:avLst/>
            </a:prstGeom>
          </p:spPr>
        </p:pic>
      </p:grpSp>
      <p:sp>
        <p:nvSpPr>
          <p:cNvPr id="75" name="TextBox 74"/>
          <p:cNvSpPr txBox="1"/>
          <p:nvPr/>
        </p:nvSpPr>
        <p:spPr>
          <a:xfrm>
            <a:off x="5867400" y="4265295"/>
            <a:ext cx="323850" cy="209550"/>
          </a:xfrm>
          <a:prstGeom prst="rect">
            <a:avLst/>
          </a:prstGeom>
          <a:noFill/>
        </p:spPr>
        <p:txBody>
          <a:bodyPr wrap="none" lIns="0" rIns="0" tIns="0" bIns="0" anchor="t">
            <a:noAutofit/>
          </a:bodyPr>
          <a:lstStyle/>
          <a:p>
            <a:pPr algn="l">
              <a:lnSpc>
                <a:spcPts val="1650"/>
              </a:lnSpc>
            </a:pPr>
            <a:r>
              <a:rPr sz="1275" b="1" i="0" lang="de-DE">
                <a:solidFill>
                  <a:srgbClr val="657383"/>
                </a:solidFill>
                <a:latin typeface="Geist Mono"/>
              </a:rPr>
              <a:t>6</a:t>
            </a:r>
          </a:p>
        </p:txBody>
      </p:sp>
      <p:sp>
        <p:nvSpPr>
          <p:cNvPr id="76" name="TextBox 75"/>
          <p:cNvSpPr txBox="1"/>
          <p:nvPr/>
        </p:nvSpPr>
        <p:spPr>
          <a:xfrm>
            <a:off x="6041517" y="4265295"/>
            <a:ext cx="5867400" cy="209550"/>
          </a:xfrm>
          <a:prstGeom prst="rect">
            <a:avLst/>
          </a:prstGeom>
          <a:noFill/>
        </p:spPr>
        <p:txBody>
          <a:bodyPr wrap="none" lIns="0" rIns="0" tIns="0" bIns="0" anchor="t">
            <a:noAutofit/>
          </a:bodyPr>
          <a:lstStyle/>
          <a:p>
            <a:pPr algn="l">
              <a:lnSpc>
                <a:spcPts val="1650"/>
              </a:lnSpc>
            </a:pPr>
            <a:r>
              <a:rPr sz="1275" b="1" i="0" lang="de-DE">
                <a:solidFill>
                  <a:srgbClr val="141A21"/>
                </a:solidFill>
                <a:latin typeface="IBM Plex Sans"/>
              </a:rPr>
              <a:t>Prüfhinweis</a:t>
            </a:r>
          </a:p>
        </p:txBody>
      </p:sp>
      <p:sp>
        <p:nvSpPr>
          <p:cNvPr id="77" name="TextBox 76"/>
          <p:cNvSpPr txBox="1"/>
          <p:nvPr/>
        </p:nvSpPr>
        <p:spPr>
          <a:xfrm>
            <a:off x="5867400" y="4484370"/>
            <a:ext cx="5715000" cy="190500"/>
          </a:xfrm>
          <a:prstGeom prst="rect">
            <a:avLst/>
          </a:prstGeom>
          <a:noFill/>
        </p:spPr>
        <p:txBody>
          <a:bodyPr wrap="square" lIns="0" rIns="0" tIns="0" bIns="0" anchor="t">
            <a:noAutofit/>
          </a:bodyPr>
          <a:lstStyle/>
          <a:p>
            <a:pPr algn="l">
              <a:lnSpc>
                <a:spcPts val="1462"/>
              </a:lnSpc>
            </a:pPr>
            <a:r>
              <a:rPr sz="1125" b="0" i="0" lang="de-DE">
                <a:solidFill>
                  <a:srgbClr val="4E5A68"/>
                </a:solidFill>
                <a:latin typeface="IBM Plex Sans"/>
              </a:rPr>
              <a:t>Nur über der Schwelle prüft ein Mensch · Export ins Dashboard (JSON).</a:t>
            </a:r>
          </a:p>
        </p:txBody>
      </p:sp>
      <p:pic>
        <p:nvPicPr>
          <p:cNvPr id="78" name="Icon calendar-days" descr="calendar-days__657383.png"/>
          <p:cNvPicPr>
            <a:picLocks noChangeAspect="1"/>
          </p:cNvPicPr>
          <p:nvPr/>
        </p:nvPicPr>
        <p:blipFill>
          <a:blip r:embed="rId12"/>
          <a:stretch>
            <a:fillRect/>
          </a:stretch>
        </p:blipFill>
        <p:spPr>
          <a:xfrm>
            <a:off x="5867400" y="2671762"/>
            <a:ext cx="152400" cy="152400"/>
          </a:xfrm>
          <a:prstGeom prst="rect">
            <a:avLst/>
          </a:prstGeom>
        </p:spPr>
      </p:pic>
      <p:sp>
        <p:nvSpPr>
          <p:cNvPr id="79" name="TextBox 78"/>
          <p:cNvSpPr txBox="1"/>
          <p:nvPr/>
        </p:nvSpPr>
        <p:spPr>
          <a:xfrm>
            <a:off x="6096000" y="2667000"/>
            <a:ext cx="2095500" cy="161925"/>
          </a:xfrm>
          <a:prstGeom prst="rect">
            <a:avLst/>
          </a:prstGeom>
          <a:noFill/>
        </p:spPr>
        <p:txBody>
          <a:bodyPr wrap="none" lIns="0" rIns="0" tIns="0" bIns="0" anchor="t">
            <a:noAutofit/>
          </a:bodyPr>
          <a:lstStyle/>
          <a:p>
            <a:pPr algn="l">
              <a:lnSpc>
                <a:spcPts val="1275"/>
              </a:lnSpc>
            </a:pPr>
            <a:r>
              <a:rPr sz="975" b="1" i="0" lang="de-DE" spc="78">
                <a:solidFill>
                  <a:srgbClr val="657383"/>
                </a:solidFill>
                <a:latin typeface="IBM Plex Sans"/>
              </a:rPr>
              <a:t>MONAT LÄUFT</a:t>
            </a:r>
          </a:p>
        </p:txBody>
      </p:sp>
      <p:cxnSp>
        <p:nvCxnSpPr>
          <p:cNvPr id="80" name="Connector 79"/>
          <p:cNvCxnSpPr/>
          <p:nvPr/>
        </p:nvCxnSpPr>
        <p:spPr>
          <a:xfrm>
            <a:off x="7128129" y="2747962"/>
            <a:ext cx="4530471" cy="0"/>
          </a:xfrm>
          <a:prstGeom prst="line">
            <a:avLst/>
          </a:prstGeom>
          <a:ln w="19050">
            <a:solidFill>
              <a:srgbClr val="B4BFCB"/>
            </a:solidFill>
            <a:prstDash val="dash"/>
          </a:ln>
        </p:spPr>
        <p:style>
          <a:lnRef idx="2">
            <a:schemeClr val="accent1"/>
          </a:lnRef>
          <a:fillRef idx="0">
            <a:schemeClr val="accent1"/>
          </a:fillRef>
          <a:effectRef idx="1">
            <a:schemeClr val="accent1"/>
          </a:effectRef>
          <a:fontRef idx="minor">
            <a:schemeClr val="tx1"/>
          </a:fontRef>
        </p:style>
      </p:cxnSp>
      <p:pic>
        <p:nvPicPr>
          <p:cNvPr id="81" name="Icon quote" descr="quote__00718E.png"/>
          <p:cNvPicPr>
            <a:picLocks noChangeAspect="1"/>
          </p:cNvPicPr>
          <p:nvPr/>
        </p:nvPicPr>
        <p:blipFill>
          <a:blip r:embed="rId13"/>
          <a:stretch>
            <a:fillRect/>
          </a:stretch>
        </p:blipFill>
        <p:spPr>
          <a:xfrm>
            <a:off x="5334000" y="5924550"/>
            <a:ext cx="152400" cy="152400"/>
          </a:xfrm>
          <a:prstGeom prst="rect">
            <a:avLst/>
          </a:prstGeom>
        </p:spPr>
      </p:pic>
      <p:sp>
        <p:nvSpPr>
          <p:cNvPr id="82" name="TextBox 81"/>
          <p:cNvSpPr txBox="1"/>
          <p:nvPr/>
        </p:nvSpPr>
        <p:spPr>
          <a:xfrm>
            <a:off x="5562600" y="5915025"/>
            <a:ext cx="6705600" cy="171450"/>
          </a:xfrm>
          <a:prstGeom prst="rect">
            <a:avLst/>
          </a:prstGeom>
          <a:noFill/>
        </p:spPr>
        <p:txBody>
          <a:bodyPr wrap="none" lIns="0" rIns="0" tIns="0" bIns="0" anchor="t">
            <a:noAutofit/>
          </a:bodyPr>
          <a:lstStyle/>
          <a:p>
            <a:pPr algn="l">
              <a:lnSpc>
                <a:spcPts val="1350"/>
              </a:lnSpc>
            </a:pPr>
            <a:r>
              <a:rPr sz="1050" b="0" i="0" lang="de-DE">
                <a:solidFill>
                  <a:srgbClr val="657383"/>
                </a:solidFill>
                <a:latin typeface="IBM Plex Sans"/>
              </a:rPr>
              <a:t>User Story Henrik Maaß: reproduzierbarer Workflow mit dokumentierter Schwelle</a:t>
            </a:r>
          </a:p>
        </p:txBody>
      </p:sp>
      <p:cxnSp>
        <p:nvCxnSpPr>
          <p:cNvPr id="83"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84" name="Logo" descr="image.png"/>
          <p:cNvPicPr>
            <a:picLocks noChangeAspect="1"/>
          </p:cNvPicPr>
          <p:nvPr/>
        </p:nvPicPr>
        <p:blipFill>
          <a:blip r:embed="rId14"/>
          <a:stretch>
            <a:fillRect/>
          </a:stretch>
        </p:blipFill>
        <p:spPr>
          <a:xfrm>
            <a:off x="685800" y="6400800"/>
            <a:ext cx="715863" cy="247650"/>
          </a:xfrm>
          <a:prstGeom prst="rect">
            <a:avLst/>
          </a:prstGeom>
        </p:spPr>
      </p:pic>
      <p:sp>
        <p:nvSpPr>
          <p:cNvPr id="85" name="TextBox 84"/>
          <p:cNvSpPr txBox="1"/>
          <p:nvPr/>
        </p:nvSpPr>
        <p:spPr>
          <a:xfrm>
            <a:off x="1554480" y="6429375"/>
            <a:ext cx="289179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86" name="Connector 85"/>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87" name="Scheibe chart-spline"/>
          <p:cNvGrpSpPr/>
          <p:nvPr/>
        </p:nvGrpSpPr>
        <p:grpSpPr>
          <a:xfrm>
            <a:off x="4516755" y="6419850"/>
            <a:ext cx="209550" cy="209550"/>
            <a:chOff x="4516755" y="6419850"/>
            <a:chExt cx="209550" cy="209550"/>
          </a:xfrm>
        </p:grpSpPr>
        <p:sp>
          <p:nvSpPr>
            <p:cNvPr id="88" name="Oval 87"/>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89" name="Picture 88" descr="chart-spline__FFFFFF.png"/>
            <p:cNvPicPr>
              <a:picLocks noChangeAspect="1"/>
            </p:cNvPicPr>
            <p:nvPr/>
          </p:nvPicPr>
          <p:blipFill>
            <a:blip r:embed="rId15"/>
            <a:stretch>
              <a:fillRect/>
            </a:stretch>
          </p:blipFill>
          <p:spPr>
            <a:xfrm>
              <a:off x="4567047" y="6470142"/>
              <a:ext cx="108966" cy="108966"/>
            </a:xfrm>
            <a:prstGeom prst="rect">
              <a:avLst/>
            </a:prstGeom>
          </p:spPr>
        </p:pic>
      </p:grpSp>
      <p:sp>
        <p:nvSpPr>
          <p:cNvPr id="90" name="TextBox 89"/>
          <p:cNvSpPr txBox="1"/>
          <p:nvPr/>
        </p:nvSpPr>
        <p:spPr>
          <a:xfrm>
            <a:off x="4783455"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03</a:t>
            </a:r>
          </a:p>
        </p:txBody>
      </p:sp>
      <p:sp>
        <p:nvSpPr>
          <p:cNvPr id="91" name="TextBox 90"/>
          <p:cNvSpPr txBox="1"/>
          <p:nvPr/>
        </p:nvSpPr>
        <p:spPr>
          <a:xfrm>
            <a:off x="5000625" y="6438900"/>
            <a:ext cx="857269"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Vorhersage</a:t>
            </a:r>
          </a:p>
        </p:txBody>
      </p:sp>
      <p:grpSp>
        <p:nvGrpSpPr>
          <p:cNvPr id="92" name="Scheibe calendar-clock"/>
          <p:cNvGrpSpPr/>
          <p:nvPr/>
        </p:nvGrpSpPr>
        <p:grpSpPr>
          <a:xfrm>
            <a:off x="5799010" y="6419850"/>
            <a:ext cx="209550" cy="209550"/>
            <a:chOff x="5799010" y="6419850"/>
            <a:chExt cx="209550" cy="209550"/>
          </a:xfrm>
        </p:grpSpPr>
        <p:sp>
          <p:nvSpPr>
            <p:cNvPr id="93" name="Oval 92"/>
            <p:cNvSpPr/>
            <p:nvPr/>
          </p:nvSpPr>
          <p:spPr>
            <a:xfrm>
              <a:off x="5799010" y="6419850"/>
              <a:ext cx="209550" cy="209550"/>
            </a:xfrm>
            <a:prstGeom prst="ellipse">
              <a:avLst/>
            </a:prstGeom>
            <a:solidFill>
              <a:srgbClr val="00718E"/>
            </a:solidFill>
            <a:ln>
              <a:noFill/>
            </a:ln>
            <a:effectLst/>
          </p:spPr>
          <p:txBody>
            <a:bodyPr rtlCol="0" anchor="ctr"/>
            <a:lstStyle/>
            <a:p>
              <a:pPr algn="ctr"/>
            </a:p>
          </p:txBody>
        </p:sp>
        <p:pic>
          <p:nvPicPr>
            <p:cNvPr id="94" name="Picture 93" descr="calendar-clock__FFFFFF.png"/>
            <p:cNvPicPr>
              <a:picLocks noChangeAspect="1"/>
            </p:cNvPicPr>
            <p:nvPr/>
          </p:nvPicPr>
          <p:blipFill>
            <a:blip r:embed="rId16"/>
            <a:stretch>
              <a:fillRect/>
            </a:stretch>
          </p:blipFill>
          <p:spPr>
            <a:xfrm>
              <a:off x="5849302" y="6470142"/>
              <a:ext cx="108966" cy="108966"/>
            </a:xfrm>
            <a:prstGeom prst="rect">
              <a:avLst/>
            </a:prstGeom>
          </p:spPr>
        </p:pic>
      </p:grpSp>
      <p:sp>
        <p:nvSpPr>
          <p:cNvPr id="95" name="TextBox 94"/>
          <p:cNvSpPr txBox="1"/>
          <p:nvPr/>
        </p:nvSpPr>
        <p:spPr>
          <a:xfrm>
            <a:off x="6065710"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09</a:t>
            </a:r>
          </a:p>
        </p:txBody>
      </p:sp>
      <p:sp>
        <p:nvSpPr>
          <p:cNvPr id="96" name="TextBox 95"/>
          <p:cNvSpPr txBox="1"/>
          <p:nvPr/>
        </p:nvSpPr>
        <p:spPr>
          <a:xfrm>
            <a:off x="6282880" y="6438900"/>
            <a:ext cx="739921"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Zeitpunkt</a:t>
            </a:r>
          </a:p>
        </p:txBody>
      </p:sp>
      <p:sp>
        <p:nvSpPr>
          <p:cNvPr id="97" name="TextBox 96"/>
          <p:cNvSpPr txBox="1"/>
          <p:nvPr/>
        </p:nvSpPr>
        <p:spPr>
          <a:xfrm>
            <a:off x="9486900" y="6429375"/>
            <a:ext cx="12573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98" name="Seitenzahl"/>
          <p:cNvSpPr txBox="1"/>
          <p:nvPr/>
        </p:nvSpPr>
        <p:spPr>
          <a:xfrm>
            <a:off x="10835640" y="6424612"/>
            <a:ext cx="67056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3 / 11</a:t>
            </a:r>
          </a:p>
        </p:txBody>
      </p:sp>
      <p:grpSp>
        <p:nvGrpSpPr>
          <p:cNvPr id="99" name="Kapitel 01"/>
          <p:cNvGrpSpPr/>
          <p:nvPr/>
        </p:nvGrpSpPr>
        <p:grpSpPr>
          <a:xfrm>
            <a:off x="9532144" y="407194"/>
            <a:ext cx="233362" cy="233362"/>
            <a:chOff x="9532144" y="407194"/>
            <a:chExt cx="233362" cy="233362"/>
          </a:xfrm>
        </p:grpSpPr>
        <p:sp>
          <p:nvSpPr>
            <p:cNvPr id="100" name="Oval 99"/>
            <p:cNvSpPr/>
            <p:nvPr/>
          </p:nvSpPr>
          <p:spPr>
            <a:xfrm>
              <a:off x="953214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101" name="Picture 100" descr="building-2__084878.png"/>
            <p:cNvPicPr>
              <a:picLocks noChangeAspect="1"/>
            </p:cNvPicPr>
            <p:nvPr/>
          </p:nvPicPr>
          <p:blipFill>
            <a:blip r:embed="rId17"/>
            <a:stretch>
              <a:fillRect/>
            </a:stretch>
          </p:blipFill>
          <p:spPr>
            <a:xfrm>
              <a:off x="9584436" y="459486"/>
              <a:ext cx="128778" cy="128778"/>
            </a:xfrm>
            <a:prstGeom prst="rect">
              <a:avLst/>
            </a:prstGeom>
          </p:spPr>
        </p:pic>
      </p:grpSp>
      <p:grpSp>
        <p:nvGrpSpPr>
          <p:cNvPr id="102" name="Kapitel 02"/>
          <p:cNvGrpSpPr/>
          <p:nvPr/>
        </p:nvGrpSpPr>
        <p:grpSpPr>
          <a:xfrm>
            <a:off x="9817894" y="407194"/>
            <a:ext cx="233362" cy="233362"/>
            <a:chOff x="9817894" y="407194"/>
            <a:chExt cx="233362" cy="233362"/>
          </a:xfrm>
        </p:grpSpPr>
        <p:sp>
          <p:nvSpPr>
            <p:cNvPr id="103" name="Oval 102"/>
            <p:cNvSpPr/>
            <p:nvPr/>
          </p:nvSpPr>
          <p:spPr>
            <a:xfrm>
              <a:off x="981789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104" name="Picture 103" descr="database__084878.png"/>
            <p:cNvPicPr>
              <a:picLocks noChangeAspect="1"/>
            </p:cNvPicPr>
            <p:nvPr/>
          </p:nvPicPr>
          <p:blipFill>
            <a:blip r:embed="rId18"/>
            <a:stretch>
              <a:fillRect/>
            </a:stretch>
          </p:blipFill>
          <p:spPr>
            <a:xfrm>
              <a:off x="9870186" y="459486"/>
              <a:ext cx="128778" cy="128778"/>
            </a:xfrm>
            <a:prstGeom prst="rect">
              <a:avLst/>
            </a:prstGeom>
          </p:spPr>
        </p:pic>
      </p:grpSp>
      <p:grpSp>
        <p:nvGrpSpPr>
          <p:cNvPr id="105" name="Kapitel 03"/>
          <p:cNvGrpSpPr/>
          <p:nvPr/>
        </p:nvGrpSpPr>
        <p:grpSpPr>
          <a:xfrm>
            <a:off x="10256044" y="407194"/>
            <a:ext cx="233362" cy="233362"/>
            <a:chOff x="10256044" y="407194"/>
            <a:chExt cx="233362" cy="233362"/>
          </a:xfrm>
        </p:grpSpPr>
        <p:sp>
          <p:nvSpPr>
            <p:cNvPr id="106" name="Oval 105"/>
            <p:cNvSpPr/>
            <p:nvPr/>
          </p:nvSpPr>
          <p:spPr>
            <a:xfrm>
              <a:off x="1025604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107" name="Picture 106" descr="layout-grid__084878.png"/>
            <p:cNvPicPr>
              <a:picLocks noChangeAspect="1"/>
            </p:cNvPicPr>
            <p:nvPr/>
          </p:nvPicPr>
          <p:blipFill>
            <a:blip r:embed="rId19"/>
            <a:stretch>
              <a:fillRect/>
            </a:stretch>
          </p:blipFill>
          <p:spPr>
            <a:xfrm>
              <a:off x="10308336" y="459486"/>
              <a:ext cx="128778" cy="128778"/>
            </a:xfrm>
            <a:prstGeom prst="rect">
              <a:avLst/>
            </a:prstGeom>
          </p:spPr>
        </p:pic>
      </p:grpSp>
      <p:grpSp>
        <p:nvGrpSpPr>
          <p:cNvPr id="108" name="Kapitel 04 aktiv"/>
          <p:cNvGrpSpPr/>
          <p:nvPr/>
        </p:nvGrpSpPr>
        <p:grpSpPr>
          <a:xfrm>
            <a:off x="10534650" y="400050"/>
            <a:ext cx="247650" cy="247650"/>
            <a:chOff x="10534650" y="400050"/>
            <a:chExt cx="247650" cy="247650"/>
          </a:xfrm>
        </p:grpSpPr>
        <p:sp>
          <p:nvSpPr>
            <p:cNvPr id="109" name="Oval 108"/>
            <p:cNvSpPr/>
            <p:nvPr/>
          </p:nvSpPr>
          <p:spPr>
            <a:xfrm>
              <a:off x="10534650" y="400050"/>
              <a:ext cx="247650" cy="247650"/>
            </a:xfrm>
            <a:prstGeom prst="ellipse">
              <a:avLst/>
            </a:prstGeom>
            <a:solidFill>
              <a:srgbClr val="084878"/>
            </a:solidFill>
            <a:ln>
              <a:noFill/>
            </a:ln>
            <a:effectLst/>
          </p:spPr>
          <p:txBody>
            <a:bodyPr rtlCol="0" anchor="ctr"/>
            <a:lstStyle/>
            <a:p>
              <a:pPr algn="ctr"/>
            </a:p>
          </p:txBody>
        </p:sp>
        <p:pic>
          <p:nvPicPr>
            <p:cNvPr id="110" name="Picture 109" descr="trees__FFFFFF.png"/>
            <p:cNvPicPr>
              <a:picLocks noChangeAspect="1"/>
            </p:cNvPicPr>
            <p:nvPr/>
          </p:nvPicPr>
          <p:blipFill>
            <a:blip r:embed="rId8"/>
            <a:stretch>
              <a:fillRect/>
            </a:stretch>
          </p:blipFill>
          <p:spPr>
            <a:xfrm>
              <a:off x="10594086" y="459486"/>
              <a:ext cx="128778" cy="128778"/>
            </a:xfrm>
            <a:prstGeom prst="rect">
              <a:avLst/>
            </a:prstGeom>
          </p:spPr>
        </p:pic>
      </p:grpSp>
      <p:grpSp>
        <p:nvGrpSpPr>
          <p:cNvPr id="111" name="Kapitel 05"/>
          <p:cNvGrpSpPr/>
          <p:nvPr/>
        </p:nvGrpSpPr>
        <p:grpSpPr>
          <a:xfrm>
            <a:off x="10979944" y="407194"/>
            <a:ext cx="233362" cy="233362"/>
            <a:chOff x="10979944" y="407194"/>
            <a:chExt cx="233362" cy="233362"/>
          </a:xfrm>
        </p:grpSpPr>
        <p:sp>
          <p:nvSpPr>
            <p:cNvPr id="112" name="Oval 111"/>
            <p:cNvSpPr/>
            <p:nvPr/>
          </p:nvSpPr>
          <p:spPr>
            <a:xfrm>
              <a:off x="10979944" y="407194"/>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13" name="Picture 112" descr="chart-column__8A96A3.png"/>
            <p:cNvPicPr>
              <a:picLocks noChangeAspect="1"/>
            </p:cNvPicPr>
            <p:nvPr/>
          </p:nvPicPr>
          <p:blipFill>
            <a:blip r:embed="rId20"/>
            <a:stretch>
              <a:fillRect/>
            </a:stretch>
          </p:blipFill>
          <p:spPr>
            <a:xfrm>
              <a:off x="11032236" y="459486"/>
              <a:ext cx="128778" cy="128778"/>
            </a:xfrm>
            <a:prstGeom prst="rect">
              <a:avLst/>
            </a:prstGeom>
          </p:spPr>
        </p:pic>
      </p:grpSp>
      <p:grpSp>
        <p:nvGrpSpPr>
          <p:cNvPr id="114" name="Kapitel 06"/>
          <p:cNvGrpSpPr/>
          <p:nvPr/>
        </p:nvGrpSpPr>
        <p:grpSpPr>
          <a:xfrm>
            <a:off x="11265694" y="407194"/>
            <a:ext cx="233362" cy="233362"/>
            <a:chOff x="11265694" y="407194"/>
            <a:chExt cx="233362" cy="233362"/>
          </a:xfrm>
        </p:grpSpPr>
        <p:sp>
          <p:nvSpPr>
            <p:cNvPr id="115" name="Oval 114"/>
            <p:cNvSpPr/>
            <p:nvPr/>
          </p:nvSpPr>
          <p:spPr>
            <a:xfrm>
              <a:off x="11265694" y="407194"/>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16" name="Picture 115" descr="compass__8A96A3.png"/>
            <p:cNvPicPr>
              <a:picLocks noChangeAspect="1"/>
            </p:cNvPicPr>
            <p:nvPr/>
          </p:nvPicPr>
          <p:blipFill>
            <a:blip r:embed="rId21"/>
            <a:stretch>
              <a:fillRect/>
            </a:stretch>
          </p:blipFill>
          <p:spPr>
            <a:xfrm>
              <a:off x="11317986" y="459486"/>
              <a:ext cx="128778" cy="128778"/>
            </a:xfrm>
            <a:prstGeom prst="rect">
              <a:avLst/>
            </a:prstGeom>
          </p:spPr>
        </p:pic>
      </p:grpSp>
      <p:cxnSp>
        <p:nvCxnSpPr>
          <p:cNvPr id="117" name="Kapitel-Lücke"/>
          <p:cNvCxnSpPr/>
          <p:nvPr/>
        </p:nvCxnSpPr>
        <p:spPr>
          <a:xfrm>
            <a:off x="10115550" y="523875"/>
            <a:ext cx="7620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cxnSp>
        <p:nvCxnSpPr>
          <p:cNvPr id="118" name="Kapitel-Lücke"/>
          <p:cNvCxnSpPr/>
          <p:nvPr/>
        </p:nvCxnSpPr>
        <p:spPr>
          <a:xfrm>
            <a:off x="10839450" y="523875"/>
            <a:ext cx="7620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sp>
        <p:nvSpPr>
          <p:cNvPr id="119" name="Kapitel-Label"/>
          <p:cNvSpPr txBox="1"/>
          <p:nvPr/>
        </p:nvSpPr>
        <p:spPr>
          <a:xfrm>
            <a:off x="6267450" y="428625"/>
            <a:ext cx="3143250" cy="171450"/>
          </a:xfrm>
          <a:prstGeom prst="rect">
            <a:avLst/>
          </a:prstGeom>
          <a:noFill/>
        </p:spPr>
        <p:txBody>
          <a:bodyPr wrap="none" lIns="0" rIns="0" tIns="0" bIns="0" anchor="t">
            <a:noAutofit/>
          </a:bodyPr>
          <a:lstStyle/>
          <a:p>
            <a:pPr algn="r">
              <a:lnSpc>
                <a:spcPts val="1350"/>
              </a:lnSpc>
            </a:pPr>
            <a:r>
              <a:rPr sz="1050" b="1" i="0" lang="de-DE">
                <a:solidFill>
                  <a:srgbClr val="005E77"/>
                </a:solidFill>
                <a:latin typeface="IBM Plex Sans"/>
              </a:rPr>
              <a:t>04 · Methodik und Modell · Kiko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84878"/>
            </a:solidFill>
            <a:ln>
              <a:noFill/>
            </a:ln>
            <a:effectLst/>
          </p:spPr>
          <p:txBody>
            <a:bodyPr rtlCol="0" anchor="ctr"/>
            <a:lstStyle/>
            <a:p>
              <a:pPr algn="ctr"/>
            </a:p>
          </p:txBody>
        </p:sp>
        <p:pic>
          <p:nvPicPr>
            <p:cNvPr id="4" name="Picture 3" descr="history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733425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Warum diese Train/Test-Aufteilung?</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Vergangenheit erklärt Zukunft, niemals umgekehrt</a:t>
            </a:r>
          </a:p>
        </p:txBody>
      </p:sp>
      <p:sp>
        <p:nvSpPr>
          <p:cNvPr id="7" name="Rounded Rectangle 6"/>
          <p:cNvSpPr/>
          <p:nvPr/>
        </p:nvSpPr>
        <p:spPr>
          <a:xfrm>
            <a:off x="685800" y="1362075"/>
            <a:ext cx="10820400" cy="2681288"/>
          </a:xfrm>
          <a:prstGeom prst="roundRect">
            <a:avLst>
              <a:gd name="adj" fmla="val 3552"/>
            </a:avLst>
          </a:prstGeom>
          <a:solidFill>
            <a:srgbClr val="FFFFFF"/>
          </a:solidFill>
          <a:ln w="9525">
            <a:solidFill>
              <a:srgbClr val="D2DAE2"/>
            </a:solidFill>
          </a:ln>
          <a:effectLst/>
        </p:spPr>
        <p:txBody>
          <a:bodyPr rtlCol="0" anchor="ctr"/>
          <a:lstStyle/>
          <a:p>
            <a:pPr algn="ctr"/>
          </a:p>
        </p:txBody>
      </p:sp>
      <p:sp>
        <p:nvSpPr>
          <p:cNvPr id="8" name="TextBox 7"/>
          <p:cNvSpPr txBox="1"/>
          <p:nvPr/>
        </p:nvSpPr>
        <p:spPr>
          <a:xfrm>
            <a:off x="3731664" y="1520197"/>
            <a:ext cx="1629189" cy="197758"/>
          </a:xfrm>
          <a:prstGeom prst="rect">
            <a:avLst/>
          </a:prstGeom>
          <a:noFill/>
        </p:spPr>
        <p:txBody>
          <a:bodyPr wrap="none" lIns="0" rIns="0" tIns="0" bIns="0" anchor="t">
            <a:noAutofit/>
          </a:bodyPr>
          <a:lstStyle/>
          <a:p>
            <a:pPr algn="ctr">
              <a:lnSpc>
                <a:spcPts val="1557"/>
              </a:lnSpc>
            </a:pPr>
            <a:r>
              <a:rPr sz="1197" b="1" i="0" lang="de-DE">
                <a:solidFill>
                  <a:srgbClr val="141A21"/>
                </a:solidFill>
                <a:latin typeface="IBM Plex Sans"/>
              </a:rPr>
              <a:t>2024 · Entwicklung</a:t>
            </a:r>
          </a:p>
        </p:txBody>
      </p:sp>
      <p:sp>
        <p:nvSpPr>
          <p:cNvPr id="9" name="TextBox 8"/>
          <p:cNvSpPr txBox="1"/>
          <p:nvPr/>
        </p:nvSpPr>
        <p:spPr>
          <a:xfrm>
            <a:off x="7935857" y="1520197"/>
            <a:ext cx="2157964" cy="197758"/>
          </a:xfrm>
          <a:prstGeom prst="rect">
            <a:avLst/>
          </a:prstGeom>
          <a:noFill/>
        </p:spPr>
        <p:txBody>
          <a:bodyPr wrap="none" lIns="0" rIns="0" tIns="0" bIns="0" anchor="t">
            <a:noAutofit/>
          </a:bodyPr>
          <a:lstStyle/>
          <a:p>
            <a:pPr algn="ctr">
              <a:lnSpc>
                <a:spcPts val="1557"/>
              </a:lnSpc>
            </a:pPr>
            <a:r>
              <a:rPr sz="1197" b="1" i="0" lang="de-DE">
                <a:solidFill>
                  <a:srgbClr val="141A21"/>
                </a:solidFill>
                <a:latin typeface="IBM Plex Sans"/>
              </a:rPr>
              <a:t>2025 · Test im Nachhinein</a:t>
            </a:r>
          </a:p>
        </p:txBody>
      </p:sp>
      <p:sp>
        <p:nvSpPr>
          <p:cNvPr id="10" name="TextBox 9"/>
          <p:cNvSpPr txBox="1"/>
          <p:nvPr/>
        </p:nvSpPr>
        <p:spPr>
          <a:xfrm>
            <a:off x="2397700" y="1739348"/>
            <a:ext cx="201234"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J</a:t>
            </a:r>
          </a:p>
        </p:txBody>
      </p:sp>
      <p:sp>
        <p:nvSpPr>
          <p:cNvPr id="11" name="TextBox 10"/>
          <p:cNvSpPr txBox="1"/>
          <p:nvPr/>
        </p:nvSpPr>
        <p:spPr>
          <a:xfrm>
            <a:off x="2767071" y="1739348"/>
            <a:ext cx="207890"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F</a:t>
            </a:r>
          </a:p>
        </p:txBody>
      </p:sp>
      <p:sp>
        <p:nvSpPr>
          <p:cNvPr id="12" name="TextBox 11"/>
          <p:cNvSpPr txBox="1"/>
          <p:nvPr/>
        </p:nvSpPr>
        <p:spPr>
          <a:xfrm>
            <a:off x="3122180" y="1739348"/>
            <a:ext cx="241166"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M</a:t>
            </a:r>
          </a:p>
        </p:txBody>
      </p:sp>
      <p:sp>
        <p:nvSpPr>
          <p:cNvPr id="13" name="TextBox 12"/>
          <p:cNvSpPr txBox="1"/>
          <p:nvPr/>
        </p:nvSpPr>
        <p:spPr>
          <a:xfrm>
            <a:off x="3506193" y="1739348"/>
            <a:ext cx="218538"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A</a:t>
            </a:r>
          </a:p>
        </p:txBody>
      </p:sp>
      <p:sp>
        <p:nvSpPr>
          <p:cNvPr id="14" name="TextBox 13"/>
          <p:cNvSpPr txBox="1"/>
          <p:nvPr/>
        </p:nvSpPr>
        <p:spPr>
          <a:xfrm>
            <a:off x="3866627" y="1739348"/>
            <a:ext cx="241166"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M</a:t>
            </a:r>
          </a:p>
        </p:txBody>
      </p:sp>
      <p:sp>
        <p:nvSpPr>
          <p:cNvPr id="15" name="TextBox 14"/>
          <p:cNvSpPr txBox="1"/>
          <p:nvPr/>
        </p:nvSpPr>
        <p:spPr>
          <a:xfrm>
            <a:off x="4259292" y="1739348"/>
            <a:ext cx="201234"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J</a:t>
            </a:r>
          </a:p>
        </p:txBody>
      </p:sp>
      <p:sp>
        <p:nvSpPr>
          <p:cNvPr id="16" name="TextBox 15"/>
          <p:cNvSpPr txBox="1"/>
          <p:nvPr/>
        </p:nvSpPr>
        <p:spPr>
          <a:xfrm>
            <a:off x="4631990" y="1739348"/>
            <a:ext cx="201234"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J</a:t>
            </a:r>
          </a:p>
        </p:txBody>
      </p:sp>
      <p:sp>
        <p:nvSpPr>
          <p:cNvPr id="17" name="TextBox 16"/>
          <p:cNvSpPr txBox="1"/>
          <p:nvPr/>
        </p:nvSpPr>
        <p:spPr>
          <a:xfrm>
            <a:off x="4996037" y="1739348"/>
            <a:ext cx="218538"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A</a:t>
            </a:r>
          </a:p>
        </p:txBody>
      </p:sp>
      <p:sp>
        <p:nvSpPr>
          <p:cNvPr id="18" name="TextBox 17"/>
          <p:cNvSpPr txBox="1"/>
          <p:nvPr/>
        </p:nvSpPr>
        <p:spPr>
          <a:xfrm>
            <a:off x="5371778" y="1739348"/>
            <a:ext cx="210552"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S</a:t>
            </a:r>
          </a:p>
        </p:txBody>
      </p:sp>
      <p:sp>
        <p:nvSpPr>
          <p:cNvPr id="19" name="TextBox 18"/>
          <p:cNvSpPr txBox="1"/>
          <p:nvPr/>
        </p:nvSpPr>
        <p:spPr>
          <a:xfrm>
            <a:off x="5735825" y="1739348"/>
            <a:ext cx="227856"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O</a:t>
            </a:r>
          </a:p>
        </p:txBody>
      </p:sp>
      <p:sp>
        <p:nvSpPr>
          <p:cNvPr id="20" name="TextBox 19"/>
          <p:cNvSpPr txBox="1"/>
          <p:nvPr/>
        </p:nvSpPr>
        <p:spPr>
          <a:xfrm>
            <a:off x="6107573" y="1739348"/>
            <a:ext cx="227856"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N</a:t>
            </a:r>
          </a:p>
        </p:txBody>
      </p:sp>
      <p:sp>
        <p:nvSpPr>
          <p:cNvPr id="21" name="TextBox 20"/>
          <p:cNvSpPr txBox="1"/>
          <p:nvPr/>
        </p:nvSpPr>
        <p:spPr>
          <a:xfrm>
            <a:off x="6482933" y="1739348"/>
            <a:ext cx="222531"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D</a:t>
            </a:r>
          </a:p>
        </p:txBody>
      </p:sp>
      <p:sp>
        <p:nvSpPr>
          <p:cNvPr id="22" name="TextBox 21"/>
          <p:cNvSpPr txBox="1"/>
          <p:nvPr/>
        </p:nvSpPr>
        <p:spPr>
          <a:xfrm>
            <a:off x="6866281" y="1739348"/>
            <a:ext cx="201234"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J</a:t>
            </a:r>
          </a:p>
        </p:txBody>
      </p:sp>
      <p:sp>
        <p:nvSpPr>
          <p:cNvPr id="23" name="TextBox 22"/>
          <p:cNvSpPr txBox="1"/>
          <p:nvPr/>
        </p:nvSpPr>
        <p:spPr>
          <a:xfrm>
            <a:off x="7235652" y="1739348"/>
            <a:ext cx="207890"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F</a:t>
            </a:r>
          </a:p>
        </p:txBody>
      </p:sp>
      <p:sp>
        <p:nvSpPr>
          <p:cNvPr id="24" name="TextBox 23"/>
          <p:cNvSpPr txBox="1"/>
          <p:nvPr/>
        </p:nvSpPr>
        <p:spPr>
          <a:xfrm>
            <a:off x="7590761" y="1739348"/>
            <a:ext cx="241166"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M</a:t>
            </a:r>
          </a:p>
        </p:txBody>
      </p:sp>
      <p:sp>
        <p:nvSpPr>
          <p:cNvPr id="25" name="TextBox 24"/>
          <p:cNvSpPr txBox="1"/>
          <p:nvPr/>
        </p:nvSpPr>
        <p:spPr>
          <a:xfrm>
            <a:off x="7974774" y="1739348"/>
            <a:ext cx="218538"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A</a:t>
            </a:r>
          </a:p>
        </p:txBody>
      </p:sp>
      <p:sp>
        <p:nvSpPr>
          <p:cNvPr id="26" name="TextBox 25"/>
          <p:cNvSpPr txBox="1"/>
          <p:nvPr/>
        </p:nvSpPr>
        <p:spPr>
          <a:xfrm>
            <a:off x="8335208" y="1739348"/>
            <a:ext cx="241166"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M</a:t>
            </a:r>
          </a:p>
        </p:txBody>
      </p:sp>
      <p:sp>
        <p:nvSpPr>
          <p:cNvPr id="27" name="TextBox 26"/>
          <p:cNvSpPr txBox="1"/>
          <p:nvPr/>
        </p:nvSpPr>
        <p:spPr>
          <a:xfrm>
            <a:off x="8727872" y="1739348"/>
            <a:ext cx="201234"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J</a:t>
            </a:r>
          </a:p>
        </p:txBody>
      </p:sp>
      <p:sp>
        <p:nvSpPr>
          <p:cNvPr id="28" name="TextBox 27"/>
          <p:cNvSpPr txBox="1"/>
          <p:nvPr/>
        </p:nvSpPr>
        <p:spPr>
          <a:xfrm>
            <a:off x="9100571" y="1739348"/>
            <a:ext cx="201234"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J</a:t>
            </a:r>
          </a:p>
        </p:txBody>
      </p:sp>
      <p:sp>
        <p:nvSpPr>
          <p:cNvPr id="29" name="TextBox 28"/>
          <p:cNvSpPr txBox="1"/>
          <p:nvPr/>
        </p:nvSpPr>
        <p:spPr>
          <a:xfrm>
            <a:off x="9464618" y="1739348"/>
            <a:ext cx="218538"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A</a:t>
            </a:r>
          </a:p>
        </p:txBody>
      </p:sp>
      <p:sp>
        <p:nvSpPr>
          <p:cNvPr id="30" name="TextBox 29"/>
          <p:cNvSpPr txBox="1"/>
          <p:nvPr/>
        </p:nvSpPr>
        <p:spPr>
          <a:xfrm>
            <a:off x="9840359" y="1739348"/>
            <a:ext cx="210552"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S</a:t>
            </a:r>
          </a:p>
        </p:txBody>
      </p:sp>
      <p:sp>
        <p:nvSpPr>
          <p:cNvPr id="31" name="TextBox 30"/>
          <p:cNvSpPr txBox="1"/>
          <p:nvPr/>
        </p:nvSpPr>
        <p:spPr>
          <a:xfrm>
            <a:off x="10204406" y="1739348"/>
            <a:ext cx="227856"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O</a:t>
            </a:r>
          </a:p>
        </p:txBody>
      </p:sp>
      <p:sp>
        <p:nvSpPr>
          <p:cNvPr id="32" name="TextBox 31"/>
          <p:cNvSpPr txBox="1"/>
          <p:nvPr/>
        </p:nvSpPr>
        <p:spPr>
          <a:xfrm>
            <a:off x="10576153" y="1739348"/>
            <a:ext cx="227856"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N</a:t>
            </a:r>
          </a:p>
        </p:txBody>
      </p:sp>
      <p:sp>
        <p:nvSpPr>
          <p:cNvPr id="33" name="TextBox 32"/>
          <p:cNvSpPr txBox="1"/>
          <p:nvPr/>
        </p:nvSpPr>
        <p:spPr>
          <a:xfrm>
            <a:off x="10951514" y="1739348"/>
            <a:ext cx="222531" cy="173039"/>
          </a:xfrm>
          <a:prstGeom prst="rect">
            <a:avLst/>
          </a:prstGeom>
          <a:noFill/>
        </p:spPr>
        <p:txBody>
          <a:bodyPr wrap="none" lIns="0" rIns="0" tIns="0" bIns="0" anchor="t">
            <a:noAutofit/>
          </a:bodyPr>
          <a:lstStyle/>
          <a:p>
            <a:pPr algn="ctr">
              <a:lnSpc>
                <a:spcPts val="1362"/>
              </a:lnSpc>
            </a:pPr>
            <a:r>
              <a:rPr sz="1048" b="0" i="0" lang="de-DE">
                <a:solidFill>
                  <a:srgbClr val="657383"/>
                </a:solidFill>
                <a:latin typeface="IBM Plex Sans"/>
              </a:rPr>
              <a:t>D</a:t>
            </a:r>
          </a:p>
        </p:txBody>
      </p:sp>
      <p:sp>
        <p:nvSpPr>
          <p:cNvPr id="34" name="TextBox 33"/>
          <p:cNvSpPr txBox="1"/>
          <p:nvPr/>
        </p:nvSpPr>
        <p:spPr>
          <a:xfrm>
            <a:off x="1603877" y="2062131"/>
            <a:ext cx="574984" cy="197758"/>
          </a:xfrm>
          <a:prstGeom prst="rect">
            <a:avLst/>
          </a:prstGeom>
          <a:noFill/>
        </p:spPr>
        <p:txBody>
          <a:bodyPr wrap="none" lIns="0" rIns="0" tIns="0" bIns="0" anchor="t">
            <a:noAutofit/>
          </a:bodyPr>
          <a:lstStyle/>
          <a:p>
            <a:pPr algn="r">
              <a:lnSpc>
                <a:spcPts val="1557"/>
              </a:lnSpc>
            </a:pPr>
            <a:r>
              <a:rPr sz="1197" b="0" i="0" lang="de-DE">
                <a:solidFill>
                  <a:srgbClr val="141A21"/>
                </a:solidFill>
                <a:latin typeface="IBM Plex Sans"/>
              </a:rPr>
              <a:t>Fold 1</a:t>
            </a:r>
          </a:p>
        </p:txBody>
      </p:sp>
      <p:sp>
        <p:nvSpPr>
          <p:cNvPr id="35" name="Rounded Rectangle 34"/>
          <p:cNvSpPr/>
          <p:nvPr/>
        </p:nvSpPr>
        <p:spPr>
          <a:xfrm>
            <a:off x="2311968" y="2018396"/>
            <a:ext cx="8937161" cy="285229"/>
          </a:xfrm>
          <a:prstGeom prst="roundRect">
            <a:avLst>
              <a:gd name="adj" fmla="val 13333"/>
            </a:avLst>
          </a:prstGeom>
          <a:solidFill>
            <a:srgbClr val="F1F4F7"/>
          </a:solidFill>
          <a:ln>
            <a:noFill/>
          </a:ln>
          <a:effectLst/>
        </p:spPr>
        <p:txBody>
          <a:bodyPr rtlCol="0" anchor="ctr"/>
          <a:lstStyle/>
          <a:p>
            <a:pPr algn="ctr"/>
          </a:p>
        </p:txBody>
      </p:sp>
      <p:sp>
        <p:nvSpPr>
          <p:cNvPr id="36" name="Rounded Rectangle 35"/>
          <p:cNvSpPr/>
          <p:nvPr/>
        </p:nvSpPr>
        <p:spPr>
          <a:xfrm>
            <a:off x="2321475" y="2018396"/>
            <a:ext cx="1470829" cy="285229"/>
          </a:xfrm>
          <a:prstGeom prst="roundRect">
            <a:avLst>
              <a:gd name="adj" fmla="val 13333"/>
            </a:avLst>
          </a:prstGeom>
          <a:solidFill>
            <a:srgbClr val="BBD7EA"/>
          </a:solidFill>
          <a:ln>
            <a:noFill/>
          </a:ln>
          <a:effectLst/>
        </p:spPr>
        <p:txBody>
          <a:bodyPr rtlCol="0" anchor="ctr"/>
          <a:lstStyle/>
          <a:p>
            <a:pPr algn="ctr"/>
          </a:p>
        </p:txBody>
      </p:sp>
      <p:sp>
        <p:nvSpPr>
          <p:cNvPr id="37" name="TextBox 36"/>
          <p:cNvSpPr txBox="1"/>
          <p:nvPr/>
        </p:nvSpPr>
        <p:spPr>
          <a:xfrm>
            <a:off x="2749104" y="2071877"/>
            <a:ext cx="614621" cy="185399"/>
          </a:xfrm>
          <a:prstGeom prst="rect">
            <a:avLst/>
          </a:prstGeom>
          <a:noFill/>
        </p:spPr>
        <p:txBody>
          <a:bodyPr wrap="none" lIns="0" rIns="0" tIns="0" bIns="0" anchor="t">
            <a:noAutofit/>
          </a:bodyPr>
          <a:lstStyle/>
          <a:p>
            <a:pPr algn="ctr">
              <a:lnSpc>
                <a:spcPts val="1459"/>
              </a:lnSpc>
            </a:pPr>
            <a:r>
              <a:rPr sz="1122" b="1" i="0" lang="de-DE">
                <a:solidFill>
                  <a:srgbClr val="04263F"/>
                </a:solidFill>
                <a:latin typeface="IBM Plex Sans"/>
              </a:rPr>
              <a:t>Lernen</a:t>
            </a:r>
          </a:p>
        </p:txBody>
      </p:sp>
      <p:sp>
        <p:nvSpPr>
          <p:cNvPr id="38" name="Rounded Rectangle 37"/>
          <p:cNvSpPr/>
          <p:nvPr/>
        </p:nvSpPr>
        <p:spPr>
          <a:xfrm>
            <a:off x="3811319" y="2018396"/>
            <a:ext cx="725431" cy="285229"/>
          </a:xfrm>
          <a:prstGeom prst="roundRect">
            <a:avLst>
              <a:gd name="adj" fmla="val 13333"/>
            </a:avLst>
          </a:prstGeom>
          <a:solidFill>
            <a:srgbClr val="084878"/>
          </a:solidFill>
          <a:ln>
            <a:noFill/>
          </a:ln>
          <a:effectLst/>
        </p:spPr>
        <p:txBody>
          <a:bodyPr rtlCol="0" anchor="ctr"/>
          <a:lstStyle/>
          <a:p>
            <a:pPr algn="ctr"/>
          </a:p>
        </p:txBody>
      </p:sp>
      <p:sp>
        <p:nvSpPr>
          <p:cNvPr id="39" name="TextBox 38"/>
          <p:cNvSpPr txBox="1"/>
          <p:nvPr/>
        </p:nvSpPr>
        <p:spPr>
          <a:xfrm>
            <a:off x="3762711" y="2071877"/>
            <a:ext cx="821697" cy="185399"/>
          </a:xfrm>
          <a:prstGeom prst="rect">
            <a:avLst/>
          </a:prstGeom>
          <a:noFill/>
        </p:spPr>
        <p:txBody>
          <a:bodyPr wrap="none" lIns="0" rIns="0" tIns="0" bIns="0" anchor="t">
            <a:noAutofit/>
          </a:bodyPr>
          <a:lstStyle/>
          <a:p>
            <a:pPr algn="ctr">
              <a:lnSpc>
                <a:spcPts val="1459"/>
              </a:lnSpc>
            </a:pPr>
            <a:r>
              <a:rPr sz="1122" b="1" i="0" lang="de-DE">
                <a:solidFill>
                  <a:srgbClr val="FFFFFF"/>
                </a:solidFill>
                <a:latin typeface="IBM Plex Sans"/>
              </a:rPr>
              <a:t>Bewerten</a:t>
            </a:r>
          </a:p>
        </p:txBody>
      </p:sp>
      <p:sp>
        <p:nvSpPr>
          <p:cNvPr id="40" name="TextBox 39"/>
          <p:cNvSpPr txBox="1"/>
          <p:nvPr/>
        </p:nvSpPr>
        <p:spPr>
          <a:xfrm>
            <a:off x="1603877" y="2442436"/>
            <a:ext cx="574984" cy="197758"/>
          </a:xfrm>
          <a:prstGeom prst="rect">
            <a:avLst/>
          </a:prstGeom>
          <a:noFill/>
        </p:spPr>
        <p:txBody>
          <a:bodyPr wrap="none" lIns="0" rIns="0" tIns="0" bIns="0" anchor="t">
            <a:noAutofit/>
          </a:bodyPr>
          <a:lstStyle/>
          <a:p>
            <a:pPr algn="r">
              <a:lnSpc>
                <a:spcPts val="1557"/>
              </a:lnSpc>
            </a:pPr>
            <a:r>
              <a:rPr sz="1197" b="0" i="0" lang="de-DE">
                <a:solidFill>
                  <a:srgbClr val="141A21"/>
                </a:solidFill>
                <a:latin typeface="IBM Plex Sans"/>
              </a:rPr>
              <a:t>Fold 2</a:t>
            </a:r>
          </a:p>
        </p:txBody>
      </p:sp>
      <p:sp>
        <p:nvSpPr>
          <p:cNvPr id="41" name="Rounded Rectangle 40"/>
          <p:cNvSpPr/>
          <p:nvPr/>
        </p:nvSpPr>
        <p:spPr>
          <a:xfrm>
            <a:off x="2311968" y="2398701"/>
            <a:ext cx="8937161" cy="285229"/>
          </a:xfrm>
          <a:prstGeom prst="roundRect">
            <a:avLst>
              <a:gd name="adj" fmla="val 13333"/>
            </a:avLst>
          </a:prstGeom>
          <a:solidFill>
            <a:srgbClr val="F1F4F7"/>
          </a:solidFill>
          <a:ln>
            <a:noFill/>
          </a:ln>
          <a:effectLst/>
        </p:spPr>
        <p:txBody>
          <a:bodyPr rtlCol="0" anchor="ctr"/>
          <a:lstStyle/>
          <a:p>
            <a:pPr algn="ctr"/>
          </a:p>
        </p:txBody>
      </p:sp>
      <p:sp>
        <p:nvSpPr>
          <p:cNvPr id="42" name="Rounded Rectangle 41"/>
          <p:cNvSpPr/>
          <p:nvPr/>
        </p:nvSpPr>
        <p:spPr>
          <a:xfrm>
            <a:off x="2321475" y="2398701"/>
            <a:ext cx="2215275" cy="285229"/>
          </a:xfrm>
          <a:prstGeom prst="roundRect">
            <a:avLst>
              <a:gd name="adj" fmla="val 13333"/>
            </a:avLst>
          </a:prstGeom>
          <a:solidFill>
            <a:srgbClr val="BBD7EA"/>
          </a:solidFill>
          <a:ln>
            <a:noFill/>
          </a:ln>
          <a:effectLst/>
        </p:spPr>
        <p:txBody>
          <a:bodyPr rtlCol="0" anchor="ctr"/>
          <a:lstStyle/>
          <a:p>
            <a:pPr algn="ctr"/>
          </a:p>
        </p:txBody>
      </p:sp>
      <p:sp>
        <p:nvSpPr>
          <p:cNvPr id="43" name="TextBox 42"/>
          <p:cNvSpPr txBox="1"/>
          <p:nvPr/>
        </p:nvSpPr>
        <p:spPr>
          <a:xfrm>
            <a:off x="3121802" y="2452181"/>
            <a:ext cx="614621" cy="185399"/>
          </a:xfrm>
          <a:prstGeom prst="rect">
            <a:avLst/>
          </a:prstGeom>
          <a:noFill/>
        </p:spPr>
        <p:txBody>
          <a:bodyPr wrap="none" lIns="0" rIns="0" tIns="0" bIns="0" anchor="t">
            <a:noAutofit/>
          </a:bodyPr>
          <a:lstStyle/>
          <a:p>
            <a:pPr algn="ctr">
              <a:lnSpc>
                <a:spcPts val="1459"/>
              </a:lnSpc>
            </a:pPr>
            <a:r>
              <a:rPr sz="1122" b="1" i="0" lang="de-DE">
                <a:solidFill>
                  <a:srgbClr val="04263F"/>
                </a:solidFill>
                <a:latin typeface="IBM Plex Sans"/>
              </a:rPr>
              <a:t>Lernen</a:t>
            </a:r>
          </a:p>
        </p:txBody>
      </p:sp>
      <p:sp>
        <p:nvSpPr>
          <p:cNvPr id="44" name="Rounded Rectangle 43"/>
          <p:cNvSpPr/>
          <p:nvPr/>
        </p:nvSpPr>
        <p:spPr>
          <a:xfrm>
            <a:off x="4555766" y="2398701"/>
            <a:ext cx="725431" cy="285229"/>
          </a:xfrm>
          <a:prstGeom prst="roundRect">
            <a:avLst>
              <a:gd name="adj" fmla="val 13333"/>
            </a:avLst>
          </a:prstGeom>
          <a:solidFill>
            <a:srgbClr val="084878"/>
          </a:solidFill>
          <a:ln>
            <a:noFill/>
          </a:ln>
          <a:effectLst/>
        </p:spPr>
        <p:txBody>
          <a:bodyPr rtlCol="0" anchor="ctr"/>
          <a:lstStyle/>
          <a:p>
            <a:pPr algn="ctr"/>
          </a:p>
        </p:txBody>
      </p:sp>
      <p:sp>
        <p:nvSpPr>
          <p:cNvPr id="45" name="TextBox 44"/>
          <p:cNvSpPr txBox="1"/>
          <p:nvPr/>
        </p:nvSpPr>
        <p:spPr>
          <a:xfrm>
            <a:off x="4508108" y="2452181"/>
            <a:ext cx="821697" cy="185399"/>
          </a:xfrm>
          <a:prstGeom prst="rect">
            <a:avLst/>
          </a:prstGeom>
          <a:noFill/>
        </p:spPr>
        <p:txBody>
          <a:bodyPr wrap="none" lIns="0" rIns="0" tIns="0" bIns="0" anchor="t">
            <a:noAutofit/>
          </a:bodyPr>
          <a:lstStyle/>
          <a:p>
            <a:pPr algn="ctr">
              <a:lnSpc>
                <a:spcPts val="1459"/>
              </a:lnSpc>
            </a:pPr>
            <a:r>
              <a:rPr sz="1122" b="1" i="0" lang="de-DE">
                <a:solidFill>
                  <a:srgbClr val="FFFFFF"/>
                </a:solidFill>
                <a:latin typeface="IBM Plex Sans"/>
              </a:rPr>
              <a:t>Bewerten</a:t>
            </a:r>
          </a:p>
        </p:txBody>
      </p:sp>
      <p:sp>
        <p:nvSpPr>
          <p:cNvPr id="46" name="TextBox 45"/>
          <p:cNvSpPr txBox="1"/>
          <p:nvPr/>
        </p:nvSpPr>
        <p:spPr>
          <a:xfrm>
            <a:off x="1603877" y="2822741"/>
            <a:ext cx="574984" cy="197758"/>
          </a:xfrm>
          <a:prstGeom prst="rect">
            <a:avLst/>
          </a:prstGeom>
          <a:noFill/>
        </p:spPr>
        <p:txBody>
          <a:bodyPr wrap="none" lIns="0" rIns="0" tIns="0" bIns="0" anchor="t">
            <a:noAutofit/>
          </a:bodyPr>
          <a:lstStyle/>
          <a:p>
            <a:pPr algn="r">
              <a:lnSpc>
                <a:spcPts val="1557"/>
              </a:lnSpc>
            </a:pPr>
            <a:r>
              <a:rPr sz="1197" b="0" i="0" lang="de-DE">
                <a:solidFill>
                  <a:srgbClr val="141A21"/>
                </a:solidFill>
                <a:latin typeface="IBM Plex Sans"/>
              </a:rPr>
              <a:t>Fold 3</a:t>
            </a:r>
          </a:p>
        </p:txBody>
      </p:sp>
      <p:sp>
        <p:nvSpPr>
          <p:cNvPr id="47" name="Rounded Rectangle 46"/>
          <p:cNvSpPr/>
          <p:nvPr/>
        </p:nvSpPr>
        <p:spPr>
          <a:xfrm>
            <a:off x="2311968" y="2779006"/>
            <a:ext cx="8937161" cy="285229"/>
          </a:xfrm>
          <a:prstGeom prst="roundRect">
            <a:avLst>
              <a:gd name="adj" fmla="val 13333"/>
            </a:avLst>
          </a:prstGeom>
          <a:solidFill>
            <a:srgbClr val="F1F4F7"/>
          </a:solidFill>
          <a:ln>
            <a:noFill/>
          </a:ln>
          <a:effectLst/>
        </p:spPr>
        <p:txBody>
          <a:bodyPr rtlCol="0" anchor="ctr"/>
          <a:lstStyle/>
          <a:p>
            <a:pPr algn="ctr"/>
          </a:p>
        </p:txBody>
      </p:sp>
      <p:sp>
        <p:nvSpPr>
          <p:cNvPr id="48" name="Rounded Rectangle 47"/>
          <p:cNvSpPr/>
          <p:nvPr/>
        </p:nvSpPr>
        <p:spPr>
          <a:xfrm>
            <a:off x="2321475" y="2779006"/>
            <a:ext cx="2959722" cy="285229"/>
          </a:xfrm>
          <a:prstGeom prst="roundRect">
            <a:avLst>
              <a:gd name="adj" fmla="val 13333"/>
            </a:avLst>
          </a:prstGeom>
          <a:solidFill>
            <a:srgbClr val="BBD7EA"/>
          </a:solidFill>
          <a:ln>
            <a:noFill/>
          </a:ln>
          <a:effectLst/>
        </p:spPr>
        <p:txBody>
          <a:bodyPr rtlCol="0" anchor="ctr"/>
          <a:lstStyle/>
          <a:p>
            <a:pPr algn="ctr"/>
          </a:p>
        </p:txBody>
      </p:sp>
      <p:sp>
        <p:nvSpPr>
          <p:cNvPr id="49" name="TextBox 48"/>
          <p:cNvSpPr txBox="1"/>
          <p:nvPr/>
        </p:nvSpPr>
        <p:spPr>
          <a:xfrm>
            <a:off x="3494501" y="2832486"/>
            <a:ext cx="614621" cy="185399"/>
          </a:xfrm>
          <a:prstGeom prst="rect">
            <a:avLst/>
          </a:prstGeom>
          <a:noFill/>
        </p:spPr>
        <p:txBody>
          <a:bodyPr wrap="none" lIns="0" rIns="0" tIns="0" bIns="0" anchor="t">
            <a:noAutofit/>
          </a:bodyPr>
          <a:lstStyle/>
          <a:p>
            <a:pPr algn="ctr">
              <a:lnSpc>
                <a:spcPts val="1459"/>
              </a:lnSpc>
            </a:pPr>
            <a:r>
              <a:rPr sz="1122" b="1" i="0" lang="de-DE">
                <a:solidFill>
                  <a:srgbClr val="04263F"/>
                </a:solidFill>
                <a:latin typeface="IBM Plex Sans"/>
              </a:rPr>
              <a:t>Lernen</a:t>
            </a:r>
          </a:p>
        </p:txBody>
      </p:sp>
      <p:sp>
        <p:nvSpPr>
          <p:cNvPr id="50" name="Rounded Rectangle 49"/>
          <p:cNvSpPr/>
          <p:nvPr/>
        </p:nvSpPr>
        <p:spPr>
          <a:xfrm>
            <a:off x="5300212" y="2779006"/>
            <a:ext cx="725431" cy="285229"/>
          </a:xfrm>
          <a:prstGeom prst="roundRect">
            <a:avLst>
              <a:gd name="adj" fmla="val 13333"/>
            </a:avLst>
          </a:prstGeom>
          <a:solidFill>
            <a:srgbClr val="084878"/>
          </a:solidFill>
          <a:ln>
            <a:noFill/>
          </a:ln>
          <a:effectLst/>
        </p:spPr>
        <p:txBody>
          <a:bodyPr rtlCol="0" anchor="ctr"/>
          <a:lstStyle/>
          <a:p>
            <a:pPr algn="ctr"/>
          </a:p>
        </p:txBody>
      </p:sp>
      <p:sp>
        <p:nvSpPr>
          <p:cNvPr id="51" name="TextBox 50"/>
          <p:cNvSpPr txBox="1"/>
          <p:nvPr/>
        </p:nvSpPr>
        <p:spPr>
          <a:xfrm>
            <a:off x="5252555" y="2832486"/>
            <a:ext cx="821697" cy="185399"/>
          </a:xfrm>
          <a:prstGeom prst="rect">
            <a:avLst/>
          </a:prstGeom>
          <a:noFill/>
        </p:spPr>
        <p:txBody>
          <a:bodyPr wrap="none" lIns="0" rIns="0" tIns="0" bIns="0" anchor="t">
            <a:noAutofit/>
          </a:bodyPr>
          <a:lstStyle/>
          <a:p>
            <a:pPr algn="ctr">
              <a:lnSpc>
                <a:spcPts val="1459"/>
              </a:lnSpc>
            </a:pPr>
            <a:r>
              <a:rPr sz="1122" b="1" i="0" lang="de-DE">
                <a:solidFill>
                  <a:srgbClr val="FFFFFF"/>
                </a:solidFill>
                <a:latin typeface="IBM Plex Sans"/>
              </a:rPr>
              <a:t>Bewerten</a:t>
            </a:r>
          </a:p>
        </p:txBody>
      </p:sp>
      <p:sp>
        <p:nvSpPr>
          <p:cNvPr id="52" name="TextBox 51"/>
          <p:cNvSpPr txBox="1"/>
          <p:nvPr/>
        </p:nvSpPr>
        <p:spPr>
          <a:xfrm>
            <a:off x="1394710" y="3203045"/>
            <a:ext cx="784151" cy="197758"/>
          </a:xfrm>
          <a:prstGeom prst="rect">
            <a:avLst/>
          </a:prstGeom>
          <a:noFill/>
        </p:spPr>
        <p:txBody>
          <a:bodyPr wrap="none" lIns="0" rIns="0" tIns="0" bIns="0" anchor="t">
            <a:noAutofit/>
          </a:bodyPr>
          <a:lstStyle/>
          <a:p>
            <a:pPr algn="r">
              <a:lnSpc>
                <a:spcPts val="1557"/>
              </a:lnSpc>
            </a:pPr>
            <a:r>
              <a:rPr sz="1197" b="0" i="0" lang="de-DE">
                <a:solidFill>
                  <a:srgbClr val="141A21"/>
                </a:solidFill>
                <a:latin typeface="IBM Plex Sans"/>
              </a:rPr>
              <a:t>Schwelle</a:t>
            </a:r>
          </a:p>
        </p:txBody>
      </p:sp>
      <p:sp>
        <p:nvSpPr>
          <p:cNvPr id="53" name="Rounded Rectangle 52"/>
          <p:cNvSpPr/>
          <p:nvPr/>
        </p:nvSpPr>
        <p:spPr>
          <a:xfrm>
            <a:off x="2311968" y="3159310"/>
            <a:ext cx="8937161" cy="285229"/>
          </a:xfrm>
          <a:prstGeom prst="roundRect">
            <a:avLst>
              <a:gd name="adj" fmla="val 13333"/>
            </a:avLst>
          </a:prstGeom>
          <a:solidFill>
            <a:srgbClr val="F1F4F7"/>
          </a:solidFill>
          <a:ln>
            <a:noFill/>
          </a:ln>
          <a:effectLst/>
        </p:spPr>
        <p:txBody>
          <a:bodyPr rtlCol="0" anchor="ctr"/>
          <a:lstStyle/>
          <a:p>
            <a:pPr algn="ctr"/>
          </a:p>
        </p:txBody>
      </p:sp>
      <p:sp>
        <p:nvSpPr>
          <p:cNvPr id="54" name="Rounded Rectangle 53"/>
          <p:cNvSpPr/>
          <p:nvPr/>
        </p:nvSpPr>
        <p:spPr>
          <a:xfrm>
            <a:off x="6045610" y="3159310"/>
            <a:ext cx="725431" cy="285229"/>
          </a:xfrm>
          <a:prstGeom prst="roundRect">
            <a:avLst>
              <a:gd name="adj" fmla="val 13333"/>
            </a:avLst>
          </a:prstGeom>
          <a:solidFill>
            <a:srgbClr val="A86505"/>
          </a:solidFill>
          <a:ln>
            <a:noFill/>
          </a:ln>
          <a:effectLst/>
        </p:spPr>
        <p:txBody>
          <a:bodyPr rtlCol="0" anchor="ctr"/>
          <a:lstStyle/>
          <a:p>
            <a:pPr algn="ctr"/>
          </a:p>
        </p:txBody>
      </p:sp>
      <p:sp>
        <p:nvSpPr>
          <p:cNvPr id="55" name="TextBox 54"/>
          <p:cNvSpPr txBox="1"/>
          <p:nvPr/>
        </p:nvSpPr>
        <p:spPr>
          <a:xfrm>
            <a:off x="3950700" y="3212791"/>
            <a:ext cx="1999834" cy="185399"/>
          </a:xfrm>
          <a:prstGeom prst="rect">
            <a:avLst/>
          </a:prstGeom>
          <a:noFill/>
        </p:spPr>
        <p:txBody>
          <a:bodyPr wrap="none" lIns="0" rIns="0" tIns="0" bIns="0" anchor="t">
            <a:noAutofit/>
          </a:bodyPr>
          <a:lstStyle/>
          <a:p>
            <a:pPr algn="r">
              <a:lnSpc>
                <a:spcPts val="1459"/>
              </a:lnSpc>
            </a:pPr>
            <a:r>
              <a:rPr sz="1122" b="1" i="0" lang="de-DE">
                <a:solidFill>
                  <a:srgbClr val="7F4C03"/>
                </a:solidFill>
                <a:latin typeface="IBM Plex Sans"/>
              </a:rPr>
              <a:t>Kalibrieren · 1.397 Fehler</a:t>
            </a:r>
          </a:p>
        </p:txBody>
      </p:sp>
      <p:sp>
        <p:nvSpPr>
          <p:cNvPr id="56" name="TextBox 55"/>
          <p:cNvSpPr txBox="1"/>
          <p:nvPr/>
        </p:nvSpPr>
        <p:spPr>
          <a:xfrm>
            <a:off x="986415" y="3583350"/>
            <a:ext cx="1192447" cy="197758"/>
          </a:xfrm>
          <a:prstGeom prst="rect">
            <a:avLst/>
          </a:prstGeom>
          <a:noFill/>
        </p:spPr>
        <p:txBody>
          <a:bodyPr wrap="none" lIns="0" rIns="0" tIns="0" bIns="0" anchor="t">
            <a:noAutofit/>
          </a:bodyPr>
          <a:lstStyle/>
          <a:p>
            <a:pPr algn="r">
              <a:lnSpc>
                <a:spcPts val="1557"/>
              </a:lnSpc>
            </a:pPr>
            <a:r>
              <a:rPr sz="1197" b="0" i="0" lang="de-DE">
                <a:solidFill>
                  <a:srgbClr val="141A21"/>
                </a:solidFill>
                <a:latin typeface="IBM Plex Sans"/>
              </a:rPr>
              <a:t>Finales Modell</a:t>
            </a:r>
          </a:p>
        </p:txBody>
      </p:sp>
      <p:sp>
        <p:nvSpPr>
          <p:cNvPr id="57" name="Rounded Rectangle 56"/>
          <p:cNvSpPr/>
          <p:nvPr/>
        </p:nvSpPr>
        <p:spPr>
          <a:xfrm>
            <a:off x="2311968" y="3539615"/>
            <a:ext cx="8937161" cy="285229"/>
          </a:xfrm>
          <a:prstGeom prst="roundRect">
            <a:avLst>
              <a:gd name="adj" fmla="val 13333"/>
            </a:avLst>
          </a:prstGeom>
          <a:solidFill>
            <a:srgbClr val="F1F4F7"/>
          </a:solidFill>
          <a:ln>
            <a:noFill/>
          </a:ln>
          <a:effectLst/>
        </p:spPr>
        <p:txBody>
          <a:bodyPr rtlCol="0" anchor="ctr"/>
          <a:lstStyle/>
          <a:p>
            <a:pPr algn="ctr"/>
          </a:p>
        </p:txBody>
      </p:sp>
      <p:sp>
        <p:nvSpPr>
          <p:cNvPr id="58" name="Rounded Rectangle 57"/>
          <p:cNvSpPr/>
          <p:nvPr/>
        </p:nvSpPr>
        <p:spPr>
          <a:xfrm>
            <a:off x="2321475" y="3539615"/>
            <a:ext cx="4449566" cy="285229"/>
          </a:xfrm>
          <a:prstGeom prst="roundRect">
            <a:avLst>
              <a:gd name="adj" fmla="val 13333"/>
            </a:avLst>
          </a:prstGeom>
          <a:solidFill>
            <a:srgbClr val="BBD7EA"/>
          </a:solidFill>
          <a:ln>
            <a:noFill/>
          </a:ln>
          <a:effectLst/>
        </p:spPr>
        <p:txBody>
          <a:bodyPr rtlCol="0" anchor="ctr"/>
          <a:lstStyle/>
          <a:p>
            <a:pPr algn="ctr"/>
          </a:p>
        </p:txBody>
      </p:sp>
      <p:sp>
        <p:nvSpPr>
          <p:cNvPr id="59" name="TextBox 58"/>
          <p:cNvSpPr txBox="1"/>
          <p:nvPr/>
        </p:nvSpPr>
        <p:spPr>
          <a:xfrm>
            <a:off x="3790283" y="3593096"/>
            <a:ext cx="1511950" cy="185399"/>
          </a:xfrm>
          <a:prstGeom prst="rect">
            <a:avLst/>
          </a:prstGeom>
          <a:noFill/>
        </p:spPr>
        <p:txBody>
          <a:bodyPr wrap="none" lIns="0" rIns="0" tIns="0" bIns="0" anchor="t">
            <a:noAutofit/>
          </a:bodyPr>
          <a:lstStyle/>
          <a:p>
            <a:pPr algn="ctr">
              <a:lnSpc>
                <a:spcPts val="1459"/>
              </a:lnSpc>
            </a:pPr>
            <a:r>
              <a:rPr sz="1122" b="1" i="0" lang="de-DE">
                <a:solidFill>
                  <a:srgbClr val="04263F"/>
                </a:solidFill>
                <a:latin typeface="IBM Plex Sans"/>
              </a:rPr>
              <a:t>Lernen · ganz 2024</a:t>
            </a:r>
          </a:p>
        </p:txBody>
      </p:sp>
      <p:sp>
        <p:nvSpPr>
          <p:cNvPr id="60" name="Rounded Rectangle 59"/>
          <p:cNvSpPr/>
          <p:nvPr/>
        </p:nvSpPr>
        <p:spPr>
          <a:xfrm>
            <a:off x="6790056" y="3539615"/>
            <a:ext cx="4449566" cy="285229"/>
          </a:xfrm>
          <a:prstGeom prst="roundRect">
            <a:avLst>
              <a:gd name="adj" fmla="val 13333"/>
            </a:avLst>
          </a:prstGeom>
          <a:solidFill>
            <a:srgbClr val="0080A0"/>
          </a:solidFill>
          <a:ln>
            <a:noFill/>
          </a:ln>
          <a:effectLst/>
        </p:spPr>
        <p:txBody>
          <a:bodyPr rtlCol="0" anchor="ctr"/>
          <a:lstStyle/>
          <a:p>
            <a:pPr algn="ctr"/>
          </a:p>
        </p:txBody>
      </p:sp>
      <p:sp>
        <p:nvSpPr>
          <p:cNvPr id="61" name="TextBox 60"/>
          <p:cNvSpPr txBox="1"/>
          <p:nvPr/>
        </p:nvSpPr>
        <p:spPr>
          <a:xfrm>
            <a:off x="7378791" y="3593096"/>
            <a:ext cx="3272096" cy="185399"/>
          </a:xfrm>
          <a:prstGeom prst="rect">
            <a:avLst/>
          </a:prstGeom>
          <a:noFill/>
        </p:spPr>
        <p:txBody>
          <a:bodyPr wrap="none" lIns="0" rIns="0" tIns="0" bIns="0" anchor="t">
            <a:noAutofit/>
          </a:bodyPr>
          <a:lstStyle/>
          <a:p>
            <a:pPr algn="ctr">
              <a:lnSpc>
                <a:spcPts val="1459"/>
              </a:lnSpc>
            </a:pPr>
            <a:r>
              <a:rPr sz="1122" b="1" i="0" lang="de-DE">
                <a:solidFill>
                  <a:srgbClr val="FFFFFF"/>
                </a:solidFill>
                <a:latin typeface="IBM Plex Sans"/>
              </a:rPr>
              <a:t>Anwenden auf 2025 · 8.398 Zähler-Monate</a:t>
            </a:r>
          </a:p>
        </p:txBody>
      </p:sp>
      <p:cxnSp>
        <p:nvCxnSpPr>
          <p:cNvPr id="62" name="Connector 61"/>
          <p:cNvCxnSpPr/>
          <p:nvPr/>
        </p:nvCxnSpPr>
        <p:spPr>
          <a:xfrm>
            <a:off x="6780549" y="1752183"/>
            <a:ext cx="0" cy="2129706"/>
          </a:xfrm>
          <a:prstGeom prst="line">
            <a:avLst/>
          </a:prstGeom>
          <a:ln w="14261">
            <a:solidFill>
              <a:srgbClr val="141A21"/>
            </a:solidFill>
            <a:prstDash val="dash"/>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6647442" y="3168818"/>
            <a:ext cx="266213" cy="266213"/>
          </a:xfrm>
          <a:prstGeom prst="ellipse">
            <a:avLst/>
          </a:prstGeom>
          <a:solidFill>
            <a:srgbClr val="084878"/>
          </a:solidFill>
          <a:ln w="19015">
            <a:solidFill>
              <a:srgbClr val="FFFFFF"/>
            </a:solidFill>
          </a:ln>
          <a:effectLst/>
        </p:spPr>
        <p:txBody>
          <a:bodyPr rtlCol="0" anchor="ctr"/>
          <a:lstStyle/>
          <a:p>
            <a:pPr algn="ctr"/>
          </a:p>
        </p:txBody>
      </p:sp>
      <p:pic>
        <p:nvPicPr>
          <p:cNvPr id="64" name="Icon lock" descr="lock__FFFFFF.png"/>
          <p:cNvPicPr>
            <a:picLocks noChangeAspect="1"/>
          </p:cNvPicPr>
          <p:nvPr/>
        </p:nvPicPr>
        <p:blipFill>
          <a:blip r:embed="rId4"/>
          <a:stretch>
            <a:fillRect/>
          </a:stretch>
        </p:blipFill>
        <p:spPr>
          <a:xfrm>
            <a:off x="6704488" y="3225864"/>
            <a:ext cx="152122" cy="152122"/>
          </a:xfrm>
          <a:prstGeom prst="rect">
            <a:avLst/>
          </a:prstGeom>
        </p:spPr>
      </p:pic>
      <p:sp>
        <p:nvSpPr>
          <p:cNvPr id="65" name="TextBox 64"/>
          <p:cNvSpPr txBox="1"/>
          <p:nvPr/>
        </p:nvSpPr>
        <p:spPr>
          <a:xfrm>
            <a:off x="6989716" y="3213028"/>
            <a:ext cx="901285" cy="173039"/>
          </a:xfrm>
          <a:prstGeom prst="rect">
            <a:avLst/>
          </a:prstGeom>
          <a:noFill/>
        </p:spPr>
        <p:txBody>
          <a:bodyPr wrap="none" lIns="0" rIns="0" tIns="0" bIns="0" anchor="t">
            <a:noAutofit/>
          </a:bodyPr>
          <a:lstStyle/>
          <a:p>
            <a:pPr algn="l">
              <a:lnSpc>
                <a:spcPts val="1362"/>
              </a:lnSpc>
            </a:pPr>
            <a:r>
              <a:rPr sz="1048" b="1" i="0" lang="de-DE">
                <a:solidFill>
                  <a:srgbClr val="084878"/>
                </a:solidFill>
                <a:latin typeface="IBM Plex Sans"/>
              </a:rPr>
              <a:t>eingefroren</a:t>
            </a:r>
          </a:p>
        </p:txBody>
      </p:sp>
      <p:sp>
        <p:nvSpPr>
          <p:cNvPr id="66" name="Rounded Rectangle 65"/>
          <p:cNvSpPr/>
          <p:nvPr/>
        </p:nvSpPr>
        <p:spPr>
          <a:xfrm>
            <a:off x="685800" y="4196715"/>
            <a:ext cx="3505200" cy="1037272"/>
          </a:xfrm>
          <a:prstGeom prst="roundRect">
            <a:avLst>
              <a:gd name="adj" fmla="val 9182"/>
            </a:avLst>
          </a:prstGeom>
          <a:solidFill>
            <a:srgbClr val="FFFFFF"/>
          </a:solidFill>
          <a:ln w="9525">
            <a:solidFill>
              <a:srgbClr val="D2DAE2"/>
            </a:solidFill>
          </a:ln>
          <a:effectLst/>
        </p:spPr>
        <p:txBody>
          <a:bodyPr rtlCol="0" anchor="ctr"/>
          <a:lstStyle/>
          <a:p>
            <a:pPr algn="ctr"/>
          </a:p>
        </p:txBody>
      </p:sp>
      <p:grpSp>
        <p:nvGrpSpPr>
          <p:cNvPr id="67" name="Scheibe history"/>
          <p:cNvGrpSpPr/>
          <p:nvPr/>
        </p:nvGrpSpPr>
        <p:grpSpPr>
          <a:xfrm>
            <a:off x="828675" y="4311015"/>
            <a:ext cx="323850" cy="323850"/>
            <a:chOff x="828675" y="4311015"/>
            <a:chExt cx="323850" cy="323850"/>
          </a:xfrm>
        </p:grpSpPr>
        <p:sp>
          <p:nvSpPr>
            <p:cNvPr id="68" name="Oval 67"/>
            <p:cNvSpPr/>
            <p:nvPr/>
          </p:nvSpPr>
          <p:spPr>
            <a:xfrm>
              <a:off x="828675" y="4311015"/>
              <a:ext cx="323850" cy="323850"/>
            </a:xfrm>
            <a:prstGeom prst="ellipse">
              <a:avLst/>
            </a:prstGeom>
            <a:solidFill>
              <a:srgbClr val="084878"/>
            </a:solidFill>
            <a:ln>
              <a:noFill/>
            </a:ln>
            <a:effectLst/>
          </p:spPr>
          <p:txBody>
            <a:bodyPr rtlCol="0" anchor="ctr"/>
            <a:lstStyle/>
            <a:p>
              <a:pPr algn="ctr"/>
            </a:p>
          </p:txBody>
        </p:sp>
        <p:pic>
          <p:nvPicPr>
            <p:cNvPr id="69" name="Picture 68" descr="history__FFFFFF.png"/>
            <p:cNvPicPr>
              <a:picLocks noChangeAspect="1"/>
            </p:cNvPicPr>
            <p:nvPr/>
          </p:nvPicPr>
          <p:blipFill>
            <a:blip r:embed="rId3"/>
            <a:stretch>
              <a:fillRect/>
            </a:stretch>
          </p:blipFill>
          <p:spPr>
            <a:xfrm>
              <a:off x="906399" y="4388739"/>
              <a:ext cx="168402" cy="168402"/>
            </a:xfrm>
            <a:prstGeom prst="rect">
              <a:avLst/>
            </a:prstGeom>
          </p:spPr>
        </p:pic>
      </p:grpSp>
      <p:sp>
        <p:nvSpPr>
          <p:cNvPr id="70" name="TextBox 69"/>
          <p:cNvSpPr txBox="1"/>
          <p:nvPr/>
        </p:nvSpPr>
        <p:spPr>
          <a:xfrm>
            <a:off x="1285875" y="4320540"/>
            <a:ext cx="2762250"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3-Monats-Mittel neu berechnet</a:t>
            </a:r>
          </a:p>
        </p:txBody>
      </p:sp>
      <p:sp>
        <p:nvSpPr>
          <p:cNvPr id="71" name="TextBox 70"/>
          <p:cNvSpPr txBox="1"/>
          <p:nvPr/>
        </p:nvSpPr>
        <p:spPr>
          <a:xfrm>
            <a:off x="1285875" y="4539615"/>
            <a:ext cx="2762250" cy="646748"/>
          </a:xfrm>
          <a:prstGeom prst="rect">
            <a:avLst/>
          </a:prstGeom>
          <a:noFill/>
        </p:spPr>
        <p:txBody>
          <a:bodyPr wrap="square" lIns="0" rIns="0" tIns="0" bIns="0" anchor="t">
            <a:noAutofit/>
          </a:bodyPr>
          <a:lstStyle/>
          <a:p>
            <a:pPr algn="l">
              <a:lnSpc>
                <a:spcPts val="1522"/>
              </a:lnSpc>
            </a:pPr>
            <a:r>
              <a:rPr sz="1087" b="0" i="0" lang="de-DE">
                <a:solidFill>
                  <a:srgbClr val="4E5A68"/>
                </a:solidFill>
                <a:latin typeface="IBM Plex Sans"/>
              </a:rPr>
              <a:t>Die gelieferte Spalte enthielt spätere Werte (Leakage). Jetzt je Zähler nur abgeschlossene Monate.</a:t>
            </a:r>
          </a:p>
        </p:txBody>
      </p:sp>
      <p:sp>
        <p:nvSpPr>
          <p:cNvPr id="72" name="Rounded Rectangle 71"/>
          <p:cNvSpPr/>
          <p:nvPr/>
        </p:nvSpPr>
        <p:spPr>
          <a:xfrm>
            <a:off x="4343400" y="4196715"/>
            <a:ext cx="3505200" cy="1037272"/>
          </a:xfrm>
          <a:prstGeom prst="roundRect">
            <a:avLst>
              <a:gd name="adj" fmla="val 9182"/>
            </a:avLst>
          </a:prstGeom>
          <a:solidFill>
            <a:srgbClr val="FFFFFF"/>
          </a:solidFill>
          <a:ln w="9525">
            <a:solidFill>
              <a:srgbClr val="D2DAE2"/>
            </a:solidFill>
          </a:ln>
          <a:effectLst/>
        </p:spPr>
        <p:txBody>
          <a:bodyPr rtlCol="0" anchor="ctr"/>
          <a:lstStyle/>
          <a:p>
            <a:pPr algn="ctr"/>
          </a:p>
        </p:txBody>
      </p:sp>
      <p:grpSp>
        <p:nvGrpSpPr>
          <p:cNvPr id="73" name="Scheibe workflow"/>
          <p:cNvGrpSpPr/>
          <p:nvPr/>
        </p:nvGrpSpPr>
        <p:grpSpPr>
          <a:xfrm>
            <a:off x="4486275" y="4311015"/>
            <a:ext cx="323850" cy="323850"/>
            <a:chOff x="4486275" y="4311015"/>
            <a:chExt cx="323850" cy="323850"/>
          </a:xfrm>
        </p:grpSpPr>
        <p:sp>
          <p:nvSpPr>
            <p:cNvPr id="74" name="Oval 73"/>
            <p:cNvSpPr/>
            <p:nvPr/>
          </p:nvSpPr>
          <p:spPr>
            <a:xfrm>
              <a:off x="4486275" y="4311015"/>
              <a:ext cx="323850" cy="323850"/>
            </a:xfrm>
            <a:prstGeom prst="ellipse">
              <a:avLst/>
            </a:prstGeom>
            <a:solidFill>
              <a:srgbClr val="084878"/>
            </a:solidFill>
            <a:ln>
              <a:noFill/>
            </a:ln>
            <a:effectLst/>
          </p:spPr>
          <p:txBody>
            <a:bodyPr rtlCol="0" anchor="ctr"/>
            <a:lstStyle/>
            <a:p>
              <a:pPr algn="ctr"/>
            </a:p>
          </p:txBody>
        </p:sp>
        <p:pic>
          <p:nvPicPr>
            <p:cNvPr id="75" name="Picture 74" descr="workflow__FFFFFF.png"/>
            <p:cNvPicPr>
              <a:picLocks noChangeAspect="1"/>
            </p:cNvPicPr>
            <p:nvPr/>
          </p:nvPicPr>
          <p:blipFill>
            <a:blip r:embed="rId5"/>
            <a:stretch>
              <a:fillRect/>
            </a:stretch>
          </p:blipFill>
          <p:spPr>
            <a:xfrm>
              <a:off x="4563999" y="4388739"/>
              <a:ext cx="168402" cy="168402"/>
            </a:xfrm>
            <a:prstGeom prst="rect">
              <a:avLst/>
            </a:prstGeom>
          </p:spPr>
        </p:pic>
      </p:grpSp>
      <p:sp>
        <p:nvSpPr>
          <p:cNvPr id="76" name="TextBox 75"/>
          <p:cNvSpPr txBox="1"/>
          <p:nvPr/>
        </p:nvSpPr>
        <p:spPr>
          <a:xfrm>
            <a:off x="4943475" y="4320540"/>
            <a:ext cx="2762250"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Pipeline je Fold</a:t>
            </a:r>
          </a:p>
        </p:txBody>
      </p:sp>
      <p:sp>
        <p:nvSpPr>
          <p:cNvPr id="77" name="TextBox 76"/>
          <p:cNvSpPr txBox="1"/>
          <p:nvPr/>
        </p:nvSpPr>
        <p:spPr>
          <a:xfrm>
            <a:off x="4943475" y="4539615"/>
            <a:ext cx="2762250" cy="646748"/>
          </a:xfrm>
          <a:prstGeom prst="rect">
            <a:avLst/>
          </a:prstGeom>
          <a:noFill/>
        </p:spPr>
        <p:txBody>
          <a:bodyPr wrap="square" lIns="0" rIns="0" tIns="0" bIns="0" anchor="t">
            <a:noAutofit/>
          </a:bodyPr>
          <a:lstStyle/>
          <a:p>
            <a:pPr algn="l">
              <a:lnSpc>
                <a:spcPts val="1522"/>
              </a:lnSpc>
            </a:pPr>
            <a:r>
              <a:rPr sz="1087" b="0" i="0" lang="de-DE">
                <a:solidFill>
                  <a:srgbClr val="4E5A68"/>
                </a:solidFill>
                <a:latin typeface="IBM Plex Sans"/>
              </a:rPr>
              <a:t>Auch das Auffüllen fehlender Werte lernt nur aus dem jeweiligen Lernblock.</a:t>
            </a:r>
          </a:p>
        </p:txBody>
      </p:sp>
      <p:sp>
        <p:nvSpPr>
          <p:cNvPr id="78" name="Rounded Rectangle 77"/>
          <p:cNvSpPr/>
          <p:nvPr/>
        </p:nvSpPr>
        <p:spPr>
          <a:xfrm>
            <a:off x="8001000" y="4196715"/>
            <a:ext cx="3505200" cy="1037272"/>
          </a:xfrm>
          <a:prstGeom prst="roundRect">
            <a:avLst>
              <a:gd name="adj" fmla="val 9182"/>
            </a:avLst>
          </a:prstGeom>
          <a:solidFill>
            <a:srgbClr val="FFFFFF"/>
          </a:solidFill>
          <a:ln w="9525">
            <a:solidFill>
              <a:srgbClr val="D2DAE2"/>
            </a:solidFill>
          </a:ln>
          <a:effectLst/>
        </p:spPr>
        <p:txBody>
          <a:bodyPr rtlCol="0" anchor="ctr"/>
          <a:lstStyle/>
          <a:p>
            <a:pPr algn="ctr"/>
          </a:p>
        </p:txBody>
      </p:sp>
      <p:grpSp>
        <p:nvGrpSpPr>
          <p:cNvPr id="79" name="Scheibe lock"/>
          <p:cNvGrpSpPr/>
          <p:nvPr/>
        </p:nvGrpSpPr>
        <p:grpSpPr>
          <a:xfrm>
            <a:off x="8143875" y="4311015"/>
            <a:ext cx="323850" cy="323850"/>
            <a:chOff x="8143875" y="4311015"/>
            <a:chExt cx="323850" cy="323850"/>
          </a:xfrm>
        </p:grpSpPr>
        <p:sp>
          <p:nvSpPr>
            <p:cNvPr id="80" name="Oval 79"/>
            <p:cNvSpPr/>
            <p:nvPr/>
          </p:nvSpPr>
          <p:spPr>
            <a:xfrm>
              <a:off x="8143875" y="4311015"/>
              <a:ext cx="323850" cy="323850"/>
            </a:xfrm>
            <a:prstGeom prst="ellipse">
              <a:avLst/>
            </a:prstGeom>
            <a:solidFill>
              <a:srgbClr val="084878"/>
            </a:solidFill>
            <a:ln>
              <a:noFill/>
            </a:ln>
            <a:effectLst/>
          </p:spPr>
          <p:txBody>
            <a:bodyPr rtlCol="0" anchor="ctr"/>
            <a:lstStyle/>
            <a:p>
              <a:pPr algn="ctr"/>
            </a:p>
          </p:txBody>
        </p:sp>
        <p:pic>
          <p:nvPicPr>
            <p:cNvPr id="81" name="Picture 80" descr="lock__FFFFFF.png"/>
            <p:cNvPicPr>
              <a:picLocks noChangeAspect="1"/>
            </p:cNvPicPr>
            <p:nvPr/>
          </p:nvPicPr>
          <p:blipFill>
            <a:blip r:embed="rId4"/>
            <a:stretch>
              <a:fillRect/>
            </a:stretch>
          </p:blipFill>
          <p:spPr>
            <a:xfrm>
              <a:off x="8221599" y="4388739"/>
              <a:ext cx="168402" cy="168402"/>
            </a:xfrm>
            <a:prstGeom prst="rect">
              <a:avLst/>
            </a:prstGeom>
          </p:spPr>
        </p:pic>
      </p:grpSp>
      <p:sp>
        <p:nvSpPr>
          <p:cNvPr id="82" name="TextBox 81"/>
          <p:cNvSpPr txBox="1"/>
          <p:nvPr/>
        </p:nvSpPr>
        <p:spPr>
          <a:xfrm>
            <a:off x="8601075" y="4320540"/>
            <a:ext cx="2762250"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2025 entscheidet nichts</a:t>
            </a:r>
          </a:p>
        </p:txBody>
      </p:sp>
      <p:sp>
        <p:nvSpPr>
          <p:cNvPr id="83" name="TextBox 82"/>
          <p:cNvSpPr txBox="1"/>
          <p:nvPr/>
        </p:nvSpPr>
        <p:spPr>
          <a:xfrm>
            <a:off x="8601075" y="4539615"/>
            <a:ext cx="2762250" cy="646748"/>
          </a:xfrm>
          <a:prstGeom prst="rect">
            <a:avLst/>
          </a:prstGeom>
          <a:noFill/>
        </p:spPr>
        <p:txBody>
          <a:bodyPr wrap="square" lIns="0" rIns="0" tIns="0" bIns="0" anchor="t">
            <a:noAutofit/>
          </a:bodyPr>
          <a:lstStyle/>
          <a:p>
            <a:pPr algn="l">
              <a:lnSpc>
                <a:spcPts val="1522"/>
              </a:lnSpc>
            </a:pPr>
            <a:r>
              <a:rPr sz="1087" b="0" i="0" lang="de-DE">
                <a:solidFill>
                  <a:srgbClr val="4E5A68"/>
                </a:solidFill>
                <a:latin typeface="IBM Plex Sans"/>
              </a:rPr>
              <a:t>Modell, Einstellungen und Schwelle stehen fest, bevor 2025 bewertet wird.</a:t>
            </a:r>
          </a:p>
        </p:txBody>
      </p:sp>
      <p:sp>
        <p:nvSpPr>
          <p:cNvPr id="84" name="Rounded Rectangle 83"/>
          <p:cNvSpPr/>
          <p:nvPr/>
        </p:nvSpPr>
        <p:spPr>
          <a:xfrm>
            <a:off x="685800" y="5386388"/>
            <a:ext cx="10820400" cy="438150"/>
          </a:xfrm>
          <a:prstGeom prst="roundRect">
            <a:avLst>
              <a:gd name="adj" fmla="val 21739"/>
            </a:avLst>
          </a:prstGeom>
          <a:solidFill>
            <a:srgbClr val="F7F9FB"/>
          </a:solidFill>
          <a:ln w="9525">
            <a:solidFill>
              <a:srgbClr val="E4E9EF"/>
            </a:solidFill>
          </a:ln>
          <a:effectLst/>
        </p:spPr>
        <p:txBody>
          <a:bodyPr rtlCol="0" anchor="ctr"/>
          <a:lstStyle/>
          <a:p>
            <a:pPr algn="ctr"/>
          </a:p>
        </p:txBody>
      </p:sp>
      <p:grpSp>
        <p:nvGrpSpPr>
          <p:cNvPr id="85" name="Scheibe ban"/>
          <p:cNvGrpSpPr/>
          <p:nvPr/>
        </p:nvGrpSpPr>
        <p:grpSpPr>
          <a:xfrm>
            <a:off x="835819" y="5469731"/>
            <a:ext cx="271462" cy="271462"/>
            <a:chOff x="835819" y="5469731"/>
            <a:chExt cx="271462" cy="271462"/>
          </a:xfrm>
        </p:grpSpPr>
        <p:sp>
          <p:nvSpPr>
            <p:cNvPr id="86" name="Oval 85"/>
            <p:cNvSpPr/>
            <p:nvPr/>
          </p:nvSpPr>
          <p:spPr>
            <a:xfrm>
              <a:off x="835819" y="5469731"/>
              <a:ext cx="271462" cy="271462"/>
            </a:xfrm>
            <a:prstGeom prst="ellipse">
              <a:avLst/>
            </a:prstGeom>
            <a:solidFill>
              <a:srgbClr val="FFFFFF"/>
            </a:solidFill>
            <a:ln w="14287">
              <a:solidFill>
                <a:srgbClr val="D2DAE2"/>
              </a:solidFill>
            </a:ln>
            <a:effectLst/>
          </p:spPr>
          <p:txBody>
            <a:bodyPr rtlCol="0" anchor="ctr"/>
            <a:lstStyle/>
            <a:p>
              <a:pPr algn="ctr"/>
            </a:p>
          </p:txBody>
        </p:sp>
        <p:pic>
          <p:nvPicPr>
            <p:cNvPr id="87" name="Picture 86" descr="ban__8A96A3.png"/>
            <p:cNvPicPr>
              <a:picLocks noChangeAspect="1"/>
            </p:cNvPicPr>
            <p:nvPr/>
          </p:nvPicPr>
          <p:blipFill>
            <a:blip r:embed="rId6"/>
            <a:stretch>
              <a:fillRect/>
            </a:stretch>
          </p:blipFill>
          <p:spPr>
            <a:xfrm>
              <a:off x="897255" y="5531168"/>
              <a:ext cx="148590" cy="148590"/>
            </a:xfrm>
            <a:prstGeom prst="rect">
              <a:avLst/>
            </a:prstGeom>
          </p:spPr>
        </p:pic>
      </p:grpSp>
      <p:sp>
        <p:nvSpPr>
          <p:cNvPr id="88" name="TextBox 87"/>
          <p:cNvSpPr txBox="1"/>
          <p:nvPr/>
        </p:nvSpPr>
        <p:spPr>
          <a:xfrm>
            <a:off x="1190625" y="5524500"/>
            <a:ext cx="2095500" cy="161925"/>
          </a:xfrm>
          <a:prstGeom prst="rect">
            <a:avLst/>
          </a:prstGeom>
          <a:noFill/>
        </p:spPr>
        <p:txBody>
          <a:bodyPr wrap="none" lIns="0" rIns="0" tIns="0" bIns="0" anchor="t">
            <a:noAutofit/>
          </a:bodyPr>
          <a:lstStyle/>
          <a:p>
            <a:pPr algn="l">
              <a:lnSpc>
                <a:spcPts val="1275"/>
              </a:lnSpc>
            </a:pPr>
            <a:r>
              <a:rPr sz="975" b="1" i="0" lang="de-DE" spc="78">
                <a:solidFill>
                  <a:srgbClr val="657383"/>
                </a:solidFill>
                <a:latin typeface="IBM Plex Sans"/>
              </a:rPr>
              <a:t>NICHT IM MODELL</a:t>
            </a:r>
          </a:p>
        </p:txBody>
      </p:sp>
      <p:sp>
        <p:nvSpPr>
          <p:cNvPr id="89" name="Rounded Rectangle 88"/>
          <p:cNvSpPr/>
          <p:nvPr/>
        </p:nvSpPr>
        <p:spPr>
          <a:xfrm>
            <a:off x="2534507" y="5472112"/>
            <a:ext cx="2005965" cy="266700"/>
          </a:xfrm>
          <a:prstGeom prst="roundRect">
            <a:avLst>
              <a:gd name="adj" fmla="val 50000"/>
            </a:avLst>
          </a:prstGeom>
          <a:solidFill>
            <a:srgbClr val="FFFFFF"/>
          </a:solidFill>
          <a:ln w="9525">
            <a:solidFill>
              <a:srgbClr val="E4E9EF"/>
            </a:solidFill>
          </a:ln>
          <a:effectLst/>
        </p:spPr>
        <p:txBody>
          <a:bodyPr rtlCol="0" anchor="ctr"/>
          <a:lstStyle/>
          <a:p>
            <a:pPr algn="ctr"/>
          </a:p>
        </p:txBody>
      </p:sp>
      <p:sp>
        <p:nvSpPr>
          <p:cNvPr id="90" name="TextBox 89"/>
          <p:cNvSpPr txBox="1"/>
          <p:nvPr/>
        </p:nvSpPr>
        <p:spPr>
          <a:xfrm>
            <a:off x="2648807" y="5472112"/>
            <a:ext cx="2080832" cy="266700"/>
          </a:xfrm>
          <a:prstGeom prst="rect">
            <a:avLst/>
          </a:prstGeom>
          <a:noFill/>
        </p:spPr>
        <p:txBody>
          <a:bodyPr wrap="none" lIns="0" rIns="0" tIns="0" bIns="0" anchor="ctr">
            <a:noAutofit/>
          </a:bodyPr>
          <a:lstStyle/>
          <a:p>
            <a:pPr algn="l">
              <a:lnSpc>
                <a:spcPts val="1350"/>
              </a:lnSpc>
            </a:pPr>
            <a:r>
              <a:rPr sz="1050" b="1" i="0" lang="de-DE">
                <a:solidFill>
                  <a:srgbClr val="141A21"/>
                </a:solidFill>
                <a:latin typeface="IBM Plex Sans"/>
              </a:rPr>
              <a:t>Vorjahr:</a:t>
            </a:r>
            <a:r>
              <a:rPr sz="1050" b="0" i="0" lang="de-DE">
                <a:solidFill>
                  <a:srgbClr val="4E5A68"/>
                </a:solidFill>
                <a:latin typeface="IBM Plex Sans"/>
              </a:rPr>
              <a:t>  keine Historie 2023</a:t>
            </a:r>
          </a:p>
        </p:txBody>
      </p:sp>
      <p:sp>
        <p:nvSpPr>
          <p:cNvPr id="91" name="Rounded Rectangle 90"/>
          <p:cNvSpPr/>
          <p:nvPr/>
        </p:nvSpPr>
        <p:spPr>
          <a:xfrm>
            <a:off x="4616672" y="5472112"/>
            <a:ext cx="1993964" cy="266700"/>
          </a:xfrm>
          <a:prstGeom prst="roundRect">
            <a:avLst>
              <a:gd name="adj" fmla="val 50000"/>
            </a:avLst>
          </a:prstGeom>
          <a:solidFill>
            <a:srgbClr val="FFFFFF"/>
          </a:solidFill>
          <a:ln w="9525">
            <a:solidFill>
              <a:srgbClr val="E4E9EF"/>
            </a:solidFill>
          </a:ln>
          <a:effectLst/>
        </p:spPr>
        <p:txBody>
          <a:bodyPr rtlCol="0" anchor="ctr"/>
          <a:lstStyle/>
          <a:p>
            <a:pPr algn="ctr"/>
          </a:p>
        </p:txBody>
      </p:sp>
      <p:sp>
        <p:nvSpPr>
          <p:cNvPr id="92" name="TextBox 91"/>
          <p:cNvSpPr txBox="1"/>
          <p:nvPr/>
        </p:nvSpPr>
        <p:spPr>
          <a:xfrm>
            <a:off x="4730972" y="5472112"/>
            <a:ext cx="2067630" cy="266700"/>
          </a:xfrm>
          <a:prstGeom prst="rect">
            <a:avLst/>
          </a:prstGeom>
          <a:noFill/>
        </p:spPr>
        <p:txBody>
          <a:bodyPr wrap="none" lIns="0" rIns="0" tIns="0" bIns="0" anchor="ctr">
            <a:noAutofit/>
          </a:bodyPr>
          <a:lstStyle/>
          <a:p>
            <a:pPr algn="l">
              <a:lnSpc>
                <a:spcPts val="1350"/>
              </a:lnSpc>
            </a:pPr>
            <a:r>
              <a:rPr sz="1050" b="1" i="0" lang="de-DE">
                <a:solidFill>
                  <a:srgbClr val="141A21"/>
                </a:solidFill>
                <a:latin typeface="IBM Plex Sans"/>
              </a:rPr>
              <a:t>Temperatur</a:t>
            </a:r>
            <a:r>
              <a:rPr sz="1050" b="0" i="0" lang="de-DE">
                <a:solidFill>
                  <a:srgbClr val="4E5A68"/>
                </a:solidFill>
                <a:latin typeface="IBM Plex Sans"/>
              </a:rPr>
              <a:t>  ≈ Heizgradtage</a:t>
            </a:r>
          </a:p>
        </p:txBody>
      </p:sp>
      <p:sp>
        <p:nvSpPr>
          <p:cNvPr id="93" name="Rounded Rectangle 92"/>
          <p:cNvSpPr/>
          <p:nvPr/>
        </p:nvSpPr>
        <p:spPr>
          <a:xfrm>
            <a:off x="6686836" y="5472112"/>
            <a:ext cx="1693926" cy="266700"/>
          </a:xfrm>
          <a:prstGeom prst="roundRect">
            <a:avLst>
              <a:gd name="adj" fmla="val 50000"/>
            </a:avLst>
          </a:prstGeom>
          <a:solidFill>
            <a:srgbClr val="FFFFFF"/>
          </a:solidFill>
          <a:ln w="9525">
            <a:solidFill>
              <a:srgbClr val="E4E9EF"/>
            </a:solidFill>
          </a:ln>
          <a:effectLst/>
        </p:spPr>
        <p:txBody>
          <a:bodyPr rtlCol="0" anchor="ctr"/>
          <a:lstStyle/>
          <a:p>
            <a:pPr algn="ctr"/>
          </a:p>
        </p:txBody>
      </p:sp>
      <p:sp>
        <p:nvSpPr>
          <p:cNvPr id="94" name="TextBox 93"/>
          <p:cNvSpPr txBox="1"/>
          <p:nvPr/>
        </p:nvSpPr>
        <p:spPr>
          <a:xfrm>
            <a:off x="6801136" y="5472112"/>
            <a:ext cx="1737589" cy="266700"/>
          </a:xfrm>
          <a:prstGeom prst="rect">
            <a:avLst/>
          </a:prstGeom>
          <a:noFill/>
        </p:spPr>
        <p:txBody>
          <a:bodyPr wrap="none" lIns="0" rIns="0" tIns="0" bIns="0" anchor="ctr">
            <a:noAutofit/>
          </a:bodyPr>
          <a:lstStyle/>
          <a:p>
            <a:pPr algn="l">
              <a:lnSpc>
                <a:spcPts val="1350"/>
              </a:lnSpc>
            </a:pPr>
            <a:r>
              <a:rPr sz="1050" b="1" i="0" lang="de-DE">
                <a:solidFill>
                  <a:srgbClr val="141A21"/>
                </a:solidFill>
                <a:latin typeface="IBM Plex Sans"/>
              </a:rPr>
              <a:t>„anomalie“:</a:t>
            </a:r>
            <a:r>
              <a:rPr sz="1050" b="0" i="0" lang="de-DE">
                <a:solidFill>
                  <a:srgbClr val="4E5A68"/>
                </a:solidFill>
                <a:latin typeface="IBM Plex Sans"/>
              </a:rPr>
              <a:t>  kein Label</a:t>
            </a:r>
          </a:p>
        </p:txBody>
      </p:sp>
      <p:sp>
        <p:nvSpPr>
          <p:cNvPr id="95" name="Rounded Rectangle 94"/>
          <p:cNvSpPr/>
          <p:nvPr/>
        </p:nvSpPr>
        <p:spPr>
          <a:xfrm>
            <a:off x="8456962" y="5472112"/>
            <a:ext cx="2404682" cy="266700"/>
          </a:xfrm>
          <a:prstGeom prst="roundRect">
            <a:avLst>
              <a:gd name="adj" fmla="val 50000"/>
            </a:avLst>
          </a:prstGeom>
          <a:solidFill>
            <a:srgbClr val="FFFFFF"/>
          </a:solidFill>
          <a:ln w="9525">
            <a:solidFill>
              <a:srgbClr val="E4E9EF"/>
            </a:solidFill>
          </a:ln>
          <a:effectLst/>
        </p:spPr>
        <p:txBody>
          <a:bodyPr rtlCol="0" anchor="ctr"/>
          <a:lstStyle/>
          <a:p>
            <a:pPr algn="ctr"/>
          </a:p>
        </p:txBody>
      </p:sp>
      <p:sp>
        <p:nvSpPr>
          <p:cNvPr id="96" name="TextBox 95"/>
          <p:cNvSpPr txBox="1"/>
          <p:nvPr/>
        </p:nvSpPr>
        <p:spPr>
          <a:xfrm>
            <a:off x="8571262" y="5472112"/>
            <a:ext cx="2519420" cy="266700"/>
          </a:xfrm>
          <a:prstGeom prst="rect">
            <a:avLst/>
          </a:prstGeom>
          <a:noFill/>
        </p:spPr>
        <p:txBody>
          <a:bodyPr wrap="none" lIns="0" rIns="0" tIns="0" bIns="0" anchor="ctr">
            <a:noAutofit/>
          </a:bodyPr>
          <a:lstStyle/>
          <a:p>
            <a:pPr algn="l">
              <a:lnSpc>
                <a:spcPts val="1350"/>
              </a:lnSpc>
            </a:pPr>
            <a:r>
              <a:rPr sz="1050" b="1" i="0" lang="de-DE">
                <a:solidFill>
                  <a:srgbClr val="141A21"/>
                </a:solidFill>
                <a:latin typeface="IBM Plex Sans"/>
              </a:rPr>
              <a:t>Vertragsleistung:</a:t>
            </a:r>
            <a:r>
              <a:rPr sz="1050" b="0" i="0" lang="de-DE">
                <a:solidFill>
                  <a:srgbClr val="4E5A68"/>
                </a:solidFill>
                <a:latin typeface="IBM Plex Sans"/>
              </a:rPr>
              <a:t>  nur Umrechnung</a:t>
            </a:r>
          </a:p>
        </p:txBody>
      </p:sp>
      <p:cxnSp>
        <p:nvCxnSpPr>
          <p:cNvPr id="97"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98" name="Logo" descr="image.png"/>
          <p:cNvPicPr>
            <a:picLocks noChangeAspect="1"/>
          </p:cNvPicPr>
          <p:nvPr/>
        </p:nvPicPr>
        <p:blipFill>
          <a:blip r:embed="rId7"/>
          <a:stretch>
            <a:fillRect/>
          </a:stretch>
        </p:blipFill>
        <p:spPr>
          <a:xfrm>
            <a:off x="685800" y="6400800"/>
            <a:ext cx="715863" cy="247650"/>
          </a:xfrm>
          <a:prstGeom prst="rect">
            <a:avLst/>
          </a:prstGeom>
        </p:spPr>
      </p:pic>
      <p:sp>
        <p:nvSpPr>
          <p:cNvPr id="99" name="TextBox 98"/>
          <p:cNvSpPr txBox="1"/>
          <p:nvPr/>
        </p:nvSpPr>
        <p:spPr>
          <a:xfrm>
            <a:off x="1554480" y="6429375"/>
            <a:ext cx="289179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100" name="Connector 99"/>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101" name="Scheibe sliders-horizontal"/>
          <p:cNvGrpSpPr/>
          <p:nvPr/>
        </p:nvGrpSpPr>
        <p:grpSpPr>
          <a:xfrm>
            <a:off x="4516755" y="6419850"/>
            <a:ext cx="209550" cy="209550"/>
            <a:chOff x="4516755" y="6419850"/>
            <a:chExt cx="209550" cy="209550"/>
          </a:xfrm>
        </p:grpSpPr>
        <p:sp>
          <p:nvSpPr>
            <p:cNvPr id="102" name="Oval 101"/>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103" name="Picture 102" descr="sliders-horizontal__FFFFFF.png"/>
            <p:cNvPicPr>
              <a:picLocks noChangeAspect="1"/>
            </p:cNvPicPr>
            <p:nvPr/>
          </p:nvPicPr>
          <p:blipFill>
            <a:blip r:embed="rId8"/>
            <a:stretch>
              <a:fillRect/>
            </a:stretch>
          </p:blipFill>
          <p:spPr>
            <a:xfrm>
              <a:off x="4567047" y="6470142"/>
              <a:ext cx="108966" cy="108966"/>
            </a:xfrm>
            <a:prstGeom prst="rect">
              <a:avLst/>
            </a:prstGeom>
          </p:spPr>
        </p:pic>
      </p:grpSp>
      <p:sp>
        <p:nvSpPr>
          <p:cNvPr id="104" name="TextBox 103"/>
          <p:cNvSpPr txBox="1"/>
          <p:nvPr/>
        </p:nvSpPr>
        <p:spPr>
          <a:xfrm>
            <a:off x="4783455"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04</a:t>
            </a:r>
          </a:p>
        </p:txBody>
      </p:sp>
      <p:sp>
        <p:nvSpPr>
          <p:cNvPr id="105" name="TextBox 104"/>
          <p:cNvSpPr txBox="1"/>
          <p:nvPr/>
        </p:nvSpPr>
        <p:spPr>
          <a:xfrm>
            <a:off x="5000625" y="6438900"/>
            <a:ext cx="761924"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Merkmale</a:t>
            </a:r>
          </a:p>
        </p:txBody>
      </p:sp>
      <p:grpSp>
        <p:nvGrpSpPr>
          <p:cNvPr id="106" name="Scheibe ruler"/>
          <p:cNvGrpSpPr/>
          <p:nvPr/>
        </p:nvGrpSpPr>
        <p:grpSpPr>
          <a:xfrm>
            <a:off x="5712333" y="6419850"/>
            <a:ext cx="209550" cy="209550"/>
            <a:chOff x="5712333" y="6419850"/>
            <a:chExt cx="209550" cy="209550"/>
          </a:xfrm>
        </p:grpSpPr>
        <p:sp>
          <p:nvSpPr>
            <p:cNvPr id="107" name="Oval 106"/>
            <p:cNvSpPr/>
            <p:nvPr/>
          </p:nvSpPr>
          <p:spPr>
            <a:xfrm>
              <a:off x="5712333" y="6419850"/>
              <a:ext cx="209550" cy="209550"/>
            </a:xfrm>
            <a:prstGeom prst="ellipse">
              <a:avLst/>
            </a:prstGeom>
            <a:solidFill>
              <a:srgbClr val="00718E"/>
            </a:solidFill>
            <a:ln>
              <a:noFill/>
            </a:ln>
            <a:effectLst/>
          </p:spPr>
          <p:txBody>
            <a:bodyPr rtlCol="0" anchor="ctr"/>
            <a:lstStyle/>
            <a:p>
              <a:pPr algn="ctr"/>
            </a:p>
          </p:txBody>
        </p:sp>
        <p:pic>
          <p:nvPicPr>
            <p:cNvPr id="108" name="Picture 107" descr="ruler__FFFFFF.png"/>
            <p:cNvPicPr>
              <a:picLocks noChangeAspect="1"/>
            </p:cNvPicPr>
            <p:nvPr/>
          </p:nvPicPr>
          <p:blipFill>
            <a:blip r:embed="rId9"/>
            <a:stretch>
              <a:fillRect/>
            </a:stretch>
          </p:blipFill>
          <p:spPr>
            <a:xfrm>
              <a:off x="5762625" y="6470142"/>
              <a:ext cx="108966" cy="108966"/>
            </a:xfrm>
            <a:prstGeom prst="rect">
              <a:avLst/>
            </a:prstGeom>
          </p:spPr>
        </p:pic>
      </p:grpSp>
      <p:sp>
        <p:nvSpPr>
          <p:cNvPr id="109" name="TextBox 108"/>
          <p:cNvSpPr txBox="1"/>
          <p:nvPr/>
        </p:nvSpPr>
        <p:spPr>
          <a:xfrm>
            <a:off x="5979033"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06</a:t>
            </a:r>
          </a:p>
        </p:txBody>
      </p:sp>
      <p:sp>
        <p:nvSpPr>
          <p:cNvPr id="110" name="TextBox 109"/>
          <p:cNvSpPr txBox="1"/>
          <p:nvPr/>
        </p:nvSpPr>
        <p:spPr>
          <a:xfrm>
            <a:off x="6196203" y="6438900"/>
            <a:ext cx="794194"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Evaluation</a:t>
            </a:r>
          </a:p>
        </p:txBody>
      </p:sp>
      <p:grpSp>
        <p:nvGrpSpPr>
          <p:cNvPr id="111" name="Scheibe calendar-clock"/>
          <p:cNvGrpSpPr/>
          <p:nvPr/>
        </p:nvGrpSpPr>
        <p:grpSpPr>
          <a:xfrm>
            <a:off x="6937248" y="6419850"/>
            <a:ext cx="209550" cy="209550"/>
            <a:chOff x="6937248" y="6419850"/>
            <a:chExt cx="209550" cy="209550"/>
          </a:xfrm>
        </p:grpSpPr>
        <p:sp>
          <p:nvSpPr>
            <p:cNvPr id="112" name="Oval 111"/>
            <p:cNvSpPr/>
            <p:nvPr/>
          </p:nvSpPr>
          <p:spPr>
            <a:xfrm>
              <a:off x="6937248" y="6419850"/>
              <a:ext cx="209550" cy="209550"/>
            </a:xfrm>
            <a:prstGeom prst="ellipse">
              <a:avLst/>
            </a:prstGeom>
            <a:solidFill>
              <a:srgbClr val="00718E"/>
            </a:solidFill>
            <a:ln>
              <a:noFill/>
            </a:ln>
            <a:effectLst/>
          </p:spPr>
          <p:txBody>
            <a:bodyPr rtlCol="0" anchor="ctr"/>
            <a:lstStyle/>
            <a:p>
              <a:pPr algn="ctr"/>
            </a:p>
          </p:txBody>
        </p:sp>
        <p:pic>
          <p:nvPicPr>
            <p:cNvPr id="113" name="Picture 112" descr="calendar-clock__FFFFFF.png"/>
            <p:cNvPicPr>
              <a:picLocks noChangeAspect="1"/>
            </p:cNvPicPr>
            <p:nvPr/>
          </p:nvPicPr>
          <p:blipFill>
            <a:blip r:embed="rId10"/>
            <a:stretch>
              <a:fillRect/>
            </a:stretch>
          </p:blipFill>
          <p:spPr>
            <a:xfrm>
              <a:off x="6987540" y="6470142"/>
              <a:ext cx="108966" cy="108966"/>
            </a:xfrm>
            <a:prstGeom prst="rect">
              <a:avLst/>
            </a:prstGeom>
          </p:spPr>
        </p:pic>
      </p:grpSp>
      <p:sp>
        <p:nvSpPr>
          <p:cNvPr id="114" name="TextBox 113"/>
          <p:cNvSpPr txBox="1"/>
          <p:nvPr/>
        </p:nvSpPr>
        <p:spPr>
          <a:xfrm>
            <a:off x="7203948"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09</a:t>
            </a:r>
          </a:p>
        </p:txBody>
      </p:sp>
      <p:sp>
        <p:nvSpPr>
          <p:cNvPr id="115" name="TextBox 114"/>
          <p:cNvSpPr txBox="1"/>
          <p:nvPr/>
        </p:nvSpPr>
        <p:spPr>
          <a:xfrm>
            <a:off x="7421118" y="6438900"/>
            <a:ext cx="739921"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Zeitpunkt</a:t>
            </a:r>
          </a:p>
        </p:txBody>
      </p:sp>
      <p:sp>
        <p:nvSpPr>
          <p:cNvPr id="116" name="TextBox 115"/>
          <p:cNvSpPr txBox="1"/>
          <p:nvPr/>
        </p:nvSpPr>
        <p:spPr>
          <a:xfrm>
            <a:off x="9486900" y="6429375"/>
            <a:ext cx="12573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117" name="Seitenzahl"/>
          <p:cNvSpPr txBox="1"/>
          <p:nvPr/>
        </p:nvSpPr>
        <p:spPr>
          <a:xfrm>
            <a:off x="10835640" y="6424612"/>
            <a:ext cx="67056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4 / 11</a:t>
            </a:r>
          </a:p>
        </p:txBody>
      </p:sp>
      <p:grpSp>
        <p:nvGrpSpPr>
          <p:cNvPr id="118" name="Kapitel 01"/>
          <p:cNvGrpSpPr/>
          <p:nvPr/>
        </p:nvGrpSpPr>
        <p:grpSpPr>
          <a:xfrm>
            <a:off x="9532144" y="407194"/>
            <a:ext cx="233362" cy="233362"/>
            <a:chOff x="9532144" y="407194"/>
            <a:chExt cx="233362" cy="233362"/>
          </a:xfrm>
        </p:grpSpPr>
        <p:sp>
          <p:nvSpPr>
            <p:cNvPr id="119" name="Oval 118"/>
            <p:cNvSpPr/>
            <p:nvPr/>
          </p:nvSpPr>
          <p:spPr>
            <a:xfrm>
              <a:off x="953214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120" name="Picture 119" descr="building-2__084878.png"/>
            <p:cNvPicPr>
              <a:picLocks noChangeAspect="1"/>
            </p:cNvPicPr>
            <p:nvPr/>
          </p:nvPicPr>
          <p:blipFill>
            <a:blip r:embed="rId11"/>
            <a:stretch>
              <a:fillRect/>
            </a:stretch>
          </p:blipFill>
          <p:spPr>
            <a:xfrm>
              <a:off x="9584436" y="459486"/>
              <a:ext cx="128778" cy="128778"/>
            </a:xfrm>
            <a:prstGeom prst="rect">
              <a:avLst/>
            </a:prstGeom>
          </p:spPr>
        </p:pic>
      </p:grpSp>
      <p:grpSp>
        <p:nvGrpSpPr>
          <p:cNvPr id="121" name="Kapitel 02"/>
          <p:cNvGrpSpPr/>
          <p:nvPr/>
        </p:nvGrpSpPr>
        <p:grpSpPr>
          <a:xfrm>
            <a:off x="9817894" y="407194"/>
            <a:ext cx="233362" cy="233362"/>
            <a:chOff x="9817894" y="407194"/>
            <a:chExt cx="233362" cy="233362"/>
          </a:xfrm>
        </p:grpSpPr>
        <p:sp>
          <p:nvSpPr>
            <p:cNvPr id="122" name="Oval 121"/>
            <p:cNvSpPr/>
            <p:nvPr/>
          </p:nvSpPr>
          <p:spPr>
            <a:xfrm>
              <a:off x="981789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123" name="Picture 122" descr="database__084878.png"/>
            <p:cNvPicPr>
              <a:picLocks noChangeAspect="1"/>
            </p:cNvPicPr>
            <p:nvPr/>
          </p:nvPicPr>
          <p:blipFill>
            <a:blip r:embed="rId12"/>
            <a:stretch>
              <a:fillRect/>
            </a:stretch>
          </p:blipFill>
          <p:spPr>
            <a:xfrm>
              <a:off x="9870186" y="459486"/>
              <a:ext cx="128778" cy="128778"/>
            </a:xfrm>
            <a:prstGeom prst="rect">
              <a:avLst/>
            </a:prstGeom>
          </p:spPr>
        </p:pic>
      </p:grpSp>
      <p:grpSp>
        <p:nvGrpSpPr>
          <p:cNvPr id="124" name="Kapitel 03"/>
          <p:cNvGrpSpPr/>
          <p:nvPr/>
        </p:nvGrpSpPr>
        <p:grpSpPr>
          <a:xfrm>
            <a:off x="10256044" y="407194"/>
            <a:ext cx="233362" cy="233362"/>
            <a:chOff x="10256044" y="407194"/>
            <a:chExt cx="233362" cy="233362"/>
          </a:xfrm>
        </p:grpSpPr>
        <p:sp>
          <p:nvSpPr>
            <p:cNvPr id="125" name="Oval 124"/>
            <p:cNvSpPr/>
            <p:nvPr/>
          </p:nvSpPr>
          <p:spPr>
            <a:xfrm>
              <a:off x="1025604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126" name="Picture 125" descr="layout-grid__084878.png"/>
            <p:cNvPicPr>
              <a:picLocks noChangeAspect="1"/>
            </p:cNvPicPr>
            <p:nvPr/>
          </p:nvPicPr>
          <p:blipFill>
            <a:blip r:embed="rId13"/>
            <a:stretch>
              <a:fillRect/>
            </a:stretch>
          </p:blipFill>
          <p:spPr>
            <a:xfrm>
              <a:off x="10308336" y="459486"/>
              <a:ext cx="128778" cy="128778"/>
            </a:xfrm>
            <a:prstGeom prst="rect">
              <a:avLst/>
            </a:prstGeom>
          </p:spPr>
        </p:pic>
      </p:grpSp>
      <p:grpSp>
        <p:nvGrpSpPr>
          <p:cNvPr id="127" name="Kapitel 04 aktiv"/>
          <p:cNvGrpSpPr/>
          <p:nvPr/>
        </p:nvGrpSpPr>
        <p:grpSpPr>
          <a:xfrm>
            <a:off x="10534650" y="400050"/>
            <a:ext cx="247650" cy="247650"/>
            <a:chOff x="10534650" y="400050"/>
            <a:chExt cx="247650" cy="247650"/>
          </a:xfrm>
        </p:grpSpPr>
        <p:sp>
          <p:nvSpPr>
            <p:cNvPr id="128" name="Oval 127"/>
            <p:cNvSpPr/>
            <p:nvPr/>
          </p:nvSpPr>
          <p:spPr>
            <a:xfrm>
              <a:off x="10534650" y="400050"/>
              <a:ext cx="247650" cy="247650"/>
            </a:xfrm>
            <a:prstGeom prst="ellipse">
              <a:avLst/>
            </a:prstGeom>
            <a:solidFill>
              <a:srgbClr val="084878"/>
            </a:solidFill>
            <a:ln>
              <a:noFill/>
            </a:ln>
            <a:effectLst/>
          </p:spPr>
          <p:txBody>
            <a:bodyPr rtlCol="0" anchor="ctr"/>
            <a:lstStyle/>
            <a:p>
              <a:pPr algn="ctr"/>
            </a:p>
          </p:txBody>
        </p:sp>
        <p:pic>
          <p:nvPicPr>
            <p:cNvPr id="129" name="Picture 128" descr="trees__FFFFFF.png"/>
            <p:cNvPicPr>
              <a:picLocks noChangeAspect="1"/>
            </p:cNvPicPr>
            <p:nvPr/>
          </p:nvPicPr>
          <p:blipFill>
            <a:blip r:embed="rId14"/>
            <a:stretch>
              <a:fillRect/>
            </a:stretch>
          </p:blipFill>
          <p:spPr>
            <a:xfrm>
              <a:off x="10594086" y="459486"/>
              <a:ext cx="128778" cy="128778"/>
            </a:xfrm>
            <a:prstGeom prst="rect">
              <a:avLst/>
            </a:prstGeom>
          </p:spPr>
        </p:pic>
      </p:grpSp>
      <p:grpSp>
        <p:nvGrpSpPr>
          <p:cNvPr id="130" name="Kapitel 05"/>
          <p:cNvGrpSpPr/>
          <p:nvPr/>
        </p:nvGrpSpPr>
        <p:grpSpPr>
          <a:xfrm>
            <a:off x="10979944" y="407194"/>
            <a:ext cx="233362" cy="233362"/>
            <a:chOff x="10979944" y="407194"/>
            <a:chExt cx="233362" cy="233362"/>
          </a:xfrm>
        </p:grpSpPr>
        <p:sp>
          <p:nvSpPr>
            <p:cNvPr id="131" name="Oval 130"/>
            <p:cNvSpPr/>
            <p:nvPr/>
          </p:nvSpPr>
          <p:spPr>
            <a:xfrm>
              <a:off x="10979944" y="407194"/>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32" name="Picture 131" descr="chart-column__8A96A3.png"/>
            <p:cNvPicPr>
              <a:picLocks noChangeAspect="1"/>
            </p:cNvPicPr>
            <p:nvPr/>
          </p:nvPicPr>
          <p:blipFill>
            <a:blip r:embed="rId15"/>
            <a:stretch>
              <a:fillRect/>
            </a:stretch>
          </p:blipFill>
          <p:spPr>
            <a:xfrm>
              <a:off x="11032236" y="459486"/>
              <a:ext cx="128778" cy="128778"/>
            </a:xfrm>
            <a:prstGeom prst="rect">
              <a:avLst/>
            </a:prstGeom>
          </p:spPr>
        </p:pic>
      </p:grpSp>
      <p:grpSp>
        <p:nvGrpSpPr>
          <p:cNvPr id="133" name="Kapitel 06"/>
          <p:cNvGrpSpPr/>
          <p:nvPr/>
        </p:nvGrpSpPr>
        <p:grpSpPr>
          <a:xfrm>
            <a:off x="11265694" y="407194"/>
            <a:ext cx="233362" cy="233362"/>
            <a:chOff x="11265694" y="407194"/>
            <a:chExt cx="233362" cy="233362"/>
          </a:xfrm>
        </p:grpSpPr>
        <p:sp>
          <p:nvSpPr>
            <p:cNvPr id="134" name="Oval 133"/>
            <p:cNvSpPr/>
            <p:nvPr/>
          </p:nvSpPr>
          <p:spPr>
            <a:xfrm>
              <a:off x="11265694" y="407194"/>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35" name="Picture 134" descr="compass__8A96A3.png"/>
            <p:cNvPicPr>
              <a:picLocks noChangeAspect="1"/>
            </p:cNvPicPr>
            <p:nvPr/>
          </p:nvPicPr>
          <p:blipFill>
            <a:blip r:embed="rId16"/>
            <a:stretch>
              <a:fillRect/>
            </a:stretch>
          </p:blipFill>
          <p:spPr>
            <a:xfrm>
              <a:off x="11317986" y="459486"/>
              <a:ext cx="128778" cy="128778"/>
            </a:xfrm>
            <a:prstGeom prst="rect">
              <a:avLst/>
            </a:prstGeom>
          </p:spPr>
        </p:pic>
      </p:grpSp>
      <p:cxnSp>
        <p:nvCxnSpPr>
          <p:cNvPr id="136" name="Kapitel-Lücke"/>
          <p:cNvCxnSpPr/>
          <p:nvPr/>
        </p:nvCxnSpPr>
        <p:spPr>
          <a:xfrm>
            <a:off x="10115550" y="523875"/>
            <a:ext cx="7620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cxnSp>
        <p:nvCxnSpPr>
          <p:cNvPr id="137" name="Kapitel-Lücke"/>
          <p:cNvCxnSpPr/>
          <p:nvPr/>
        </p:nvCxnSpPr>
        <p:spPr>
          <a:xfrm>
            <a:off x="10839450" y="523875"/>
            <a:ext cx="7620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sp>
        <p:nvSpPr>
          <p:cNvPr id="138" name="Kapitel-Label"/>
          <p:cNvSpPr txBox="1"/>
          <p:nvPr/>
        </p:nvSpPr>
        <p:spPr>
          <a:xfrm>
            <a:off x="6267450" y="428625"/>
            <a:ext cx="3143250" cy="171450"/>
          </a:xfrm>
          <a:prstGeom prst="rect">
            <a:avLst/>
          </a:prstGeom>
          <a:noFill/>
        </p:spPr>
        <p:txBody>
          <a:bodyPr wrap="none" lIns="0" rIns="0" tIns="0" bIns="0" anchor="t">
            <a:noAutofit/>
          </a:bodyPr>
          <a:lstStyle/>
          <a:p>
            <a:pPr algn="r">
              <a:lnSpc>
                <a:spcPts val="1350"/>
              </a:lnSpc>
            </a:pPr>
            <a:r>
              <a:rPr sz="1050" b="1" i="0" lang="de-DE">
                <a:solidFill>
                  <a:srgbClr val="005E77"/>
                </a:solidFill>
                <a:latin typeface="IBM Plex Sans"/>
              </a:rPr>
              <a:t>04 · Methodik und Modell · Kiko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4F7"/>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84878"/>
            </a:solidFill>
            <a:ln>
              <a:noFill/>
            </a:ln>
            <a:effectLst/>
          </p:spPr>
          <p:txBody>
            <a:bodyPr rtlCol="0" anchor="ctr"/>
            <a:lstStyle/>
            <a:p>
              <a:pPr algn="ctr"/>
            </a:p>
          </p:txBody>
        </p:sp>
        <p:pic>
          <p:nvPicPr>
            <p:cNvPr id="4" name="Picture 3" descr="divide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733425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Warum nicht direkt Kilowattstunden vorhersagen?</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Das Modell lernt Vollaststunden, geplant wird in kWh</a:t>
            </a:r>
          </a:p>
        </p:txBody>
      </p:sp>
      <p:sp>
        <p:nvSpPr>
          <p:cNvPr id="7" name="Rounded Rectangle 6"/>
          <p:cNvSpPr/>
          <p:nvPr/>
        </p:nvSpPr>
        <p:spPr>
          <a:xfrm>
            <a:off x="685800" y="1362075"/>
            <a:ext cx="5895022" cy="977265"/>
          </a:xfrm>
          <a:prstGeom prst="roundRect">
            <a:avLst>
              <a:gd name="adj" fmla="val 9746"/>
            </a:avLst>
          </a:prstGeom>
          <a:solidFill>
            <a:srgbClr val="FFFFFF"/>
          </a:solidFill>
          <a:ln w="9525">
            <a:solidFill>
              <a:srgbClr val="D2DAE2"/>
            </a:solidFill>
          </a:ln>
          <a:effectLst/>
        </p:spPr>
        <p:txBody>
          <a:bodyPr rtlCol="0" anchor="ctr"/>
          <a:lstStyle/>
          <a:p>
            <a:pPr algn="ctr"/>
          </a:p>
        </p:txBody>
      </p:sp>
      <p:grpSp>
        <p:nvGrpSpPr>
          <p:cNvPr id="8" name="Scheibe divide"/>
          <p:cNvGrpSpPr/>
          <p:nvPr/>
        </p:nvGrpSpPr>
        <p:grpSpPr>
          <a:xfrm>
            <a:off x="866775" y="1504950"/>
            <a:ext cx="323850" cy="323850"/>
            <a:chOff x="866775" y="1504950"/>
            <a:chExt cx="323850" cy="323850"/>
          </a:xfrm>
        </p:grpSpPr>
        <p:sp>
          <p:nvSpPr>
            <p:cNvPr id="9" name="Oval 8"/>
            <p:cNvSpPr/>
            <p:nvPr/>
          </p:nvSpPr>
          <p:spPr>
            <a:xfrm>
              <a:off x="866775" y="1504950"/>
              <a:ext cx="323850" cy="323850"/>
            </a:xfrm>
            <a:prstGeom prst="ellipse">
              <a:avLst/>
            </a:prstGeom>
            <a:solidFill>
              <a:srgbClr val="084878"/>
            </a:solidFill>
            <a:ln>
              <a:noFill/>
            </a:ln>
            <a:effectLst/>
          </p:spPr>
          <p:txBody>
            <a:bodyPr rtlCol="0" anchor="ctr"/>
            <a:lstStyle/>
            <a:p>
              <a:pPr algn="ctr"/>
            </a:p>
          </p:txBody>
        </p:sp>
        <p:pic>
          <p:nvPicPr>
            <p:cNvPr id="10" name="Picture 9" descr="divide__FFFFFF.png"/>
            <p:cNvPicPr>
              <a:picLocks noChangeAspect="1"/>
            </p:cNvPicPr>
            <p:nvPr/>
          </p:nvPicPr>
          <p:blipFill>
            <a:blip r:embed="rId3"/>
            <a:stretch>
              <a:fillRect/>
            </a:stretch>
          </p:blipFill>
          <p:spPr>
            <a:xfrm>
              <a:off x="944499" y="1582674"/>
              <a:ext cx="168402" cy="168402"/>
            </a:xfrm>
            <a:prstGeom prst="rect">
              <a:avLst/>
            </a:prstGeom>
          </p:spPr>
        </p:pic>
      </p:grpSp>
      <p:sp>
        <p:nvSpPr>
          <p:cNvPr id="11" name="TextBox 10"/>
          <p:cNvSpPr txBox="1"/>
          <p:nvPr/>
        </p:nvSpPr>
        <p:spPr>
          <a:xfrm>
            <a:off x="1323975" y="1504950"/>
            <a:ext cx="4191000" cy="161925"/>
          </a:xfrm>
          <a:prstGeom prst="rect">
            <a:avLst/>
          </a:prstGeom>
          <a:noFill/>
        </p:spPr>
        <p:txBody>
          <a:bodyPr wrap="none" lIns="0" rIns="0" tIns="0" bIns="0" anchor="t">
            <a:noAutofit/>
          </a:bodyPr>
          <a:lstStyle/>
          <a:p>
            <a:pPr algn="l">
              <a:lnSpc>
                <a:spcPts val="1275"/>
              </a:lnSpc>
            </a:pPr>
            <a:r>
              <a:rPr sz="975" b="1" i="0" lang="de-DE" spc="78">
                <a:solidFill>
                  <a:srgbClr val="00718E"/>
                </a:solidFill>
                <a:latin typeface="IBM Plex Sans"/>
              </a:rPr>
              <a:t>NORMIEREN</a:t>
            </a:r>
          </a:p>
        </p:txBody>
      </p:sp>
      <p:sp>
        <p:nvSpPr>
          <p:cNvPr id="12" name="TextBox 11"/>
          <p:cNvSpPr txBox="1"/>
          <p:nvPr/>
        </p:nvSpPr>
        <p:spPr>
          <a:xfrm>
            <a:off x="1323975" y="1836420"/>
            <a:ext cx="481965" cy="247650"/>
          </a:xfrm>
          <a:prstGeom prst="rect">
            <a:avLst/>
          </a:prstGeom>
          <a:noFill/>
        </p:spPr>
        <p:txBody>
          <a:bodyPr wrap="none" lIns="0" rIns="0" tIns="0" bIns="0" anchor="t">
            <a:noAutofit/>
          </a:bodyPr>
          <a:lstStyle/>
          <a:p>
            <a:pPr algn="l">
              <a:lnSpc>
                <a:spcPts val="1950"/>
              </a:lnSpc>
            </a:pPr>
            <a:r>
              <a:rPr sz="1500" b="1" i="0" lang="de-DE">
                <a:solidFill>
                  <a:srgbClr val="084878"/>
                </a:solidFill>
                <a:latin typeface="Geist Mono"/>
              </a:rPr>
              <a:t>VLS</a:t>
            </a:r>
          </a:p>
        </p:txBody>
      </p:sp>
      <p:sp>
        <p:nvSpPr>
          <p:cNvPr id="13" name="TextBox 12"/>
          <p:cNvSpPr txBox="1"/>
          <p:nvPr/>
        </p:nvSpPr>
        <p:spPr>
          <a:xfrm>
            <a:off x="1743075" y="1836420"/>
            <a:ext cx="247650" cy="247650"/>
          </a:xfrm>
          <a:prstGeom prst="rect">
            <a:avLst/>
          </a:prstGeom>
          <a:noFill/>
        </p:spPr>
        <p:txBody>
          <a:bodyPr wrap="none" lIns="0" rIns="0" tIns="0" bIns="0" anchor="t">
            <a:noAutofit/>
          </a:bodyPr>
          <a:lstStyle/>
          <a:p>
            <a:pPr algn="l">
              <a:lnSpc>
                <a:spcPts val="1950"/>
              </a:lnSpc>
            </a:pPr>
            <a:r>
              <a:rPr sz="1500" b="1" i="0" lang="de-DE">
                <a:solidFill>
                  <a:srgbClr val="00718E"/>
                </a:solidFill>
                <a:latin typeface="Geist Mono"/>
              </a:rPr>
              <a:t>=</a:t>
            </a:r>
          </a:p>
        </p:txBody>
      </p:sp>
      <p:sp>
        <p:nvSpPr>
          <p:cNvPr id="14" name="TextBox 13"/>
          <p:cNvSpPr txBox="1"/>
          <p:nvPr/>
        </p:nvSpPr>
        <p:spPr>
          <a:xfrm>
            <a:off x="1791843" y="1724025"/>
            <a:ext cx="2279904" cy="198120"/>
          </a:xfrm>
          <a:prstGeom prst="rect">
            <a:avLst/>
          </a:prstGeom>
          <a:noFill/>
        </p:spPr>
        <p:txBody>
          <a:bodyPr wrap="none" lIns="0" rIns="0" tIns="0" bIns="0" anchor="t">
            <a:noAutofit/>
          </a:bodyPr>
          <a:lstStyle/>
          <a:p>
            <a:pPr algn="ctr">
              <a:lnSpc>
                <a:spcPts val="1560"/>
              </a:lnSpc>
            </a:pPr>
            <a:r>
              <a:rPr sz="1200" b="1" i="0" lang="de-DE">
                <a:solidFill>
                  <a:srgbClr val="084878"/>
                </a:solidFill>
                <a:latin typeface="Geist Mono"/>
              </a:rPr>
              <a:t>Verbrauch [kWh]</a:t>
            </a:r>
          </a:p>
        </p:txBody>
      </p:sp>
      <p:cxnSp>
        <p:nvCxnSpPr>
          <p:cNvPr id="15" name="Connector 14"/>
          <p:cNvCxnSpPr/>
          <p:nvPr/>
        </p:nvCxnSpPr>
        <p:spPr>
          <a:xfrm>
            <a:off x="2207895" y="1960245"/>
            <a:ext cx="1447800" cy="0"/>
          </a:xfrm>
          <a:prstGeom prst="line">
            <a:avLst/>
          </a:prstGeom>
          <a:ln w="19050">
            <a:solidFill>
              <a:srgbClr val="08487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791843" y="1998345"/>
            <a:ext cx="2279904" cy="198120"/>
          </a:xfrm>
          <a:prstGeom prst="rect">
            <a:avLst/>
          </a:prstGeom>
          <a:noFill/>
        </p:spPr>
        <p:txBody>
          <a:bodyPr wrap="none" lIns="0" rIns="0" tIns="0" bIns="0" anchor="t">
            <a:noAutofit/>
          </a:bodyPr>
          <a:lstStyle/>
          <a:p>
            <a:pPr algn="ctr">
              <a:lnSpc>
                <a:spcPts val="1560"/>
              </a:lnSpc>
            </a:pPr>
            <a:r>
              <a:rPr sz="1200" b="1" i="0" lang="de-DE">
                <a:solidFill>
                  <a:srgbClr val="084878"/>
                </a:solidFill>
                <a:latin typeface="Geist Mono"/>
              </a:rPr>
              <a:t>Vertragsleistung [kW]</a:t>
            </a:r>
          </a:p>
        </p:txBody>
      </p:sp>
      <p:sp>
        <p:nvSpPr>
          <p:cNvPr id="17" name="Rounded Rectangle 16"/>
          <p:cNvSpPr/>
          <p:nvPr/>
        </p:nvSpPr>
        <p:spPr>
          <a:xfrm>
            <a:off x="685800" y="2453640"/>
            <a:ext cx="5895022" cy="752475"/>
          </a:xfrm>
          <a:prstGeom prst="roundRect">
            <a:avLst>
              <a:gd name="adj" fmla="val 12658"/>
            </a:avLst>
          </a:prstGeom>
          <a:solidFill>
            <a:srgbClr val="FFFFFF"/>
          </a:solidFill>
          <a:ln w="9525">
            <a:solidFill>
              <a:srgbClr val="D2DAE2"/>
            </a:solidFill>
          </a:ln>
          <a:effectLst/>
        </p:spPr>
        <p:txBody>
          <a:bodyPr rtlCol="0" anchor="ctr"/>
          <a:lstStyle/>
          <a:p>
            <a:pPr algn="ctr"/>
          </a:p>
        </p:txBody>
      </p:sp>
      <p:grpSp>
        <p:nvGrpSpPr>
          <p:cNvPr id="18" name="Scheibe calculator"/>
          <p:cNvGrpSpPr/>
          <p:nvPr/>
        </p:nvGrpSpPr>
        <p:grpSpPr>
          <a:xfrm>
            <a:off x="866775" y="2596515"/>
            <a:ext cx="323850" cy="323850"/>
            <a:chOff x="866775" y="2596515"/>
            <a:chExt cx="323850" cy="323850"/>
          </a:xfrm>
        </p:grpSpPr>
        <p:sp>
          <p:nvSpPr>
            <p:cNvPr id="19" name="Oval 18"/>
            <p:cNvSpPr/>
            <p:nvPr/>
          </p:nvSpPr>
          <p:spPr>
            <a:xfrm>
              <a:off x="866775" y="2596515"/>
              <a:ext cx="323850" cy="323850"/>
            </a:xfrm>
            <a:prstGeom prst="ellipse">
              <a:avLst/>
            </a:prstGeom>
            <a:solidFill>
              <a:srgbClr val="084878"/>
            </a:solidFill>
            <a:ln>
              <a:noFill/>
            </a:ln>
            <a:effectLst/>
          </p:spPr>
          <p:txBody>
            <a:bodyPr rtlCol="0" anchor="ctr"/>
            <a:lstStyle/>
            <a:p>
              <a:pPr algn="ctr"/>
            </a:p>
          </p:txBody>
        </p:sp>
        <p:pic>
          <p:nvPicPr>
            <p:cNvPr id="20" name="Picture 19" descr="calculator__FFFFFF.png"/>
            <p:cNvPicPr>
              <a:picLocks noChangeAspect="1"/>
            </p:cNvPicPr>
            <p:nvPr/>
          </p:nvPicPr>
          <p:blipFill>
            <a:blip r:embed="rId4"/>
            <a:stretch>
              <a:fillRect/>
            </a:stretch>
          </p:blipFill>
          <p:spPr>
            <a:xfrm>
              <a:off x="944499" y="2674239"/>
              <a:ext cx="168402" cy="168402"/>
            </a:xfrm>
            <a:prstGeom prst="rect">
              <a:avLst/>
            </a:prstGeom>
          </p:spPr>
        </p:pic>
      </p:grpSp>
      <p:sp>
        <p:nvSpPr>
          <p:cNvPr id="21" name="TextBox 20"/>
          <p:cNvSpPr txBox="1"/>
          <p:nvPr/>
        </p:nvSpPr>
        <p:spPr>
          <a:xfrm>
            <a:off x="1323975" y="2596515"/>
            <a:ext cx="4191000" cy="161925"/>
          </a:xfrm>
          <a:prstGeom prst="rect">
            <a:avLst/>
          </a:prstGeom>
          <a:noFill/>
        </p:spPr>
        <p:txBody>
          <a:bodyPr wrap="none" lIns="0" rIns="0" tIns="0" bIns="0" anchor="t">
            <a:noAutofit/>
          </a:bodyPr>
          <a:lstStyle/>
          <a:p>
            <a:pPr algn="l">
              <a:lnSpc>
                <a:spcPts val="1275"/>
              </a:lnSpc>
            </a:pPr>
            <a:r>
              <a:rPr sz="975" b="1" i="0" lang="de-DE" spc="78">
                <a:solidFill>
                  <a:srgbClr val="00718E"/>
                </a:solidFill>
                <a:latin typeface="IBM Plex Sans"/>
              </a:rPr>
              <a:t>ZURÜCKRECHNEN</a:t>
            </a:r>
          </a:p>
        </p:txBody>
      </p:sp>
      <p:sp>
        <p:nvSpPr>
          <p:cNvPr id="22" name="TextBox 21"/>
          <p:cNvSpPr txBox="1"/>
          <p:nvPr/>
        </p:nvSpPr>
        <p:spPr>
          <a:xfrm>
            <a:off x="1323975" y="2815590"/>
            <a:ext cx="1864995" cy="247650"/>
          </a:xfrm>
          <a:prstGeom prst="rect">
            <a:avLst/>
          </a:prstGeom>
          <a:noFill/>
        </p:spPr>
        <p:txBody>
          <a:bodyPr wrap="none" lIns="0" rIns="0" tIns="0" bIns="0" anchor="t">
            <a:noAutofit/>
          </a:bodyPr>
          <a:lstStyle/>
          <a:p>
            <a:pPr algn="l">
              <a:lnSpc>
                <a:spcPts val="1950"/>
              </a:lnSpc>
            </a:pPr>
            <a:r>
              <a:rPr sz="1500" b="1" i="0" lang="de-DE">
                <a:solidFill>
                  <a:srgbClr val="084878"/>
                </a:solidFill>
                <a:latin typeface="Geist Mono"/>
              </a:rPr>
              <a:t>Prognose [kWh]</a:t>
            </a:r>
          </a:p>
        </p:txBody>
      </p:sp>
      <p:sp>
        <p:nvSpPr>
          <p:cNvPr id="23" name="TextBox 22"/>
          <p:cNvSpPr txBox="1"/>
          <p:nvPr/>
        </p:nvSpPr>
        <p:spPr>
          <a:xfrm>
            <a:off x="3000375" y="2815590"/>
            <a:ext cx="247650" cy="247650"/>
          </a:xfrm>
          <a:prstGeom prst="rect">
            <a:avLst/>
          </a:prstGeom>
          <a:noFill/>
        </p:spPr>
        <p:txBody>
          <a:bodyPr wrap="none" lIns="0" rIns="0" tIns="0" bIns="0" anchor="t">
            <a:noAutofit/>
          </a:bodyPr>
          <a:lstStyle/>
          <a:p>
            <a:pPr algn="l">
              <a:lnSpc>
                <a:spcPts val="1950"/>
              </a:lnSpc>
            </a:pPr>
            <a:r>
              <a:rPr sz="1500" b="1" i="0" lang="de-DE">
                <a:solidFill>
                  <a:srgbClr val="00718E"/>
                </a:solidFill>
                <a:latin typeface="Geist Mono"/>
              </a:rPr>
              <a:t>=</a:t>
            </a:r>
          </a:p>
        </p:txBody>
      </p:sp>
      <p:sp>
        <p:nvSpPr>
          <p:cNvPr id="24" name="TextBox 23"/>
          <p:cNvSpPr txBox="1"/>
          <p:nvPr/>
        </p:nvSpPr>
        <p:spPr>
          <a:xfrm>
            <a:off x="3190875" y="2815590"/>
            <a:ext cx="1613535" cy="247650"/>
          </a:xfrm>
          <a:prstGeom prst="rect">
            <a:avLst/>
          </a:prstGeom>
          <a:noFill/>
        </p:spPr>
        <p:txBody>
          <a:bodyPr wrap="none" lIns="0" rIns="0" tIns="0" bIns="0" anchor="t">
            <a:noAutofit/>
          </a:bodyPr>
          <a:lstStyle/>
          <a:p>
            <a:pPr algn="l">
              <a:lnSpc>
                <a:spcPts val="1950"/>
              </a:lnSpc>
            </a:pPr>
            <a:r>
              <a:rPr sz="1500" b="1" i="0" lang="de-DE">
                <a:solidFill>
                  <a:srgbClr val="084878"/>
                </a:solidFill>
                <a:latin typeface="Geist Mono"/>
              </a:rPr>
              <a:t>Prognose-VLS</a:t>
            </a:r>
          </a:p>
        </p:txBody>
      </p:sp>
      <p:sp>
        <p:nvSpPr>
          <p:cNvPr id="25" name="TextBox 24"/>
          <p:cNvSpPr txBox="1"/>
          <p:nvPr/>
        </p:nvSpPr>
        <p:spPr>
          <a:xfrm>
            <a:off x="4638675" y="2815590"/>
            <a:ext cx="247650" cy="247650"/>
          </a:xfrm>
          <a:prstGeom prst="rect">
            <a:avLst/>
          </a:prstGeom>
          <a:noFill/>
        </p:spPr>
        <p:txBody>
          <a:bodyPr wrap="none" lIns="0" rIns="0" tIns="0" bIns="0" anchor="t">
            <a:noAutofit/>
          </a:bodyPr>
          <a:lstStyle/>
          <a:p>
            <a:pPr algn="l">
              <a:lnSpc>
                <a:spcPts val="1950"/>
              </a:lnSpc>
            </a:pPr>
            <a:r>
              <a:rPr sz="1500" b="1" i="0" lang="de-DE">
                <a:solidFill>
                  <a:srgbClr val="00718E"/>
                </a:solidFill>
                <a:latin typeface="Geist Mono"/>
              </a:rPr>
              <a:t>×</a:t>
            </a:r>
          </a:p>
        </p:txBody>
      </p:sp>
      <p:sp>
        <p:nvSpPr>
          <p:cNvPr id="26" name="TextBox 25"/>
          <p:cNvSpPr txBox="1"/>
          <p:nvPr/>
        </p:nvSpPr>
        <p:spPr>
          <a:xfrm>
            <a:off x="4829175" y="2815590"/>
            <a:ext cx="361950" cy="247650"/>
          </a:xfrm>
          <a:prstGeom prst="rect">
            <a:avLst/>
          </a:prstGeom>
          <a:noFill/>
        </p:spPr>
        <p:txBody>
          <a:bodyPr wrap="none" lIns="0" rIns="0" tIns="0" bIns="0" anchor="t">
            <a:noAutofit/>
          </a:bodyPr>
          <a:lstStyle/>
          <a:p>
            <a:pPr algn="l">
              <a:lnSpc>
                <a:spcPts val="1950"/>
              </a:lnSpc>
            </a:pPr>
            <a:r>
              <a:rPr sz="1500" b="1" i="0" lang="de-DE">
                <a:solidFill>
                  <a:srgbClr val="084878"/>
                </a:solidFill>
                <a:latin typeface="Geist Mono"/>
              </a:rPr>
              <a:t>kW</a:t>
            </a:r>
          </a:p>
        </p:txBody>
      </p:sp>
      <p:sp>
        <p:nvSpPr>
          <p:cNvPr id="27" name="Rounded Rectangle 26"/>
          <p:cNvSpPr/>
          <p:nvPr/>
        </p:nvSpPr>
        <p:spPr>
          <a:xfrm>
            <a:off x="685800" y="3320415"/>
            <a:ext cx="5895022" cy="895350"/>
          </a:xfrm>
          <a:prstGeom prst="roundRect">
            <a:avLst>
              <a:gd name="adj" fmla="val 10638"/>
            </a:avLst>
          </a:prstGeom>
          <a:solidFill>
            <a:srgbClr val="FFFFFF"/>
          </a:solidFill>
          <a:ln w="9525">
            <a:solidFill>
              <a:srgbClr val="D2DAE2"/>
            </a:solidFill>
          </a:ln>
          <a:effectLst/>
        </p:spPr>
        <p:txBody>
          <a:bodyPr rtlCol="0" anchor="ctr"/>
          <a:lstStyle/>
          <a:p>
            <a:pPr algn="ctr"/>
          </a:p>
        </p:txBody>
      </p:sp>
      <p:grpSp>
        <p:nvGrpSpPr>
          <p:cNvPr id="28" name="Scheibe chart-column"/>
          <p:cNvGrpSpPr/>
          <p:nvPr/>
        </p:nvGrpSpPr>
        <p:grpSpPr>
          <a:xfrm>
            <a:off x="847725" y="3453765"/>
            <a:ext cx="323850" cy="323850"/>
            <a:chOff x="847725" y="3453765"/>
            <a:chExt cx="323850" cy="323850"/>
          </a:xfrm>
        </p:grpSpPr>
        <p:sp>
          <p:nvSpPr>
            <p:cNvPr id="29" name="Oval 28"/>
            <p:cNvSpPr/>
            <p:nvPr/>
          </p:nvSpPr>
          <p:spPr>
            <a:xfrm>
              <a:off x="847725" y="3453765"/>
              <a:ext cx="323850" cy="323850"/>
            </a:xfrm>
            <a:prstGeom prst="ellipse">
              <a:avLst/>
            </a:prstGeom>
            <a:solidFill>
              <a:srgbClr val="00718E"/>
            </a:solidFill>
            <a:ln>
              <a:noFill/>
            </a:ln>
            <a:effectLst/>
          </p:spPr>
          <p:txBody>
            <a:bodyPr rtlCol="0" anchor="ctr"/>
            <a:lstStyle/>
            <a:p>
              <a:pPr algn="ctr"/>
            </a:p>
          </p:txBody>
        </p:sp>
        <p:pic>
          <p:nvPicPr>
            <p:cNvPr id="30" name="Picture 29" descr="chart-column__FFFFFF.png"/>
            <p:cNvPicPr>
              <a:picLocks noChangeAspect="1"/>
            </p:cNvPicPr>
            <p:nvPr/>
          </p:nvPicPr>
          <p:blipFill>
            <a:blip r:embed="rId5"/>
            <a:stretch>
              <a:fillRect/>
            </a:stretch>
          </p:blipFill>
          <p:spPr>
            <a:xfrm>
              <a:off x="925449" y="3531489"/>
              <a:ext cx="168402" cy="168402"/>
            </a:xfrm>
            <a:prstGeom prst="rect">
              <a:avLst/>
            </a:prstGeom>
          </p:spPr>
        </p:pic>
      </p:grpSp>
      <p:sp>
        <p:nvSpPr>
          <p:cNvPr id="31" name="TextBox 30"/>
          <p:cNvSpPr txBox="1"/>
          <p:nvPr/>
        </p:nvSpPr>
        <p:spPr>
          <a:xfrm>
            <a:off x="1304925" y="3463290"/>
            <a:ext cx="5113972"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Aus unseren Daten</a:t>
            </a:r>
          </a:p>
        </p:txBody>
      </p:sp>
      <p:sp>
        <p:nvSpPr>
          <p:cNvPr id="32" name="TextBox 31"/>
          <p:cNvSpPr txBox="1"/>
          <p:nvPr/>
        </p:nvSpPr>
        <p:spPr>
          <a:xfrm>
            <a:off x="1304925" y="3682365"/>
            <a:ext cx="5113972"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92 % der Streuung im Rohverbrauch liegen zwischen den Zählern. In VLS liegen die Kundentyp-Mediane nur noch bei 160–173 h.</a:t>
            </a:r>
          </a:p>
        </p:txBody>
      </p:sp>
      <p:sp>
        <p:nvSpPr>
          <p:cNvPr id="33" name="Rounded Rectangle 32"/>
          <p:cNvSpPr/>
          <p:nvPr/>
        </p:nvSpPr>
        <p:spPr>
          <a:xfrm>
            <a:off x="685800" y="4330065"/>
            <a:ext cx="5895022" cy="419100"/>
          </a:xfrm>
          <a:prstGeom prst="roundRect">
            <a:avLst>
              <a:gd name="adj" fmla="val 50000"/>
            </a:avLst>
          </a:prstGeom>
          <a:solidFill>
            <a:srgbClr val="FFFFFF"/>
          </a:solidFill>
          <a:ln w="9525">
            <a:solidFill>
              <a:srgbClr val="D2DAE2"/>
            </a:solidFill>
          </a:ln>
          <a:effectLst/>
        </p:spPr>
        <p:txBody>
          <a:bodyPr rtlCol="0" anchor="ctr"/>
          <a:lstStyle/>
          <a:p>
            <a:pPr algn="ctr"/>
          </a:p>
        </p:txBody>
      </p:sp>
      <p:grpSp>
        <p:nvGrpSpPr>
          <p:cNvPr id="34" name="Scheibe hotel"/>
          <p:cNvGrpSpPr/>
          <p:nvPr/>
        </p:nvGrpSpPr>
        <p:grpSpPr>
          <a:xfrm>
            <a:off x="759619" y="4403884"/>
            <a:ext cx="271462" cy="271462"/>
            <a:chOff x="759619" y="4403884"/>
            <a:chExt cx="271462" cy="271462"/>
          </a:xfrm>
        </p:grpSpPr>
        <p:sp>
          <p:nvSpPr>
            <p:cNvPr id="35" name="Oval 34"/>
            <p:cNvSpPr/>
            <p:nvPr/>
          </p:nvSpPr>
          <p:spPr>
            <a:xfrm>
              <a:off x="759619" y="4403884"/>
              <a:ext cx="271462" cy="271462"/>
            </a:xfrm>
            <a:prstGeom prst="ellipse">
              <a:avLst/>
            </a:prstGeom>
            <a:solidFill>
              <a:srgbClr val="FFFFFF"/>
            </a:solidFill>
            <a:ln w="14287">
              <a:solidFill>
                <a:srgbClr val="B4BFCB"/>
              </a:solidFill>
            </a:ln>
            <a:effectLst/>
          </p:spPr>
          <p:txBody>
            <a:bodyPr rtlCol="0" anchor="ctr"/>
            <a:lstStyle/>
            <a:p>
              <a:pPr algn="ctr"/>
            </a:p>
          </p:txBody>
        </p:sp>
        <p:pic>
          <p:nvPicPr>
            <p:cNvPr id="36" name="Picture 35" descr="hotel__084878.png"/>
            <p:cNvPicPr>
              <a:picLocks noChangeAspect="1"/>
            </p:cNvPicPr>
            <p:nvPr/>
          </p:nvPicPr>
          <p:blipFill>
            <a:blip r:embed="rId6"/>
            <a:stretch>
              <a:fillRect/>
            </a:stretch>
          </p:blipFill>
          <p:spPr>
            <a:xfrm>
              <a:off x="821055" y="4465320"/>
              <a:ext cx="148590" cy="148590"/>
            </a:xfrm>
            <a:prstGeom prst="rect">
              <a:avLst/>
            </a:prstGeom>
          </p:spPr>
        </p:pic>
      </p:grpSp>
      <p:sp>
        <p:nvSpPr>
          <p:cNvPr id="37" name="TextBox 36"/>
          <p:cNvSpPr txBox="1"/>
          <p:nvPr/>
        </p:nvSpPr>
        <p:spPr>
          <a:xfrm>
            <a:off x="1152525" y="4330065"/>
            <a:ext cx="5247322" cy="419100"/>
          </a:xfrm>
          <a:prstGeom prst="rect">
            <a:avLst/>
          </a:prstGeom>
          <a:noFill/>
        </p:spPr>
        <p:txBody>
          <a:bodyPr wrap="square" lIns="0" rIns="0" tIns="0" bIns="0" anchor="ctr">
            <a:noAutofit/>
          </a:bodyPr>
          <a:lstStyle/>
          <a:p>
            <a:pPr algn="l">
              <a:lnSpc>
                <a:spcPts val="1518"/>
              </a:lnSpc>
            </a:pPr>
            <a:r>
              <a:rPr sz="1125" b="0" i="0" lang="de-DE">
                <a:solidFill>
                  <a:srgbClr val="141A21"/>
                </a:solidFill>
                <a:latin typeface="IBM Plex Sans"/>
              </a:rPr>
              <a:t>Wie bei Hotels: Man vergleicht die Auslastung, nicht die Gästezahl.</a:t>
            </a:r>
          </a:p>
        </p:txBody>
      </p:sp>
      <p:sp>
        <p:nvSpPr>
          <p:cNvPr id="38" name="Rounded Rectangle 37"/>
          <p:cNvSpPr/>
          <p:nvPr/>
        </p:nvSpPr>
        <p:spPr>
          <a:xfrm>
            <a:off x="6790372" y="1362075"/>
            <a:ext cx="4715828" cy="3270885"/>
          </a:xfrm>
          <a:prstGeom prst="roundRect">
            <a:avLst>
              <a:gd name="adj" fmla="val 2912"/>
            </a:avLst>
          </a:prstGeom>
          <a:solidFill>
            <a:srgbClr val="FFFFFF"/>
          </a:solidFill>
          <a:ln w="9525">
            <a:solidFill>
              <a:srgbClr val="D2DAE2"/>
            </a:solidFill>
          </a:ln>
          <a:effectLst/>
        </p:spPr>
        <p:txBody>
          <a:bodyPr rtlCol="0" anchor="ctr"/>
          <a:lstStyle/>
          <a:p>
            <a:pPr algn="ctr"/>
          </a:p>
        </p:txBody>
      </p:sp>
      <p:sp>
        <p:nvSpPr>
          <p:cNvPr id="58" name="Rounded Rectangle 57"/>
          <p:cNvSpPr/>
          <p:nvPr/>
        </p:nvSpPr>
        <p:spPr>
          <a:xfrm>
            <a:off x="6790372" y="4747260"/>
            <a:ext cx="4715828" cy="1066800"/>
          </a:xfrm>
          <a:prstGeom prst="roundRect">
            <a:avLst>
              <a:gd name="adj" fmla="val 8928"/>
            </a:avLst>
          </a:prstGeom>
          <a:solidFill>
            <a:srgbClr val="063659"/>
          </a:solidFill>
          <a:ln>
            <a:noFill/>
          </a:ln>
          <a:effectLst/>
        </p:spPr>
        <p:txBody>
          <a:bodyPr rtlCol="0" anchor="ctr"/>
          <a:lstStyle/>
          <a:p>
            <a:pPr algn="ctr"/>
          </a:p>
        </p:txBody>
      </p:sp>
      <p:sp>
        <p:nvSpPr>
          <p:cNvPr id="59" name="TextBox 58"/>
          <p:cNvSpPr txBox="1"/>
          <p:nvPr/>
        </p:nvSpPr>
        <p:spPr>
          <a:xfrm>
            <a:off x="6980872" y="4994910"/>
            <a:ext cx="1833562" cy="571500"/>
          </a:xfrm>
          <a:prstGeom prst="rect">
            <a:avLst/>
          </a:prstGeom>
          <a:noFill/>
        </p:spPr>
        <p:txBody>
          <a:bodyPr wrap="none" lIns="0" rIns="0" tIns="0" bIns="0" anchor="t">
            <a:noAutofit/>
          </a:bodyPr>
          <a:lstStyle/>
          <a:p>
            <a:pPr algn="l">
              <a:lnSpc>
                <a:spcPts val="4500"/>
              </a:lnSpc>
            </a:pPr>
            <a:r>
              <a:rPr sz="3450" b="1" i="0" lang="de-DE" spc="-69">
                <a:solidFill>
                  <a:srgbClr val="FFFFFF"/>
                </a:solidFill>
                <a:latin typeface="Geist Mono"/>
              </a:rPr>
              <a:t>−6,2 %</a:t>
            </a:r>
          </a:p>
        </p:txBody>
      </p:sp>
      <p:sp>
        <p:nvSpPr>
          <p:cNvPr id="60" name="TextBox 59"/>
          <p:cNvSpPr txBox="1"/>
          <p:nvPr/>
        </p:nvSpPr>
        <p:spPr>
          <a:xfrm>
            <a:off x="8677275" y="4880610"/>
            <a:ext cx="2714625" cy="800100"/>
          </a:xfrm>
          <a:prstGeom prst="rect">
            <a:avLst/>
          </a:prstGeom>
          <a:noFill/>
        </p:spPr>
        <p:txBody>
          <a:bodyPr wrap="square" lIns="0" rIns="0" tIns="0" bIns="0" anchor="t">
            <a:noAutofit/>
          </a:bodyPr>
          <a:lstStyle/>
          <a:p>
            <a:pPr algn="l">
              <a:lnSpc>
                <a:spcPts val="1575"/>
              </a:lnSpc>
            </a:pPr>
            <a:r>
              <a:rPr sz="1125" b="0" i="0" lang="de-DE">
                <a:solidFill>
                  <a:srgbClr val="BBD7EA"/>
                </a:solidFill>
                <a:latin typeface="IBM Plex Sans"/>
              </a:rPr>
              <a:t>Test-RMSE gegenüber einem gleich abgestimmten, direkt auf kWh trainierten Random Forest</a:t>
            </a:r>
          </a:p>
          <a:p>
            <a:pPr algn="l">
              <a:lnSpc>
                <a:spcPts val="1575"/>
              </a:lnSpc>
            </a:pPr>
            <a:r>
              <a:rPr sz="1125" b="0" i="0" lang="de-DE">
                <a:solidFill>
                  <a:srgbClr val="FFFFFF"/>
                </a:solidFill>
                <a:latin typeface="Geist Mono"/>
              </a:rPr>
              <a:t>9.800 → 9.188 kWh</a:t>
            </a:r>
          </a:p>
        </p:txBody>
      </p:sp>
      <p:cxnSp>
        <p:nvCxnSpPr>
          <p:cNvPr id="61"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62" name="Logo" descr="image.png"/>
          <p:cNvPicPr>
            <a:picLocks noChangeAspect="1"/>
          </p:cNvPicPr>
          <p:nvPr/>
        </p:nvPicPr>
        <p:blipFill>
          <a:blip r:embed="rId7"/>
          <a:stretch>
            <a:fillRect/>
          </a:stretch>
        </p:blipFill>
        <p:spPr>
          <a:xfrm>
            <a:off x="685800" y="6400800"/>
            <a:ext cx="715863" cy="247650"/>
          </a:xfrm>
          <a:prstGeom prst="rect">
            <a:avLst/>
          </a:prstGeom>
        </p:spPr>
      </p:pic>
      <p:sp>
        <p:nvSpPr>
          <p:cNvPr id="63" name="TextBox 62"/>
          <p:cNvSpPr txBox="1"/>
          <p:nvPr/>
        </p:nvSpPr>
        <p:spPr>
          <a:xfrm>
            <a:off x="1554480" y="6429375"/>
            <a:ext cx="289179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64" name="Connector 63"/>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65" name="Scheibe chart-spline"/>
          <p:cNvGrpSpPr/>
          <p:nvPr/>
        </p:nvGrpSpPr>
        <p:grpSpPr>
          <a:xfrm>
            <a:off x="4516755" y="6419850"/>
            <a:ext cx="209550" cy="209550"/>
            <a:chOff x="4516755" y="6419850"/>
            <a:chExt cx="209550" cy="209550"/>
          </a:xfrm>
        </p:grpSpPr>
        <p:sp>
          <p:nvSpPr>
            <p:cNvPr id="66" name="Oval 65"/>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67" name="Picture 66" descr="chart-spline__FFFFFF.png"/>
            <p:cNvPicPr>
              <a:picLocks noChangeAspect="1"/>
            </p:cNvPicPr>
            <p:nvPr/>
          </p:nvPicPr>
          <p:blipFill>
            <a:blip r:embed="rId8"/>
            <a:stretch>
              <a:fillRect/>
            </a:stretch>
          </p:blipFill>
          <p:spPr>
            <a:xfrm>
              <a:off x="4567047" y="6470142"/>
              <a:ext cx="108966" cy="108966"/>
            </a:xfrm>
            <a:prstGeom prst="rect">
              <a:avLst/>
            </a:prstGeom>
          </p:spPr>
        </p:pic>
      </p:grpSp>
      <p:sp>
        <p:nvSpPr>
          <p:cNvPr id="68" name="TextBox 67"/>
          <p:cNvSpPr txBox="1"/>
          <p:nvPr/>
        </p:nvSpPr>
        <p:spPr>
          <a:xfrm>
            <a:off x="4783455"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03</a:t>
            </a:r>
          </a:p>
        </p:txBody>
      </p:sp>
      <p:sp>
        <p:nvSpPr>
          <p:cNvPr id="69" name="TextBox 68"/>
          <p:cNvSpPr txBox="1"/>
          <p:nvPr/>
        </p:nvSpPr>
        <p:spPr>
          <a:xfrm>
            <a:off x="5000625" y="6438900"/>
            <a:ext cx="857269"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Vorhersage</a:t>
            </a:r>
          </a:p>
        </p:txBody>
      </p:sp>
      <p:grpSp>
        <p:nvGrpSpPr>
          <p:cNvPr id="70" name="Scheibe trees"/>
          <p:cNvGrpSpPr/>
          <p:nvPr/>
        </p:nvGrpSpPr>
        <p:grpSpPr>
          <a:xfrm>
            <a:off x="5799010" y="6419850"/>
            <a:ext cx="209550" cy="209550"/>
            <a:chOff x="5799010" y="6419850"/>
            <a:chExt cx="209550" cy="209550"/>
          </a:xfrm>
        </p:grpSpPr>
        <p:sp>
          <p:nvSpPr>
            <p:cNvPr id="71" name="Oval 70"/>
            <p:cNvSpPr/>
            <p:nvPr/>
          </p:nvSpPr>
          <p:spPr>
            <a:xfrm>
              <a:off x="5799010" y="6419850"/>
              <a:ext cx="209550" cy="209550"/>
            </a:xfrm>
            <a:prstGeom prst="ellipse">
              <a:avLst/>
            </a:prstGeom>
            <a:solidFill>
              <a:srgbClr val="00718E"/>
            </a:solidFill>
            <a:ln>
              <a:noFill/>
            </a:ln>
            <a:effectLst/>
          </p:spPr>
          <p:txBody>
            <a:bodyPr rtlCol="0" anchor="ctr"/>
            <a:lstStyle/>
            <a:p>
              <a:pPr algn="ctr"/>
            </a:p>
          </p:txBody>
        </p:sp>
        <p:pic>
          <p:nvPicPr>
            <p:cNvPr id="72" name="Picture 71" descr="trees__FFFFFF.png"/>
            <p:cNvPicPr>
              <a:picLocks noChangeAspect="1"/>
            </p:cNvPicPr>
            <p:nvPr/>
          </p:nvPicPr>
          <p:blipFill>
            <a:blip r:embed="rId9"/>
            <a:stretch>
              <a:fillRect/>
            </a:stretch>
          </p:blipFill>
          <p:spPr>
            <a:xfrm>
              <a:off x="5849302" y="6470142"/>
              <a:ext cx="108966" cy="108966"/>
            </a:xfrm>
            <a:prstGeom prst="rect">
              <a:avLst/>
            </a:prstGeom>
          </p:spPr>
        </p:pic>
      </p:grpSp>
      <p:sp>
        <p:nvSpPr>
          <p:cNvPr id="73" name="TextBox 72"/>
          <p:cNvSpPr txBox="1"/>
          <p:nvPr/>
        </p:nvSpPr>
        <p:spPr>
          <a:xfrm>
            <a:off x="6065710"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05</a:t>
            </a:r>
          </a:p>
        </p:txBody>
      </p:sp>
      <p:sp>
        <p:nvSpPr>
          <p:cNvPr id="74" name="TextBox 73"/>
          <p:cNvSpPr txBox="1"/>
          <p:nvPr/>
        </p:nvSpPr>
        <p:spPr>
          <a:xfrm>
            <a:off x="6282880" y="6438900"/>
            <a:ext cx="826465"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Lernansatz</a:t>
            </a:r>
          </a:p>
        </p:txBody>
      </p:sp>
      <p:sp>
        <p:nvSpPr>
          <p:cNvPr id="75" name="TextBox 74"/>
          <p:cNvSpPr txBox="1"/>
          <p:nvPr/>
        </p:nvSpPr>
        <p:spPr>
          <a:xfrm>
            <a:off x="9486900" y="6429375"/>
            <a:ext cx="12573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76" name="Seitenzahl"/>
          <p:cNvSpPr txBox="1"/>
          <p:nvPr/>
        </p:nvSpPr>
        <p:spPr>
          <a:xfrm>
            <a:off x="10835640" y="6424612"/>
            <a:ext cx="67056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5 / 11</a:t>
            </a:r>
          </a:p>
        </p:txBody>
      </p:sp>
      <p:pic>
        <p:nvPicPr>
          <p:cNvPr id="77" name="Diagramm s05_svg11.png" descr="s05_svg11.png"/>
          <p:cNvPicPr>
            <a:picLocks noChangeAspect="1"/>
          </p:cNvPicPr>
          <p:nvPr/>
        </p:nvPicPr>
        <p:blipFill>
          <a:blip r:embed="rId10"/>
          <a:stretch>
            <a:fillRect/>
          </a:stretch>
        </p:blipFill>
        <p:spPr>
          <a:xfrm>
            <a:off x="6990159" y="1524298"/>
            <a:ext cx="4316016" cy="2946946"/>
          </a:xfrm>
          <a:prstGeom prst="rect">
            <a:avLst/>
          </a:prstGeom>
        </p:spPr>
      </p:pic>
      <p:grpSp>
        <p:nvGrpSpPr>
          <p:cNvPr id="39" name="Kapitel 01"/>
          <p:cNvGrpSpPr/>
          <p:nvPr/>
        </p:nvGrpSpPr>
        <p:grpSpPr>
          <a:xfrm>
            <a:off x="9532144" y="407194"/>
            <a:ext cx="233362" cy="233362"/>
            <a:chOff x="9532144" y="407194"/>
            <a:chExt cx="233362" cy="233362"/>
          </a:xfrm>
        </p:grpSpPr>
        <p:sp>
          <p:nvSpPr>
            <p:cNvPr id="78" name="Oval 77"/>
            <p:cNvSpPr/>
            <p:nvPr/>
          </p:nvSpPr>
          <p:spPr>
            <a:xfrm>
              <a:off x="953214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79" name="Picture 78" descr="building-2__084878.png"/>
            <p:cNvPicPr>
              <a:picLocks noChangeAspect="1"/>
            </p:cNvPicPr>
            <p:nvPr/>
          </p:nvPicPr>
          <p:blipFill>
            <a:blip r:embed="rId11"/>
            <a:stretch>
              <a:fillRect/>
            </a:stretch>
          </p:blipFill>
          <p:spPr>
            <a:xfrm>
              <a:off x="9584436" y="459486"/>
              <a:ext cx="128778" cy="128778"/>
            </a:xfrm>
            <a:prstGeom prst="rect">
              <a:avLst/>
            </a:prstGeom>
          </p:spPr>
        </p:pic>
      </p:grpSp>
      <p:grpSp>
        <p:nvGrpSpPr>
          <p:cNvPr id="40" name="Kapitel 02"/>
          <p:cNvGrpSpPr/>
          <p:nvPr/>
        </p:nvGrpSpPr>
        <p:grpSpPr>
          <a:xfrm>
            <a:off x="9817894" y="407194"/>
            <a:ext cx="233362" cy="233362"/>
            <a:chOff x="9817894" y="407194"/>
            <a:chExt cx="233362" cy="233362"/>
          </a:xfrm>
        </p:grpSpPr>
        <p:sp>
          <p:nvSpPr>
            <p:cNvPr id="80" name="Oval 79"/>
            <p:cNvSpPr/>
            <p:nvPr/>
          </p:nvSpPr>
          <p:spPr>
            <a:xfrm>
              <a:off x="981789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81" name="Picture 80" descr="database__084878.png"/>
            <p:cNvPicPr>
              <a:picLocks noChangeAspect="1"/>
            </p:cNvPicPr>
            <p:nvPr/>
          </p:nvPicPr>
          <p:blipFill>
            <a:blip r:embed="rId12"/>
            <a:stretch>
              <a:fillRect/>
            </a:stretch>
          </p:blipFill>
          <p:spPr>
            <a:xfrm>
              <a:off x="9870186" y="459486"/>
              <a:ext cx="128778" cy="128778"/>
            </a:xfrm>
            <a:prstGeom prst="rect">
              <a:avLst/>
            </a:prstGeom>
          </p:spPr>
        </p:pic>
      </p:grpSp>
      <p:grpSp>
        <p:nvGrpSpPr>
          <p:cNvPr id="41" name="Kapitel 03"/>
          <p:cNvGrpSpPr/>
          <p:nvPr/>
        </p:nvGrpSpPr>
        <p:grpSpPr>
          <a:xfrm>
            <a:off x="10256044" y="407194"/>
            <a:ext cx="233362" cy="233362"/>
            <a:chOff x="10256044" y="407194"/>
            <a:chExt cx="233362" cy="233362"/>
          </a:xfrm>
        </p:grpSpPr>
        <p:sp>
          <p:nvSpPr>
            <p:cNvPr id="82" name="Oval 81"/>
            <p:cNvSpPr/>
            <p:nvPr/>
          </p:nvSpPr>
          <p:spPr>
            <a:xfrm>
              <a:off x="1025604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83" name="Picture 82" descr="layout-grid__084878.png"/>
            <p:cNvPicPr>
              <a:picLocks noChangeAspect="1"/>
            </p:cNvPicPr>
            <p:nvPr/>
          </p:nvPicPr>
          <p:blipFill>
            <a:blip r:embed="rId13"/>
            <a:stretch>
              <a:fillRect/>
            </a:stretch>
          </p:blipFill>
          <p:spPr>
            <a:xfrm>
              <a:off x="10308336" y="459486"/>
              <a:ext cx="128778" cy="128778"/>
            </a:xfrm>
            <a:prstGeom prst="rect">
              <a:avLst/>
            </a:prstGeom>
          </p:spPr>
        </p:pic>
      </p:grpSp>
      <p:grpSp>
        <p:nvGrpSpPr>
          <p:cNvPr id="42" name="Kapitel 04 aktiv"/>
          <p:cNvGrpSpPr/>
          <p:nvPr/>
        </p:nvGrpSpPr>
        <p:grpSpPr>
          <a:xfrm>
            <a:off x="10534650" y="400050"/>
            <a:ext cx="247650" cy="247650"/>
            <a:chOff x="10534650" y="400050"/>
            <a:chExt cx="247650" cy="247650"/>
          </a:xfrm>
        </p:grpSpPr>
        <p:sp>
          <p:nvSpPr>
            <p:cNvPr id="84" name="Oval 83"/>
            <p:cNvSpPr/>
            <p:nvPr/>
          </p:nvSpPr>
          <p:spPr>
            <a:xfrm>
              <a:off x="10534650" y="400050"/>
              <a:ext cx="247650" cy="247650"/>
            </a:xfrm>
            <a:prstGeom prst="ellipse">
              <a:avLst/>
            </a:prstGeom>
            <a:solidFill>
              <a:srgbClr val="084878"/>
            </a:solidFill>
            <a:ln>
              <a:noFill/>
            </a:ln>
            <a:effectLst/>
          </p:spPr>
          <p:txBody>
            <a:bodyPr rtlCol="0" anchor="ctr"/>
            <a:lstStyle/>
            <a:p>
              <a:pPr algn="ctr"/>
            </a:p>
          </p:txBody>
        </p:sp>
        <p:pic>
          <p:nvPicPr>
            <p:cNvPr id="85" name="Picture 84" descr="trees__FFFFFF.png"/>
            <p:cNvPicPr>
              <a:picLocks noChangeAspect="1"/>
            </p:cNvPicPr>
            <p:nvPr/>
          </p:nvPicPr>
          <p:blipFill>
            <a:blip r:embed="rId9"/>
            <a:stretch>
              <a:fillRect/>
            </a:stretch>
          </p:blipFill>
          <p:spPr>
            <a:xfrm>
              <a:off x="10594086" y="459486"/>
              <a:ext cx="128778" cy="128778"/>
            </a:xfrm>
            <a:prstGeom prst="rect">
              <a:avLst/>
            </a:prstGeom>
          </p:spPr>
        </p:pic>
      </p:grpSp>
      <p:grpSp>
        <p:nvGrpSpPr>
          <p:cNvPr id="43" name="Kapitel 05"/>
          <p:cNvGrpSpPr/>
          <p:nvPr/>
        </p:nvGrpSpPr>
        <p:grpSpPr>
          <a:xfrm>
            <a:off x="10979944" y="407194"/>
            <a:ext cx="233362" cy="233362"/>
            <a:chOff x="10979944" y="407194"/>
            <a:chExt cx="233362" cy="233362"/>
          </a:xfrm>
        </p:grpSpPr>
        <p:sp>
          <p:nvSpPr>
            <p:cNvPr id="86" name="Oval 85"/>
            <p:cNvSpPr/>
            <p:nvPr/>
          </p:nvSpPr>
          <p:spPr>
            <a:xfrm>
              <a:off x="10979944" y="407194"/>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87" name="Picture 86" descr="chart-column__8A96A3.png"/>
            <p:cNvPicPr>
              <a:picLocks noChangeAspect="1"/>
            </p:cNvPicPr>
            <p:nvPr/>
          </p:nvPicPr>
          <p:blipFill>
            <a:blip r:embed="rId14"/>
            <a:stretch>
              <a:fillRect/>
            </a:stretch>
          </p:blipFill>
          <p:spPr>
            <a:xfrm>
              <a:off x="11032236" y="459486"/>
              <a:ext cx="128778" cy="128778"/>
            </a:xfrm>
            <a:prstGeom prst="rect">
              <a:avLst/>
            </a:prstGeom>
          </p:spPr>
        </p:pic>
      </p:grpSp>
      <p:grpSp>
        <p:nvGrpSpPr>
          <p:cNvPr id="44" name="Kapitel 06"/>
          <p:cNvGrpSpPr/>
          <p:nvPr/>
        </p:nvGrpSpPr>
        <p:grpSpPr>
          <a:xfrm>
            <a:off x="11265694" y="407194"/>
            <a:ext cx="233362" cy="233362"/>
            <a:chOff x="11265694" y="407194"/>
            <a:chExt cx="233362" cy="233362"/>
          </a:xfrm>
        </p:grpSpPr>
        <p:sp>
          <p:nvSpPr>
            <p:cNvPr id="88" name="Oval 87"/>
            <p:cNvSpPr/>
            <p:nvPr/>
          </p:nvSpPr>
          <p:spPr>
            <a:xfrm>
              <a:off x="11265694" y="407194"/>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89" name="Picture 88" descr="compass__8A96A3.png"/>
            <p:cNvPicPr>
              <a:picLocks noChangeAspect="1"/>
            </p:cNvPicPr>
            <p:nvPr/>
          </p:nvPicPr>
          <p:blipFill>
            <a:blip r:embed="rId15"/>
            <a:stretch>
              <a:fillRect/>
            </a:stretch>
          </p:blipFill>
          <p:spPr>
            <a:xfrm>
              <a:off x="11317986" y="459486"/>
              <a:ext cx="128778" cy="128778"/>
            </a:xfrm>
            <a:prstGeom prst="rect">
              <a:avLst/>
            </a:prstGeom>
          </p:spPr>
        </p:pic>
      </p:grpSp>
      <p:cxnSp>
        <p:nvCxnSpPr>
          <p:cNvPr id="90" name="Kapitel-Lücke"/>
          <p:cNvCxnSpPr/>
          <p:nvPr/>
        </p:nvCxnSpPr>
        <p:spPr>
          <a:xfrm>
            <a:off x="10115550" y="523875"/>
            <a:ext cx="7620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cxnSp>
        <p:nvCxnSpPr>
          <p:cNvPr id="91" name="Kapitel-Lücke"/>
          <p:cNvCxnSpPr/>
          <p:nvPr/>
        </p:nvCxnSpPr>
        <p:spPr>
          <a:xfrm>
            <a:off x="10839450" y="523875"/>
            <a:ext cx="7620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sp>
        <p:nvSpPr>
          <p:cNvPr id="92" name="Kapitel-Label"/>
          <p:cNvSpPr txBox="1"/>
          <p:nvPr/>
        </p:nvSpPr>
        <p:spPr>
          <a:xfrm>
            <a:off x="6267450" y="428625"/>
            <a:ext cx="3143250" cy="171450"/>
          </a:xfrm>
          <a:prstGeom prst="rect">
            <a:avLst/>
          </a:prstGeom>
          <a:noFill/>
        </p:spPr>
        <p:txBody>
          <a:bodyPr wrap="none" lIns="0" rIns="0" tIns="0" bIns="0" anchor="t">
            <a:noAutofit/>
          </a:bodyPr>
          <a:lstStyle/>
          <a:p>
            <a:pPr algn="r">
              <a:lnSpc>
                <a:spcPts val="1350"/>
              </a:lnSpc>
            </a:pPr>
            <a:r>
              <a:rPr sz="1050" b="1" i="0" lang="de-DE">
                <a:solidFill>
                  <a:srgbClr val="005E77"/>
                </a:solidFill>
                <a:latin typeface="IBM Plex Sans"/>
              </a:rPr>
              <a:t>04 · Methodik und Modell · Kiko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84878"/>
            </a:solidFill>
            <a:ln>
              <a:noFill/>
            </a:ln>
            <a:effectLst/>
          </p:spPr>
          <p:txBody>
            <a:bodyPr rtlCol="0" anchor="ctr"/>
            <a:lstStyle/>
            <a:p>
              <a:pPr algn="ctr"/>
            </a:p>
          </p:txBody>
        </p:sp>
        <p:pic>
          <p:nvPicPr>
            <p:cNvPr id="4" name="Picture 3" descr="ruler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733425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Schlägt das Modell eine einfache Regel?</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Random Forest knapp vorn, einfache Regeln klar geschlagen</a:t>
            </a:r>
          </a:p>
        </p:txBody>
      </p:sp>
      <p:sp>
        <p:nvSpPr>
          <p:cNvPr id="7" name="Rounded Rectangle 6"/>
          <p:cNvSpPr/>
          <p:nvPr/>
        </p:nvSpPr>
        <p:spPr>
          <a:xfrm>
            <a:off x="685800" y="1362075"/>
            <a:ext cx="5314950" cy="3126105"/>
          </a:xfrm>
          <a:prstGeom prst="roundRect">
            <a:avLst>
              <a:gd name="adj" fmla="val 3046"/>
            </a:avLst>
          </a:prstGeom>
          <a:solidFill>
            <a:srgbClr val="FFFFFF"/>
          </a:solidFill>
          <a:ln w="9525">
            <a:solidFill>
              <a:srgbClr val="D2DAE2"/>
            </a:solidFill>
          </a:ln>
          <a:effectLst/>
        </p:spPr>
        <p:txBody>
          <a:bodyPr rtlCol="0" anchor="ctr"/>
          <a:lstStyle/>
          <a:p>
            <a:pPr algn="ctr"/>
          </a:p>
        </p:txBody>
      </p:sp>
      <p:sp>
        <p:nvSpPr>
          <p:cNvPr id="8" name="TextBox 7"/>
          <p:cNvSpPr txBox="1"/>
          <p:nvPr/>
        </p:nvSpPr>
        <p:spPr>
          <a:xfrm>
            <a:off x="847725" y="1485900"/>
            <a:ext cx="4991100" cy="190500"/>
          </a:xfrm>
          <a:prstGeom prst="rect">
            <a:avLst/>
          </a:prstGeom>
          <a:noFill/>
        </p:spPr>
        <p:txBody>
          <a:bodyPr wrap="square" lIns="0" rIns="0" tIns="0" bIns="0" anchor="t">
            <a:noAutofit/>
          </a:bodyPr>
          <a:lstStyle/>
          <a:p>
            <a:pPr algn="l">
              <a:lnSpc>
                <a:spcPts val="1500"/>
              </a:lnSpc>
            </a:pPr>
            <a:r>
              <a:rPr sz="1200" b="1" i="0" lang="de-DE">
                <a:solidFill>
                  <a:srgbClr val="141A21"/>
                </a:solidFill>
                <a:latin typeface="IBM Plex Sans"/>
              </a:rPr>
              <a:t>Auswahl · Ø RMSE über 3 zeitliche Folds 2024</a:t>
            </a:r>
          </a:p>
        </p:txBody>
      </p:sp>
      <p:sp>
        <p:nvSpPr>
          <p:cNvPr id="45" name="TextBox 44"/>
          <p:cNvSpPr txBox="1"/>
          <p:nvPr/>
        </p:nvSpPr>
        <p:spPr>
          <a:xfrm>
            <a:off x="752667" y="3067745"/>
            <a:ext cx="1859972" cy="197367"/>
          </a:xfrm>
          <a:prstGeom prst="rect">
            <a:avLst/>
          </a:prstGeom>
          <a:noFill/>
        </p:spPr>
        <p:txBody>
          <a:bodyPr wrap="none" lIns="0" rIns="0" tIns="0" bIns="0" anchor="t">
            <a:noAutofit/>
          </a:bodyPr>
          <a:lstStyle/>
          <a:p>
            <a:pPr algn="r">
              <a:lnSpc>
                <a:spcPts val="1554"/>
              </a:lnSpc>
            </a:pPr>
            <a:r>
              <a:rPr sz="1195" b="0" i="0" lang="de-DE">
                <a:solidFill>
                  <a:srgbClr val="141A21"/>
                </a:solidFill>
                <a:latin typeface="IBM Plex Sans"/>
              </a:rPr>
              <a:t>Bis-zu-3-Monats-Mittel</a:t>
            </a:r>
          </a:p>
        </p:txBody>
      </p:sp>
      <p:sp>
        <p:nvSpPr>
          <p:cNvPr id="49" name="TextBox 48"/>
          <p:cNvSpPr txBox="1"/>
          <p:nvPr/>
        </p:nvSpPr>
        <p:spPr>
          <a:xfrm>
            <a:off x="847725" y="4068128"/>
            <a:ext cx="5048250" cy="180975"/>
          </a:xfrm>
          <a:prstGeom prst="rect">
            <a:avLst/>
          </a:prstGeom>
          <a:noFill/>
        </p:spPr>
        <p:txBody>
          <a:bodyPr wrap="square" lIns="0" rIns="0" tIns="0" bIns="0" anchor="t">
            <a:noAutofit/>
          </a:bodyPr>
          <a:lstStyle/>
          <a:p>
            <a:pPr algn="l">
              <a:lnSpc>
                <a:spcPts val="1417"/>
              </a:lnSpc>
            </a:pPr>
            <a:r>
              <a:rPr sz="1050" b="0" i="0" lang="de-DE">
                <a:solidFill>
                  <a:srgbClr val="4E5A68"/>
                </a:solidFill>
                <a:latin typeface="IBM Plex Sans"/>
              </a:rPr>
              <a:t>Fold 1 liegt überall am höchsten und zieht jeden Mittelwert hoch. Strich = ±1 Std.</a:t>
            </a:r>
          </a:p>
        </p:txBody>
      </p:sp>
      <p:sp>
        <p:nvSpPr>
          <p:cNvPr id="50" name="Rounded Rectangle 49"/>
          <p:cNvSpPr/>
          <p:nvPr/>
        </p:nvSpPr>
        <p:spPr>
          <a:xfrm>
            <a:off x="6191250" y="1362075"/>
            <a:ext cx="5314950" cy="3126105"/>
          </a:xfrm>
          <a:prstGeom prst="roundRect">
            <a:avLst>
              <a:gd name="adj" fmla="val 3046"/>
            </a:avLst>
          </a:prstGeom>
          <a:solidFill>
            <a:srgbClr val="FFFFFF"/>
          </a:solidFill>
          <a:ln w="9525">
            <a:solidFill>
              <a:srgbClr val="D2DAE2"/>
            </a:solidFill>
          </a:ln>
          <a:effectLst/>
        </p:spPr>
        <p:txBody>
          <a:bodyPr rtlCol="0" anchor="ctr"/>
          <a:lstStyle/>
          <a:p>
            <a:pPr algn="ctr"/>
          </a:p>
        </p:txBody>
      </p:sp>
      <p:sp>
        <p:nvSpPr>
          <p:cNvPr id="51" name="TextBox 50"/>
          <p:cNvSpPr txBox="1"/>
          <p:nvPr/>
        </p:nvSpPr>
        <p:spPr>
          <a:xfrm>
            <a:off x="6353175" y="1485900"/>
            <a:ext cx="4991100" cy="190500"/>
          </a:xfrm>
          <a:prstGeom prst="rect">
            <a:avLst/>
          </a:prstGeom>
          <a:noFill/>
        </p:spPr>
        <p:txBody>
          <a:bodyPr wrap="square" lIns="0" rIns="0" tIns="0" bIns="0" anchor="t">
            <a:noAutofit/>
          </a:bodyPr>
          <a:lstStyle/>
          <a:p>
            <a:pPr algn="l">
              <a:lnSpc>
                <a:spcPts val="1500"/>
              </a:lnSpc>
            </a:pPr>
            <a:r>
              <a:rPr sz="1200" b="1" i="0" lang="de-DE">
                <a:solidFill>
                  <a:srgbClr val="141A21"/>
                </a:solidFill>
                <a:latin typeface="IBM Plex Sans"/>
              </a:rPr>
              <a:t>Bestätigung · RMSE im Testjahr 2025</a:t>
            </a:r>
          </a:p>
        </p:txBody>
      </p:sp>
      <p:sp>
        <p:nvSpPr>
          <p:cNvPr id="59" name="TextBox 58"/>
          <p:cNvSpPr txBox="1"/>
          <p:nvPr/>
        </p:nvSpPr>
        <p:spPr>
          <a:xfrm>
            <a:off x="6258117" y="3067745"/>
            <a:ext cx="1859972" cy="197367"/>
          </a:xfrm>
          <a:prstGeom prst="rect">
            <a:avLst/>
          </a:prstGeom>
          <a:noFill/>
        </p:spPr>
        <p:txBody>
          <a:bodyPr wrap="none" lIns="0" rIns="0" tIns="0" bIns="0" anchor="t">
            <a:noAutofit/>
          </a:bodyPr>
          <a:lstStyle/>
          <a:p>
            <a:pPr algn="r">
              <a:lnSpc>
                <a:spcPts val="1554"/>
              </a:lnSpc>
            </a:pPr>
            <a:r>
              <a:rPr sz="1195" b="0" i="0" lang="de-DE">
                <a:solidFill>
                  <a:srgbClr val="141A21"/>
                </a:solidFill>
                <a:latin typeface="IBM Plex Sans"/>
              </a:rPr>
              <a:t>Bis-zu-3-Monats-Mittel</a:t>
            </a:r>
          </a:p>
        </p:txBody>
      </p:sp>
      <p:sp>
        <p:nvSpPr>
          <p:cNvPr id="63" name="TextBox 62"/>
          <p:cNvSpPr txBox="1"/>
          <p:nvPr/>
        </p:nvSpPr>
        <p:spPr>
          <a:xfrm>
            <a:off x="6353175" y="4068128"/>
            <a:ext cx="5048250" cy="342900"/>
          </a:xfrm>
          <a:prstGeom prst="rect">
            <a:avLst/>
          </a:prstGeom>
          <a:noFill/>
        </p:spPr>
        <p:txBody>
          <a:bodyPr wrap="square" lIns="0" rIns="0" tIns="0" bIns="0" anchor="t">
            <a:noAutofit/>
          </a:bodyPr>
          <a:lstStyle/>
          <a:p>
            <a:pPr algn="l">
              <a:lnSpc>
                <a:spcPts val="1316"/>
              </a:lnSpc>
            </a:pPr>
            <a:r>
              <a:rPr sz="975" b="0" i="0" lang="de-DE">
                <a:solidFill>
                  <a:srgbClr val="084878"/>
                </a:solidFill>
                <a:latin typeface="Geist Mono"/>
              </a:rPr>
              <a:t>RMSE = √ Ø(Ist − Prognose)² · bestraft große Fehler, die am Spotmarkt teuer sind</a:t>
            </a:r>
          </a:p>
        </p:txBody>
      </p:sp>
      <p:sp>
        <p:nvSpPr>
          <p:cNvPr id="64" name="Rounded Rectangle 63"/>
          <p:cNvSpPr/>
          <p:nvPr/>
        </p:nvSpPr>
        <p:spPr>
          <a:xfrm>
            <a:off x="685800" y="4640580"/>
            <a:ext cx="3620452" cy="1226820"/>
          </a:xfrm>
          <a:prstGeom prst="roundRect">
            <a:avLst>
              <a:gd name="adj" fmla="val 7763"/>
            </a:avLst>
          </a:prstGeom>
          <a:solidFill>
            <a:srgbClr val="063659"/>
          </a:solidFill>
          <a:ln w="9525">
            <a:solidFill>
              <a:srgbClr val="04263F"/>
            </a:solidFill>
          </a:ln>
          <a:effectLst/>
        </p:spPr>
        <p:txBody>
          <a:bodyPr rtlCol="0" anchor="ctr"/>
          <a:lstStyle/>
          <a:p>
            <a:pPr algn="ctr"/>
          </a:p>
        </p:txBody>
      </p:sp>
      <p:grpSp>
        <p:nvGrpSpPr>
          <p:cNvPr id="65" name="Zählwerk −15,9%"/>
          <p:cNvGrpSpPr/>
          <p:nvPr/>
        </p:nvGrpSpPr>
        <p:grpSpPr>
          <a:xfrm>
            <a:off x="673608" y="4764405"/>
            <a:ext cx="1696974" cy="441960"/>
            <a:chOff x="673608" y="4764405"/>
            <a:chExt cx="1696974" cy="441960"/>
          </a:xfrm>
        </p:grpSpPr>
        <p:sp>
          <p:nvSpPr>
            <p:cNvPr id="66" name="TextBox 65"/>
            <p:cNvSpPr txBox="1"/>
            <p:nvPr/>
          </p:nvSpPr>
          <p:spPr>
            <a:xfrm>
              <a:off x="673608" y="4764405"/>
              <a:ext cx="477774" cy="441960"/>
            </a:xfrm>
            <a:prstGeom prst="rect">
              <a:avLst/>
            </a:prstGeom>
            <a:noFill/>
          </p:spPr>
          <p:txBody>
            <a:bodyPr wrap="none" lIns="0" rIns="0" tIns="0" bIns="0" anchor="ctr">
              <a:noAutofit/>
            </a:bodyPr>
            <a:lstStyle/>
            <a:p>
              <a:pPr algn="ctr">
                <a:lnSpc>
                  <a:spcPts val="3000"/>
                </a:lnSpc>
              </a:pPr>
              <a:r>
                <a:rPr sz="3000" b="1" i="0" lang="de-DE">
                  <a:solidFill>
                    <a:srgbClr val="6CC0D2"/>
                  </a:solidFill>
                  <a:latin typeface="Geist Mono"/>
                </a:rPr>
                <a:t>−</a:t>
              </a:r>
            </a:p>
          </p:txBody>
        </p:sp>
        <p:sp>
          <p:nvSpPr>
            <p:cNvPr id="67" name="Rounded Rectangle 66"/>
            <p:cNvSpPr/>
            <p:nvPr/>
          </p:nvSpPr>
          <p:spPr>
            <a:xfrm>
              <a:off x="1000125" y="4764405"/>
              <a:ext cx="281940" cy="441960"/>
            </a:xfrm>
            <a:prstGeom prst="roundRect">
              <a:avLst>
                <a:gd name="adj" fmla="val 16216"/>
              </a:avLst>
            </a:prstGeom>
            <a:solidFill>
              <a:srgbClr val="1F4A6A"/>
            </a:solidFill>
            <a:ln w="9525">
              <a:solidFill>
                <a:srgbClr val="3D627E"/>
              </a:solidFill>
            </a:ln>
            <a:effectLst/>
          </p:spPr>
          <p:txBody>
            <a:bodyPr rtlCol="0" anchor="ctr"/>
            <a:lstStyle/>
            <a:p>
              <a:pPr algn="ctr"/>
            </a:p>
          </p:txBody>
        </p:sp>
        <p:sp>
          <p:nvSpPr>
            <p:cNvPr id="68" name="TextBox 67"/>
            <p:cNvSpPr txBox="1"/>
            <p:nvPr/>
          </p:nvSpPr>
          <p:spPr>
            <a:xfrm>
              <a:off x="923163" y="4764405"/>
              <a:ext cx="435864" cy="441960"/>
            </a:xfrm>
            <a:prstGeom prst="rect">
              <a:avLst/>
            </a:prstGeom>
            <a:noFill/>
          </p:spPr>
          <p:txBody>
            <a:bodyPr wrap="none" lIns="0" rIns="0" tIns="0" bIns="0" anchor="ctr">
              <a:noAutofit/>
            </a:bodyPr>
            <a:lstStyle/>
            <a:p>
              <a:pPr algn="ctr">
                <a:lnSpc>
                  <a:spcPts val="3000"/>
                </a:lnSpc>
              </a:pPr>
              <a:r>
                <a:rPr sz="3000" b="1" i="0" lang="de-DE">
                  <a:solidFill>
                    <a:srgbClr val="FFFFFF"/>
                  </a:solidFill>
                  <a:latin typeface="Geist Mono"/>
                </a:rPr>
                <a:t>1</a:t>
              </a:r>
            </a:p>
          </p:txBody>
        </p:sp>
        <p:sp>
          <p:nvSpPr>
            <p:cNvPr id="69" name="Rounded Rectangle 68"/>
            <p:cNvSpPr/>
            <p:nvPr/>
          </p:nvSpPr>
          <p:spPr>
            <a:xfrm>
              <a:off x="1304925" y="4764405"/>
              <a:ext cx="281940" cy="441960"/>
            </a:xfrm>
            <a:prstGeom prst="roundRect">
              <a:avLst>
                <a:gd name="adj" fmla="val 16216"/>
              </a:avLst>
            </a:prstGeom>
            <a:solidFill>
              <a:srgbClr val="1F4A6A"/>
            </a:solidFill>
            <a:ln w="9525">
              <a:solidFill>
                <a:srgbClr val="3D627E"/>
              </a:solidFill>
            </a:ln>
            <a:effectLst/>
          </p:spPr>
          <p:txBody>
            <a:bodyPr rtlCol="0" anchor="ctr"/>
            <a:lstStyle/>
            <a:p>
              <a:pPr algn="ctr"/>
            </a:p>
          </p:txBody>
        </p:sp>
        <p:sp>
          <p:nvSpPr>
            <p:cNvPr id="70" name="TextBox 69"/>
            <p:cNvSpPr txBox="1"/>
            <p:nvPr/>
          </p:nvSpPr>
          <p:spPr>
            <a:xfrm>
              <a:off x="1227963" y="4764405"/>
              <a:ext cx="435864" cy="441960"/>
            </a:xfrm>
            <a:prstGeom prst="rect">
              <a:avLst/>
            </a:prstGeom>
            <a:noFill/>
          </p:spPr>
          <p:txBody>
            <a:bodyPr wrap="none" lIns="0" rIns="0" tIns="0" bIns="0" anchor="ctr">
              <a:noAutofit/>
            </a:bodyPr>
            <a:lstStyle/>
            <a:p>
              <a:pPr algn="ctr">
                <a:lnSpc>
                  <a:spcPts val="3000"/>
                </a:lnSpc>
              </a:pPr>
              <a:r>
                <a:rPr sz="3000" b="1" i="0" lang="de-DE">
                  <a:solidFill>
                    <a:srgbClr val="FFFFFF"/>
                  </a:solidFill>
                  <a:latin typeface="Geist Mono"/>
                </a:rPr>
                <a:t>5</a:t>
              </a:r>
            </a:p>
          </p:txBody>
        </p:sp>
        <p:sp>
          <p:nvSpPr>
            <p:cNvPr id="71" name="TextBox 70"/>
            <p:cNvSpPr txBox="1"/>
            <p:nvPr/>
          </p:nvSpPr>
          <p:spPr>
            <a:xfrm>
              <a:off x="1435608" y="4764405"/>
              <a:ext cx="477774" cy="441960"/>
            </a:xfrm>
            <a:prstGeom prst="rect">
              <a:avLst/>
            </a:prstGeom>
            <a:noFill/>
          </p:spPr>
          <p:txBody>
            <a:bodyPr wrap="none" lIns="0" rIns="0" tIns="0" bIns="0" anchor="ctr">
              <a:noAutofit/>
            </a:bodyPr>
            <a:lstStyle/>
            <a:p>
              <a:pPr algn="ctr">
                <a:lnSpc>
                  <a:spcPts val="3000"/>
                </a:lnSpc>
              </a:pPr>
              <a:r>
                <a:rPr sz="3000" b="1" i="0" lang="de-DE">
                  <a:solidFill>
                    <a:srgbClr val="6CC0D2"/>
                  </a:solidFill>
                  <a:latin typeface="Geist Mono"/>
                </a:rPr>
                <a:t>,</a:t>
              </a:r>
            </a:p>
          </p:txBody>
        </p:sp>
        <p:sp>
          <p:nvSpPr>
            <p:cNvPr id="72" name="Rounded Rectangle 71"/>
            <p:cNvSpPr/>
            <p:nvPr/>
          </p:nvSpPr>
          <p:spPr>
            <a:xfrm>
              <a:off x="1762125" y="4764405"/>
              <a:ext cx="281940" cy="441960"/>
            </a:xfrm>
            <a:prstGeom prst="roundRect">
              <a:avLst>
                <a:gd name="adj" fmla="val 16216"/>
              </a:avLst>
            </a:prstGeom>
            <a:solidFill>
              <a:srgbClr val="1F4A6A"/>
            </a:solidFill>
            <a:ln w="9525">
              <a:solidFill>
                <a:srgbClr val="3D627E"/>
              </a:solidFill>
            </a:ln>
            <a:effectLst/>
          </p:spPr>
          <p:txBody>
            <a:bodyPr rtlCol="0" anchor="ctr"/>
            <a:lstStyle/>
            <a:p>
              <a:pPr algn="ctr"/>
            </a:p>
          </p:txBody>
        </p:sp>
        <p:sp>
          <p:nvSpPr>
            <p:cNvPr id="73" name="TextBox 72"/>
            <p:cNvSpPr txBox="1"/>
            <p:nvPr/>
          </p:nvSpPr>
          <p:spPr>
            <a:xfrm>
              <a:off x="1685163" y="4764405"/>
              <a:ext cx="435864" cy="441960"/>
            </a:xfrm>
            <a:prstGeom prst="rect">
              <a:avLst/>
            </a:prstGeom>
            <a:noFill/>
          </p:spPr>
          <p:txBody>
            <a:bodyPr wrap="none" lIns="0" rIns="0" tIns="0" bIns="0" anchor="ctr">
              <a:noAutofit/>
            </a:bodyPr>
            <a:lstStyle/>
            <a:p>
              <a:pPr algn="ctr">
                <a:lnSpc>
                  <a:spcPts val="3000"/>
                </a:lnSpc>
              </a:pPr>
              <a:r>
                <a:rPr sz="3000" b="1" i="0" lang="de-DE">
                  <a:solidFill>
                    <a:srgbClr val="FFFFFF"/>
                  </a:solidFill>
                  <a:latin typeface="Geist Mono"/>
                </a:rPr>
                <a:t>9</a:t>
              </a:r>
            </a:p>
          </p:txBody>
        </p:sp>
        <p:sp>
          <p:nvSpPr>
            <p:cNvPr id="74" name="TextBox 73"/>
            <p:cNvSpPr txBox="1"/>
            <p:nvPr/>
          </p:nvSpPr>
          <p:spPr>
            <a:xfrm>
              <a:off x="1892808" y="4764405"/>
              <a:ext cx="477774" cy="441960"/>
            </a:xfrm>
            <a:prstGeom prst="rect">
              <a:avLst/>
            </a:prstGeom>
            <a:noFill/>
          </p:spPr>
          <p:txBody>
            <a:bodyPr wrap="none" lIns="0" rIns="0" tIns="0" bIns="0" anchor="ctr">
              <a:noAutofit/>
            </a:bodyPr>
            <a:lstStyle/>
            <a:p>
              <a:pPr algn="ctr">
                <a:lnSpc>
                  <a:spcPts val="3000"/>
                </a:lnSpc>
              </a:pPr>
              <a:r>
                <a:rPr sz="3000" b="1" i="0" lang="de-DE">
                  <a:solidFill>
                    <a:srgbClr val="6CC0D2"/>
                  </a:solidFill>
                  <a:latin typeface="Geist Mono"/>
                </a:rPr>
                <a:t>%</a:t>
              </a:r>
            </a:p>
          </p:txBody>
        </p:sp>
      </p:grpSp>
      <p:sp>
        <p:nvSpPr>
          <p:cNvPr id="75" name="TextBox 74"/>
          <p:cNvSpPr txBox="1"/>
          <p:nvPr/>
        </p:nvSpPr>
        <p:spPr>
          <a:xfrm>
            <a:off x="847725" y="5282565"/>
            <a:ext cx="3333750" cy="381000"/>
          </a:xfrm>
          <a:prstGeom prst="rect">
            <a:avLst/>
          </a:prstGeom>
          <a:noFill/>
        </p:spPr>
        <p:txBody>
          <a:bodyPr wrap="square" lIns="0" rIns="0" tIns="0" bIns="0" anchor="t">
            <a:noAutofit/>
          </a:bodyPr>
          <a:lstStyle/>
          <a:p>
            <a:pPr algn="l">
              <a:lnSpc>
                <a:spcPts val="1470"/>
              </a:lnSpc>
            </a:pPr>
            <a:r>
              <a:rPr sz="1087" b="0" i="0" lang="de-DE">
                <a:solidFill>
                  <a:srgbClr val="BBD7EA"/>
                </a:solidFill>
                <a:latin typeface="IBM Plex Sans"/>
              </a:rPr>
              <a:t>weniger RMSE als die beste einfache Regel</a:t>
            </a:r>
          </a:p>
          <a:p>
            <a:pPr algn="l">
              <a:lnSpc>
                <a:spcPts val="1470"/>
              </a:lnSpc>
            </a:pPr>
            <a:r>
              <a:rPr sz="1087" b="0" i="0" lang="de-DE">
                <a:solidFill>
                  <a:srgbClr val="FFFFFF"/>
                </a:solidFill>
                <a:latin typeface="Geist Mono"/>
              </a:rPr>
              <a:t>Test 2025: 10.922 → 9.188 kWh</a:t>
            </a:r>
          </a:p>
        </p:txBody>
      </p:sp>
      <p:sp>
        <p:nvSpPr>
          <p:cNvPr id="76" name="Rounded Rectangle 75"/>
          <p:cNvSpPr/>
          <p:nvPr/>
        </p:nvSpPr>
        <p:spPr>
          <a:xfrm>
            <a:off x="4458652" y="4640580"/>
            <a:ext cx="3448050" cy="1226820"/>
          </a:xfrm>
          <a:prstGeom prst="roundRect">
            <a:avLst>
              <a:gd name="adj" fmla="val 7763"/>
            </a:avLst>
          </a:prstGeom>
          <a:solidFill>
            <a:srgbClr val="FFFFFF"/>
          </a:solidFill>
          <a:ln w="9525">
            <a:solidFill>
              <a:srgbClr val="D2DAE2"/>
            </a:solidFill>
          </a:ln>
          <a:effectLst/>
        </p:spPr>
        <p:txBody>
          <a:bodyPr rtlCol="0" anchor="ctr"/>
          <a:lstStyle/>
          <a:p>
            <a:pPr algn="ctr"/>
          </a:p>
        </p:txBody>
      </p:sp>
      <p:grpSp>
        <p:nvGrpSpPr>
          <p:cNvPr id="77" name="Scheibe gauge"/>
          <p:cNvGrpSpPr/>
          <p:nvPr/>
        </p:nvGrpSpPr>
        <p:grpSpPr>
          <a:xfrm>
            <a:off x="4620578" y="5092065"/>
            <a:ext cx="323850" cy="323850"/>
            <a:chOff x="4620578" y="5092065"/>
            <a:chExt cx="323850" cy="323850"/>
          </a:xfrm>
        </p:grpSpPr>
        <p:sp>
          <p:nvSpPr>
            <p:cNvPr id="78" name="Oval 77"/>
            <p:cNvSpPr/>
            <p:nvPr/>
          </p:nvSpPr>
          <p:spPr>
            <a:xfrm>
              <a:off x="4620578" y="5092065"/>
              <a:ext cx="323850" cy="323850"/>
            </a:xfrm>
            <a:prstGeom prst="ellipse">
              <a:avLst/>
            </a:prstGeom>
            <a:solidFill>
              <a:srgbClr val="084878"/>
            </a:solidFill>
            <a:ln>
              <a:noFill/>
            </a:ln>
            <a:effectLst/>
          </p:spPr>
          <p:txBody>
            <a:bodyPr rtlCol="0" anchor="ctr"/>
            <a:lstStyle/>
            <a:p>
              <a:pPr algn="ctr"/>
            </a:p>
          </p:txBody>
        </p:sp>
        <p:pic>
          <p:nvPicPr>
            <p:cNvPr id="79" name="Picture 78" descr="gauge__FFFFFF.png"/>
            <p:cNvPicPr>
              <a:picLocks noChangeAspect="1"/>
            </p:cNvPicPr>
            <p:nvPr/>
          </p:nvPicPr>
          <p:blipFill>
            <a:blip r:embed="rId4"/>
            <a:stretch>
              <a:fillRect/>
            </a:stretch>
          </p:blipFill>
          <p:spPr>
            <a:xfrm>
              <a:off x="4698302" y="5169789"/>
              <a:ext cx="168402" cy="168402"/>
            </a:xfrm>
            <a:prstGeom prst="rect">
              <a:avLst/>
            </a:prstGeom>
          </p:spPr>
        </p:pic>
      </p:grpSp>
      <p:sp>
        <p:nvSpPr>
          <p:cNvPr id="80" name="TextBox 79"/>
          <p:cNvSpPr txBox="1"/>
          <p:nvPr/>
        </p:nvSpPr>
        <p:spPr>
          <a:xfrm>
            <a:off x="5077778" y="4845368"/>
            <a:ext cx="2933700" cy="161925"/>
          </a:xfrm>
          <a:prstGeom prst="rect">
            <a:avLst/>
          </a:prstGeom>
          <a:noFill/>
        </p:spPr>
        <p:txBody>
          <a:bodyPr wrap="none" lIns="0" rIns="0" tIns="0" bIns="0" anchor="t">
            <a:noAutofit/>
          </a:bodyPr>
          <a:lstStyle/>
          <a:p>
            <a:pPr algn="l">
              <a:lnSpc>
                <a:spcPts val="1275"/>
              </a:lnSpc>
            </a:pPr>
            <a:r>
              <a:rPr sz="975" b="1" i="0" lang="de-DE" spc="78">
                <a:solidFill>
                  <a:srgbClr val="657383"/>
                </a:solidFill>
                <a:latin typeface="IBM Plex Sans"/>
              </a:rPr>
              <a:t>TESTJAHR 2025</a:t>
            </a:r>
          </a:p>
        </p:txBody>
      </p:sp>
      <p:sp>
        <p:nvSpPr>
          <p:cNvPr id="81" name="TextBox 80"/>
          <p:cNvSpPr txBox="1"/>
          <p:nvPr/>
        </p:nvSpPr>
        <p:spPr>
          <a:xfrm>
            <a:off x="5077778" y="5035868"/>
            <a:ext cx="2705100" cy="428625"/>
          </a:xfrm>
          <a:prstGeom prst="rect">
            <a:avLst/>
          </a:prstGeom>
          <a:noFill/>
        </p:spPr>
        <p:txBody>
          <a:bodyPr wrap="square" lIns="0" rIns="0" tIns="0" bIns="0" anchor="t">
            <a:noAutofit/>
          </a:bodyPr>
          <a:lstStyle/>
          <a:p>
            <a:pPr algn="l">
              <a:lnSpc>
                <a:spcPts val="1679"/>
              </a:lnSpc>
            </a:pPr>
            <a:r>
              <a:rPr sz="1200" b="1" i="0" lang="de-DE">
                <a:solidFill>
                  <a:srgbClr val="084878"/>
                </a:solidFill>
                <a:latin typeface="IBM Plex Sans"/>
              </a:rPr>
              <a:t>RMSE</a:t>
            </a:r>
            <a:r>
              <a:rPr sz="1200" b="0" i="0" lang="de-DE">
                <a:solidFill>
                  <a:srgbClr val="141A21"/>
                </a:solidFill>
                <a:latin typeface="IBM Plex Sans"/>
              </a:rPr>
              <a:t> 9.188 kWh · </a:t>
            </a:r>
            <a:r>
              <a:rPr sz="1200" b="1" i="0" lang="de-DE">
                <a:solidFill>
                  <a:srgbClr val="084878"/>
                </a:solidFill>
                <a:latin typeface="IBM Plex Sans"/>
              </a:rPr>
              <a:t>MAE</a:t>
            </a:r>
            <a:r>
              <a:rPr sz="1200" b="0" i="0" lang="de-DE">
                <a:solidFill>
                  <a:srgbClr val="141A21"/>
                </a:solidFill>
                <a:latin typeface="IBM Plex Sans"/>
              </a:rPr>
              <a:t> 3.725 kWh · </a:t>
            </a:r>
            <a:r>
              <a:rPr sz="1200" b="1" i="0" lang="de-DE">
                <a:solidFill>
                  <a:srgbClr val="084878"/>
                </a:solidFill>
                <a:latin typeface="IBM Plex Sans"/>
              </a:rPr>
              <a:t>R²</a:t>
            </a:r>
            <a:r>
              <a:rPr sz="1200" b="0" i="0" lang="de-DE">
                <a:solidFill>
                  <a:srgbClr val="141A21"/>
                </a:solidFill>
                <a:latin typeface="IBM Plex Sans"/>
              </a:rPr>
              <a:t> 0,901</a:t>
            </a:r>
          </a:p>
        </p:txBody>
      </p:sp>
      <p:sp>
        <p:nvSpPr>
          <p:cNvPr id="82" name="TextBox 81"/>
          <p:cNvSpPr txBox="1"/>
          <p:nvPr/>
        </p:nvSpPr>
        <p:spPr>
          <a:xfrm>
            <a:off x="5077778" y="5491162"/>
            <a:ext cx="2705100" cy="171450"/>
          </a:xfrm>
          <a:prstGeom prst="rect">
            <a:avLst/>
          </a:prstGeom>
          <a:noFill/>
        </p:spPr>
        <p:txBody>
          <a:bodyPr wrap="square" lIns="0" rIns="0" tIns="0" bIns="0" anchor="t">
            <a:noAutofit/>
          </a:bodyPr>
          <a:lstStyle/>
          <a:p>
            <a:pPr algn="l">
              <a:lnSpc>
                <a:spcPts val="1350"/>
              </a:lnSpc>
            </a:pPr>
            <a:r>
              <a:rPr sz="1012" b="0" i="0" lang="de-DE">
                <a:solidFill>
                  <a:srgbClr val="657383"/>
                </a:solidFill>
                <a:latin typeface="IBM Plex Sans"/>
              </a:rPr>
              <a:t>R² ist keine Trefferquote.</a:t>
            </a:r>
          </a:p>
        </p:txBody>
      </p:sp>
      <p:sp>
        <p:nvSpPr>
          <p:cNvPr id="83" name="Rounded Rectangle 82"/>
          <p:cNvSpPr/>
          <p:nvPr/>
        </p:nvSpPr>
        <p:spPr>
          <a:xfrm>
            <a:off x="8058150" y="4640580"/>
            <a:ext cx="3448050" cy="1226820"/>
          </a:xfrm>
          <a:prstGeom prst="roundRect">
            <a:avLst>
              <a:gd name="adj" fmla="val 7763"/>
            </a:avLst>
          </a:prstGeom>
          <a:solidFill>
            <a:srgbClr val="FFFFFF"/>
          </a:solidFill>
          <a:ln w="9525">
            <a:solidFill>
              <a:srgbClr val="D2DAE2"/>
            </a:solidFill>
          </a:ln>
          <a:effectLst/>
        </p:spPr>
        <p:txBody>
          <a:bodyPr rtlCol="0" anchor="ctr"/>
          <a:lstStyle/>
          <a:p>
            <a:pPr algn="ctr"/>
          </a:p>
        </p:txBody>
      </p:sp>
      <p:grpSp>
        <p:nvGrpSpPr>
          <p:cNvPr id="84" name="Scheibe sliders-horizontal"/>
          <p:cNvGrpSpPr/>
          <p:nvPr/>
        </p:nvGrpSpPr>
        <p:grpSpPr>
          <a:xfrm>
            <a:off x="8220075" y="5092065"/>
            <a:ext cx="323850" cy="323850"/>
            <a:chOff x="8220075" y="5092065"/>
            <a:chExt cx="323850" cy="323850"/>
          </a:xfrm>
        </p:grpSpPr>
        <p:sp>
          <p:nvSpPr>
            <p:cNvPr id="85" name="Oval 84"/>
            <p:cNvSpPr/>
            <p:nvPr/>
          </p:nvSpPr>
          <p:spPr>
            <a:xfrm>
              <a:off x="8220075" y="5092065"/>
              <a:ext cx="323850" cy="323850"/>
            </a:xfrm>
            <a:prstGeom prst="ellipse">
              <a:avLst/>
            </a:prstGeom>
            <a:solidFill>
              <a:srgbClr val="00718E"/>
            </a:solidFill>
            <a:ln>
              <a:noFill/>
            </a:ln>
            <a:effectLst/>
          </p:spPr>
          <p:txBody>
            <a:bodyPr rtlCol="0" anchor="ctr"/>
            <a:lstStyle/>
            <a:p>
              <a:pPr algn="ctr"/>
            </a:p>
          </p:txBody>
        </p:sp>
        <p:pic>
          <p:nvPicPr>
            <p:cNvPr id="86" name="Picture 85" descr="sliders-horizontal__FFFFFF.png"/>
            <p:cNvPicPr>
              <a:picLocks noChangeAspect="1"/>
            </p:cNvPicPr>
            <p:nvPr/>
          </p:nvPicPr>
          <p:blipFill>
            <a:blip r:embed="rId5"/>
            <a:stretch>
              <a:fillRect/>
            </a:stretch>
          </p:blipFill>
          <p:spPr>
            <a:xfrm>
              <a:off x="8297799" y="5169789"/>
              <a:ext cx="168402" cy="168402"/>
            </a:xfrm>
            <a:prstGeom prst="rect">
              <a:avLst/>
            </a:prstGeom>
          </p:spPr>
        </p:pic>
      </p:grpSp>
      <p:sp>
        <p:nvSpPr>
          <p:cNvPr id="87" name="TextBox 86"/>
          <p:cNvSpPr txBox="1"/>
          <p:nvPr/>
        </p:nvSpPr>
        <p:spPr>
          <a:xfrm>
            <a:off x="8677275" y="4764405"/>
            <a:ext cx="2933700" cy="161925"/>
          </a:xfrm>
          <a:prstGeom prst="rect">
            <a:avLst/>
          </a:prstGeom>
          <a:noFill/>
        </p:spPr>
        <p:txBody>
          <a:bodyPr wrap="none" lIns="0" rIns="0" tIns="0" bIns="0" anchor="t">
            <a:noAutofit/>
          </a:bodyPr>
          <a:lstStyle/>
          <a:p>
            <a:pPr algn="l">
              <a:lnSpc>
                <a:spcPts val="1275"/>
              </a:lnSpc>
            </a:pPr>
            <a:r>
              <a:rPr sz="975" b="1" i="0" lang="de-DE" spc="78">
                <a:solidFill>
                  <a:srgbClr val="657383"/>
                </a:solidFill>
                <a:latin typeface="IBM Plex Sans"/>
              </a:rPr>
              <a:t>TOP-3-TREIBER · PERMUTATION, KWH</a:t>
            </a:r>
          </a:p>
        </p:txBody>
      </p:sp>
      <p:sp>
        <p:nvSpPr>
          <p:cNvPr id="88" name="TextBox 87"/>
          <p:cNvSpPr txBox="1"/>
          <p:nvPr/>
        </p:nvSpPr>
        <p:spPr>
          <a:xfrm>
            <a:off x="8677275" y="4964430"/>
            <a:ext cx="2095500" cy="193358"/>
          </a:xfrm>
          <a:prstGeom prst="rect">
            <a:avLst/>
          </a:prstGeom>
          <a:noFill/>
        </p:spPr>
        <p:txBody>
          <a:bodyPr wrap="none" lIns="0" rIns="0" tIns="0" bIns="0" anchor="t">
            <a:noAutofit/>
          </a:bodyPr>
          <a:lstStyle/>
          <a:p>
            <a:pPr algn="l">
              <a:lnSpc>
                <a:spcPts val="1522"/>
              </a:lnSpc>
            </a:pPr>
            <a:r>
              <a:rPr sz="1125" b="0" i="0" lang="de-DE">
                <a:solidFill>
                  <a:srgbClr val="141A21"/>
                </a:solidFill>
                <a:latin typeface="IBM Plex Sans"/>
              </a:rPr>
              <a:t>Verbrauchshistorie</a:t>
            </a:r>
          </a:p>
        </p:txBody>
      </p:sp>
      <p:sp>
        <p:nvSpPr>
          <p:cNvPr id="89" name="TextBox 88"/>
          <p:cNvSpPr txBox="1"/>
          <p:nvPr/>
        </p:nvSpPr>
        <p:spPr>
          <a:xfrm>
            <a:off x="9668066" y="4964430"/>
            <a:ext cx="1569530" cy="193358"/>
          </a:xfrm>
          <a:prstGeom prst="rect">
            <a:avLst/>
          </a:prstGeom>
          <a:noFill/>
        </p:spPr>
        <p:txBody>
          <a:bodyPr wrap="none" lIns="0" rIns="0" tIns="0" bIns="0" anchor="t">
            <a:noAutofit/>
          </a:bodyPr>
          <a:lstStyle/>
          <a:p>
            <a:pPr algn="r">
              <a:lnSpc>
                <a:spcPts val="1522"/>
              </a:lnSpc>
            </a:pPr>
            <a:r>
              <a:rPr sz="1125" b="1" i="0" lang="de-DE">
                <a:solidFill>
                  <a:srgbClr val="00718E"/>
                </a:solidFill>
                <a:latin typeface="Geist Mono"/>
              </a:rPr>
              <a:t>+7.256</a:t>
            </a:r>
          </a:p>
        </p:txBody>
      </p:sp>
      <p:sp>
        <p:nvSpPr>
          <p:cNvPr id="90" name="TextBox 89"/>
          <p:cNvSpPr txBox="1"/>
          <p:nvPr/>
        </p:nvSpPr>
        <p:spPr>
          <a:xfrm>
            <a:off x="8677275" y="5157788"/>
            <a:ext cx="2095500" cy="193358"/>
          </a:xfrm>
          <a:prstGeom prst="rect">
            <a:avLst/>
          </a:prstGeom>
          <a:noFill/>
        </p:spPr>
        <p:txBody>
          <a:bodyPr wrap="none" lIns="0" rIns="0" tIns="0" bIns="0" anchor="t">
            <a:noAutofit/>
          </a:bodyPr>
          <a:lstStyle/>
          <a:p>
            <a:pPr algn="l">
              <a:lnSpc>
                <a:spcPts val="1522"/>
              </a:lnSpc>
            </a:pPr>
            <a:r>
              <a:rPr sz="1125" b="0" i="0" lang="de-DE">
                <a:solidFill>
                  <a:srgbClr val="141A21"/>
                </a:solidFill>
                <a:latin typeface="IBM Plex Sans"/>
              </a:rPr>
              <a:t>Produktionsplan</a:t>
            </a:r>
          </a:p>
        </p:txBody>
      </p:sp>
      <p:sp>
        <p:nvSpPr>
          <p:cNvPr id="91" name="TextBox 90"/>
          <p:cNvSpPr txBox="1"/>
          <p:nvPr/>
        </p:nvSpPr>
        <p:spPr>
          <a:xfrm>
            <a:off x="9668066" y="5157788"/>
            <a:ext cx="1569530" cy="193358"/>
          </a:xfrm>
          <a:prstGeom prst="rect">
            <a:avLst/>
          </a:prstGeom>
          <a:noFill/>
        </p:spPr>
        <p:txBody>
          <a:bodyPr wrap="none" lIns="0" rIns="0" tIns="0" bIns="0" anchor="t">
            <a:noAutofit/>
          </a:bodyPr>
          <a:lstStyle/>
          <a:p>
            <a:pPr algn="r">
              <a:lnSpc>
                <a:spcPts val="1522"/>
              </a:lnSpc>
            </a:pPr>
            <a:r>
              <a:rPr sz="1125" b="1" i="0" lang="de-DE">
                <a:solidFill>
                  <a:srgbClr val="00718E"/>
                </a:solidFill>
                <a:latin typeface="Geist Mono"/>
              </a:rPr>
              <a:t>+798</a:t>
            </a:r>
          </a:p>
        </p:txBody>
      </p:sp>
      <p:sp>
        <p:nvSpPr>
          <p:cNvPr id="92" name="TextBox 91"/>
          <p:cNvSpPr txBox="1"/>
          <p:nvPr/>
        </p:nvSpPr>
        <p:spPr>
          <a:xfrm>
            <a:off x="8677275" y="5351145"/>
            <a:ext cx="2095500" cy="193358"/>
          </a:xfrm>
          <a:prstGeom prst="rect">
            <a:avLst/>
          </a:prstGeom>
          <a:noFill/>
        </p:spPr>
        <p:txBody>
          <a:bodyPr wrap="none" lIns="0" rIns="0" tIns="0" bIns="0" anchor="t">
            <a:noAutofit/>
          </a:bodyPr>
          <a:lstStyle/>
          <a:p>
            <a:pPr algn="l">
              <a:lnSpc>
                <a:spcPts val="1522"/>
              </a:lnSpc>
            </a:pPr>
            <a:r>
              <a:rPr sz="1125" b="0" i="0" lang="de-DE">
                <a:solidFill>
                  <a:srgbClr val="141A21"/>
                </a:solidFill>
                <a:latin typeface="IBM Plex Sans"/>
              </a:rPr>
              <a:t>Wartung</a:t>
            </a:r>
          </a:p>
        </p:txBody>
      </p:sp>
      <p:sp>
        <p:nvSpPr>
          <p:cNvPr id="93" name="TextBox 92"/>
          <p:cNvSpPr txBox="1"/>
          <p:nvPr/>
        </p:nvSpPr>
        <p:spPr>
          <a:xfrm>
            <a:off x="9668066" y="5351145"/>
            <a:ext cx="1569530" cy="193358"/>
          </a:xfrm>
          <a:prstGeom prst="rect">
            <a:avLst/>
          </a:prstGeom>
          <a:noFill/>
        </p:spPr>
        <p:txBody>
          <a:bodyPr wrap="none" lIns="0" rIns="0" tIns="0" bIns="0" anchor="t">
            <a:noAutofit/>
          </a:bodyPr>
          <a:lstStyle/>
          <a:p>
            <a:pPr algn="r">
              <a:lnSpc>
                <a:spcPts val="1522"/>
              </a:lnSpc>
            </a:pPr>
            <a:r>
              <a:rPr sz="1125" b="1" i="0" lang="de-DE">
                <a:solidFill>
                  <a:srgbClr val="00718E"/>
                </a:solidFill>
                <a:latin typeface="Geist Mono"/>
              </a:rPr>
              <a:t>+591</a:t>
            </a:r>
          </a:p>
        </p:txBody>
      </p:sp>
      <p:sp>
        <p:nvSpPr>
          <p:cNvPr id="94" name="TextBox 93"/>
          <p:cNvSpPr txBox="1"/>
          <p:nvPr/>
        </p:nvSpPr>
        <p:spPr>
          <a:xfrm>
            <a:off x="8677275" y="5572125"/>
            <a:ext cx="2667000" cy="171450"/>
          </a:xfrm>
          <a:prstGeom prst="rect">
            <a:avLst/>
          </a:prstGeom>
          <a:noFill/>
        </p:spPr>
        <p:txBody>
          <a:bodyPr wrap="square" lIns="0" rIns="0" tIns="0" bIns="0" anchor="t">
            <a:noAutofit/>
          </a:bodyPr>
          <a:lstStyle/>
          <a:p>
            <a:pPr algn="l">
              <a:lnSpc>
                <a:spcPts val="1350"/>
              </a:lnSpc>
            </a:pPr>
            <a:r>
              <a:rPr sz="1012" b="0" i="0" lang="de-DE">
                <a:solidFill>
                  <a:srgbClr val="657383"/>
                </a:solidFill>
                <a:latin typeface="IBM Plex Sans"/>
              </a:rPr>
              <a:t>betrieblich plausibel, keine Kausalität</a:t>
            </a:r>
          </a:p>
        </p:txBody>
      </p:sp>
      <p:cxnSp>
        <p:nvCxnSpPr>
          <p:cNvPr id="95"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96" name="Logo" descr="image.png"/>
          <p:cNvPicPr>
            <a:picLocks noChangeAspect="1"/>
          </p:cNvPicPr>
          <p:nvPr/>
        </p:nvPicPr>
        <p:blipFill>
          <a:blip r:embed="rId6"/>
          <a:stretch>
            <a:fillRect/>
          </a:stretch>
        </p:blipFill>
        <p:spPr>
          <a:xfrm>
            <a:off x="685800" y="6400800"/>
            <a:ext cx="715863" cy="247650"/>
          </a:xfrm>
          <a:prstGeom prst="rect">
            <a:avLst/>
          </a:prstGeom>
        </p:spPr>
      </p:pic>
      <p:sp>
        <p:nvSpPr>
          <p:cNvPr id="97" name="TextBox 96"/>
          <p:cNvSpPr txBox="1"/>
          <p:nvPr/>
        </p:nvSpPr>
        <p:spPr>
          <a:xfrm>
            <a:off x="1554480" y="6429375"/>
            <a:ext cx="289179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98" name="Connector 97"/>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99" name="Scheibe sliders-horizontal"/>
          <p:cNvGrpSpPr/>
          <p:nvPr/>
        </p:nvGrpSpPr>
        <p:grpSpPr>
          <a:xfrm>
            <a:off x="4516755" y="6419850"/>
            <a:ext cx="209550" cy="209550"/>
            <a:chOff x="4516755" y="6419850"/>
            <a:chExt cx="209550" cy="209550"/>
          </a:xfrm>
        </p:grpSpPr>
        <p:sp>
          <p:nvSpPr>
            <p:cNvPr id="100" name="Oval 99"/>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101" name="Picture 100" descr="sliders-horizontal__FFFFFF.png"/>
            <p:cNvPicPr>
              <a:picLocks noChangeAspect="1"/>
            </p:cNvPicPr>
            <p:nvPr/>
          </p:nvPicPr>
          <p:blipFill>
            <a:blip r:embed="rId5"/>
            <a:stretch>
              <a:fillRect/>
            </a:stretch>
          </p:blipFill>
          <p:spPr>
            <a:xfrm>
              <a:off x="4567047" y="6470142"/>
              <a:ext cx="108966" cy="108966"/>
            </a:xfrm>
            <a:prstGeom prst="rect">
              <a:avLst/>
            </a:prstGeom>
          </p:spPr>
        </p:pic>
      </p:grpSp>
      <p:sp>
        <p:nvSpPr>
          <p:cNvPr id="102" name="TextBox 101"/>
          <p:cNvSpPr txBox="1"/>
          <p:nvPr/>
        </p:nvSpPr>
        <p:spPr>
          <a:xfrm>
            <a:off x="4783455"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04</a:t>
            </a:r>
          </a:p>
        </p:txBody>
      </p:sp>
      <p:sp>
        <p:nvSpPr>
          <p:cNvPr id="103" name="TextBox 102"/>
          <p:cNvSpPr txBox="1"/>
          <p:nvPr/>
        </p:nvSpPr>
        <p:spPr>
          <a:xfrm>
            <a:off x="5000625" y="6438900"/>
            <a:ext cx="761924"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Merkmale</a:t>
            </a:r>
          </a:p>
        </p:txBody>
      </p:sp>
      <p:grpSp>
        <p:nvGrpSpPr>
          <p:cNvPr id="104" name="Scheibe trees"/>
          <p:cNvGrpSpPr/>
          <p:nvPr/>
        </p:nvGrpSpPr>
        <p:grpSpPr>
          <a:xfrm>
            <a:off x="5712333" y="6419850"/>
            <a:ext cx="209550" cy="209550"/>
            <a:chOff x="5712333" y="6419850"/>
            <a:chExt cx="209550" cy="209550"/>
          </a:xfrm>
        </p:grpSpPr>
        <p:sp>
          <p:nvSpPr>
            <p:cNvPr id="105" name="Oval 104"/>
            <p:cNvSpPr/>
            <p:nvPr/>
          </p:nvSpPr>
          <p:spPr>
            <a:xfrm>
              <a:off x="5712333" y="6419850"/>
              <a:ext cx="209550" cy="209550"/>
            </a:xfrm>
            <a:prstGeom prst="ellipse">
              <a:avLst/>
            </a:prstGeom>
            <a:solidFill>
              <a:srgbClr val="00718E"/>
            </a:solidFill>
            <a:ln>
              <a:noFill/>
            </a:ln>
            <a:effectLst/>
          </p:spPr>
          <p:txBody>
            <a:bodyPr rtlCol="0" anchor="ctr"/>
            <a:lstStyle/>
            <a:p>
              <a:pPr algn="ctr"/>
            </a:p>
          </p:txBody>
        </p:sp>
        <p:pic>
          <p:nvPicPr>
            <p:cNvPr id="106" name="Picture 105" descr="trees__FFFFFF.png"/>
            <p:cNvPicPr>
              <a:picLocks noChangeAspect="1"/>
            </p:cNvPicPr>
            <p:nvPr/>
          </p:nvPicPr>
          <p:blipFill>
            <a:blip r:embed="rId7"/>
            <a:stretch>
              <a:fillRect/>
            </a:stretch>
          </p:blipFill>
          <p:spPr>
            <a:xfrm>
              <a:off x="5762625" y="6470142"/>
              <a:ext cx="108966" cy="108966"/>
            </a:xfrm>
            <a:prstGeom prst="rect">
              <a:avLst/>
            </a:prstGeom>
          </p:spPr>
        </p:pic>
      </p:grpSp>
      <p:sp>
        <p:nvSpPr>
          <p:cNvPr id="107" name="TextBox 106"/>
          <p:cNvSpPr txBox="1"/>
          <p:nvPr/>
        </p:nvSpPr>
        <p:spPr>
          <a:xfrm>
            <a:off x="5979033"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05</a:t>
            </a:r>
          </a:p>
        </p:txBody>
      </p:sp>
      <p:sp>
        <p:nvSpPr>
          <p:cNvPr id="108" name="TextBox 107"/>
          <p:cNvSpPr txBox="1"/>
          <p:nvPr/>
        </p:nvSpPr>
        <p:spPr>
          <a:xfrm>
            <a:off x="6196203" y="6438900"/>
            <a:ext cx="826465"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Lernansatz</a:t>
            </a:r>
          </a:p>
        </p:txBody>
      </p:sp>
      <p:grpSp>
        <p:nvGrpSpPr>
          <p:cNvPr id="109" name="Scheibe ruler"/>
          <p:cNvGrpSpPr/>
          <p:nvPr/>
        </p:nvGrpSpPr>
        <p:grpSpPr>
          <a:xfrm>
            <a:off x="6966585" y="6419850"/>
            <a:ext cx="209550" cy="209550"/>
            <a:chOff x="6966585" y="6419850"/>
            <a:chExt cx="209550" cy="209550"/>
          </a:xfrm>
        </p:grpSpPr>
        <p:sp>
          <p:nvSpPr>
            <p:cNvPr id="110" name="Oval 109"/>
            <p:cNvSpPr/>
            <p:nvPr/>
          </p:nvSpPr>
          <p:spPr>
            <a:xfrm>
              <a:off x="6966585" y="6419850"/>
              <a:ext cx="209550" cy="209550"/>
            </a:xfrm>
            <a:prstGeom prst="ellipse">
              <a:avLst/>
            </a:prstGeom>
            <a:solidFill>
              <a:srgbClr val="00718E"/>
            </a:solidFill>
            <a:ln>
              <a:noFill/>
            </a:ln>
            <a:effectLst/>
          </p:spPr>
          <p:txBody>
            <a:bodyPr rtlCol="0" anchor="ctr"/>
            <a:lstStyle/>
            <a:p>
              <a:pPr algn="ctr"/>
            </a:p>
          </p:txBody>
        </p:sp>
        <p:pic>
          <p:nvPicPr>
            <p:cNvPr id="111" name="Picture 110" descr="ruler__FFFFFF.png"/>
            <p:cNvPicPr>
              <a:picLocks noChangeAspect="1"/>
            </p:cNvPicPr>
            <p:nvPr/>
          </p:nvPicPr>
          <p:blipFill>
            <a:blip r:embed="rId3"/>
            <a:stretch>
              <a:fillRect/>
            </a:stretch>
          </p:blipFill>
          <p:spPr>
            <a:xfrm>
              <a:off x="7016877" y="6470142"/>
              <a:ext cx="108966" cy="108966"/>
            </a:xfrm>
            <a:prstGeom prst="rect">
              <a:avLst/>
            </a:prstGeom>
          </p:spPr>
        </p:pic>
      </p:grpSp>
      <p:sp>
        <p:nvSpPr>
          <p:cNvPr id="112" name="TextBox 111"/>
          <p:cNvSpPr txBox="1"/>
          <p:nvPr/>
        </p:nvSpPr>
        <p:spPr>
          <a:xfrm>
            <a:off x="7233285"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06</a:t>
            </a:r>
          </a:p>
        </p:txBody>
      </p:sp>
      <p:sp>
        <p:nvSpPr>
          <p:cNvPr id="113" name="TextBox 112"/>
          <p:cNvSpPr txBox="1"/>
          <p:nvPr/>
        </p:nvSpPr>
        <p:spPr>
          <a:xfrm>
            <a:off x="7450455" y="6438900"/>
            <a:ext cx="794194"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Evaluation</a:t>
            </a:r>
          </a:p>
        </p:txBody>
      </p:sp>
      <p:sp>
        <p:nvSpPr>
          <p:cNvPr id="114" name="TextBox 113"/>
          <p:cNvSpPr txBox="1"/>
          <p:nvPr/>
        </p:nvSpPr>
        <p:spPr>
          <a:xfrm>
            <a:off x="9486900" y="6429375"/>
            <a:ext cx="12573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115" name="Seitenzahl"/>
          <p:cNvSpPr txBox="1"/>
          <p:nvPr/>
        </p:nvSpPr>
        <p:spPr>
          <a:xfrm>
            <a:off x="10835640" y="6424612"/>
            <a:ext cx="67056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6 / 11</a:t>
            </a:r>
          </a:p>
        </p:txBody>
      </p:sp>
      <p:pic>
        <p:nvPicPr>
          <p:cNvPr id="116" name="Diagramm s06_svg07.png" descr="s06_svg07.png"/>
          <p:cNvPicPr>
            <a:picLocks noChangeAspect="1"/>
          </p:cNvPicPr>
          <p:nvPr/>
        </p:nvPicPr>
        <p:blipFill>
          <a:blip r:embed="rId8"/>
          <a:stretch>
            <a:fillRect/>
          </a:stretch>
        </p:blipFill>
        <p:spPr>
          <a:xfrm>
            <a:off x="847725" y="1752898"/>
            <a:ext cx="4991100" cy="2277219"/>
          </a:xfrm>
          <a:prstGeom prst="rect">
            <a:avLst/>
          </a:prstGeom>
        </p:spPr>
      </p:pic>
      <p:pic>
        <p:nvPicPr>
          <p:cNvPr id="117" name="Diagramm s06_svg08.png" descr="s06_svg08.png"/>
          <p:cNvPicPr>
            <a:picLocks noChangeAspect="1"/>
          </p:cNvPicPr>
          <p:nvPr/>
        </p:nvPicPr>
        <p:blipFill>
          <a:blip r:embed="rId9"/>
          <a:stretch>
            <a:fillRect/>
          </a:stretch>
        </p:blipFill>
        <p:spPr>
          <a:xfrm>
            <a:off x="6353175" y="1752898"/>
            <a:ext cx="4991100" cy="2277219"/>
          </a:xfrm>
          <a:prstGeom prst="rect">
            <a:avLst/>
          </a:prstGeom>
        </p:spPr>
      </p:pic>
      <p:grpSp>
        <p:nvGrpSpPr>
          <p:cNvPr id="9" name="Kapitel 01"/>
          <p:cNvGrpSpPr/>
          <p:nvPr/>
        </p:nvGrpSpPr>
        <p:grpSpPr>
          <a:xfrm>
            <a:off x="9532144" y="407194"/>
            <a:ext cx="233362" cy="233362"/>
            <a:chOff x="9532144" y="407194"/>
            <a:chExt cx="233362" cy="233362"/>
          </a:xfrm>
        </p:grpSpPr>
        <p:sp>
          <p:nvSpPr>
            <p:cNvPr id="118" name="Oval 117"/>
            <p:cNvSpPr/>
            <p:nvPr/>
          </p:nvSpPr>
          <p:spPr>
            <a:xfrm>
              <a:off x="953214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119" name="Picture 118" descr="building-2__084878.png"/>
            <p:cNvPicPr>
              <a:picLocks noChangeAspect="1"/>
            </p:cNvPicPr>
            <p:nvPr/>
          </p:nvPicPr>
          <p:blipFill>
            <a:blip r:embed="rId10"/>
            <a:stretch>
              <a:fillRect/>
            </a:stretch>
          </p:blipFill>
          <p:spPr>
            <a:xfrm>
              <a:off x="9584436" y="459486"/>
              <a:ext cx="128778" cy="128778"/>
            </a:xfrm>
            <a:prstGeom prst="rect">
              <a:avLst/>
            </a:prstGeom>
          </p:spPr>
        </p:pic>
      </p:grpSp>
      <p:grpSp>
        <p:nvGrpSpPr>
          <p:cNvPr id="10" name="Kapitel 02"/>
          <p:cNvGrpSpPr/>
          <p:nvPr/>
        </p:nvGrpSpPr>
        <p:grpSpPr>
          <a:xfrm>
            <a:off x="9817894" y="407194"/>
            <a:ext cx="233362" cy="233362"/>
            <a:chOff x="9817894" y="407194"/>
            <a:chExt cx="233362" cy="233362"/>
          </a:xfrm>
        </p:grpSpPr>
        <p:sp>
          <p:nvSpPr>
            <p:cNvPr id="120" name="Oval 119"/>
            <p:cNvSpPr/>
            <p:nvPr/>
          </p:nvSpPr>
          <p:spPr>
            <a:xfrm>
              <a:off x="981789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121" name="Picture 120" descr="database__084878.png"/>
            <p:cNvPicPr>
              <a:picLocks noChangeAspect="1"/>
            </p:cNvPicPr>
            <p:nvPr/>
          </p:nvPicPr>
          <p:blipFill>
            <a:blip r:embed="rId11"/>
            <a:stretch>
              <a:fillRect/>
            </a:stretch>
          </p:blipFill>
          <p:spPr>
            <a:xfrm>
              <a:off x="9870186" y="459486"/>
              <a:ext cx="128778" cy="128778"/>
            </a:xfrm>
            <a:prstGeom prst="rect">
              <a:avLst/>
            </a:prstGeom>
          </p:spPr>
        </p:pic>
      </p:grpSp>
      <p:grpSp>
        <p:nvGrpSpPr>
          <p:cNvPr id="11" name="Kapitel 03"/>
          <p:cNvGrpSpPr/>
          <p:nvPr/>
        </p:nvGrpSpPr>
        <p:grpSpPr>
          <a:xfrm>
            <a:off x="10256044" y="407194"/>
            <a:ext cx="233362" cy="233362"/>
            <a:chOff x="10256044" y="407194"/>
            <a:chExt cx="233362" cy="233362"/>
          </a:xfrm>
        </p:grpSpPr>
        <p:sp>
          <p:nvSpPr>
            <p:cNvPr id="122" name="Oval 121"/>
            <p:cNvSpPr/>
            <p:nvPr/>
          </p:nvSpPr>
          <p:spPr>
            <a:xfrm>
              <a:off x="1025604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123" name="Picture 122" descr="layout-grid__084878.png"/>
            <p:cNvPicPr>
              <a:picLocks noChangeAspect="1"/>
            </p:cNvPicPr>
            <p:nvPr/>
          </p:nvPicPr>
          <p:blipFill>
            <a:blip r:embed="rId12"/>
            <a:stretch>
              <a:fillRect/>
            </a:stretch>
          </p:blipFill>
          <p:spPr>
            <a:xfrm>
              <a:off x="10308336" y="459486"/>
              <a:ext cx="128778" cy="128778"/>
            </a:xfrm>
            <a:prstGeom prst="rect">
              <a:avLst/>
            </a:prstGeom>
          </p:spPr>
        </p:pic>
      </p:grpSp>
      <p:grpSp>
        <p:nvGrpSpPr>
          <p:cNvPr id="12" name="Kapitel 04 aktiv"/>
          <p:cNvGrpSpPr/>
          <p:nvPr/>
        </p:nvGrpSpPr>
        <p:grpSpPr>
          <a:xfrm>
            <a:off x="10534650" y="400050"/>
            <a:ext cx="247650" cy="247650"/>
            <a:chOff x="10534650" y="400050"/>
            <a:chExt cx="247650" cy="247650"/>
          </a:xfrm>
        </p:grpSpPr>
        <p:sp>
          <p:nvSpPr>
            <p:cNvPr id="124" name="Oval 123"/>
            <p:cNvSpPr/>
            <p:nvPr/>
          </p:nvSpPr>
          <p:spPr>
            <a:xfrm>
              <a:off x="10534650" y="400050"/>
              <a:ext cx="247650" cy="247650"/>
            </a:xfrm>
            <a:prstGeom prst="ellipse">
              <a:avLst/>
            </a:prstGeom>
            <a:solidFill>
              <a:srgbClr val="084878"/>
            </a:solidFill>
            <a:ln>
              <a:noFill/>
            </a:ln>
            <a:effectLst/>
          </p:spPr>
          <p:txBody>
            <a:bodyPr rtlCol="0" anchor="ctr"/>
            <a:lstStyle/>
            <a:p>
              <a:pPr algn="ctr"/>
            </a:p>
          </p:txBody>
        </p:sp>
        <p:pic>
          <p:nvPicPr>
            <p:cNvPr id="125" name="Picture 124" descr="trees__FFFFFF.png"/>
            <p:cNvPicPr>
              <a:picLocks noChangeAspect="1"/>
            </p:cNvPicPr>
            <p:nvPr/>
          </p:nvPicPr>
          <p:blipFill>
            <a:blip r:embed="rId7"/>
            <a:stretch>
              <a:fillRect/>
            </a:stretch>
          </p:blipFill>
          <p:spPr>
            <a:xfrm>
              <a:off x="10594086" y="459486"/>
              <a:ext cx="128778" cy="128778"/>
            </a:xfrm>
            <a:prstGeom prst="rect">
              <a:avLst/>
            </a:prstGeom>
          </p:spPr>
        </p:pic>
      </p:grpSp>
      <p:grpSp>
        <p:nvGrpSpPr>
          <p:cNvPr id="13" name="Kapitel 05"/>
          <p:cNvGrpSpPr/>
          <p:nvPr/>
        </p:nvGrpSpPr>
        <p:grpSpPr>
          <a:xfrm>
            <a:off x="10979944" y="407194"/>
            <a:ext cx="233362" cy="233362"/>
            <a:chOff x="10979944" y="407194"/>
            <a:chExt cx="233362" cy="233362"/>
          </a:xfrm>
        </p:grpSpPr>
        <p:sp>
          <p:nvSpPr>
            <p:cNvPr id="126" name="Oval 125"/>
            <p:cNvSpPr/>
            <p:nvPr/>
          </p:nvSpPr>
          <p:spPr>
            <a:xfrm>
              <a:off x="10979944" y="407194"/>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27" name="Picture 126" descr="chart-column__8A96A3.png"/>
            <p:cNvPicPr>
              <a:picLocks noChangeAspect="1"/>
            </p:cNvPicPr>
            <p:nvPr/>
          </p:nvPicPr>
          <p:blipFill>
            <a:blip r:embed="rId13"/>
            <a:stretch>
              <a:fillRect/>
            </a:stretch>
          </p:blipFill>
          <p:spPr>
            <a:xfrm>
              <a:off x="11032236" y="459486"/>
              <a:ext cx="128778" cy="128778"/>
            </a:xfrm>
            <a:prstGeom prst="rect">
              <a:avLst/>
            </a:prstGeom>
          </p:spPr>
        </p:pic>
      </p:grpSp>
      <p:grpSp>
        <p:nvGrpSpPr>
          <p:cNvPr id="14" name="Kapitel 06"/>
          <p:cNvGrpSpPr/>
          <p:nvPr/>
        </p:nvGrpSpPr>
        <p:grpSpPr>
          <a:xfrm>
            <a:off x="11265694" y="407194"/>
            <a:ext cx="233362" cy="233362"/>
            <a:chOff x="11265694" y="407194"/>
            <a:chExt cx="233362" cy="233362"/>
          </a:xfrm>
        </p:grpSpPr>
        <p:sp>
          <p:nvSpPr>
            <p:cNvPr id="128" name="Oval 127"/>
            <p:cNvSpPr/>
            <p:nvPr/>
          </p:nvSpPr>
          <p:spPr>
            <a:xfrm>
              <a:off x="11265694" y="407194"/>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129" name="Picture 128" descr="compass__8A96A3.png"/>
            <p:cNvPicPr>
              <a:picLocks noChangeAspect="1"/>
            </p:cNvPicPr>
            <p:nvPr/>
          </p:nvPicPr>
          <p:blipFill>
            <a:blip r:embed="rId14"/>
            <a:stretch>
              <a:fillRect/>
            </a:stretch>
          </p:blipFill>
          <p:spPr>
            <a:xfrm>
              <a:off x="11317986" y="459486"/>
              <a:ext cx="128778" cy="128778"/>
            </a:xfrm>
            <a:prstGeom prst="rect">
              <a:avLst/>
            </a:prstGeom>
          </p:spPr>
        </p:pic>
      </p:grpSp>
      <p:cxnSp>
        <p:nvCxnSpPr>
          <p:cNvPr id="130" name="Kapitel-Lücke"/>
          <p:cNvCxnSpPr/>
          <p:nvPr/>
        </p:nvCxnSpPr>
        <p:spPr>
          <a:xfrm>
            <a:off x="10115550" y="523875"/>
            <a:ext cx="7620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cxnSp>
        <p:nvCxnSpPr>
          <p:cNvPr id="131" name="Kapitel-Lücke"/>
          <p:cNvCxnSpPr/>
          <p:nvPr/>
        </p:nvCxnSpPr>
        <p:spPr>
          <a:xfrm>
            <a:off x="10839450" y="523875"/>
            <a:ext cx="7620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sp>
        <p:nvSpPr>
          <p:cNvPr id="132" name="Kapitel-Label"/>
          <p:cNvSpPr txBox="1"/>
          <p:nvPr/>
        </p:nvSpPr>
        <p:spPr>
          <a:xfrm>
            <a:off x="6267450" y="428625"/>
            <a:ext cx="3143250" cy="171450"/>
          </a:xfrm>
          <a:prstGeom prst="rect">
            <a:avLst/>
          </a:prstGeom>
          <a:noFill/>
        </p:spPr>
        <p:txBody>
          <a:bodyPr wrap="none" lIns="0" rIns="0" tIns="0" bIns="0" anchor="t">
            <a:noAutofit/>
          </a:bodyPr>
          <a:lstStyle/>
          <a:p>
            <a:pPr algn="r">
              <a:lnSpc>
                <a:spcPts val="1350"/>
              </a:lnSpc>
            </a:pPr>
            <a:r>
              <a:rPr sz="1050" b="1" i="0" lang="de-DE">
                <a:solidFill>
                  <a:srgbClr val="005E77"/>
                </a:solidFill>
                <a:latin typeface="IBM Plex Sans"/>
              </a:rPr>
              <a:t>04 · Methodik und Modell · Kiko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1F4F7"/>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A86505"/>
            </a:solidFill>
            <a:ln>
              <a:noFill/>
            </a:ln>
            <a:effectLst/>
          </p:spPr>
          <p:txBody>
            <a:bodyPr rtlCol="0" anchor="ctr"/>
            <a:lstStyle/>
            <a:p>
              <a:pPr algn="ctr"/>
            </a:p>
          </p:txBody>
        </p:sp>
        <p:pic>
          <p:nvPicPr>
            <p:cNvPr id="4" name="Picture 3" descr="flag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733425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Ab wann ist eine Abweichung ungewöhnlich?</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Aus dem Prognosefehler wird ein Prüfhinweis</a:t>
            </a:r>
          </a:p>
        </p:txBody>
      </p:sp>
      <p:sp>
        <p:nvSpPr>
          <p:cNvPr id="7" name="Kette"/>
          <p:cNvSpPr/>
          <p:nvPr/>
        </p:nvSpPr>
        <p:spPr>
          <a:xfrm>
            <a:off x="1009650" y="1647825"/>
            <a:ext cx="19050" cy="2343150"/>
          </a:xfrm>
          <a:prstGeom prst="rect">
            <a:avLst/>
          </a:prstGeom>
          <a:solidFill>
            <a:srgbClr val="D2DAE2"/>
          </a:solidFill>
          <a:ln>
            <a:noFill/>
          </a:ln>
          <a:effectLst/>
        </p:spPr>
        <p:txBody>
          <a:bodyPr rtlCol="0" anchor="ctr"/>
          <a:lstStyle/>
          <a:p>
            <a:pPr algn="ctr"/>
          </a:p>
        </p:txBody>
      </p:sp>
      <p:sp>
        <p:nvSpPr>
          <p:cNvPr id="8" name="Rounded Rectangle 7"/>
          <p:cNvSpPr/>
          <p:nvPr/>
        </p:nvSpPr>
        <p:spPr>
          <a:xfrm>
            <a:off x="685800" y="1362075"/>
            <a:ext cx="4612958" cy="899160"/>
          </a:xfrm>
          <a:prstGeom prst="roundRect">
            <a:avLst>
              <a:gd name="adj" fmla="val 10593"/>
            </a:avLst>
          </a:prstGeom>
          <a:solidFill>
            <a:srgbClr val="FFFFFF"/>
          </a:solidFill>
          <a:ln w="9525">
            <a:solidFill>
              <a:srgbClr val="D2DAE2"/>
            </a:solidFill>
          </a:ln>
          <a:effectLst/>
        </p:spPr>
        <p:txBody>
          <a:bodyPr rtlCol="0" anchor="ctr"/>
          <a:lstStyle/>
          <a:p>
            <a:pPr algn="ctr"/>
          </a:p>
        </p:txBody>
      </p:sp>
      <p:grpSp>
        <p:nvGrpSpPr>
          <p:cNvPr id="9" name="Scheibe diff"/>
          <p:cNvGrpSpPr/>
          <p:nvPr/>
        </p:nvGrpSpPr>
        <p:grpSpPr>
          <a:xfrm>
            <a:off x="847725" y="1485900"/>
            <a:ext cx="342900" cy="342900"/>
            <a:chOff x="847725" y="1485900"/>
            <a:chExt cx="342900" cy="342900"/>
          </a:xfrm>
        </p:grpSpPr>
        <p:sp>
          <p:nvSpPr>
            <p:cNvPr id="10" name="Oval 9"/>
            <p:cNvSpPr/>
            <p:nvPr/>
          </p:nvSpPr>
          <p:spPr>
            <a:xfrm>
              <a:off x="847725" y="1485900"/>
              <a:ext cx="342900" cy="342900"/>
            </a:xfrm>
            <a:prstGeom prst="ellipse">
              <a:avLst/>
            </a:prstGeom>
            <a:solidFill>
              <a:srgbClr val="084878"/>
            </a:solidFill>
            <a:ln>
              <a:noFill/>
            </a:ln>
            <a:effectLst/>
          </p:spPr>
          <p:txBody>
            <a:bodyPr rtlCol="0" anchor="ctr"/>
            <a:lstStyle/>
            <a:p>
              <a:pPr algn="ctr"/>
            </a:p>
          </p:txBody>
        </p:sp>
        <p:pic>
          <p:nvPicPr>
            <p:cNvPr id="11" name="Picture 10" descr="diff__FFFFFF.png"/>
            <p:cNvPicPr>
              <a:picLocks noChangeAspect="1"/>
            </p:cNvPicPr>
            <p:nvPr/>
          </p:nvPicPr>
          <p:blipFill>
            <a:blip r:embed="rId4"/>
            <a:stretch>
              <a:fillRect/>
            </a:stretch>
          </p:blipFill>
          <p:spPr>
            <a:xfrm>
              <a:off x="930021" y="1568196"/>
              <a:ext cx="178308" cy="178308"/>
            </a:xfrm>
            <a:prstGeom prst="rect">
              <a:avLst/>
            </a:prstGeom>
          </p:spPr>
        </p:pic>
      </p:grpSp>
      <p:sp>
        <p:nvSpPr>
          <p:cNvPr id="12" name="TextBox 11"/>
          <p:cNvSpPr txBox="1"/>
          <p:nvPr/>
        </p:nvSpPr>
        <p:spPr>
          <a:xfrm>
            <a:off x="1323975" y="1485900"/>
            <a:ext cx="4191000" cy="161925"/>
          </a:xfrm>
          <a:prstGeom prst="rect">
            <a:avLst/>
          </a:prstGeom>
          <a:noFill/>
        </p:spPr>
        <p:txBody>
          <a:bodyPr wrap="none" lIns="0" rIns="0" tIns="0" bIns="0" anchor="t">
            <a:noAutofit/>
          </a:bodyPr>
          <a:lstStyle/>
          <a:p>
            <a:pPr algn="l">
              <a:lnSpc>
                <a:spcPts val="1275"/>
              </a:lnSpc>
            </a:pPr>
            <a:r>
              <a:rPr sz="975" b="1" i="0" lang="de-DE" spc="78">
                <a:solidFill>
                  <a:srgbClr val="00718E"/>
                </a:solidFill>
                <a:latin typeface="IBM Plex Sans"/>
              </a:rPr>
              <a:t>RESIDUUM</a:t>
            </a:r>
          </a:p>
        </p:txBody>
      </p:sp>
      <p:sp>
        <p:nvSpPr>
          <p:cNvPr id="13" name="TextBox 12"/>
          <p:cNvSpPr txBox="1"/>
          <p:nvPr/>
        </p:nvSpPr>
        <p:spPr>
          <a:xfrm>
            <a:off x="1323975" y="1809940"/>
            <a:ext cx="236220" cy="222885"/>
          </a:xfrm>
          <a:prstGeom prst="rect">
            <a:avLst/>
          </a:prstGeom>
          <a:noFill/>
        </p:spPr>
        <p:txBody>
          <a:bodyPr wrap="none" lIns="0" rIns="0" tIns="0" bIns="0" anchor="t">
            <a:noAutofit/>
          </a:bodyPr>
          <a:lstStyle/>
          <a:p>
            <a:pPr algn="l">
              <a:lnSpc>
                <a:spcPts val="1755"/>
              </a:lnSpc>
            </a:pPr>
            <a:r>
              <a:rPr sz="1350" b="1" i="0" lang="de-DE">
                <a:solidFill>
                  <a:srgbClr val="084878"/>
                </a:solidFill>
                <a:latin typeface="Geist Mono"/>
              </a:rPr>
              <a:t>r</a:t>
            </a:r>
          </a:p>
        </p:txBody>
      </p:sp>
      <p:sp>
        <p:nvSpPr>
          <p:cNvPr id="14" name="TextBox 13"/>
          <p:cNvSpPr txBox="1"/>
          <p:nvPr/>
        </p:nvSpPr>
        <p:spPr>
          <a:xfrm>
            <a:off x="1503045" y="1809940"/>
            <a:ext cx="236220" cy="222885"/>
          </a:xfrm>
          <a:prstGeom prst="rect">
            <a:avLst/>
          </a:prstGeom>
          <a:noFill/>
        </p:spPr>
        <p:txBody>
          <a:bodyPr wrap="none" lIns="0" rIns="0" tIns="0" bIns="0" anchor="t">
            <a:noAutofit/>
          </a:bodyPr>
          <a:lstStyle/>
          <a:p>
            <a:pPr algn="l">
              <a:lnSpc>
                <a:spcPts val="1755"/>
              </a:lnSpc>
            </a:pPr>
            <a:r>
              <a:rPr sz="1350" b="1" i="0" lang="de-DE">
                <a:solidFill>
                  <a:srgbClr val="00718E"/>
                </a:solidFill>
                <a:latin typeface="Geist Mono"/>
              </a:rPr>
              <a:t>=</a:t>
            </a:r>
          </a:p>
        </p:txBody>
      </p:sp>
      <p:sp>
        <p:nvSpPr>
          <p:cNvPr id="15" name="TextBox 14"/>
          <p:cNvSpPr txBox="1"/>
          <p:nvPr/>
        </p:nvSpPr>
        <p:spPr>
          <a:xfrm>
            <a:off x="1549984" y="1704975"/>
            <a:ext cx="2068678" cy="178308"/>
          </a:xfrm>
          <a:prstGeom prst="rect">
            <a:avLst/>
          </a:prstGeom>
          <a:noFill/>
        </p:spPr>
        <p:txBody>
          <a:bodyPr wrap="none" lIns="0" rIns="0" tIns="0" bIns="0" anchor="t">
            <a:noAutofit/>
          </a:bodyPr>
          <a:lstStyle/>
          <a:p>
            <a:pPr algn="ctr">
              <a:lnSpc>
                <a:spcPts val="1404"/>
              </a:lnSpc>
            </a:pPr>
            <a:r>
              <a:rPr sz="1080" b="1" i="0" lang="de-DE">
                <a:solidFill>
                  <a:srgbClr val="084878"/>
                </a:solidFill>
                <a:latin typeface="Geist Mono"/>
              </a:rPr>
              <a:t>Ist − Prognose [kWh]</a:t>
            </a:r>
          </a:p>
        </p:txBody>
      </p:sp>
      <p:cxnSp>
        <p:nvCxnSpPr>
          <p:cNvPr id="16" name="Connector 15"/>
          <p:cNvCxnSpPr/>
          <p:nvPr/>
        </p:nvCxnSpPr>
        <p:spPr>
          <a:xfrm>
            <a:off x="1723263" y="1921383"/>
            <a:ext cx="1722120" cy="0"/>
          </a:xfrm>
          <a:prstGeom prst="line">
            <a:avLst/>
          </a:prstGeom>
          <a:ln w="19050">
            <a:solidFill>
              <a:srgbClr val="08487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549984" y="1959483"/>
            <a:ext cx="2068678" cy="178308"/>
          </a:xfrm>
          <a:prstGeom prst="rect">
            <a:avLst/>
          </a:prstGeom>
          <a:noFill/>
        </p:spPr>
        <p:txBody>
          <a:bodyPr wrap="none" lIns="0" rIns="0" tIns="0" bIns="0" anchor="t">
            <a:noAutofit/>
          </a:bodyPr>
          <a:lstStyle/>
          <a:p>
            <a:pPr algn="ctr">
              <a:lnSpc>
                <a:spcPts val="1404"/>
              </a:lnSpc>
            </a:pPr>
            <a:r>
              <a:rPr sz="1080" b="1" i="0" lang="de-DE">
                <a:solidFill>
                  <a:srgbClr val="084878"/>
                </a:solidFill>
                <a:latin typeface="Geist Mono"/>
              </a:rPr>
              <a:t>Vertragsleistung [kW]</a:t>
            </a:r>
          </a:p>
        </p:txBody>
      </p:sp>
      <p:sp>
        <p:nvSpPr>
          <p:cNvPr id="18" name="Rounded Rectangle 17"/>
          <p:cNvSpPr/>
          <p:nvPr/>
        </p:nvSpPr>
        <p:spPr>
          <a:xfrm>
            <a:off x="685800" y="2357438"/>
            <a:ext cx="4612958" cy="923925"/>
          </a:xfrm>
          <a:prstGeom prst="roundRect">
            <a:avLst>
              <a:gd name="adj" fmla="val 10309"/>
            </a:avLst>
          </a:prstGeom>
          <a:solidFill>
            <a:srgbClr val="FFFFFF"/>
          </a:solidFill>
          <a:ln w="9525">
            <a:solidFill>
              <a:srgbClr val="D2DAE2"/>
            </a:solidFill>
          </a:ln>
          <a:effectLst/>
        </p:spPr>
        <p:txBody>
          <a:bodyPr rtlCol="0" anchor="ctr"/>
          <a:lstStyle/>
          <a:p>
            <a:pPr algn="ctr"/>
          </a:p>
        </p:txBody>
      </p:sp>
      <p:grpSp>
        <p:nvGrpSpPr>
          <p:cNvPr id="19" name="Scheibe ruler"/>
          <p:cNvGrpSpPr/>
          <p:nvPr/>
        </p:nvGrpSpPr>
        <p:grpSpPr>
          <a:xfrm>
            <a:off x="847725" y="2481262"/>
            <a:ext cx="342900" cy="342900"/>
            <a:chOff x="847725" y="2481262"/>
            <a:chExt cx="342900" cy="342900"/>
          </a:xfrm>
        </p:grpSpPr>
        <p:sp>
          <p:nvSpPr>
            <p:cNvPr id="20" name="Oval 19"/>
            <p:cNvSpPr/>
            <p:nvPr/>
          </p:nvSpPr>
          <p:spPr>
            <a:xfrm>
              <a:off x="847725" y="2481262"/>
              <a:ext cx="342900" cy="342900"/>
            </a:xfrm>
            <a:prstGeom prst="ellipse">
              <a:avLst/>
            </a:prstGeom>
            <a:solidFill>
              <a:srgbClr val="A86505"/>
            </a:solidFill>
            <a:ln>
              <a:noFill/>
            </a:ln>
            <a:effectLst/>
          </p:spPr>
          <p:txBody>
            <a:bodyPr rtlCol="0" anchor="ctr"/>
            <a:lstStyle/>
            <a:p>
              <a:pPr algn="ctr"/>
            </a:p>
          </p:txBody>
        </p:sp>
        <p:pic>
          <p:nvPicPr>
            <p:cNvPr id="21" name="Picture 20" descr="ruler__FFFFFF.png"/>
            <p:cNvPicPr>
              <a:picLocks noChangeAspect="1"/>
            </p:cNvPicPr>
            <p:nvPr/>
          </p:nvPicPr>
          <p:blipFill>
            <a:blip r:embed="rId5"/>
            <a:stretch>
              <a:fillRect/>
            </a:stretch>
          </p:blipFill>
          <p:spPr>
            <a:xfrm>
              <a:off x="930021" y="2563558"/>
              <a:ext cx="178308" cy="178308"/>
            </a:xfrm>
            <a:prstGeom prst="rect">
              <a:avLst/>
            </a:prstGeom>
          </p:spPr>
        </p:pic>
      </p:grpSp>
      <p:sp>
        <p:nvSpPr>
          <p:cNvPr id="22" name="TextBox 21"/>
          <p:cNvSpPr txBox="1"/>
          <p:nvPr/>
        </p:nvSpPr>
        <p:spPr>
          <a:xfrm>
            <a:off x="1323975" y="2481262"/>
            <a:ext cx="4191000" cy="161925"/>
          </a:xfrm>
          <a:prstGeom prst="rect">
            <a:avLst/>
          </a:prstGeom>
          <a:noFill/>
        </p:spPr>
        <p:txBody>
          <a:bodyPr wrap="none" lIns="0" rIns="0" tIns="0" bIns="0" anchor="t">
            <a:noAutofit/>
          </a:bodyPr>
          <a:lstStyle/>
          <a:p>
            <a:pPr algn="l">
              <a:lnSpc>
                <a:spcPts val="1275"/>
              </a:lnSpc>
            </a:pPr>
            <a:r>
              <a:rPr sz="975" b="1" i="0" lang="de-DE" spc="78">
                <a:solidFill>
                  <a:srgbClr val="00718E"/>
                </a:solidFill>
                <a:latin typeface="IBM Plex Sans"/>
              </a:rPr>
              <a:t>SCHWELLE</a:t>
            </a:r>
          </a:p>
        </p:txBody>
      </p:sp>
      <p:sp>
        <p:nvSpPr>
          <p:cNvPr id="23" name="TextBox 22"/>
          <p:cNvSpPr txBox="1"/>
          <p:nvPr/>
        </p:nvSpPr>
        <p:spPr>
          <a:xfrm>
            <a:off x="1323975" y="2700338"/>
            <a:ext cx="444246" cy="222885"/>
          </a:xfrm>
          <a:prstGeom prst="rect">
            <a:avLst/>
          </a:prstGeom>
          <a:noFill/>
        </p:spPr>
        <p:txBody>
          <a:bodyPr wrap="none" lIns="0" rIns="0" tIns="0" bIns="0" anchor="t">
            <a:noAutofit/>
          </a:bodyPr>
          <a:lstStyle/>
          <a:p>
            <a:pPr algn="l">
              <a:lnSpc>
                <a:spcPts val="1755"/>
              </a:lnSpc>
            </a:pPr>
            <a:r>
              <a:rPr sz="1350" b="1" i="0" lang="de-DE">
                <a:solidFill>
                  <a:srgbClr val="084878"/>
                </a:solidFill>
                <a:latin typeface="Geist Mono"/>
              </a:rPr>
              <a:t>q99</a:t>
            </a:r>
          </a:p>
        </p:txBody>
      </p:sp>
      <p:sp>
        <p:nvSpPr>
          <p:cNvPr id="24" name="TextBox 23"/>
          <p:cNvSpPr txBox="1"/>
          <p:nvPr/>
        </p:nvSpPr>
        <p:spPr>
          <a:xfrm>
            <a:off x="1708785" y="2700338"/>
            <a:ext cx="236220" cy="222885"/>
          </a:xfrm>
          <a:prstGeom prst="rect">
            <a:avLst/>
          </a:prstGeom>
          <a:noFill/>
        </p:spPr>
        <p:txBody>
          <a:bodyPr wrap="none" lIns="0" rIns="0" tIns="0" bIns="0" anchor="t">
            <a:noAutofit/>
          </a:bodyPr>
          <a:lstStyle/>
          <a:p>
            <a:pPr algn="l">
              <a:lnSpc>
                <a:spcPts val="1755"/>
              </a:lnSpc>
            </a:pPr>
            <a:r>
              <a:rPr sz="1350" b="1" i="0" lang="de-DE">
                <a:solidFill>
                  <a:srgbClr val="00718E"/>
                </a:solidFill>
                <a:latin typeface="Geist Mono"/>
              </a:rPr>
              <a:t>=</a:t>
            </a:r>
          </a:p>
        </p:txBody>
      </p:sp>
      <p:sp>
        <p:nvSpPr>
          <p:cNvPr id="25" name="TextBox 24"/>
          <p:cNvSpPr txBox="1"/>
          <p:nvPr/>
        </p:nvSpPr>
        <p:spPr>
          <a:xfrm>
            <a:off x="1887855" y="2700338"/>
            <a:ext cx="1349502" cy="222885"/>
          </a:xfrm>
          <a:prstGeom prst="rect">
            <a:avLst/>
          </a:prstGeom>
          <a:noFill/>
        </p:spPr>
        <p:txBody>
          <a:bodyPr wrap="none" lIns="0" rIns="0" tIns="0" bIns="0" anchor="t">
            <a:noAutofit/>
          </a:bodyPr>
          <a:lstStyle/>
          <a:p>
            <a:pPr algn="l">
              <a:lnSpc>
                <a:spcPts val="1755"/>
              </a:lnSpc>
            </a:pPr>
            <a:r>
              <a:rPr sz="1350" b="1" i="0" lang="de-DE">
                <a:solidFill>
                  <a:srgbClr val="084878"/>
                </a:solidFill>
                <a:latin typeface="Geist Mono"/>
              </a:rPr>
              <a:t>144,4 VLS-h</a:t>
            </a:r>
          </a:p>
        </p:txBody>
      </p:sp>
      <p:sp>
        <p:nvSpPr>
          <p:cNvPr id="26" name="TextBox 25"/>
          <p:cNvSpPr txBox="1"/>
          <p:nvPr/>
        </p:nvSpPr>
        <p:spPr>
          <a:xfrm>
            <a:off x="1323975" y="2970848"/>
            <a:ext cx="4295775" cy="190500"/>
          </a:xfrm>
          <a:prstGeom prst="rect">
            <a:avLst/>
          </a:prstGeom>
          <a:noFill/>
        </p:spPr>
        <p:txBody>
          <a:bodyPr wrap="none" lIns="0" rIns="0" tIns="0" bIns="0" anchor="t">
            <a:noAutofit/>
          </a:bodyPr>
          <a:lstStyle/>
          <a:p>
            <a:pPr algn="l">
              <a:lnSpc>
                <a:spcPts val="1470"/>
              </a:lnSpc>
            </a:pPr>
            <a:r>
              <a:rPr sz="1087" b="0" i="0" lang="de-DE">
                <a:solidFill>
                  <a:srgbClr val="4E5A68"/>
                </a:solidFill>
                <a:latin typeface="IBM Plex Sans"/>
              </a:rPr>
              <a:t>99. Perzentil der 1.397 Fehlerbeträge Nov–Dez 2024</a:t>
            </a:r>
          </a:p>
        </p:txBody>
      </p:sp>
      <p:sp>
        <p:nvSpPr>
          <p:cNvPr id="27" name="Rounded Rectangle 26"/>
          <p:cNvSpPr/>
          <p:nvPr/>
        </p:nvSpPr>
        <p:spPr>
          <a:xfrm>
            <a:off x="685800" y="3375660"/>
            <a:ext cx="4612958" cy="923925"/>
          </a:xfrm>
          <a:prstGeom prst="roundRect">
            <a:avLst>
              <a:gd name="adj" fmla="val 10309"/>
            </a:avLst>
          </a:prstGeom>
          <a:solidFill>
            <a:srgbClr val="FFFFFF"/>
          </a:solidFill>
          <a:ln w="9525">
            <a:solidFill>
              <a:srgbClr val="D2DAE2"/>
            </a:solidFill>
          </a:ln>
          <a:effectLst/>
        </p:spPr>
        <p:txBody>
          <a:bodyPr rtlCol="0" anchor="ctr"/>
          <a:lstStyle/>
          <a:p>
            <a:pPr algn="ctr"/>
          </a:p>
        </p:txBody>
      </p:sp>
      <p:grpSp>
        <p:nvGrpSpPr>
          <p:cNvPr id="28" name="Scheibe flag"/>
          <p:cNvGrpSpPr/>
          <p:nvPr/>
        </p:nvGrpSpPr>
        <p:grpSpPr>
          <a:xfrm>
            <a:off x="847725" y="3499485"/>
            <a:ext cx="342900" cy="342900"/>
            <a:chOff x="847725" y="3499485"/>
            <a:chExt cx="342900" cy="342900"/>
          </a:xfrm>
        </p:grpSpPr>
        <p:sp>
          <p:nvSpPr>
            <p:cNvPr id="29" name="Oval 28"/>
            <p:cNvSpPr/>
            <p:nvPr/>
          </p:nvSpPr>
          <p:spPr>
            <a:xfrm>
              <a:off x="847725" y="3499485"/>
              <a:ext cx="342900" cy="342900"/>
            </a:xfrm>
            <a:prstGeom prst="ellipse">
              <a:avLst/>
            </a:prstGeom>
            <a:solidFill>
              <a:srgbClr val="A86505"/>
            </a:solidFill>
            <a:ln>
              <a:noFill/>
            </a:ln>
            <a:effectLst/>
          </p:spPr>
          <p:txBody>
            <a:bodyPr rtlCol="0" anchor="ctr"/>
            <a:lstStyle/>
            <a:p>
              <a:pPr algn="ctr"/>
            </a:p>
          </p:txBody>
        </p:sp>
        <p:pic>
          <p:nvPicPr>
            <p:cNvPr id="30" name="Picture 29" descr="flag__FFFFFF.png"/>
            <p:cNvPicPr>
              <a:picLocks noChangeAspect="1"/>
            </p:cNvPicPr>
            <p:nvPr/>
          </p:nvPicPr>
          <p:blipFill>
            <a:blip r:embed="rId3"/>
            <a:stretch>
              <a:fillRect/>
            </a:stretch>
          </p:blipFill>
          <p:spPr>
            <a:xfrm>
              <a:off x="930021" y="3581781"/>
              <a:ext cx="178308" cy="178308"/>
            </a:xfrm>
            <a:prstGeom prst="rect">
              <a:avLst/>
            </a:prstGeom>
          </p:spPr>
        </p:pic>
      </p:grpSp>
      <p:sp>
        <p:nvSpPr>
          <p:cNvPr id="31" name="TextBox 30"/>
          <p:cNvSpPr txBox="1"/>
          <p:nvPr/>
        </p:nvSpPr>
        <p:spPr>
          <a:xfrm>
            <a:off x="1323975" y="3499485"/>
            <a:ext cx="4191000" cy="161925"/>
          </a:xfrm>
          <a:prstGeom prst="rect">
            <a:avLst/>
          </a:prstGeom>
          <a:noFill/>
        </p:spPr>
        <p:txBody>
          <a:bodyPr wrap="none" lIns="0" rIns="0" tIns="0" bIns="0" anchor="t">
            <a:noAutofit/>
          </a:bodyPr>
          <a:lstStyle/>
          <a:p>
            <a:pPr algn="l">
              <a:lnSpc>
                <a:spcPts val="1275"/>
              </a:lnSpc>
            </a:pPr>
            <a:r>
              <a:rPr sz="975" b="1" i="0" lang="de-DE" spc="78">
                <a:solidFill>
                  <a:srgbClr val="00718E"/>
                </a:solidFill>
                <a:latin typeface="IBM Plex Sans"/>
              </a:rPr>
              <a:t>FAKTOR</a:t>
            </a:r>
          </a:p>
        </p:txBody>
      </p:sp>
      <p:sp>
        <p:nvSpPr>
          <p:cNvPr id="32" name="TextBox 31"/>
          <p:cNvSpPr txBox="1"/>
          <p:nvPr/>
        </p:nvSpPr>
        <p:spPr>
          <a:xfrm>
            <a:off x="1323975" y="3718560"/>
            <a:ext cx="236220" cy="222885"/>
          </a:xfrm>
          <a:prstGeom prst="rect">
            <a:avLst/>
          </a:prstGeom>
          <a:noFill/>
        </p:spPr>
        <p:txBody>
          <a:bodyPr wrap="none" lIns="0" rIns="0" tIns="0" bIns="0" anchor="t">
            <a:noAutofit/>
          </a:bodyPr>
          <a:lstStyle/>
          <a:p>
            <a:pPr algn="l">
              <a:lnSpc>
                <a:spcPts val="1755"/>
              </a:lnSpc>
            </a:pPr>
            <a:r>
              <a:rPr sz="1350" b="1" i="0" lang="de-DE">
                <a:solidFill>
                  <a:srgbClr val="084878"/>
                </a:solidFill>
                <a:latin typeface="Geist Mono"/>
              </a:rPr>
              <a:t>F</a:t>
            </a:r>
          </a:p>
        </p:txBody>
      </p:sp>
      <p:sp>
        <p:nvSpPr>
          <p:cNvPr id="33" name="TextBox 32"/>
          <p:cNvSpPr txBox="1"/>
          <p:nvPr/>
        </p:nvSpPr>
        <p:spPr>
          <a:xfrm>
            <a:off x="1503045" y="3718560"/>
            <a:ext cx="236220" cy="222885"/>
          </a:xfrm>
          <a:prstGeom prst="rect">
            <a:avLst/>
          </a:prstGeom>
          <a:noFill/>
        </p:spPr>
        <p:txBody>
          <a:bodyPr wrap="none" lIns="0" rIns="0" tIns="0" bIns="0" anchor="t">
            <a:noAutofit/>
          </a:bodyPr>
          <a:lstStyle/>
          <a:p>
            <a:pPr algn="l">
              <a:lnSpc>
                <a:spcPts val="1755"/>
              </a:lnSpc>
            </a:pPr>
            <a:r>
              <a:rPr sz="1350" b="1" i="0" lang="de-DE">
                <a:solidFill>
                  <a:srgbClr val="00718E"/>
                </a:solidFill>
                <a:latin typeface="Geist Mono"/>
              </a:rPr>
              <a:t>=</a:t>
            </a:r>
          </a:p>
        </p:txBody>
      </p:sp>
      <p:sp>
        <p:nvSpPr>
          <p:cNvPr id="34" name="TextBox 33"/>
          <p:cNvSpPr txBox="1"/>
          <p:nvPr/>
        </p:nvSpPr>
        <p:spPr>
          <a:xfrm>
            <a:off x="1682115" y="3718560"/>
            <a:ext cx="896874" cy="222885"/>
          </a:xfrm>
          <a:prstGeom prst="rect">
            <a:avLst/>
          </a:prstGeom>
          <a:noFill/>
        </p:spPr>
        <p:txBody>
          <a:bodyPr wrap="none" lIns="0" rIns="0" tIns="0" bIns="0" anchor="t">
            <a:noAutofit/>
          </a:bodyPr>
          <a:lstStyle/>
          <a:p>
            <a:pPr algn="l">
              <a:lnSpc>
                <a:spcPts val="1755"/>
              </a:lnSpc>
            </a:pPr>
            <a:r>
              <a:rPr sz="1350" b="1" i="0" lang="de-DE">
                <a:solidFill>
                  <a:srgbClr val="084878"/>
                </a:solidFill>
                <a:latin typeface="Geist Mono"/>
              </a:rPr>
              <a:t>r ÷ q99</a:t>
            </a:r>
          </a:p>
        </p:txBody>
      </p:sp>
      <p:sp>
        <p:nvSpPr>
          <p:cNvPr id="35" name="TextBox 34"/>
          <p:cNvSpPr txBox="1"/>
          <p:nvPr/>
        </p:nvSpPr>
        <p:spPr>
          <a:xfrm>
            <a:off x="1323975" y="3989070"/>
            <a:ext cx="4295775" cy="190500"/>
          </a:xfrm>
          <a:prstGeom prst="rect">
            <a:avLst/>
          </a:prstGeom>
          <a:noFill/>
        </p:spPr>
        <p:txBody>
          <a:bodyPr wrap="none" lIns="0" rIns="0" tIns="0" bIns="0" anchor="t">
            <a:noAutofit/>
          </a:bodyPr>
          <a:lstStyle/>
          <a:p>
            <a:pPr algn="l">
              <a:lnSpc>
                <a:spcPts val="1470"/>
              </a:lnSpc>
            </a:pPr>
            <a:r>
              <a:rPr sz="1087" b="1" i="0" lang="de-DE">
                <a:solidFill>
                  <a:srgbClr val="084878"/>
                </a:solidFill>
                <a:latin typeface="IBM Plex Sans"/>
              </a:rPr>
              <a:t>F ≥ +1 oder F ≤ −1 ⇒ Prüfhinweis</a:t>
            </a:r>
            <a:r>
              <a:rPr sz="1087" b="0" i="0" lang="de-DE">
                <a:solidFill>
                  <a:srgbClr val="4E5A68"/>
                </a:solidFill>
                <a:latin typeface="IBM Plex Sans"/>
              </a:rPr>
              <a:t> · keine Wahrscheinlichkeit</a:t>
            </a:r>
          </a:p>
        </p:txBody>
      </p:sp>
      <p:sp>
        <p:nvSpPr>
          <p:cNvPr id="36" name="Rounded Rectangle 35"/>
          <p:cNvSpPr/>
          <p:nvPr/>
        </p:nvSpPr>
        <p:spPr>
          <a:xfrm>
            <a:off x="685800" y="4413885"/>
            <a:ext cx="1416082" cy="295275"/>
          </a:xfrm>
          <a:prstGeom prst="roundRect">
            <a:avLst>
              <a:gd name="adj" fmla="val 50000"/>
            </a:avLst>
          </a:prstGeom>
          <a:solidFill>
            <a:srgbClr val="FFFFFF"/>
          </a:solidFill>
          <a:ln w="9525">
            <a:solidFill>
              <a:srgbClr val="D2DAE2"/>
            </a:solidFill>
          </a:ln>
          <a:effectLst/>
        </p:spPr>
        <p:txBody>
          <a:bodyPr rtlCol="0" anchor="ctr"/>
          <a:lstStyle/>
          <a:p>
            <a:pPr algn="ctr"/>
          </a:p>
        </p:txBody>
      </p:sp>
      <p:sp>
        <p:nvSpPr>
          <p:cNvPr id="37" name="TextBox 36"/>
          <p:cNvSpPr txBox="1"/>
          <p:nvPr/>
        </p:nvSpPr>
        <p:spPr>
          <a:xfrm>
            <a:off x="614996" y="4413885"/>
            <a:ext cx="1557690" cy="295275"/>
          </a:xfrm>
          <a:prstGeom prst="rect">
            <a:avLst/>
          </a:prstGeom>
          <a:noFill/>
        </p:spPr>
        <p:txBody>
          <a:bodyPr wrap="none" lIns="0" rIns="0" tIns="0" bIns="0" anchor="ctr">
            <a:noAutofit/>
          </a:bodyPr>
          <a:lstStyle/>
          <a:p>
            <a:pPr algn="ctr">
              <a:lnSpc>
                <a:spcPts val="1425"/>
              </a:lnSpc>
            </a:pPr>
            <a:r>
              <a:rPr sz="1087" b="0" i="0" lang="de-DE">
                <a:solidFill>
                  <a:srgbClr val="4E5A68"/>
                </a:solidFill>
                <a:latin typeface="IBM Plex Sans"/>
              </a:rPr>
              <a:t>Modellabweichung</a:t>
            </a:r>
          </a:p>
        </p:txBody>
      </p:sp>
      <p:pic>
        <p:nvPicPr>
          <p:cNvPr id="38" name="Icon chevron-right" descr="chevron-right__8A96A3.png"/>
          <p:cNvPicPr>
            <a:picLocks noChangeAspect="1"/>
          </p:cNvPicPr>
          <p:nvPr/>
        </p:nvPicPr>
        <p:blipFill>
          <a:blip r:embed="rId6"/>
          <a:stretch>
            <a:fillRect/>
          </a:stretch>
        </p:blipFill>
        <p:spPr>
          <a:xfrm>
            <a:off x="2159032" y="4485322"/>
            <a:ext cx="152400" cy="152400"/>
          </a:xfrm>
          <a:prstGeom prst="rect">
            <a:avLst/>
          </a:prstGeom>
        </p:spPr>
      </p:pic>
      <p:sp>
        <p:nvSpPr>
          <p:cNvPr id="39" name="Rounded Rectangle 38"/>
          <p:cNvSpPr/>
          <p:nvPr/>
        </p:nvSpPr>
        <p:spPr>
          <a:xfrm>
            <a:off x="2368582" y="4413885"/>
            <a:ext cx="1034891" cy="295275"/>
          </a:xfrm>
          <a:prstGeom prst="roundRect">
            <a:avLst>
              <a:gd name="adj" fmla="val 50000"/>
            </a:avLst>
          </a:prstGeom>
          <a:solidFill>
            <a:srgbClr val="A86505"/>
          </a:solidFill>
          <a:ln w="9525">
            <a:solidFill>
              <a:srgbClr val="A86505"/>
            </a:solidFill>
          </a:ln>
          <a:effectLst/>
        </p:spPr>
        <p:txBody>
          <a:bodyPr rtlCol="0" anchor="ctr"/>
          <a:lstStyle/>
          <a:p>
            <a:pPr algn="ctr"/>
          </a:p>
        </p:txBody>
      </p:sp>
      <p:sp>
        <p:nvSpPr>
          <p:cNvPr id="40" name="TextBox 39"/>
          <p:cNvSpPr txBox="1"/>
          <p:nvPr/>
        </p:nvSpPr>
        <p:spPr>
          <a:xfrm>
            <a:off x="2316837" y="4413885"/>
            <a:ext cx="1138380" cy="295275"/>
          </a:xfrm>
          <a:prstGeom prst="rect">
            <a:avLst/>
          </a:prstGeom>
          <a:noFill/>
        </p:spPr>
        <p:txBody>
          <a:bodyPr wrap="none" lIns="0" rIns="0" tIns="0" bIns="0" anchor="ctr">
            <a:noAutofit/>
          </a:bodyPr>
          <a:lstStyle/>
          <a:p>
            <a:pPr algn="ctr">
              <a:lnSpc>
                <a:spcPts val="1425"/>
              </a:lnSpc>
            </a:pPr>
            <a:r>
              <a:rPr sz="1087" b="1" i="0" lang="de-DE">
                <a:solidFill>
                  <a:srgbClr val="FFFFFF"/>
                </a:solidFill>
                <a:latin typeface="IBM Plex Sans"/>
              </a:rPr>
              <a:t>Prüfhinweis</a:t>
            </a:r>
          </a:p>
        </p:txBody>
      </p:sp>
      <p:pic>
        <p:nvPicPr>
          <p:cNvPr id="41" name="Icon chevron-right" descr="chevron-right__8A96A3.png"/>
          <p:cNvPicPr>
            <a:picLocks noChangeAspect="1"/>
          </p:cNvPicPr>
          <p:nvPr/>
        </p:nvPicPr>
        <p:blipFill>
          <a:blip r:embed="rId6"/>
          <a:stretch>
            <a:fillRect/>
          </a:stretch>
        </p:blipFill>
        <p:spPr>
          <a:xfrm>
            <a:off x="3460623" y="4485322"/>
            <a:ext cx="152400" cy="152400"/>
          </a:xfrm>
          <a:prstGeom prst="rect">
            <a:avLst/>
          </a:prstGeom>
        </p:spPr>
      </p:pic>
      <p:sp>
        <p:nvSpPr>
          <p:cNvPr id="42" name="Rounded Rectangle 41"/>
          <p:cNvSpPr/>
          <p:nvPr/>
        </p:nvSpPr>
        <p:spPr>
          <a:xfrm>
            <a:off x="3670173" y="4413885"/>
            <a:ext cx="1492044" cy="295275"/>
          </a:xfrm>
          <a:prstGeom prst="roundRect">
            <a:avLst>
              <a:gd name="adj" fmla="val 50000"/>
            </a:avLst>
          </a:prstGeom>
          <a:solidFill>
            <a:srgbClr val="FFFFFF"/>
          </a:solidFill>
          <a:ln w="9525">
            <a:solidFill>
              <a:srgbClr val="D2DAE2"/>
            </a:solidFill>
          </a:ln>
          <a:effectLst/>
        </p:spPr>
        <p:txBody>
          <a:bodyPr rtlCol="0" anchor="ctr"/>
          <a:lstStyle/>
          <a:p>
            <a:pPr algn="ctr"/>
          </a:p>
        </p:txBody>
      </p:sp>
      <p:sp>
        <p:nvSpPr>
          <p:cNvPr id="43" name="TextBox 42"/>
          <p:cNvSpPr txBox="1"/>
          <p:nvPr/>
        </p:nvSpPr>
        <p:spPr>
          <a:xfrm>
            <a:off x="3595571" y="4413885"/>
            <a:ext cx="1641248" cy="295275"/>
          </a:xfrm>
          <a:prstGeom prst="rect">
            <a:avLst/>
          </a:prstGeom>
          <a:noFill/>
        </p:spPr>
        <p:txBody>
          <a:bodyPr wrap="none" lIns="0" rIns="0" tIns="0" bIns="0" anchor="ctr">
            <a:noAutofit/>
          </a:bodyPr>
          <a:lstStyle/>
          <a:p>
            <a:pPr algn="ctr">
              <a:lnSpc>
                <a:spcPts val="1425"/>
              </a:lnSpc>
            </a:pPr>
            <a:r>
              <a:rPr sz="1087" b="0" i="0" lang="de-DE">
                <a:solidFill>
                  <a:srgbClr val="4E5A68"/>
                </a:solidFill>
                <a:latin typeface="IBM Plex Sans"/>
              </a:rPr>
              <a:t>bestätigte Anomalie</a:t>
            </a:r>
          </a:p>
        </p:txBody>
      </p:sp>
      <p:sp>
        <p:nvSpPr>
          <p:cNvPr id="44" name="Rounded Rectangle 43"/>
          <p:cNvSpPr/>
          <p:nvPr/>
        </p:nvSpPr>
        <p:spPr>
          <a:xfrm>
            <a:off x="5508308" y="1362075"/>
            <a:ext cx="5997892" cy="3969068"/>
          </a:xfrm>
          <a:prstGeom prst="roundRect">
            <a:avLst>
              <a:gd name="adj" fmla="val 2399"/>
            </a:avLst>
          </a:prstGeom>
          <a:solidFill>
            <a:srgbClr val="FFFFFF"/>
          </a:solidFill>
          <a:ln w="9525">
            <a:solidFill>
              <a:srgbClr val="D2DAE2"/>
            </a:solidFill>
          </a:ln>
          <a:effectLst/>
        </p:spPr>
        <p:txBody>
          <a:bodyPr rtlCol="0" anchor="ctr"/>
          <a:lstStyle/>
          <a:p>
            <a:pPr algn="ctr"/>
          </a:p>
        </p:txBody>
      </p:sp>
      <p:sp>
        <p:nvSpPr>
          <p:cNvPr id="45" name="TextBox 44"/>
          <p:cNvSpPr txBox="1"/>
          <p:nvPr/>
        </p:nvSpPr>
        <p:spPr>
          <a:xfrm>
            <a:off x="5708332" y="1524000"/>
            <a:ext cx="5715000" cy="190500"/>
          </a:xfrm>
          <a:prstGeom prst="rect">
            <a:avLst/>
          </a:prstGeom>
          <a:noFill/>
        </p:spPr>
        <p:txBody>
          <a:bodyPr wrap="square" lIns="0" rIns="0" tIns="0" bIns="0" anchor="t">
            <a:noAutofit/>
          </a:bodyPr>
          <a:lstStyle/>
          <a:p>
            <a:pPr algn="l">
              <a:lnSpc>
                <a:spcPts val="1500"/>
              </a:lnSpc>
            </a:pPr>
            <a:r>
              <a:rPr sz="1200" b="1" i="0" lang="de-DE">
                <a:solidFill>
                  <a:srgbClr val="141A21"/>
                </a:solidFill>
                <a:latin typeface="IBM Plex Sans"/>
              </a:rPr>
              <a:t>Kalibrierung Nov–Dez 2024 </a:t>
            </a:r>
            <a:r>
              <a:rPr sz="1200" b="0" i="0" lang="de-DE">
                <a:solidFill>
                  <a:srgbClr val="657383"/>
                </a:solidFill>
                <a:latin typeface="IBM Plex Sans"/>
              </a:rPr>
              <a:t>· 1.397 Fehlerbeträge, der Größe nach sortiert</a:t>
            </a:r>
          </a:p>
        </p:txBody>
      </p:sp>
      <p:sp>
        <p:nvSpPr>
          <p:cNvPr id="48" name="TextBox 47"/>
          <p:cNvSpPr txBox="1"/>
          <p:nvPr/>
        </p:nvSpPr>
        <p:spPr>
          <a:xfrm>
            <a:off x="10901542" y="4522266"/>
            <a:ext cx="481773" cy="185643"/>
          </a:xfrm>
          <a:prstGeom prst="rect">
            <a:avLst/>
          </a:prstGeom>
          <a:noFill/>
        </p:spPr>
        <p:txBody>
          <a:bodyPr wrap="none" lIns="0" rIns="0" tIns="0" bIns="0" anchor="t">
            <a:noAutofit/>
          </a:bodyPr>
          <a:lstStyle/>
          <a:p>
            <a:pPr algn="ctr">
              <a:lnSpc>
                <a:spcPts val="1461"/>
              </a:lnSpc>
            </a:pPr>
            <a:r>
              <a:rPr sz="1124" b="1" i="0" lang="de-DE">
                <a:solidFill>
                  <a:srgbClr val="141A21"/>
                </a:solidFill>
                <a:latin typeface="Geist Mono"/>
              </a:rPr>
              <a:t>99 %</a:t>
            </a:r>
          </a:p>
        </p:txBody>
      </p:sp>
      <p:sp>
        <p:nvSpPr>
          <p:cNvPr id="52" name="TextBox 51"/>
          <p:cNvSpPr txBox="1"/>
          <p:nvPr/>
        </p:nvSpPr>
        <p:spPr>
          <a:xfrm>
            <a:off x="5708332" y="4970145"/>
            <a:ext cx="5715000" cy="180975"/>
          </a:xfrm>
          <a:prstGeom prst="rect">
            <a:avLst/>
          </a:prstGeom>
          <a:noFill/>
        </p:spPr>
        <p:txBody>
          <a:bodyPr wrap="square" lIns="0" rIns="0" tIns="0" bIns="0" anchor="t">
            <a:noAutofit/>
          </a:bodyPr>
          <a:lstStyle/>
          <a:p>
            <a:pPr algn="l">
              <a:lnSpc>
                <a:spcPts val="1417"/>
              </a:lnSpc>
            </a:pPr>
            <a:r>
              <a:rPr sz="1050" b="0" i="0" lang="de-DE">
                <a:solidFill>
                  <a:srgbClr val="4E5A68"/>
                </a:solidFill>
                <a:latin typeface="IBM Plex Sans"/>
              </a:rPr>
              <a:t>99 von 100 Vorwärtsfehlern waren kleiner als 144,4 VLS-h; 14 lagen darüber.</a:t>
            </a:r>
          </a:p>
        </p:txBody>
      </p:sp>
      <p:sp>
        <p:nvSpPr>
          <p:cNvPr id="53" name="Rounded Rectangle 52"/>
          <p:cNvSpPr/>
          <p:nvPr/>
        </p:nvSpPr>
        <p:spPr>
          <a:xfrm>
            <a:off x="685800" y="5591175"/>
            <a:ext cx="10820400" cy="495300"/>
          </a:xfrm>
          <a:prstGeom prst="roundRect">
            <a:avLst>
              <a:gd name="adj" fmla="val 19230"/>
            </a:avLst>
          </a:prstGeom>
          <a:solidFill>
            <a:srgbClr val="E3F3F7"/>
          </a:solidFill>
          <a:ln>
            <a:noFill/>
          </a:ln>
          <a:effectLst/>
        </p:spPr>
        <p:txBody>
          <a:bodyPr rtlCol="0" anchor="ctr"/>
          <a:lstStyle/>
          <a:p>
            <a:pPr algn="ctr"/>
          </a:p>
        </p:txBody>
      </p:sp>
      <p:grpSp>
        <p:nvGrpSpPr>
          <p:cNvPr id="54" name="Scheibe lightbulb"/>
          <p:cNvGrpSpPr/>
          <p:nvPr/>
        </p:nvGrpSpPr>
        <p:grpSpPr>
          <a:xfrm>
            <a:off x="800100" y="5695950"/>
            <a:ext cx="285750" cy="285750"/>
            <a:chOff x="800100" y="5695950"/>
            <a:chExt cx="285750" cy="285750"/>
          </a:xfrm>
        </p:grpSpPr>
        <p:sp>
          <p:nvSpPr>
            <p:cNvPr id="55" name="Oval 54"/>
            <p:cNvSpPr/>
            <p:nvPr/>
          </p:nvSpPr>
          <p:spPr>
            <a:xfrm>
              <a:off x="800100" y="5695950"/>
              <a:ext cx="285750" cy="285750"/>
            </a:xfrm>
            <a:prstGeom prst="ellipse">
              <a:avLst/>
            </a:prstGeom>
            <a:solidFill>
              <a:srgbClr val="A86505"/>
            </a:solidFill>
            <a:ln>
              <a:noFill/>
            </a:ln>
            <a:effectLst/>
          </p:spPr>
          <p:txBody>
            <a:bodyPr rtlCol="0" anchor="ctr"/>
            <a:lstStyle/>
            <a:p>
              <a:pPr algn="ctr"/>
            </a:p>
          </p:txBody>
        </p:sp>
        <p:pic>
          <p:nvPicPr>
            <p:cNvPr id="56" name="Picture 55" descr="lightbulb__FFFFFF.png"/>
            <p:cNvPicPr>
              <a:picLocks noChangeAspect="1"/>
            </p:cNvPicPr>
            <p:nvPr/>
          </p:nvPicPr>
          <p:blipFill>
            <a:blip r:embed="rId7"/>
            <a:stretch>
              <a:fillRect/>
            </a:stretch>
          </p:blipFill>
          <p:spPr>
            <a:xfrm>
              <a:off x="868680" y="5764530"/>
              <a:ext cx="148590" cy="148590"/>
            </a:xfrm>
            <a:prstGeom prst="rect">
              <a:avLst/>
            </a:prstGeom>
          </p:spPr>
        </p:pic>
      </p:grpSp>
      <p:sp>
        <p:nvSpPr>
          <p:cNvPr id="57" name="Merksatz"/>
          <p:cNvSpPr txBox="1"/>
          <p:nvPr/>
        </p:nvSpPr>
        <p:spPr>
          <a:xfrm>
            <a:off x="1219200" y="5591175"/>
            <a:ext cx="10096500" cy="495300"/>
          </a:xfrm>
          <a:prstGeom prst="rect">
            <a:avLst/>
          </a:prstGeom>
          <a:noFill/>
        </p:spPr>
        <p:txBody>
          <a:bodyPr wrap="square" lIns="0" rIns="0" tIns="0" bIns="0" anchor="ctr">
            <a:noAutofit/>
          </a:bodyPr>
          <a:lstStyle/>
          <a:p>
            <a:pPr algn="l">
              <a:lnSpc>
                <a:spcPts val="1822"/>
              </a:lnSpc>
            </a:pPr>
            <a:r>
              <a:rPr sz="1350" b="0" i="0" lang="de-DE">
                <a:solidFill>
                  <a:srgbClr val="005E77"/>
                </a:solidFill>
                <a:latin typeface="IBM Plex Sans"/>
              </a:rPr>
              <a:t>Das Modell ersetzt keine Abrechnungsentscheidung. Es markiert nur, was eine Prüfung wert ist.</a:t>
            </a:r>
          </a:p>
        </p:txBody>
      </p:sp>
      <p:cxnSp>
        <p:nvCxnSpPr>
          <p:cNvPr id="58"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59" name="Logo" descr="image.png"/>
          <p:cNvPicPr>
            <a:picLocks noChangeAspect="1"/>
          </p:cNvPicPr>
          <p:nvPr/>
        </p:nvPicPr>
        <p:blipFill>
          <a:blip r:embed="rId8"/>
          <a:stretch>
            <a:fillRect/>
          </a:stretch>
        </p:blipFill>
        <p:spPr>
          <a:xfrm>
            <a:off x="685800" y="6400800"/>
            <a:ext cx="715863" cy="247650"/>
          </a:xfrm>
          <a:prstGeom prst="rect">
            <a:avLst/>
          </a:prstGeom>
        </p:spPr>
      </p:pic>
      <p:sp>
        <p:nvSpPr>
          <p:cNvPr id="60" name="TextBox 59"/>
          <p:cNvSpPr txBox="1"/>
          <p:nvPr/>
        </p:nvSpPr>
        <p:spPr>
          <a:xfrm>
            <a:off x="1554480" y="6429375"/>
            <a:ext cx="289179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61" name="Connector 60"/>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62" name="Scheibe chart-spline"/>
          <p:cNvGrpSpPr/>
          <p:nvPr/>
        </p:nvGrpSpPr>
        <p:grpSpPr>
          <a:xfrm>
            <a:off x="4516755" y="6419850"/>
            <a:ext cx="209550" cy="209550"/>
            <a:chOff x="4516755" y="6419850"/>
            <a:chExt cx="209550" cy="209550"/>
          </a:xfrm>
        </p:grpSpPr>
        <p:sp>
          <p:nvSpPr>
            <p:cNvPr id="63" name="Oval 62"/>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64" name="Picture 63" descr="chart-spline__FFFFFF.png"/>
            <p:cNvPicPr>
              <a:picLocks noChangeAspect="1"/>
            </p:cNvPicPr>
            <p:nvPr/>
          </p:nvPicPr>
          <p:blipFill>
            <a:blip r:embed="rId9"/>
            <a:stretch>
              <a:fillRect/>
            </a:stretch>
          </p:blipFill>
          <p:spPr>
            <a:xfrm>
              <a:off x="4567047" y="6470142"/>
              <a:ext cx="108966" cy="108966"/>
            </a:xfrm>
            <a:prstGeom prst="rect">
              <a:avLst/>
            </a:prstGeom>
          </p:spPr>
        </p:pic>
      </p:grpSp>
      <p:sp>
        <p:nvSpPr>
          <p:cNvPr id="65" name="TextBox 64"/>
          <p:cNvSpPr txBox="1"/>
          <p:nvPr/>
        </p:nvSpPr>
        <p:spPr>
          <a:xfrm>
            <a:off x="4783455"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03</a:t>
            </a:r>
          </a:p>
        </p:txBody>
      </p:sp>
      <p:sp>
        <p:nvSpPr>
          <p:cNvPr id="66" name="TextBox 65"/>
          <p:cNvSpPr txBox="1"/>
          <p:nvPr/>
        </p:nvSpPr>
        <p:spPr>
          <a:xfrm>
            <a:off x="5000625" y="6438900"/>
            <a:ext cx="857269"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Vorhersage</a:t>
            </a:r>
          </a:p>
        </p:txBody>
      </p:sp>
      <p:grpSp>
        <p:nvGrpSpPr>
          <p:cNvPr id="67" name="Scheibe split"/>
          <p:cNvGrpSpPr/>
          <p:nvPr/>
        </p:nvGrpSpPr>
        <p:grpSpPr>
          <a:xfrm>
            <a:off x="5799010" y="6419850"/>
            <a:ext cx="209550" cy="209550"/>
            <a:chOff x="5799010" y="6419850"/>
            <a:chExt cx="209550" cy="209550"/>
          </a:xfrm>
        </p:grpSpPr>
        <p:sp>
          <p:nvSpPr>
            <p:cNvPr id="68" name="Oval 67"/>
            <p:cNvSpPr/>
            <p:nvPr/>
          </p:nvSpPr>
          <p:spPr>
            <a:xfrm>
              <a:off x="5799010" y="6419850"/>
              <a:ext cx="209550" cy="209550"/>
            </a:xfrm>
            <a:prstGeom prst="ellipse">
              <a:avLst/>
            </a:prstGeom>
            <a:solidFill>
              <a:srgbClr val="00718E"/>
            </a:solidFill>
            <a:ln>
              <a:noFill/>
            </a:ln>
            <a:effectLst/>
          </p:spPr>
          <p:txBody>
            <a:bodyPr rtlCol="0" anchor="ctr"/>
            <a:lstStyle/>
            <a:p>
              <a:pPr algn="ctr"/>
            </a:p>
          </p:txBody>
        </p:sp>
        <p:pic>
          <p:nvPicPr>
            <p:cNvPr id="69" name="Picture 68" descr="split__FFFFFF.png"/>
            <p:cNvPicPr>
              <a:picLocks noChangeAspect="1"/>
            </p:cNvPicPr>
            <p:nvPr/>
          </p:nvPicPr>
          <p:blipFill>
            <a:blip r:embed="rId10"/>
            <a:stretch>
              <a:fillRect/>
            </a:stretch>
          </p:blipFill>
          <p:spPr>
            <a:xfrm>
              <a:off x="5849302" y="6470142"/>
              <a:ext cx="108966" cy="108966"/>
            </a:xfrm>
            <a:prstGeom prst="rect">
              <a:avLst/>
            </a:prstGeom>
          </p:spPr>
        </p:pic>
      </p:grpSp>
      <p:sp>
        <p:nvSpPr>
          <p:cNvPr id="70" name="TextBox 69"/>
          <p:cNvSpPr txBox="1"/>
          <p:nvPr/>
        </p:nvSpPr>
        <p:spPr>
          <a:xfrm>
            <a:off x="6065710"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07</a:t>
            </a:r>
          </a:p>
        </p:txBody>
      </p:sp>
      <p:sp>
        <p:nvSpPr>
          <p:cNvPr id="71" name="TextBox 70"/>
          <p:cNvSpPr txBox="1"/>
          <p:nvPr/>
        </p:nvSpPr>
        <p:spPr>
          <a:xfrm>
            <a:off x="6282880" y="6438900"/>
            <a:ext cx="1001020"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Entscheidung</a:t>
            </a:r>
          </a:p>
        </p:txBody>
      </p:sp>
      <p:sp>
        <p:nvSpPr>
          <p:cNvPr id="72" name="TextBox 71"/>
          <p:cNvSpPr txBox="1"/>
          <p:nvPr/>
        </p:nvSpPr>
        <p:spPr>
          <a:xfrm>
            <a:off x="9486900" y="6429375"/>
            <a:ext cx="12573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73" name="Seitenzahl"/>
          <p:cNvSpPr txBox="1"/>
          <p:nvPr/>
        </p:nvSpPr>
        <p:spPr>
          <a:xfrm>
            <a:off x="10835640" y="6424612"/>
            <a:ext cx="67056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7 / 11</a:t>
            </a:r>
          </a:p>
        </p:txBody>
      </p:sp>
      <p:pic>
        <p:nvPicPr>
          <p:cNvPr id="74" name="Diagramm s07_svg12.png" descr="s07_svg12.png"/>
          <p:cNvPicPr>
            <a:picLocks noChangeAspect="1"/>
          </p:cNvPicPr>
          <p:nvPr/>
        </p:nvPicPr>
        <p:blipFill>
          <a:blip r:embed="rId11"/>
          <a:stretch>
            <a:fillRect/>
          </a:stretch>
        </p:blipFill>
        <p:spPr>
          <a:xfrm>
            <a:off x="5708749" y="1790998"/>
            <a:ext cx="5597426" cy="3141315"/>
          </a:xfrm>
          <a:prstGeom prst="rect">
            <a:avLst/>
          </a:prstGeom>
        </p:spPr>
      </p:pic>
      <p:grpSp>
        <p:nvGrpSpPr>
          <p:cNvPr id="46" name="Kapitel 01"/>
          <p:cNvGrpSpPr/>
          <p:nvPr/>
        </p:nvGrpSpPr>
        <p:grpSpPr>
          <a:xfrm>
            <a:off x="9532144" y="407194"/>
            <a:ext cx="233362" cy="233362"/>
            <a:chOff x="9532144" y="407194"/>
            <a:chExt cx="233362" cy="233362"/>
          </a:xfrm>
        </p:grpSpPr>
        <p:sp>
          <p:nvSpPr>
            <p:cNvPr id="75" name="Oval 74"/>
            <p:cNvSpPr/>
            <p:nvPr/>
          </p:nvSpPr>
          <p:spPr>
            <a:xfrm>
              <a:off x="953214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76" name="Picture 75" descr="building-2__084878.png"/>
            <p:cNvPicPr>
              <a:picLocks noChangeAspect="1"/>
            </p:cNvPicPr>
            <p:nvPr/>
          </p:nvPicPr>
          <p:blipFill>
            <a:blip r:embed="rId12"/>
            <a:stretch>
              <a:fillRect/>
            </a:stretch>
          </p:blipFill>
          <p:spPr>
            <a:xfrm>
              <a:off x="9584436" y="459486"/>
              <a:ext cx="128778" cy="128778"/>
            </a:xfrm>
            <a:prstGeom prst="rect">
              <a:avLst/>
            </a:prstGeom>
          </p:spPr>
        </p:pic>
      </p:grpSp>
      <p:grpSp>
        <p:nvGrpSpPr>
          <p:cNvPr id="47" name="Kapitel 02"/>
          <p:cNvGrpSpPr/>
          <p:nvPr/>
        </p:nvGrpSpPr>
        <p:grpSpPr>
          <a:xfrm>
            <a:off x="9817894" y="407194"/>
            <a:ext cx="233362" cy="233362"/>
            <a:chOff x="9817894" y="407194"/>
            <a:chExt cx="233362" cy="233362"/>
          </a:xfrm>
        </p:grpSpPr>
        <p:sp>
          <p:nvSpPr>
            <p:cNvPr id="77" name="Oval 76"/>
            <p:cNvSpPr/>
            <p:nvPr/>
          </p:nvSpPr>
          <p:spPr>
            <a:xfrm>
              <a:off x="981789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78" name="Picture 77" descr="database__084878.png"/>
            <p:cNvPicPr>
              <a:picLocks noChangeAspect="1"/>
            </p:cNvPicPr>
            <p:nvPr/>
          </p:nvPicPr>
          <p:blipFill>
            <a:blip r:embed="rId13"/>
            <a:stretch>
              <a:fillRect/>
            </a:stretch>
          </p:blipFill>
          <p:spPr>
            <a:xfrm>
              <a:off x="9870186" y="459486"/>
              <a:ext cx="128778" cy="128778"/>
            </a:xfrm>
            <a:prstGeom prst="rect">
              <a:avLst/>
            </a:prstGeom>
          </p:spPr>
        </p:pic>
      </p:grpSp>
      <p:grpSp>
        <p:nvGrpSpPr>
          <p:cNvPr id="49" name="Kapitel 03"/>
          <p:cNvGrpSpPr/>
          <p:nvPr/>
        </p:nvGrpSpPr>
        <p:grpSpPr>
          <a:xfrm>
            <a:off x="10256044" y="407194"/>
            <a:ext cx="233362" cy="233362"/>
            <a:chOff x="10256044" y="407194"/>
            <a:chExt cx="233362" cy="233362"/>
          </a:xfrm>
        </p:grpSpPr>
        <p:sp>
          <p:nvSpPr>
            <p:cNvPr id="79" name="Oval 78"/>
            <p:cNvSpPr/>
            <p:nvPr/>
          </p:nvSpPr>
          <p:spPr>
            <a:xfrm>
              <a:off x="1025604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80" name="Picture 79" descr="layout-grid__084878.png"/>
            <p:cNvPicPr>
              <a:picLocks noChangeAspect="1"/>
            </p:cNvPicPr>
            <p:nvPr/>
          </p:nvPicPr>
          <p:blipFill>
            <a:blip r:embed="rId14"/>
            <a:stretch>
              <a:fillRect/>
            </a:stretch>
          </p:blipFill>
          <p:spPr>
            <a:xfrm>
              <a:off x="10308336" y="459486"/>
              <a:ext cx="128778" cy="128778"/>
            </a:xfrm>
            <a:prstGeom prst="rect">
              <a:avLst/>
            </a:prstGeom>
          </p:spPr>
        </p:pic>
      </p:grpSp>
      <p:grpSp>
        <p:nvGrpSpPr>
          <p:cNvPr id="50" name="Kapitel 04 aktiv"/>
          <p:cNvGrpSpPr/>
          <p:nvPr/>
        </p:nvGrpSpPr>
        <p:grpSpPr>
          <a:xfrm>
            <a:off x="10534650" y="400050"/>
            <a:ext cx="247650" cy="247650"/>
            <a:chOff x="10534650" y="400050"/>
            <a:chExt cx="247650" cy="247650"/>
          </a:xfrm>
        </p:grpSpPr>
        <p:sp>
          <p:nvSpPr>
            <p:cNvPr id="81" name="Oval 80"/>
            <p:cNvSpPr/>
            <p:nvPr/>
          </p:nvSpPr>
          <p:spPr>
            <a:xfrm>
              <a:off x="10534650" y="400050"/>
              <a:ext cx="247650" cy="247650"/>
            </a:xfrm>
            <a:prstGeom prst="ellipse">
              <a:avLst/>
            </a:prstGeom>
            <a:solidFill>
              <a:srgbClr val="084878"/>
            </a:solidFill>
            <a:ln>
              <a:noFill/>
            </a:ln>
            <a:effectLst/>
          </p:spPr>
          <p:txBody>
            <a:bodyPr rtlCol="0" anchor="ctr"/>
            <a:lstStyle/>
            <a:p>
              <a:pPr algn="ctr"/>
            </a:p>
          </p:txBody>
        </p:sp>
        <p:pic>
          <p:nvPicPr>
            <p:cNvPr id="82" name="Picture 81" descr="trees__FFFFFF.png"/>
            <p:cNvPicPr>
              <a:picLocks noChangeAspect="1"/>
            </p:cNvPicPr>
            <p:nvPr/>
          </p:nvPicPr>
          <p:blipFill>
            <a:blip r:embed="rId15"/>
            <a:stretch>
              <a:fillRect/>
            </a:stretch>
          </p:blipFill>
          <p:spPr>
            <a:xfrm>
              <a:off x="10594086" y="459486"/>
              <a:ext cx="128778" cy="128778"/>
            </a:xfrm>
            <a:prstGeom prst="rect">
              <a:avLst/>
            </a:prstGeom>
          </p:spPr>
        </p:pic>
      </p:grpSp>
      <p:grpSp>
        <p:nvGrpSpPr>
          <p:cNvPr id="51" name="Kapitel 05"/>
          <p:cNvGrpSpPr/>
          <p:nvPr/>
        </p:nvGrpSpPr>
        <p:grpSpPr>
          <a:xfrm>
            <a:off x="10979944" y="407194"/>
            <a:ext cx="233362" cy="233362"/>
            <a:chOff x="10979944" y="407194"/>
            <a:chExt cx="233362" cy="233362"/>
          </a:xfrm>
        </p:grpSpPr>
        <p:sp>
          <p:nvSpPr>
            <p:cNvPr id="83" name="Oval 82"/>
            <p:cNvSpPr/>
            <p:nvPr/>
          </p:nvSpPr>
          <p:spPr>
            <a:xfrm>
              <a:off x="10979944" y="407194"/>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84" name="Picture 83" descr="chart-column__8A96A3.png"/>
            <p:cNvPicPr>
              <a:picLocks noChangeAspect="1"/>
            </p:cNvPicPr>
            <p:nvPr/>
          </p:nvPicPr>
          <p:blipFill>
            <a:blip r:embed="rId16"/>
            <a:stretch>
              <a:fillRect/>
            </a:stretch>
          </p:blipFill>
          <p:spPr>
            <a:xfrm>
              <a:off x="11032236" y="459486"/>
              <a:ext cx="128778" cy="128778"/>
            </a:xfrm>
            <a:prstGeom prst="rect">
              <a:avLst/>
            </a:prstGeom>
          </p:spPr>
        </p:pic>
      </p:grpSp>
      <p:grpSp>
        <p:nvGrpSpPr>
          <p:cNvPr id="85" name="Kapitel 06"/>
          <p:cNvGrpSpPr/>
          <p:nvPr/>
        </p:nvGrpSpPr>
        <p:grpSpPr>
          <a:xfrm>
            <a:off x="11265694" y="407194"/>
            <a:ext cx="233362" cy="233362"/>
            <a:chOff x="11265694" y="407194"/>
            <a:chExt cx="233362" cy="233362"/>
          </a:xfrm>
        </p:grpSpPr>
        <p:sp>
          <p:nvSpPr>
            <p:cNvPr id="86" name="Oval 85"/>
            <p:cNvSpPr/>
            <p:nvPr/>
          </p:nvSpPr>
          <p:spPr>
            <a:xfrm>
              <a:off x="11265694" y="407194"/>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87" name="Picture 86" descr="compass__8A96A3.png"/>
            <p:cNvPicPr>
              <a:picLocks noChangeAspect="1"/>
            </p:cNvPicPr>
            <p:nvPr/>
          </p:nvPicPr>
          <p:blipFill>
            <a:blip r:embed="rId17"/>
            <a:stretch>
              <a:fillRect/>
            </a:stretch>
          </p:blipFill>
          <p:spPr>
            <a:xfrm>
              <a:off x="11317986" y="459486"/>
              <a:ext cx="128778" cy="128778"/>
            </a:xfrm>
            <a:prstGeom prst="rect">
              <a:avLst/>
            </a:prstGeom>
          </p:spPr>
        </p:pic>
      </p:grpSp>
      <p:cxnSp>
        <p:nvCxnSpPr>
          <p:cNvPr id="88" name="Kapitel-Lücke"/>
          <p:cNvCxnSpPr/>
          <p:nvPr/>
        </p:nvCxnSpPr>
        <p:spPr>
          <a:xfrm>
            <a:off x="10115550" y="523875"/>
            <a:ext cx="7620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cxnSp>
        <p:nvCxnSpPr>
          <p:cNvPr id="89" name="Kapitel-Lücke"/>
          <p:cNvCxnSpPr/>
          <p:nvPr/>
        </p:nvCxnSpPr>
        <p:spPr>
          <a:xfrm>
            <a:off x="10839450" y="523875"/>
            <a:ext cx="7620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sp>
        <p:nvSpPr>
          <p:cNvPr id="90" name="Kapitel-Label"/>
          <p:cNvSpPr txBox="1"/>
          <p:nvPr/>
        </p:nvSpPr>
        <p:spPr>
          <a:xfrm>
            <a:off x="6267450" y="428625"/>
            <a:ext cx="3143250" cy="171450"/>
          </a:xfrm>
          <a:prstGeom prst="rect">
            <a:avLst/>
          </a:prstGeom>
          <a:noFill/>
        </p:spPr>
        <p:txBody>
          <a:bodyPr wrap="none" lIns="0" rIns="0" tIns="0" bIns="0" anchor="t">
            <a:noAutofit/>
          </a:bodyPr>
          <a:lstStyle/>
          <a:p>
            <a:pPr algn="r">
              <a:lnSpc>
                <a:spcPts val="1350"/>
              </a:lnSpc>
            </a:pPr>
            <a:r>
              <a:rPr sz="1050" b="1" i="0" lang="de-DE">
                <a:solidFill>
                  <a:srgbClr val="005E77"/>
                </a:solidFill>
                <a:latin typeface="IBM Plex Sans"/>
              </a:rPr>
              <a:t>04 · Methodik und Modell · Kiko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63659"/>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C77E11"/>
            </a:solidFill>
            <a:ln>
              <a:noFill/>
            </a:ln>
            <a:effectLst/>
          </p:spPr>
          <p:txBody>
            <a:bodyPr rtlCol="0" anchor="ctr"/>
            <a:lstStyle/>
            <a:p>
              <a:pPr algn="ctr"/>
            </a:p>
          </p:txBody>
        </p:sp>
        <p:pic>
          <p:nvPicPr>
            <p:cNvPr id="4" name="Picture 3" descr="snowflake__04263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7334250" cy="257175"/>
          </a:xfrm>
          <a:prstGeom prst="rect">
            <a:avLst/>
          </a:prstGeom>
          <a:noFill/>
        </p:spPr>
        <p:txBody>
          <a:bodyPr wrap="none" lIns="0" rIns="0" tIns="0" bIns="0" anchor="t">
            <a:noAutofit/>
          </a:bodyPr>
          <a:lstStyle/>
          <a:p>
            <a:pPr algn="l">
              <a:lnSpc>
                <a:spcPts val="2025"/>
              </a:lnSpc>
            </a:pPr>
            <a:r>
              <a:rPr sz="1500" b="0" i="0" lang="de-DE">
                <a:solidFill>
                  <a:srgbClr val="6CC0D2"/>
                </a:solidFill>
                <a:latin typeface="IBM Plex Sans"/>
              </a:rPr>
              <a:t>Warum nicht einfach die Schwelle aus 2025 nehmen?</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FFFFFF"/>
                </a:solidFill>
                <a:latin typeface="IBM Plex Sans"/>
              </a:rPr>
              <a:t>Die Schwelle wird vor 2025 festgelegt und dann eingefroren</a:t>
            </a:r>
          </a:p>
        </p:txBody>
      </p:sp>
      <p:sp>
        <p:nvSpPr>
          <p:cNvPr id="7" name="Rounded Rectangle 6"/>
          <p:cNvSpPr/>
          <p:nvPr/>
        </p:nvSpPr>
        <p:spPr>
          <a:xfrm>
            <a:off x="685800" y="1362075"/>
            <a:ext cx="5175885" cy="990600"/>
          </a:xfrm>
          <a:prstGeom prst="roundRect">
            <a:avLst>
              <a:gd name="adj" fmla="val 9615"/>
            </a:avLst>
          </a:prstGeom>
          <a:solidFill>
            <a:srgbClr val="174465"/>
          </a:solidFill>
          <a:ln w="9525">
            <a:solidFill>
              <a:srgbClr val="2E5674"/>
            </a:solidFill>
          </a:ln>
          <a:effectLst/>
        </p:spPr>
        <p:txBody>
          <a:bodyPr rtlCol="0" anchor="ctr"/>
          <a:lstStyle/>
          <a:p>
            <a:pPr algn="ctr"/>
          </a:p>
        </p:txBody>
      </p:sp>
      <p:grpSp>
        <p:nvGrpSpPr>
          <p:cNvPr id="8" name="Scheibe chart-spline"/>
          <p:cNvGrpSpPr/>
          <p:nvPr/>
        </p:nvGrpSpPr>
        <p:grpSpPr>
          <a:xfrm>
            <a:off x="866775" y="1504950"/>
            <a:ext cx="361950" cy="361950"/>
            <a:chOff x="866775" y="1504950"/>
            <a:chExt cx="361950" cy="361950"/>
          </a:xfrm>
        </p:grpSpPr>
        <p:sp>
          <p:nvSpPr>
            <p:cNvPr id="9" name="Oval 8"/>
            <p:cNvSpPr/>
            <p:nvPr/>
          </p:nvSpPr>
          <p:spPr>
            <a:xfrm>
              <a:off x="866775" y="1504950"/>
              <a:ext cx="361950" cy="361950"/>
            </a:xfrm>
            <a:prstGeom prst="ellipse">
              <a:avLst/>
            </a:prstGeom>
            <a:solidFill>
              <a:srgbClr val="6CC0D2"/>
            </a:solidFill>
            <a:ln>
              <a:noFill/>
            </a:ln>
            <a:effectLst/>
          </p:spPr>
          <p:txBody>
            <a:bodyPr rtlCol="0" anchor="ctr"/>
            <a:lstStyle/>
            <a:p>
              <a:pPr algn="ctr"/>
            </a:p>
          </p:txBody>
        </p:sp>
        <p:pic>
          <p:nvPicPr>
            <p:cNvPr id="10" name="Picture 9" descr="chart-spline__04263F.png"/>
            <p:cNvPicPr>
              <a:picLocks noChangeAspect="1"/>
            </p:cNvPicPr>
            <p:nvPr/>
          </p:nvPicPr>
          <p:blipFill>
            <a:blip r:embed="rId4"/>
            <a:stretch>
              <a:fillRect/>
            </a:stretch>
          </p:blipFill>
          <p:spPr>
            <a:xfrm>
              <a:off x="953643" y="1591818"/>
              <a:ext cx="188214" cy="188214"/>
            </a:xfrm>
            <a:prstGeom prst="rect">
              <a:avLst/>
            </a:prstGeom>
          </p:spPr>
        </p:pic>
      </p:grpSp>
      <p:sp>
        <p:nvSpPr>
          <p:cNvPr id="11" name="TextBox 10"/>
          <p:cNvSpPr txBox="1"/>
          <p:nvPr/>
        </p:nvSpPr>
        <p:spPr>
          <a:xfrm>
            <a:off x="1381125" y="1504950"/>
            <a:ext cx="4333875" cy="219075"/>
          </a:xfrm>
          <a:prstGeom prst="rect">
            <a:avLst/>
          </a:prstGeom>
          <a:noFill/>
        </p:spPr>
        <p:txBody>
          <a:bodyPr wrap="square" lIns="0" rIns="0" tIns="0" bIns="0" anchor="t">
            <a:noAutofit/>
          </a:bodyPr>
          <a:lstStyle/>
          <a:p>
            <a:pPr algn="l">
              <a:lnSpc>
                <a:spcPts val="1725"/>
              </a:lnSpc>
            </a:pPr>
            <a:r>
              <a:rPr sz="1350" b="1" i="0" lang="de-DE">
                <a:solidFill>
                  <a:srgbClr val="FFFFFF"/>
                </a:solidFill>
                <a:latin typeface="IBM Plex Sans"/>
              </a:rPr>
              <a:t>Vorwärts prognostizieren</a:t>
            </a:r>
          </a:p>
        </p:txBody>
      </p:sp>
      <p:sp>
        <p:nvSpPr>
          <p:cNvPr id="12" name="TextBox 11"/>
          <p:cNvSpPr txBox="1"/>
          <p:nvPr/>
        </p:nvSpPr>
        <p:spPr>
          <a:xfrm>
            <a:off x="1381125" y="1781175"/>
            <a:ext cx="4333875" cy="419100"/>
          </a:xfrm>
          <a:prstGeom prst="rect">
            <a:avLst/>
          </a:prstGeom>
          <a:noFill/>
        </p:spPr>
        <p:txBody>
          <a:bodyPr wrap="square" lIns="0" rIns="0" tIns="0" bIns="0" anchor="t">
            <a:noAutofit/>
          </a:bodyPr>
          <a:lstStyle/>
          <a:p>
            <a:pPr algn="l">
              <a:lnSpc>
                <a:spcPts val="1627"/>
              </a:lnSpc>
            </a:pPr>
            <a:r>
              <a:rPr sz="1162" b="0" i="0" lang="de-DE">
                <a:solidFill>
                  <a:srgbClr val="BBD7EA"/>
                </a:solidFill>
                <a:latin typeface="IBM Plex Sans"/>
              </a:rPr>
              <a:t>November mit einem Modell aus Jan–Okt, Dezember aus Jan–Nov: 1.397 echte Prognosefehler.</a:t>
            </a:r>
          </a:p>
        </p:txBody>
      </p:sp>
      <p:sp>
        <p:nvSpPr>
          <p:cNvPr id="13" name="Rounded Rectangle 12"/>
          <p:cNvSpPr/>
          <p:nvPr/>
        </p:nvSpPr>
        <p:spPr>
          <a:xfrm>
            <a:off x="685800" y="2466975"/>
            <a:ext cx="5175885" cy="990600"/>
          </a:xfrm>
          <a:prstGeom prst="roundRect">
            <a:avLst>
              <a:gd name="adj" fmla="val 9615"/>
            </a:avLst>
          </a:prstGeom>
          <a:solidFill>
            <a:srgbClr val="174465"/>
          </a:solidFill>
          <a:ln w="9525">
            <a:solidFill>
              <a:srgbClr val="2E5674"/>
            </a:solidFill>
          </a:ln>
          <a:effectLst/>
        </p:spPr>
        <p:txBody>
          <a:bodyPr rtlCol="0" anchor="ctr"/>
          <a:lstStyle/>
          <a:p>
            <a:pPr algn="ctr"/>
          </a:p>
        </p:txBody>
      </p:sp>
      <p:grpSp>
        <p:nvGrpSpPr>
          <p:cNvPr id="14" name="Scheibe snowflake"/>
          <p:cNvGrpSpPr/>
          <p:nvPr/>
        </p:nvGrpSpPr>
        <p:grpSpPr>
          <a:xfrm>
            <a:off x="866775" y="2609850"/>
            <a:ext cx="361950" cy="361950"/>
            <a:chOff x="866775" y="2609850"/>
            <a:chExt cx="361950" cy="361950"/>
          </a:xfrm>
        </p:grpSpPr>
        <p:sp>
          <p:nvSpPr>
            <p:cNvPr id="15" name="Oval 14"/>
            <p:cNvSpPr/>
            <p:nvPr/>
          </p:nvSpPr>
          <p:spPr>
            <a:xfrm>
              <a:off x="866775" y="2609850"/>
              <a:ext cx="361950" cy="361950"/>
            </a:xfrm>
            <a:prstGeom prst="ellipse">
              <a:avLst/>
            </a:prstGeom>
            <a:solidFill>
              <a:srgbClr val="6CC0D2"/>
            </a:solidFill>
            <a:ln>
              <a:noFill/>
            </a:ln>
            <a:effectLst/>
          </p:spPr>
          <p:txBody>
            <a:bodyPr rtlCol="0" anchor="ctr"/>
            <a:lstStyle/>
            <a:p>
              <a:pPr algn="ctr"/>
            </a:p>
          </p:txBody>
        </p:sp>
        <p:pic>
          <p:nvPicPr>
            <p:cNvPr id="16" name="Picture 15" descr="snowflake__04263F.png"/>
            <p:cNvPicPr>
              <a:picLocks noChangeAspect="1"/>
            </p:cNvPicPr>
            <p:nvPr/>
          </p:nvPicPr>
          <p:blipFill>
            <a:blip r:embed="rId3"/>
            <a:stretch>
              <a:fillRect/>
            </a:stretch>
          </p:blipFill>
          <p:spPr>
            <a:xfrm>
              <a:off x="953643" y="2696718"/>
              <a:ext cx="188214" cy="188214"/>
            </a:xfrm>
            <a:prstGeom prst="rect">
              <a:avLst/>
            </a:prstGeom>
          </p:spPr>
        </p:pic>
      </p:grpSp>
      <p:sp>
        <p:nvSpPr>
          <p:cNvPr id="17" name="TextBox 16"/>
          <p:cNvSpPr txBox="1"/>
          <p:nvPr/>
        </p:nvSpPr>
        <p:spPr>
          <a:xfrm>
            <a:off x="1381125" y="2609850"/>
            <a:ext cx="4333875" cy="219075"/>
          </a:xfrm>
          <a:prstGeom prst="rect">
            <a:avLst/>
          </a:prstGeom>
          <a:noFill/>
        </p:spPr>
        <p:txBody>
          <a:bodyPr wrap="square" lIns="0" rIns="0" tIns="0" bIns="0" anchor="t">
            <a:noAutofit/>
          </a:bodyPr>
          <a:lstStyle/>
          <a:p>
            <a:pPr algn="l">
              <a:lnSpc>
                <a:spcPts val="1725"/>
              </a:lnSpc>
            </a:pPr>
            <a:r>
              <a:rPr sz="1350" b="1" i="0" lang="de-DE">
                <a:solidFill>
                  <a:srgbClr val="FFFFFF"/>
                </a:solidFill>
                <a:latin typeface="IBM Plex Sans"/>
              </a:rPr>
              <a:t>Schwelle ableiten und einfrieren</a:t>
            </a:r>
          </a:p>
        </p:txBody>
      </p:sp>
      <p:sp>
        <p:nvSpPr>
          <p:cNvPr id="18" name="TextBox 17"/>
          <p:cNvSpPr txBox="1"/>
          <p:nvPr/>
        </p:nvSpPr>
        <p:spPr>
          <a:xfrm>
            <a:off x="1381125" y="2886075"/>
            <a:ext cx="4333875" cy="419100"/>
          </a:xfrm>
          <a:prstGeom prst="rect">
            <a:avLst/>
          </a:prstGeom>
          <a:noFill/>
        </p:spPr>
        <p:txBody>
          <a:bodyPr wrap="square" lIns="0" rIns="0" tIns="0" bIns="0" anchor="t">
            <a:noAutofit/>
          </a:bodyPr>
          <a:lstStyle/>
          <a:p>
            <a:pPr algn="l">
              <a:lnSpc>
                <a:spcPts val="1627"/>
              </a:lnSpc>
            </a:pPr>
            <a:r>
              <a:rPr sz="1162" b="0" i="0" lang="de-DE">
                <a:solidFill>
                  <a:srgbClr val="BBD7EA"/>
                </a:solidFill>
                <a:latin typeface="IBM Plex Sans"/>
              </a:rPr>
              <a:t>99. Perzentil = 144,4 VLS-h. Danach wird sie nicht mehr verändert.</a:t>
            </a:r>
          </a:p>
        </p:txBody>
      </p:sp>
      <p:sp>
        <p:nvSpPr>
          <p:cNvPr id="19" name="Rounded Rectangle 18"/>
          <p:cNvSpPr/>
          <p:nvPr/>
        </p:nvSpPr>
        <p:spPr>
          <a:xfrm>
            <a:off x="685800" y="3571875"/>
            <a:ext cx="5175885" cy="990600"/>
          </a:xfrm>
          <a:prstGeom prst="roundRect">
            <a:avLst>
              <a:gd name="adj" fmla="val 9615"/>
            </a:avLst>
          </a:prstGeom>
          <a:solidFill>
            <a:srgbClr val="174465"/>
          </a:solidFill>
          <a:ln w="9525">
            <a:solidFill>
              <a:srgbClr val="2E5674"/>
            </a:solidFill>
          </a:ln>
          <a:effectLst/>
        </p:spPr>
        <p:txBody>
          <a:bodyPr rtlCol="0" anchor="ctr"/>
          <a:lstStyle/>
          <a:p>
            <a:pPr algn="ctr"/>
          </a:p>
        </p:txBody>
      </p:sp>
      <p:grpSp>
        <p:nvGrpSpPr>
          <p:cNvPr id="20" name="Scheibe calendar-check"/>
          <p:cNvGrpSpPr/>
          <p:nvPr/>
        </p:nvGrpSpPr>
        <p:grpSpPr>
          <a:xfrm>
            <a:off x="866775" y="3714750"/>
            <a:ext cx="361950" cy="361950"/>
            <a:chOff x="866775" y="3714750"/>
            <a:chExt cx="361950" cy="361950"/>
          </a:xfrm>
        </p:grpSpPr>
        <p:sp>
          <p:nvSpPr>
            <p:cNvPr id="21" name="Oval 20"/>
            <p:cNvSpPr/>
            <p:nvPr/>
          </p:nvSpPr>
          <p:spPr>
            <a:xfrm>
              <a:off x="866775" y="3714750"/>
              <a:ext cx="361950" cy="361950"/>
            </a:xfrm>
            <a:prstGeom prst="ellipse">
              <a:avLst/>
            </a:prstGeom>
            <a:solidFill>
              <a:srgbClr val="6CC0D2"/>
            </a:solidFill>
            <a:ln>
              <a:noFill/>
            </a:ln>
            <a:effectLst/>
          </p:spPr>
          <p:txBody>
            <a:bodyPr rtlCol="0" anchor="ctr"/>
            <a:lstStyle/>
            <a:p>
              <a:pPr algn="ctr"/>
            </a:p>
          </p:txBody>
        </p:sp>
        <p:pic>
          <p:nvPicPr>
            <p:cNvPr id="22" name="Picture 21" descr="calendar-check__04263F.png"/>
            <p:cNvPicPr>
              <a:picLocks noChangeAspect="1"/>
            </p:cNvPicPr>
            <p:nvPr/>
          </p:nvPicPr>
          <p:blipFill>
            <a:blip r:embed="rId5"/>
            <a:stretch>
              <a:fillRect/>
            </a:stretch>
          </p:blipFill>
          <p:spPr>
            <a:xfrm>
              <a:off x="953643" y="3801618"/>
              <a:ext cx="188214" cy="188214"/>
            </a:xfrm>
            <a:prstGeom prst="rect">
              <a:avLst/>
            </a:prstGeom>
          </p:spPr>
        </p:pic>
      </p:grpSp>
      <p:sp>
        <p:nvSpPr>
          <p:cNvPr id="23" name="TextBox 22"/>
          <p:cNvSpPr txBox="1"/>
          <p:nvPr/>
        </p:nvSpPr>
        <p:spPr>
          <a:xfrm>
            <a:off x="1381125" y="3714750"/>
            <a:ext cx="4333875" cy="219075"/>
          </a:xfrm>
          <a:prstGeom prst="rect">
            <a:avLst/>
          </a:prstGeom>
          <a:noFill/>
        </p:spPr>
        <p:txBody>
          <a:bodyPr wrap="square" lIns="0" rIns="0" tIns="0" bIns="0" anchor="t">
            <a:noAutofit/>
          </a:bodyPr>
          <a:lstStyle/>
          <a:p>
            <a:pPr algn="l">
              <a:lnSpc>
                <a:spcPts val="1725"/>
              </a:lnSpc>
            </a:pPr>
            <a:r>
              <a:rPr sz="1350" b="1" i="0" lang="de-DE">
                <a:solidFill>
                  <a:srgbClr val="FFFFFF"/>
                </a:solidFill>
                <a:latin typeface="IBM Plex Sans"/>
              </a:rPr>
              <a:t>2025 nur anwenden</a:t>
            </a:r>
          </a:p>
        </p:txBody>
      </p:sp>
      <p:sp>
        <p:nvSpPr>
          <p:cNvPr id="24" name="TextBox 23"/>
          <p:cNvSpPr txBox="1"/>
          <p:nvPr/>
        </p:nvSpPr>
        <p:spPr>
          <a:xfrm>
            <a:off x="1381125" y="3990975"/>
            <a:ext cx="4333875" cy="419100"/>
          </a:xfrm>
          <a:prstGeom prst="rect">
            <a:avLst/>
          </a:prstGeom>
          <a:noFill/>
        </p:spPr>
        <p:txBody>
          <a:bodyPr wrap="square" lIns="0" rIns="0" tIns="0" bIns="0" anchor="t">
            <a:noAutofit/>
          </a:bodyPr>
          <a:lstStyle/>
          <a:p>
            <a:pPr algn="l">
              <a:lnSpc>
                <a:spcPts val="1627"/>
              </a:lnSpc>
            </a:pPr>
            <a:r>
              <a:rPr sz="1162" b="0" i="0" lang="de-DE">
                <a:solidFill>
                  <a:srgbClr val="BBD7EA"/>
                </a:solidFill>
                <a:latin typeface="IBM Plex Sans"/>
              </a:rPr>
              <a:t>Das finale Modell (ganz 2024) prognostiziert, die feste Schwelle entscheidet: 114 Prüfhinweise.</a:t>
            </a:r>
          </a:p>
        </p:txBody>
      </p:sp>
      <p:sp>
        <p:nvSpPr>
          <p:cNvPr id="25" name="Rounded Rectangle 24"/>
          <p:cNvSpPr/>
          <p:nvPr/>
        </p:nvSpPr>
        <p:spPr>
          <a:xfrm>
            <a:off x="6071235" y="1362075"/>
            <a:ext cx="5434965" cy="2307908"/>
          </a:xfrm>
          <a:prstGeom prst="roundRect">
            <a:avLst>
              <a:gd name="adj" fmla="val 4127"/>
            </a:avLst>
          </a:prstGeom>
          <a:solidFill>
            <a:srgbClr val="174465"/>
          </a:solidFill>
          <a:ln w="9525">
            <a:solidFill>
              <a:srgbClr val="2E5674"/>
            </a:solidFill>
          </a:ln>
          <a:effectLst/>
        </p:spPr>
        <p:txBody>
          <a:bodyPr rtlCol="0" anchor="ctr"/>
          <a:lstStyle/>
          <a:p>
            <a:pPr algn="ctr"/>
          </a:p>
        </p:txBody>
      </p:sp>
      <p:sp>
        <p:nvSpPr>
          <p:cNvPr id="26" name="TextBox 25"/>
          <p:cNvSpPr txBox="1"/>
          <p:nvPr/>
        </p:nvSpPr>
        <p:spPr>
          <a:xfrm>
            <a:off x="6252210" y="1485900"/>
            <a:ext cx="5574030" cy="161925"/>
          </a:xfrm>
          <a:prstGeom prst="rect">
            <a:avLst/>
          </a:prstGeom>
          <a:noFill/>
        </p:spPr>
        <p:txBody>
          <a:bodyPr wrap="none" lIns="0" rIns="0" tIns="0" bIns="0" anchor="t">
            <a:noAutofit/>
          </a:bodyPr>
          <a:lstStyle/>
          <a:p>
            <a:pPr algn="l">
              <a:lnSpc>
                <a:spcPts val="1275"/>
              </a:lnSpc>
            </a:pPr>
            <a:r>
              <a:rPr sz="975" b="1" i="0" lang="de-DE" spc="78">
                <a:solidFill>
                  <a:srgbClr val="6CC0D2"/>
                </a:solidFill>
                <a:latin typeface="IBM Plex Sans"/>
              </a:rPr>
              <a:t>WAS DIE KALIBRIERUNG FÜR 2025 BEDEUTET</a:t>
            </a:r>
          </a:p>
        </p:txBody>
      </p:sp>
      <p:sp>
        <p:nvSpPr>
          <p:cNvPr id="27" name="TextBox 26"/>
          <p:cNvSpPr txBox="1"/>
          <p:nvPr/>
        </p:nvSpPr>
        <p:spPr>
          <a:xfrm>
            <a:off x="6252210" y="1730122"/>
            <a:ext cx="2907274" cy="190238"/>
          </a:xfrm>
          <a:prstGeom prst="rect">
            <a:avLst/>
          </a:prstGeom>
          <a:noFill/>
        </p:spPr>
        <p:txBody>
          <a:bodyPr wrap="none" lIns="0" rIns="0" tIns="0" bIns="0" anchor="t">
            <a:noAutofit/>
          </a:bodyPr>
          <a:lstStyle/>
          <a:p>
            <a:pPr algn="l">
              <a:lnSpc>
                <a:spcPts val="1497"/>
              </a:lnSpc>
            </a:pPr>
            <a:r>
              <a:rPr sz="1152" b="0" i="0" lang="de-DE">
                <a:solidFill>
                  <a:srgbClr val="BBD7EA"/>
                </a:solidFill>
                <a:latin typeface="IBM Plex Sans"/>
              </a:rPr>
              <a:t>Kalibriert Nov–Dez 2024 · gilt für 2025</a:t>
            </a:r>
          </a:p>
        </p:txBody>
      </p:sp>
      <p:sp>
        <p:nvSpPr>
          <p:cNvPr id="28" name="Freeform 27"/>
          <p:cNvSpPr/>
          <p:nvPr/>
        </p:nvSpPr>
        <p:spPr>
          <a:xfrm>
            <a:off x="6252210" y="1958164"/>
            <a:ext cx="3168683" cy="214628"/>
          </a:xfrm>
          <a:custGeom>
            <a:avLst/>
            <a:gdLst/>
            <a:ahLst/>
            <a:cxnLst/>
            <a:rect l="l" t="t" r="r" b="b"/>
            <a:pathLst>
              <a:path w="3168683" h="214628">
                <a:moveTo>
                  <a:pt x="0" y="0"/>
                </a:moveTo>
                <a:lnTo>
                  <a:pt x="3129660" y="0"/>
                </a:lnTo>
                <a:lnTo>
                  <a:pt x="3168683" y="39023"/>
                </a:lnTo>
                <a:lnTo>
                  <a:pt x="3168683" y="175605"/>
                </a:lnTo>
                <a:lnTo>
                  <a:pt x="3129660" y="214628"/>
                </a:lnTo>
                <a:lnTo>
                  <a:pt x="0" y="214628"/>
                </a:lnTo>
                <a:close/>
              </a:path>
            </a:pathLst>
          </a:custGeom>
          <a:solidFill>
            <a:srgbClr val="0090C8"/>
          </a:solidFill>
          <a:ln>
            <a:noFill/>
          </a:ln>
          <a:effectLst/>
        </p:spPr>
        <p:txBody>
          <a:bodyPr rtlCol="0" anchor="ctr"/>
          <a:lstStyle/>
          <a:p>
            <a:pPr algn="ctr"/>
          </a:p>
        </p:txBody>
      </p:sp>
      <p:sp>
        <p:nvSpPr>
          <p:cNvPr id="29" name="TextBox 28"/>
          <p:cNvSpPr txBox="1"/>
          <p:nvPr/>
        </p:nvSpPr>
        <p:spPr>
          <a:xfrm>
            <a:off x="9518451" y="1957335"/>
            <a:ext cx="1308836" cy="215603"/>
          </a:xfrm>
          <a:prstGeom prst="rect">
            <a:avLst/>
          </a:prstGeom>
          <a:noFill/>
        </p:spPr>
        <p:txBody>
          <a:bodyPr wrap="none" lIns="0" rIns="0" tIns="0" bIns="0" anchor="t">
            <a:noAutofit/>
          </a:bodyPr>
          <a:lstStyle/>
          <a:p>
            <a:pPr algn="l">
              <a:lnSpc>
                <a:spcPts val="1697"/>
              </a:lnSpc>
            </a:pPr>
            <a:r>
              <a:rPr sz="1305" b="1" i="0" lang="de-DE">
                <a:solidFill>
                  <a:srgbClr val="FFFFFF"/>
                </a:solidFill>
                <a:latin typeface="Geist Mono"/>
              </a:rPr>
              <a:t>144,4 VLS-h</a:t>
            </a:r>
          </a:p>
        </p:txBody>
      </p:sp>
      <p:sp>
        <p:nvSpPr>
          <p:cNvPr id="30" name="TextBox 29"/>
          <p:cNvSpPr txBox="1"/>
          <p:nvPr/>
        </p:nvSpPr>
        <p:spPr>
          <a:xfrm>
            <a:off x="6252210" y="2217912"/>
            <a:ext cx="2863812" cy="190238"/>
          </a:xfrm>
          <a:prstGeom prst="rect">
            <a:avLst/>
          </a:prstGeom>
          <a:noFill/>
        </p:spPr>
        <p:txBody>
          <a:bodyPr wrap="none" lIns="0" rIns="0" tIns="0" bIns="0" anchor="t">
            <a:noAutofit/>
          </a:bodyPr>
          <a:lstStyle/>
          <a:p>
            <a:pPr algn="l">
              <a:lnSpc>
                <a:spcPts val="1497"/>
              </a:lnSpc>
            </a:pPr>
            <a:r>
              <a:rPr sz="1152" b="0" i="0" lang="de-DE">
                <a:solidFill>
                  <a:srgbClr val="BBD7EA"/>
                </a:solidFill>
                <a:latin typeface="IBM Plex Sans"/>
              </a:rPr>
              <a:t>Nachträglich aus 2025 · wäre Leakage</a:t>
            </a:r>
          </a:p>
        </p:txBody>
      </p:sp>
      <p:sp>
        <p:nvSpPr>
          <p:cNvPr id="31" name="Rounded Rectangle 30"/>
          <p:cNvSpPr/>
          <p:nvPr/>
        </p:nvSpPr>
        <p:spPr>
          <a:xfrm>
            <a:off x="6252210" y="2445954"/>
            <a:ext cx="3842809" cy="214628"/>
          </a:xfrm>
          <a:prstGeom prst="roundRect">
            <a:avLst>
              <a:gd name="adj" fmla="val 18181"/>
            </a:avLst>
          </a:prstGeom>
          <a:solidFill>
            <a:srgbClr val="2A5371"/>
          </a:solidFill>
          <a:ln w="14633">
            <a:solidFill>
              <a:srgbClr val="9CC3E0"/>
            </a:solidFill>
            <a:prstDash val="dash"/>
          </a:ln>
          <a:effectLst/>
        </p:spPr>
        <p:txBody>
          <a:bodyPr rtlCol="0" anchor="ctr"/>
          <a:lstStyle/>
          <a:p>
            <a:pPr algn="ctr"/>
          </a:p>
        </p:txBody>
      </p:sp>
      <p:sp>
        <p:nvSpPr>
          <p:cNvPr id="32" name="TextBox 31"/>
          <p:cNvSpPr txBox="1"/>
          <p:nvPr/>
        </p:nvSpPr>
        <p:spPr>
          <a:xfrm>
            <a:off x="10192577" y="2445125"/>
            <a:ext cx="1308836" cy="215603"/>
          </a:xfrm>
          <a:prstGeom prst="rect">
            <a:avLst/>
          </a:prstGeom>
          <a:noFill/>
        </p:spPr>
        <p:txBody>
          <a:bodyPr wrap="none" lIns="0" rIns="0" tIns="0" bIns="0" anchor="t">
            <a:noAutofit/>
          </a:bodyPr>
          <a:lstStyle/>
          <a:p>
            <a:pPr algn="l">
              <a:lnSpc>
                <a:spcPts val="1697"/>
              </a:lnSpc>
            </a:pPr>
            <a:r>
              <a:rPr sz="1305" b="1" i="0" lang="de-DE">
                <a:solidFill>
                  <a:srgbClr val="FFFFFF"/>
                </a:solidFill>
                <a:latin typeface="Geist Mono"/>
              </a:rPr>
              <a:t>175,1 VLS-h</a:t>
            </a:r>
          </a:p>
        </p:txBody>
      </p:sp>
      <p:cxnSp>
        <p:nvCxnSpPr>
          <p:cNvPr id="33" name="Connector 32"/>
          <p:cNvCxnSpPr/>
          <p:nvPr/>
        </p:nvCxnSpPr>
        <p:spPr>
          <a:xfrm>
            <a:off x="6252210" y="2815590"/>
            <a:ext cx="5073015" cy="0"/>
          </a:xfrm>
          <a:prstGeom prst="line">
            <a:avLst/>
          </a:prstGeom>
          <a:ln w="9525">
            <a:solidFill>
              <a:srgbClr val="3C627E"/>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252210" y="2901315"/>
            <a:ext cx="2745105" cy="247650"/>
          </a:xfrm>
          <a:prstGeom prst="rect">
            <a:avLst/>
          </a:prstGeom>
          <a:noFill/>
        </p:spPr>
        <p:txBody>
          <a:bodyPr wrap="none" lIns="0" rIns="0" tIns="0" bIns="0" anchor="t">
            <a:noAutofit/>
          </a:bodyPr>
          <a:lstStyle/>
          <a:p>
            <a:pPr algn="l">
              <a:lnSpc>
                <a:spcPts val="1950"/>
              </a:lnSpc>
            </a:pPr>
            <a:r>
              <a:rPr sz="1500" b="1" i="0" lang="de-DE">
                <a:solidFill>
                  <a:srgbClr val="FFFFFF"/>
                </a:solidFill>
                <a:latin typeface="Geist Mono"/>
              </a:rPr>
              <a:t>17,3 → 17,1</a:t>
            </a:r>
          </a:p>
        </p:txBody>
      </p:sp>
      <p:sp>
        <p:nvSpPr>
          <p:cNvPr id="35" name="TextBox 34"/>
          <p:cNvSpPr txBox="1"/>
          <p:nvPr/>
        </p:nvSpPr>
        <p:spPr>
          <a:xfrm>
            <a:off x="6252210" y="3168015"/>
            <a:ext cx="2495550" cy="381000"/>
          </a:xfrm>
          <a:prstGeom prst="rect">
            <a:avLst/>
          </a:prstGeom>
          <a:noFill/>
        </p:spPr>
        <p:txBody>
          <a:bodyPr wrap="square" lIns="0" rIns="0" tIns="0" bIns="0" anchor="t">
            <a:noAutofit/>
          </a:bodyPr>
          <a:lstStyle/>
          <a:p>
            <a:pPr algn="l">
              <a:lnSpc>
                <a:spcPts val="1417"/>
              </a:lnSpc>
            </a:pPr>
            <a:r>
              <a:rPr sz="1050" b="0" i="0" lang="de-DE">
                <a:solidFill>
                  <a:srgbClr val="9CC3E0"/>
                </a:solidFill>
                <a:latin typeface="IBM Plex Sans"/>
              </a:rPr>
              <a:t>typischer Fehler (Median, VLS-h): gleich groß</a:t>
            </a:r>
          </a:p>
        </p:txBody>
      </p:sp>
      <p:sp>
        <p:nvSpPr>
          <p:cNvPr id="36" name="TextBox 35"/>
          <p:cNvSpPr txBox="1"/>
          <p:nvPr/>
        </p:nvSpPr>
        <p:spPr>
          <a:xfrm>
            <a:off x="8845868" y="2901315"/>
            <a:ext cx="2745105" cy="247650"/>
          </a:xfrm>
          <a:prstGeom prst="rect">
            <a:avLst/>
          </a:prstGeom>
          <a:noFill/>
        </p:spPr>
        <p:txBody>
          <a:bodyPr wrap="none" lIns="0" rIns="0" tIns="0" bIns="0" anchor="t">
            <a:noAutofit/>
          </a:bodyPr>
          <a:lstStyle/>
          <a:p>
            <a:pPr algn="l">
              <a:lnSpc>
                <a:spcPts val="1950"/>
              </a:lnSpc>
            </a:pPr>
            <a:r>
              <a:rPr sz="1500" b="1" i="0" lang="de-DE">
                <a:solidFill>
                  <a:srgbClr val="FFFFFF"/>
                </a:solidFill>
                <a:latin typeface="Geist Mono"/>
              </a:rPr>
              <a:t>1,36 %</a:t>
            </a:r>
          </a:p>
        </p:txBody>
      </p:sp>
      <p:sp>
        <p:nvSpPr>
          <p:cNvPr id="37" name="TextBox 36"/>
          <p:cNvSpPr txBox="1"/>
          <p:nvPr/>
        </p:nvSpPr>
        <p:spPr>
          <a:xfrm>
            <a:off x="8845868" y="3168015"/>
            <a:ext cx="2495550" cy="381000"/>
          </a:xfrm>
          <a:prstGeom prst="rect">
            <a:avLst/>
          </a:prstGeom>
          <a:noFill/>
        </p:spPr>
        <p:txBody>
          <a:bodyPr wrap="square" lIns="0" rIns="0" tIns="0" bIns="0" anchor="t">
            <a:noAutofit/>
          </a:bodyPr>
          <a:lstStyle/>
          <a:p>
            <a:pPr algn="l">
              <a:lnSpc>
                <a:spcPts val="1417"/>
              </a:lnSpc>
            </a:pPr>
            <a:r>
              <a:rPr sz="1050" b="0" i="0" lang="de-DE">
                <a:solidFill>
                  <a:srgbClr val="9CC3E0"/>
                </a:solidFill>
                <a:latin typeface="IBM Plex Sans"/>
              </a:rPr>
              <a:t>über der festen Grenze statt 1 %: die Extreme sind 2025 größer</a:t>
            </a:r>
          </a:p>
        </p:txBody>
      </p:sp>
      <p:sp>
        <p:nvSpPr>
          <p:cNvPr id="38" name="Rounded Rectangle 37"/>
          <p:cNvSpPr/>
          <p:nvPr/>
        </p:nvSpPr>
        <p:spPr>
          <a:xfrm>
            <a:off x="6071235" y="3785235"/>
            <a:ext cx="5434965" cy="1127760"/>
          </a:xfrm>
          <a:prstGeom prst="roundRect">
            <a:avLst>
              <a:gd name="adj" fmla="val 8445"/>
            </a:avLst>
          </a:prstGeom>
          <a:solidFill>
            <a:srgbClr val="174465"/>
          </a:solidFill>
          <a:ln w="9525">
            <a:solidFill>
              <a:srgbClr val="2E5674"/>
            </a:solidFill>
          </a:ln>
          <a:effectLst/>
        </p:spPr>
        <p:txBody>
          <a:bodyPr rtlCol="0" anchor="ctr"/>
          <a:lstStyle/>
          <a:p>
            <a:pPr algn="ctr"/>
          </a:p>
        </p:txBody>
      </p:sp>
      <p:sp>
        <p:nvSpPr>
          <p:cNvPr id="39" name="TextBox 38"/>
          <p:cNvSpPr txBox="1"/>
          <p:nvPr/>
        </p:nvSpPr>
        <p:spPr>
          <a:xfrm>
            <a:off x="6252210" y="3909060"/>
            <a:ext cx="5574030" cy="161925"/>
          </a:xfrm>
          <a:prstGeom prst="rect">
            <a:avLst/>
          </a:prstGeom>
          <a:noFill/>
        </p:spPr>
        <p:txBody>
          <a:bodyPr wrap="none" lIns="0" rIns="0" tIns="0" bIns="0" anchor="t">
            <a:noAutofit/>
          </a:bodyPr>
          <a:lstStyle/>
          <a:p>
            <a:pPr algn="l">
              <a:lnSpc>
                <a:spcPts val="1275"/>
              </a:lnSpc>
            </a:pPr>
            <a:r>
              <a:rPr sz="975" b="1" i="0" lang="de-DE" spc="78">
                <a:solidFill>
                  <a:srgbClr val="6CC0D2"/>
                </a:solidFill>
                <a:latin typeface="IBM Plex Sans"/>
              </a:rPr>
              <a:t>WARUM GERADE NOV–DEZ 2024?</a:t>
            </a:r>
          </a:p>
        </p:txBody>
      </p:sp>
      <p:sp>
        <p:nvSpPr>
          <p:cNvPr id="40" name="TextBox 39"/>
          <p:cNvSpPr txBox="1"/>
          <p:nvPr/>
        </p:nvSpPr>
        <p:spPr>
          <a:xfrm>
            <a:off x="6252210" y="4147185"/>
            <a:ext cx="5143500" cy="666750"/>
          </a:xfrm>
          <a:prstGeom prst="rect">
            <a:avLst/>
          </a:prstGeom>
          <a:noFill/>
        </p:spPr>
        <p:txBody>
          <a:bodyPr wrap="square" lIns="0" rIns="0" tIns="0" bIns="0" anchor="t">
            <a:noAutofit/>
          </a:bodyPr>
          <a:lstStyle/>
          <a:p>
            <a:pPr algn="l" marL="171450" indent="-171450">
              <a:lnSpc>
                <a:spcPts val="1685"/>
              </a:lnSpc>
              <a:buChar char="•"/>
            </a:pPr>
            <a:r>
              <a:rPr sz="1162" b="0" i="0" lang="de-DE">
                <a:solidFill>
                  <a:srgbClr val="BBD7EA"/>
                </a:solidFill>
                <a:latin typeface="IBM Plex Sans"/>
              </a:rPr>
              <a:t>Jüngste Monate vor dem Testjahr</a:t>
            </a:r>
          </a:p>
          <a:p>
            <a:pPr algn="l" marL="171450" indent="-171450">
              <a:lnSpc>
                <a:spcPts val="1685"/>
              </a:lnSpc>
              <a:buChar char="•"/>
            </a:pPr>
            <a:r>
              <a:rPr sz="1162" b="0" i="0" lang="de-DE">
                <a:solidFill>
                  <a:srgbClr val="BBD7EA"/>
                </a:solidFill>
                <a:latin typeface="IBM Plex Sans"/>
              </a:rPr>
              <a:t>Nicht für die Modellwahl genutzt (Folds enden im Oktober)</a:t>
            </a:r>
          </a:p>
          <a:p>
            <a:pPr algn="l" marL="171450" indent="-171450">
              <a:lnSpc>
                <a:spcPts val="1685"/>
              </a:lnSpc>
              <a:buChar char="•"/>
            </a:pPr>
            <a:r>
              <a:rPr sz="1162" b="0" i="0" lang="de-DE">
                <a:solidFill>
                  <a:srgbClr val="BBD7EA"/>
                </a:solidFill>
                <a:latin typeface="IBM Plex Sans"/>
              </a:rPr>
              <a:t>Später geht nicht, ohne 2025 selbst zu verwenden</a:t>
            </a:r>
          </a:p>
        </p:txBody>
      </p:sp>
      <p:sp>
        <p:nvSpPr>
          <p:cNvPr id="41" name="Rounded Rectangle 40"/>
          <p:cNvSpPr/>
          <p:nvPr/>
        </p:nvSpPr>
        <p:spPr>
          <a:xfrm>
            <a:off x="685800" y="5394960"/>
            <a:ext cx="10820400" cy="691515"/>
          </a:xfrm>
          <a:prstGeom prst="roundRect">
            <a:avLst>
              <a:gd name="adj" fmla="val 13774"/>
            </a:avLst>
          </a:prstGeom>
          <a:solidFill>
            <a:srgbClr val="174465"/>
          </a:solidFill>
          <a:ln w="9525">
            <a:solidFill>
              <a:srgbClr val="2E5674"/>
            </a:solidFill>
          </a:ln>
          <a:effectLst/>
        </p:spPr>
        <p:txBody>
          <a:bodyPr rtlCol="0" anchor="ctr"/>
          <a:lstStyle/>
          <a:p>
            <a:pPr algn="ctr"/>
          </a:p>
        </p:txBody>
      </p:sp>
      <p:grpSp>
        <p:nvGrpSpPr>
          <p:cNvPr id="42" name="Scheibe lightbulb"/>
          <p:cNvGrpSpPr/>
          <p:nvPr/>
        </p:nvGrpSpPr>
        <p:grpSpPr>
          <a:xfrm>
            <a:off x="809625" y="5597842"/>
            <a:ext cx="285750" cy="285750"/>
            <a:chOff x="809625" y="5597842"/>
            <a:chExt cx="285750" cy="285750"/>
          </a:xfrm>
        </p:grpSpPr>
        <p:sp>
          <p:nvSpPr>
            <p:cNvPr id="43" name="Oval 42"/>
            <p:cNvSpPr/>
            <p:nvPr/>
          </p:nvSpPr>
          <p:spPr>
            <a:xfrm>
              <a:off x="809625" y="5597842"/>
              <a:ext cx="285750" cy="285750"/>
            </a:xfrm>
            <a:prstGeom prst="ellipse">
              <a:avLst/>
            </a:prstGeom>
            <a:solidFill>
              <a:srgbClr val="C77E11"/>
            </a:solidFill>
            <a:ln>
              <a:noFill/>
            </a:ln>
            <a:effectLst/>
          </p:spPr>
          <p:txBody>
            <a:bodyPr rtlCol="0" anchor="ctr"/>
            <a:lstStyle/>
            <a:p>
              <a:pPr algn="ctr"/>
            </a:p>
          </p:txBody>
        </p:sp>
        <p:pic>
          <p:nvPicPr>
            <p:cNvPr id="44" name="Picture 43" descr="lightbulb__04263F.png"/>
            <p:cNvPicPr>
              <a:picLocks noChangeAspect="1"/>
            </p:cNvPicPr>
            <p:nvPr/>
          </p:nvPicPr>
          <p:blipFill>
            <a:blip r:embed="rId6"/>
            <a:stretch>
              <a:fillRect/>
            </a:stretch>
          </p:blipFill>
          <p:spPr>
            <a:xfrm>
              <a:off x="878205" y="5666422"/>
              <a:ext cx="148590" cy="148590"/>
            </a:xfrm>
            <a:prstGeom prst="rect">
              <a:avLst/>
            </a:prstGeom>
          </p:spPr>
        </p:pic>
      </p:grpSp>
      <p:sp>
        <p:nvSpPr>
          <p:cNvPr id="45" name="Merksatz"/>
          <p:cNvSpPr txBox="1"/>
          <p:nvPr/>
        </p:nvSpPr>
        <p:spPr>
          <a:xfrm>
            <a:off x="1228725" y="5394960"/>
            <a:ext cx="10086975" cy="691515"/>
          </a:xfrm>
          <a:prstGeom prst="rect">
            <a:avLst/>
          </a:prstGeom>
          <a:noFill/>
        </p:spPr>
        <p:txBody>
          <a:bodyPr wrap="square" lIns="0" rIns="0" tIns="0" bIns="0" anchor="ctr">
            <a:noAutofit/>
          </a:bodyPr>
          <a:lstStyle/>
          <a:p>
            <a:pPr algn="l">
              <a:lnSpc>
                <a:spcPts val="1822"/>
              </a:lnSpc>
            </a:pPr>
            <a:r>
              <a:rPr sz="1350" b="0" i="0" lang="de-DE">
                <a:solidFill>
                  <a:srgbClr val="FFFFFF"/>
                </a:solidFill>
                <a:latin typeface="IBM Plex Sans"/>
              </a:rPr>
              <a:t>Kalibrieren ändert nur die Grenze, nicht Modell oder Prognose. Neu kalibriert wird erst, wenn Fehler oder Hinweisvolumen über mehrere Monate abweichen.</a:t>
            </a:r>
          </a:p>
        </p:txBody>
      </p:sp>
      <p:cxnSp>
        <p:nvCxnSpPr>
          <p:cNvPr id="46" name="Fußlinie"/>
          <p:cNvCxnSpPr/>
          <p:nvPr/>
        </p:nvCxnSpPr>
        <p:spPr>
          <a:xfrm>
            <a:off x="0" y="6219825"/>
            <a:ext cx="12192000" cy="0"/>
          </a:xfrm>
          <a:prstGeom prst="line">
            <a:avLst/>
          </a:prstGeom>
          <a:ln w="9525">
            <a:solidFill>
              <a:srgbClr val="2E5674"/>
            </a:solidFill>
          </a:ln>
        </p:spPr>
        <p:style>
          <a:lnRef idx="2">
            <a:schemeClr val="accent1"/>
          </a:lnRef>
          <a:fillRef idx="0">
            <a:schemeClr val="accent1"/>
          </a:fillRef>
          <a:effectRef idx="1">
            <a:schemeClr val="accent1"/>
          </a:effectRef>
          <a:fontRef idx="minor">
            <a:schemeClr val="tx1"/>
          </a:fontRef>
        </p:style>
      </p:cxnSp>
      <p:sp>
        <p:nvSpPr>
          <p:cNvPr id="47" name="Logo-Grund"/>
          <p:cNvSpPr/>
          <p:nvPr/>
        </p:nvSpPr>
        <p:spPr>
          <a:xfrm>
            <a:off x="685800" y="6400800"/>
            <a:ext cx="609600" cy="247650"/>
          </a:xfrm>
          <a:prstGeom prst="roundRect">
            <a:avLst>
              <a:gd name="adj" fmla="val 15384"/>
            </a:avLst>
          </a:prstGeom>
          <a:solidFill>
            <a:srgbClr val="FFFFFF"/>
          </a:solidFill>
          <a:ln>
            <a:noFill/>
          </a:ln>
          <a:effectLst/>
        </p:spPr>
        <p:txBody>
          <a:bodyPr rtlCol="0" anchor="ctr"/>
          <a:lstStyle/>
          <a:p>
            <a:pPr algn="ctr"/>
          </a:p>
        </p:txBody>
      </p:sp>
      <p:pic>
        <p:nvPicPr>
          <p:cNvPr id="48" name="Logo" descr="image.png"/>
          <p:cNvPicPr>
            <a:picLocks noChangeAspect="1"/>
          </p:cNvPicPr>
          <p:nvPr/>
        </p:nvPicPr>
        <p:blipFill>
          <a:blip r:embed="rId7"/>
          <a:stretch>
            <a:fillRect/>
          </a:stretch>
        </p:blipFill>
        <p:spPr>
          <a:xfrm>
            <a:off x="742950" y="6438900"/>
            <a:ext cx="495598" cy="171450"/>
          </a:xfrm>
          <a:prstGeom prst="rect">
            <a:avLst/>
          </a:prstGeom>
        </p:spPr>
      </p:pic>
      <p:sp>
        <p:nvSpPr>
          <p:cNvPr id="49" name="TextBox 48"/>
          <p:cNvSpPr txBox="1"/>
          <p:nvPr/>
        </p:nvSpPr>
        <p:spPr>
          <a:xfrm>
            <a:off x="1447800" y="6429375"/>
            <a:ext cx="2891790" cy="190500"/>
          </a:xfrm>
          <a:prstGeom prst="rect">
            <a:avLst/>
          </a:prstGeom>
          <a:noFill/>
        </p:spPr>
        <p:txBody>
          <a:bodyPr wrap="none" lIns="0" rIns="0" tIns="0" bIns="0" anchor="t">
            <a:noAutofit/>
          </a:bodyPr>
          <a:lstStyle/>
          <a:p>
            <a:pPr algn="l">
              <a:lnSpc>
                <a:spcPts val="1500"/>
              </a:lnSpc>
            </a:pPr>
            <a:r>
              <a:rPr sz="1200" b="0" i="0" lang="de-DE">
                <a:solidFill>
                  <a:srgbClr val="7FB4D8"/>
                </a:solidFill>
                <a:latin typeface="IBM Plex Sans"/>
              </a:rPr>
              <a:t>Verbrauchsprognose &amp; Frühwarnung</a:t>
            </a:r>
          </a:p>
        </p:txBody>
      </p:sp>
      <p:cxnSp>
        <p:nvCxnSpPr>
          <p:cNvPr id="50" name="Connector 49"/>
          <p:cNvCxnSpPr/>
          <p:nvPr/>
        </p:nvCxnSpPr>
        <p:spPr>
          <a:xfrm>
            <a:off x="4248150" y="6419850"/>
            <a:ext cx="0" cy="209550"/>
          </a:xfrm>
          <a:prstGeom prst="line">
            <a:avLst/>
          </a:prstGeom>
          <a:ln w="9525">
            <a:solidFill>
              <a:srgbClr val="2E5674"/>
            </a:solidFill>
          </a:ln>
        </p:spPr>
        <p:style>
          <a:lnRef idx="2">
            <a:schemeClr val="accent1"/>
          </a:lnRef>
          <a:fillRef idx="0">
            <a:schemeClr val="accent1"/>
          </a:fillRef>
          <a:effectRef idx="1">
            <a:schemeClr val="accent1"/>
          </a:effectRef>
          <a:fontRef idx="minor">
            <a:schemeClr val="tx1"/>
          </a:fontRef>
        </p:style>
      </p:cxnSp>
      <p:grpSp>
        <p:nvGrpSpPr>
          <p:cNvPr id="51" name="Scheibe ruler"/>
          <p:cNvGrpSpPr/>
          <p:nvPr/>
        </p:nvGrpSpPr>
        <p:grpSpPr>
          <a:xfrm>
            <a:off x="4410075" y="6419850"/>
            <a:ext cx="209550" cy="209550"/>
            <a:chOff x="4410075" y="6419850"/>
            <a:chExt cx="209550" cy="209550"/>
          </a:xfrm>
        </p:grpSpPr>
        <p:sp>
          <p:nvSpPr>
            <p:cNvPr id="52" name="Oval 51"/>
            <p:cNvSpPr/>
            <p:nvPr/>
          </p:nvSpPr>
          <p:spPr>
            <a:xfrm>
              <a:off x="4410075" y="6419850"/>
              <a:ext cx="209550" cy="209550"/>
            </a:xfrm>
            <a:prstGeom prst="ellipse">
              <a:avLst/>
            </a:prstGeom>
            <a:solidFill>
              <a:srgbClr val="6CC0D2"/>
            </a:solidFill>
            <a:ln>
              <a:noFill/>
            </a:ln>
            <a:effectLst/>
          </p:spPr>
          <p:txBody>
            <a:bodyPr rtlCol="0" anchor="ctr"/>
            <a:lstStyle/>
            <a:p>
              <a:pPr algn="ctr"/>
            </a:p>
          </p:txBody>
        </p:sp>
        <p:pic>
          <p:nvPicPr>
            <p:cNvPr id="53" name="Picture 52" descr="ruler__04263F.png"/>
            <p:cNvPicPr>
              <a:picLocks noChangeAspect="1"/>
            </p:cNvPicPr>
            <p:nvPr/>
          </p:nvPicPr>
          <p:blipFill>
            <a:blip r:embed="rId8"/>
            <a:stretch>
              <a:fillRect/>
            </a:stretch>
          </p:blipFill>
          <p:spPr>
            <a:xfrm>
              <a:off x="4460367" y="6470142"/>
              <a:ext cx="108966" cy="108966"/>
            </a:xfrm>
            <a:prstGeom prst="rect">
              <a:avLst/>
            </a:prstGeom>
          </p:spPr>
        </p:pic>
      </p:grpSp>
      <p:sp>
        <p:nvSpPr>
          <p:cNvPr id="54" name="TextBox 53"/>
          <p:cNvSpPr txBox="1"/>
          <p:nvPr/>
        </p:nvSpPr>
        <p:spPr>
          <a:xfrm>
            <a:off x="4676775" y="6438900"/>
            <a:ext cx="323850" cy="171450"/>
          </a:xfrm>
          <a:prstGeom prst="rect">
            <a:avLst/>
          </a:prstGeom>
          <a:noFill/>
        </p:spPr>
        <p:txBody>
          <a:bodyPr wrap="none" lIns="0" rIns="0" tIns="0" bIns="0" anchor="t">
            <a:noAutofit/>
          </a:bodyPr>
          <a:lstStyle/>
          <a:p>
            <a:pPr algn="l">
              <a:lnSpc>
                <a:spcPts val="1350"/>
              </a:lnSpc>
            </a:pPr>
            <a:r>
              <a:rPr sz="1050" b="1" i="0" lang="de-DE">
                <a:solidFill>
                  <a:srgbClr val="6CC0D2"/>
                </a:solidFill>
                <a:latin typeface="Geist Mono"/>
              </a:rPr>
              <a:t>06</a:t>
            </a:r>
          </a:p>
        </p:txBody>
      </p:sp>
      <p:sp>
        <p:nvSpPr>
          <p:cNvPr id="55" name="TextBox 54"/>
          <p:cNvSpPr txBox="1"/>
          <p:nvPr/>
        </p:nvSpPr>
        <p:spPr>
          <a:xfrm>
            <a:off x="4893945" y="6438900"/>
            <a:ext cx="794194" cy="171450"/>
          </a:xfrm>
          <a:prstGeom prst="rect">
            <a:avLst/>
          </a:prstGeom>
          <a:noFill/>
        </p:spPr>
        <p:txBody>
          <a:bodyPr wrap="none" lIns="0" rIns="0" tIns="0" bIns="0" anchor="t">
            <a:noAutofit/>
          </a:bodyPr>
          <a:lstStyle/>
          <a:p>
            <a:pPr algn="l">
              <a:lnSpc>
                <a:spcPts val="1350"/>
              </a:lnSpc>
            </a:pPr>
            <a:r>
              <a:rPr sz="1050" b="0" i="0" lang="de-DE">
                <a:solidFill>
                  <a:srgbClr val="BBD7EA"/>
                </a:solidFill>
                <a:latin typeface="IBM Plex Sans"/>
              </a:rPr>
              <a:t>Evaluation</a:t>
            </a:r>
          </a:p>
        </p:txBody>
      </p:sp>
      <p:grpSp>
        <p:nvGrpSpPr>
          <p:cNvPr id="56" name="Scheibe split"/>
          <p:cNvGrpSpPr/>
          <p:nvPr/>
        </p:nvGrpSpPr>
        <p:grpSpPr>
          <a:xfrm>
            <a:off x="5634990" y="6419850"/>
            <a:ext cx="209550" cy="209550"/>
            <a:chOff x="5634990" y="6419850"/>
            <a:chExt cx="209550" cy="209550"/>
          </a:xfrm>
        </p:grpSpPr>
        <p:sp>
          <p:nvSpPr>
            <p:cNvPr id="57" name="Oval 56"/>
            <p:cNvSpPr/>
            <p:nvPr/>
          </p:nvSpPr>
          <p:spPr>
            <a:xfrm>
              <a:off x="5634990" y="6419850"/>
              <a:ext cx="209550" cy="209550"/>
            </a:xfrm>
            <a:prstGeom prst="ellipse">
              <a:avLst/>
            </a:prstGeom>
            <a:solidFill>
              <a:srgbClr val="6CC0D2"/>
            </a:solidFill>
            <a:ln>
              <a:noFill/>
            </a:ln>
            <a:effectLst/>
          </p:spPr>
          <p:txBody>
            <a:bodyPr rtlCol="0" anchor="ctr"/>
            <a:lstStyle/>
            <a:p>
              <a:pPr algn="ctr"/>
            </a:p>
          </p:txBody>
        </p:sp>
        <p:pic>
          <p:nvPicPr>
            <p:cNvPr id="58" name="Picture 57" descr="split__04263F.png"/>
            <p:cNvPicPr>
              <a:picLocks noChangeAspect="1"/>
            </p:cNvPicPr>
            <p:nvPr/>
          </p:nvPicPr>
          <p:blipFill>
            <a:blip r:embed="rId9"/>
            <a:stretch>
              <a:fillRect/>
            </a:stretch>
          </p:blipFill>
          <p:spPr>
            <a:xfrm>
              <a:off x="5685282" y="6470142"/>
              <a:ext cx="108966" cy="108966"/>
            </a:xfrm>
            <a:prstGeom prst="rect">
              <a:avLst/>
            </a:prstGeom>
          </p:spPr>
        </p:pic>
      </p:grpSp>
      <p:sp>
        <p:nvSpPr>
          <p:cNvPr id="59" name="TextBox 58"/>
          <p:cNvSpPr txBox="1"/>
          <p:nvPr/>
        </p:nvSpPr>
        <p:spPr>
          <a:xfrm>
            <a:off x="5901690" y="6438900"/>
            <a:ext cx="323850" cy="171450"/>
          </a:xfrm>
          <a:prstGeom prst="rect">
            <a:avLst/>
          </a:prstGeom>
          <a:noFill/>
        </p:spPr>
        <p:txBody>
          <a:bodyPr wrap="none" lIns="0" rIns="0" tIns="0" bIns="0" anchor="t">
            <a:noAutofit/>
          </a:bodyPr>
          <a:lstStyle/>
          <a:p>
            <a:pPr algn="l">
              <a:lnSpc>
                <a:spcPts val="1350"/>
              </a:lnSpc>
            </a:pPr>
            <a:r>
              <a:rPr sz="1050" b="1" i="0" lang="de-DE">
                <a:solidFill>
                  <a:srgbClr val="6CC0D2"/>
                </a:solidFill>
                <a:latin typeface="Geist Mono"/>
              </a:rPr>
              <a:t>07</a:t>
            </a:r>
          </a:p>
        </p:txBody>
      </p:sp>
      <p:sp>
        <p:nvSpPr>
          <p:cNvPr id="60" name="TextBox 59"/>
          <p:cNvSpPr txBox="1"/>
          <p:nvPr/>
        </p:nvSpPr>
        <p:spPr>
          <a:xfrm>
            <a:off x="6118860" y="6438900"/>
            <a:ext cx="1001020" cy="171450"/>
          </a:xfrm>
          <a:prstGeom prst="rect">
            <a:avLst/>
          </a:prstGeom>
          <a:noFill/>
        </p:spPr>
        <p:txBody>
          <a:bodyPr wrap="none" lIns="0" rIns="0" tIns="0" bIns="0" anchor="t">
            <a:noAutofit/>
          </a:bodyPr>
          <a:lstStyle/>
          <a:p>
            <a:pPr algn="l">
              <a:lnSpc>
                <a:spcPts val="1350"/>
              </a:lnSpc>
            </a:pPr>
            <a:r>
              <a:rPr sz="1050" b="0" i="0" lang="de-DE">
                <a:solidFill>
                  <a:srgbClr val="BBD7EA"/>
                </a:solidFill>
                <a:latin typeface="IBM Plex Sans"/>
              </a:rPr>
              <a:t>Entscheidung</a:t>
            </a:r>
          </a:p>
        </p:txBody>
      </p:sp>
      <p:grpSp>
        <p:nvGrpSpPr>
          <p:cNvPr id="61" name="Scheibe activity"/>
          <p:cNvGrpSpPr/>
          <p:nvPr/>
        </p:nvGrpSpPr>
        <p:grpSpPr>
          <a:xfrm>
            <a:off x="7055072" y="6426994"/>
            <a:ext cx="195262" cy="195262"/>
            <a:chOff x="7055072" y="6426994"/>
            <a:chExt cx="195262" cy="195262"/>
          </a:xfrm>
        </p:grpSpPr>
        <p:sp>
          <p:nvSpPr>
            <p:cNvPr id="62" name="Oval 61"/>
            <p:cNvSpPr/>
            <p:nvPr/>
          </p:nvSpPr>
          <p:spPr>
            <a:xfrm>
              <a:off x="7055072" y="6426994"/>
              <a:ext cx="195262" cy="195262"/>
            </a:xfrm>
            <a:prstGeom prst="ellipse">
              <a:avLst/>
            </a:prstGeom>
            <a:solidFill>
              <a:srgbClr val="1F4A6A"/>
            </a:solidFill>
            <a:ln w="14287">
              <a:solidFill>
                <a:srgbClr val="426681"/>
              </a:solidFill>
            </a:ln>
            <a:effectLst/>
          </p:spPr>
          <p:txBody>
            <a:bodyPr rtlCol="0" anchor="ctr"/>
            <a:lstStyle/>
            <a:p>
              <a:pPr algn="ctr"/>
            </a:p>
          </p:txBody>
        </p:sp>
        <p:pic>
          <p:nvPicPr>
            <p:cNvPr id="63" name="Picture 62" descr="activity__9CC3E0.png"/>
            <p:cNvPicPr>
              <a:picLocks noChangeAspect="1"/>
            </p:cNvPicPr>
            <p:nvPr/>
          </p:nvPicPr>
          <p:blipFill>
            <a:blip r:embed="rId10"/>
            <a:stretch>
              <a:fillRect/>
            </a:stretch>
          </p:blipFill>
          <p:spPr>
            <a:xfrm>
              <a:off x="7098220" y="6470142"/>
              <a:ext cx="108966" cy="108966"/>
            </a:xfrm>
            <a:prstGeom prst="rect">
              <a:avLst/>
            </a:prstGeom>
          </p:spPr>
        </p:pic>
      </p:grpSp>
      <p:sp>
        <p:nvSpPr>
          <p:cNvPr id="64" name="TextBox 63"/>
          <p:cNvSpPr txBox="1"/>
          <p:nvPr/>
        </p:nvSpPr>
        <p:spPr>
          <a:xfrm>
            <a:off x="7314628" y="6438900"/>
            <a:ext cx="323850" cy="171450"/>
          </a:xfrm>
          <a:prstGeom prst="rect">
            <a:avLst/>
          </a:prstGeom>
          <a:noFill/>
        </p:spPr>
        <p:txBody>
          <a:bodyPr wrap="none" lIns="0" rIns="0" tIns="0" bIns="0" anchor="t">
            <a:noAutofit/>
          </a:bodyPr>
          <a:lstStyle/>
          <a:p>
            <a:pPr algn="l">
              <a:lnSpc>
                <a:spcPts val="1350"/>
              </a:lnSpc>
            </a:pPr>
            <a:r>
              <a:rPr sz="1050" b="1" i="0" lang="de-DE">
                <a:solidFill>
                  <a:srgbClr val="6CC0D2"/>
                </a:solidFill>
                <a:latin typeface="Geist Mono"/>
              </a:rPr>
              <a:t>10</a:t>
            </a:r>
          </a:p>
        </p:txBody>
      </p:sp>
      <p:sp>
        <p:nvSpPr>
          <p:cNvPr id="65" name="TextBox 64"/>
          <p:cNvSpPr txBox="1"/>
          <p:nvPr/>
        </p:nvSpPr>
        <p:spPr>
          <a:xfrm>
            <a:off x="7531798" y="6438900"/>
            <a:ext cx="811797" cy="171450"/>
          </a:xfrm>
          <a:prstGeom prst="rect">
            <a:avLst/>
          </a:prstGeom>
          <a:noFill/>
        </p:spPr>
        <p:txBody>
          <a:bodyPr wrap="none" lIns="0" rIns="0" tIns="0" bIns="0" anchor="t">
            <a:noAutofit/>
          </a:bodyPr>
          <a:lstStyle/>
          <a:p>
            <a:pPr algn="l">
              <a:lnSpc>
                <a:spcPts val="1350"/>
              </a:lnSpc>
            </a:pPr>
            <a:r>
              <a:rPr sz="1050" b="0" i="0" lang="de-DE">
                <a:solidFill>
                  <a:srgbClr val="BBD7EA"/>
                </a:solidFill>
                <a:latin typeface="IBM Plex Sans"/>
              </a:rPr>
              <a:t>Monitoring</a:t>
            </a:r>
          </a:p>
        </p:txBody>
      </p:sp>
      <p:sp>
        <p:nvSpPr>
          <p:cNvPr id="66" name="TextBox 65"/>
          <p:cNvSpPr txBox="1"/>
          <p:nvPr/>
        </p:nvSpPr>
        <p:spPr>
          <a:xfrm>
            <a:off x="9486900" y="6429375"/>
            <a:ext cx="1257300" cy="190500"/>
          </a:xfrm>
          <a:prstGeom prst="rect">
            <a:avLst/>
          </a:prstGeom>
          <a:noFill/>
        </p:spPr>
        <p:txBody>
          <a:bodyPr wrap="none" lIns="0" rIns="0" tIns="0" bIns="0" anchor="t">
            <a:noAutofit/>
          </a:bodyPr>
          <a:lstStyle/>
          <a:p>
            <a:pPr algn="r">
              <a:lnSpc>
                <a:spcPts val="1500"/>
              </a:lnSpc>
            </a:pPr>
            <a:r>
              <a:rPr sz="1200" b="1" i="0" lang="de-DE">
                <a:solidFill>
                  <a:srgbClr val="BBD7EA"/>
                </a:solidFill>
                <a:latin typeface="IBM Plex Sans"/>
              </a:rPr>
              <a:t>Kiko</a:t>
            </a:r>
          </a:p>
        </p:txBody>
      </p:sp>
      <p:sp>
        <p:nvSpPr>
          <p:cNvPr id="67" name="Seitenzahl"/>
          <p:cNvSpPr txBox="1"/>
          <p:nvPr/>
        </p:nvSpPr>
        <p:spPr>
          <a:xfrm>
            <a:off x="10835640" y="6424612"/>
            <a:ext cx="670560" cy="200025"/>
          </a:xfrm>
          <a:prstGeom prst="rect">
            <a:avLst/>
          </a:prstGeom>
          <a:noFill/>
        </p:spPr>
        <p:txBody>
          <a:bodyPr wrap="none" lIns="0" rIns="0" tIns="0" bIns="0" anchor="t">
            <a:noAutofit/>
          </a:bodyPr>
          <a:lstStyle/>
          <a:p>
            <a:pPr algn="r">
              <a:lnSpc>
                <a:spcPts val="1575"/>
              </a:lnSpc>
            </a:pPr>
            <a:r>
              <a:rPr sz="1200" b="0" i="0" lang="de-DE">
                <a:solidFill>
                  <a:srgbClr val="7FB4D8"/>
                </a:solidFill>
                <a:latin typeface="Geist Mono"/>
              </a:rPr>
              <a:t>8 / 11</a:t>
            </a:r>
          </a:p>
        </p:txBody>
      </p:sp>
      <p:grpSp>
        <p:nvGrpSpPr>
          <p:cNvPr id="68" name="Kapitel 01"/>
          <p:cNvGrpSpPr/>
          <p:nvPr/>
        </p:nvGrpSpPr>
        <p:grpSpPr>
          <a:xfrm>
            <a:off x="9532144" y="407194"/>
            <a:ext cx="233362" cy="233362"/>
            <a:chOff x="9532144" y="407194"/>
            <a:chExt cx="233362" cy="233362"/>
          </a:xfrm>
        </p:grpSpPr>
        <p:sp>
          <p:nvSpPr>
            <p:cNvPr id="69" name="Oval 68"/>
            <p:cNvSpPr/>
            <p:nvPr/>
          </p:nvSpPr>
          <p:spPr>
            <a:xfrm>
              <a:off x="9532144" y="407194"/>
              <a:ext cx="233362" cy="233362"/>
            </a:xfrm>
            <a:prstGeom prst="ellipse">
              <a:avLst/>
            </a:prstGeom>
            <a:solidFill>
              <a:srgbClr val="1F4A6A"/>
            </a:solidFill>
            <a:ln w="14287">
              <a:solidFill>
                <a:srgbClr val="426681"/>
              </a:solidFill>
            </a:ln>
            <a:effectLst/>
          </p:spPr>
          <p:txBody>
            <a:bodyPr rtlCol="0" anchor="ctr"/>
            <a:lstStyle/>
            <a:p>
              <a:pPr algn="ctr"/>
            </a:p>
          </p:txBody>
        </p:sp>
        <p:pic>
          <p:nvPicPr>
            <p:cNvPr id="70" name="Picture 69" descr="building-2__9CC3E0.png"/>
            <p:cNvPicPr>
              <a:picLocks noChangeAspect="1"/>
            </p:cNvPicPr>
            <p:nvPr/>
          </p:nvPicPr>
          <p:blipFill>
            <a:blip r:embed="rId11"/>
            <a:stretch>
              <a:fillRect/>
            </a:stretch>
          </p:blipFill>
          <p:spPr>
            <a:xfrm>
              <a:off x="9584436" y="459486"/>
              <a:ext cx="128778" cy="128778"/>
            </a:xfrm>
            <a:prstGeom prst="rect">
              <a:avLst/>
            </a:prstGeom>
          </p:spPr>
        </p:pic>
      </p:grpSp>
      <p:grpSp>
        <p:nvGrpSpPr>
          <p:cNvPr id="71" name="Kapitel 02"/>
          <p:cNvGrpSpPr/>
          <p:nvPr/>
        </p:nvGrpSpPr>
        <p:grpSpPr>
          <a:xfrm>
            <a:off x="9817894" y="407194"/>
            <a:ext cx="233362" cy="233362"/>
            <a:chOff x="9817894" y="407194"/>
            <a:chExt cx="233362" cy="233362"/>
          </a:xfrm>
        </p:grpSpPr>
        <p:sp>
          <p:nvSpPr>
            <p:cNvPr id="72" name="Oval 71"/>
            <p:cNvSpPr/>
            <p:nvPr/>
          </p:nvSpPr>
          <p:spPr>
            <a:xfrm>
              <a:off x="9817894" y="407194"/>
              <a:ext cx="233362" cy="233362"/>
            </a:xfrm>
            <a:prstGeom prst="ellipse">
              <a:avLst/>
            </a:prstGeom>
            <a:solidFill>
              <a:srgbClr val="1F4A6A"/>
            </a:solidFill>
            <a:ln w="14287">
              <a:solidFill>
                <a:srgbClr val="426681"/>
              </a:solidFill>
            </a:ln>
            <a:effectLst/>
          </p:spPr>
          <p:txBody>
            <a:bodyPr rtlCol="0" anchor="ctr"/>
            <a:lstStyle/>
            <a:p>
              <a:pPr algn="ctr"/>
            </a:p>
          </p:txBody>
        </p:sp>
        <p:pic>
          <p:nvPicPr>
            <p:cNvPr id="73" name="Picture 72" descr="database__9CC3E0.png"/>
            <p:cNvPicPr>
              <a:picLocks noChangeAspect="1"/>
            </p:cNvPicPr>
            <p:nvPr/>
          </p:nvPicPr>
          <p:blipFill>
            <a:blip r:embed="rId12"/>
            <a:stretch>
              <a:fillRect/>
            </a:stretch>
          </p:blipFill>
          <p:spPr>
            <a:xfrm>
              <a:off x="9870186" y="459486"/>
              <a:ext cx="128778" cy="128778"/>
            </a:xfrm>
            <a:prstGeom prst="rect">
              <a:avLst/>
            </a:prstGeom>
          </p:spPr>
        </p:pic>
      </p:grpSp>
      <p:grpSp>
        <p:nvGrpSpPr>
          <p:cNvPr id="74" name="Kapitel 03"/>
          <p:cNvGrpSpPr/>
          <p:nvPr/>
        </p:nvGrpSpPr>
        <p:grpSpPr>
          <a:xfrm>
            <a:off x="10256044" y="407194"/>
            <a:ext cx="233362" cy="233362"/>
            <a:chOff x="10256044" y="407194"/>
            <a:chExt cx="233362" cy="233362"/>
          </a:xfrm>
        </p:grpSpPr>
        <p:sp>
          <p:nvSpPr>
            <p:cNvPr id="75" name="Oval 74"/>
            <p:cNvSpPr/>
            <p:nvPr/>
          </p:nvSpPr>
          <p:spPr>
            <a:xfrm>
              <a:off x="10256044" y="407194"/>
              <a:ext cx="233362" cy="233362"/>
            </a:xfrm>
            <a:prstGeom prst="ellipse">
              <a:avLst/>
            </a:prstGeom>
            <a:solidFill>
              <a:srgbClr val="1F4A6A"/>
            </a:solidFill>
            <a:ln w="14287">
              <a:solidFill>
                <a:srgbClr val="426681"/>
              </a:solidFill>
            </a:ln>
            <a:effectLst/>
          </p:spPr>
          <p:txBody>
            <a:bodyPr rtlCol="0" anchor="ctr"/>
            <a:lstStyle/>
            <a:p>
              <a:pPr algn="ctr"/>
            </a:p>
          </p:txBody>
        </p:sp>
        <p:pic>
          <p:nvPicPr>
            <p:cNvPr id="76" name="Picture 75" descr="layout-grid__9CC3E0.png"/>
            <p:cNvPicPr>
              <a:picLocks noChangeAspect="1"/>
            </p:cNvPicPr>
            <p:nvPr/>
          </p:nvPicPr>
          <p:blipFill>
            <a:blip r:embed="rId13"/>
            <a:stretch>
              <a:fillRect/>
            </a:stretch>
          </p:blipFill>
          <p:spPr>
            <a:xfrm>
              <a:off x="10308336" y="459486"/>
              <a:ext cx="128778" cy="128778"/>
            </a:xfrm>
            <a:prstGeom prst="rect">
              <a:avLst/>
            </a:prstGeom>
          </p:spPr>
        </p:pic>
      </p:grpSp>
      <p:grpSp>
        <p:nvGrpSpPr>
          <p:cNvPr id="77" name="Kapitel 04 aktiv"/>
          <p:cNvGrpSpPr/>
          <p:nvPr/>
        </p:nvGrpSpPr>
        <p:grpSpPr>
          <a:xfrm>
            <a:off x="10534650" y="400050"/>
            <a:ext cx="247650" cy="247650"/>
            <a:chOff x="10534650" y="400050"/>
            <a:chExt cx="247650" cy="247650"/>
          </a:xfrm>
        </p:grpSpPr>
        <p:sp>
          <p:nvSpPr>
            <p:cNvPr id="78" name="Oval 77"/>
            <p:cNvSpPr/>
            <p:nvPr/>
          </p:nvSpPr>
          <p:spPr>
            <a:xfrm>
              <a:off x="10534650" y="400050"/>
              <a:ext cx="247650" cy="247650"/>
            </a:xfrm>
            <a:prstGeom prst="ellipse">
              <a:avLst/>
            </a:prstGeom>
            <a:solidFill>
              <a:srgbClr val="6CC0D2"/>
            </a:solidFill>
            <a:ln>
              <a:noFill/>
            </a:ln>
            <a:effectLst/>
          </p:spPr>
          <p:txBody>
            <a:bodyPr rtlCol="0" anchor="ctr"/>
            <a:lstStyle/>
            <a:p>
              <a:pPr algn="ctr"/>
            </a:p>
          </p:txBody>
        </p:sp>
        <p:pic>
          <p:nvPicPr>
            <p:cNvPr id="79" name="Picture 78" descr="trees__04263F.png"/>
            <p:cNvPicPr>
              <a:picLocks noChangeAspect="1"/>
            </p:cNvPicPr>
            <p:nvPr/>
          </p:nvPicPr>
          <p:blipFill>
            <a:blip r:embed="rId14"/>
            <a:stretch>
              <a:fillRect/>
            </a:stretch>
          </p:blipFill>
          <p:spPr>
            <a:xfrm>
              <a:off x="10594086" y="459486"/>
              <a:ext cx="128778" cy="128778"/>
            </a:xfrm>
            <a:prstGeom prst="rect">
              <a:avLst/>
            </a:prstGeom>
          </p:spPr>
        </p:pic>
      </p:grpSp>
      <p:grpSp>
        <p:nvGrpSpPr>
          <p:cNvPr id="80" name="Kapitel 05"/>
          <p:cNvGrpSpPr/>
          <p:nvPr/>
        </p:nvGrpSpPr>
        <p:grpSpPr>
          <a:xfrm>
            <a:off x="10979944" y="407194"/>
            <a:ext cx="233362" cy="233362"/>
            <a:chOff x="10979944" y="407194"/>
            <a:chExt cx="233362" cy="233362"/>
          </a:xfrm>
        </p:grpSpPr>
        <p:sp>
          <p:nvSpPr>
            <p:cNvPr id="81" name="Oval 80"/>
            <p:cNvSpPr/>
            <p:nvPr/>
          </p:nvSpPr>
          <p:spPr>
            <a:xfrm>
              <a:off x="10979944" y="407194"/>
              <a:ext cx="233362" cy="233362"/>
            </a:xfrm>
            <a:prstGeom prst="ellipse">
              <a:avLst/>
            </a:prstGeom>
            <a:solidFill>
              <a:srgbClr val="1F4A6A"/>
            </a:solidFill>
            <a:ln w="14287">
              <a:solidFill>
                <a:srgbClr val="426681"/>
              </a:solidFill>
            </a:ln>
            <a:effectLst/>
          </p:spPr>
          <p:txBody>
            <a:bodyPr rtlCol="0" anchor="ctr"/>
            <a:lstStyle/>
            <a:p>
              <a:pPr algn="ctr"/>
            </a:p>
          </p:txBody>
        </p:sp>
        <p:pic>
          <p:nvPicPr>
            <p:cNvPr id="82" name="Picture 81" descr="chart-column__9CC3E0.png"/>
            <p:cNvPicPr>
              <a:picLocks noChangeAspect="1"/>
            </p:cNvPicPr>
            <p:nvPr/>
          </p:nvPicPr>
          <p:blipFill>
            <a:blip r:embed="rId15"/>
            <a:stretch>
              <a:fillRect/>
            </a:stretch>
          </p:blipFill>
          <p:spPr>
            <a:xfrm>
              <a:off x="11032236" y="459486"/>
              <a:ext cx="128778" cy="128778"/>
            </a:xfrm>
            <a:prstGeom prst="rect">
              <a:avLst/>
            </a:prstGeom>
          </p:spPr>
        </p:pic>
      </p:grpSp>
      <p:grpSp>
        <p:nvGrpSpPr>
          <p:cNvPr id="83" name="Kapitel 06"/>
          <p:cNvGrpSpPr/>
          <p:nvPr/>
        </p:nvGrpSpPr>
        <p:grpSpPr>
          <a:xfrm>
            <a:off x="11265694" y="407194"/>
            <a:ext cx="233362" cy="233362"/>
            <a:chOff x="11265694" y="407194"/>
            <a:chExt cx="233362" cy="233362"/>
          </a:xfrm>
        </p:grpSpPr>
        <p:sp>
          <p:nvSpPr>
            <p:cNvPr id="84" name="Oval 83"/>
            <p:cNvSpPr/>
            <p:nvPr/>
          </p:nvSpPr>
          <p:spPr>
            <a:xfrm>
              <a:off x="11265694" y="407194"/>
              <a:ext cx="233362" cy="233362"/>
            </a:xfrm>
            <a:prstGeom prst="ellipse">
              <a:avLst/>
            </a:prstGeom>
            <a:solidFill>
              <a:srgbClr val="1F4A6A"/>
            </a:solidFill>
            <a:ln w="14287">
              <a:solidFill>
                <a:srgbClr val="426681"/>
              </a:solidFill>
            </a:ln>
            <a:effectLst/>
          </p:spPr>
          <p:txBody>
            <a:bodyPr rtlCol="0" anchor="ctr"/>
            <a:lstStyle/>
            <a:p>
              <a:pPr algn="ctr"/>
            </a:p>
          </p:txBody>
        </p:sp>
        <p:pic>
          <p:nvPicPr>
            <p:cNvPr id="85" name="Picture 84" descr="compass__9CC3E0.png"/>
            <p:cNvPicPr>
              <a:picLocks noChangeAspect="1"/>
            </p:cNvPicPr>
            <p:nvPr/>
          </p:nvPicPr>
          <p:blipFill>
            <a:blip r:embed="rId16"/>
            <a:stretch>
              <a:fillRect/>
            </a:stretch>
          </p:blipFill>
          <p:spPr>
            <a:xfrm>
              <a:off x="11317986" y="459486"/>
              <a:ext cx="128778" cy="128778"/>
            </a:xfrm>
            <a:prstGeom prst="rect">
              <a:avLst/>
            </a:prstGeom>
          </p:spPr>
        </p:pic>
      </p:grpSp>
      <p:cxnSp>
        <p:nvCxnSpPr>
          <p:cNvPr id="86" name="Kapitel-Lücke"/>
          <p:cNvCxnSpPr/>
          <p:nvPr/>
        </p:nvCxnSpPr>
        <p:spPr>
          <a:xfrm>
            <a:off x="10115550" y="523875"/>
            <a:ext cx="76200" cy="0"/>
          </a:xfrm>
          <a:prstGeom prst="line">
            <a:avLst/>
          </a:prstGeom>
          <a:ln w="19050">
            <a:solidFill>
              <a:srgbClr val="3D6A8C"/>
            </a:solidFill>
          </a:ln>
        </p:spPr>
        <p:style>
          <a:lnRef idx="2">
            <a:schemeClr val="accent1"/>
          </a:lnRef>
          <a:fillRef idx="0">
            <a:schemeClr val="accent1"/>
          </a:fillRef>
          <a:effectRef idx="1">
            <a:schemeClr val="accent1"/>
          </a:effectRef>
          <a:fontRef idx="minor">
            <a:schemeClr val="tx1"/>
          </a:fontRef>
        </p:style>
      </p:cxnSp>
      <p:cxnSp>
        <p:nvCxnSpPr>
          <p:cNvPr id="87" name="Kapitel-Lücke"/>
          <p:cNvCxnSpPr/>
          <p:nvPr/>
        </p:nvCxnSpPr>
        <p:spPr>
          <a:xfrm>
            <a:off x="10839450" y="523875"/>
            <a:ext cx="76200" cy="0"/>
          </a:xfrm>
          <a:prstGeom prst="line">
            <a:avLst/>
          </a:prstGeom>
          <a:ln w="19050">
            <a:solidFill>
              <a:srgbClr val="3D6A8C"/>
            </a:solidFill>
          </a:ln>
        </p:spPr>
        <p:style>
          <a:lnRef idx="2">
            <a:schemeClr val="accent1"/>
          </a:lnRef>
          <a:fillRef idx="0">
            <a:schemeClr val="accent1"/>
          </a:fillRef>
          <a:effectRef idx="1">
            <a:schemeClr val="accent1"/>
          </a:effectRef>
          <a:fontRef idx="minor">
            <a:schemeClr val="tx1"/>
          </a:fontRef>
        </p:style>
      </p:cxnSp>
      <p:sp>
        <p:nvSpPr>
          <p:cNvPr id="88" name="Kapitel-Label"/>
          <p:cNvSpPr txBox="1"/>
          <p:nvPr/>
        </p:nvSpPr>
        <p:spPr>
          <a:xfrm>
            <a:off x="6267450" y="428625"/>
            <a:ext cx="3143250" cy="171450"/>
          </a:xfrm>
          <a:prstGeom prst="rect">
            <a:avLst/>
          </a:prstGeom>
          <a:noFill/>
        </p:spPr>
        <p:txBody>
          <a:bodyPr wrap="none" lIns="0" rIns="0" tIns="0" bIns="0" anchor="t">
            <a:noAutofit/>
          </a:bodyPr>
          <a:lstStyle/>
          <a:p>
            <a:pPr algn="r">
              <a:lnSpc>
                <a:spcPts val="1350"/>
              </a:lnSpc>
            </a:pPr>
            <a:r>
              <a:rPr sz="1050" b="1" i="0" lang="de-DE">
                <a:solidFill>
                  <a:srgbClr val="6CC0D2"/>
                </a:solidFill>
                <a:latin typeface="IBM Plex Sans"/>
              </a:rPr>
              <a:t>04 · Methodik und Modell · Kiko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0718E"/>
            </a:solidFill>
            <a:ln>
              <a:noFill/>
            </a:ln>
            <a:effectLst/>
          </p:spPr>
          <p:txBody>
            <a:bodyPr rtlCol="0" anchor="ctr"/>
            <a:lstStyle/>
            <a:p>
              <a:pPr algn="ctr"/>
            </a:p>
          </p:txBody>
        </p:sp>
        <p:pic>
          <p:nvPicPr>
            <p:cNvPr id="4" name="Picture 3" descr="clipboard-list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733425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Wie viele Fälle landen auf dem Prüftisch?</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2025: 114 von 8.398 Zähler-Monaten liegen außerhalb</a:t>
            </a:r>
          </a:p>
        </p:txBody>
      </p:sp>
      <p:sp>
        <p:nvSpPr>
          <p:cNvPr id="7" name="Rounded Rectangle 6"/>
          <p:cNvSpPr/>
          <p:nvPr/>
        </p:nvSpPr>
        <p:spPr>
          <a:xfrm>
            <a:off x="685800" y="1362075"/>
            <a:ext cx="4953000" cy="4728210"/>
          </a:xfrm>
          <a:prstGeom prst="roundRect">
            <a:avLst>
              <a:gd name="adj" fmla="val 2014"/>
            </a:avLst>
          </a:prstGeom>
          <a:solidFill>
            <a:srgbClr val="FFFFFF"/>
          </a:solidFill>
          <a:ln w="9525">
            <a:solidFill>
              <a:srgbClr val="D2DAE2"/>
            </a:solidFill>
          </a:ln>
          <a:effectLst/>
        </p:spPr>
        <p:txBody>
          <a:bodyPr rtlCol="0" anchor="ctr"/>
          <a:lstStyle/>
          <a:p>
            <a:pPr algn="ctr"/>
          </a:p>
        </p:txBody>
      </p:sp>
      <p:sp>
        <p:nvSpPr>
          <p:cNvPr id="20" name="Rounded Rectangle 19"/>
          <p:cNvSpPr/>
          <p:nvPr/>
        </p:nvSpPr>
        <p:spPr>
          <a:xfrm>
            <a:off x="5848350" y="1362075"/>
            <a:ext cx="5657850" cy="948690"/>
          </a:xfrm>
          <a:prstGeom prst="roundRect">
            <a:avLst>
              <a:gd name="adj" fmla="val 10040"/>
            </a:avLst>
          </a:prstGeom>
          <a:solidFill>
            <a:srgbClr val="063659"/>
          </a:solidFill>
          <a:ln>
            <a:noFill/>
          </a:ln>
          <a:effectLst/>
        </p:spPr>
        <p:txBody>
          <a:bodyPr rtlCol="0" anchor="ctr"/>
          <a:lstStyle/>
          <a:p>
            <a:pPr algn="ctr"/>
          </a:p>
        </p:txBody>
      </p:sp>
      <p:grpSp>
        <p:nvGrpSpPr>
          <p:cNvPr id="21" name="Zählwerk 9,5"/>
          <p:cNvGrpSpPr/>
          <p:nvPr/>
        </p:nvGrpSpPr>
        <p:grpSpPr>
          <a:xfrm>
            <a:off x="5956249" y="1526858"/>
            <a:ext cx="1199998" cy="618744"/>
            <a:chOff x="5956249" y="1526858"/>
            <a:chExt cx="1199998" cy="618744"/>
          </a:xfrm>
        </p:grpSpPr>
        <p:sp>
          <p:nvSpPr>
            <p:cNvPr id="22" name="Rounded Rectangle 21"/>
            <p:cNvSpPr/>
            <p:nvPr/>
          </p:nvSpPr>
          <p:spPr>
            <a:xfrm>
              <a:off x="6038850" y="1526858"/>
              <a:ext cx="394716" cy="618744"/>
            </a:xfrm>
            <a:prstGeom prst="roundRect">
              <a:avLst>
                <a:gd name="adj" fmla="val 16216"/>
              </a:avLst>
            </a:prstGeom>
            <a:solidFill>
              <a:srgbClr val="1F4A6A"/>
            </a:solidFill>
            <a:ln w="9525">
              <a:solidFill>
                <a:srgbClr val="3D627E"/>
              </a:solidFill>
            </a:ln>
            <a:effectLst/>
          </p:spPr>
          <p:txBody>
            <a:bodyPr rtlCol="0" anchor="ctr"/>
            <a:lstStyle/>
            <a:p>
              <a:pPr algn="ctr"/>
            </a:p>
          </p:txBody>
        </p:sp>
        <p:sp>
          <p:nvSpPr>
            <p:cNvPr id="23" name="TextBox 22"/>
            <p:cNvSpPr txBox="1"/>
            <p:nvPr/>
          </p:nvSpPr>
          <p:spPr>
            <a:xfrm>
              <a:off x="5956249" y="1526858"/>
              <a:ext cx="559918" cy="618744"/>
            </a:xfrm>
            <a:prstGeom prst="rect">
              <a:avLst/>
            </a:prstGeom>
            <a:noFill/>
          </p:spPr>
          <p:txBody>
            <a:bodyPr wrap="none" lIns="0" rIns="0" tIns="0" bIns="0" anchor="ctr">
              <a:noAutofit/>
            </a:bodyPr>
            <a:lstStyle/>
            <a:p>
              <a:pPr algn="ctr">
                <a:lnSpc>
                  <a:spcPts val="4200"/>
                </a:lnSpc>
              </a:pPr>
              <a:r>
                <a:rPr sz="4200" b="1" i="0" lang="de-DE">
                  <a:solidFill>
                    <a:srgbClr val="FFFFFF"/>
                  </a:solidFill>
                  <a:latin typeface="Geist Mono"/>
                </a:rPr>
                <a:t>9</a:t>
              </a:r>
            </a:p>
          </p:txBody>
        </p:sp>
        <p:sp>
          <p:nvSpPr>
            <p:cNvPr id="24" name="TextBox 23"/>
            <p:cNvSpPr txBox="1"/>
            <p:nvPr/>
          </p:nvSpPr>
          <p:spPr>
            <a:xfrm>
              <a:off x="6221806" y="1526858"/>
              <a:ext cx="668884" cy="618744"/>
            </a:xfrm>
            <a:prstGeom prst="rect">
              <a:avLst/>
            </a:prstGeom>
            <a:noFill/>
          </p:spPr>
          <p:txBody>
            <a:bodyPr wrap="none" lIns="0" rIns="0" tIns="0" bIns="0" anchor="ctr">
              <a:noAutofit/>
            </a:bodyPr>
            <a:lstStyle/>
            <a:p>
              <a:pPr algn="ctr">
                <a:lnSpc>
                  <a:spcPts val="4200"/>
                </a:lnSpc>
              </a:pPr>
              <a:r>
                <a:rPr sz="4200" b="1" i="0" lang="de-DE">
                  <a:solidFill>
                    <a:srgbClr val="6CC0D2"/>
                  </a:solidFill>
                  <a:latin typeface="Geist Mono"/>
                </a:rPr>
                <a:t>,</a:t>
              </a:r>
            </a:p>
          </p:txBody>
        </p:sp>
        <p:sp>
          <p:nvSpPr>
            <p:cNvPr id="25" name="Rounded Rectangle 24"/>
            <p:cNvSpPr/>
            <p:nvPr/>
          </p:nvSpPr>
          <p:spPr>
            <a:xfrm>
              <a:off x="6678930" y="1526858"/>
              <a:ext cx="394716" cy="618744"/>
            </a:xfrm>
            <a:prstGeom prst="roundRect">
              <a:avLst>
                <a:gd name="adj" fmla="val 16216"/>
              </a:avLst>
            </a:prstGeom>
            <a:solidFill>
              <a:srgbClr val="1F4A6A"/>
            </a:solidFill>
            <a:ln w="9525">
              <a:solidFill>
                <a:srgbClr val="3D627E"/>
              </a:solidFill>
            </a:ln>
            <a:effectLst/>
          </p:spPr>
          <p:txBody>
            <a:bodyPr rtlCol="0" anchor="ctr"/>
            <a:lstStyle/>
            <a:p>
              <a:pPr algn="ctr"/>
            </a:p>
          </p:txBody>
        </p:sp>
        <p:sp>
          <p:nvSpPr>
            <p:cNvPr id="26" name="TextBox 25"/>
            <p:cNvSpPr txBox="1"/>
            <p:nvPr/>
          </p:nvSpPr>
          <p:spPr>
            <a:xfrm>
              <a:off x="6596329" y="1526858"/>
              <a:ext cx="559918" cy="618744"/>
            </a:xfrm>
            <a:prstGeom prst="rect">
              <a:avLst/>
            </a:prstGeom>
            <a:noFill/>
          </p:spPr>
          <p:txBody>
            <a:bodyPr wrap="none" lIns="0" rIns="0" tIns="0" bIns="0" anchor="ctr">
              <a:noAutofit/>
            </a:bodyPr>
            <a:lstStyle/>
            <a:p>
              <a:pPr algn="ctr">
                <a:lnSpc>
                  <a:spcPts val="4200"/>
                </a:lnSpc>
              </a:pPr>
              <a:r>
                <a:rPr sz="4200" b="1" i="0" lang="de-DE">
                  <a:solidFill>
                    <a:srgbClr val="FFFFFF"/>
                  </a:solidFill>
                  <a:latin typeface="Geist Mono"/>
                </a:rPr>
                <a:t>5</a:t>
              </a:r>
            </a:p>
          </p:txBody>
        </p:sp>
      </p:grpSp>
      <p:sp>
        <p:nvSpPr>
          <p:cNvPr id="27" name="TextBox 26"/>
          <p:cNvSpPr txBox="1"/>
          <p:nvPr/>
        </p:nvSpPr>
        <p:spPr>
          <a:xfrm>
            <a:off x="7244715" y="1514475"/>
            <a:ext cx="4191000" cy="219075"/>
          </a:xfrm>
          <a:prstGeom prst="rect">
            <a:avLst/>
          </a:prstGeom>
          <a:noFill/>
        </p:spPr>
        <p:txBody>
          <a:bodyPr wrap="square" lIns="0" rIns="0" tIns="0" bIns="0" anchor="t">
            <a:noAutofit/>
          </a:bodyPr>
          <a:lstStyle/>
          <a:p>
            <a:pPr algn="l">
              <a:lnSpc>
                <a:spcPts val="1725"/>
              </a:lnSpc>
            </a:pPr>
            <a:r>
              <a:rPr sz="1350" b="1" i="0" lang="de-DE">
                <a:solidFill>
                  <a:srgbClr val="FFFFFF"/>
                </a:solidFill>
                <a:latin typeface="IBM Plex Sans"/>
              </a:rPr>
              <a:t>Prüfhinweise je Monat</a:t>
            </a:r>
          </a:p>
        </p:txBody>
      </p:sp>
      <p:sp>
        <p:nvSpPr>
          <p:cNvPr id="28" name="TextBox 27"/>
          <p:cNvSpPr txBox="1"/>
          <p:nvPr/>
        </p:nvSpPr>
        <p:spPr>
          <a:xfrm>
            <a:off x="7244715" y="1771650"/>
            <a:ext cx="4191000" cy="390525"/>
          </a:xfrm>
          <a:prstGeom prst="rect">
            <a:avLst/>
          </a:prstGeom>
          <a:noFill/>
        </p:spPr>
        <p:txBody>
          <a:bodyPr wrap="square" lIns="0" rIns="0" tIns="0" bIns="0" anchor="t">
            <a:noAutofit/>
          </a:bodyPr>
          <a:lstStyle/>
          <a:p>
            <a:pPr algn="l">
              <a:lnSpc>
                <a:spcPts val="1522"/>
              </a:lnSpc>
            </a:pPr>
            <a:r>
              <a:rPr sz="1087" b="0" i="0" lang="de-DE">
                <a:solidFill>
                  <a:srgbClr val="BBD7EA"/>
                </a:solidFill>
                <a:latin typeface="IBM Plex Sans"/>
              </a:rPr>
              <a:t>rund 2 pro Woche · 114 Hinweise (1,36 %) bei 107 Zählern</a:t>
            </a:r>
          </a:p>
          <a:p>
            <a:pPr algn="l">
              <a:lnSpc>
                <a:spcPts val="1522"/>
              </a:lnSpc>
            </a:pPr>
            <a:r>
              <a:rPr sz="1087" b="0" i="0" lang="de-DE">
                <a:solidFill>
                  <a:srgbClr val="BBD7EA"/>
                </a:solidFill>
                <a:latin typeface="IBM Plex Sans"/>
              </a:rPr>
              <a:t>68 ungewöhnlich hoch ↑ · 46 ungewöhnlich niedrig ↓</a:t>
            </a:r>
          </a:p>
        </p:txBody>
      </p:sp>
      <p:sp>
        <p:nvSpPr>
          <p:cNvPr id="29" name="Rounded Rectangle 28"/>
          <p:cNvSpPr/>
          <p:nvPr/>
        </p:nvSpPr>
        <p:spPr>
          <a:xfrm>
            <a:off x="5848350" y="2425065"/>
            <a:ext cx="5657850" cy="2005965"/>
          </a:xfrm>
          <a:prstGeom prst="roundRect">
            <a:avLst>
              <a:gd name="adj" fmla="val 4748"/>
            </a:avLst>
          </a:prstGeom>
          <a:solidFill>
            <a:srgbClr val="F7F9FB"/>
          </a:solidFill>
          <a:ln w="9525">
            <a:solidFill>
              <a:srgbClr val="D2DAE2"/>
            </a:solidFill>
          </a:ln>
          <a:effectLst/>
        </p:spPr>
        <p:txBody>
          <a:bodyPr rtlCol="0" anchor="ctr"/>
          <a:lstStyle/>
          <a:p>
            <a:pPr algn="ctr"/>
          </a:p>
        </p:txBody>
      </p:sp>
      <p:sp>
        <p:nvSpPr>
          <p:cNvPr id="30" name="TextBox 29"/>
          <p:cNvSpPr txBox="1"/>
          <p:nvPr/>
        </p:nvSpPr>
        <p:spPr>
          <a:xfrm>
            <a:off x="6010275" y="2548890"/>
            <a:ext cx="5867400" cy="161925"/>
          </a:xfrm>
          <a:prstGeom prst="rect">
            <a:avLst/>
          </a:prstGeom>
          <a:noFill/>
        </p:spPr>
        <p:txBody>
          <a:bodyPr wrap="none" lIns="0" rIns="0" tIns="0" bIns="0" anchor="t">
            <a:noAutofit/>
          </a:bodyPr>
          <a:lstStyle/>
          <a:p>
            <a:pPr algn="l">
              <a:lnSpc>
                <a:spcPts val="1275"/>
              </a:lnSpc>
            </a:pPr>
            <a:r>
              <a:rPr sz="975" b="1" i="0" lang="de-DE" spc="78">
                <a:solidFill>
                  <a:srgbClr val="00718E"/>
                </a:solidFill>
                <a:latin typeface="IBM Plex Sans"/>
              </a:rPr>
              <a:t>SENSITIVITÄT · HINWEISE JE MONAT 2025</a:t>
            </a:r>
          </a:p>
        </p:txBody>
      </p:sp>
      <p:sp>
        <p:nvSpPr>
          <p:cNvPr id="31" name="Rounded Rectangle 30"/>
          <p:cNvSpPr/>
          <p:nvPr/>
        </p:nvSpPr>
        <p:spPr>
          <a:xfrm>
            <a:off x="6010275" y="2787015"/>
            <a:ext cx="1262062" cy="762000"/>
          </a:xfrm>
          <a:prstGeom prst="roundRect">
            <a:avLst>
              <a:gd name="adj" fmla="val 12500"/>
            </a:avLst>
          </a:prstGeom>
          <a:solidFill>
            <a:srgbClr val="FFFFFF"/>
          </a:solidFill>
          <a:ln w="9525">
            <a:solidFill>
              <a:srgbClr val="D2DAE2"/>
            </a:solidFill>
          </a:ln>
          <a:effectLst/>
        </p:spPr>
        <p:txBody>
          <a:bodyPr rtlCol="0" anchor="ctr"/>
          <a:lstStyle/>
          <a:p>
            <a:pPr algn="ctr"/>
          </a:p>
        </p:txBody>
      </p:sp>
      <p:sp>
        <p:nvSpPr>
          <p:cNvPr id="32" name="TextBox 31"/>
          <p:cNvSpPr txBox="1"/>
          <p:nvPr/>
        </p:nvSpPr>
        <p:spPr>
          <a:xfrm>
            <a:off x="6134100" y="2863215"/>
            <a:ext cx="1047750" cy="171450"/>
          </a:xfrm>
          <a:prstGeom prst="rect">
            <a:avLst/>
          </a:prstGeom>
          <a:noFill/>
        </p:spPr>
        <p:txBody>
          <a:bodyPr wrap="square" lIns="0" rIns="0" tIns="0" bIns="0" anchor="t">
            <a:noAutofit/>
          </a:bodyPr>
          <a:lstStyle/>
          <a:p>
            <a:pPr algn="l">
              <a:lnSpc>
                <a:spcPts val="1350"/>
              </a:lnSpc>
            </a:pPr>
            <a:r>
              <a:rPr sz="1050" b="0" i="0" lang="de-DE">
                <a:solidFill>
                  <a:srgbClr val="4E5A68"/>
                </a:solidFill>
                <a:latin typeface="Geist Mono"/>
              </a:rPr>
              <a:t>q95</a:t>
            </a:r>
          </a:p>
        </p:txBody>
      </p:sp>
      <p:sp>
        <p:nvSpPr>
          <p:cNvPr id="33" name="TextBox 32"/>
          <p:cNvSpPr txBox="1"/>
          <p:nvPr/>
        </p:nvSpPr>
        <p:spPr>
          <a:xfrm>
            <a:off x="6134100" y="3034665"/>
            <a:ext cx="1047750" cy="266700"/>
          </a:xfrm>
          <a:prstGeom prst="rect">
            <a:avLst/>
          </a:prstGeom>
          <a:noFill/>
        </p:spPr>
        <p:txBody>
          <a:bodyPr wrap="square" lIns="0" rIns="0" tIns="0" bIns="0" anchor="t">
            <a:noAutofit/>
          </a:bodyPr>
          <a:lstStyle/>
          <a:p>
            <a:pPr algn="l">
              <a:lnSpc>
                <a:spcPts val="2100"/>
              </a:lnSpc>
            </a:pPr>
            <a:r>
              <a:rPr sz="1650" b="1" i="0" lang="de-DE">
                <a:solidFill>
                  <a:srgbClr val="141A21"/>
                </a:solidFill>
                <a:latin typeface="Geist Mono"/>
              </a:rPr>
              <a:t>33,3</a:t>
            </a:r>
          </a:p>
        </p:txBody>
      </p:sp>
      <p:sp>
        <p:nvSpPr>
          <p:cNvPr id="34" name="TextBox 33"/>
          <p:cNvSpPr txBox="1"/>
          <p:nvPr/>
        </p:nvSpPr>
        <p:spPr>
          <a:xfrm>
            <a:off x="6134100" y="3301365"/>
            <a:ext cx="1047750" cy="171450"/>
          </a:xfrm>
          <a:prstGeom prst="rect">
            <a:avLst/>
          </a:prstGeom>
          <a:noFill/>
        </p:spPr>
        <p:txBody>
          <a:bodyPr wrap="square" lIns="0" rIns="0" tIns="0" bIns="0" anchor="t">
            <a:noAutofit/>
          </a:bodyPr>
          <a:lstStyle/>
          <a:p>
            <a:pPr algn="l">
              <a:lnSpc>
                <a:spcPts val="1350"/>
              </a:lnSpc>
            </a:pPr>
            <a:r>
              <a:rPr sz="1012" b="0" i="0" lang="de-DE">
                <a:solidFill>
                  <a:srgbClr val="657383"/>
                </a:solidFill>
                <a:latin typeface="IBM Plex Sans"/>
              </a:rPr>
              <a:t>je Monat</a:t>
            </a:r>
          </a:p>
        </p:txBody>
      </p:sp>
      <p:sp>
        <p:nvSpPr>
          <p:cNvPr id="35" name="Rounded Rectangle 34"/>
          <p:cNvSpPr/>
          <p:nvPr/>
        </p:nvSpPr>
        <p:spPr>
          <a:xfrm>
            <a:off x="7367588" y="2787015"/>
            <a:ext cx="1262062" cy="762000"/>
          </a:xfrm>
          <a:prstGeom prst="roundRect">
            <a:avLst>
              <a:gd name="adj" fmla="val 12500"/>
            </a:avLst>
          </a:prstGeom>
          <a:solidFill>
            <a:srgbClr val="FFFFFF"/>
          </a:solidFill>
          <a:ln w="9525">
            <a:solidFill>
              <a:srgbClr val="D2DAE2"/>
            </a:solidFill>
          </a:ln>
          <a:effectLst/>
        </p:spPr>
        <p:txBody>
          <a:bodyPr rtlCol="0" anchor="ctr"/>
          <a:lstStyle/>
          <a:p>
            <a:pPr algn="ctr"/>
          </a:p>
        </p:txBody>
      </p:sp>
      <p:sp>
        <p:nvSpPr>
          <p:cNvPr id="36" name="TextBox 35"/>
          <p:cNvSpPr txBox="1"/>
          <p:nvPr/>
        </p:nvSpPr>
        <p:spPr>
          <a:xfrm>
            <a:off x="7491412" y="2863215"/>
            <a:ext cx="1047750" cy="171450"/>
          </a:xfrm>
          <a:prstGeom prst="rect">
            <a:avLst/>
          </a:prstGeom>
          <a:noFill/>
        </p:spPr>
        <p:txBody>
          <a:bodyPr wrap="square" lIns="0" rIns="0" tIns="0" bIns="0" anchor="t">
            <a:noAutofit/>
          </a:bodyPr>
          <a:lstStyle/>
          <a:p>
            <a:pPr algn="l">
              <a:lnSpc>
                <a:spcPts val="1350"/>
              </a:lnSpc>
            </a:pPr>
            <a:r>
              <a:rPr sz="1050" b="0" i="0" lang="de-DE">
                <a:solidFill>
                  <a:srgbClr val="4E5A68"/>
                </a:solidFill>
                <a:latin typeface="Geist Mono"/>
              </a:rPr>
              <a:t>q97,5</a:t>
            </a:r>
          </a:p>
        </p:txBody>
      </p:sp>
      <p:sp>
        <p:nvSpPr>
          <p:cNvPr id="37" name="TextBox 36"/>
          <p:cNvSpPr txBox="1"/>
          <p:nvPr/>
        </p:nvSpPr>
        <p:spPr>
          <a:xfrm>
            <a:off x="7491412" y="3034665"/>
            <a:ext cx="1047750" cy="266700"/>
          </a:xfrm>
          <a:prstGeom prst="rect">
            <a:avLst/>
          </a:prstGeom>
          <a:noFill/>
        </p:spPr>
        <p:txBody>
          <a:bodyPr wrap="square" lIns="0" rIns="0" tIns="0" bIns="0" anchor="t">
            <a:noAutofit/>
          </a:bodyPr>
          <a:lstStyle/>
          <a:p>
            <a:pPr algn="l">
              <a:lnSpc>
                <a:spcPts val="2100"/>
              </a:lnSpc>
            </a:pPr>
            <a:r>
              <a:rPr sz="1650" b="1" i="0" lang="de-DE">
                <a:solidFill>
                  <a:srgbClr val="141A21"/>
                </a:solidFill>
                <a:latin typeface="Geist Mono"/>
              </a:rPr>
              <a:t>21,3</a:t>
            </a:r>
          </a:p>
        </p:txBody>
      </p:sp>
      <p:sp>
        <p:nvSpPr>
          <p:cNvPr id="38" name="TextBox 37"/>
          <p:cNvSpPr txBox="1"/>
          <p:nvPr/>
        </p:nvSpPr>
        <p:spPr>
          <a:xfrm>
            <a:off x="7491412" y="3301365"/>
            <a:ext cx="1047750" cy="171450"/>
          </a:xfrm>
          <a:prstGeom prst="rect">
            <a:avLst/>
          </a:prstGeom>
          <a:noFill/>
        </p:spPr>
        <p:txBody>
          <a:bodyPr wrap="square" lIns="0" rIns="0" tIns="0" bIns="0" anchor="t">
            <a:noAutofit/>
          </a:bodyPr>
          <a:lstStyle/>
          <a:p>
            <a:pPr algn="l">
              <a:lnSpc>
                <a:spcPts val="1350"/>
              </a:lnSpc>
            </a:pPr>
            <a:r>
              <a:rPr sz="1012" b="0" i="0" lang="de-DE">
                <a:solidFill>
                  <a:srgbClr val="657383"/>
                </a:solidFill>
                <a:latin typeface="IBM Plex Sans"/>
              </a:rPr>
              <a:t>je Monat</a:t>
            </a:r>
          </a:p>
        </p:txBody>
      </p:sp>
      <p:sp>
        <p:nvSpPr>
          <p:cNvPr id="39" name="Rounded Rectangle 38"/>
          <p:cNvSpPr/>
          <p:nvPr/>
        </p:nvSpPr>
        <p:spPr>
          <a:xfrm>
            <a:off x="8724900" y="2787015"/>
            <a:ext cx="1262062" cy="762000"/>
          </a:xfrm>
          <a:prstGeom prst="roundRect">
            <a:avLst>
              <a:gd name="adj" fmla="val 12500"/>
            </a:avLst>
          </a:prstGeom>
          <a:solidFill>
            <a:srgbClr val="063659"/>
          </a:solidFill>
          <a:ln w="9525">
            <a:solidFill>
              <a:srgbClr val="04263F"/>
            </a:solidFill>
          </a:ln>
          <a:effectLst/>
        </p:spPr>
        <p:txBody>
          <a:bodyPr rtlCol="0" anchor="ctr"/>
          <a:lstStyle/>
          <a:p>
            <a:pPr algn="ctr"/>
          </a:p>
        </p:txBody>
      </p:sp>
      <p:sp>
        <p:nvSpPr>
          <p:cNvPr id="40" name="TextBox 39"/>
          <p:cNvSpPr txBox="1"/>
          <p:nvPr/>
        </p:nvSpPr>
        <p:spPr>
          <a:xfrm>
            <a:off x="8848725" y="2863215"/>
            <a:ext cx="1047750" cy="171450"/>
          </a:xfrm>
          <a:prstGeom prst="rect">
            <a:avLst/>
          </a:prstGeom>
          <a:noFill/>
        </p:spPr>
        <p:txBody>
          <a:bodyPr wrap="square" lIns="0" rIns="0" tIns="0" bIns="0" anchor="t">
            <a:noAutofit/>
          </a:bodyPr>
          <a:lstStyle/>
          <a:p>
            <a:pPr algn="l">
              <a:lnSpc>
                <a:spcPts val="1350"/>
              </a:lnSpc>
            </a:pPr>
            <a:r>
              <a:rPr sz="1050" b="0" i="0" lang="de-DE">
                <a:solidFill>
                  <a:srgbClr val="BBD7EA"/>
                </a:solidFill>
                <a:latin typeface="Geist Mono"/>
              </a:rPr>
              <a:t>q99</a:t>
            </a:r>
          </a:p>
        </p:txBody>
      </p:sp>
      <p:sp>
        <p:nvSpPr>
          <p:cNvPr id="41" name="TextBox 40"/>
          <p:cNvSpPr txBox="1"/>
          <p:nvPr/>
        </p:nvSpPr>
        <p:spPr>
          <a:xfrm>
            <a:off x="8848725" y="3034665"/>
            <a:ext cx="1047750" cy="266700"/>
          </a:xfrm>
          <a:prstGeom prst="rect">
            <a:avLst/>
          </a:prstGeom>
          <a:noFill/>
        </p:spPr>
        <p:txBody>
          <a:bodyPr wrap="square" lIns="0" rIns="0" tIns="0" bIns="0" anchor="t">
            <a:noAutofit/>
          </a:bodyPr>
          <a:lstStyle/>
          <a:p>
            <a:pPr algn="l">
              <a:lnSpc>
                <a:spcPts val="2100"/>
              </a:lnSpc>
            </a:pPr>
            <a:r>
              <a:rPr sz="1650" b="1" i="0" lang="de-DE">
                <a:solidFill>
                  <a:srgbClr val="FFFFFF"/>
                </a:solidFill>
                <a:latin typeface="Geist Mono"/>
              </a:rPr>
              <a:t>9,5</a:t>
            </a:r>
          </a:p>
        </p:txBody>
      </p:sp>
      <p:sp>
        <p:nvSpPr>
          <p:cNvPr id="42" name="TextBox 41"/>
          <p:cNvSpPr txBox="1"/>
          <p:nvPr/>
        </p:nvSpPr>
        <p:spPr>
          <a:xfrm>
            <a:off x="8848725" y="3301365"/>
            <a:ext cx="1047750" cy="171450"/>
          </a:xfrm>
          <a:prstGeom prst="rect">
            <a:avLst/>
          </a:prstGeom>
          <a:noFill/>
        </p:spPr>
        <p:txBody>
          <a:bodyPr wrap="square" lIns="0" rIns="0" tIns="0" bIns="0" anchor="t">
            <a:noAutofit/>
          </a:bodyPr>
          <a:lstStyle/>
          <a:p>
            <a:pPr algn="l">
              <a:lnSpc>
                <a:spcPts val="1350"/>
              </a:lnSpc>
            </a:pPr>
            <a:r>
              <a:rPr sz="1012" b="0" i="0" lang="de-DE">
                <a:solidFill>
                  <a:srgbClr val="BBD7EA"/>
                </a:solidFill>
                <a:latin typeface="IBM Plex Sans"/>
              </a:rPr>
              <a:t>je Monat</a:t>
            </a:r>
          </a:p>
        </p:txBody>
      </p:sp>
      <p:sp>
        <p:nvSpPr>
          <p:cNvPr id="43" name="Rounded Rectangle 42"/>
          <p:cNvSpPr/>
          <p:nvPr/>
        </p:nvSpPr>
        <p:spPr>
          <a:xfrm>
            <a:off x="10082212" y="2787015"/>
            <a:ext cx="1262062" cy="762000"/>
          </a:xfrm>
          <a:prstGeom prst="roundRect">
            <a:avLst>
              <a:gd name="adj" fmla="val 12500"/>
            </a:avLst>
          </a:prstGeom>
          <a:solidFill>
            <a:srgbClr val="FFFFFF"/>
          </a:solidFill>
          <a:ln w="9525">
            <a:solidFill>
              <a:srgbClr val="D2DAE2"/>
            </a:solidFill>
          </a:ln>
          <a:effectLst/>
        </p:spPr>
        <p:txBody>
          <a:bodyPr rtlCol="0" anchor="ctr"/>
          <a:lstStyle/>
          <a:p>
            <a:pPr algn="ctr"/>
          </a:p>
        </p:txBody>
      </p:sp>
      <p:sp>
        <p:nvSpPr>
          <p:cNvPr id="44" name="TextBox 43"/>
          <p:cNvSpPr txBox="1"/>
          <p:nvPr/>
        </p:nvSpPr>
        <p:spPr>
          <a:xfrm>
            <a:off x="10206038" y="2863215"/>
            <a:ext cx="1047750" cy="171450"/>
          </a:xfrm>
          <a:prstGeom prst="rect">
            <a:avLst/>
          </a:prstGeom>
          <a:noFill/>
        </p:spPr>
        <p:txBody>
          <a:bodyPr wrap="square" lIns="0" rIns="0" tIns="0" bIns="0" anchor="t">
            <a:noAutofit/>
          </a:bodyPr>
          <a:lstStyle/>
          <a:p>
            <a:pPr algn="l">
              <a:lnSpc>
                <a:spcPts val="1350"/>
              </a:lnSpc>
            </a:pPr>
            <a:r>
              <a:rPr sz="1050" b="0" i="0" lang="de-DE">
                <a:solidFill>
                  <a:srgbClr val="4E5A68"/>
                </a:solidFill>
                <a:latin typeface="Geist Mono"/>
              </a:rPr>
              <a:t>q99,5</a:t>
            </a:r>
          </a:p>
        </p:txBody>
      </p:sp>
      <p:sp>
        <p:nvSpPr>
          <p:cNvPr id="45" name="TextBox 44"/>
          <p:cNvSpPr txBox="1"/>
          <p:nvPr/>
        </p:nvSpPr>
        <p:spPr>
          <a:xfrm>
            <a:off x="10206038" y="3034665"/>
            <a:ext cx="1047750" cy="266700"/>
          </a:xfrm>
          <a:prstGeom prst="rect">
            <a:avLst/>
          </a:prstGeom>
          <a:noFill/>
        </p:spPr>
        <p:txBody>
          <a:bodyPr wrap="square" lIns="0" rIns="0" tIns="0" bIns="0" anchor="t">
            <a:noAutofit/>
          </a:bodyPr>
          <a:lstStyle/>
          <a:p>
            <a:pPr algn="l">
              <a:lnSpc>
                <a:spcPts val="2100"/>
              </a:lnSpc>
            </a:pPr>
            <a:r>
              <a:rPr sz="1650" b="1" i="0" lang="de-DE">
                <a:solidFill>
                  <a:srgbClr val="141A21"/>
                </a:solidFill>
                <a:latin typeface="Geist Mono"/>
              </a:rPr>
              <a:t>5,8</a:t>
            </a:r>
          </a:p>
        </p:txBody>
      </p:sp>
      <p:sp>
        <p:nvSpPr>
          <p:cNvPr id="46" name="TextBox 45"/>
          <p:cNvSpPr txBox="1"/>
          <p:nvPr/>
        </p:nvSpPr>
        <p:spPr>
          <a:xfrm>
            <a:off x="10206038" y="3301365"/>
            <a:ext cx="1047750" cy="171450"/>
          </a:xfrm>
          <a:prstGeom prst="rect">
            <a:avLst/>
          </a:prstGeom>
          <a:noFill/>
        </p:spPr>
        <p:txBody>
          <a:bodyPr wrap="square" lIns="0" rIns="0" tIns="0" bIns="0" anchor="t">
            <a:noAutofit/>
          </a:bodyPr>
          <a:lstStyle/>
          <a:p>
            <a:pPr algn="l">
              <a:lnSpc>
                <a:spcPts val="1350"/>
              </a:lnSpc>
            </a:pPr>
            <a:r>
              <a:rPr sz="1012" b="0" i="0" lang="de-DE">
                <a:solidFill>
                  <a:srgbClr val="657383"/>
                </a:solidFill>
                <a:latin typeface="IBM Plex Sans"/>
              </a:rPr>
              <a:t>je Monat</a:t>
            </a:r>
          </a:p>
        </p:txBody>
      </p:sp>
      <p:cxnSp>
        <p:nvCxnSpPr>
          <p:cNvPr id="47" name="Connector 46"/>
          <p:cNvCxnSpPr/>
          <p:nvPr/>
        </p:nvCxnSpPr>
        <p:spPr>
          <a:xfrm>
            <a:off x="6010275" y="3629978"/>
            <a:ext cx="5334000" cy="0"/>
          </a:xfrm>
          <a:prstGeom prst="line">
            <a:avLst/>
          </a:prstGeom>
          <a:ln w="9525">
            <a:solidFill>
              <a:srgbClr val="B4BFCB"/>
            </a:solidFill>
            <a:prstDash val="dash"/>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010275" y="3691890"/>
            <a:ext cx="2933700" cy="171450"/>
          </a:xfrm>
          <a:prstGeom prst="rect">
            <a:avLst/>
          </a:prstGeom>
          <a:noFill/>
        </p:spPr>
        <p:txBody>
          <a:bodyPr wrap="none" lIns="0" rIns="0" tIns="0" bIns="0" anchor="t">
            <a:noAutofit/>
          </a:bodyPr>
          <a:lstStyle/>
          <a:p>
            <a:pPr algn="l">
              <a:lnSpc>
                <a:spcPts val="1350"/>
              </a:lnSpc>
            </a:pPr>
            <a:r>
              <a:rPr sz="1012" b="0" i="0" lang="de-DE">
                <a:solidFill>
                  <a:srgbClr val="657383"/>
                </a:solidFill>
                <a:latin typeface="IBM Plex Sans"/>
              </a:rPr>
              <a:t>← mehr Fehlalarme, weniger übersehen</a:t>
            </a:r>
          </a:p>
        </p:txBody>
      </p:sp>
      <p:sp>
        <p:nvSpPr>
          <p:cNvPr id="49" name="TextBox 48"/>
          <p:cNvSpPr txBox="1"/>
          <p:nvPr/>
        </p:nvSpPr>
        <p:spPr>
          <a:xfrm>
            <a:off x="8410575" y="3691890"/>
            <a:ext cx="2933700" cy="171450"/>
          </a:xfrm>
          <a:prstGeom prst="rect">
            <a:avLst/>
          </a:prstGeom>
          <a:noFill/>
        </p:spPr>
        <p:txBody>
          <a:bodyPr wrap="none" lIns="0" rIns="0" tIns="0" bIns="0" anchor="t">
            <a:noAutofit/>
          </a:bodyPr>
          <a:lstStyle/>
          <a:p>
            <a:pPr algn="r">
              <a:lnSpc>
                <a:spcPts val="1350"/>
              </a:lnSpc>
            </a:pPr>
            <a:r>
              <a:rPr sz="1012" b="0" i="0" lang="de-DE">
                <a:solidFill>
                  <a:srgbClr val="657383"/>
                </a:solidFill>
                <a:latin typeface="IBM Plex Sans"/>
              </a:rPr>
              <a:t>weniger Fehlalarme, mehr übersehen →</a:t>
            </a:r>
          </a:p>
        </p:txBody>
      </p:sp>
      <p:sp>
        <p:nvSpPr>
          <p:cNvPr id="50" name="TextBox 49"/>
          <p:cNvSpPr txBox="1"/>
          <p:nvPr/>
        </p:nvSpPr>
        <p:spPr>
          <a:xfrm>
            <a:off x="6010275" y="3920490"/>
            <a:ext cx="5381625" cy="390525"/>
          </a:xfrm>
          <a:prstGeom prst="rect">
            <a:avLst/>
          </a:prstGeom>
          <a:noFill/>
        </p:spPr>
        <p:txBody>
          <a:bodyPr wrap="square" lIns="0" rIns="0" tIns="0" bIns="0" anchor="t">
            <a:noAutofit/>
          </a:bodyPr>
          <a:lstStyle/>
          <a:p>
            <a:pPr algn="l">
              <a:lnSpc>
                <a:spcPts val="1522"/>
              </a:lnSpc>
            </a:pPr>
            <a:r>
              <a:rPr sz="1087" b="0" i="0" lang="de-DE">
                <a:solidFill>
                  <a:srgbClr val="4E5A68"/>
                </a:solidFill>
                <a:latin typeface="IBM Plex Sans"/>
              </a:rPr>
              <a:t>q95 hieße 3,5-mal so viele Fälle wie q99. Wie viel geprüft wird, legt der Fachbereich fest.</a:t>
            </a:r>
          </a:p>
        </p:txBody>
      </p:sp>
      <p:sp>
        <p:nvSpPr>
          <p:cNvPr id="51" name="Rounded Rectangle 50"/>
          <p:cNvSpPr/>
          <p:nvPr/>
        </p:nvSpPr>
        <p:spPr>
          <a:xfrm>
            <a:off x="5848350" y="4545330"/>
            <a:ext cx="5657850" cy="519112"/>
          </a:xfrm>
          <a:prstGeom prst="roundRect">
            <a:avLst>
              <a:gd name="adj" fmla="val 50000"/>
            </a:avLst>
          </a:prstGeom>
          <a:solidFill>
            <a:srgbClr val="FFFFFF"/>
          </a:solidFill>
          <a:ln w="9525">
            <a:solidFill>
              <a:srgbClr val="D2DAE2"/>
            </a:solidFill>
          </a:ln>
          <a:effectLst/>
        </p:spPr>
        <p:txBody>
          <a:bodyPr rtlCol="0" anchor="ctr"/>
          <a:lstStyle/>
          <a:p>
            <a:pPr algn="ctr"/>
          </a:p>
        </p:txBody>
      </p:sp>
      <p:grpSp>
        <p:nvGrpSpPr>
          <p:cNvPr id="52" name="Scheibe shield-check"/>
          <p:cNvGrpSpPr/>
          <p:nvPr/>
        </p:nvGrpSpPr>
        <p:grpSpPr>
          <a:xfrm>
            <a:off x="5915025" y="4662011"/>
            <a:ext cx="285750" cy="285750"/>
            <a:chOff x="5915025" y="4662011"/>
            <a:chExt cx="285750" cy="285750"/>
          </a:xfrm>
        </p:grpSpPr>
        <p:sp>
          <p:nvSpPr>
            <p:cNvPr id="53" name="Oval 52"/>
            <p:cNvSpPr/>
            <p:nvPr/>
          </p:nvSpPr>
          <p:spPr>
            <a:xfrm>
              <a:off x="5915025" y="4662011"/>
              <a:ext cx="285750" cy="285750"/>
            </a:xfrm>
            <a:prstGeom prst="ellipse">
              <a:avLst/>
            </a:prstGeom>
            <a:solidFill>
              <a:srgbClr val="2F7A33"/>
            </a:solidFill>
            <a:ln>
              <a:noFill/>
            </a:ln>
            <a:effectLst/>
          </p:spPr>
          <p:txBody>
            <a:bodyPr rtlCol="0" anchor="ctr"/>
            <a:lstStyle/>
            <a:p>
              <a:pPr algn="ctr"/>
            </a:p>
          </p:txBody>
        </p:sp>
        <p:pic>
          <p:nvPicPr>
            <p:cNvPr id="54" name="Picture 53" descr="shield-check__FFFFFF.png"/>
            <p:cNvPicPr>
              <a:picLocks noChangeAspect="1"/>
            </p:cNvPicPr>
            <p:nvPr/>
          </p:nvPicPr>
          <p:blipFill>
            <a:blip r:embed="rId4"/>
            <a:stretch>
              <a:fillRect/>
            </a:stretch>
          </p:blipFill>
          <p:spPr>
            <a:xfrm>
              <a:off x="5983605" y="4730591"/>
              <a:ext cx="148590" cy="148590"/>
            </a:xfrm>
            <a:prstGeom prst="rect">
              <a:avLst/>
            </a:prstGeom>
          </p:spPr>
        </p:pic>
      </p:grpSp>
      <p:sp>
        <p:nvSpPr>
          <p:cNvPr id="55" name="TextBox 54"/>
          <p:cNvSpPr txBox="1"/>
          <p:nvPr/>
        </p:nvSpPr>
        <p:spPr>
          <a:xfrm>
            <a:off x="6315075" y="4545330"/>
            <a:ext cx="5010150" cy="519112"/>
          </a:xfrm>
          <a:prstGeom prst="rect">
            <a:avLst/>
          </a:prstGeom>
          <a:noFill/>
        </p:spPr>
        <p:txBody>
          <a:bodyPr wrap="square" lIns="0" rIns="0" tIns="0" bIns="0" anchor="ctr">
            <a:noAutofit/>
          </a:bodyPr>
          <a:lstStyle/>
          <a:p>
            <a:pPr algn="l">
              <a:lnSpc>
                <a:spcPts val="1518"/>
              </a:lnSpc>
            </a:pPr>
            <a:r>
              <a:rPr sz="1125" b="0" i="0" lang="de-DE">
                <a:solidFill>
                  <a:srgbClr val="141A21"/>
                </a:solidFill>
                <a:latin typeface="IBM Plex Sans"/>
              </a:rPr>
              <a:t>Plausibilisierung ohne Labels: alle 10 physikalisch unmöglichen Werte 2025 markiert. Sanity Check, kein Qualitätsbeweis.</a:t>
            </a:r>
          </a:p>
        </p:txBody>
      </p:sp>
      <p:cxnSp>
        <p:nvCxnSpPr>
          <p:cNvPr id="56"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57" name="Logo" descr="image.png"/>
          <p:cNvPicPr>
            <a:picLocks noChangeAspect="1"/>
          </p:cNvPicPr>
          <p:nvPr/>
        </p:nvPicPr>
        <p:blipFill>
          <a:blip r:embed="rId5"/>
          <a:stretch>
            <a:fillRect/>
          </a:stretch>
        </p:blipFill>
        <p:spPr>
          <a:xfrm>
            <a:off x="685800" y="6400800"/>
            <a:ext cx="715863" cy="247650"/>
          </a:xfrm>
          <a:prstGeom prst="rect">
            <a:avLst/>
          </a:prstGeom>
        </p:spPr>
      </p:pic>
      <p:sp>
        <p:nvSpPr>
          <p:cNvPr id="58" name="TextBox 57"/>
          <p:cNvSpPr txBox="1"/>
          <p:nvPr/>
        </p:nvSpPr>
        <p:spPr>
          <a:xfrm>
            <a:off x="1554480" y="6429375"/>
            <a:ext cx="289179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59" name="Connector 58"/>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60" name="Scheibe split"/>
          <p:cNvGrpSpPr/>
          <p:nvPr/>
        </p:nvGrpSpPr>
        <p:grpSpPr>
          <a:xfrm>
            <a:off x="4516755" y="6419850"/>
            <a:ext cx="209550" cy="209550"/>
            <a:chOff x="4516755" y="6419850"/>
            <a:chExt cx="209550" cy="209550"/>
          </a:xfrm>
        </p:grpSpPr>
        <p:sp>
          <p:nvSpPr>
            <p:cNvPr id="61" name="Oval 60"/>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62" name="Picture 61" descr="split__FFFFFF.png"/>
            <p:cNvPicPr>
              <a:picLocks noChangeAspect="1"/>
            </p:cNvPicPr>
            <p:nvPr/>
          </p:nvPicPr>
          <p:blipFill>
            <a:blip r:embed="rId6"/>
            <a:stretch>
              <a:fillRect/>
            </a:stretch>
          </p:blipFill>
          <p:spPr>
            <a:xfrm>
              <a:off x="4567047" y="6470142"/>
              <a:ext cx="108966" cy="108966"/>
            </a:xfrm>
            <a:prstGeom prst="rect">
              <a:avLst/>
            </a:prstGeom>
          </p:spPr>
        </p:pic>
      </p:grpSp>
      <p:sp>
        <p:nvSpPr>
          <p:cNvPr id="63" name="TextBox 62"/>
          <p:cNvSpPr txBox="1"/>
          <p:nvPr/>
        </p:nvSpPr>
        <p:spPr>
          <a:xfrm>
            <a:off x="4783455"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07</a:t>
            </a:r>
          </a:p>
        </p:txBody>
      </p:sp>
      <p:sp>
        <p:nvSpPr>
          <p:cNvPr id="64" name="TextBox 63"/>
          <p:cNvSpPr txBox="1"/>
          <p:nvPr/>
        </p:nvSpPr>
        <p:spPr>
          <a:xfrm>
            <a:off x="5000625" y="6438900"/>
            <a:ext cx="1001020"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Entscheidung</a:t>
            </a:r>
          </a:p>
        </p:txBody>
      </p:sp>
      <p:grpSp>
        <p:nvGrpSpPr>
          <p:cNvPr id="65" name="Scheibe target"/>
          <p:cNvGrpSpPr/>
          <p:nvPr/>
        </p:nvGrpSpPr>
        <p:grpSpPr>
          <a:xfrm>
            <a:off x="5936837" y="6426994"/>
            <a:ext cx="195262" cy="195262"/>
            <a:chOff x="5936837" y="6426994"/>
            <a:chExt cx="195262" cy="195262"/>
          </a:xfrm>
        </p:grpSpPr>
        <p:sp>
          <p:nvSpPr>
            <p:cNvPr id="66" name="Oval 65"/>
            <p:cNvSpPr/>
            <p:nvPr/>
          </p:nvSpPr>
          <p:spPr>
            <a:xfrm>
              <a:off x="5936837" y="6426994"/>
              <a:ext cx="195262" cy="195262"/>
            </a:xfrm>
            <a:prstGeom prst="ellipse">
              <a:avLst/>
            </a:prstGeom>
            <a:solidFill>
              <a:srgbClr val="FFFFFF"/>
            </a:solidFill>
            <a:ln w="14287">
              <a:solidFill>
                <a:srgbClr val="B4BFCB"/>
              </a:solidFill>
            </a:ln>
            <a:effectLst/>
          </p:spPr>
          <p:txBody>
            <a:bodyPr rtlCol="0" anchor="ctr"/>
            <a:lstStyle/>
            <a:p>
              <a:pPr algn="ctr"/>
            </a:p>
          </p:txBody>
        </p:sp>
        <p:pic>
          <p:nvPicPr>
            <p:cNvPr id="67" name="Picture 66" descr="target__084878.png"/>
            <p:cNvPicPr>
              <a:picLocks noChangeAspect="1"/>
            </p:cNvPicPr>
            <p:nvPr/>
          </p:nvPicPr>
          <p:blipFill>
            <a:blip r:embed="rId7"/>
            <a:stretch>
              <a:fillRect/>
            </a:stretch>
          </p:blipFill>
          <p:spPr>
            <a:xfrm>
              <a:off x="5979985" y="6470142"/>
              <a:ext cx="108966" cy="108966"/>
            </a:xfrm>
            <a:prstGeom prst="rect">
              <a:avLst/>
            </a:prstGeom>
          </p:spPr>
        </p:pic>
      </p:grpSp>
      <p:sp>
        <p:nvSpPr>
          <p:cNvPr id="68" name="TextBox 67"/>
          <p:cNvSpPr txBox="1"/>
          <p:nvPr/>
        </p:nvSpPr>
        <p:spPr>
          <a:xfrm>
            <a:off x="6196394"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08</a:t>
            </a:r>
          </a:p>
        </p:txBody>
      </p:sp>
      <p:sp>
        <p:nvSpPr>
          <p:cNvPr id="69" name="TextBox 68"/>
          <p:cNvSpPr txBox="1"/>
          <p:nvPr/>
        </p:nvSpPr>
        <p:spPr>
          <a:xfrm>
            <a:off x="6413563" y="6438900"/>
            <a:ext cx="578568"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Impact</a:t>
            </a:r>
          </a:p>
        </p:txBody>
      </p:sp>
      <p:sp>
        <p:nvSpPr>
          <p:cNvPr id="70" name="TextBox 69"/>
          <p:cNvSpPr txBox="1"/>
          <p:nvPr/>
        </p:nvSpPr>
        <p:spPr>
          <a:xfrm>
            <a:off x="9486900" y="6429375"/>
            <a:ext cx="12573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71" name="Seitenzahl"/>
          <p:cNvSpPr txBox="1"/>
          <p:nvPr/>
        </p:nvSpPr>
        <p:spPr>
          <a:xfrm>
            <a:off x="10835640" y="6424612"/>
            <a:ext cx="67056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9 / 11</a:t>
            </a:r>
          </a:p>
        </p:txBody>
      </p:sp>
      <p:pic>
        <p:nvPicPr>
          <p:cNvPr id="72" name="Diagramm s09_svg07.png" descr="s09_svg07.png"/>
          <p:cNvPicPr>
            <a:picLocks noChangeAspect="1"/>
          </p:cNvPicPr>
          <p:nvPr/>
        </p:nvPicPr>
        <p:blipFill>
          <a:blip r:embed="rId8"/>
          <a:stretch>
            <a:fillRect/>
          </a:stretch>
        </p:blipFill>
        <p:spPr>
          <a:xfrm>
            <a:off x="828675" y="1486198"/>
            <a:ext cx="4667250" cy="4480471"/>
          </a:xfrm>
          <a:prstGeom prst="rect">
            <a:avLst/>
          </a:prstGeom>
        </p:spPr>
      </p:pic>
      <p:grpSp>
        <p:nvGrpSpPr>
          <p:cNvPr id="8" name="Kapitel 01"/>
          <p:cNvGrpSpPr/>
          <p:nvPr/>
        </p:nvGrpSpPr>
        <p:grpSpPr>
          <a:xfrm>
            <a:off x="9532144" y="407194"/>
            <a:ext cx="233362" cy="233362"/>
            <a:chOff x="9532144" y="407194"/>
            <a:chExt cx="233362" cy="233362"/>
          </a:xfrm>
        </p:grpSpPr>
        <p:sp>
          <p:nvSpPr>
            <p:cNvPr id="73" name="Oval 72"/>
            <p:cNvSpPr/>
            <p:nvPr/>
          </p:nvSpPr>
          <p:spPr>
            <a:xfrm>
              <a:off x="953214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74" name="Picture 73" descr="building-2__084878.png"/>
            <p:cNvPicPr>
              <a:picLocks noChangeAspect="1"/>
            </p:cNvPicPr>
            <p:nvPr/>
          </p:nvPicPr>
          <p:blipFill>
            <a:blip r:embed="rId9"/>
            <a:stretch>
              <a:fillRect/>
            </a:stretch>
          </p:blipFill>
          <p:spPr>
            <a:xfrm>
              <a:off x="9584436" y="459486"/>
              <a:ext cx="128778" cy="128778"/>
            </a:xfrm>
            <a:prstGeom prst="rect">
              <a:avLst/>
            </a:prstGeom>
          </p:spPr>
        </p:pic>
      </p:grpSp>
      <p:grpSp>
        <p:nvGrpSpPr>
          <p:cNvPr id="9" name="Kapitel 02"/>
          <p:cNvGrpSpPr/>
          <p:nvPr/>
        </p:nvGrpSpPr>
        <p:grpSpPr>
          <a:xfrm>
            <a:off x="9817894" y="407194"/>
            <a:ext cx="233362" cy="233362"/>
            <a:chOff x="9817894" y="407194"/>
            <a:chExt cx="233362" cy="233362"/>
          </a:xfrm>
        </p:grpSpPr>
        <p:sp>
          <p:nvSpPr>
            <p:cNvPr id="75" name="Oval 74"/>
            <p:cNvSpPr/>
            <p:nvPr/>
          </p:nvSpPr>
          <p:spPr>
            <a:xfrm>
              <a:off x="981789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76" name="Picture 75" descr="database__084878.png"/>
            <p:cNvPicPr>
              <a:picLocks noChangeAspect="1"/>
            </p:cNvPicPr>
            <p:nvPr/>
          </p:nvPicPr>
          <p:blipFill>
            <a:blip r:embed="rId10"/>
            <a:stretch>
              <a:fillRect/>
            </a:stretch>
          </p:blipFill>
          <p:spPr>
            <a:xfrm>
              <a:off x="9870186" y="459486"/>
              <a:ext cx="128778" cy="128778"/>
            </a:xfrm>
            <a:prstGeom prst="rect">
              <a:avLst/>
            </a:prstGeom>
          </p:spPr>
        </p:pic>
      </p:grpSp>
      <p:grpSp>
        <p:nvGrpSpPr>
          <p:cNvPr id="10" name="Kapitel 03"/>
          <p:cNvGrpSpPr/>
          <p:nvPr/>
        </p:nvGrpSpPr>
        <p:grpSpPr>
          <a:xfrm>
            <a:off x="10256044" y="407194"/>
            <a:ext cx="233362" cy="233362"/>
            <a:chOff x="10256044" y="407194"/>
            <a:chExt cx="233362" cy="233362"/>
          </a:xfrm>
        </p:grpSpPr>
        <p:sp>
          <p:nvSpPr>
            <p:cNvPr id="77" name="Oval 76"/>
            <p:cNvSpPr/>
            <p:nvPr/>
          </p:nvSpPr>
          <p:spPr>
            <a:xfrm>
              <a:off x="1025604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78" name="Picture 77" descr="layout-grid__084878.png"/>
            <p:cNvPicPr>
              <a:picLocks noChangeAspect="1"/>
            </p:cNvPicPr>
            <p:nvPr/>
          </p:nvPicPr>
          <p:blipFill>
            <a:blip r:embed="rId11"/>
            <a:stretch>
              <a:fillRect/>
            </a:stretch>
          </p:blipFill>
          <p:spPr>
            <a:xfrm>
              <a:off x="10308336" y="459486"/>
              <a:ext cx="128778" cy="128778"/>
            </a:xfrm>
            <a:prstGeom prst="rect">
              <a:avLst/>
            </a:prstGeom>
          </p:spPr>
        </p:pic>
      </p:grpSp>
      <p:grpSp>
        <p:nvGrpSpPr>
          <p:cNvPr id="11" name="Kapitel 04 aktiv"/>
          <p:cNvGrpSpPr/>
          <p:nvPr/>
        </p:nvGrpSpPr>
        <p:grpSpPr>
          <a:xfrm>
            <a:off x="10534650" y="400050"/>
            <a:ext cx="247650" cy="247650"/>
            <a:chOff x="10534650" y="400050"/>
            <a:chExt cx="247650" cy="247650"/>
          </a:xfrm>
        </p:grpSpPr>
        <p:sp>
          <p:nvSpPr>
            <p:cNvPr id="79" name="Oval 78"/>
            <p:cNvSpPr/>
            <p:nvPr/>
          </p:nvSpPr>
          <p:spPr>
            <a:xfrm>
              <a:off x="10534650" y="400050"/>
              <a:ext cx="247650" cy="247650"/>
            </a:xfrm>
            <a:prstGeom prst="ellipse">
              <a:avLst/>
            </a:prstGeom>
            <a:solidFill>
              <a:srgbClr val="084878"/>
            </a:solidFill>
            <a:ln>
              <a:noFill/>
            </a:ln>
            <a:effectLst/>
          </p:spPr>
          <p:txBody>
            <a:bodyPr rtlCol="0" anchor="ctr"/>
            <a:lstStyle/>
            <a:p>
              <a:pPr algn="ctr"/>
            </a:p>
          </p:txBody>
        </p:sp>
        <p:pic>
          <p:nvPicPr>
            <p:cNvPr id="80" name="Picture 79" descr="trees__FFFFFF.png"/>
            <p:cNvPicPr>
              <a:picLocks noChangeAspect="1"/>
            </p:cNvPicPr>
            <p:nvPr/>
          </p:nvPicPr>
          <p:blipFill>
            <a:blip r:embed="rId12"/>
            <a:stretch>
              <a:fillRect/>
            </a:stretch>
          </p:blipFill>
          <p:spPr>
            <a:xfrm>
              <a:off x="10594086" y="459486"/>
              <a:ext cx="128778" cy="128778"/>
            </a:xfrm>
            <a:prstGeom prst="rect">
              <a:avLst/>
            </a:prstGeom>
          </p:spPr>
        </p:pic>
      </p:grpSp>
      <p:grpSp>
        <p:nvGrpSpPr>
          <p:cNvPr id="12" name="Kapitel 05"/>
          <p:cNvGrpSpPr/>
          <p:nvPr/>
        </p:nvGrpSpPr>
        <p:grpSpPr>
          <a:xfrm>
            <a:off x="10979944" y="407194"/>
            <a:ext cx="233362" cy="233362"/>
            <a:chOff x="10979944" y="407194"/>
            <a:chExt cx="233362" cy="233362"/>
          </a:xfrm>
        </p:grpSpPr>
        <p:sp>
          <p:nvSpPr>
            <p:cNvPr id="81" name="Oval 80"/>
            <p:cNvSpPr/>
            <p:nvPr/>
          </p:nvSpPr>
          <p:spPr>
            <a:xfrm>
              <a:off x="10979944" y="407194"/>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82" name="Picture 81" descr="chart-column__8A96A3.png"/>
            <p:cNvPicPr>
              <a:picLocks noChangeAspect="1"/>
            </p:cNvPicPr>
            <p:nvPr/>
          </p:nvPicPr>
          <p:blipFill>
            <a:blip r:embed="rId13"/>
            <a:stretch>
              <a:fillRect/>
            </a:stretch>
          </p:blipFill>
          <p:spPr>
            <a:xfrm>
              <a:off x="11032236" y="459486"/>
              <a:ext cx="128778" cy="128778"/>
            </a:xfrm>
            <a:prstGeom prst="rect">
              <a:avLst/>
            </a:prstGeom>
          </p:spPr>
        </p:pic>
      </p:grpSp>
      <p:grpSp>
        <p:nvGrpSpPr>
          <p:cNvPr id="13" name="Kapitel 06"/>
          <p:cNvGrpSpPr/>
          <p:nvPr/>
        </p:nvGrpSpPr>
        <p:grpSpPr>
          <a:xfrm>
            <a:off x="11265694" y="407194"/>
            <a:ext cx="233362" cy="233362"/>
            <a:chOff x="11265694" y="407194"/>
            <a:chExt cx="233362" cy="233362"/>
          </a:xfrm>
        </p:grpSpPr>
        <p:sp>
          <p:nvSpPr>
            <p:cNvPr id="83" name="Oval 82"/>
            <p:cNvSpPr/>
            <p:nvPr/>
          </p:nvSpPr>
          <p:spPr>
            <a:xfrm>
              <a:off x="11265694" y="407194"/>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84" name="Picture 83" descr="compass__8A96A3.png"/>
            <p:cNvPicPr>
              <a:picLocks noChangeAspect="1"/>
            </p:cNvPicPr>
            <p:nvPr/>
          </p:nvPicPr>
          <p:blipFill>
            <a:blip r:embed="rId14"/>
            <a:stretch>
              <a:fillRect/>
            </a:stretch>
          </p:blipFill>
          <p:spPr>
            <a:xfrm>
              <a:off x="11317986" y="459486"/>
              <a:ext cx="128778" cy="128778"/>
            </a:xfrm>
            <a:prstGeom prst="rect">
              <a:avLst/>
            </a:prstGeom>
          </p:spPr>
        </p:pic>
      </p:grpSp>
      <p:cxnSp>
        <p:nvCxnSpPr>
          <p:cNvPr id="85" name="Kapitel-Lücke"/>
          <p:cNvCxnSpPr/>
          <p:nvPr/>
        </p:nvCxnSpPr>
        <p:spPr>
          <a:xfrm>
            <a:off x="10115550" y="523875"/>
            <a:ext cx="7620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cxnSp>
        <p:nvCxnSpPr>
          <p:cNvPr id="86" name="Kapitel-Lücke"/>
          <p:cNvCxnSpPr/>
          <p:nvPr/>
        </p:nvCxnSpPr>
        <p:spPr>
          <a:xfrm>
            <a:off x="10839450" y="523875"/>
            <a:ext cx="7620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sp>
        <p:nvSpPr>
          <p:cNvPr id="87" name="Kapitel-Label"/>
          <p:cNvSpPr txBox="1"/>
          <p:nvPr/>
        </p:nvSpPr>
        <p:spPr>
          <a:xfrm>
            <a:off x="6267450" y="428625"/>
            <a:ext cx="3143250" cy="171450"/>
          </a:xfrm>
          <a:prstGeom prst="rect">
            <a:avLst/>
          </a:prstGeom>
          <a:noFill/>
        </p:spPr>
        <p:txBody>
          <a:bodyPr wrap="none" lIns="0" rIns="0" tIns="0" bIns="0" anchor="t">
            <a:noAutofit/>
          </a:bodyPr>
          <a:lstStyle/>
          <a:p>
            <a:pPr algn="r">
              <a:lnSpc>
                <a:spcPts val="1350"/>
              </a:lnSpc>
            </a:pPr>
            <a:r>
              <a:rPr sz="1050" b="1" i="0" lang="de-DE">
                <a:solidFill>
                  <a:srgbClr val="005E77"/>
                </a:solidFill>
                <a:latin typeface="IBM Plex Sans"/>
              </a:rPr>
              <a:t>04 · Methodik und Modell · Kiko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0718E"/>
            </a:solidFill>
            <a:ln>
              <a:noFill/>
            </a:ln>
            <a:effectLst/>
          </p:spPr>
          <p:txBody>
            <a:bodyPr rtlCol="0" anchor="ctr"/>
            <a:lstStyle/>
            <a:p>
              <a:pPr algn="ctr"/>
            </a:p>
          </p:txBody>
        </p:sp>
        <p:pic>
          <p:nvPicPr>
            <p:cNvPr id="4" name="Picture 3" descr="scan-search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733425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Warum wurde ZL-00147 markiert?</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ZL-00147: Im August ist die Abweichung 2,3-mal so groß wie erlaubt</a:t>
            </a:r>
          </a:p>
        </p:txBody>
      </p:sp>
      <p:sp>
        <p:nvSpPr>
          <p:cNvPr id="7" name="Rounded Rectangle 6"/>
          <p:cNvSpPr/>
          <p:nvPr/>
        </p:nvSpPr>
        <p:spPr>
          <a:xfrm>
            <a:off x="685800" y="1362075"/>
            <a:ext cx="5895022" cy="4705350"/>
          </a:xfrm>
          <a:prstGeom prst="roundRect">
            <a:avLst>
              <a:gd name="adj" fmla="val 2024"/>
            </a:avLst>
          </a:prstGeom>
          <a:solidFill>
            <a:srgbClr val="FFFFFF"/>
          </a:solidFill>
          <a:ln w="9525">
            <a:solidFill>
              <a:srgbClr val="D2DAE2"/>
            </a:solidFill>
          </a:ln>
          <a:effectLst/>
        </p:spPr>
        <p:txBody>
          <a:bodyPr rtlCol="0" anchor="ctr"/>
          <a:lstStyle/>
          <a:p>
            <a:pPr algn="ctr"/>
          </a:p>
        </p:txBody>
      </p:sp>
      <p:grpSp>
        <p:nvGrpSpPr>
          <p:cNvPr id="8" name="Scheibe gauge"/>
          <p:cNvGrpSpPr/>
          <p:nvPr/>
        </p:nvGrpSpPr>
        <p:grpSpPr>
          <a:xfrm>
            <a:off x="892969" y="1531144"/>
            <a:ext cx="233362" cy="233362"/>
            <a:chOff x="892969" y="1531144"/>
            <a:chExt cx="233362" cy="233362"/>
          </a:xfrm>
        </p:grpSpPr>
        <p:sp>
          <p:nvSpPr>
            <p:cNvPr id="9" name="Oval 8"/>
            <p:cNvSpPr/>
            <p:nvPr/>
          </p:nvSpPr>
          <p:spPr>
            <a:xfrm>
              <a:off x="892969" y="153114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10" name="Picture 9" descr="gauge__084878.png"/>
            <p:cNvPicPr>
              <a:picLocks noChangeAspect="1"/>
            </p:cNvPicPr>
            <p:nvPr/>
          </p:nvPicPr>
          <p:blipFill>
            <a:blip r:embed="rId4"/>
            <a:stretch>
              <a:fillRect/>
            </a:stretch>
          </p:blipFill>
          <p:spPr>
            <a:xfrm>
              <a:off x="945261" y="1583436"/>
              <a:ext cx="128778" cy="128778"/>
            </a:xfrm>
            <a:prstGeom prst="rect">
              <a:avLst/>
            </a:prstGeom>
          </p:spPr>
        </p:pic>
      </p:grpSp>
      <p:sp>
        <p:nvSpPr>
          <p:cNvPr id="11" name="TextBox 10"/>
          <p:cNvSpPr txBox="1"/>
          <p:nvPr/>
        </p:nvSpPr>
        <p:spPr>
          <a:xfrm>
            <a:off x="1228725" y="1557338"/>
            <a:ext cx="5710238" cy="180975"/>
          </a:xfrm>
          <a:prstGeom prst="rect">
            <a:avLst/>
          </a:prstGeom>
          <a:noFill/>
        </p:spPr>
        <p:txBody>
          <a:bodyPr wrap="none" lIns="0" rIns="0" tIns="0" bIns="0" anchor="t">
            <a:noAutofit/>
          </a:bodyPr>
          <a:lstStyle/>
          <a:p>
            <a:pPr algn="l">
              <a:lnSpc>
                <a:spcPts val="1425"/>
              </a:lnSpc>
            </a:pPr>
            <a:r>
              <a:rPr sz="1125" b="0" i="0" lang="de-DE">
                <a:solidFill>
                  <a:srgbClr val="4E5A68"/>
                </a:solidFill>
                <a:latin typeface="IBM Plex Sans"/>
              </a:rPr>
              <a:t>Vom Methodik-Start: </a:t>
            </a:r>
            <a:r>
              <a:rPr sz="1125" b="1" i="0" lang="de-DE">
                <a:solidFill>
                  <a:srgbClr val="4E5A68"/>
                </a:solidFill>
                <a:latin typeface="Geist Mono"/>
              </a:rPr>
              <a:t>23.563</a:t>
            </a:r>
            <a:r>
              <a:rPr sz="1125" b="0" i="0" lang="de-DE">
                <a:solidFill>
                  <a:srgbClr val="4E5A68"/>
                </a:solidFill>
                <a:latin typeface="IBM Plex Sans"/>
              </a:rPr>
              <a:t> statt </a:t>
            </a:r>
            <a:r>
              <a:rPr sz="1125" b="1" i="0" lang="de-DE">
                <a:solidFill>
                  <a:srgbClr val="4E5A68"/>
                </a:solidFill>
                <a:latin typeface="Geist Mono"/>
              </a:rPr>
              <a:t>7.304 kWh</a:t>
            </a:r>
          </a:p>
        </p:txBody>
      </p:sp>
      <p:sp>
        <p:nvSpPr>
          <p:cNvPr id="23" name="Rounded Rectangle 22"/>
          <p:cNvSpPr/>
          <p:nvPr/>
        </p:nvSpPr>
        <p:spPr>
          <a:xfrm>
            <a:off x="6790372" y="1362075"/>
            <a:ext cx="4715828" cy="2417445"/>
          </a:xfrm>
          <a:prstGeom prst="roundRect">
            <a:avLst>
              <a:gd name="adj" fmla="val 3940"/>
            </a:avLst>
          </a:prstGeom>
          <a:solidFill>
            <a:srgbClr val="FFFFFF"/>
          </a:solidFill>
          <a:ln w="9525">
            <a:solidFill>
              <a:srgbClr val="D2DAE2"/>
            </a:solidFill>
          </a:ln>
          <a:effectLst/>
        </p:spPr>
        <p:txBody>
          <a:bodyPr rtlCol="0" anchor="ctr"/>
          <a:lstStyle/>
          <a:p>
            <a:pPr algn="ctr"/>
          </a:p>
        </p:txBody>
      </p:sp>
      <p:sp>
        <p:nvSpPr>
          <p:cNvPr id="24" name="TextBox 23"/>
          <p:cNvSpPr txBox="1"/>
          <p:nvPr/>
        </p:nvSpPr>
        <p:spPr>
          <a:xfrm>
            <a:off x="6990398" y="1504950"/>
            <a:ext cx="4746308" cy="161925"/>
          </a:xfrm>
          <a:prstGeom prst="rect">
            <a:avLst/>
          </a:prstGeom>
          <a:noFill/>
        </p:spPr>
        <p:txBody>
          <a:bodyPr wrap="none" lIns="0" rIns="0" tIns="0" bIns="0" anchor="t">
            <a:noAutofit/>
          </a:bodyPr>
          <a:lstStyle/>
          <a:p>
            <a:pPr algn="l">
              <a:lnSpc>
                <a:spcPts val="1275"/>
              </a:lnSpc>
            </a:pPr>
            <a:r>
              <a:rPr sz="975" b="1" i="0" lang="de-DE" spc="78">
                <a:solidFill>
                  <a:srgbClr val="00718E"/>
                </a:solidFill>
                <a:latin typeface="IBM Plex Sans"/>
              </a:rPr>
              <a:t>AUGUST 2025 · RECHENWEG</a:t>
            </a:r>
          </a:p>
        </p:txBody>
      </p:sp>
      <p:sp>
        <p:nvSpPr>
          <p:cNvPr id="25" name="TextBox 24"/>
          <p:cNvSpPr txBox="1"/>
          <p:nvPr/>
        </p:nvSpPr>
        <p:spPr>
          <a:xfrm>
            <a:off x="6990398" y="1809750"/>
            <a:ext cx="2619375"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Ist − Prognose</a:t>
            </a:r>
          </a:p>
        </p:txBody>
      </p:sp>
      <p:sp>
        <p:nvSpPr>
          <p:cNvPr id="26" name="TextBox 25"/>
          <p:cNvSpPr txBox="1"/>
          <p:nvPr/>
        </p:nvSpPr>
        <p:spPr>
          <a:xfrm>
            <a:off x="8162925" y="1809750"/>
            <a:ext cx="3143250" cy="200025"/>
          </a:xfrm>
          <a:prstGeom prst="rect">
            <a:avLst/>
          </a:prstGeom>
          <a:noFill/>
        </p:spPr>
        <p:txBody>
          <a:bodyPr wrap="none" lIns="0" rIns="0" tIns="0" bIns="0" anchor="t">
            <a:noAutofit/>
          </a:bodyPr>
          <a:lstStyle/>
          <a:p>
            <a:pPr algn="r">
              <a:lnSpc>
                <a:spcPts val="1575"/>
              </a:lnSpc>
            </a:pPr>
            <a:r>
              <a:rPr sz="1200" b="1" i="0" lang="de-DE">
                <a:solidFill>
                  <a:srgbClr val="141A21"/>
                </a:solidFill>
                <a:latin typeface="Geist Mono"/>
              </a:rPr>
              <a:t>23.563 − 7.304 kWh</a:t>
            </a:r>
          </a:p>
        </p:txBody>
      </p:sp>
      <p:cxnSp>
        <p:nvCxnSpPr>
          <p:cNvPr id="27" name="Connector 26"/>
          <p:cNvCxnSpPr/>
          <p:nvPr/>
        </p:nvCxnSpPr>
        <p:spPr>
          <a:xfrm>
            <a:off x="6990398" y="2081212"/>
            <a:ext cx="4315777"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990398" y="2152650"/>
            <a:ext cx="2619375"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Residuum</a:t>
            </a:r>
          </a:p>
        </p:txBody>
      </p:sp>
      <p:sp>
        <p:nvSpPr>
          <p:cNvPr id="29" name="TextBox 28"/>
          <p:cNvSpPr txBox="1"/>
          <p:nvPr/>
        </p:nvSpPr>
        <p:spPr>
          <a:xfrm>
            <a:off x="8162925" y="2152650"/>
            <a:ext cx="3143250" cy="200025"/>
          </a:xfrm>
          <a:prstGeom prst="rect">
            <a:avLst/>
          </a:prstGeom>
          <a:noFill/>
        </p:spPr>
        <p:txBody>
          <a:bodyPr wrap="none" lIns="0" rIns="0" tIns="0" bIns="0" anchor="t">
            <a:noAutofit/>
          </a:bodyPr>
          <a:lstStyle/>
          <a:p>
            <a:pPr algn="r">
              <a:lnSpc>
                <a:spcPts val="1575"/>
              </a:lnSpc>
            </a:pPr>
            <a:r>
              <a:rPr sz="1200" b="1" i="0" lang="de-DE">
                <a:solidFill>
                  <a:srgbClr val="141A21"/>
                </a:solidFill>
                <a:latin typeface="Geist Mono"/>
              </a:rPr>
              <a:t>+16.259,6 kWh</a:t>
            </a:r>
          </a:p>
        </p:txBody>
      </p:sp>
      <p:cxnSp>
        <p:nvCxnSpPr>
          <p:cNvPr id="30" name="Connector 29"/>
          <p:cNvCxnSpPr/>
          <p:nvPr/>
        </p:nvCxnSpPr>
        <p:spPr>
          <a:xfrm>
            <a:off x="6990398" y="2428875"/>
            <a:ext cx="4315777" cy="0"/>
          </a:xfrm>
          <a:prstGeom prst="line">
            <a:avLst/>
          </a:prstGeom>
          <a:ln w="19050">
            <a:solidFill>
              <a:srgbClr val="08487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990398" y="2505075"/>
            <a:ext cx="2619375"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in VLS (49 kW)</a:t>
            </a:r>
          </a:p>
        </p:txBody>
      </p:sp>
      <p:sp>
        <p:nvSpPr>
          <p:cNvPr id="32" name="TextBox 31"/>
          <p:cNvSpPr txBox="1"/>
          <p:nvPr/>
        </p:nvSpPr>
        <p:spPr>
          <a:xfrm>
            <a:off x="8162925" y="2505075"/>
            <a:ext cx="3143250" cy="200025"/>
          </a:xfrm>
          <a:prstGeom prst="rect">
            <a:avLst/>
          </a:prstGeom>
          <a:noFill/>
        </p:spPr>
        <p:txBody>
          <a:bodyPr wrap="none" lIns="0" rIns="0" tIns="0" bIns="0" anchor="t">
            <a:noAutofit/>
          </a:bodyPr>
          <a:lstStyle/>
          <a:p>
            <a:pPr algn="r">
              <a:lnSpc>
                <a:spcPts val="1575"/>
              </a:lnSpc>
            </a:pPr>
            <a:r>
              <a:rPr sz="1200" b="1" i="0" lang="de-DE">
                <a:solidFill>
                  <a:srgbClr val="141A21"/>
                </a:solidFill>
                <a:latin typeface="Geist Mono"/>
              </a:rPr>
              <a:t>480,9 − 149,1 = 331,8</a:t>
            </a:r>
          </a:p>
        </p:txBody>
      </p:sp>
      <p:cxnSp>
        <p:nvCxnSpPr>
          <p:cNvPr id="33" name="Connector 32"/>
          <p:cNvCxnSpPr/>
          <p:nvPr/>
        </p:nvCxnSpPr>
        <p:spPr>
          <a:xfrm>
            <a:off x="6990398" y="2776538"/>
            <a:ext cx="4315777"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990398" y="2847975"/>
            <a:ext cx="2619375"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 Schwelle q99</a:t>
            </a:r>
          </a:p>
        </p:txBody>
      </p:sp>
      <p:sp>
        <p:nvSpPr>
          <p:cNvPr id="35" name="TextBox 34"/>
          <p:cNvSpPr txBox="1"/>
          <p:nvPr/>
        </p:nvSpPr>
        <p:spPr>
          <a:xfrm>
            <a:off x="8162925" y="2847975"/>
            <a:ext cx="3143250" cy="200025"/>
          </a:xfrm>
          <a:prstGeom prst="rect">
            <a:avLst/>
          </a:prstGeom>
          <a:noFill/>
        </p:spPr>
        <p:txBody>
          <a:bodyPr wrap="none" lIns="0" rIns="0" tIns="0" bIns="0" anchor="t">
            <a:noAutofit/>
          </a:bodyPr>
          <a:lstStyle/>
          <a:p>
            <a:pPr algn="r">
              <a:lnSpc>
                <a:spcPts val="1575"/>
              </a:lnSpc>
            </a:pPr>
            <a:r>
              <a:rPr sz="1200" b="1" i="0" lang="de-DE">
                <a:solidFill>
                  <a:srgbClr val="141A21"/>
                </a:solidFill>
                <a:latin typeface="Geist Mono"/>
              </a:rPr>
              <a:t>144,4 VLS-h</a:t>
            </a:r>
          </a:p>
        </p:txBody>
      </p:sp>
      <p:cxnSp>
        <p:nvCxnSpPr>
          <p:cNvPr id="36" name="Connector 35"/>
          <p:cNvCxnSpPr/>
          <p:nvPr/>
        </p:nvCxnSpPr>
        <p:spPr>
          <a:xfrm>
            <a:off x="6990398" y="3119438"/>
            <a:ext cx="4315777"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990398" y="3332798"/>
            <a:ext cx="1143000" cy="209550"/>
          </a:xfrm>
          <a:prstGeom prst="rect">
            <a:avLst/>
          </a:prstGeom>
          <a:noFill/>
        </p:spPr>
        <p:txBody>
          <a:bodyPr wrap="square" lIns="0" rIns="0" tIns="0" bIns="0" anchor="t">
            <a:noAutofit/>
          </a:bodyPr>
          <a:lstStyle/>
          <a:p>
            <a:pPr algn="l">
              <a:lnSpc>
                <a:spcPts val="1650"/>
              </a:lnSpc>
            </a:pPr>
            <a:r>
              <a:rPr sz="1275" b="1" i="0" lang="de-DE">
                <a:solidFill>
                  <a:srgbClr val="141A21"/>
                </a:solidFill>
                <a:latin typeface="IBM Plex Sans"/>
              </a:rPr>
              <a:t>Faktor</a:t>
            </a:r>
          </a:p>
        </p:txBody>
      </p:sp>
      <p:grpSp>
        <p:nvGrpSpPr>
          <p:cNvPr id="38" name="Zählwerk +2,30"/>
          <p:cNvGrpSpPr/>
          <p:nvPr/>
        </p:nvGrpSpPr>
        <p:grpSpPr>
          <a:xfrm>
            <a:off x="10072764" y="3238500"/>
            <a:ext cx="1309611" cy="397764"/>
            <a:chOff x="10072764" y="3238500"/>
            <a:chExt cx="1309611" cy="397764"/>
          </a:xfrm>
        </p:grpSpPr>
        <p:sp>
          <p:nvSpPr>
            <p:cNvPr id="39" name="TextBox 38"/>
            <p:cNvSpPr txBox="1"/>
            <p:nvPr/>
          </p:nvSpPr>
          <p:spPr>
            <a:xfrm>
              <a:off x="10072764" y="3238500"/>
              <a:ext cx="429997" cy="397764"/>
            </a:xfrm>
            <a:prstGeom prst="rect">
              <a:avLst/>
            </a:prstGeom>
            <a:noFill/>
          </p:spPr>
          <p:txBody>
            <a:bodyPr wrap="none" lIns="0" rIns="0" tIns="0" bIns="0" anchor="ctr">
              <a:noAutofit/>
            </a:bodyPr>
            <a:lstStyle/>
            <a:p>
              <a:pPr algn="ctr">
                <a:lnSpc>
                  <a:spcPts val="2700"/>
                </a:lnSpc>
              </a:pPr>
              <a:r>
                <a:rPr sz="2700" b="1" i="0" lang="de-DE">
                  <a:solidFill>
                    <a:srgbClr val="B3261E"/>
                  </a:solidFill>
                  <a:latin typeface="Geist Mono"/>
                </a:rPr>
                <a:t>+</a:t>
              </a:r>
            </a:p>
          </p:txBody>
        </p:sp>
        <p:sp>
          <p:nvSpPr>
            <p:cNvPr id="40" name="Rounded Rectangle 39"/>
            <p:cNvSpPr/>
            <p:nvPr/>
          </p:nvSpPr>
          <p:spPr>
            <a:xfrm>
              <a:off x="10366629" y="3238500"/>
              <a:ext cx="253746" cy="397764"/>
            </a:xfrm>
            <a:prstGeom prst="roundRect">
              <a:avLst>
                <a:gd name="adj" fmla="val 16216"/>
              </a:avLst>
            </a:prstGeom>
            <a:solidFill>
              <a:srgbClr val="B3261E"/>
            </a:solidFill>
            <a:ln>
              <a:noFill/>
            </a:ln>
            <a:effectLst/>
          </p:spPr>
          <p:txBody>
            <a:bodyPr rtlCol="0" anchor="ctr"/>
            <a:lstStyle/>
            <a:p>
              <a:pPr algn="ctr"/>
            </a:p>
          </p:txBody>
        </p:sp>
        <p:sp>
          <p:nvSpPr>
            <p:cNvPr id="41" name="TextBox 40"/>
            <p:cNvSpPr txBox="1"/>
            <p:nvPr/>
          </p:nvSpPr>
          <p:spPr>
            <a:xfrm>
              <a:off x="10290429" y="3238500"/>
              <a:ext cx="406146" cy="397764"/>
            </a:xfrm>
            <a:prstGeom prst="rect">
              <a:avLst/>
            </a:prstGeom>
            <a:noFill/>
          </p:spPr>
          <p:txBody>
            <a:bodyPr wrap="none" lIns="0" rIns="0" tIns="0" bIns="0" anchor="ctr">
              <a:noAutofit/>
            </a:bodyPr>
            <a:lstStyle/>
            <a:p>
              <a:pPr algn="ctr">
                <a:lnSpc>
                  <a:spcPts val="2700"/>
                </a:lnSpc>
              </a:pPr>
              <a:r>
                <a:rPr sz="2700" b="1" i="0" lang="de-DE">
                  <a:solidFill>
                    <a:srgbClr val="FFFFFF"/>
                  </a:solidFill>
                  <a:latin typeface="Geist Mono"/>
                </a:rPr>
                <a:t>2</a:t>
              </a:r>
            </a:p>
          </p:txBody>
        </p:sp>
        <p:sp>
          <p:nvSpPr>
            <p:cNvPr id="42" name="TextBox 41"/>
            <p:cNvSpPr txBox="1"/>
            <p:nvPr/>
          </p:nvSpPr>
          <p:spPr>
            <a:xfrm>
              <a:off x="10484244" y="3238500"/>
              <a:ext cx="429997" cy="397764"/>
            </a:xfrm>
            <a:prstGeom prst="rect">
              <a:avLst/>
            </a:prstGeom>
            <a:noFill/>
          </p:spPr>
          <p:txBody>
            <a:bodyPr wrap="none" lIns="0" rIns="0" tIns="0" bIns="0" anchor="ctr">
              <a:noAutofit/>
            </a:bodyPr>
            <a:lstStyle/>
            <a:p>
              <a:pPr algn="ctr">
                <a:lnSpc>
                  <a:spcPts val="2700"/>
                </a:lnSpc>
              </a:pPr>
              <a:r>
                <a:rPr sz="2700" b="1" i="0" lang="de-DE">
                  <a:solidFill>
                    <a:srgbClr val="B3261E"/>
                  </a:solidFill>
                  <a:latin typeface="Geist Mono"/>
                </a:rPr>
                <a:t>,</a:t>
              </a:r>
            </a:p>
          </p:txBody>
        </p:sp>
        <p:sp>
          <p:nvSpPr>
            <p:cNvPr id="43" name="Rounded Rectangle 42"/>
            <p:cNvSpPr/>
            <p:nvPr/>
          </p:nvSpPr>
          <p:spPr>
            <a:xfrm>
              <a:off x="10778109" y="3238500"/>
              <a:ext cx="253746" cy="397764"/>
            </a:xfrm>
            <a:prstGeom prst="roundRect">
              <a:avLst>
                <a:gd name="adj" fmla="val 16216"/>
              </a:avLst>
            </a:prstGeom>
            <a:solidFill>
              <a:srgbClr val="B3261E"/>
            </a:solidFill>
            <a:ln>
              <a:noFill/>
            </a:ln>
            <a:effectLst/>
          </p:spPr>
          <p:txBody>
            <a:bodyPr rtlCol="0" anchor="ctr"/>
            <a:lstStyle/>
            <a:p>
              <a:pPr algn="ctr"/>
            </a:p>
          </p:txBody>
        </p:sp>
        <p:sp>
          <p:nvSpPr>
            <p:cNvPr id="44" name="TextBox 43"/>
            <p:cNvSpPr txBox="1"/>
            <p:nvPr/>
          </p:nvSpPr>
          <p:spPr>
            <a:xfrm>
              <a:off x="10701909" y="3238500"/>
              <a:ext cx="406146" cy="397764"/>
            </a:xfrm>
            <a:prstGeom prst="rect">
              <a:avLst/>
            </a:prstGeom>
            <a:noFill/>
          </p:spPr>
          <p:txBody>
            <a:bodyPr wrap="none" lIns="0" rIns="0" tIns="0" bIns="0" anchor="ctr">
              <a:noAutofit/>
            </a:bodyPr>
            <a:lstStyle/>
            <a:p>
              <a:pPr algn="ctr">
                <a:lnSpc>
                  <a:spcPts val="2700"/>
                </a:lnSpc>
              </a:pPr>
              <a:r>
                <a:rPr sz="2700" b="1" i="0" lang="de-DE">
                  <a:solidFill>
                    <a:srgbClr val="FFFFFF"/>
                  </a:solidFill>
                  <a:latin typeface="Geist Mono"/>
                </a:rPr>
                <a:t>3</a:t>
              </a:r>
            </a:p>
          </p:txBody>
        </p:sp>
        <p:sp>
          <p:nvSpPr>
            <p:cNvPr id="45" name="Rounded Rectangle 44"/>
            <p:cNvSpPr/>
            <p:nvPr/>
          </p:nvSpPr>
          <p:spPr>
            <a:xfrm>
              <a:off x="11052429" y="3238500"/>
              <a:ext cx="253746" cy="397764"/>
            </a:xfrm>
            <a:prstGeom prst="roundRect">
              <a:avLst>
                <a:gd name="adj" fmla="val 16216"/>
              </a:avLst>
            </a:prstGeom>
            <a:solidFill>
              <a:srgbClr val="B3261E"/>
            </a:solidFill>
            <a:ln>
              <a:noFill/>
            </a:ln>
            <a:effectLst/>
          </p:spPr>
          <p:txBody>
            <a:bodyPr rtlCol="0" anchor="ctr"/>
            <a:lstStyle/>
            <a:p>
              <a:pPr algn="ctr"/>
            </a:p>
          </p:txBody>
        </p:sp>
        <p:sp>
          <p:nvSpPr>
            <p:cNvPr id="46" name="TextBox 45"/>
            <p:cNvSpPr txBox="1"/>
            <p:nvPr/>
          </p:nvSpPr>
          <p:spPr>
            <a:xfrm>
              <a:off x="10976229" y="3238500"/>
              <a:ext cx="406146" cy="397764"/>
            </a:xfrm>
            <a:prstGeom prst="rect">
              <a:avLst/>
            </a:prstGeom>
            <a:noFill/>
          </p:spPr>
          <p:txBody>
            <a:bodyPr wrap="none" lIns="0" rIns="0" tIns="0" bIns="0" anchor="ctr">
              <a:noAutofit/>
            </a:bodyPr>
            <a:lstStyle/>
            <a:p>
              <a:pPr algn="ctr">
                <a:lnSpc>
                  <a:spcPts val="2700"/>
                </a:lnSpc>
              </a:pPr>
              <a:r>
                <a:rPr sz="2700" b="1" i="0" lang="de-DE">
                  <a:solidFill>
                    <a:srgbClr val="FFFFFF"/>
                  </a:solidFill>
                  <a:latin typeface="Geist Mono"/>
                </a:rPr>
                <a:t>0</a:t>
              </a:r>
            </a:p>
          </p:txBody>
        </p:sp>
      </p:grpSp>
      <p:sp>
        <p:nvSpPr>
          <p:cNvPr id="47" name="Rounded Rectangle 46"/>
          <p:cNvSpPr/>
          <p:nvPr/>
        </p:nvSpPr>
        <p:spPr>
          <a:xfrm>
            <a:off x="6790372" y="3893820"/>
            <a:ext cx="4715828" cy="895350"/>
          </a:xfrm>
          <a:prstGeom prst="roundRect">
            <a:avLst>
              <a:gd name="adj" fmla="val 10638"/>
            </a:avLst>
          </a:prstGeom>
          <a:solidFill>
            <a:srgbClr val="F5FAF3"/>
          </a:solidFill>
          <a:ln w="9525">
            <a:solidFill>
              <a:srgbClr val="CFE7C8"/>
            </a:solidFill>
          </a:ln>
          <a:effectLst/>
        </p:spPr>
        <p:txBody>
          <a:bodyPr rtlCol="0" anchor="ctr"/>
          <a:lstStyle/>
          <a:p>
            <a:pPr algn="ctr"/>
          </a:p>
        </p:txBody>
      </p:sp>
      <p:grpSp>
        <p:nvGrpSpPr>
          <p:cNvPr id="48" name="Scheibe circle-check"/>
          <p:cNvGrpSpPr/>
          <p:nvPr/>
        </p:nvGrpSpPr>
        <p:grpSpPr>
          <a:xfrm>
            <a:off x="6952298" y="4027170"/>
            <a:ext cx="323850" cy="323850"/>
            <a:chOff x="6952298" y="4027170"/>
            <a:chExt cx="323850" cy="323850"/>
          </a:xfrm>
        </p:grpSpPr>
        <p:sp>
          <p:nvSpPr>
            <p:cNvPr id="49" name="Oval 48"/>
            <p:cNvSpPr/>
            <p:nvPr/>
          </p:nvSpPr>
          <p:spPr>
            <a:xfrm>
              <a:off x="6952298" y="4027170"/>
              <a:ext cx="323850" cy="323850"/>
            </a:xfrm>
            <a:prstGeom prst="ellipse">
              <a:avLst/>
            </a:prstGeom>
            <a:solidFill>
              <a:srgbClr val="2F7A33"/>
            </a:solidFill>
            <a:ln>
              <a:noFill/>
            </a:ln>
            <a:effectLst/>
          </p:spPr>
          <p:txBody>
            <a:bodyPr rtlCol="0" anchor="ctr"/>
            <a:lstStyle/>
            <a:p>
              <a:pPr algn="ctr"/>
            </a:p>
          </p:txBody>
        </p:sp>
        <p:pic>
          <p:nvPicPr>
            <p:cNvPr id="50" name="Picture 49" descr="circle-check__FFFFFF.png"/>
            <p:cNvPicPr>
              <a:picLocks noChangeAspect="1"/>
            </p:cNvPicPr>
            <p:nvPr/>
          </p:nvPicPr>
          <p:blipFill>
            <a:blip r:embed="rId5"/>
            <a:stretch>
              <a:fillRect/>
            </a:stretch>
          </p:blipFill>
          <p:spPr>
            <a:xfrm>
              <a:off x="7030021" y="4104894"/>
              <a:ext cx="168402" cy="168402"/>
            </a:xfrm>
            <a:prstGeom prst="rect">
              <a:avLst/>
            </a:prstGeom>
          </p:spPr>
        </p:pic>
      </p:grpSp>
      <p:sp>
        <p:nvSpPr>
          <p:cNvPr id="51" name="TextBox 50"/>
          <p:cNvSpPr txBox="1"/>
          <p:nvPr/>
        </p:nvSpPr>
        <p:spPr>
          <a:xfrm>
            <a:off x="7409498" y="4036695"/>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September zum Vergleich</a:t>
            </a:r>
          </a:p>
        </p:txBody>
      </p:sp>
      <p:sp>
        <p:nvSpPr>
          <p:cNvPr id="52" name="TextBox 51"/>
          <p:cNvSpPr txBox="1"/>
          <p:nvPr/>
        </p:nvSpPr>
        <p:spPr>
          <a:xfrm>
            <a:off x="7409498" y="4255770"/>
            <a:ext cx="3934778"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Faktor −0,68 → innerhalb der Grenze, kein Hinweis. Die Prognose ist erhöht, weil der August als Vormonat einfließt.</a:t>
            </a:r>
          </a:p>
        </p:txBody>
      </p:sp>
      <p:cxnSp>
        <p:nvCxnSpPr>
          <p:cNvPr id="53"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54" name="Logo" descr="image.png"/>
          <p:cNvPicPr>
            <a:picLocks noChangeAspect="1"/>
          </p:cNvPicPr>
          <p:nvPr/>
        </p:nvPicPr>
        <p:blipFill>
          <a:blip r:embed="rId6"/>
          <a:stretch>
            <a:fillRect/>
          </a:stretch>
        </p:blipFill>
        <p:spPr>
          <a:xfrm>
            <a:off x="685800" y="6400800"/>
            <a:ext cx="715863" cy="247650"/>
          </a:xfrm>
          <a:prstGeom prst="rect">
            <a:avLst/>
          </a:prstGeom>
        </p:spPr>
      </p:pic>
      <p:sp>
        <p:nvSpPr>
          <p:cNvPr id="55" name="TextBox 54"/>
          <p:cNvSpPr txBox="1"/>
          <p:nvPr/>
        </p:nvSpPr>
        <p:spPr>
          <a:xfrm>
            <a:off x="1554480" y="6429375"/>
            <a:ext cx="289179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56" name="Connector 55"/>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57" name="Scheibe split"/>
          <p:cNvGrpSpPr/>
          <p:nvPr/>
        </p:nvGrpSpPr>
        <p:grpSpPr>
          <a:xfrm>
            <a:off x="4516755" y="6419850"/>
            <a:ext cx="209550" cy="209550"/>
            <a:chOff x="4516755" y="6419850"/>
            <a:chExt cx="209550" cy="209550"/>
          </a:xfrm>
        </p:grpSpPr>
        <p:sp>
          <p:nvSpPr>
            <p:cNvPr id="58" name="Oval 57"/>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59" name="Picture 58" descr="split__FFFFFF.png"/>
            <p:cNvPicPr>
              <a:picLocks noChangeAspect="1"/>
            </p:cNvPicPr>
            <p:nvPr/>
          </p:nvPicPr>
          <p:blipFill>
            <a:blip r:embed="rId7"/>
            <a:stretch>
              <a:fillRect/>
            </a:stretch>
          </p:blipFill>
          <p:spPr>
            <a:xfrm>
              <a:off x="4567047" y="6470142"/>
              <a:ext cx="108966" cy="108966"/>
            </a:xfrm>
            <a:prstGeom prst="rect">
              <a:avLst/>
            </a:prstGeom>
          </p:spPr>
        </p:pic>
      </p:grpSp>
      <p:sp>
        <p:nvSpPr>
          <p:cNvPr id="60" name="TextBox 59"/>
          <p:cNvSpPr txBox="1"/>
          <p:nvPr/>
        </p:nvSpPr>
        <p:spPr>
          <a:xfrm>
            <a:off x="4783455"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07</a:t>
            </a:r>
          </a:p>
        </p:txBody>
      </p:sp>
      <p:sp>
        <p:nvSpPr>
          <p:cNvPr id="61" name="TextBox 60"/>
          <p:cNvSpPr txBox="1"/>
          <p:nvPr/>
        </p:nvSpPr>
        <p:spPr>
          <a:xfrm>
            <a:off x="5000625" y="6438900"/>
            <a:ext cx="1001020"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Entscheidung</a:t>
            </a:r>
          </a:p>
        </p:txBody>
      </p:sp>
      <p:sp>
        <p:nvSpPr>
          <p:cNvPr id="62" name="TextBox 61"/>
          <p:cNvSpPr txBox="1"/>
          <p:nvPr/>
        </p:nvSpPr>
        <p:spPr>
          <a:xfrm>
            <a:off x="9456420" y="6429375"/>
            <a:ext cx="12573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63" name="Seitenzahl"/>
          <p:cNvSpPr txBox="1"/>
          <p:nvPr/>
        </p:nvSpPr>
        <p:spPr>
          <a:xfrm>
            <a:off x="10802112" y="6424612"/>
            <a:ext cx="704088"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10 / 11</a:t>
            </a:r>
          </a:p>
        </p:txBody>
      </p:sp>
      <p:pic>
        <p:nvPicPr>
          <p:cNvPr id="64" name="Diagramm s10_svg08.png" descr="s10_svg08.png"/>
          <p:cNvPicPr>
            <a:picLocks noChangeAspect="1"/>
          </p:cNvPicPr>
          <p:nvPr/>
        </p:nvPicPr>
        <p:blipFill>
          <a:blip r:embed="rId8"/>
          <a:stretch>
            <a:fillRect/>
          </a:stretch>
        </p:blipFill>
        <p:spPr>
          <a:xfrm>
            <a:off x="885825" y="1829098"/>
            <a:ext cx="5494734" cy="3802559"/>
          </a:xfrm>
          <a:prstGeom prst="rect">
            <a:avLst/>
          </a:prstGeom>
        </p:spPr>
      </p:pic>
      <p:grpSp>
        <p:nvGrpSpPr>
          <p:cNvPr id="12" name="Kapitel 01"/>
          <p:cNvGrpSpPr/>
          <p:nvPr/>
        </p:nvGrpSpPr>
        <p:grpSpPr>
          <a:xfrm>
            <a:off x="9532144" y="407194"/>
            <a:ext cx="233362" cy="233362"/>
            <a:chOff x="9532144" y="407194"/>
            <a:chExt cx="233362" cy="233362"/>
          </a:xfrm>
        </p:grpSpPr>
        <p:sp>
          <p:nvSpPr>
            <p:cNvPr id="65" name="Oval 64"/>
            <p:cNvSpPr/>
            <p:nvPr/>
          </p:nvSpPr>
          <p:spPr>
            <a:xfrm>
              <a:off x="953214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66" name="Picture 65" descr="building-2__084878.png"/>
            <p:cNvPicPr>
              <a:picLocks noChangeAspect="1"/>
            </p:cNvPicPr>
            <p:nvPr/>
          </p:nvPicPr>
          <p:blipFill>
            <a:blip r:embed="rId9"/>
            <a:stretch>
              <a:fillRect/>
            </a:stretch>
          </p:blipFill>
          <p:spPr>
            <a:xfrm>
              <a:off x="9584436" y="459486"/>
              <a:ext cx="128778" cy="128778"/>
            </a:xfrm>
            <a:prstGeom prst="rect">
              <a:avLst/>
            </a:prstGeom>
          </p:spPr>
        </p:pic>
      </p:grpSp>
      <p:grpSp>
        <p:nvGrpSpPr>
          <p:cNvPr id="13" name="Kapitel 02"/>
          <p:cNvGrpSpPr/>
          <p:nvPr/>
        </p:nvGrpSpPr>
        <p:grpSpPr>
          <a:xfrm>
            <a:off x="9817894" y="407194"/>
            <a:ext cx="233362" cy="233362"/>
            <a:chOff x="9817894" y="407194"/>
            <a:chExt cx="233362" cy="233362"/>
          </a:xfrm>
        </p:grpSpPr>
        <p:sp>
          <p:nvSpPr>
            <p:cNvPr id="67" name="Oval 66"/>
            <p:cNvSpPr/>
            <p:nvPr/>
          </p:nvSpPr>
          <p:spPr>
            <a:xfrm>
              <a:off x="981789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68" name="Picture 67" descr="database__084878.png"/>
            <p:cNvPicPr>
              <a:picLocks noChangeAspect="1"/>
            </p:cNvPicPr>
            <p:nvPr/>
          </p:nvPicPr>
          <p:blipFill>
            <a:blip r:embed="rId10"/>
            <a:stretch>
              <a:fillRect/>
            </a:stretch>
          </p:blipFill>
          <p:spPr>
            <a:xfrm>
              <a:off x="9870186" y="459486"/>
              <a:ext cx="128778" cy="128778"/>
            </a:xfrm>
            <a:prstGeom prst="rect">
              <a:avLst/>
            </a:prstGeom>
          </p:spPr>
        </p:pic>
      </p:grpSp>
      <p:grpSp>
        <p:nvGrpSpPr>
          <p:cNvPr id="14" name="Kapitel 03"/>
          <p:cNvGrpSpPr/>
          <p:nvPr/>
        </p:nvGrpSpPr>
        <p:grpSpPr>
          <a:xfrm>
            <a:off x="10256044" y="407194"/>
            <a:ext cx="233362" cy="233362"/>
            <a:chOff x="10256044" y="407194"/>
            <a:chExt cx="233362" cy="233362"/>
          </a:xfrm>
        </p:grpSpPr>
        <p:sp>
          <p:nvSpPr>
            <p:cNvPr id="69" name="Oval 68"/>
            <p:cNvSpPr/>
            <p:nvPr/>
          </p:nvSpPr>
          <p:spPr>
            <a:xfrm>
              <a:off x="10256044" y="407194"/>
              <a:ext cx="233362" cy="233362"/>
            </a:xfrm>
            <a:prstGeom prst="ellipse">
              <a:avLst/>
            </a:prstGeom>
            <a:solidFill>
              <a:srgbClr val="FFFFFF"/>
            </a:solidFill>
            <a:ln w="14287">
              <a:solidFill>
                <a:srgbClr val="B4BFCB"/>
              </a:solidFill>
            </a:ln>
            <a:effectLst/>
          </p:spPr>
          <p:txBody>
            <a:bodyPr rtlCol="0" anchor="ctr"/>
            <a:lstStyle/>
            <a:p>
              <a:pPr algn="ctr"/>
            </a:p>
          </p:txBody>
        </p:sp>
        <p:pic>
          <p:nvPicPr>
            <p:cNvPr id="70" name="Picture 69" descr="layout-grid__084878.png"/>
            <p:cNvPicPr>
              <a:picLocks noChangeAspect="1"/>
            </p:cNvPicPr>
            <p:nvPr/>
          </p:nvPicPr>
          <p:blipFill>
            <a:blip r:embed="rId11"/>
            <a:stretch>
              <a:fillRect/>
            </a:stretch>
          </p:blipFill>
          <p:spPr>
            <a:xfrm>
              <a:off x="10308336" y="459486"/>
              <a:ext cx="128778" cy="128778"/>
            </a:xfrm>
            <a:prstGeom prst="rect">
              <a:avLst/>
            </a:prstGeom>
          </p:spPr>
        </p:pic>
      </p:grpSp>
      <p:grpSp>
        <p:nvGrpSpPr>
          <p:cNvPr id="15" name="Kapitel 04 aktiv"/>
          <p:cNvGrpSpPr/>
          <p:nvPr/>
        </p:nvGrpSpPr>
        <p:grpSpPr>
          <a:xfrm>
            <a:off x="10534650" y="400050"/>
            <a:ext cx="247650" cy="247650"/>
            <a:chOff x="10534650" y="400050"/>
            <a:chExt cx="247650" cy="247650"/>
          </a:xfrm>
        </p:grpSpPr>
        <p:sp>
          <p:nvSpPr>
            <p:cNvPr id="71" name="Oval 70"/>
            <p:cNvSpPr/>
            <p:nvPr/>
          </p:nvSpPr>
          <p:spPr>
            <a:xfrm>
              <a:off x="10534650" y="400050"/>
              <a:ext cx="247650" cy="247650"/>
            </a:xfrm>
            <a:prstGeom prst="ellipse">
              <a:avLst/>
            </a:prstGeom>
            <a:solidFill>
              <a:srgbClr val="084878"/>
            </a:solidFill>
            <a:ln>
              <a:noFill/>
            </a:ln>
            <a:effectLst/>
          </p:spPr>
          <p:txBody>
            <a:bodyPr rtlCol="0" anchor="ctr"/>
            <a:lstStyle/>
            <a:p>
              <a:pPr algn="ctr"/>
            </a:p>
          </p:txBody>
        </p:sp>
        <p:pic>
          <p:nvPicPr>
            <p:cNvPr id="72" name="Picture 71" descr="trees__FFFFFF.png"/>
            <p:cNvPicPr>
              <a:picLocks noChangeAspect="1"/>
            </p:cNvPicPr>
            <p:nvPr/>
          </p:nvPicPr>
          <p:blipFill>
            <a:blip r:embed="rId12"/>
            <a:stretch>
              <a:fillRect/>
            </a:stretch>
          </p:blipFill>
          <p:spPr>
            <a:xfrm>
              <a:off x="10594086" y="459486"/>
              <a:ext cx="128778" cy="128778"/>
            </a:xfrm>
            <a:prstGeom prst="rect">
              <a:avLst/>
            </a:prstGeom>
          </p:spPr>
        </p:pic>
      </p:grpSp>
      <p:grpSp>
        <p:nvGrpSpPr>
          <p:cNvPr id="16" name="Kapitel 05"/>
          <p:cNvGrpSpPr/>
          <p:nvPr/>
        </p:nvGrpSpPr>
        <p:grpSpPr>
          <a:xfrm>
            <a:off x="10979944" y="407194"/>
            <a:ext cx="233362" cy="233362"/>
            <a:chOff x="10979944" y="407194"/>
            <a:chExt cx="233362" cy="233362"/>
          </a:xfrm>
        </p:grpSpPr>
        <p:sp>
          <p:nvSpPr>
            <p:cNvPr id="73" name="Oval 72"/>
            <p:cNvSpPr/>
            <p:nvPr/>
          </p:nvSpPr>
          <p:spPr>
            <a:xfrm>
              <a:off x="10979944" y="407194"/>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74" name="Picture 73" descr="chart-column__8A96A3.png"/>
            <p:cNvPicPr>
              <a:picLocks noChangeAspect="1"/>
            </p:cNvPicPr>
            <p:nvPr/>
          </p:nvPicPr>
          <p:blipFill>
            <a:blip r:embed="rId13"/>
            <a:stretch>
              <a:fillRect/>
            </a:stretch>
          </p:blipFill>
          <p:spPr>
            <a:xfrm>
              <a:off x="11032236" y="459486"/>
              <a:ext cx="128778" cy="128778"/>
            </a:xfrm>
            <a:prstGeom prst="rect">
              <a:avLst/>
            </a:prstGeom>
          </p:spPr>
        </p:pic>
      </p:grpSp>
      <p:grpSp>
        <p:nvGrpSpPr>
          <p:cNvPr id="17" name="Kapitel 06"/>
          <p:cNvGrpSpPr/>
          <p:nvPr/>
        </p:nvGrpSpPr>
        <p:grpSpPr>
          <a:xfrm>
            <a:off x="11265694" y="407194"/>
            <a:ext cx="233362" cy="233362"/>
            <a:chOff x="11265694" y="407194"/>
            <a:chExt cx="233362" cy="233362"/>
          </a:xfrm>
        </p:grpSpPr>
        <p:sp>
          <p:nvSpPr>
            <p:cNvPr id="75" name="Oval 74"/>
            <p:cNvSpPr/>
            <p:nvPr/>
          </p:nvSpPr>
          <p:spPr>
            <a:xfrm>
              <a:off x="11265694" y="407194"/>
              <a:ext cx="233362" cy="233362"/>
            </a:xfrm>
            <a:prstGeom prst="ellipse">
              <a:avLst/>
            </a:prstGeom>
            <a:solidFill>
              <a:srgbClr val="FFFFFF"/>
            </a:solidFill>
            <a:ln w="14287">
              <a:solidFill>
                <a:srgbClr val="D2DAE2"/>
              </a:solidFill>
            </a:ln>
            <a:effectLst/>
          </p:spPr>
          <p:txBody>
            <a:bodyPr rtlCol="0" anchor="ctr"/>
            <a:lstStyle/>
            <a:p>
              <a:pPr algn="ctr"/>
            </a:p>
          </p:txBody>
        </p:sp>
        <p:pic>
          <p:nvPicPr>
            <p:cNvPr id="76" name="Picture 75" descr="compass__8A96A3.png"/>
            <p:cNvPicPr>
              <a:picLocks noChangeAspect="1"/>
            </p:cNvPicPr>
            <p:nvPr/>
          </p:nvPicPr>
          <p:blipFill>
            <a:blip r:embed="rId14"/>
            <a:stretch>
              <a:fillRect/>
            </a:stretch>
          </p:blipFill>
          <p:spPr>
            <a:xfrm>
              <a:off x="11317986" y="459486"/>
              <a:ext cx="128778" cy="128778"/>
            </a:xfrm>
            <a:prstGeom prst="rect">
              <a:avLst/>
            </a:prstGeom>
          </p:spPr>
        </p:pic>
      </p:grpSp>
      <p:cxnSp>
        <p:nvCxnSpPr>
          <p:cNvPr id="77" name="Kapitel-Lücke"/>
          <p:cNvCxnSpPr/>
          <p:nvPr/>
        </p:nvCxnSpPr>
        <p:spPr>
          <a:xfrm>
            <a:off x="10115550" y="523875"/>
            <a:ext cx="7620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cxnSp>
        <p:nvCxnSpPr>
          <p:cNvPr id="78" name="Kapitel-Lücke"/>
          <p:cNvCxnSpPr/>
          <p:nvPr/>
        </p:nvCxnSpPr>
        <p:spPr>
          <a:xfrm>
            <a:off x="10839450" y="523875"/>
            <a:ext cx="76200" cy="0"/>
          </a:xfrm>
          <a:prstGeom prst="line">
            <a:avLst/>
          </a:prstGeom>
          <a:ln w="19050">
            <a:solidFill>
              <a:srgbClr val="B4BFCB"/>
            </a:solidFill>
          </a:ln>
        </p:spPr>
        <p:style>
          <a:lnRef idx="2">
            <a:schemeClr val="accent1"/>
          </a:lnRef>
          <a:fillRef idx="0">
            <a:schemeClr val="accent1"/>
          </a:fillRef>
          <a:effectRef idx="1">
            <a:schemeClr val="accent1"/>
          </a:effectRef>
          <a:fontRef idx="minor">
            <a:schemeClr val="tx1"/>
          </a:fontRef>
        </p:style>
      </p:cxnSp>
      <p:sp>
        <p:nvSpPr>
          <p:cNvPr id="79" name="Kapitel-Label"/>
          <p:cNvSpPr txBox="1"/>
          <p:nvPr/>
        </p:nvSpPr>
        <p:spPr>
          <a:xfrm>
            <a:off x="6267450" y="428625"/>
            <a:ext cx="3143250" cy="171450"/>
          </a:xfrm>
          <a:prstGeom prst="rect">
            <a:avLst/>
          </a:prstGeom>
          <a:noFill/>
        </p:spPr>
        <p:txBody>
          <a:bodyPr wrap="none" lIns="0" rIns="0" tIns="0" bIns="0" anchor="t">
            <a:noAutofit/>
          </a:bodyPr>
          <a:lstStyle/>
          <a:p>
            <a:pPr algn="r">
              <a:lnSpc>
                <a:spcPts val="1350"/>
              </a:lnSpc>
            </a:pPr>
            <a:r>
              <a:rPr sz="1050" b="1" i="0" lang="de-DE">
                <a:solidFill>
                  <a:srgbClr val="005E77"/>
                </a:solidFill>
                <a:latin typeface="IBM Plex Sans"/>
              </a:rPr>
              <a:t>04 · Methodik und Modell · Kiko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63659"/>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6CC0D2"/>
            </a:solidFill>
            <a:ln>
              <a:noFill/>
            </a:ln>
            <a:effectLst/>
          </p:spPr>
          <p:txBody>
            <a:bodyPr rtlCol="0" anchor="ctr"/>
            <a:lstStyle/>
            <a:p>
              <a:pPr algn="ctr"/>
            </a:p>
          </p:txBody>
        </p:sp>
        <p:pic>
          <p:nvPicPr>
            <p:cNvPr id="4" name="Picture 3" descr="clipboard-check__04263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7334250" cy="257175"/>
          </a:xfrm>
          <a:prstGeom prst="rect">
            <a:avLst/>
          </a:prstGeom>
          <a:noFill/>
        </p:spPr>
        <p:txBody>
          <a:bodyPr wrap="none" lIns="0" rIns="0" tIns="0" bIns="0" anchor="t">
            <a:noAutofit/>
          </a:bodyPr>
          <a:lstStyle/>
          <a:p>
            <a:pPr algn="l">
              <a:lnSpc>
                <a:spcPts val="2025"/>
              </a:lnSpc>
            </a:pPr>
            <a:r>
              <a:rPr sz="1500" b="0" i="0" lang="de-DE">
                <a:solidFill>
                  <a:srgbClr val="6CC0D2"/>
                </a:solidFill>
                <a:latin typeface="IBM Plex Sans"/>
              </a:rPr>
              <a:t>Was passiert mit dem Hinweis, und was lernen wir daraus?</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FFFFFF"/>
                </a:solidFill>
                <a:latin typeface="IBM Plex Sans"/>
              </a:rPr>
              <a:t>Prüfen, bewerten und aus dem Feedback lernen</a:t>
            </a:r>
          </a:p>
        </p:txBody>
      </p:sp>
      <p:sp>
        <p:nvSpPr>
          <p:cNvPr id="7" name="Rounded Rectangle 6"/>
          <p:cNvSpPr/>
          <p:nvPr/>
        </p:nvSpPr>
        <p:spPr>
          <a:xfrm>
            <a:off x="685800" y="1362075"/>
            <a:ext cx="6153150" cy="2373058"/>
          </a:xfrm>
          <a:prstGeom prst="roundRect">
            <a:avLst>
              <a:gd name="adj" fmla="val 4013"/>
            </a:avLst>
          </a:prstGeom>
          <a:solidFill>
            <a:srgbClr val="154263"/>
          </a:solidFill>
          <a:ln>
            <a:noFill/>
          </a:ln>
          <a:effectLst/>
        </p:spPr>
        <p:txBody>
          <a:bodyPr rtlCol="0" anchor="ctr"/>
          <a:lstStyle/>
          <a:p>
            <a:pPr algn="ctr"/>
          </a:p>
        </p:txBody>
      </p:sp>
      <p:grpSp>
        <p:nvGrpSpPr>
          <p:cNvPr id="8" name="Scheibe file-search"/>
          <p:cNvGrpSpPr/>
          <p:nvPr/>
        </p:nvGrpSpPr>
        <p:grpSpPr>
          <a:xfrm>
            <a:off x="809625" y="1419225"/>
            <a:ext cx="247650" cy="247650"/>
            <a:chOff x="809625" y="1419225"/>
            <a:chExt cx="247650" cy="247650"/>
          </a:xfrm>
        </p:grpSpPr>
        <p:sp>
          <p:nvSpPr>
            <p:cNvPr id="9" name="Oval 8"/>
            <p:cNvSpPr/>
            <p:nvPr/>
          </p:nvSpPr>
          <p:spPr>
            <a:xfrm>
              <a:off x="809625" y="1419225"/>
              <a:ext cx="247650" cy="247650"/>
            </a:xfrm>
            <a:prstGeom prst="ellipse">
              <a:avLst/>
            </a:prstGeom>
            <a:solidFill>
              <a:srgbClr val="6CC0D2"/>
            </a:solidFill>
            <a:ln>
              <a:noFill/>
            </a:ln>
            <a:effectLst/>
          </p:spPr>
          <p:txBody>
            <a:bodyPr rtlCol="0" anchor="ctr"/>
            <a:lstStyle/>
            <a:p>
              <a:pPr algn="ctr"/>
            </a:p>
          </p:txBody>
        </p:sp>
        <p:pic>
          <p:nvPicPr>
            <p:cNvPr id="10" name="Picture 9" descr="file-search__04263F.png"/>
            <p:cNvPicPr>
              <a:picLocks noChangeAspect="1"/>
            </p:cNvPicPr>
            <p:nvPr/>
          </p:nvPicPr>
          <p:blipFill>
            <a:blip r:embed="rId4"/>
            <a:stretch>
              <a:fillRect/>
            </a:stretch>
          </p:blipFill>
          <p:spPr>
            <a:xfrm>
              <a:off x="869061" y="1478661"/>
              <a:ext cx="128778" cy="128778"/>
            </a:xfrm>
            <a:prstGeom prst="rect">
              <a:avLst/>
            </a:prstGeom>
          </p:spPr>
        </p:pic>
      </p:grpSp>
      <p:sp>
        <p:nvSpPr>
          <p:cNvPr id="11" name="TextBox 10"/>
          <p:cNvSpPr txBox="1"/>
          <p:nvPr/>
        </p:nvSpPr>
        <p:spPr>
          <a:xfrm>
            <a:off x="1152525" y="1371600"/>
            <a:ext cx="6139815" cy="342900"/>
          </a:xfrm>
          <a:prstGeom prst="rect">
            <a:avLst/>
          </a:prstGeom>
          <a:noFill/>
        </p:spPr>
        <p:txBody>
          <a:bodyPr wrap="none" lIns="0" rIns="0" tIns="0" bIns="0" anchor="ctr">
            <a:noAutofit/>
          </a:bodyPr>
          <a:lstStyle/>
          <a:p>
            <a:pPr algn="l">
              <a:lnSpc>
                <a:spcPts val="1417"/>
              </a:lnSpc>
            </a:pPr>
            <a:r>
              <a:rPr sz="1087" b="1" i="0" lang="de-DE">
                <a:solidFill>
                  <a:srgbClr val="FFFFFF"/>
                </a:solidFill>
                <a:latin typeface="IBM Plex Sans"/>
              </a:rPr>
              <a:t>Fallakte · Warum wurde der Fall markiert?</a:t>
            </a:r>
          </a:p>
        </p:txBody>
      </p:sp>
      <p:pic>
        <p:nvPicPr>
          <p:cNvPr id="12" name="Screenshot Fallakte ZL-00147 mit Ist, Prognose, Abweichung und Schwellenfaktor" descr="image.png"/>
          <p:cNvPicPr>
            <a:picLocks noChangeAspect="1"/>
          </p:cNvPicPr>
          <p:nvPr/>
        </p:nvPicPr>
        <p:blipFill>
          <a:blip r:embed="rId5"/>
          <a:stretch>
            <a:fillRect/>
          </a:stretch>
        </p:blipFill>
        <p:spPr>
          <a:xfrm>
            <a:off x="695325" y="1714500"/>
            <a:ext cx="6134100" cy="2011108"/>
          </a:xfrm>
          <a:prstGeom prst="rect">
            <a:avLst/>
          </a:prstGeom>
        </p:spPr>
      </p:pic>
      <p:sp>
        <p:nvSpPr>
          <p:cNvPr id="13" name="Rounded Rectangle 12"/>
          <p:cNvSpPr/>
          <p:nvPr/>
        </p:nvSpPr>
        <p:spPr>
          <a:xfrm>
            <a:off x="685800" y="1362075"/>
            <a:ext cx="6153150" cy="2373058"/>
          </a:xfrm>
          <a:prstGeom prst="roundRect">
            <a:avLst>
              <a:gd name="adj" fmla="val 4013"/>
            </a:avLst>
          </a:prstGeom>
          <a:noFill/>
          <a:ln w="9525">
            <a:solidFill>
              <a:srgbClr val="3A607C"/>
            </a:solidFill>
          </a:ln>
          <a:effectLst/>
        </p:spPr>
        <p:txBody>
          <a:bodyPr rtlCol="0" anchor="ctr"/>
          <a:lstStyle/>
          <a:p>
            <a:pPr algn="ctr"/>
          </a:p>
        </p:txBody>
      </p:sp>
      <p:sp>
        <p:nvSpPr>
          <p:cNvPr id="14" name="Rounded Rectangle 13"/>
          <p:cNvSpPr/>
          <p:nvPr/>
        </p:nvSpPr>
        <p:spPr>
          <a:xfrm>
            <a:off x="5252314" y="2590393"/>
            <a:ext cx="1559357" cy="621321"/>
          </a:xfrm>
          <a:prstGeom prst="roundRect">
            <a:avLst>
              <a:gd name="adj" fmla="val 12264"/>
            </a:avLst>
          </a:prstGeom>
          <a:noFill/>
          <a:ln w="38100">
            <a:solidFill>
              <a:srgbClr val="114D6E"/>
            </a:solidFill>
          </a:ln>
          <a:effectLst/>
        </p:spPr>
        <p:txBody>
          <a:bodyPr rtlCol="0" anchor="ctr"/>
          <a:lstStyle/>
          <a:p>
            <a:pPr algn="ctr"/>
          </a:p>
        </p:txBody>
      </p:sp>
      <p:sp>
        <p:nvSpPr>
          <p:cNvPr id="15" name="Markierung"/>
          <p:cNvSpPr/>
          <p:nvPr/>
        </p:nvSpPr>
        <p:spPr>
          <a:xfrm>
            <a:off x="5285651" y="2623731"/>
            <a:ext cx="1492682" cy="554646"/>
          </a:xfrm>
          <a:prstGeom prst="roundRect">
            <a:avLst>
              <a:gd name="adj" fmla="val 8586"/>
            </a:avLst>
          </a:prstGeom>
          <a:noFill/>
          <a:ln w="28575">
            <a:solidFill>
              <a:srgbClr val="0080A0"/>
            </a:solidFill>
          </a:ln>
          <a:effectLst/>
        </p:spPr>
        <p:txBody>
          <a:bodyPr rtlCol="0" anchor="ctr"/>
          <a:lstStyle/>
          <a:p>
            <a:pPr algn="ctr"/>
          </a:p>
        </p:txBody>
      </p:sp>
      <p:sp>
        <p:nvSpPr>
          <p:cNvPr id="16" name="Rounded Rectangle 15"/>
          <p:cNvSpPr/>
          <p:nvPr/>
        </p:nvSpPr>
        <p:spPr>
          <a:xfrm>
            <a:off x="6258839" y="2409418"/>
            <a:ext cx="533781" cy="205740"/>
          </a:xfrm>
          <a:prstGeom prst="roundRect">
            <a:avLst>
              <a:gd name="adj" fmla="val 23148"/>
            </a:avLst>
          </a:prstGeom>
          <a:solidFill>
            <a:srgbClr val="00718E"/>
          </a:solidFill>
          <a:ln>
            <a:noFill/>
          </a:ln>
          <a:effectLst/>
        </p:spPr>
        <p:txBody>
          <a:bodyPr rtlCol="0" anchor="ctr"/>
          <a:lstStyle/>
          <a:p>
            <a:pPr algn="ctr"/>
          </a:p>
        </p:txBody>
      </p:sp>
      <p:sp>
        <p:nvSpPr>
          <p:cNvPr id="17" name="TextBox 16"/>
          <p:cNvSpPr txBox="1"/>
          <p:nvPr/>
        </p:nvSpPr>
        <p:spPr>
          <a:xfrm>
            <a:off x="6232150" y="2409418"/>
            <a:ext cx="587159" cy="205740"/>
          </a:xfrm>
          <a:prstGeom prst="rect">
            <a:avLst/>
          </a:prstGeom>
          <a:noFill/>
        </p:spPr>
        <p:txBody>
          <a:bodyPr wrap="none" lIns="0" rIns="0" tIns="0" bIns="0" anchor="ctr">
            <a:noAutofit/>
          </a:bodyPr>
          <a:lstStyle/>
          <a:p>
            <a:pPr algn="ctr">
              <a:lnSpc>
                <a:spcPts val="1170"/>
              </a:lnSpc>
            </a:pPr>
            <a:r>
              <a:rPr sz="975" b="1" i="0" lang="de-DE">
                <a:solidFill>
                  <a:srgbClr val="FFFFFF"/>
                </a:solidFill>
                <a:latin typeface="IBM Plex Sans"/>
              </a:rPr>
              <a:t>Faktor</a:t>
            </a:r>
          </a:p>
        </p:txBody>
      </p:sp>
      <p:sp>
        <p:nvSpPr>
          <p:cNvPr id="18" name="Rounded Rectangle 17"/>
          <p:cNvSpPr/>
          <p:nvPr/>
        </p:nvSpPr>
        <p:spPr>
          <a:xfrm>
            <a:off x="713080" y="3213837"/>
            <a:ext cx="6098591" cy="490599"/>
          </a:xfrm>
          <a:prstGeom prst="roundRect">
            <a:avLst>
              <a:gd name="adj" fmla="val 15532"/>
            </a:avLst>
          </a:prstGeom>
          <a:noFill/>
          <a:ln w="38100">
            <a:solidFill>
              <a:srgbClr val="114D6E"/>
            </a:solidFill>
          </a:ln>
          <a:effectLst/>
        </p:spPr>
        <p:txBody>
          <a:bodyPr rtlCol="0" anchor="ctr"/>
          <a:lstStyle/>
          <a:p>
            <a:pPr algn="ctr"/>
          </a:p>
        </p:txBody>
      </p:sp>
      <p:sp>
        <p:nvSpPr>
          <p:cNvPr id="19" name="Markierung"/>
          <p:cNvSpPr/>
          <p:nvPr/>
        </p:nvSpPr>
        <p:spPr>
          <a:xfrm>
            <a:off x="746417" y="3247174"/>
            <a:ext cx="6031916" cy="423924"/>
          </a:xfrm>
          <a:prstGeom prst="roundRect">
            <a:avLst>
              <a:gd name="adj" fmla="val 11234"/>
            </a:avLst>
          </a:prstGeom>
          <a:noFill/>
          <a:ln w="28575">
            <a:solidFill>
              <a:srgbClr val="0080A0"/>
            </a:solidFill>
          </a:ln>
          <a:effectLst/>
        </p:spPr>
        <p:txBody>
          <a:bodyPr rtlCol="0" anchor="ctr"/>
          <a:lstStyle/>
          <a:p>
            <a:pPr algn="ctr"/>
          </a:p>
        </p:txBody>
      </p:sp>
      <p:sp>
        <p:nvSpPr>
          <p:cNvPr id="20" name="Rounded Rectangle 19"/>
          <p:cNvSpPr/>
          <p:nvPr/>
        </p:nvSpPr>
        <p:spPr>
          <a:xfrm>
            <a:off x="732130" y="3032862"/>
            <a:ext cx="863156" cy="205740"/>
          </a:xfrm>
          <a:prstGeom prst="roundRect">
            <a:avLst>
              <a:gd name="adj" fmla="val 23148"/>
            </a:avLst>
          </a:prstGeom>
          <a:solidFill>
            <a:srgbClr val="00718E"/>
          </a:solidFill>
          <a:ln>
            <a:noFill/>
          </a:ln>
          <a:effectLst/>
        </p:spPr>
        <p:txBody>
          <a:bodyPr rtlCol="0" anchor="ctr"/>
          <a:lstStyle/>
          <a:p>
            <a:pPr algn="ctr"/>
          </a:p>
        </p:txBody>
      </p:sp>
      <p:sp>
        <p:nvSpPr>
          <p:cNvPr id="21" name="TextBox 20"/>
          <p:cNvSpPr txBox="1"/>
          <p:nvPr/>
        </p:nvSpPr>
        <p:spPr>
          <a:xfrm>
            <a:off x="688972" y="3032862"/>
            <a:ext cx="949471" cy="205740"/>
          </a:xfrm>
          <a:prstGeom prst="rect">
            <a:avLst/>
          </a:prstGeom>
          <a:noFill/>
        </p:spPr>
        <p:txBody>
          <a:bodyPr wrap="none" lIns="0" rIns="0" tIns="0" bIns="0" anchor="ctr">
            <a:noAutofit/>
          </a:bodyPr>
          <a:lstStyle/>
          <a:p>
            <a:pPr algn="ctr">
              <a:lnSpc>
                <a:spcPts val="1170"/>
              </a:lnSpc>
            </a:pPr>
            <a:r>
              <a:rPr sz="975" b="1" i="0" lang="de-DE">
                <a:solidFill>
                  <a:srgbClr val="FFFFFF"/>
                </a:solidFill>
                <a:latin typeface="IBM Plex Sans"/>
              </a:rPr>
              <a:t>Begründung</a:t>
            </a:r>
          </a:p>
        </p:txBody>
      </p:sp>
      <p:sp>
        <p:nvSpPr>
          <p:cNvPr id="22" name="Rounded Rectangle 21"/>
          <p:cNvSpPr/>
          <p:nvPr/>
        </p:nvSpPr>
        <p:spPr>
          <a:xfrm>
            <a:off x="685800" y="3830955"/>
            <a:ext cx="6153150" cy="1461706"/>
          </a:xfrm>
          <a:prstGeom prst="roundRect">
            <a:avLst>
              <a:gd name="adj" fmla="val 6516"/>
            </a:avLst>
          </a:prstGeom>
          <a:solidFill>
            <a:srgbClr val="154263"/>
          </a:solidFill>
          <a:ln>
            <a:noFill/>
          </a:ln>
          <a:effectLst/>
        </p:spPr>
        <p:txBody>
          <a:bodyPr rtlCol="0" anchor="ctr"/>
          <a:lstStyle/>
          <a:p>
            <a:pPr algn="ctr"/>
          </a:p>
        </p:txBody>
      </p:sp>
      <p:grpSp>
        <p:nvGrpSpPr>
          <p:cNvPr id="23" name="Scheibe list-checks"/>
          <p:cNvGrpSpPr/>
          <p:nvPr/>
        </p:nvGrpSpPr>
        <p:grpSpPr>
          <a:xfrm>
            <a:off x="809625" y="3888105"/>
            <a:ext cx="247650" cy="247650"/>
            <a:chOff x="809625" y="3888105"/>
            <a:chExt cx="247650" cy="247650"/>
          </a:xfrm>
        </p:grpSpPr>
        <p:sp>
          <p:nvSpPr>
            <p:cNvPr id="24" name="Oval 23"/>
            <p:cNvSpPr/>
            <p:nvPr/>
          </p:nvSpPr>
          <p:spPr>
            <a:xfrm>
              <a:off x="809625" y="3888105"/>
              <a:ext cx="247650" cy="247650"/>
            </a:xfrm>
            <a:prstGeom prst="ellipse">
              <a:avLst/>
            </a:prstGeom>
            <a:solidFill>
              <a:srgbClr val="6CC0D2"/>
            </a:solidFill>
            <a:ln>
              <a:noFill/>
            </a:ln>
            <a:effectLst/>
          </p:spPr>
          <p:txBody>
            <a:bodyPr rtlCol="0" anchor="ctr"/>
            <a:lstStyle/>
            <a:p>
              <a:pPr algn="ctr"/>
            </a:p>
          </p:txBody>
        </p:sp>
        <p:pic>
          <p:nvPicPr>
            <p:cNvPr id="25" name="Picture 24" descr="list-checks__04263F.png"/>
            <p:cNvPicPr>
              <a:picLocks noChangeAspect="1"/>
            </p:cNvPicPr>
            <p:nvPr/>
          </p:nvPicPr>
          <p:blipFill>
            <a:blip r:embed="rId6"/>
            <a:stretch>
              <a:fillRect/>
            </a:stretch>
          </p:blipFill>
          <p:spPr>
            <a:xfrm>
              <a:off x="869061" y="3947541"/>
              <a:ext cx="128778" cy="128778"/>
            </a:xfrm>
            <a:prstGeom prst="rect">
              <a:avLst/>
            </a:prstGeom>
          </p:spPr>
        </p:pic>
      </p:grpSp>
      <p:sp>
        <p:nvSpPr>
          <p:cNvPr id="26" name="TextBox 25"/>
          <p:cNvSpPr txBox="1"/>
          <p:nvPr/>
        </p:nvSpPr>
        <p:spPr>
          <a:xfrm>
            <a:off x="1152525" y="3840480"/>
            <a:ext cx="6139815" cy="342900"/>
          </a:xfrm>
          <a:prstGeom prst="rect">
            <a:avLst/>
          </a:prstGeom>
          <a:noFill/>
        </p:spPr>
        <p:txBody>
          <a:bodyPr wrap="none" lIns="0" rIns="0" tIns="0" bIns="0" anchor="ctr">
            <a:noAutofit/>
          </a:bodyPr>
          <a:lstStyle/>
          <a:p>
            <a:pPr algn="l">
              <a:lnSpc>
                <a:spcPts val="1417"/>
              </a:lnSpc>
            </a:pPr>
            <a:r>
              <a:rPr sz="1087" b="1" i="0" lang="de-DE">
                <a:solidFill>
                  <a:srgbClr val="FFFFFF"/>
                </a:solidFill>
                <a:latin typeface="IBM Plex Sans"/>
              </a:rPr>
              <a:t>Gespeichert · Status in der Prüfwarteschlange</a:t>
            </a:r>
          </a:p>
        </p:txBody>
      </p:sp>
      <p:pic>
        <p:nvPicPr>
          <p:cNvPr id="27" name="Screenshot Prüfwarteschlange mit Status Bewertung abgeschlossen" descr="image.png"/>
          <p:cNvPicPr>
            <a:picLocks noChangeAspect="1"/>
          </p:cNvPicPr>
          <p:nvPr/>
        </p:nvPicPr>
        <p:blipFill>
          <a:blip r:embed="rId7"/>
          <a:stretch>
            <a:fillRect/>
          </a:stretch>
        </p:blipFill>
        <p:spPr>
          <a:xfrm>
            <a:off x="695325" y="4183380"/>
            <a:ext cx="6134100" cy="1099756"/>
          </a:xfrm>
          <a:prstGeom prst="rect">
            <a:avLst/>
          </a:prstGeom>
        </p:spPr>
      </p:pic>
      <p:sp>
        <p:nvSpPr>
          <p:cNvPr id="28" name="Rounded Rectangle 27"/>
          <p:cNvSpPr/>
          <p:nvPr/>
        </p:nvSpPr>
        <p:spPr>
          <a:xfrm>
            <a:off x="685800" y="3830955"/>
            <a:ext cx="6153150" cy="1461706"/>
          </a:xfrm>
          <a:prstGeom prst="roundRect">
            <a:avLst>
              <a:gd name="adj" fmla="val 6516"/>
            </a:avLst>
          </a:prstGeom>
          <a:noFill/>
          <a:ln w="9525">
            <a:solidFill>
              <a:srgbClr val="3A607C"/>
            </a:solidFill>
          </a:ln>
          <a:effectLst/>
        </p:spPr>
        <p:txBody>
          <a:bodyPr rtlCol="0" anchor="ctr"/>
          <a:lstStyle/>
          <a:p>
            <a:pPr algn="ctr"/>
          </a:p>
        </p:txBody>
      </p:sp>
      <p:sp>
        <p:nvSpPr>
          <p:cNvPr id="29" name="Rounded Rectangle 28"/>
          <p:cNvSpPr/>
          <p:nvPr/>
        </p:nvSpPr>
        <p:spPr>
          <a:xfrm>
            <a:off x="5509946" y="5000145"/>
            <a:ext cx="982751" cy="280046"/>
          </a:xfrm>
          <a:prstGeom prst="roundRect">
            <a:avLst>
              <a:gd name="adj" fmla="val 27209"/>
            </a:avLst>
          </a:prstGeom>
          <a:noFill/>
          <a:ln w="38100">
            <a:solidFill>
              <a:srgbClr val="114D6E"/>
            </a:solidFill>
          </a:ln>
          <a:effectLst/>
        </p:spPr>
        <p:txBody>
          <a:bodyPr rtlCol="0" anchor="ctr"/>
          <a:lstStyle/>
          <a:p>
            <a:pPr algn="ctr"/>
          </a:p>
        </p:txBody>
      </p:sp>
      <p:sp>
        <p:nvSpPr>
          <p:cNvPr id="30" name="Markierung"/>
          <p:cNvSpPr/>
          <p:nvPr/>
        </p:nvSpPr>
        <p:spPr>
          <a:xfrm>
            <a:off x="5543283" y="5033482"/>
            <a:ext cx="916076" cy="213371"/>
          </a:xfrm>
          <a:prstGeom prst="roundRect">
            <a:avLst>
              <a:gd name="adj" fmla="val 22320"/>
            </a:avLst>
          </a:prstGeom>
          <a:noFill/>
          <a:ln w="28575">
            <a:solidFill>
              <a:srgbClr val="0080A0"/>
            </a:solidFill>
          </a:ln>
          <a:effectLst/>
        </p:spPr>
        <p:txBody>
          <a:bodyPr rtlCol="0" anchor="ctr"/>
          <a:lstStyle/>
          <a:p>
            <a:pPr algn="ctr"/>
          </a:p>
        </p:txBody>
      </p:sp>
      <p:sp>
        <p:nvSpPr>
          <p:cNvPr id="31" name="Rounded Rectangle 30"/>
          <p:cNvSpPr/>
          <p:nvPr/>
        </p:nvSpPr>
        <p:spPr>
          <a:xfrm>
            <a:off x="5943581" y="4819170"/>
            <a:ext cx="530066" cy="205740"/>
          </a:xfrm>
          <a:prstGeom prst="roundRect">
            <a:avLst>
              <a:gd name="adj" fmla="val 23148"/>
            </a:avLst>
          </a:prstGeom>
          <a:solidFill>
            <a:srgbClr val="00718E"/>
          </a:solidFill>
          <a:ln>
            <a:noFill/>
          </a:ln>
          <a:effectLst/>
        </p:spPr>
        <p:txBody>
          <a:bodyPr rtlCol="0" anchor="ctr"/>
          <a:lstStyle/>
          <a:p>
            <a:pPr algn="ctr"/>
          </a:p>
        </p:txBody>
      </p:sp>
      <p:sp>
        <p:nvSpPr>
          <p:cNvPr id="32" name="TextBox 31"/>
          <p:cNvSpPr txBox="1"/>
          <p:nvPr/>
        </p:nvSpPr>
        <p:spPr>
          <a:xfrm>
            <a:off x="5917078" y="4819170"/>
            <a:ext cx="583073" cy="205740"/>
          </a:xfrm>
          <a:prstGeom prst="rect">
            <a:avLst/>
          </a:prstGeom>
          <a:noFill/>
        </p:spPr>
        <p:txBody>
          <a:bodyPr wrap="none" lIns="0" rIns="0" tIns="0" bIns="0" anchor="ctr">
            <a:noAutofit/>
          </a:bodyPr>
          <a:lstStyle/>
          <a:p>
            <a:pPr algn="ctr">
              <a:lnSpc>
                <a:spcPts val="1170"/>
              </a:lnSpc>
            </a:pPr>
            <a:r>
              <a:rPr sz="975" b="1" i="0" lang="de-DE">
                <a:solidFill>
                  <a:srgbClr val="FFFFFF"/>
                </a:solidFill>
                <a:latin typeface="IBM Plex Sans"/>
              </a:rPr>
              <a:t>Status</a:t>
            </a:r>
          </a:p>
        </p:txBody>
      </p:sp>
      <p:sp>
        <p:nvSpPr>
          <p:cNvPr id="33" name="Rounded Rectangle 32"/>
          <p:cNvSpPr/>
          <p:nvPr/>
        </p:nvSpPr>
        <p:spPr>
          <a:xfrm>
            <a:off x="7029450" y="1362075"/>
            <a:ext cx="4476750" cy="3790327"/>
          </a:xfrm>
          <a:prstGeom prst="roundRect">
            <a:avLst>
              <a:gd name="adj" fmla="val 2512"/>
            </a:avLst>
          </a:prstGeom>
          <a:solidFill>
            <a:srgbClr val="154263"/>
          </a:solidFill>
          <a:ln>
            <a:noFill/>
          </a:ln>
          <a:effectLst/>
        </p:spPr>
        <p:txBody>
          <a:bodyPr rtlCol="0" anchor="ctr"/>
          <a:lstStyle/>
          <a:p>
            <a:pPr algn="ctr"/>
          </a:p>
        </p:txBody>
      </p:sp>
      <p:grpSp>
        <p:nvGrpSpPr>
          <p:cNvPr id="34" name="Scheibe pencil-line"/>
          <p:cNvGrpSpPr/>
          <p:nvPr/>
        </p:nvGrpSpPr>
        <p:grpSpPr>
          <a:xfrm>
            <a:off x="7153275" y="1419225"/>
            <a:ext cx="247650" cy="247650"/>
            <a:chOff x="7153275" y="1419225"/>
            <a:chExt cx="247650" cy="247650"/>
          </a:xfrm>
        </p:grpSpPr>
        <p:sp>
          <p:nvSpPr>
            <p:cNvPr id="35" name="Oval 34"/>
            <p:cNvSpPr/>
            <p:nvPr/>
          </p:nvSpPr>
          <p:spPr>
            <a:xfrm>
              <a:off x="7153275" y="1419225"/>
              <a:ext cx="247650" cy="247650"/>
            </a:xfrm>
            <a:prstGeom prst="ellipse">
              <a:avLst/>
            </a:prstGeom>
            <a:solidFill>
              <a:srgbClr val="6CC0D2"/>
            </a:solidFill>
            <a:ln>
              <a:noFill/>
            </a:ln>
            <a:effectLst/>
          </p:spPr>
          <p:txBody>
            <a:bodyPr rtlCol="0" anchor="ctr"/>
            <a:lstStyle/>
            <a:p>
              <a:pPr algn="ctr"/>
            </a:p>
          </p:txBody>
        </p:sp>
        <p:pic>
          <p:nvPicPr>
            <p:cNvPr id="36" name="Picture 35" descr="pencil-line__04263F.png"/>
            <p:cNvPicPr>
              <a:picLocks noChangeAspect="1"/>
            </p:cNvPicPr>
            <p:nvPr/>
          </p:nvPicPr>
          <p:blipFill>
            <a:blip r:embed="rId8"/>
            <a:stretch>
              <a:fillRect/>
            </a:stretch>
          </p:blipFill>
          <p:spPr>
            <a:xfrm>
              <a:off x="7212711" y="1478661"/>
              <a:ext cx="128778" cy="128778"/>
            </a:xfrm>
            <a:prstGeom prst="rect">
              <a:avLst/>
            </a:prstGeom>
          </p:spPr>
        </p:pic>
      </p:grpSp>
      <p:sp>
        <p:nvSpPr>
          <p:cNvPr id="37" name="TextBox 36"/>
          <p:cNvSpPr txBox="1"/>
          <p:nvPr/>
        </p:nvSpPr>
        <p:spPr>
          <a:xfrm>
            <a:off x="7496175" y="1371600"/>
            <a:ext cx="4295775" cy="342900"/>
          </a:xfrm>
          <a:prstGeom prst="rect">
            <a:avLst/>
          </a:prstGeom>
          <a:noFill/>
        </p:spPr>
        <p:txBody>
          <a:bodyPr wrap="none" lIns="0" rIns="0" tIns="0" bIns="0" anchor="ctr">
            <a:noAutofit/>
          </a:bodyPr>
          <a:lstStyle/>
          <a:p>
            <a:pPr algn="l">
              <a:lnSpc>
                <a:spcPts val="1417"/>
              </a:lnSpc>
            </a:pPr>
            <a:r>
              <a:rPr sz="1087" b="1" i="0" lang="de-DE">
                <a:solidFill>
                  <a:srgbClr val="FFFFFF"/>
                </a:solidFill>
                <a:latin typeface="IBM Plex Sans"/>
              </a:rPr>
              <a:t>Bewertung dokumentieren · Beispieleingabe</a:t>
            </a:r>
          </a:p>
        </p:txBody>
      </p:sp>
      <p:pic>
        <p:nvPicPr>
          <p:cNvPr id="38" name="Screenshot Dialog Bewertung dokumentieren mit getrennten Bewertungsdimensionen" descr="image.png"/>
          <p:cNvPicPr>
            <a:picLocks noChangeAspect="1"/>
          </p:cNvPicPr>
          <p:nvPr/>
        </p:nvPicPr>
        <p:blipFill>
          <a:blip r:embed="rId9"/>
          <a:stretch>
            <a:fillRect/>
          </a:stretch>
        </p:blipFill>
        <p:spPr>
          <a:xfrm>
            <a:off x="7038975" y="1714500"/>
            <a:ext cx="4457700" cy="3428377"/>
          </a:xfrm>
          <a:prstGeom prst="rect">
            <a:avLst/>
          </a:prstGeom>
        </p:spPr>
      </p:pic>
      <p:sp>
        <p:nvSpPr>
          <p:cNvPr id="39" name="Rounded Rectangle 38"/>
          <p:cNvSpPr/>
          <p:nvPr/>
        </p:nvSpPr>
        <p:spPr>
          <a:xfrm>
            <a:off x="7029450" y="1362075"/>
            <a:ext cx="4476750" cy="3790327"/>
          </a:xfrm>
          <a:prstGeom prst="roundRect">
            <a:avLst>
              <a:gd name="adj" fmla="val 2512"/>
            </a:avLst>
          </a:prstGeom>
          <a:noFill/>
          <a:ln w="9525">
            <a:solidFill>
              <a:srgbClr val="3A607C"/>
            </a:solidFill>
          </a:ln>
          <a:effectLst/>
        </p:spPr>
        <p:txBody>
          <a:bodyPr rtlCol="0" anchor="ctr"/>
          <a:lstStyle/>
          <a:p>
            <a:pPr algn="ctr"/>
          </a:p>
        </p:txBody>
      </p:sp>
      <p:sp>
        <p:nvSpPr>
          <p:cNvPr id="40" name="Rounded Rectangle 39"/>
          <p:cNvSpPr/>
          <p:nvPr/>
        </p:nvSpPr>
        <p:spPr>
          <a:xfrm>
            <a:off x="7100164" y="3107941"/>
            <a:ext cx="4335323" cy="401508"/>
          </a:xfrm>
          <a:prstGeom prst="roundRect">
            <a:avLst>
              <a:gd name="adj" fmla="val 18978"/>
            </a:avLst>
          </a:prstGeom>
          <a:noFill/>
          <a:ln w="38100">
            <a:solidFill>
              <a:srgbClr val="114D6E"/>
            </a:solidFill>
          </a:ln>
          <a:effectLst/>
        </p:spPr>
        <p:txBody>
          <a:bodyPr rtlCol="0" anchor="ctr"/>
          <a:lstStyle/>
          <a:p>
            <a:pPr algn="ctr"/>
          </a:p>
        </p:txBody>
      </p:sp>
      <p:sp>
        <p:nvSpPr>
          <p:cNvPr id="41" name="Markierung"/>
          <p:cNvSpPr/>
          <p:nvPr/>
        </p:nvSpPr>
        <p:spPr>
          <a:xfrm>
            <a:off x="7133501" y="3141279"/>
            <a:ext cx="4268648" cy="334833"/>
          </a:xfrm>
          <a:prstGeom prst="roundRect">
            <a:avLst>
              <a:gd name="adj" fmla="val 14223"/>
            </a:avLst>
          </a:prstGeom>
          <a:noFill/>
          <a:ln w="28575">
            <a:solidFill>
              <a:srgbClr val="0080A0"/>
            </a:solidFill>
          </a:ln>
          <a:effectLst/>
        </p:spPr>
        <p:txBody>
          <a:bodyPr rtlCol="0" anchor="ctr"/>
          <a:lstStyle/>
          <a:p>
            <a:pPr algn="ctr"/>
          </a:p>
        </p:txBody>
      </p:sp>
      <p:sp>
        <p:nvSpPr>
          <p:cNvPr id="42" name="Rounded Rectangle 41"/>
          <p:cNvSpPr/>
          <p:nvPr/>
        </p:nvSpPr>
        <p:spPr>
          <a:xfrm>
            <a:off x="10521086" y="2926966"/>
            <a:ext cx="895350" cy="205740"/>
          </a:xfrm>
          <a:prstGeom prst="roundRect">
            <a:avLst>
              <a:gd name="adj" fmla="val 23148"/>
            </a:avLst>
          </a:prstGeom>
          <a:solidFill>
            <a:srgbClr val="00718E"/>
          </a:solidFill>
          <a:ln>
            <a:noFill/>
          </a:ln>
          <a:effectLst/>
        </p:spPr>
        <p:txBody>
          <a:bodyPr rtlCol="0" anchor="ctr"/>
          <a:lstStyle/>
          <a:p>
            <a:pPr algn="ctr"/>
          </a:p>
        </p:txBody>
      </p:sp>
      <p:sp>
        <p:nvSpPr>
          <p:cNvPr id="43" name="TextBox 42"/>
          <p:cNvSpPr txBox="1"/>
          <p:nvPr/>
        </p:nvSpPr>
        <p:spPr>
          <a:xfrm>
            <a:off x="10476319" y="2926966"/>
            <a:ext cx="984885" cy="205740"/>
          </a:xfrm>
          <a:prstGeom prst="rect">
            <a:avLst/>
          </a:prstGeom>
          <a:noFill/>
        </p:spPr>
        <p:txBody>
          <a:bodyPr wrap="none" lIns="0" rIns="0" tIns="0" bIns="0" anchor="ctr">
            <a:noAutofit/>
          </a:bodyPr>
          <a:lstStyle/>
          <a:p>
            <a:pPr algn="ctr">
              <a:lnSpc>
                <a:spcPts val="1170"/>
              </a:lnSpc>
            </a:pPr>
            <a:r>
              <a:rPr sz="975" b="1" i="0" lang="de-DE">
                <a:solidFill>
                  <a:srgbClr val="FFFFFF"/>
                </a:solidFill>
                <a:latin typeface="IBM Plex Sans"/>
              </a:rPr>
              <a:t>Label-Quelle</a:t>
            </a:r>
          </a:p>
        </p:txBody>
      </p:sp>
      <p:sp>
        <p:nvSpPr>
          <p:cNvPr id="44" name="Rounded Rectangle 43"/>
          <p:cNvSpPr/>
          <p:nvPr/>
        </p:nvSpPr>
        <p:spPr>
          <a:xfrm>
            <a:off x="685800" y="5295900"/>
            <a:ext cx="10820400" cy="419100"/>
          </a:xfrm>
          <a:prstGeom prst="roundRect">
            <a:avLst>
              <a:gd name="adj" fmla="val 22727"/>
            </a:avLst>
          </a:prstGeom>
          <a:solidFill>
            <a:srgbClr val="174465"/>
          </a:solidFill>
          <a:ln w="9525">
            <a:solidFill>
              <a:srgbClr val="2E5674"/>
            </a:solidFill>
          </a:ln>
          <a:effectLst/>
        </p:spPr>
        <p:txBody>
          <a:bodyPr rtlCol="0" anchor="ctr"/>
          <a:lstStyle/>
          <a:p>
            <a:pPr algn="ctr"/>
          </a:p>
        </p:txBody>
      </p:sp>
      <p:sp>
        <p:nvSpPr>
          <p:cNvPr id="45" name="Rounded Rectangle 44"/>
          <p:cNvSpPr/>
          <p:nvPr/>
        </p:nvSpPr>
        <p:spPr>
          <a:xfrm>
            <a:off x="828675" y="5414962"/>
            <a:ext cx="1638300" cy="190500"/>
          </a:xfrm>
          <a:prstGeom prst="roundRect">
            <a:avLst>
              <a:gd name="adj" fmla="val 20000"/>
            </a:avLst>
          </a:prstGeom>
          <a:solidFill>
            <a:srgbClr val="335A77"/>
          </a:solidFill>
          <a:ln>
            <a:noFill/>
          </a:ln>
          <a:effectLst/>
        </p:spPr>
        <p:txBody>
          <a:bodyPr rtlCol="0" anchor="ctr"/>
          <a:lstStyle/>
          <a:p>
            <a:pPr algn="ctr"/>
          </a:p>
        </p:txBody>
      </p:sp>
      <p:sp>
        <p:nvSpPr>
          <p:cNvPr id="46" name="TextBox 45"/>
          <p:cNvSpPr txBox="1"/>
          <p:nvPr/>
        </p:nvSpPr>
        <p:spPr>
          <a:xfrm>
            <a:off x="746760" y="5414962"/>
            <a:ext cx="1802130" cy="190500"/>
          </a:xfrm>
          <a:prstGeom prst="rect">
            <a:avLst/>
          </a:prstGeom>
          <a:noFill/>
        </p:spPr>
        <p:txBody>
          <a:bodyPr wrap="none" lIns="0" rIns="0" tIns="0" bIns="0" anchor="ctr">
            <a:noAutofit/>
          </a:bodyPr>
          <a:lstStyle/>
          <a:p>
            <a:pPr algn="ctr">
              <a:lnSpc>
                <a:spcPts val="1275"/>
              </a:lnSpc>
            </a:pPr>
            <a:r>
              <a:rPr sz="1012" b="0" i="0" lang="de-DE">
                <a:solidFill>
                  <a:srgbClr val="FFFFFF"/>
                </a:solidFill>
                <a:latin typeface="Geist Mono"/>
              </a:rPr>
              <a:t>Messwert gültig = Ja</a:t>
            </a:r>
          </a:p>
        </p:txBody>
      </p:sp>
      <p:sp>
        <p:nvSpPr>
          <p:cNvPr id="47" name="TextBox 46"/>
          <p:cNvSpPr txBox="1"/>
          <p:nvPr/>
        </p:nvSpPr>
        <p:spPr>
          <a:xfrm>
            <a:off x="2466975" y="5414962"/>
            <a:ext cx="244412" cy="180975"/>
          </a:xfrm>
          <a:prstGeom prst="rect">
            <a:avLst/>
          </a:prstGeom>
          <a:noFill/>
        </p:spPr>
        <p:txBody>
          <a:bodyPr wrap="none" lIns="0" rIns="0" tIns="0" bIns="0" anchor="t">
            <a:noAutofit/>
          </a:bodyPr>
          <a:lstStyle/>
          <a:p>
            <a:pPr algn="l">
              <a:lnSpc>
                <a:spcPts val="1425"/>
              </a:lnSpc>
            </a:pPr>
            <a:r>
              <a:rPr sz="1087" b="0" i="0" lang="de-DE">
                <a:solidFill>
                  <a:srgbClr val="BBD7EA"/>
                </a:solidFill>
                <a:latin typeface="IBM Plex Sans"/>
              </a:rPr>
              <a:t> + </a:t>
            </a:r>
          </a:p>
        </p:txBody>
      </p:sp>
      <p:sp>
        <p:nvSpPr>
          <p:cNvPr id="48" name="Rounded Rectangle 47"/>
          <p:cNvSpPr/>
          <p:nvPr/>
        </p:nvSpPr>
        <p:spPr>
          <a:xfrm>
            <a:off x="2616137" y="5414962"/>
            <a:ext cx="2024062" cy="190500"/>
          </a:xfrm>
          <a:prstGeom prst="roundRect">
            <a:avLst>
              <a:gd name="adj" fmla="val 20000"/>
            </a:avLst>
          </a:prstGeom>
          <a:solidFill>
            <a:srgbClr val="335A77"/>
          </a:solidFill>
          <a:ln>
            <a:noFill/>
          </a:ln>
          <a:effectLst/>
        </p:spPr>
        <p:txBody>
          <a:bodyPr rtlCol="0" anchor="ctr"/>
          <a:lstStyle/>
          <a:p>
            <a:pPr algn="ctr"/>
          </a:p>
        </p:txBody>
      </p:sp>
      <p:sp>
        <p:nvSpPr>
          <p:cNvPr id="49" name="TextBox 48"/>
          <p:cNvSpPr txBox="1"/>
          <p:nvPr/>
        </p:nvSpPr>
        <p:spPr>
          <a:xfrm>
            <a:off x="2514933" y="5414962"/>
            <a:ext cx="2226469" cy="190500"/>
          </a:xfrm>
          <a:prstGeom prst="rect">
            <a:avLst/>
          </a:prstGeom>
          <a:noFill/>
        </p:spPr>
        <p:txBody>
          <a:bodyPr wrap="none" lIns="0" rIns="0" tIns="0" bIns="0" anchor="ctr">
            <a:noAutofit/>
          </a:bodyPr>
          <a:lstStyle/>
          <a:p>
            <a:pPr algn="ctr">
              <a:lnSpc>
                <a:spcPts val="1275"/>
              </a:lnSpc>
            </a:pPr>
            <a:r>
              <a:rPr sz="1012" b="0" i="0" lang="de-DE">
                <a:solidFill>
                  <a:srgbClr val="FFFFFF"/>
                </a:solidFill>
                <a:latin typeface="Geist Mono"/>
              </a:rPr>
              <a:t>Abweichung erklärt = Nein</a:t>
            </a:r>
          </a:p>
        </p:txBody>
      </p:sp>
      <p:sp>
        <p:nvSpPr>
          <p:cNvPr id="50" name="TextBox 49"/>
          <p:cNvSpPr txBox="1"/>
          <p:nvPr/>
        </p:nvSpPr>
        <p:spPr>
          <a:xfrm>
            <a:off x="4640199" y="5414962"/>
            <a:ext cx="277558" cy="180975"/>
          </a:xfrm>
          <a:prstGeom prst="rect">
            <a:avLst/>
          </a:prstGeom>
          <a:noFill/>
        </p:spPr>
        <p:txBody>
          <a:bodyPr wrap="none" lIns="0" rIns="0" tIns="0" bIns="0" anchor="t">
            <a:noAutofit/>
          </a:bodyPr>
          <a:lstStyle/>
          <a:p>
            <a:pPr algn="l">
              <a:lnSpc>
                <a:spcPts val="1425"/>
              </a:lnSpc>
            </a:pPr>
            <a:r>
              <a:rPr sz="1087" b="0" i="0" lang="de-DE">
                <a:solidFill>
                  <a:srgbClr val="BBD7EA"/>
                </a:solidFill>
                <a:latin typeface="IBM Plex Sans"/>
              </a:rPr>
              <a:t> ⇒ </a:t>
            </a:r>
          </a:p>
        </p:txBody>
      </p:sp>
      <p:sp>
        <p:nvSpPr>
          <p:cNvPr id="51" name="TextBox 50"/>
          <p:cNvSpPr txBox="1"/>
          <p:nvPr/>
        </p:nvSpPr>
        <p:spPr>
          <a:xfrm>
            <a:off x="4822508" y="5414962"/>
            <a:ext cx="1545012" cy="180975"/>
          </a:xfrm>
          <a:prstGeom prst="rect">
            <a:avLst/>
          </a:prstGeom>
          <a:noFill/>
        </p:spPr>
        <p:txBody>
          <a:bodyPr wrap="none" lIns="0" rIns="0" tIns="0" bIns="0" anchor="t">
            <a:noAutofit/>
          </a:bodyPr>
          <a:lstStyle/>
          <a:p>
            <a:pPr algn="l">
              <a:lnSpc>
                <a:spcPts val="1425"/>
              </a:lnSpc>
            </a:pPr>
            <a:r>
              <a:rPr sz="1087" b="1" i="0" lang="de-DE">
                <a:solidFill>
                  <a:srgbClr val="FFFFFF"/>
                </a:solidFill>
                <a:latin typeface="IBM Plex Sans"/>
              </a:rPr>
              <a:t>bestätigte Anomalie</a:t>
            </a:r>
          </a:p>
        </p:txBody>
      </p:sp>
      <p:sp>
        <p:nvSpPr>
          <p:cNvPr id="52" name="TextBox 51"/>
          <p:cNvSpPr txBox="1"/>
          <p:nvPr/>
        </p:nvSpPr>
        <p:spPr>
          <a:xfrm>
            <a:off x="6246114" y="5414962"/>
            <a:ext cx="230038" cy="180975"/>
          </a:xfrm>
          <a:prstGeom prst="rect">
            <a:avLst/>
          </a:prstGeom>
          <a:noFill/>
        </p:spPr>
        <p:txBody>
          <a:bodyPr wrap="none" lIns="0" rIns="0" tIns="0" bIns="0" anchor="t">
            <a:noAutofit/>
          </a:bodyPr>
          <a:lstStyle/>
          <a:p>
            <a:pPr algn="l">
              <a:lnSpc>
                <a:spcPts val="1425"/>
              </a:lnSpc>
            </a:pPr>
            <a:r>
              <a:rPr sz="1087" b="0" i="0" lang="de-DE">
                <a:solidFill>
                  <a:srgbClr val="6CC0D2"/>
                </a:solidFill>
                <a:latin typeface="IBM Plex Sans"/>
              </a:rPr>
              <a:t>→</a:t>
            </a:r>
          </a:p>
        </p:txBody>
      </p:sp>
      <p:grpSp>
        <p:nvGrpSpPr>
          <p:cNvPr id="53" name="Scheibe badge-check"/>
          <p:cNvGrpSpPr/>
          <p:nvPr/>
        </p:nvGrpSpPr>
        <p:grpSpPr>
          <a:xfrm>
            <a:off x="6457102" y="5381625"/>
            <a:ext cx="247650" cy="247650"/>
            <a:chOff x="6457102" y="5381625"/>
            <a:chExt cx="247650" cy="247650"/>
          </a:xfrm>
        </p:grpSpPr>
        <p:sp>
          <p:nvSpPr>
            <p:cNvPr id="54" name="Oval 53"/>
            <p:cNvSpPr/>
            <p:nvPr/>
          </p:nvSpPr>
          <p:spPr>
            <a:xfrm>
              <a:off x="6457102" y="5381625"/>
              <a:ext cx="247650" cy="247650"/>
            </a:xfrm>
            <a:prstGeom prst="ellipse">
              <a:avLst/>
            </a:prstGeom>
            <a:solidFill>
              <a:srgbClr val="6CC0D2"/>
            </a:solidFill>
            <a:ln>
              <a:noFill/>
            </a:ln>
            <a:effectLst/>
          </p:spPr>
          <p:txBody>
            <a:bodyPr rtlCol="0" anchor="ctr"/>
            <a:lstStyle/>
            <a:p>
              <a:pPr algn="ctr"/>
            </a:p>
          </p:txBody>
        </p:sp>
        <p:pic>
          <p:nvPicPr>
            <p:cNvPr id="55" name="Picture 54" descr="badge-check__04263F.png"/>
            <p:cNvPicPr>
              <a:picLocks noChangeAspect="1"/>
            </p:cNvPicPr>
            <p:nvPr/>
          </p:nvPicPr>
          <p:blipFill>
            <a:blip r:embed="rId10"/>
            <a:stretch>
              <a:fillRect/>
            </a:stretch>
          </p:blipFill>
          <p:spPr>
            <a:xfrm>
              <a:off x="6516538" y="5441061"/>
              <a:ext cx="128778" cy="128778"/>
            </a:xfrm>
            <a:prstGeom prst="rect">
              <a:avLst/>
            </a:prstGeom>
          </p:spPr>
        </p:pic>
      </p:grpSp>
      <p:sp>
        <p:nvSpPr>
          <p:cNvPr id="56" name="TextBox 55"/>
          <p:cNvSpPr txBox="1"/>
          <p:nvPr/>
        </p:nvSpPr>
        <p:spPr>
          <a:xfrm>
            <a:off x="6780952" y="5414962"/>
            <a:ext cx="1306492" cy="180975"/>
          </a:xfrm>
          <a:prstGeom prst="rect">
            <a:avLst/>
          </a:prstGeom>
          <a:noFill/>
        </p:spPr>
        <p:txBody>
          <a:bodyPr wrap="none" lIns="0" rIns="0" tIns="0" bIns="0" anchor="t">
            <a:noAutofit/>
          </a:bodyPr>
          <a:lstStyle/>
          <a:p>
            <a:pPr algn="l">
              <a:lnSpc>
                <a:spcPts val="1425"/>
              </a:lnSpc>
            </a:pPr>
            <a:r>
              <a:rPr sz="1087" b="0" i="0" lang="de-DE">
                <a:solidFill>
                  <a:srgbClr val="FFFFFF"/>
                </a:solidFill>
                <a:latin typeface="IBM Plex Sans"/>
              </a:rPr>
              <a:t>Precision messen</a:t>
            </a:r>
          </a:p>
        </p:txBody>
      </p:sp>
      <p:sp>
        <p:nvSpPr>
          <p:cNvPr id="57" name="TextBox 56"/>
          <p:cNvSpPr txBox="1"/>
          <p:nvPr/>
        </p:nvSpPr>
        <p:spPr>
          <a:xfrm>
            <a:off x="7987722" y="5414962"/>
            <a:ext cx="230038" cy="180975"/>
          </a:xfrm>
          <a:prstGeom prst="rect">
            <a:avLst/>
          </a:prstGeom>
          <a:noFill/>
        </p:spPr>
        <p:txBody>
          <a:bodyPr wrap="none" lIns="0" rIns="0" tIns="0" bIns="0" anchor="t">
            <a:noAutofit/>
          </a:bodyPr>
          <a:lstStyle/>
          <a:p>
            <a:pPr algn="l">
              <a:lnSpc>
                <a:spcPts val="1425"/>
              </a:lnSpc>
            </a:pPr>
            <a:r>
              <a:rPr sz="1087" b="0" i="0" lang="de-DE">
                <a:solidFill>
                  <a:srgbClr val="6CC0D2"/>
                </a:solidFill>
                <a:latin typeface="IBM Plex Sans"/>
              </a:rPr>
              <a:t>→</a:t>
            </a:r>
          </a:p>
        </p:txBody>
      </p:sp>
      <p:grpSp>
        <p:nvGrpSpPr>
          <p:cNvPr id="58" name="Scheibe scan-search"/>
          <p:cNvGrpSpPr/>
          <p:nvPr/>
        </p:nvGrpSpPr>
        <p:grpSpPr>
          <a:xfrm>
            <a:off x="8198710" y="5381625"/>
            <a:ext cx="247650" cy="247650"/>
            <a:chOff x="8198710" y="5381625"/>
            <a:chExt cx="247650" cy="247650"/>
          </a:xfrm>
        </p:grpSpPr>
        <p:sp>
          <p:nvSpPr>
            <p:cNvPr id="59" name="Oval 58"/>
            <p:cNvSpPr/>
            <p:nvPr/>
          </p:nvSpPr>
          <p:spPr>
            <a:xfrm>
              <a:off x="8198710" y="5381625"/>
              <a:ext cx="247650" cy="247650"/>
            </a:xfrm>
            <a:prstGeom prst="ellipse">
              <a:avLst/>
            </a:prstGeom>
            <a:solidFill>
              <a:srgbClr val="6CC0D2"/>
            </a:solidFill>
            <a:ln>
              <a:noFill/>
            </a:ln>
            <a:effectLst/>
          </p:spPr>
          <p:txBody>
            <a:bodyPr rtlCol="0" anchor="ctr"/>
            <a:lstStyle/>
            <a:p>
              <a:pPr algn="ctr"/>
            </a:p>
          </p:txBody>
        </p:sp>
        <p:pic>
          <p:nvPicPr>
            <p:cNvPr id="60" name="Picture 59" descr="scan-search__04263F.png"/>
            <p:cNvPicPr>
              <a:picLocks noChangeAspect="1"/>
            </p:cNvPicPr>
            <p:nvPr/>
          </p:nvPicPr>
          <p:blipFill>
            <a:blip r:embed="rId11"/>
            <a:stretch>
              <a:fillRect/>
            </a:stretch>
          </p:blipFill>
          <p:spPr>
            <a:xfrm>
              <a:off x="8258146" y="5441061"/>
              <a:ext cx="128778" cy="128778"/>
            </a:xfrm>
            <a:prstGeom prst="rect">
              <a:avLst/>
            </a:prstGeom>
          </p:spPr>
        </p:pic>
      </p:grpSp>
      <p:sp>
        <p:nvSpPr>
          <p:cNvPr id="61" name="TextBox 60"/>
          <p:cNvSpPr txBox="1"/>
          <p:nvPr/>
        </p:nvSpPr>
        <p:spPr>
          <a:xfrm>
            <a:off x="8522560" y="5414962"/>
            <a:ext cx="1531339" cy="180975"/>
          </a:xfrm>
          <a:prstGeom prst="rect">
            <a:avLst/>
          </a:prstGeom>
          <a:noFill/>
        </p:spPr>
        <p:txBody>
          <a:bodyPr wrap="none" lIns="0" rIns="0" tIns="0" bIns="0" anchor="t">
            <a:noAutofit/>
          </a:bodyPr>
          <a:lstStyle/>
          <a:p>
            <a:pPr algn="l">
              <a:lnSpc>
                <a:spcPts val="1425"/>
              </a:lnSpc>
            </a:pPr>
            <a:r>
              <a:rPr sz="1087" b="0" i="0" lang="de-DE">
                <a:solidFill>
                  <a:srgbClr val="FFFFFF"/>
                </a:solidFill>
                <a:latin typeface="IBM Plex Sans"/>
              </a:rPr>
              <a:t>Stichprobe für Recall</a:t>
            </a:r>
          </a:p>
        </p:txBody>
      </p:sp>
      <p:sp>
        <p:nvSpPr>
          <p:cNvPr id="62" name="TextBox 61"/>
          <p:cNvSpPr txBox="1"/>
          <p:nvPr/>
        </p:nvSpPr>
        <p:spPr>
          <a:xfrm>
            <a:off x="9933737" y="5414962"/>
            <a:ext cx="230038" cy="180975"/>
          </a:xfrm>
          <a:prstGeom prst="rect">
            <a:avLst/>
          </a:prstGeom>
          <a:noFill/>
        </p:spPr>
        <p:txBody>
          <a:bodyPr wrap="none" lIns="0" rIns="0" tIns="0" bIns="0" anchor="t">
            <a:noAutofit/>
          </a:bodyPr>
          <a:lstStyle/>
          <a:p>
            <a:pPr algn="l">
              <a:lnSpc>
                <a:spcPts val="1425"/>
              </a:lnSpc>
            </a:pPr>
            <a:r>
              <a:rPr sz="1087" b="0" i="0" lang="de-DE">
                <a:solidFill>
                  <a:srgbClr val="6CC0D2"/>
                </a:solidFill>
                <a:latin typeface="IBM Plex Sans"/>
              </a:rPr>
              <a:t>→</a:t>
            </a:r>
          </a:p>
        </p:txBody>
      </p:sp>
      <p:grpSp>
        <p:nvGrpSpPr>
          <p:cNvPr id="63" name="Scheibe tags"/>
          <p:cNvGrpSpPr/>
          <p:nvPr/>
        </p:nvGrpSpPr>
        <p:grpSpPr>
          <a:xfrm>
            <a:off x="10144725" y="5381625"/>
            <a:ext cx="247650" cy="247650"/>
            <a:chOff x="10144725" y="5381625"/>
            <a:chExt cx="247650" cy="247650"/>
          </a:xfrm>
        </p:grpSpPr>
        <p:sp>
          <p:nvSpPr>
            <p:cNvPr id="64" name="Oval 63"/>
            <p:cNvSpPr/>
            <p:nvPr/>
          </p:nvSpPr>
          <p:spPr>
            <a:xfrm>
              <a:off x="10144725" y="5381625"/>
              <a:ext cx="247650" cy="247650"/>
            </a:xfrm>
            <a:prstGeom prst="ellipse">
              <a:avLst/>
            </a:prstGeom>
            <a:solidFill>
              <a:srgbClr val="6CC0D2"/>
            </a:solidFill>
            <a:ln>
              <a:noFill/>
            </a:ln>
            <a:effectLst/>
          </p:spPr>
          <p:txBody>
            <a:bodyPr rtlCol="0" anchor="ctr"/>
            <a:lstStyle/>
            <a:p>
              <a:pPr algn="ctr"/>
            </a:p>
          </p:txBody>
        </p:sp>
        <p:pic>
          <p:nvPicPr>
            <p:cNvPr id="65" name="Picture 64" descr="tags__04263F.png"/>
            <p:cNvPicPr>
              <a:picLocks noChangeAspect="1"/>
            </p:cNvPicPr>
            <p:nvPr/>
          </p:nvPicPr>
          <p:blipFill>
            <a:blip r:embed="rId12"/>
            <a:stretch>
              <a:fillRect/>
            </a:stretch>
          </p:blipFill>
          <p:spPr>
            <a:xfrm>
              <a:off x="10204161" y="5441061"/>
              <a:ext cx="128778" cy="128778"/>
            </a:xfrm>
            <a:prstGeom prst="rect">
              <a:avLst/>
            </a:prstGeom>
          </p:spPr>
        </p:pic>
      </p:grpSp>
      <p:sp>
        <p:nvSpPr>
          <p:cNvPr id="66" name="TextBox 65"/>
          <p:cNvSpPr txBox="1"/>
          <p:nvPr/>
        </p:nvSpPr>
        <p:spPr>
          <a:xfrm>
            <a:off x="10468575" y="5414962"/>
            <a:ext cx="1019356" cy="180975"/>
          </a:xfrm>
          <a:prstGeom prst="rect">
            <a:avLst/>
          </a:prstGeom>
          <a:noFill/>
        </p:spPr>
        <p:txBody>
          <a:bodyPr wrap="none" lIns="0" rIns="0" tIns="0" bIns="0" anchor="t">
            <a:noAutofit/>
          </a:bodyPr>
          <a:lstStyle/>
          <a:p>
            <a:pPr algn="l">
              <a:lnSpc>
                <a:spcPts val="1425"/>
              </a:lnSpc>
            </a:pPr>
            <a:r>
              <a:rPr sz="1087" b="0" i="0" lang="de-DE">
                <a:solidFill>
                  <a:srgbClr val="FFFFFF"/>
                </a:solidFill>
                <a:latin typeface="IBM Plex Sans"/>
              </a:rPr>
              <a:t>Klassifikation</a:t>
            </a:r>
          </a:p>
        </p:txBody>
      </p:sp>
      <p:pic>
        <p:nvPicPr>
          <p:cNvPr id="67" name="Icon quote" descr="quote__6CC0D2.png"/>
          <p:cNvPicPr>
            <a:picLocks noChangeAspect="1"/>
          </p:cNvPicPr>
          <p:nvPr/>
        </p:nvPicPr>
        <p:blipFill>
          <a:blip r:embed="rId13"/>
          <a:stretch>
            <a:fillRect/>
          </a:stretch>
        </p:blipFill>
        <p:spPr>
          <a:xfrm>
            <a:off x="685800" y="5862638"/>
            <a:ext cx="171450" cy="171450"/>
          </a:xfrm>
          <a:prstGeom prst="rect">
            <a:avLst/>
          </a:prstGeom>
        </p:spPr>
      </p:pic>
      <p:sp>
        <p:nvSpPr>
          <p:cNvPr id="68" name="TextBox 67"/>
          <p:cNvSpPr txBox="1"/>
          <p:nvPr/>
        </p:nvSpPr>
        <p:spPr>
          <a:xfrm>
            <a:off x="952500" y="5843588"/>
            <a:ext cx="8172450" cy="209550"/>
          </a:xfrm>
          <a:prstGeom prst="rect">
            <a:avLst/>
          </a:prstGeom>
          <a:noFill/>
        </p:spPr>
        <p:txBody>
          <a:bodyPr wrap="none" lIns="0" rIns="0" tIns="0" bIns="0" anchor="t">
            <a:noAutofit/>
          </a:bodyPr>
          <a:lstStyle/>
          <a:p>
            <a:pPr algn="l">
              <a:lnSpc>
                <a:spcPts val="1650"/>
              </a:lnSpc>
            </a:pPr>
            <a:r>
              <a:rPr sz="1275" b="0" i="0" lang="de-DE">
                <a:solidFill>
                  <a:srgbClr val="FFFFFF"/>
                </a:solidFill>
                <a:latin typeface="IBM Plex Sans"/>
              </a:rPr>
              <a:t>Mein Fazit: Bei Zeitreihendaten ist die Validierung wichtiger als das komplexeste Modell.</a:t>
            </a:r>
          </a:p>
        </p:txBody>
      </p:sp>
      <p:sp>
        <p:nvSpPr>
          <p:cNvPr id="69" name="Übergabe"/>
          <p:cNvSpPr/>
          <p:nvPr/>
        </p:nvSpPr>
        <p:spPr>
          <a:xfrm>
            <a:off x="8497729" y="5791200"/>
            <a:ext cx="3008471" cy="314325"/>
          </a:xfrm>
          <a:prstGeom prst="roundRect">
            <a:avLst>
              <a:gd name="adj" fmla="val 50000"/>
            </a:avLst>
          </a:prstGeom>
          <a:solidFill>
            <a:srgbClr val="6CC0D2"/>
          </a:solidFill>
          <a:ln>
            <a:noFill/>
          </a:ln>
          <a:effectLst/>
        </p:spPr>
        <p:txBody>
          <a:bodyPr rtlCol="0" anchor="ctr"/>
          <a:lstStyle/>
          <a:p>
            <a:pPr algn="ctr"/>
          </a:p>
        </p:txBody>
      </p:sp>
      <p:pic>
        <p:nvPicPr>
          <p:cNvPr id="70" name="Icon arrow-right" descr="arrow-right__04263F.png"/>
          <p:cNvPicPr>
            <a:picLocks noChangeAspect="1"/>
          </p:cNvPicPr>
          <p:nvPr/>
        </p:nvPicPr>
        <p:blipFill>
          <a:blip r:embed="rId14"/>
          <a:stretch>
            <a:fillRect/>
          </a:stretch>
        </p:blipFill>
        <p:spPr>
          <a:xfrm>
            <a:off x="8650129" y="5862638"/>
            <a:ext cx="171450" cy="171450"/>
          </a:xfrm>
          <a:prstGeom prst="rect">
            <a:avLst/>
          </a:prstGeom>
        </p:spPr>
      </p:pic>
      <p:sp>
        <p:nvSpPr>
          <p:cNvPr id="71" name="TextBox 70"/>
          <p:cNvSpPr txBox="1"/>
          <p:nvPr/>
        </p:nvSpPr>
        <p:spPr>
          <a:xfrm>
            <a:off x="8897779" y="5791200"/>
            <a:ext cx="2785443" cy="314325"/>
          </a:xfrm>
          <a:prstGeom prst="rect">
            <a:avLst/>
          </a:prstGeom>
          <a:noFill/>
        </p:spPr>
        <p:txBody>
          <a:bodyPr wrap="none" lIns="0" rIns="0" tIns="0" bIns="0" anchor="ctr">
            <a:noAutofit/>
          </a:bodyPr>
          <a:lstStyle/>
          <a:p>
            <a:pPr algn="l">
              <a:lnSpc>
                <a:spcPts val="1462"/>
              </a:lnSpc>
            </a:pPr>
            <a:r>
              <a:rPr sz="1125" b="1" i="0" lang="de-DE">
                <a:solidFill>
                  <a:srgbClr val="04263F"/>
                </a:solidFill>
                <a:latin typeface="IBM Plex Sans"/>
              </a:rPr>
              <a:t>Patrick: Ergebnisse &amp; Empfehlungen</a:t>
            </a:r>
          </a:p>
        </p:txBody>
      </p:sp>
      <p:cxnSp>
        <p:nvCxnSpPr>
          <p:cNvPr id="72" name="Fußlinie"/>
          <p:cNvCxnSpPr/>
          <p:nvPr/>
        </p:nvCxnSpPr>
        <p:spPr>
          <a:xfrm>
            <a:off x="0" y="6219825"/>
            <a:ext cx="12192000" cy="0"/>
          </a:xfrm>
          <a:prstGeom prst="line">
            <a:avLst/>
          </a:prstGeom>
          <a:ln w="9525">
            <a:solidFill>
              <a:srgbClr val="2E5674"/>
            </a:solidFill>
          </a:ln>
        </p:spPr>
        <p:style>
          <a:lnRef idx="2">
            <a:schemeClr val="accent1"/>
          </a:lnRef>
          <a:fillRef idx="0">
            <a:schemeClr val="accent1"/>
          </a:fillRef>
          <a:effectRef idx="1">
            <a:schemeClr val="accent1"/>
          </a:effectRef>
          <a:fontRef idx="minor">
            <a:schemeClr val="tx1"/>
          </a:fontRef>
        </p:style>
      </p:cxnSp>
      <p:sp>
        <p:nvSpPr>
          <p:cNvPr id="73" name="Logo-Grund"/>
          <p:cNvSpPr/>
          <p:nvPr/>
        </p:nvSpPr>
        <p:spPr>
          <a:xfrm>
            <a:off x="685800" y="6400800"/>
            <a:ext cx="609600" cy="247650"/>
          </a:xfrm>
          <a:prstGeom prst="roundRect">
            <a:avLst>
              <a:gd name="adj" fmla="val 15384"/>
            </a:avLst>
          </a:prstGeom>
          <a:solidFill>
            <a:srgbClr val="FFFFFF"/>
          </a:solidFill>
          <a:ln>
            <a:noFill/>
          </a:ln>
          <a:effectLst/>
        </p:spPr>
        <p:txBody>
          <a:bodyPr rtlCol="0" anchor="ctr"/>
          <a:lstStyle/>
          <a:p>
            <a:pPr algn="ctr"/>
          </a:p>
        </p:txBody>
      </p:sp>
      <p:pic>
        <p:nvPicPr>
          <p:cNvPr id="74" name="Logo" descr="image.png"/>
          <p:cNvPicPr>
            <a:picLocks noChangeAspect="1"/>
          </p:cNvPicPr>
          <p:nvPr/>
        </p:nvPicPr>
        <p:blipFill>
          <a:blip r:embed="rId15"/>
          <a:stretch>
            <a:fillRect/>
          </a:stretch>
        </p:blipFill>
        <p:spPr>
          <a:xfrm>
            <a:off x="742950" y="6438900"/>
            <a:ext cx="495598" cy="171450"/>
          </a:xfrm>
          <a:prstGeom prst="rect">
            <a:avLst/>
          </a:prstGeom>
        </p:spPr>
      </p:pic>
      <p:sp>
        <p:nvSpPr>
          <p:cNvPr id="75" name="TextBox 74"/>
          <p:cNvSpPr txBox="1"/>
          <p:nvPr/>
        </p:nvSpPr>
        <p:spPr>
          <a:xfrm>
            <a:off x="1447800" y="6429375"/>
            <a:ext cx="2891790" cy="190500"/>
          </a:xfrm>
          <a:prstGeom prst="rect">
            <a:avLst/>
          </a:prstGeom>
          <a:noFill/>
        </p:spPr>
        <p:txBody>
          <a:bodyPr wrap="none" lIns="0" rIns="0" tIns="0" bIns="0" anchor="t">
            <a:noAutofit/>
          </a:bodyPr>
          <a:lstStyle/>
          <a:p>
            <a:pPr algn="l">
              <a:lnSpc>
                <a:spcPts val="1500"/>
              </a:lnSpc>
            </a:pPr>
            <a:r>
              <a:rPr sz="1200" b="0" i="0" lang="de-DE">
                <a:solidFill>
                  <a:srgbClr val="7FB4D8"/>
                </a:solidFill>
                <a:latin typeface="IBM Plex Sans"/>
              </a:rPr>
              <a:t>Verbrauchsprognose &amp; Frühwarnung</a:t>
            </a:r>
          </a:p>
        </p:txBody>
      </p:sp>
      <p:cxnSp>
        <p:nvCxnSpPr>
          <p:cNvPr id="76" name="Connector 75"/>
          <p:cNvCxnSpPr/>
          <p:nvPr/>
        </p:nvCxnSpPr>
        <p:spPr>
          <a:xfrm>
            <a:off x="4248150" y="6419850"/>
            <a:ext cx="0" cy="209550"/>
          </a:xfrm>
          <a:prstGeom prst="line">
            <a:avLst/>
          </a:prstGeom>
          <a:ln w="9525">
            <a:solidFill>
              <a:srgbClr val="2E5674"/>
            </a:solidFill>
          </a:ln>
        </p:spPr>
        <p:style>
          <a:lnRef idx="2">
            <a:schemeClr val="accent1"/>
          </a:lnRef>
          <a:fillRef idx="0">
            <a:schemeClr val="accent1"/>
          </a:fillRef>
          <a:effectRef idx="1">
            <a:schemeClr val="accent1"/>
          </a:effectRef>
          <a:fontRef idx="minor">
            <a:schemeClr val="tx1"/>
          </a:fontRef>
        </p:style>
      </p:cxnSp>
      <p:grpSp>
        <p:nvGrpSpPr>
          <p:cNvPr id="77" name="Scheibe split"/>
          <p:cNvGrpSpPr/>
          <p:nvPr/>
        </p:nvGrpSpPr>
        <p:grpSpPr>
          <a:xfrm>
            <a:off x="4410075" y="6419850"/>
            <a:ext cx="209550" cy="209550"/>
            <a:chOff x="4410075" y="6419850"/>
            <a:chExt cx="209550" cy="209550"/>
          </a:xfrm>
        </p:grpSpPr>
        <p:sp>
          <p:nvSpPr>
            <p:cNvPr id="78" name="Oval 77"/>
            <p:cNvSpPr/>
            <p:nvPr/>
          </p:nvSpPr>
          <p:spPr>
            <a:xfrm>
              <a:off x="4410075" y="6419850"/>
              <a:ext cx="209550" cy="209550"/>
            </a:xfrm>
            <a:prstGeom prst="ellipse">
              <a:avLst/>
            </a:prstGeom>
            <a:solidFill>
              <a:srgbClr val="6CC0D2"/>
            </a:solidFill>
            <a:ln>
              <a:noFill/>
            </a:ln>
            <a:effectLst/>
          </p:spPr>
          <p:txBody>
            <a:bodyPr rtlCol="0" anchor="ctr"/>
            <a:lstStyle/>
            <a:p>
              <a:pPr algn="ctr"/>
            </a:p>
          </p:txBody>
        </p:sp>
        <p:pic>
          <p:nvPicPr>
            <p:cNvPr id="79" name="Picture 78" descr="split__04263F.png"/>
            <p:cNvPicPr>
              <a:picLocks noChangeAspect="1"/>
            </p:cNvPicPr>
            <p:nvPr/>
          </p:nvPicPr>
          <p:blipFill>
            <a:blip r:embed="rId16"/>
            <a:stretch>
              <a:fillRect/>
            </a:stretch>
          </p:blipFill>
          <p:spPr>
            <a:xfrm>
              <a:off x="4460367" y="6470142"/>
              <a:ext cx="108966" cy="108966"/>
            </a:xfrm>
            <a:prstGeom prst="rect">
              <a:avLst/>
            </a:prstGeom>
          </p:spPr>
        </p:pic>
      </p:grpSp>
      <p:sp>
        <p:nvSpPr>
          <p:cNvPr id="80" name="TextBox 79"/>
          <p:cNvSpPr txBox="1"/>
          <p:nvPr/>
        </p:nvSpPr>
        <p:spPr>
          <a:xfrm>
            <a:off x="4676775" y="6438900"/>
            <a:ext cx="323850" cy="171450"/>
          </a:xfrm>
          <a:prstGeom prst="rect">
            <a:avLst/>
          </a:prstGeom>
          <a:noFill/>
        </p:spPr>
        <p:txBody>
          <a:bodyPr wrap="none" lIns="0" rIns="0" tIns="0" bIns="0" anchor="t">
            <a:noAutofit/>
          </a:bodyPr>
          <a:lstStyle/>
          <a:p>
            <a:pPr algn="l">
              <a:lnSpc>
                <a:spcPts val="1350"/>
              </a:lnSpc>
            </a:pPr>
            <a:r>
              <a:rPr sz="1050" b="1" i="0" lang="de-DE">
                <a:solidFill>
                  <a:srgbClr val="6CC0D2"/>
                </a:solidFill>
                <a:latin typeface="Geist Mono"/>
              </a:rPr>
              <a:t>07</a:t>
            </a:r>
          </a:p>
        </p:txBody>
      </p:sp>
      <p:sp>
        <p:nvSpPr>
          <p:cNvPr id="81" name="TextBox 80"/>
          <p:cNvSpPr txBox="1"/>
          <p:nvPr/>
        </p:nvSpPr>
        <p:spPr>
          <a:xfrm>
            <a:off x="4893945" y="6438900"/>
            <a:ext cx="1001020" cy="171450"/>
          </a:xfrm>
          <a:prstGeom prst="rect">
            <a:avLst/>
          </a:prstGeom>
          <a:noFill/>
        </p:spPr>
        <p:txBody>
          <a:bodyPr wrap="none" lIns="0" rIns="0" tIns="0" bIns="0" anchor="t">
            <a:noAutofit/>
          </a:bodyPr>
          <a:lstStyle/>
          <a:p>
            <a:pPr algn="l">
              <a:lnSpc>
                <a:spcPts val="1350"/>
              </a:lnSpc>
            </a:pPr>
            <a:r>
              <a:rPr sz="1050" b="0" i="0" lang="de-DE">
                <a:solidFill>
                  <a:srgbClr val="BBD7EA"/>
                </a:solidFill>
                <a:latin typeface="IBM Plex Sans"/>
              </a:rPr>
              <a:t>Entscheidung</a:t>
            </a:r>
          </a:p>
        </p:txBody>
      </p:sp>
      <p:grpSp>
        <p:nvGrpSpPr>
          <p:cNvPr id="82" name="Scheibe target"/>
          <p:cNvGrpSpPr/>
          <p:nvPr/>
        </p:nvGrpSpPr>
        <p:grpSpPr>
          <a:xfrm>
            <a:off x="5830157" y="6426994"/>
            <a:ext cx="195262" cy="195262"/>
            <a:chOff x="5830157" y="6426994"/>
            <a:chExt cx="195262" cy="195262"/>
          </a:xfrm>
        </p:grpSpPr>
        <p:sp>
          <p:nvSpPr>
            <p:cNvPr id="83" name="Oval 82"/>
            <p:cNvSpPr/>
            <p:nvPr/>
          </p:nvSpPr>
          <p:spPr>
            <a:xfrm>
              <a:off x="5830157" y="6426994"/>
              <a:ext cx="195262" cy="195262"/>
            </a:xfrm>
            <a:prstGeom prst="ellipse">
              <a:avLst/>
            </a:prstGeom>
            <a:solidFill>
              <a:srgbClr val="1F4A6A"/>
            </a:solidFill>
            <a:ln w="14287">
              <a:solidFill>
                <a:srgbClr val="426681"/>
              </a:solidFill>
            </a:ln>
            <a:effectLst/>
          </p:spPr>
          <p:txBody>
            <a:bodyPr rtlCol="0" anchor="ctr"/>
            <a:lstStyle/>
            <a:p>
              <a:pPr algn="ctr"/>
            </a:p>
          </p:txBody>
        </p:sp>
        <p:pic>
          <p:nvPicPr>
            <p:cNvPr id="84" name="Picture 83" descr="target__9CC3E0.png"/>
            <p:cNvPicPr>
              <a:picLocks noChangeAspect="1"/>
            </p:cNvPicPr>
            <p:nvPr/>
          </p:nvPicPr>
          <p:blipFill>
            <a:blip r:embed="rId17"/>
            <a:stretch>
              <a:fillRect/>
            </a:stretch>
          </p:blipFill>
          <p:spPr>
            <a:xfrm>
              <a:off x="5873305" y="6470142"/>
              <a:ext cx="108966" cy="108966"/>
            </a:xfrm>
            <a:prstGeom prst="rect">
              <a:avLst/>
            </a:prstGeom>
          </p:spPr>
        </p:pic>
      </p:grpSp>
      <p:sp>
        <p:nvSpPr>
          <p:cNvPr id="85" name="TextBox 84"/>
          <p:cNvSpPr txBox="1"/>
          <p:nvPr/>
        </p:nvSpPr>
        <p:spPr>
          <a:xfrm>
            <a:off x="6089713" y="6438900"/>
            <a:ext cx="323850" cy="171450"/>
          </a:xfrm>
          <a:prstGeom prst="rect">
            <a:avLst/>
          </a:prstGeom>
          <a:noFill/>
        </p:spPr>
        <p:txBody>
          <a:bodyPr wrap="none" lIns="0" rIns="0" tIns="0" bIns="0" anchor="t">
            <a:noAutofit/>
          </a:bodyPr>
          <a:lstStyle/>
          <a:p>
            <a:pPr algn="l">
              <a:lnSpc>
                <a:spcPts val="1350"/>
              </a:lnSpc>
            </a:pPr>
            <a:r>
              <a:rPr sz="1050" b="1" i="0" lang="de-DE">
                <a:solidFill>
                  <a:srgbClr val="6CC0D2"/>
                </a:solidFill>
                <a:latin typeface="Geist Mono"/>
              </a:rPr>
              <a:t>08</a:t>
            </a:r>
          </a:p>
        </p:txBody>
      </p:sp>
      <p:sp>
        <p:nvSpPr>
          <p:cNvPr id="86" name="TextBox 85"/>
          <p:cNvSpPr txBox="1"/>
          <p:nvPr/>
        </p:nvSpPr>
        <p:spPr>
          <a:xfrm>
            <a:off x="6306883" y="6438900"/>
            <a:ext cx="578568" cy="171450"/>
          </a:xfrm>
          <a:prstGeom prst="rect">
            <a:avLst/>
          </a:prstGeom>
          <a:noFill/>
        </p:spPr>
        <p:txBody>
          <a:bodyPr wrap="none" lIns="0" rIns="0" tIns="0" bIns="0" anchor="t">
            <a:noAutofit/>
          </a:bodyPr>
          <a:lstStyle/>
          <a:p>
            <a:pPr algn="l">
              <a:lnSpc>
                <a:spcPts val="1350"/>
              </a:lnSpc>
            </a:pPr>
            <a:r>
              <a:rPr sz="1050" b="0" i="0" lang="de-DE">
                <a:solidFill>
                  <a:srgbClr val="BBD7EA"/>
                </a:solidFill>
                <a:latin typeface="IBM Plex Sans"/>
              </a:rPr>
              <a:t>Impact</a:t>
            </a:r>
          </a:p>
        </p:txBody>
      </p:sp>
      <p:grpSp>
        <p:nvGrpSpPr>
          <p:cNvPr id="87" name="Scheibe activity"/>
          <p:cNvGrpSpPr/>
          <p:nvPr/>
        </p:nvGrpSpPr>
        <p:grpSpPr>
          <a:xfrm>
            <a:off x="6859048" y="6426994"/>
            <a:ext cx="195262" cy="195262"/>
            <a:chOff x="6859048" y="6426994"/>
            <a:chExt cx="195262" cy="195262"/>
          </a:xfrm>
        </p:grpSpPr>
        <p:sp>
          <p:nvSpPr>
            <p:cNvPr id="88" name="Oval 87"/>
            <p:cNvSpPr/>
            <p:nvPr/>
          </p:nvSpPr>
          <p:spPr>
            <a:xfrm>
              <a:off x="6859048" y="6426994"/>
              <a:ext cx="195262" cy="195262"/>
            </a:xfrm>
            <a:prstGeom prst="ellipse">
              <a:avLst/>
            </a:prstGeom>
            <a:solidFill>
              <a:srgbClr val="1F4A6A"/>
            </a:solidFill>
            <a:ln w="14287">
              <a:solidFill>
                <a:srgbClr val="426681"/>
              </a:solidFill>
            </a:ln>
            <a:effectLst/>
          </p:spPr>
          <p:txBody>
            <a:bodyPr rtlCol="0" anchor="ctr"/>
            <a:lstStyle/>
            <a:p>
              <a:pPr algn="ctr"/>
            </a:p>
          </p:txBody>
        </p:sp>
        <p:pic>
          <p:nvPicPr>
            <p:cNvPr id="89" name="Picture 88" descr="activity__9CC3E0.png"/>
            <p:cNvPicPr>
              <a:picLocks noChangeAspect="1"/>
            </p:cNvPicPr>
            <p:nvPr/>
          </p:nvPicPr>
          <p:blipFill>
            <a:blip r:embed="rId18"/>
            <a:stretch>
              <a:fillRect/>
            </a:stretch>
          </p:blipFill>
          <p:spPr>
            <a:xfrm>
              <a:off x="6902196" y="6470142"/>
              <a:ext cx="108966" cy="108966"/>
            </a:xfrm>
            <a:prstGeom prst="rect">
              <a:avLst/>
            </a:prstGeom>
          </p:spPr>
        </p:pic>
      </p:grpSp>
      <p:sp>
        <p:nvSpPr>
          <p:cNvPr id="90" name="TextBox 89"/>
          <p:cNvSpPr txBox="1"/>
          <p:nvPr/>
        </p:nvSpPr>
        <p:spPr>
          <a:xfrm>
            <a:off x="7118604" y="6438900"/>
            <a:ext cx="323850" cy="171450"/>
          </a:xfrm>
          <a:prstGeom prst="rect">
            <a:avLst/>
          </a:prstGeom>
          <a:noFill/>
        </p:spPr>
        <p:txBody>
          <a:bodyPr wrap="none" lIns="0" rIns="0" tIns="0" bIns="0" anchor="t">
            <a:noAutofit/>
          </a:bodyPr>
          <a:lstStyle/>
          <a:p>
            <a:pPr algn="l">
              <a:lnSpc>
                <a:spcPts val="1350"/>
              </a:lnSpc>
            </a:pPr>
            <a:r>
              <a:rPr sz="1050" b="1" i="0" lang="de-DE">
                <a:solidFill>
                  <a:srgbClr val="6CC0D2"/>
                </a:solidFill>
                <a:latin typeface="Geist Mono"/>
              </a:rPr>
              <a:t>10</a:t>
            </a:r>
          </a:p>
        </p:txBody>
      </p:sp>
      <p:sp>
        <p:nvSpPr>
          <p:cNvPr id="91" name="TextBox 90"/>
          <p:cNvSpPr txBox="1"/>
          <p:nvPr/>
        </p:nvSpPr>
        <p:spPr>
          <a:xfrm>
            <a:off x="7335774" y="6438900"/>
            <a:ext cx="811797" cy="171450"/>
          </a:xfrm>
          <a:prstGeom prst="rect">
            <a:avLst/>
          </a:prstGeom>
          <a:noFill/>
        </p:spPr>
        <p:txBody>
          <a:bodyPr wrap="none" lIns="0" rIns="0" tIns="0" bIns="0" anchor="t">
            <a:noAutofit/>
          </a:bodyPr>
          <a:lstStyle/>
          <a:p>
            <a:pPr algn="l">
              <a:lnSpc>
                <a:spcPts val="1350"/>
              </a:lnSpc>
            </a:pPr>
            <a:r>
              <a:rPr sz="1050" b="0" i="0" lang="de-DE">
                <a:solidFill>
                  <a:srgbClr val="BBD7EA"/>
                </a:solidFill>
                <a:latin typeface="IBM Plex Sans"/>
              </a:rPr>
              <a:t>Monitoring</a:t>
            </a:r>
          </a:p>
        </p:txBody>
      </p:sp>
      <p:sp>
        <p:nvSpPr>
          <p:cNvPr id="92" name="TextBox 91"/>
          <p:cNvSpPr txBox="1"/>
          <p:nvPr/>
        </p:nvSpPr>
        <p:spPr>
          <a:xfrm>
            <a:off x="9456420" y="6429375"/>
            <a:ext cx="1257300" cy="190500"/>
          </a:xfrm>
          <a:prstGeom prst="rect">
            <a:avLst/>
          </a:prstGeom>
          <a:noFill/>
        </p:spPr>
        <p:txBody>
          <a:bodyPr wrap="none" lIns="0" rIns="0" tIns="0" bIns="0" anchor="t">
            <a:noAutofit/>
          </a:bodyPr>
          <a:lstStyle/>
          <a:p>
            <a:pPr algn="r">
              <a:lnSpc>
                <a:spcPts val="1500"/>
              </a:lnSpc>
            </a:pPr>
            <a:r>
              <a:rPr sz="1200" b="1" i="0" lang="de-DE">
                <a:solidFill>
                  <a:srgbClr val="BBD7EA"/>
                </a:solidFill>
                <a:latin typeface="IBM Plex Sans"/>
              </a:rPr>
              <a:t>Kiko</a:t>
            </a:r>
          </a:p>
        </p:txBody>
      </p:sp>
      <p:sp>
        <p:nvSpPr>
          <p:cNvPr id="93" name="Seitenzahl"/>
          <p:cNvSpPr txBox="1"/>
          <p:nvPr/>
        </p:nvSpPr>
        <p:spPr>
          <a:xfrm>
            <a:off x="10802112" y="6424612"/>
            <a:ext cx="704088" cy="200025"/>
          </a:xfrm>
          <a:prstGeom prst="rect">
            <a:avLst/>
          </a:prstGeom>
          <a:noFill/>
        </p:spPr>
        <p:txBody>
          <a:bodyPr wrap="none" lIns="0" rIns="0" tIns="0" bIns="0" anchor="t">
            <a:noAutofit/>
          </a:bodyPr>
          <a:lstStyle/>
          <a:p>
            <a:pPr algn="r">
              <a:lnSpc>
                <a:spcPts val="1575"/>
              </a:lnSpc>
            </a:pPr>
            <a:r>
              <a:rPr sz="1200" b="0" i="0" lang="de-DE">
                <a:solidFill>
                  <a:srgbClr val="7FB4D8"/>
                </a:solidFill>
                <a:latin typeface="Geist Mono"/>
              </a:rPr>
              <a:t>11 / 11</a:t>
            </a:r>
          </a:p>
        </p:txBody>
      </p:sp>
      <p:grpSp>
        <p:nvGrpSpPr>
          <p:cNvPr id="94" name="Kapitel 01"/>
          <p:cNvGrpSpPr/>
          <p:nvPr/>
        </p:nvGrpSpPr>
        <p:grpSpPr>
          <a:xfrm>
            <a:off x="9532144" y="407194"/>
            <a:ext cx="233362" cy="233362"/>
            <a:chOff x="9532144" y="407194"/>
            <a:chExt cx="233362" cy="233362"/>
          </a:xfrm>
        </p:grpSpPr>
        <p:sp>
          <p:nvSpPr>
            <p:cNvPr id="95" name="Oval 94"/>
            <p:cNvSpPr/>
            <p:nvPr/>
          </p:nvSpPr>
          <p:spPr>
            <a:xfrm>
              <a:off x="9532144" y="407194"/>
              <a:ext cx="233362" cy="233362"/>
            </a:xfrm>
            <a:prstGeom prst="ellipse">
              <a:avLst/>
            </a:prstGeom>
            <a:solidFill>
              <a:srgbClr val="1F4A6A"/>
            </a:solidFill>
            <a:ln w="14287">
              <a:solidFill>
                <a:srgbClr val="426681"/>
              </a:solidFill>
            </a:ln>
            <a:effectLst/>
          </p:spPr>
          <p:txBody>
            <a:bodyPr rtlCol="0" anchor="ctr"/>
            <a:lstStyle/>
            <a:p>
              <a:pPr algn="ctr"/>
            </a:p>
          </p:txBody>
        </p:sp>
        <p:pic>
          <p:nvPicPr>
            <p:cNvPr id="96" name="Picture 95" descr="building-2__9CC3E0.png"/>
            <p:cNvPicPr>
              <a:picLocks noChangeAspect="1"/>
            </p:cNvPicPr>
            <p:nvPr/>
          </p:nvPicPr>
          <p:blipFill>
            <a:blip r:embed="rId19"/>
            <a:stretch>
              <a:fillRect/>
            </a:stretch>
          </p:blipFill>
          <p:spPr>
            <a:xfrm>
              <a:off x="9584436" y="459486"/>
              <a:ext cx="128778" cy="128778"/>
            </a:xfrm>
            <a:prstGeom prst="rect">
              <a:avLst/>
            </a:prstGeom>
          </p:spPr>
        </p:pic>
      </p:grpSp>
      <p:grpSp>
        <p:nvGrpSpPr>
          <p:cNvPr id="97" name="Kapitel 02"/>
          <p:cNvGrpSpPr/>
          <p:nvPr/>
        </p:nvGrpSpPr>
        <p:grpSpPr>
          <a:xfrm>
            <a:off x="9817894" y="407194"/>
            <a:ext cx="233362" cy="233362"/>
            <a:chOff x="9817894" y="407194"/>
            <a:chExt cx="233362" cy="233362"/>
          </a:xfrm>
        </p:grpSpPr>
        <p:sp>
          <p:nvSpPr>
            <p:cNvPr id="98" name="Oval 97"/>
            <p:cNvSpPr/>
            <p:nvPr/>
          </p:nvSpPr>
          <p:spPr>
            <a:xfrm>
              <a:off x="9817894" y="407194"/>
              <a:ext cx="233362" cy="233362"/>
            </a:xfrm>
            <a:prstGeom prst="ellipse">
              <a:avLst/>
            </a:prstGeom>
            <a:solidFill>
              <a:srgbClr val="1F4A6A"/>
            </a:solidFill>
            <a:ln w="14287">
              <a:solidFill>
                <a:srgbClr val="426681"/>
              </a:solidFill>
            </a:ln>
            <a:effectLst/>
          </p:spPr>
          <p:txBody>
            <a:bodyPr rtlCol="0" anchor="ctr"/>
            <a:lstStyle/>
            <a:p>
              <a:pPr algn="ctr"/>
            </a:p>
          </p:txBody>
        </p:sp>
        <p:pic>
          <p:nvPicPr>
            <p:cNvPr id="99" name="Picture 98" descr="database__9CC3E0.png"/>
            <p:cNvPicPr>
              <a:picLocks noChangeAspect="1"/>
            </p:cNvPicPr>
            <p:nvPr/>
          </p:nvPicPr>
          <p:blipFill>
            <a:blip r:embed="rId20"/>
            <a:stretch>
              <a:fillRect/>
            </a:stretch>
          </p:blipFill>
          <p:spPr>
            <a:xfrm>
              <a:off x="9870186" y="459486"/>
              <a:ext cx="128778" cy="128778"/>
            </a:xfrm>
            <a:prstGeom prst="rect">
              <a:avLst/>
            </a:prstGeom>
          </p:spPr>
        </p:pic>
      </p:grpSp>
      <p:grpSp>
        <p:nvGrpSpPr>
          <p:cNvPr id="100" name="Kapitel 03"/>
          <p:cNvGrpSpPr/>
          <p:nvPr/>
        </p:nvGrpSpPr>
        <p:grpSpPr>
          <a:xfrm>
            <a:off x="10256044" y="407194"/>
            <a:ext cx="233362" cy="233362"/>
            <a:chOff x="10256044" y="407194"/>
            <a:chExt cx="233362" cy="233362"/>
          </a:xfrm>
        </p:grpSpPr>
        <p:sp>
          <p:nvSpPr>
            <p:cNvPr id="101" name="Oval 100"/>
            <p:cNvSpPr/>
            <p:nvPr/>
          </p:nvSpPr>
          <p:spPr>
            <a:xfrm>
              <a:off x="10256044" y="407194"/>
              <a:ext cx="233362" cy="233362"/>
            </a:xfrm>
            <a:prstGeom prst="ellipse">
              <a:avLst/>
            </a:prstGeom>
            <a:solidFill>
              <a:srgbClr val="1F4A6A"/>
            </a:solidFill>
            <a:ln w="14287">
              <a:solidFill>
                <a:srgbClr val="426681"/>
              </a:solidFill>
            </a:ln>
            <a:effectLst/>
          </p:spPr>
          <p:txBody>
            <a:bodyPr rtlCol="0" anchor="ctr"/>
            <a:lstStyle/>
            <a:p>
              <a:pPr algn="ctr"/>
            </a:p>
          </p:txBody>
        </p:sp>
        <p:pic>
          <p:nvPicPr>
            <p:cNvPr id="102" name="Picture 101" descr="layout-grid__9CC3E0.png"/>
            <p:cNvPicPr>
              <a:picLocks noChangeAspect="1"/>
            </p:cNvPicPr>
            <p:nvPr/>
          </p:nvPicPr>
          <p:blipFill>
            <a:blip r:embed="rId21"/>
            <a:stretch>
              <a:fillRect/>
            </a:stretch>
          </p:blipFill>
          <p:spPr>
            <a:xfrm>
              <a:off x="10308336" y="459486"/>
              <a:ext cx="128778" cy="128778"/>
            </a:xfrm>
            <a:prstGeom prst="rect">
              <a:avLst/>
            </a:prstGeom>
          </p:spPr>
        </p:pic>
      </p:grpSp>
      <p:grpSp>
        <p:nvGrpSpPr>
          <p:cNvPr id="103" name="Kapitel 04 aktiv"/>
          <p:cNvGrpSpPr/>
          <p:nvPr/>
        </p:nvGrpSpPr>
        <p:grpSpPr>
          <a:xfrm>
            <a:off x="10534650" y="400050"/>
            <a:ext cx="247650" cy="247650"/>
            <a:chOff x="10534650" y="400050"/>
            <a:chExt cx="247650" cy="247650"/>
          </a:xfrm>
        </p:grpSpPr>
        <p:sp>
          <p:nvSpPr>
            <p:cNvPr id="104" name="Oval 103"/>
            <p:cNvSpPr/>
            <p:nvPr/>
          </p:nvSpPr>
          <p:spPr>
            <a:xfrm>
              <a:off x="10534650" y="400050"/>
              <a:ext cx="247650" cy="247650"/>
            </a:xfrm>
            <a:prstGeom prst="ellipse">
              <a:avLst/>
            </a:prstGeom>
            <a:solidFill>
              <a:srgbClr val="6CC0D2"/>
            </a:solidFill>
            <a:ln>
              <a:noFill/>
            </a:ln>
            <a:effectLst/>
          </p:spPr>
          <p:txBody>
            <a:bodyPr rtlCol="0" anchor="ctr"/>
            <a:lstStyle/>
            <a:p>
              <a:pPr algn="ctr"/>
            </a:p>
          </p:txBody>
        </p:sp>
        <p:pic>
          <p:nvPicPr>
            <p:cNvPr id="105" name="Picture 104" descr="trees__04263F.png"/>
            <p:cNvPicPr>
              <a:picLocks noChangeAspect="1"/>
            </p:cNvPicPr>
            <p:nvPr/>
          </p:nvPicPr>
          <p:blipFill>
            <a:blip r:embed="rId22"/>
            <a:stretch>
              <a:fillRect/>
            </a:stretch>
          </p:blipFill>
          <p:spPr>
            <a:xfrm>
              <a:off x="10594086" y="459486"/>
              <a:ext cx="128778" cy="128778"/>
            </a:xfrm>
            <a:prstGeom prst="rect">
              <a:avLst/>
            </a:prstGeom>
          </p:spPr>
        </p:pic>
      </p:grpSp>
      <p:grpSp>
        <p:nvGrpSpPr>
          <p:cNvPr id="106" name="Kapitel 05"/>
          <p:cNvGrpSpPr/>
          <p:nvPr/>
        </p:nvGrpSpPr>
        <p:grpSpPr>
          <a:xfrm>
            <a:off x="10979944" y="407194"/>
            <a:ext cx="233362" cy="233362"/>
            <a:chOff x="10979944" y="407194"/>
            <a:chExt cx="233362" cy="233362"/>
          </a:xfrm>
        </p:grpSpPr>
        <p:sp>
          <p:nvSpPr>
            <p:cNvPr id="107" name="Oval 106"/>
            <p:cNvSpPr/>
            <p:nvPr/>
          </p:nvSpPr>
          <p:spPr>
            <a:xfrm>
              <a:off x="10979944" y="407194"/>
              <a:ext cx="233362" cy="233362"/>
            </a:xfrm>
            <a:prstGeom prst="ellipse">
              <a:avLst/>
            </a:prstGeom>
            <a:solidFill>
              <a:srgbClr val="1F4A6A"/>
            </a:solidFill>
            <a:ln w="14287">
              <a:solidFill>
                <a:srgbClr val="426681"/>
              </a:solidFill>
            </a:ln>
            <a:effectLst/>
          </p:spPr>
          <p:txBody>
            <a:bodyPr rtlCol="0" anchor="ctr"/>
            <a:lstStyle/>
            <a:p>
              <a:pPr algn="ctr"/>
            </a:p>
          </p:txBody>
        </p:sp>
        <p:pic>
          <p:nvPicPr>
            <p:cNvPr id="108" name="Picture 107" descr="chart-column__9CC3E0.png"/>
            <p:cNvPicPr>
              <a:picLocks noChangeAspect="1"/>
            </p:cNvPicPr>
            <p:nvPr/>
          </p:nvPicPr>
          <p:blipFill>
            <a:blip r:embed="rId23"/>
            <a:stretch>
              <a:fillRect/>
            </a:stretch>
          </p:blipFill>
          <p:spPr>
            <a:xfrm>
              <a:off x="11032236" y="459486"/>
              <a:ext cx="128778" cy="128778"/>
            </a:xfrm>
            <a:prstGeom prst="rect">
              <a:avLst/>
            </a:prstGeom>
          </p:spPr>
        </p:pic>
      </p:grpSp>
      <p:grpSp>
        <p:nvGrpSpPr>
          <p:cNvPr id="109" name="Kapitel 06"/>
          <p:cNvGrpSpPr/>
          <p:nvPr/>
        </p:nvGrpSpPr>
        <p:grpSpPr>
          <a:xfrm>
            <a:off x="11265694" y="407194"/>
            <a:ext cx="233362" cy="233362"/>
            <a:chOff x="11265694" y="407194"/>
            <a:chExt cx="233362" cy="233362"/>
          </a:xfrm>
        </p:grpSpPr>
        <p:sp>
          <p:nvSpPr>
            <p:cNvPr id="110" name="Oval 109"/>
            <p:cNvSpPr/>
            <p:nvPr/>
          </p:nvSpPr>
          <p:spPr>
            <a:xfrm>
              <a:off x="11265694" y="407194"/>
              <a:ext cx="233362" cy="233362"/>
            </a:xfrm>
            <a:prstGeom prst="ellipse">
              <a:avLst/>
            </a:prstGeom>
            <a:solidFill>
              <a:srgbClr val="1F4A6A"/>
            </a:solidFill>
            <a:ln w="14287">
              <a:solidFill>
                <a:srgbClr val="426681"/>
              </a:solidFill>
            </a:ln>
            <a:effectLst/>
          </p:spPr>
          <p:txBody>
            <a:bodyPr rtlCol="0" anchor="ctr"/>
            <a:lstStyle/>
            <a:p>
              <a:pPr algn="ctr"/>
            </a:p>
          </p:txBody>
        </p:sp>
        <p:pic>
          <p:nvPicPr>
            <p:cNvPr id="111" name="Picture 110" descr="compass__9CC3E0.png"/>
            <p:cNvPicPr>
              <a:picLocks noChangeAspect="1"/>
            </p:cNvPicPr>
            <p:nvPr/>
          </p:nvPicPr>
          <p:blipFill>
            <a:blip r:embed="rId24"/>
            <a:stretch>
              <a:fillRect/>
            </a:stretch>
          </p:blipFill>
          <p:spPr>
            <a:xfrm>
              <a:off x="11317986" y="459486"/>
              <a:ext cx="128778" cy="128778"/>
            </a:xfrm>
            <a:prstGeom prst="rect">
              <a:avLst/>
            </a:prstGeom>
          </p:spPr>
        </p:pic>
      </p:grpSp>
      <p:cxnSp>
        <p:nvCxnSpPr>
          <p:cNvPr id="112" name="Kapitel-Lücke"/>
          <p:cNvCxnSpPr/>
          <p:nvPr/>
        </p:nvCxnSpPr>
        <p:spPr>
          <a:xfrm>
            <a:off x="10115550" y="523875"/>
            <a:ext cx="76200" cy="0"/>
          </a:xfrm>
          <a:prstGeom prst="line">
            <a:avLst/>
          </a:prstGeom>
          <a:ln w="19050">
            <a:solidFill>
              <a:srgbClr val="3D6A8C"/>
            </a:solidFill>
          </a:ln>
        </p:spPr>
        <p:style>
          <a:lnRef idx="2">
            <a:schemeClr val="accent1"/>
          </a:lnRef>
          <a:fillRef idx="0">
            <a:schemeClr val="accent1"/>
          </a:fillRef>
          <a:effectRef idx="1">
            <a:schemeClr val="accent1"/>
          </a:effectRef>
          <a:fontRef idx="minor">
            <a:schemeClr val="tx1"/>
          </a:fontRef>
        </p:style>
      </p:cxnSp>
      <p:cxnSp>
        <p:nvCxnSpPr>
          <p:cNvPr id="113" name="Kapitel-Lücke"/>
          <p:cNvCxnSpPr/>
          <p:nvPr/>
        </p:nvCxnSpPr>
        <p:spPr>
          <a:xfrm>
            <a:off x="10839450" y="523875"/>
            <a:ext cx="76200" cy="0"/>
          </a:xfrm>
          <a:prstGeom prst="line">
            <a:avLst/>
          </a:prstGeom>
          <a:ln w="19050">
            <a:solidFill>
              <a:srgbClr val="3D6A8C"/>
            </a:solidFill>
          </a:ln>
        </p:spPr>
        <p:style>
          <a:lnRef idx="2">
            <a:schemeClr val="accent1"/>
          </a:lnRef>
          <a:fillRef idx="0">
            <a:schemeClr val="accent1"/>
          </a:fillRef>
          <a:effectRef idx="1">
            <a:schemeClr val="accent1"/>
          </a:effectRef>
          <a:fontRef idx="minor">
            <a:schemeClr val="tx1"/>
          </a:fontRef>
        </p:style>
      </p:cxnSp>
      <p:sp>
        <p:nvSpPr>
          <p:cNvPr id="114" name="Kapitel-Label"/>
          <p:cNvSpPr txBox="1"/>
          <p:nvPr/>
        </p:nvSpPr>
        <p:spPr>
          <a:xfrm>
            <a:off x="6267450" y="428625"/>
            <a:ext cx="3143250" cy="171450"/>
          </a:xfrm>
          <a:prstGeom prst="rect">
            <a:avLst/>
          </a:prstGeom>
          <a:noFill/>
        </p:spPr>
        <p:txBody>
          <a:bodyPr wrap="none" lIns="0" rIns="0" tIns="0" bIns="0" anchor="t">
            <a:noAutofit/>
          </a:bodyPr>
          <a:lstStyle/>
          <a:p>
            <a:pPr algn="r">
              <a:lnSpc>
                <a:spcPts val="1350"/>
              </a:lnSpc>
            </a:pPr>
            <a:r>
              <a:rPr sz="1050" b="1" i="0" lang="de-DE">
                <a:solidFill>
                  <a:srgbClr val="6CC0D2"/>
                </a:solidFill>
                <a:latin typeface="IBM Plex Sans"/>
              </a:rPr>
              <a:t>04 · Methodik und Modell · Kiko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63659"/>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6CC0D2"/>
            </a:solidFill>
            <a:ln>
              <a:noFill/>
            </a:ln>
            <a:effectLst/>
          </p:spPr>
          <p:txBody>
            <a:bodyPr rtlCol="0" anchor="ctr"/>
            <a:lstStyle/>
            <a:p>
              <a:pPr algn="ctr"/>
            </a:p>
          </p:txBody>
        </p:sp>
        <p:pic>
          <p:nvPicPr>
            <p:cNvPr id="4" name="Picture 3" descr="book-open__04263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7334250" cy="257175"/>
          </a:xfrm>
          <a:prstGeom prst="rect">
            <a:avLst/>
          </a:prstGeom>
          <a:noFill/>
        </p:spPr>
        <p:txBody>
          <a:bodyPr wrap="none" lIns="0" rIns="0" tIns="0" bIns="0" anchor="t">
            <a:noAutofit/>
          </a:bodyPr>
          <a:lstStyle/>
          <a:p>
            <a:pPr algn="l">
              <a:lnSpc>
                <a:spcPts val="2025"/>
              </a:lnSpc>
            </a:pPr>
            <a:r>
              <a:rPr sz="1500" b="0" i="0" lang="de-DE">
                <a:solidFill>
                  <a:srgbClr val="6CC0D2"/>
                </a:solidFill>
                <a:latin typeface="IBM Plex Sans"/>
              </a:rPr>
              <a:t>Stimmt die Folie mit dem Bericht überein?</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FFFFFF"/>
                </a:solidFill>
                <a:latin typeface="IBM Plex Sans"/>
              </a:rPr>
              <a:t>ML Canvas im Wortlaut von Tabelle A1</a:t>
            </a:r>
          </a:p>
        </p:txBody>
      </p:sp>
      <p:sp>
        <p:nvSpPr>
          <p:cNvPr id="7" name="A1 01"/>
          <p:cNvSpPr/>
          <p:nvPr/>
        </p:nvSpPr>
        <p:spPr>
          <a:xfrm>
            <a:off x="685800" y="1362075"/>
            <a:ext cx="4014788" cy="800100"/>
          </a:xfrm>
          <a:prstGeom prst="roundRect">
            <a:avLst>
              <a:gd name="adj" fmla="val 11904"/>
            </a:avLst>
          </a:prstGeom>
          <a:solidFill>
            <a:srgbClr val="154263"/>
          </a:solidFill>
          <a:ln w="9525">
            <a:solidFill>
              <a:srgbClr val="295270"/>
            </a:solidFill>
          </a:ln>
          <a:effectLst/>
        </p:spPr>
        <p:txBody>
          <a:bodyPr rtlCol="0" anchor="ctr"/>
          <a:lstStyle/>
          <a:p>
            <a:pPr algn="ctr"/>
          </a:p>
        </p:txBody>
      </p:sp>
      <p:grpSp>
        <p:nvGrpSpPr>
          <p:cNvPr id="8" name="Scheibe gem"/>
          <p:cNvGrpSpPr/>
          <p:nvPr/>
        </p:nvGrpSpPr>
        <p:grpSpPr>
          <a:xfrm>
            <a:off x="816769" y="1445419"/>
            <a:ext cx="252412" cy="252412"/>
            <a:chOff x="816769" y="1445419"/>
            <a:chExt cx="252412" cy="252412"/>
          </a:xfrm>
        </p:grpSpPr>
        <p:sp>
          <p:nvSpPr>
            <p:cNvPr id="9" name="Oval 8"/>
            <p:cNvSpPr/>
            <p:nvPr/>
          </p:nvSpPr>
          <p:spPr>
            <a:xfrm>
              <a:off x="816769" y="1445419"/>
              <a:ext cx="252412" cy="252412"/>
            </a:xfrm>
            <a:prstGeom prst="ellipse">
              <a:avLst/>
            </a:prstGeom>
            <a:solidFill>
              <a:srgbClr val="2C5573"/>
            </a:solidFill>
            <a:ln w="14287">
              <a:solidFill>
                <a:srgbClr val="4D6F88"/>
              </a:solidFill>
            </a:ln>
            <a:effectLst/>
          </p:spPr>
          <p:txBody>
            <a:bodyPr rtlCol="0" anchor="ctr"/>
            <a:lstStyle/>
            <a:p>
              <a:pPr algn="ctr"/>
            </a:p>
          </p:txBody>
        </p:sp>
        <p:pic>
          <p:nvPicPr>
            <p:cNvPr id="10" name="Picture 9" descr="gem__9CC3E0.png"/>
            <p:cNvPicPr>
              <a:picLocks noChangeAspect="1"/>
            </p:cNvPicPr>
            <p:nvPr/>
          </p:nvPicPr>
          <p:blipFill>
            <a:blip r:embed="rId4"/>
            <a:stretch>
              <a:fillRect/>
            </a:stretch>
          </p:blipFill>
          <p:spPr>
            <a:xfrm>
              <a:off x="873633" y="1502283"/>
              <a:ext cx="138684" cy="138684"/>
            </a:xfrm>
            <a:prstGeom prst="rect">
              <a:avLst/>
            </a:prstGeom>
          </p:spPr>
        </p:pic>
      </p:grpSp>
      <p:sp>
        <p:nvSpPr>
          <p:cNvPr id="11" name="TextBox 10"/>
          <p:cNvSpPr txBox="1"/>
          <p:nvPr/>
        </p:nvSpPr>
        <p:spPr>
          <a:xfrm>
            <a:off x="1171575" y="1438275"/>
            <a:ext cx="37719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01 </a:t>
            </a:r>
            <a:r>
              <a:rPr sz="975" b="1" i="0" lang="de-DE" spc="58">
                <a:solidFill>
                  <a:srgbClr val="E4EFF7"/>
                </a:solidFill>
                <a:latin typeface="IBM Plex Sans"/>
              </a:rPr>
              <a:t>MEHRWERT</a:t>
            </a:r>
          </a:p>
        </p:txBody>
      </p:sp>
      <p:sp>
        <p:nvSpPr>
          <p:cNvPr id="12" name="TextBox 11"/>
          <p:cNvSpPr txBox="1"/>
          <p:nvPr/>
        </p:nvSpPr>
        <p:spPr>
          <a:xfrm>
            <a:off x="1171575" y="1619250"/>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Genauere Folgemonatsplanung und monatliche Prüfung ungewöhnlicher Zählerwerte.</a:t>
            </a:r>
          </a:p>
        </p:txBody>
      </p:sp>
      <p:sp>
        <p:nvSpPr>
          <p:cNvPr id="13" name="A1 02"/>
          <p:cNvSpPr/>
          <p:nvPr/>
        </p:nvSpPr>
        <p:spPr>
          <a:xfrm>
            <a:off x="4767262" y="1362075"/>
            <a:ext cx="4014788" cy="800100"/>
          </a:xfrm>
          <a:prstGeom prst="roundRect">
            <a:avLst>
              <a:gd name="adj" fmla="val 11904"/>
            </a:avLst>
          </a:prstGeom>
          <a:solidFill>
            <a:srgbClr val="154263"/>
          </a:solidFill>
          <a:ln w="9525">
            <a:solidFill>
              <a:srgbClr val="295270"/>
            </a:solidFill>
          </a:ln>
          <a:effectLst/>
        </p:spPr>
        <p:txBody>
          <a:bodyPr rtlCol="0" anchor="ctr"/>
          <a:lstStyle/>
          <a:p>
            <a:pPr algn="ctr"/>
          </a:p>
        </p:txBody>
      </p:sp>
      <p:grpSp>
        <p:nvGrpSpPr>
          <p:cNvPr id="14" name="Scheibe database"/>
          <p:cNvGrpSpPr/>
          <p:nvPr/>
        </p:nvGrpSpPr>
        <p:grpSpPr>
          <a:xfrm>
            <a:off x="4898231" y="1445419"/>
            <a:ext cx="252412" cy="252412"/>
            <a:chOff x="4898231" y="1445419"/>
            <a:chExt cx="252412" cy="252412"/>
          </a:xfrm>
        </p:grpSpPr>
        <p:sp>
          <p:nvSpPr>
            <p:cNvPr id="15" name="Oval 14"/>
            <p:cNvSpPr/>
            <p:nvPr/>
          </p:nvSpPr>
          <p:spPr>
            <a:xfrm>
              <a:off x="4898231" y="1445419"/>
              <a:ext cx="252412" cy="252412"/>
            </a:xfrm>
            <a:prstGeom prst="ellipse">
              <a:avLst/>
            </a:prstGeom>
            <a:solidFill>
              <a:srgbClr val="2C5573"/>
            </a:solidFill>
            <a:ln w="14287">
              <a:solidFill>
                <a:srgbClr val="4D6F88"/>
              </a:solidFill>
            </a:ln>
            <a:effectLst/>
          </p:spPr>
          <p:txBody>
            <a:bodyPr rtlCol="0" anchor="ctr"/>
            <a:lstStyle/>
            <a:p>
              <a:pPr algn="ctr"/>
            </a:p>
          </p:txBody>
        </p:sp>
        <p:pic>
          <p:nvPicPr>
            <p:cNvPr id="16" name="Picture 15" descr="database__9CC3E0.png"/>
            <p:cNvPicPr>
              <a:picLocks noChangeAspect="1"/>
            </p:cNvPicPr>
            <p:nvPr/>
          </p:nvPicPr>
          <p:blipFill>
            <a:blip r:embed="rId5"/>
            <a:stretch>
              <a:fillRect/>
            </a:stretch>
          </p:blipFill>
          <p:spPr>
            <a:xfrm>
              <a:off x="4955096" y="1502283"/>
              <a:ext cx="138684" cy="138684"/>
            </a:xfrm>
            <a:prstGeom prst="rect">
              <a:avLst/>
            </a:prstGeom>
          </p:spPr>
        </p:pic>
      </p:grpSp>
      <p:sp>
        <p:nvSpPr>
          <p:cNvPr id="17" name="TextBox 16"/>
          <p:cNvSpPr txBox="1"/>
          <p:nvPr/>
        </p:nvSpPr>
        <p:spPr>
          <a:xfrm>
            <a:off x="5253038" y="1438275"/>
            <a:ext cx="37719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02 </a:t>
            </a:r>
            <a:r>
              <a:rPr sz="975" b="1" i="0" lang="de-DE" spc="58">
                <a:solidFill>
                  <a:srgbClr val="E4EFF7"/>
                </a:solidFill>
                <a:latin typeface="IBM Plex Sans"/>
              </a:rPr>
              <a:t>DATENQUELLEN</a:t>
            </a:r>
          </a:p>
        </p:txBody>
      </p:sp>
      <p:sp>
        <p:nvSpPr>
          <p:cNvPr id="18" name="TextBox 17"/>
          <p:cNvSpPr txBox="1"/>
          <p:nvPr/>
        </p:nvSpPr>
        <p:spPr>
          <a:xfrm>
            <a:off x="5253038" y="1619250"/>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Zählerverbräuche, Verträge, Kundentyp, Kalender, Wetter, Produktionsplan und Wartung.</a:t>
            </a:r>
          </a:p>
        </p:txBody>
      </p:sp>
      <p:sp>
        <p:nvSpPr>
          <p:cNvPr id="19" name="A1 03"/>
          <p:cNvSpPr/>
          <p:nvPr/>
        </p:nvSpPr>
        <p:spPr>
          <a:xfrm>
            <a:off x="685800" y="2228850"/>
            <a:ext cx="4014788" cy="800100"/>
          </a:xfrm>
          <a:prstGeom prst="roundRect">
            <a:avLst>
              <a:gd name="adj" fmla="val 11904"/>
            </a:avLst>
          </a:prstGeom>
          <a:solidFill>
            <a:srgbClr val="154263"/>
          </a:solidFill>
          <a:ln w="9525">
            <a:solidFill>
              <a:srgbClr val="6CC0D2"/>
            </a:solidFill>
          </a:ln>
          <a:effectLst/>
        </p:spPr>
        <p:txBody>
          <a:bodyPr rtlCol="0" anchor="ctr"/>
          <a:lstStyle/>
          <a:p>
            <a:pPr algn="ctr"/>
          </a:p>
        </p:txBody>
      </p:sp>
      <p:grpSp>
        <p:nvGrpSpPr>
          <p:cNvPr id="20" name="Scheibe chart-spline"/>
          <p:cNvGrpSpPr/>
          <p:nvPr/>
        </p:nvGrpSpPr>
        <p:grpSpPr>
          <a:xfrm>
            <a:off x="809625" y="2305050"/>
            <a:ext cx="266700" cy="266700"/>
            <a:chOff x="809625" y="2305050"/>
            <a:chExt cx="266700" cy="266700"/>
          </a:xfrm>
        </p:grpSpPr>
        <p:sp>
          <p:nvSpPr>
            <p:cNvPr id="21" name="Oval 20"/>
            <p:cNvSpPr/>
            <p:nvPr/>
          </p:nvSpPr>
          <p:spPr>
            <a:xfrm>
              <a:off x="809625" y="2305050"/>
              <a:ext cx="266700" cy="266700"/>
            </a:xfrm>
            <a:prstGeom prst="ellipse">
              <a:avLst/>
            </a:prstGeom>
            <a:solidFill>
              <a:srgbClr val="6CC0D2"/>
            </a:solidFill>
            <a:ln>
              <a:noFill/>
            </a:ln>
            <a:effectLst/>
          </p:spPr>
          <p:txBody>
            <a:bodyPr rtlCol="0" anchor="ctr"/>
            <a:lstStyle/>
            <a:p>
              <a:pPr algn="ctr"/>
            </a:p>
          </p:txBody>
        </p:sp>
        <p:pic>
          <p:nvPicPr>
            <p:cNvPr id="22" name="Picture 21" descr="chart-spline__04263F.png"/>
            <p:cNvPicPr>
              <a:picLocks noChangeAspect="1"/>
            </p:cNvPicPr>
            <p:nvPr/>
          </p:nvPicPr>
          <p:blipFill>
            <a:blip r:embed="rId6"/>
            <a:stretch>
              <a:fillRect/>
            </a:stretch>
          </p:blipFill>
          <p:spPr>
            <a:xfrm>
              <a:off x="873633" y="2369058"/>
              <a:ext cx="138684" cy="138684"/>
            </a:xfrm>
            <a:prstGeom prst="rect">
              <a:avLst/>
            </a:prstGeom>
          </p:spPr>
        </p:pic>
      </p:grpSp>
      <p:sp>
        <p:nvSpPr>
          <p:cNvPr id="23" name="TextBox 22"/>
          <p:cNvSpPr txBox="1"/>
          <p:nvPr/>
        </p:nvSpPr>
        <p:spPr>
          <a:xfrm>
            <a:off x="1171575" y="2305050"/>
            <a:ext cx="37719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03 </a:t>
            </a:r>
            <a:r>
              <a:rPr sz="975" b="1" i="0" lang="de-DE" spc="58">
                <a:solidFill>
                  <a:srgbClr val="E4EFF7"/>
                </a:solidFill>
                <a:latin typeface="IBM Plex Sans"/>
              </a:rPr>
              <a:t>VORHERSAGE</a:t>
            </a:r>
          </a:p>
        </p:txBody>
      </p:sp>
      <p:sp>
        <p:nvSpPr>
          <p:cNvPr id="24" name="TextBox 23"/>
          <p:cNvSpPr txBox="1"/>
          <p:nvPr/>
        </p:nvSpPr>
        <p:spPr>
          <a:xfrm>
            <a:off x="1171575" y="2486025"/>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VLS je Zähler-Monat; Rückrechnung in kWh; große Residuen werden Prüfhinweise.</a:t>
            </a:r>
          </a:p>
        </p:txBody>
      </p:sp>
      <p:sp>
        <p:nvSpPr>
          <p:cNvPr id="25" name="A1 04"/>
          <p:cNvSpPr/>
          <p:nvPr/>
        </p:nvSpPr>
        <p:spPr>
          <a:xfrm>
            <a:off x="4767262" y="2228850"/>
            <a:ext cx="4014788" cy="800100"/>
          </a:xfrm>
          <a:prstGeom prst="roundRect">
            <a:avLst>
              <a:gd name="adj" fmla="val 11904"/>
            </a:avLst>
          </a:prstGeom>
          <a:solidFill>
            <a:srgbClr val="154263"/>
          </a:solidFill>
          <a:ln w="9525">
            <a:solidFill>
              <a:srgbClr val="6CC0D2"/>
            </a:solidFill>
          </a:ln>
          <a:effectLst/>
        </p:spPr>
        <p:txBody>
          <a:bodyPr rtlCol="0" anchor="ctr"/>
          <a:lstStyle/>
          <a:p>
            <a:pPr algn="ctr"/>
          </a:p>
        </p:txBody>
      </p:sp>
      <p:grpSp>
        <p:nvGrpSpPr>
          <p:cNvPr id="26" name="Scheibe sliders-horizontal"/>
          <p:cNvGrpSpPr/>
          <p:nvPr/>
        </p:nvGrpSpPr>
        <p:grpSpPr>
          <a:xfrm>
            <a:off x="4891088" y="2305050"/>
            <a:ext cx="266700" cy="266700"/>
            <a:chOff x="4891088" y="2305050"/>
            <a:chExt cx="266700" cy="266700"/>
          </a:xfrm>
        </p:grpSpPr>
        <p:sp>
          <p:nvSpPr>
            <p:cNvPr id="27" name="Oval 26"/>
            <p:cNvSpPr/>
            <p:nvPr/>
          </p:nvSpPr>
          <p:spPr>
            <a:xfrm>
              <a:off x="4891088" y="2305050"/>
              <a:ext cx="266700" cy="266700"/>
            </a:xfrm>
            <a:prstGeom prst="ellipse">
              <a:avLst/>
            </a:prstGeom>
            <a:solidFill>
              <a:srgbClr val="6CC0D2"/>
            </a:solidFill>
            <a:ln>
              <a:noFill/>
            </a:ln>
            <a:effectLst/>
          </p:spPr>
          <p:txBody>
            <a:bodyPr rtlCol="0" anchor="ctr"/>
            <a:lstStyle/>
            <a:p>
              <a:pPr algn="ctr"/>
            </a:p>
          </p:txBody>
        </p:sp>
        <p:pic>
          <p:nvPicPr>
            <p:cNvPr id="28" name="Picture 27" descr="sliders-horizontal__04263F.png"/>
            <p:cNvPicPr>
              <a:picLocks noChangeAspect="1"/>
            </p:cNvPicPr>
            <p:nvPr/>
          </p:nvPicPr>
          <p:blipFill>
            <a:blip r:embed="rId7"/>
            <a:stretch>
              <a:fillRect/>
            </a:stretch>
          </p:blipFill>
          <p:spPr>
            <a:xfrm>
              <a:off x="4955096" y="2369058"/>
              <a:ext cx="138684" cy="138684"/>
            </a:xfrm>
            <a:prstGeom prst="rect">
              <a:avLst/>
            </a:prstGeom>
          </p:spPr>
        </p:pic>
      </p:grpSp>
      <p:sp>
        <p:nvSpPr>
          <p:cNvPr id="29" name="TextBox 28"/>
          <p:cNvSpPr txBox="1"/>
          <p:nvPr/>
        </p:nvSpPr>
        <p:spPr>
          <a:xfrm>
            <a:off x="5253038" y="2305050"/>
            <a:ext cx="37719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04 </a:t>
            </a:r>
            <a:r>
              <a:rPr sz="975" b="1" i="0" lang="de-DE" spc="58">
                <a:solidFill>
                  <a:srgbClr val="E4EFF7"/>
                </a:solidFill>
                <a:latin typeface="IBM Plex Sans"/>
              </a:rPr>
              <a:t>MERKMALE</a:t>
            </a:r>
          </a:p>
        </p:txBody>
      </p:sp>
      <p:sp>
        <p:nvSpPr>
          <p:cNvPr id="30" name="TextBox 29"/>
          <p:cNvSpPr txBox="1"/>
          <p:nvPr/>
        </p:nvSpPr>
        <p:spPr>
          <a:xfrm>
            <a:off x="5253038" y="2486025"/>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Historie, Saison, Kalender, Wetterprognose, Produktionsplan, Wartung und Kundentyp.</a:t>
            </a:r>
          </a:p>
        </p:txBody>
      </p:sp>
      <p:sp>
        <p:nvSpPr>
          <p:cNvPr id="31" name="A1 05"/>
          <p:cNvSpPr/>
          <p:nvPr/>
        </p:nvSpPr>
        <p:spPr>
          <a:xfrm>
            <a:off x="685800" y="3095625"/>
            <a:ext cx="4014788" cy="800100"/>
          </a:xfrm>
          <a:prstGeom prst="roundRect">
            <a:avLst>
              <a:gd name="adj" fmla="val 11904"/>
            </a:avLst>
          </a:prstGeom>
          <a:solidFill>
            <a:srgbClr val="154263"/>
          </a:solidFill>
          <a:ln w="9525">
            <a:solidFill>
              <a:srgbClr val="6CC0D2"/>
            </a:solidFill>
          </a:ln>
          <a:effectLst/>
        </p:spPr>
        <p:txBody>
          <a:bodyPr rtlCol="0" anchor="ctr"/>
          <a:lstStyle/>
          <a:p>
            <a:pPr algn="ctr"/>
          </a:p>
        </p:txBody>
      </p:sp>
      <p:grpSp>
        <p:nvGrpSpPr>
          <p:cNvPr id="32" name="Scheibe trees"/>
          <p:cNvGrpSpPr/>
          <p:nvPr/>
        </p:nvGrpSpPr>
        <p:grpSpPr>
          <a:xfrm>
            <a:off x="809625" y="3171825"/>
            <a:ext cx="266700" cy="266700"/>
            <a:chOff x="809625" y="3171825"/>
            <a:chExt cx="266700" cy="266700"/>
          </a:xfrm>
        </p:grpSpPr>
        <p:sp>
          <p:nvSpPr>
            <p:cNvPr id="33" name="Oval 32"/>
            <p:cNvSpPr/>
            <p:nvPr/>
          </p:nvSpPr>
          <p:spPr>
            <a:xfrm>
              <a:off x="809625" y="3171825"/>
              <a:ext cx="266700" cy="266700"/>
            </a:xfrm>
            <a:prstGeom prst="ellipse">
              <a:avLst/>
            </a:prstGeom>
            <a:solidFill>
              <a:srgbClr val="6CC0D2"/>
            </a:solidFill>
            <a:ln>
              <a:noFill/>
            </a:ln>
            <a:effectLst/>
          </p:spPr>
          <p:txBody>
            <a:bodyPr rtlCol="0" anchor="ctr"/>
            <a:lstStyle/>
            <a:p>
              <a:pPr algn="ctr"/>
            </a:p>
          </p:txBody>
        </p:sp>
        <p:pic>
          <p:nvPicPr>
            <p:cNvPr id="34" name="Picture 33" descr="trees__04263F.png"/>
            <p:cNvPicPr>
              <a:picLocks noChangeAspect="1"/>
            </p:cNvPicPr>
            <p:nvPr/>
          </p:nvPicPr>
          <p:blipFill>
            <a:blip r:embed="rId8"/>
            <a:stretch>
              <a:fillRect/>
            </a:stretch>
          </p:blipFill>
          <p:spPr>
            <a:xfrm>
              <a:off x="873633" y="3235833"/>
              <a:ext cx="138684" cy="138684"/>
            </a:xfrm>
            <a:prstGeom prst="rect">
              <a:avLst/>
            </a:prstGeom>
          </p:spPr>
        </p:pic>
      </p:grpSp>
      <p:sp>
        <p:nvSpPr>
          <p:cNvPr id="35" name="TextBox 34"/>
          <p:cNvSpPr txBox="1"/>
          <p:nvPr/>
        </p:nvSpPr>
        <p:spPr>
          <a:xfrm>
            <a:off x="1171575" y="3171825"/>
            <a:ext cx="37719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05 </a:t>
            </a:r>
            <a:r>
              <a:rPr sz="975" b="1" i="0" lang="de-DE" spc="58">
                <a:solidFill>
                  <a:srgbClr val="E4EFF7"/>
                </a:solidFill>
                <a:latin typeface="IBM Plex Sans"/>
              </a:rPr>
              <a:t>LERNANSATZ</a:t>
            </a:r>
          </a:p>
        </p:txBody>
      </p:sp>
      <p:sp>
        <p:nvSpPr>
          <p:cNvPr id="36" name="TextBox 35"/>
          <p:cNvSpPr txBox="1"/>
          <p:nvPr/>
        </p:nvSpPr>
        <p:spPr>
          <a:xfrm>
            <a:off x="1171575" y="3352800"/>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Überwachte Regression; lineare Regression als Referenz, Random Forest als nichtlinearer Vergleich.</a:t>
            </a:r>
          </a:p>
        </p:txBody>
      </p:sp>
      <p:sp>
        <p:nvSpPr>
          <p:cNvPr id="37" name="A1 06"/>
          <p:cNvSpPr/>
          <p:nvPr/>
        </p:nvSpPr>
        <p:spPr>
          <a:xfrm>
            <a:off x="4767262" y="3095625"/>
            <a:ext cx="4014788" cy="800100"/>
          </a:xfrm>
          <a:prstGeom prst="roundRect">
            <a:avLst>
              <a:gd name="adj" fmla="val 11904"/>
            </a:avLst>
          </a:prstGeom>
          <a:solidFill>
            <a:srgbClr val="154263"/>
          </a:solidFill>
          <a:ln w="9525">
            <a:solidFill>
              <a:srgbClr val="6CC0D2"/>
            </a:solidFill>
          </a:ln>
          <a:effectLst/>
        </p:spPr>
        <p:txBody>
          <a:bodyPr rtlCol="0" anchor="ctr"/>
          <a:lstStyle/>
          <a:p>
            <a:pPr algn="ctr"/>
          </a:p>
        </p:txBody>
      </p:sp>
      <p:grpSp>
        <p:nvGrpSpPr>
          <p:cNvPr id="38" name="Scheibe ruler"/>
          <p:cNvGrpSpPr/>
          <p:nvPr/>
        </p:nvGrpSpPr>
        <p:grpSpPr>
          <a:xfrm>
            <a:off x="4891088" y="3171825"/>
            <a:ext cx="266700" cy="266700"/>
            <a:chOff x="4891088" y="3171825"/>
            <a:chExt cx="266700" cy="266700"/>
          </a:xfrm>
        </p:grpSpPr>
        <p:sp>
          <p:nvSpPr>
            <p:cNvPr id="39" name="Oval 38"/>
            <p:cNvSpPr/>
            <p:nvPr/>
          </p:nvSpPr>
          <p:spPr>
            <a:xfrm>
              <a:off x="4891088" y="3171825"/>
              <a:ext cx="266700" cy="266700"/>
            </a:xfrm>
            <a:prstGeom prst="ellipse">
              <a:avLst/>
            </a:prstGeom>
            <a:solidFill>
              <a:srgbClr val="6CC0D2"/>
            </a:solidFill>
            <a:ln>
              <a:noFill/>
            </a:ln>
            <a:effectLst/>
          </p:spPr>
          <p:txBody>
            <a:bodyPr rtlCol="0" anchor="ctr"/>
            <a:lstStyle/>
            <a:p>
              <a:pPr algn="ctr"/>
            </a:p>
          </p:txBody>
        </p:sp>
        <p:pic>
          <p:nvPicPr>
            <p:cNvPr id="40" name="Picture 39" descr="ruler__04263F.png"/>
            <p:cNvPicPr>
              <a:picLocks noChangeAspect="1"/>
            </p:cNvPicPr>
            <p:nvPr/>
          </p:nvPicPr>
          <p:blipFill>
            <a:blip r:embed="rId9"/>
            <a:stretch>
              <a:fillRect/>
            </a:stretch>
          </p:blipFill>
          <p:spPr>
            <a:xfrm>
              <a:off x="4955096" y="3235833"/>
              <a:ext cx="138684" cy="138684"/>
            </a:xfrm>
            <a:prstGeom prst="rect">
              <a:avLst/>
            </a:prstGeom>
          </p:spPr>
        </p:pic>
      </p:grpSp>
      <p:sp>
        <p:nvSpPr>
          <p:cNvPr id="41" name="TextBox 40"/>
          <p:cNvSpPr txBox="1"/>
          <p:nvPr/>
        </p:nvSpPr>
        <p:spPr>
          <a:xfrm>
            <a:off x="5253038" y="3171825"/>
            <a:ext cx="37719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06 </a:t>
            </a:r>
            <a:r>
              <a:rPr sz="975" b="1" i="0" lang="de-DE" spc="58">
                <a:solidFill>
                  <a:srgbClr val="E4EFF7"/>
                </a:solidFill>
                <a:latin typeface="IBM Plex Sans"/>
              </a:rPr>
              <a:t>EVALUATION</a:t>
            </a:r>
          </a:p>
        </p:txBody>
      </p:sp>
      <p:sp>
        <p:nvSpPr>
          <p:cNvPr id="42" name="TextBox 41"/>
          <p:cNvSpPr txBox="1"/>
          <p:nvPr/>
        </p:nvSpPr>
        <p:spPr>
          <a:xfrm>
            <a:off x="5253038" y="3352800"/>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RMSE in kWh als Hauptmetrik; MAE und R² ergänzend; Vergleich mit zwei Baselines.</a:t>
            </a:r>
          </a:p>
        </p:txBody>
      </p:sp>
      <p:sp>
        <p:nvSpPr>
          <p:cNvPr id="43" name="A1 07"/>
          <p:cNvSpPr/>
          <p:nvPr/>
        </p:nvSpPr>
        <p:spPr>
          <a:xfrm>
            <a:off x="685800" y="3962400"/>
            <a:ext cx="4014788" cy="800100"/>
          </a:xfrm>
          <a:prstGeom prst="roundRect">
            <a:avLst>
              <a:gd name="adj" fmla="val 11904"/>
            </a:avLst>
          </a:prstGeom>
          <a:solidFill>
            <a:srgbClr val="154263"/>
          </a:solidFill>
          <a:ln w="9525">
            <a:solidFill>
              <a:srgbClr val="6CC0D2"/>
            </a:solidFill>
          </a:ln>
          <a:effectLst/>
        </p:spPr>
        <p:txBody>
          <a:bodyPr rtlCol="0" anchor="ctr"/>
          <a:lstStyle/>
          <a:p>
            <a:pPr algn="ctr"/>
          </a:p>
        </p:txBody>
      </p:sp>
      <p:grpSp>
        <p:nvGrpSpPr>
          <p:cNvPr id="44" name="Scheibe split"/>
          <p:cNvGrpSpPr/>
          <p:nvPr/>
        </p:nvGrpSpPr>
        <p:grpSpPr>
          <a:xfrm>
            <a:off x="809625" y="4038600"/>
            <a:ext cx="266700" cy="266700"/>
            <a:chOff x="809625" y="4038600"/>
            <a:chExt cx="266700" cy="266700"/>
          </a:xfrm>
        </p:grpSpPr>
        <p:sp>
          <p:nvSpPr>
            <p:cNvPr id="45" name="Oval 44"/>
            <p:cNvSpPr/>
            <p:nvPr/>
          </p:nvSpPr>
          <p:spPr>
            <a:xfrm>
              <a:off x="809625" y="4038600"/>
              <a:ext cx="266700" cy="266700"/>
            </a:xfrm>
            <a:prstGeom prst="ellipse">
              <a:avLst/>
            </a:prstGeom>
            <a:solidFill>
              <a:srgbClr val="6CC0D2"/>
            </a:solidFill>
            <a:ln>
              <a:noFill/>
            </a:ln>
            <a:effectLst/>
          </p:spPr>
          <p:txBody>
            <a:bodyPr rtlCol="0" anchor="ctr"/>
            <a:lstStyle/>
            <a:p>
              <a:pPr algn="ctr"/>
            </a:p>
          </p:txBody>
        </p:sp>
        <p:pic>
          <p:nvPicPr>
            <p:cNvPr id="46" name="Picture 45" descr="split__04263F.png"/>
            <p:cNvPicPr>
              <a:picLocks noChangeAspect="1"/>
            </p:cNvPicPr>
            <p:nvPr/>
          </p:nvPicPr>
          <p:blipFill>
            <a:blip r:embed="rId10"/>
            <a:stretch>
              <a:fillRect/>
            </a:stretch>
          </p:blipFill>
          <p:spPr>
            <a:xfrm>
              <a:off x="873633" y="4102608"/>
              <a:ext cx="138684" cy="138684"/>
            </a:xfrm>
            <a:prstGeom prst="rect">
              <a:avLst/>
            </a:prstGeom>
          </p:spPr>
        </p:pic>
      </p:grpSp>
      <p:sp>
        <p:nvSpPr>
          <p:cNvPr id="47" name="TextBox 46"/>
          <p:cNvSpPr txBox="1"/>
          <p:nvPr/>
        </p:nvSpPr>
        <p:spPr>
          <a:xfrm>
            <a:off x="1171575" y="4038600"/>
            <a:ext cx="37719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07 </a:t>
            </a:r>
            <a:r>
              <a:rPr sz="975" b="1" i="0" lang="de-DE" spc="58">
                <a:solidFill>
                  <a:srgbClr val="E4EFF7"/>
                </a:solidFill>
                <a:latin typeface="IBM Plex Sans"/>
              </a:rPr>
              <a:t>ENTSCHEIDUNG</a:t>
            </a:r>
          </a:p>
        </p:txBody>
      </p:sp>
      <p:sp>
        <p:nvSpPr>
          <p:cNvPr id="48" name="TextBox 47"/>
          <p:cNvSpPr txBox="1"/>
          <p:nvPr/>
        </p:nvSpPr>
        <p:spPr>
          <a:xfrm>
            <a:off x="1171575" y="4219575"/>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Prognose unterstützt Beschaffung; Hinweis führt zur menschlichen Prüfung.</a:t>
            </a:r>
          </a:p>
        </p:txBody>
      </p:sp>
      <p:sp>
        <p:nvSpPr>
          <p:cNvPr id="49" name="A1 08"/>
          <p:cNvSpPr/>
          <p:nvPr/>
        </p:nvSpPr>
        <p:spPr>
          <a:xfrm>
            <a:off x="4767262" y="3962400"/>
            <a:ext cx="4014788" cy="800100"/>
          </a:xfrm>
          <a:prstGeom prst="roundRect">
            <a:avLst>
              <a:gd name="adj" fmla="val 11904"/>
            </a:avLst>
          </a:prstGeom>
          <a:solidFill>
            <a:srgbClr val="154263"/>
          </a:solidFill>
          <a:ln w="9525">
            <a:solidFill>
              <a:srgbClr val="295270"/>
            </a:solidFill>
          </a:ln>
          <a:effectLst/>
        </p:spPr>
        <p:txBody>
          <a:bodyPr rtlCol="0" anchor="ctr"/>
          <a:lstStyle/>
          <a:p>
            <a:pPr algn="ctr"/>
          </a:p>
        </p:txBody>
      </p:sp>
      <p:grpSp>
        <p:nvGrpSpPr>
          <p:cNvPr id="50" name="Scheibe target"/>
          <p:cNvGrpSpPr/>
          <p:nvPr/>
        </p:nvGrpSpPr>
        <p:grpSpPr>
          <a:xfrm>
            <a:off x="4898231" y="4045744"/>
            <a:ext cx="252412" cy="252412"/>
            <a:chOff x="4898231" y="4045744"/>
            <a:chExt cx="252412" cy="252412"/>
          </a:xfrm>
        </p:grpSpPr>
        <p:sp>
          <p:nvSpPr>
            <p:cNvPr id="51" name="Oval 50"/>
            <p:cNvSpPr/>
            <p:nvPr/>
          </p:nvSpPr>
          <p:spPr>
            <a:xfrm>
              <a:off x="4898231" y="4045744"/>
              <a:ext cx="252412" cy="252412"/>
            </a:xfrm>
            <a:prstGeom prst="ellipse">
              <a:avLst/>
            </a:prstGeom>
            <a:solidFill>
              <a:srgbClr val="2C5573"/>
            </a:solidFill>
            <a:ln w="14287">
              <a:solidFill>
                <a:srgbClr val="4D6F88"/>
              </a:solidFill>
            </a:ln>
            <a:effectLst/>
          </p:spPr>
          <p:txBody>
            <a:bodyPr rtlCol="0" anchor="ctr"/>
            <a:lstStyle/>
            <a:p>
              <a:pPr algn="ctr"/>
            </a:p>
          </p:txBody>
        </p:sp>
        <p:pic>
          <p:nvPicPr>
            <p:cNvPr id="52" name="Picture 51" descr="target__9CC3E0.png"/>
            <p:cNvPicPr>
              <a:picLocks noChangeAspect="1"/>
            </p:cNvPicPr>
            <p:nvPr/>
          </p:nvPicPr>
          <p:blipFill>
            <a:blip r:embed="rId11"/>
            <a:stretch>
              <a:fillRect/>
            </a:stretch>
          </p:blipFill>
          <p:spPr>
            <a:xfrm>
              <a:off x="4955096" y="4102608"/>
              <a:ext cx="138684" cy="138684"/>
            </a:xfrm>
            <a:prstGeom prst="rect">
              <a:avLst/>
            </a:prstGeom>
          </p:spPr>
        </p:pic>
      </p:grpSp>
      <p:sp>
        <p:nvSpPr>
          <p:cNvPr id="53" name="TextBox 52"/>
          <p:cNvSpPr txBox="1"/>
          <p:nvPr/>
        </p:nvSpPr>
        <p:spPr>
          <a:xfrm>
            <a:off x="5253038" y="4038600"/>
            <a:ext cx="37719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08 </a:t>
            </a:r>
            <a:r>
              <a:rPr sz="975" b="1" i="0" lang="de-DE" spc="58">
                <a:solidFill>
                  <a:srgbClr val="E4EFF7"/>
                </a:solidFill>
                <a:latin typeface="IBM Plex Sans"/>
              </a:rPr>
              <a:t>IMPACT</a:t>
            </a:r>
          </a:p>
        </p:txBody>
      </p:sp>
      <p:sp>
        <p:nvSpPr>
          <p:cNvPr id="54" name="TextBox 53"/>
          <p:cNvSpPr txBox="1"/>
          <p:nvPr/>
        </p:nvSpPr>
        <p:spPr>
          <a:xfrm>
            <a:off x="5253038" y="4219575"/>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Pilot-KPIs: Fehler, Hinweisvolumen, Prüfzeit und Bestätigungsquote.</a:t>
            </a:r>
          </a:p>
        </p:txBody>
      </p:sp>
      <p:sp>
        <p:nvSpPr>
          <p:cNvPr id="55" name="A1 09"/>
          <p:cNvSpPr/>
          <p:nvPr/>
        </p:nvSpPr>
        <p:spPr>
          <a:xfrm>
            <a:off x="685800" y="4829175"/>
            <a:ext cx="4014788" cy="800100"/>
          </a:xfrm>
          <a:prstGeom prst="roundRect">
            <a:avLst>
              <a:gd name="adj" fmla="val 11904"/>
            </a:avLst>
          </a:prstGeom>
          <a:solidFill>
            <a:srgbClr val="154263"/>
          </a:solidFill>
          <a:ln w="9525">
            <a:solidFill>
              <a:srgbClr val="6CC0D2"/>
            </a:solidFill>
          </a:ln>
          <a:effectLst/>
        </p:spPr>
        <p:txBody>
          <a:bodyPr rtlCol="0" anchor="ctr"/>
          <a:lstStyle/>
          <a:p>
            <a:pPr algn="ctr"/>
          </a:p>
        </p:txBody>
      </p:sp>
      <p:grpSp>
        <p:nvGrpSpPr>
          <p:cNvPr id="56" name="Scheibe calendar-clock"/>
          <p:cNvGrpSpPr/>
          <p:nvPr/>
        </p:nvGrpSpPr>
        <p:grpSpPr>
          <a:xfrm>
            <a:off x="809625" y="4905375"/>
            <a:ext cx="266700" cy="266700"/>
            <a:chOff x="809625" y="4905375"/>
            <a:chExt cx="266700" cy="266700"/>
          </a:xfrm>
        </p:grpSpPr>
        <p:sp>
          <p:nvSpPr>
            <p:cNvPr id="57" name="Oval 56"/>
            <p:cNvSpPr/>
            <p:nvPr/>
          </p:nvSpPr>
          <p:spPr>
            <a:xfrm>
              <a:off x="809625" y="4905375"/>
              <a:ext cx="266700" cy="266700"/>
            </a:xfrm>
            <a:prstGeom prst="ellipse">
              <a:avLst/>
            </a:prstGeom>
            <a:solidFill>
              <a:srgbClr val="6CC0D2"/>
            </a:solidFill>
            <a:ln>
              <a:noFill/>
            </a:ln>
            <a:effectLst/>
          </p:spPr>
          <p:txBody>
            <a:bodyPr rtlCol="0" anchor="ctr"/>
            <a:lstStyle/>
            <a:p>
              <a:pPr algn="ctr"/>
            </a:p>
          </p:txBody>
        </p:sp>
        <p:pic>
          <p:nvPicPr>
            <p:cNvPr id="58" name="Picture 57" descr="calendar-clock__04263F.png"/>
            <p:cNvPicPr>
              <a:picLocks noChangeAspect="1"/>
            </p:cNvPicPr>
            <p:nvPr/>
          </p:nvPicPr>
          <p:blipFill>
            <a:blip r:embed="rId12"/>
            <a:stretch>
              <a:fillRect/>
            </a:stretch>
          </p:blipFill>
          <p:spPr>
            <a:xfrm>
              <a:off x="873633" y="4969383"/>
              <a:ext cx="138684" cy="138684"/>
            </a:xfrm>
            <a:prstGeom prst="rect">
              <a:avLst/>
            </a:prstGeom>
          </p:spPr>
        </p:pic>
      </p:grpSp>
      <p:sp>
        <p:nvSpPr>
          <p:cNvPr id="59" name="TextBox 58"/>
          <p:cNvSpPr txBox="1"/>
          <p:nvPr/>
        </p:nvSpPr>
        <p:spPr>
          <a:xfrm>
            <a:off x="1171575" y="4905375"/>
            <a:ext cx="37719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09 </a:t>
            </a:r>
            <a:r>
              <a:rPr sz="975" b="1" i="0" lang="de-DE" spc="58">
                <a:solidFill>
                  <a:srgbClr val="E4EFF7"/>
                </a:solidFill>
                <a:latin typeface="IBM Plex Sans"/>
              </a:rPr>
              <a:t>ZEITPUNKT</a:t>
            </a:r>
          </a:p>
        </p:txBody>
      </p:sp>
      <p:sp>
        <p:nvSpPr>
          <p:cNvPr id="60" name="TextBox 59"/>
          <p:cNvSpPr txBox="1"/>
          <p:nvPr/>
        </p:nvSpPr>
        <p:spPr>
          <a:xfrm>
            <a:off x="1171575" y="5086350"/>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Prognose vor Monatsbeginn; Residuenprüfung nach Eintreffen des Monatswerts.</a:t>
            </a:r>
          </a:p>
        </p:txBody>
      </p:sp>
      <p:sp>
        <p:nvSpPr>
          <p:cNvPr id="61" name="A1 10"/>
          <p:cNvSpPr/>
          <p:nvPr/>
        </p:nvSpPr>
        <p:spPr>
          <a:xfrm>
            <a:off x="4767262" y="4829175"/>
            <a:ext cx="4014788" cy="800100"/>
          </a:xfrm>
          <a:prstGeom prst="roundRect">
            <a:avLst>
              <a:gd name="adj" fmla="val 11904"/>
            </a:avLst>
          </a:prstGeom>
          <a:solidFill>
            <a:srgbClr val="154263"/>
          </a:solidFill>
          <a:ln w="9525">
            <a:solidFill>
              <a:srgbClr val="295270"/>
            </a:solidFill>
          </a:ln>
          <a:effectLst/>
        </p:spPr>
        <p:txBody>
          <a:bodyPr rtlCol="0" anchor="ctr"/>
          <a:lstStyle/>
          <a:p>
            <a:pPr algn="ctr"/>
          </a:p>
        </p:txBody>
      </p:sp>
      <p:grpSp>
        <p:nvGrpSpPr>
          <p:cNvPr id="62" name="Scheibe activity"/>
          <p:cNvGrpSpPr/>
          <p:nvPr/>
        </p:nvGrpSpPr>
        <p:grpSpPr>
          <a:xfrm>
            <a:off x="4898231" y="4912519"/>
            <a:ext cx="252412" cy="252412"/>
            <a:chOff x="4898231" y="4912519"/>
            <a:chExt cx="252412" cy="252412"/>
          </a:xfrm>
        </p:grpSpPr>
        <p:sp>
          <p:nvSpPr>
            <p:cNvPr id="63" name="Oval 62"/>
            <p:cNvSpPr/>
            <p:nvPr/>
          </p:nvSpPr>
          <p:spPr>
            <a:xfrm>
              <a:off x="4898231" y="4912519"/>
              <a:ext cx="252412" cy="252412"/>
            </a:xfrm>
            <a:prstGeom prst="ellipse">
              <a:avLst/>
            </a:prstGeom>
            <a:solidFill>
              <a:srgbClr val="2C5573"/>
            </a:solidFill>
            <a:ln w="14287">
              <a:solidFill>
                <a:srgbClr val="4D6F88"/>
              </a:solidFill>
            </a:ln>
            <a:effectLst/>
          </p:spPr>
          <p:txBody>
            <a:bodyPr rtlCol="0" anchor="ctr"/>
            <a:lstStyle/>
            <a:p>
              <a:pPr algn="ctr"/>
            </a:p>
          </p:txBody>
        </p:sp>
        <p:pic>
          <p:nvPicPr>
            <p:cNvPr id="64" name="Picture 63" descr="activity__9CC3E0.png"/>
            <p:cNvPicPr>
              <a:picLocks noChangeAspect="1"/>
            </p:cNvPicPr>
            <p:nvPr/>
          </p:nvPicPr>
          <p:blipFill>
            <a:blip r:embed="rId13"/>
            <a:stretch>
              <a:fillRect/>
            </a:stretch>
          </p:blipFill>
          <p:spPr>
            <a:xfrm>
              <a:off x="4955096" y="4969383"/>
              <a:ext cx="138684" cy="138684"/>
            </a:xfrm>
            <a:prstGeom prst="rect">
              <a:avLst/>
            </a:prstGeom>
          </p:spPr>
        </p:pic>
      </p:grpSp>
      <p:sp>
        <p:nvSpPr>
          <p:cNvPr id="65" name="TextBox 64"/>
          <p:cNvSpPr txBox="1"/>
          <p:nvPr/>
        </p:nvSpPr>
        <p:spPr>
          <a:xfrm>
            <a:off x="5253038" y="4905375"/>
            <a:ext cx="3771900" cy="161925"/>
          </a:xfrm>
          <a:prstGeom prst="rect">
            <a:avLst/>
          </a:prstGeom>
          <a:noFill/>
        </p:spPr>
        <p:txBody>
          <a:bodyPr wrap="none" lIns="0" rIns="0" tIns="0" bIns="0" anchor="t">
            <a:noAutofit/>
          </a:bodyPr>
          <a:lstStyle/>
          <a:p>
            <a:pPr algn="l">
              <a:lnSpc>
                <a:spcPts val="1275"/>
              </a:lnSpc>
            </a:pPr>
            <a:r>
              <a:rPr sz="975" b="1" i="0" lang="de-DE">
                <a:solidFill>
                  <a:srgbClr val="6CC0D2"/>
                </a:solidFill>
                <a:latin typeface="Geist Mono"/>
              </a:rPr>
              <a:t>10 </a:t>
            </a:r>
            <a:r>
              <a:rPr sz="975" b="1" i="0" lang="de-DE" spc="58">
                <a:solidFill>
                  <a:srgbClr val="E4EFF7"/>
                </a:solidFill>
                <a:latin typeface="IBM Plex Sans"/>
              </a:rPr>
              <a:t>MONITORING</a:t>
            </a:r>
          </a:p>
        </p:txBody>
      </p:sp>
      <p:sp>
        <p:nvSpPr>
          <p:cNvPr id="66" name="TextBox 65"/>
          <p:cNvSpPr txBox="1"/>
          <p:nvPr/>
        </p:nvSpPr>
        <p:spPr>
          <a:xfrm>
            <a:off x="5253038" y="5086350"/>
            <a:ext cx="3405188" cy="352425"/>
          </a:xfrm>
          <a:prstGeom prst="rect">
            <a:avLst/>
          </a:prstGeom>
          <a:noFill/>
        </p:spPr>
        <p:txBody>
          <a:bodyPr wrap="square" lIns="0" rIns="0" tIns="0" bIns="0" anchor="t">
            <a:noAutofit/>
          </a:bodyPr>
          <a:lstStyle/>
          <a:p>
            <a:pPr algn="l">
              <a:lnSpc>
                <a:spcPts val="1387"/>
              </a:lnSpc>
            </a:pPr>
            <a:r>
              <a:rPr sz="1050" b="0" i="0" lang="de-DE">
                <a:solidFill>
                  <a:srgbClr val="BBD7EA"/>
                </a:solidFill>
                <a:latin typeface="IBM Plex Sans"/>
              </a:rPr>
              <a:t>Monatliche Fehler-, Drift- und Hinweiskontrolle; Retraining nur bei belegter Verschlechterung.</a:t>
            </a:r>
          </a:p>
        </p:txBody>
      </p:sp>
      <p:sp>
        <p:nvSpPr>
          <p:cNvPr id="67" name="Rounded Rectangle 66"/>
          <p:cNvSpPr/>
          <p:nvPr/>
        </p:nvSpPr>
        <p:spPr>
          <a:xfrm>
            <a:off x="8953500" y="1362075"/>
            <a:ext cx="2552700" cy="3505200"/>
          </a:xfrm>
          <a:prstGeom prst="roundRect">
            <a:avLst>
              <a:gd name="adj" fmla="val 3731"/>
            </a:avLst>
          </a:prstGeom>
          <a:solidFill>
            <a:srgbClr val="174465"/>
          </a:solidFill>
          <a:ln w="9525">
            <a:solidFill>
              <a:srgbClr val="2E5674"/>
            </a:solidFill>
          </a:ln>
          <a:effectLst/>
        </p:spPr>
        <p:txBody>
          <a:bodyPr rtlCol="0" anchor="ctr"/>
          <a:lstStyle/>
          <a:p>
            <a:pPr algn="ctr"/>
          </a:p>
        </p:txBody>
      </p:sp>
      <p:grpSp>
        <p:nvGrpSpPr>
          <p:cNvPr id="68" name="Scheibe link"/>
          <p:cNvGrpSpPr/>
          <p:nvPr/>
        </p:nvGrpSpPr>
        <p:grpSpPr>
          <a:xfrm>
            <a:off x="9134475" y="1524000"/>
            <a:ext cx="304800" cy="304800"/>
            <a:chOff x="9134475" y="1524000"/>
            <a:chExt cx="304800" cy="304800"/>
          </a:xfrm>
        </p:grpSpPr>
        <p:sp>
          <p:nvSpPr>
            <p:cNvPr id="69" name="Oval 68"/>
            <p:cNvSpPr/>
            <p:nvPr/>
          </p:nvSpPr>
          <p:spPr>
            <a:xfrm>
              <a:off x="9134475" y="1524000"/>
              <a:ext cx="304800" cy="304800"/>
            </a:xfrm>
            <a:prstGeom prst="ellipse">
              <a:avLst/>
            </a:prstGeom>
            <a:solidFill>
              <a:srgbClr val="6CC0D2"/>
            </a:solidFill>
            <a:ln>
              <a:noFill/>
            </a:ln>
            <a:effectLst/>
          </p:spPr>
          <p:txBody>
            <a:bodyPr rtlCol="0" anchor="ctr"/>
            <a:lstStyle/>
            <a:p>
              <a:pPr algn="ctr"/>
            </a:p>
          </p:txBody>
        </p:sp>
        <p:pic>
          <p:nvPicPr>
            <p:cNvPr id="70" name="Picture 69" descr="link__04263F.png"/>
            <p:cNvPicPr>
              <a:picLocks noChangeAspect="1"/>
            </p:cNvPicPr>
            <p:nvPr/>
          </p:nvPicPr>
          <p:blipFill>
            <a:blip r:embed="rId14"/>
            <a:stretch>
              <a:fillRect/>
            </a:stretch>
          </p:blipFill>
          <p:spPr>
            <a:xfrm>
              <a:off x="9207627" y="1597152"/>
              <a:ext cx="158496" cy="158496"/>
            </a:xfrm>
            <a:prstGeom prst="rect">
              <a:avLst/>
            </a:prstGeom>
          </p:spPr>
        </p:pic>
      </p:grpSp>
      <p:sp>
        <p:nvSpPr>
          <p:cNvPr id="71" name="TextBox 70"/>
          <p:cNvSpPr txBox="1"/>
          <p:nvPr/>
        </p:nvSpPr>
        <p:spPr>
          <a:xfrm>
            <a:off x="9134475" y="1924050"/>
            <a:ext cx="2409825" cy="161925"/>
          </a:xfrm>
          <a:prstGeom prst="rect">
            <a:avLst/>
          </a:prstGeom>
          <a:noFill/>
        </p:spPr>
        <p:txBody>
          <a:bodyPr wrap="none" lIns="0" rIns="0" tIns="0" bIns="0" anchor="t">
            <a:noAutofit/>
          </a:bodyPr>
          <a:lstStyle/>
          <a:p>
            <a:pPr algn="l">
              <a:lnSpc>
                <a:spcPts val="1275"/>
              </a:lnSpc>
            </a:pPr>
            <a:r>
              <a:rPr sz="975" b="1" i="0" lang="de-DE" spc="78">
                <a:solidFill>
                  <a:srgbClr val="6CC0D2"/>
                </a:solidFill>
                <a:latin typeface="IBM Plex Sans"/>
              </a:rPr>
              <a:t>KOHÄRENZ</a:t>
            </a:r>
          </a:p>
        </p:txBody>
      </p:sp>
      <p:sp>
        <p:nvSpPr>
          <p:cNvPr id="72" name="TextBox 71"/>
          <p:cNvSpPr txBox="1"/>
          <p:nvPr/>
        </p:nvSpPr>
        <p:spPr>
          <a:xfrm>
            <a:off x="9134475" y="2181225"/>
            <a:ext cx="2409825" cy="180975"/>
          </a:xfrm>
          <a:prstGeom prst="rect">
            <a:avLst/>
          </a:prstGeom>
          <a:noFill/>
        </p:spPr>
        <p:txBody>
          <a:bodyPr wrap="none" lIns="0" rIns="0" tIns="0" bIns="0" anchor="t">
            <a:noAutofit/>
          </a:bodyPr>
          <a:lstStyle/>
          <a:p>
            <a:pPr algn="l">
              <a:lnSpc>
                <a:spcPts val="1425"/>
              </a:lnSpc>
            </a:pPr>
            <a:r>
              <a:rPr sz="1125" b="1" i="0" lang="de-DE">
                <a:solidFill>
                  <a:srgbClr val="6CC0D2"/>
                </a:solidFill>
                <a:latin typeface="Geist Mono"/>
              </a:rPr>
              <a:t>01 ↔ 08</a:t>
            </a:r>
          </a:p>
        </p:txBody>
      </p:sp>
      <p:sp>
        <p:nvSpPr>
          <p:cNvPr id="73" name="TextBox 72"/>
          <p:cNvSpPr txBox="1"/>
          <p:nvPr/>
        </p:nvSpPr>
        <p:spPr>
          <a:xfrm>
            <a:off x="9134475" y="2371725"/>
            <a:ext cx="2209800" cy="381000"/>
          </a:xfrm>
          <a:prstGeom prst="rect">
            <a:avLst/>
          </a:prstGeom>
          <a:noFill/>
        </p:spPr>
        <p:txBody>
          <a:bodyPr wrap="square" lIns="0" rIns="0" tIns="0" bIns="0" anchor="t">
            <a:noAutofit/>
          </a:bodyPr>
          <a:lstStyle/>
          <a:p>
            <a:pPr algn="l">
              <a:lnSpc>
                <a:spcPts val="1500"/>
              </a:lnSpc>
            </a:pPr>
            <a:r>
              <a:rPr sz="1125" b="0" i="0" lang="de-DE">
                <a:solidFill>
                  <a:srgbClr val="E4EFF7"/>
                </a:solidFill>
                <a:latin typeface="IBM Plex Sans"/>
              </a:rPr>
              <a:t>gleiche Einheiten: kWh und Fälle pro Monat</a:t>
            </a:r>
          </a:p>
        </p:txBody>
      </p:sp>
      <p:sp>
        <p:nvSpPr>
          <p:cNvPr id="74" name="TextBox 73"/>
          <p:cNvSpPr txBox="1"/>
          <p:nvPr/>
        </p:nvSpPr>
        <p:spPr>
          <a:xfrm>
            <a:off x="9134475" y="2886075"/>
            <a:ext cx="2409825" cy="180975"/>
          </a:xfrm>
          <a:prstGeom prst="rect">
            <a:avLst/>
          </a:prstGeom>
          <a:noFill/>
        </p:spPr>
        <p:txBody>
          <a:bodyPr wrap="none" lIns="0" rIns="0" tIns="0" bIns="0" anchor="t">
            <a:noAutofit/>
          </a:bodyPr>
          <a:lstStyle/>
          <a:p>
            <a:pPr algn="l">
              <a:lnSpc>
                <a:spcPts val="1425"/>
              </a:lnSpc>
            </a:pPr>
            <a:r>
              <a:rPr sz="1125" b="1" i="0" lang="de-DE">
                <a:solidFill>
                  <a:srgbClr val="6CC0D2"/>
                </a:solidFill>
                <a:latin typeface="Geist Mono"/>
              </a:rPr>
              <a:t>09 → 04</a:t>
            </a:r>
          </a:p>
        </p:txBody>
      </p:sp>
      <p:sp>
        <p:nvSpPr>
          <p:cNvPr id="75" name="TextBox 74"/>
          <p:cNvSpPr txBox="1"/>
          <p:nvPr/>
        </p:nvSpPr>
        <p:spPr>
          <a:xfrm>
            <a:off x="9134475" y="3076575"/>
            <a:ext cx="2209800" cy="381000"/>
          </a:xfrm>
          <a:prstGeom prst="rect">
            <a:avLst/>
          </a:prstGeom>
          <a:noFill/>
        </p:spPr>
        <p:txBody>
          <a:bodyPr wrap="square" lIns="0" rIns="0" tIns="0" bIns="0" anchor="t">
            <a:noAutofit/>
          </a:bodyPr>
          <a:lstStyle/>
          <a:p>
            <a:pPr algn="l">
              <a:lnSpc>
                <a:spcPts val="1500"/>
              </a:lnSpc>
            </a:pPr>
            <a:r>
              <a:rPr sz="1125" b="0" i="0" lang="de-DE">
                <a:solidFill>
                  <a:srgbClr val="E4EFF7"/>
                </a:solidFill>
                <a:latin typeface="IBM Plex Sans"/>
              </a:rPr>
              <a:t>nur Wissen, das vor Monatsbeginn vorliegt</a:t>
            </a:r>
          </a:p>
        </p:txBody>
      </p:sp>
      <p:sp>
        <p:nvSpPr>
          <p:cNvPr id="76" name="TextBox 75"/>
          <p:cNvSpPr txBox="1"/>
          <p:nvPr/>
        </p:nvSpPr>
        <p:spPr>
          <a:xfrm>
            <a:off x="9134475" y="3590925"/>
            <a:ext cx="2409825" cy="180975"/>
          </a:xfrm>
          <a:prstGeom prst="rect">
            <a:avLst/>
          </a:prstGeom>
          <a:noFill/>
        </p:spPr>
        <p:txBody>
          <a:bodyPr wrap="none" lIns="0" rIns="0" tIns="0" bIns="0" anchor="t">
            <a:noAutofit/>
          </a:bodyPr>
          <a:lstStyle/>
          <a:p>
            <a:pPr algn="l">
              <a:lnSpc>
                <a:spcPts val="1425"/>
              </a:lnSpc>
            </a:pPr>
            <a:r>
              <a:rPr sz="1125" b="1" i="0" lang="de-DE">
                <a:solidFill>
                  <a:srgbClr val="6CC0D2"/>
                </a:solidFill>
                <a:latin typeface="Geist Mono"/>
              </a:rPr>
              <a:t>03 → 05 → 06</a:t>
            </a:r>
          </a:p>
        </p:txBody>
      </p:sp>
      <p:sp>
        <p:nvSpPr>
          <p:cNvPr id="77" name="TextBox 76"/>
          <p:cNvSpPr txBox="1"/>
          <p:nvPr/>
        </p:nvSpPr>
        <p:spPr>
          <a:xfrm>
            <a:off x="9134475" y="3781425"/>
            <a:ext cx="2209800" cy="190500"/>
          </a:xfrm>
          <a:prstGeom prst="rect">
            <a:avLst/>
          </a:prstGeom>
          <a:noFill/>
        </p:spPr>
        <p:txBody>
          <a:bodyPr wrap="square" lIns="0" rIns="0" tIns="0" bIns="0" anchor="t">
            <a:noAutofit/>
          </a:bodyPr>
          <a:lstStyle/>
          <a:p>
            <a:pPr algn="l">
              <a:lnSpc>
                <a:spcPts val="1500"/>
              </a:lnSpc>
            </a:pPr>
            <a:r>
              <a:rPr sz="1125" b="0" i="0" lang="de-DE">
                <a:solidFill>
                  <a:srgbClr val="E4EFF7"/>
                </a:solidFill>
                <a:latin typeface="IBM Plex Sans"/>
              </a:rPr>
              <a:t>Regression → RMSE in kWh</a:t>
            </a:r>
          </a:p>
        </p:txBody>
      </p:sp>
      <p:sp>
        <p:nvSpPr>
          <p:cNvPr id="78" name="TextBox 77"/>
          <p:cNvSpPr txBox="1"/>
          <p:nvPr/>
        </p:nvSpPr>
        <p:spPr>
          <a:xfrm>
            <a:off x="9134475" y="4105275"/>
            <a:ext cx="2409825" cy="180975"/>
          </a:xfrm>
          <a:prstGeom prst="rect">
            <a:avLst/>
          </a:prstGeom>
          <a:noFill/>
        </p:spPr>
        <p:txBody>
          <a:bodyPr wrap="none" lIns="0" rIns="0" tIns="0" bIns="0" anchor="t">
            <a:noAutofit/>
          </a:bodyPr>
          <a:lstStyle/>
          <a:p>
            <a:pPr algn="l">
              <a:lnSpc>
                <a:spcPts val="1425"/>
              </a:lnSpc>
            </a:pPr>
            <a:r>
              <a:rPr sz="1125" b="1" i="0" lang="de-DE">
                <a:solidFill>
                  <a:srgbClr val="6CC0D2"/>
                </a:solidFill>
                <a:latin typeface="Geist Mono"/>
              </a:rPr>
              <a:t>07 ↔ 09</a:t>
            </a:r>
          </a:p>
        </p:txBody>
      </p:sp>
      <p:sp>
        <p:nvSpPr>
          <p:cNvPr id="79" name="TextBox 78"/>
          <p:cNvSpPr txBox="1"/>
          <p:nvPr/>
        </p:nvSpPr>
        <p:spPr>
          <a:xfrm>
            <a:off x="9134475" y="4295775"/>
            <a:ext cx="2209800" cy="381000"/>
          </a:xfrm>
          <a:prstGeom prst="rect">
            <a:avLst/>
          </a:prstGeom>
          <a:noFill/>
        </p:spPr>
        <p:txBody>
          <a:bodyPr wrap="square" lIns="0" rIns="0" tIns="0" bIns="0" anchor="t">
            <a:noAutofit/>
          </a:bodyPr>
          <a:lstStyle/>
          <a:p>
            <a:pPr algn="l">
              <a:lnSpc>
                <a:spcPts val="1500"/>
              </a:lnSpc>
            </a:pPr>
            <a:r>
              <a:rPr sz="1125" b="0" i="0" lang="de-DE">
                <a:solidFill>
                  <a:srgbClr val="E4EFF7"/>
                </a:solidFill>
                <a:latin typeface="IBM Plex Sans"/>
              </a:rPr>
              <a:t>Prognose vor, Prüfung nach Monatsende</a:t>
            </a:r>
          </a:p>
        </p:txBody>
      </p:sp>
      <p:cxnSp>
        <p:nvCxnSpPr>
          <p:cNvPr id="80" name="Fußlinie"/>
          <p:cNvCxnSpPr/>
          <p:nvPr/>
        </p:nvCxnSpPr>
        <p:spPr>
          <a:xfrm>
            <a:off x="0" y="6219825"/>
            <a:ext cx="12192000" cy="0"/>
          </a:xfrm>
          <a:prstGeom prst="line">
            <a:avLst/>
          </a:prstGeom>
          <a:ln w="9525">
            <a:solidFill>
              <a:srgbClr val="2E5674"/>
            </a:solidFill>
          </a:ln>
        </p:spPr>
        <p:style>
          <a:lnRef idx="2">
            <a:schemeClr val="accent1"/>
          </a:lnRef>
          <a:fillRef idx="0">
            <a:schemeClr val="accent1"/>
          </a:fillRef>
          <a:effectRef idx="1">
            <a:schemeClr val="accent1"/>
          </a:effectRef>
          <a:fontRef idx="minor">
            <a:schemeClr val="tx1"/>
          </a:fontRef>
        </p:style>
      </p:cxnSp>
      <p:sp>
        <p:nvSpPr>
          <p:cNvPr id="81" name="Logo-Grund"/>
          <p:cNvSpPr/>
          <p:nvPr/>
        </p:nvSpPr>
        <p:spPr>
          <a:xfrm>
            <a:off x="685800" y="6400800"/>
            <a:ext cx="609600" cy="247650"/>
          </a:xfrm>
          <a:prstGeom prst="roundRect">
            <a:avLst>
              <a:gd name="adj" fmla="val 15384"/>
            </a:avLst>
          </a:prstGeom>
          <a:solidFill>
            <a:srgbClr val="FFFFFF"/>
          </a:solidFill>
          <a:ln>
            <a:noFill/>
          </a:ln>
          <a:effectLst/>
        </p:spPr>
        <p:txBody>
          <a:bodyPr rtlCol="0" anchor="ctr"/>
          <a:lstStyle/>
          <a:p>
            <a:pPr algn="ctr"/>
          </a:p>
        </p:txBody>
      </p:sp>
      <p:pic>
        <p:nvPicPr>
          <p:cNvPr id="82" name="Logo" descr="image.png"/>
          <p:cNvPicPr>
            <a:picLocks noChangeAspect="1"/>
          </p:cNvPicPr>
          <p:nvPr/>
        </p:nvPicPr>
        <p:blipFill>
          <a:blip r:embed="rId15"/>
          <a:stretch>
            <a:fillRect/>
          </a:stretch>
        </p:blipFill>
        <p:spPr>
          <a:xfrm>
            <a:off x="742950" y="6438900"/>
            <a:ext cx="495598" cy="171450"/>
          </a:xfrm>
          <a:prstGeom prst="rect">
            <a:avLst/>
          </a:prstGeom>
        </p:spPr>
      </p:pic>
      <p:sp>
        <p:nvSpPr>
          <p:cNvPr id="83" name="TextBox 82"/>
          <p:cNvSpPr txBox="1"/>
          <p:nvPr/>
        </p:nvSpPr>
        <p:spPr>
          <a:xfrm>
            <a:off x="1447800" y="6429375"/>
            <a:ext cx="2891790" cy="190500"/>
          </a:xfrm>
          <a:prstGeom prst="rect">
            <a:avLst/>
          </a:prstGeom>
          <a:noFill/>
        </p:spPr>
        <p:txBody>
          <a:bodyPr wrap="none" lIns="0" rIns="0" tIns="0" bIns="0" anchor="t">
            <a:noAutofit/>
          </a:bodyPr>
          <a:lstStyle/>
          <a:p>
            <a:pPr algn="l">
              <a:lnSpc>
                <a:spcPts val="1500"/>
              </a:lnSpc>
            </a:pPr>
            <a:r>
              <a:rPr sz="1200" b="0" i="0" lang="de-DE">
                <a:solidFill>
                  <a:srgbClr val="7FB4D8"/>
                </a:solidFill>
                <a:latin typeface="IBM Plex Sans"/>
              </a:rPr>
              <a:t>Verbrauchsprognose &amp; Frühwarnung</a:t>
            </a:r>
          </a:p>
        </p:txBody>
      </p:sp>
      <p:sp>
        <p:nvSpPr>
          <p:cNvPr id="84" name="TextBox 83"/>
          <p:cNvSpPr txBox="1"/>
          <p:nvPr/>
        </p:nvSpPr>
        <p:spPr>
          <a:xfrm>
            <a:off x="9486900" y="6429375"/>
            <a:ext cx="1257300" cy="190500"/>
          </a:xfrm>
          <a:prstGeom prst="rect">
            <a:avLst/>
          </a:prstGeom>
          <a:noFill/>
        </p:spPr>
        <p:txBody>
          <a:bodyPr wrap="none" lIns="0" rIns="0" tIns="0" bIns="0" anchor="t">
            <a:noAutofit/>
          </a:bodyPr>
          <a:lstStyle/>
          <a:p>
            <a:pPr algn="r">
              <a:lnSpc>
                <a:spcPts val="1500"/>
              </a:lnSpc>
            </a:pPr>
            <a:r>
              <a:rPr sz="1200" b="1" i="0" lang="de-DE">
                <a:solidFill>
                  <a:srgbClr val="BBD7EA"/>
                </a:solidFill>
                <a:latin typeface="IBM Plex Sans"/>
              </a:rPr>
              <a:t>Kiko</a:t>
            </a:r>
          </a:p>
        </p:txBody>
      </p:sp>
      <p:sp>
        <p:nvSpPr>
          <p:cNvPr id="85" name="Seitenzahl"/>
          <p:cNvSpPr txBox="1"/>
          <p:nvPr/>
        </p:nvSpPr>
        <p:spPr>
          <a:xfrm>
            <a:off x="10835640" y="6424612"/>
            <a:ext cx="670560" cy="200025"/>
          </a:xfrm>
          <a:prstGeom prst="rect">
            <a:avLst/>
          </a:prstGeom>
          <a:noFill/>
        </p:spPr>
        <p:txBody>
          <a:bodyPr wrap="none" lIns="0" rIns="0" tIns="0" bIns="0" anchor="t">
            <a:noAutofit/>
          </a:bodyPr>
          <a:lstStyle/>
          <a:p>
            <a:pPr algn="r">
              <a:lnSpc>
                <a:spcPts val="1575"/>
              </a:lnSpc>
            </a:pPr>
            <a:r>
              <a:rPr sz="1200" b="0" i="0" lang="de-DE">
                <a:solidFill>
                  <a:srgbClr val="7FB4D8"/>
                </a:solidFill>
                <a:latin typeface="Geist Mono"/>
              </a:rPr>
              <a:t>B1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84878"/>
            </a:solidFill>
            <a:ln>
              <a:noFill/>
            </a:ln>
            <a:effectLst/>
          </p:spPr>
          <p:txBody>
            <a:bodyPr rtlCol="0" anchor="ctr"/>
            <a:lstStyle/>
            <a:p>
              <a:pPr algn="ctr"/>
            </a:p>
          </p:txBody>
        </p:sp>
        <p:pic>
          <p:nvPicPr>
            <p:cNvPr id="4" name="Picture 3" descr="sliders-horizontal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733425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Wie wurde der Random Forest eingestellt?</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Acht kontrollierte Kombinationen, entschieden nur in 2024</a:t>
            </a:r>
          </a:p>
        </p:txBody>
      </p:sp>
      <p:graphicFrame>
        <p:nvGraphicFramePr>
          <p:cNvPr id="7" name="Tabelle Hyperparameter"/>
          <p:cNvGraphicFramePr>
            <a:graphicFrameLocks noGrp="1"/>
          </p:cNvGraphicFramePr>
          <p:nvPr/>
        </p:nvGraphicFramePr>
        <p:xfrm>
          <a:off x="690562" y="1366838"/>
          <a:ext cx="5884545" cy="3600450"/>
        </p:xfrm>
        <a:graphic>
          <a:graphicData uri="http://schemas.openxmlformats.org/drawingml/2006/table">
            <a:tbl>
              <a:tblPr>
                <a:tableStyleId>{5C22544A-7EE6-4342-B048-85BDC9FD1C3A}</a:tableStyleId>
              </a:tblPr>
              <a:tblGrid>
                <a:gridCol w="1008698"/>
                <a:gridCol w="1209675"/>
                <a:gridCol w="954405"/>
                <a:gridCol w="1060132"/>
                <a:gridCol w="1651635"/>
              </a:tblGrid>
              <a:tr h="557212">
                <a:tc>
                  <a:txBody>
                    <a:bodyPr/>
                    <a:lstStyle/>
                    <a:p>
                      <a:pPr algn="l">
                        <a:lnSpc>
                          <a:spcPts val="1425"/>
                        </a:lnSpc>
                      </a:pPr>
                      <a:r>
                        <a:rPr sz="1087" b="0" i="0">
                          <a:solidFill>
                            <a:srgbClr val="FFFFFF"/>
                          </a:solidFill>
                          <a:latin typeface="IBM Plex Sans"/>
                        </a:rPr>
                        <a:t>Baumtiefe</a:t>
                      </a:r>
                    </a:p>
                  </a:txBody>
                  <a:tcPr marL="114300" marR="114300" marT="0" marB="0" anchor="ctr">
                    <a:lnL w="0">
                      <a:noFill/>
                    </a:lnL>
                    <a:lnR w="0">
                      <a:noFill/>
                    </a:lnR>
                    <a:lnT w="0">
                      <a:noFill/>
                    </a:lnT>
                    <a:lnB w="0">
                      <a:noFill/>
                    </a:lnB>
                    <a:solidFill>
                      <a:srgbClr val="04263F"/>
                    </a:solidFill>
                  </a:tcPr>
                </a:tc>
                <a:tc>
                  <a:txBody>
                    <a:bodyPr/>
                    <a:lstStyle/>
                    <a:p>
                      <a:pPr algn="l">
                        <a:lnSpc>
                          <a:spcPts val="1425"/>
                        </a:lnSpc>
                      </a:pPr>
                      <a:r>
                        <a:rPr sz="1087" b="0" i="0">
                          <a:solidFill>
                            <a:srgbClr val="FFFFFF"/>
                          </a:solidFill>
                          <a:latin typeface="IBM Plex Sans"/>
                        </a:rPr>
                        <a:t>Merkmalsanteil</a:t>
                      </a:r>
                    </a:p>
                  </a:txBody>
                  <a:tcPr marL="114300" marR="114300" marT="0" marB="0" anchor="ctr">
                    <a:lnL w="0">
                      <a:noFill/>
                    </a:lnL>
                    <a:lnR w="0">
                      <a:noFill/>
                    </a:lnR>
                    <a:lnT w="0">
                      <a:noFill/>
                    </a:lnT>
                    <a:lnB w="0">
                      <a:noFill/>
                    </a:lnB>
                    <a:solidFill>
                      <a:srgbClr val="04263F"/>
                    </a:solidFill>
                  </a:tcPr>
                </a:tc>
                <a:tc>
                  <a:txBody>
                    <a:bodyPr/>
                    <a:lstStyle/>
                    <a:p>
                      <a:pPr algn="l">
                        <a:lnSpc>
                          <a:spcPts val="1425"/>
                        </a:lnSpc>
                      </a:pPr>
                      <a:r>
                        <a:rPr sz="1087" b="0" i="0">
                          <a:solidFill>
                            <a:srgbClr val="FFFFFF"/>
                          </a:solidFill>
                          <a:latin typeface="IBM Plex Sans"/>
                        </a:rPr>
                        <a:t>Min. Fälle je Blatt</a:t>
                      </a:r>
                    </a:p>
                  </a:txBody>
                  <a:tcPr marL="114300" marR="114300" marT="0" marB="0" anchor="ctr">
                    <a:lnL w="0">
                      <a:noFill/>
                    </a:lnL>
                    <a:lnR w="0">
                      <a:noFill/>
                    </a:lnR>
                    <a:lnT w="0">
                      <a:noFill/>
                    </a:lnT>
                    <a:lnB w="0">
                      <a:noFill/>
                    </a:lnB>
                    <a:solidFill>
                      <a:srgbClr val="04263F"/>
                    </a:solidFill>
                  </a:tcPr>
                </a:tc>
                <a:tc>
                  <a:txBody>
                    <a:bodyPr/>
                    <a:lstStyle/>
                    <a:p>
                      <a:pPr algn="r">
                        <a:lnSpc>
                          <a:spcPts val="1425"/>
                        </a:lnSpc>
                      </a:pPr>
                      <a:r>
                        <a:rPr sz="1087" b="0" i="0">
                          <a:solidFill>
                            <a:srgbClr val="FFFFFF"/>
                          </a:solidFill>
                          <a:latin typeface="Geist Mono"/>
                        </a:rPr>
                        <a:t>CV-RMSE (kWh)</a:t>
                      </a:r>
                    </a:p>
                  </a:txBody>
                  <a:tcPr marL="114300" marR="114300" marT="0" marB="0" anchor="ctr">
                    <a:lnL w="0">
                      <a:noFill/>
                    </a:lnL>
                    <a:lnR w="0">
                      <a:noFill/>
                    </a:lnR>
                    <a:lnT w="0">
                      <a:noFill/>
                    </a:lnT>
                    <a:lnB w="0">
                      <a:noFill/>
                    </a:lnB>
                    <a:solidFill>
                      <a:srgbClr val="04263F"/>
                    </a:solidFill>
                  </a:tcPr>
                </a:tc>
                <a:tc>
                  <a:txBody>
                    <a:bodyPr/>
                    <a:lstStyle/>
                    <a:p>
                      <a:pPr algn="r">
                        <a:lnSpc>
                          <a:spcPts val="1425"/>
                        </a:lnSpc>
                      </a:pPr>
                      <a:r>
                        <a:rPr sz="1087" b="0" i="0">
                          <a:solidFill>
                            <a:srgbClr val="FFFFFF"/>
                          </a:solidFill>
                          <a:latin typeface="Geist Mono"/>
                        </a:rPr>
                        <a:t>Fold-Streuung (Std., kWh)</a:t>
                      </a:r>
                    </a:p>
                  </a:txBody>
                  <a:tcPr marL="114300" marR="114300" marT="0" marB="0" anchor="ctr">
                    <a:lnL w="0">
                      <a:noFill/>
                    </a:lnL>
                    <a:lnR w="0">
                      <a:noFill/>
                    </a:lnR>
                    <a:lnT w="0">
                      <a:noFill/>
                    </a:lnT>
                    <a:lnB w="0">
                      <a:noFill/>
                    </a:lnB>
                    <a:solidFill>
                      <a:srgbClr val="04263F"/>
                    </a:solidFill>
                  </a:tcPr>
                </a:tc>
              </a:tr>
              <a:tr h="376238">
                <a:tc>
                  <a:txBody>
                    <a:bodyPr/>
                    <a:lstStyle/>
                    <a:p>
                      <a:pPr algn="l">
                        <a:lnSpc>
                          <a:spcPts val="1560"/>
                        </a:lnSpc>
                      </a:pPr>
                      <a:r>
                        <a:rPr sz="1200" b="1" i="0">
                          <a:solidFill>
                            <a:srgbClr val="005E77"/>
                          </a:solidFill>
                          <a:latin typeface="IBM Plex Sans"/>
                        </a:rPr>
                        <a:t>8</a:t>
                      </a:r>
                    </a:p>
                  </a:txBody>
                  <a:tcPr marL="114300" marR="19050" marT="0" marB="0" anchor="ctr">
                    <a:lnL w="0">
                      <a:noFill/>
                    </a:lnL>
                    <a:lnR w="0">
                      <a:noFill/>
                    </a:lnR>
                    <a:lnT w="0">
                      <a:noFill/>
                    </a:lnT>
                    <a:lnB w="9525">
                      <a:solidFill>
                        <a:srgbClr val="E4E9EF"/>
                      </a:solidFill>
                    </a:lnB>
                    <a:solidFill>
                      <a:srgbClr val="E3F3F7"/>
                    </a:solidFill>
                  </a:tcPr>
                </a:tc>
                <a:tc>
                  <a:txBody>
                    <a:bodyPr/>
                    <a:lstStyle/>
                    <a:p>
                      <a:pPr algn="l">
                        <a:lnSpc>
                          <a:spcPts val="1560"/>
                        </a:lnSpc>
                      </a:pPr>
                      <a:r>
                        <a:rPr sz="1200" b="1" i="0">
                          <a:solidFill>
                            <a:srgbClr val="005E77"/>
                          </a:solidFill>
                          <a:latin typeface="IBM Plex Sans"/>
                        </a:rPr>
                        <a:t>0,7</a:t>
                      </a:r>
                    </a:p>
                  </a:txBody>
                  <a:tcPr marL="114300" marR="19050" marT="0" marB="0" anchor="ctr">
                    <a:lnL w="0">
                      <a:noFill/>
                    </a:lnL>
                    <a:lnR w="0">
                      <a:noFill/>
                    </a:lnR>
                    <a:lnT w="0">
                      <a:noFill/>
                    </a:lnT>
                    <a:lnB w="9525">
                      <a:solidFill>
                        <a:srgbClr val="E4E9EF"/>
                      </a:solidFill>
                    </a:lnB>
                    <a:solidFill>
                      <a:srgbClr val="E3F3F7"/>
                    </a:solidFill>
                  </a:tcPr>
                </a:tc>
                <a:tc>
                  <a:txBody>
                    <a:bodyPr/>
                    <a:lstStyle/>
                    <a:p>
                      <a:pPr algn="l">
                        <a:lnSpc>
                          <a:spcPts val="1560"/>
                        </a:lnSpc>
                      </a:pPr>
                      <a:r>
                        <a:rPr sz="1200" b="1" i="0">
                          <a:solidFill>
                            <a:srgbClr val="005E77"/>
                          </a:solidFill>
                          <a:latin typeface="IBM Plex Sans"/>
                        </a:rPr>
                        <a:t>5</a:t>
                      </a:r>
                    </a:p>
                  </a:txBody>
                  <a:tcPr marL="114300" marR="19050" marT="0" marB="0" anchor="ctr">
                    <a:lnL w="0">
                      <a:noFill/>
                    </a:lnL>
                    <a:lnR w="0">
                      <a:noFill/>
                    </a:lnR>
                    <a:lnT w="0">
                      <a:noFill/>
                    </a:lnT>
                    <a:lnB w="9525">
                      <a:solidFill>
                        <a:srgbClr val="E4E9EF"/>
                      </a:solidFill>
                    </a:lnB>
                    <a:solidFill>
                      <a:srgbClr val="E3F3F7"/>
                    </a:solidFill>
                  </a:tcPr>
                </a:tc>
                <a:tc>
                  <a:txBody>
                    <a:bodyPr/>
                    <a:lstStyle/>
                    <a:p>
                      <a:pPr algn="r">
                        <a:lnSpc>
                          <a:spcPts val="1560"/>
                        </a:lnSpc>
                      </a:pPr>
                      <a:r>
                        <a:rPr sz="1200" b="1" i="0">
                          <a:solidFill>
                            <a:srgbClr val="005E77"/>
                          </a:solidFill>
                          <a:latin typeface="Geist Mono"/>
                        </a:rPr>
                        <a:t>13.272</a:t>
                      </a:r>
                    </a:p>
                  </a:txBody>
                  <a:tcPr marL="19050" marR="114300" marT="0" marB="0" anchor="ctr">
                    <a:lnL w="0">
                      <a:noFill/>
                    </a:lnL>
                    <a:lnR w="0">
                      <a:noFill/>
                    </a:lnR>
                    <a:lnT w="0">
                      <a:noFill/>
                    </a:lnT>
                    <a:lnB w="9525">
                      <a:solidFill>
                        <a:srgbClr val="E4E9EF"/>
                      </a:solidFill>
                    </a:lnB>
                    <a:solidFill>
                      <a:srgbClr val="E3F3F7"/>
                    </a:solidFill>
                  </a:tcPr>
                </a:tc>
                <a:tc>
                  <a:txBody>
                    <a:bodyPr/>
                    <a:lstStyle/>
                    <a:p>
                      <a:pPr algn="r">
                        <a:lnSpc>
                          <a:spcPts val="1560"/>
                        </a:lnSpc>
                      </a:pPr>
                      <a:r>
                        <a:rPr sz="1200" b="1" i="0">
                          <a:solidFill>
                            <a:srgbClr val="005E77"/>
                          </a:solidFill>
                          <a:latin typeface="Geist Mono"/>
                        </a:rPr>
                        <a:t>3.843</a:t>
                      </a:r>
                    </a:p>
                  </a:txBody>
                  <a:tcPr marL="19050" marR="114300" marT="0" marB="0" anchor="ctr">
                    <a:lnL w="0">
                      <a:noFill/>
                    </a:lnL>
                    <a:lnR w="0">
                      <a:noFill/>
                    </a:lnR>
                    <a:lnT w="0">
                      <a:noFill/>
                    </a:lnT>
                    <a:lnB w="9525">
                      <a:solidFill>
                        <a:srgbClr val="E4E9EF"/>
                      </a:solidFill>
                    </a:lnB>
                    <a:solidFill>
                      <a:srgbClr val="E3F3F7"/>
                    </a:solidFill>
                  </a:tcPr>
                </a:tc>
              </a:tr>
              <a:tr h="381000">
                <a:tc>
                  <a:txBody>
                    <a:bodyPr/>
                    <a:lstStyle/>
                    <a:p>
                      <a:pPr algn="l">
                        <a:lnSpc>
                          <a:spcPts val="1560"/>
                        </a:lnSpc>
                      </a:pPr>
                      <a:r>
                        <a:rPr sz="1200" b="0" i="0">
                          <a:solidFill>
                            <a:srgbClr val="141A21"/>
                          </a:solidFill>
                          <a:latin typeface="IBM Plex Sans"/>
                        </a:rPr>
                        <a:t>unbegrenzt</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0,7</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5</a:t>
                      </a:r>
                    </a:p>
                  </a:txBody>
                  <a:tcPr marL="114300" marR="1905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13.331</a:t>
                      </a:r>
                    </a:p>
                  </a:txBody>
                  <a:tcPr marL="19050" marR="11430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3.849</a:t>
                      </a:r>
                    </a:p>
                  </a:txBody>
                  <a:tcPr marL="19050" marR="114300" marT="0" marB="0" anchor="ctr">
                    <a:lnL w="0">
                      <a:noFill/>
                    </a:lnL>
                    <a:lnR w="0">
                      <a:noFill/>
                    </a:lnR>
                    <a:lnT w="0">
                      <a:noFill/>
                    </a:lnT>
                    <a:lnB w="9525">
                      <a:solidFill>
                        <a:srgbClr val="E4E9EF"/>
                      </a:solidFill>
                    </a:lnB>
                    <a:solidFill>
                      <a:srgbClr val="FFFFFF"/>
                    </a:solidFill>
                  </a:tcPr>
                </a:tc>
              </a:tr>
              <a:tr h="381000">
                <a:tc>
                  <a:txBody>
                    <a:bodyPr/>
                    <a:lstStyle/>
                    <a:p>
                      <a:pPr algn="l">
                        <a:lnSpc>
                          <a:spcPts val="1560"/>
                        </a:lnSpc>
                      </a:pPr>
                      <a:r>
                        <a:rPr sz="1200" b="0" i="0">
                          <a:solidFill>
                            <a:srgbClr val="141A21"/>
                          </a:solidFill>
                          <a:latin typeface="IBM Plex Sans"/>
                        </a:rPr>
                        <a:t>8</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1,0</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5</a:t>
                      </a:r>
                    </a:p>
                  </a:txBody>
                  <a:tcPr marL="114300" marR="1905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13.355</a:t>
                      </a:r>
                    </a:p>
                  </a:txBody>
                  <a:tcPr marL="19050" marR="11430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3.757</a:t>
                      </a:r>
                    </a:p>
                  </a:txBody>
                  <a:tcPr marL="19050" marR="114300" marT="0" marB="0" anchor="ctr">
                    <a:lnL w="0">
                      <a:noFill/>
                    </a:lnL>
                    <a:lnR w="0">
                      <a:noFill/>
                    </a:lnR>
                    <a:lnT w="0">
                      <a:noFill/>
                    </a:lnT>
                    <a:lnB w="9525">
                      <a:solidFill>
                        <a:srgbClr val="E4E9EF"/>
                      </a:solidFill>
                    </a:lnB>
                    <a:solidFill>
                      <a:srgbClr val="FFFFFF"/>
                    </a:solidFill>
                  </a:tcPr>
                </a:tc>
              </a:tr>
              <a:tr h="381000">
                <a:tc>
                  <a:txBody>
                    <a:bodyPr/>
                    <a:lstStyle/>
                    <a:p>
                      <a:pPr algn="l">
                        <a:lnSpc>
                          <a:spcPts val="1560"/>
                        </a:lnSpc>
                      </a:pPr>
                      <a:r>
                        <a:rPr sz="1200" b="0" i="0">
                          <a:solidFill>
                            <a:srgbClr val="141A21"/>
                          </a:solidFill>
                          <a:latin typeface="IBM Plex Sans"/>
                        </a:rPr>
                        <a:t>unbegrenzt</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1,0</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5</a:t>
                      </a:r>
                    </a:p>
                  </a:txBody>
                  <a:tcPr marL="114300" marR="1905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13.422</a:t>
                      </a:r>
                    </a:p>
                  </a:txBody>
                  <a:tcPr marL="19050" marR="11430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3.729</a:t>
                      </a:r>
                    </a:p>
                  </a:txBody>
                  <a:tcPr marL="19050" marR="114300" marT="0" marB="0" anchor="ctr">
                    <a:lnL w="0">
                      <a:noFill/>
                    </a:lnL>
                    <a:lnR w="0">
                      <a:noFill/>
                    </a:lnR>
                    <a:lnT w="0">
                      <a:noFill/>
                    </a:lnT>
                    <a:lnB w="9525">
                      <a:solidFill>
                        <a:srgbClr val="E4E9EF"/>
                      </a:solidFill>
                    </a:lnB>
                    <a:solidFill>
                      <a:srgbClr val="FFFFFF"/>
                    </a:solidFill>
                  </a:tcPr>
                </a:tc>
              </a:tr>
              <a:tr h="381000">
                <a:tc>
                  <a:txBody>
                    <a:bodyPr/>
                    <a:lstStyle/>
                    <a:p>
                      <a:pPr algn="l">
                        <a:lnSpc>
                          <a:spcPts val="1560"/>
                        </a:lnSpc>
                      </a:pPr>
                      <a:r>
                        <a:rPr sz="1200" b="0" i="0">
                          <a:solidFill>
                            <a:srgbClr val="141A21"/>
                          </a:solidFill>
                          <a:latin typeface="IBM Plex Sans"/>
                        </a:rPr>
                        <a:t>unbegrenzt</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0,7</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20</a:t>
                      </a:r>
                    </a:p>
                  </a:txBody>
                  <a:tcPr marL="114300" marR="1905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13.473</a:t>
                      </a:r>
                    </a:p>
                  </a:txBody>
                  <a:tcPr marL="19050" marR="11430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4.021</a:t>
                      </a:r>
                    </a:p>
                  </a:txBody>
                  <a:tcPr marL="19050" marR="114300" marT="0" marB="0" anchor="ctr">
                    <a:lnL w="0">
                      <a:noFill/>
                    </a:lnL>
                    <a:lnR w="0">
                      <a:noFill/>
                    </a:lnR>
                    <a:lnT w="0">
                      <a:noFill/>
                    </a:lnT>
                    <a:lnB w="9525">
                      <a:solidFill>
                        <a:srgbClr val="E4E9EF"/>
                      </a:solidFill>
                    </a:lnB>
                    <a:solidFill>
                      <a:srgbClr val="FFFFFF"/>
                    </a:solidFill>
                  </a:tcPr>
                </a:tc>
              </a:tr>
              <a:tr h="381000">
                <a:tc>
                  <a:txBody>
                    <a:bodyPr/>
                    <a:lstStyle/>
                    <a:p>
                      <a:pPr algn="l">
                        <a:lnSpc>
                          <a:spcPts val="1560"/>
                        </a:lnSpc>
                      </a:pPr>
                      <a:r>
                        <a:rPr sz="1200" b="0" i="0">
                          <a:solidFill>
                            <a:srgbClr val="141A21"/>
                          </a:solidFill>
                          <a:latin typeface="IBM Plex Sans"/>
                        </a:rPr>
                        <a:t>8</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0,7</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20</a:t>
                      </a:r>
                    </a:p>
                  </a:txBody>
                  <a:tcPr marL="114300" marR="1905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13.481</a:t>
                      </a:r>
                    </a:p>
                  </a:txBody>
                  <a:tcPr marL="19050" marR="11430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4.015</a:t>
                      </a:r>
                    </a:p>
                  </a:txBody>
                  <a:tcPr marL="19050" marR="114300" marT="0" marB="0" anchor="ctr">
                    <a:lnL w="0">
                      <a:noFill/>
                    </a:lnL>
                    <a:lnR w="0">
                      <a:noFill/>
                    </a:lnR>
                    <a:lnT w="0">
                      <a:noFill/>
                    </a:lnT>
                    <a:lnB w="9525">
                      <a:solidFill>
                        <a:srgbClr val="E4E9EF"/>
                      </a:solidFill>
                    </a:lnB>
                    <a:solidFill>
                      <a:srgbClr val="FFFFFF"/>
                    </a:solidFill>
                  </a:tcPr>
                </a:tc>
              </a:tr>
              <a:tr h="381000">
                <a:tc>
                  <a:txBody>
                    <a:bodyPr/>
                    <a:lstStyle/>
                    <a:p>
                      <a:pPr algn="l">
                        <a:lnSpc>
                          <a:spcPts val="1560"/>
                        </a:lnSpc>
                      </a:pPr>
                      <a:r>
                        <a:rPr sz="1200" b="0" i="0">
                          <a:solidFill>
                            <a:srgbClr val="141A21"/>
                          </a:solidFill>
                          <a:latin typeface="IBM Plex Sans"/>
                        </a:rPr>
                        <a:t>8</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1,0</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20</a:t>
                      </a:r>
                    </a:p>
                  </a:txBody>
                  <a:tcPr marL="114300" marR="1905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13.549</a:t>
                      </a:r>
                    </a:p>
                  </a:txBody>
                  <a:tcPr marL="19050" marR="11430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3.941</a:t>
                      </a:r>
                    </a:p>
                  </a:txBody>
                  <a:tcPr marL="19050" marR="114300" marT="0" marB="0" anchor="ctr">
                    <a:lnL w="0">
                      <a:noFill/>
                    </a:lnL>
                    <a:lnR w="0">
                      <a:noFill/>
                    </a:lnR>
                    <a:lnT w="0">
                      <a:noFill/>
                    </a:lnT>
                    <a:lnB w="9525">
                      <a:solidFill>
                        <a:srgbClr val="E4E9EF"/>
                      </a:solidFill>
                    </a:lnB>
                    <a:solidFill>
                      <a:srgbClr val="FFFFFF"/>
                    </a:solidFill>
                  </a:tcPr>
                </a:tc>
              </a:tr>
              <a:tr h="381000">
                <a:tc>
                  <a:txBody>
                    <a:bodyPr/>
                    <a:lstStyle/>
                    <a:p>
                      <a:pPr algn="l">
                        <a:lnSpc>
                          <a:spcPts val="1560"/>
                        </a:lnSpc>
                      </a:pPr>
                      <a:r>
                        <a:rPr sz="1200" b="0" i="0">
                          <a:solidFill>
                            <a:srgbClr val="141A21"/>
                          </a:solidFill>
                          <a:latin typeface="IBM Plex Sans"/>
                        </a:rPr>
                        <a:t>unbegrenzt</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1,0</a:t>
                      </a:r>
                    </a:p>
                  </a:txBody>
                  <a:tcPr marL="114300" marR="19050" marT="0" marB="0" anchor="ctr">
                    <a:lnL w="0">
                      <a:noFill/>
                    </a:lnL>
                    <a:lnR w="0">
                      <a:noFill/>
                    </a:lnR>
                    <a:lnT w="0">
                      <a:noFill/>
                    </a:lnT>
                    <a:lnB w="9525">
                      <a:solidFill>
                        <a:srgbClr val="E4E9EF"/>
                      </a:solidFill>
                    </a:lnB>
                    <a:solidFill>
                      <a:srgbClr val="FFFFFF"/>
                    </a:solidFill>
                  </a:tcPr>
                </a:tc>
                <a:tc>
                  <a:txBody>
                    <a:bodyPr/>
                    <a:lstStyle/>
                    <a:p>
                      <a:pPr algn="l">
                        <a:lnSpc>
                          <a:spcPts val="1560"/>
                        </a:lnSpc>
                      </a:pPr>
                      <a:r>
                        <a:rPr sz="1200" b="0" i="0">
                          <a:solidFill>
                            <a:srgbClr val="141A21"/>
                          </a:solidFill>
                          <a:latin typeface="IBM Plex Sans"/>
                        </a:rPr>
                        <a:t>20</a:t>
                      </a:r>
                    </a:p>
                  </a:txBody>
                  <a:tcPr marL="114300" marR="1905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13.565</a:t>
                      </a:r>
                    </a:p>
                  </a:txBody>
                  <a:tcPr marL="19050" marR="114300" marT="0" marB="0" anchor="ctr">
                    <a:lnL w="0">
                      <a:noFill/>
                    </a:lnL>
                    <a:lnR w="0">
                      <a:noFill/>
                    </a:lnR>
                    <a:lnT w="0">
                      <a:noFill/>
                    </a:lnT>
                    <a:lnB w="9525">
                      <a:solidFill>
                        <a:srgbClr val="E4E9EF"/>
                      </a:solidFill>
                    </a:lnB>
                    <a:solidFill>
                      <a:srgbClr val="FFFFFF"/>
                    </a:solidFill>
                  </a:tcPr>
                </a:tc>
                <a:tc>
                  <a:txBody>
                    <a:bodyPr/>
                    <a:lstStyle/>
                    <a:p>
                      <a:pPr algn="r">
                        <a:lnSpc>
                          <a:spcPts val="1560"/>
                        </a:lnSpc>
                      </a:pPr>
                      <a:r>
                        <a:rPr sz="1200" b="0" i="0">
                          <a:solidFill>
                            <a:srgbClr val="141A21"/>
                          </a:solidFill>
                          <a:latin typeface="Geist Mono"/>
                        </a:rPr>
                        <a:t>3.923</a:t>
                      </a:r>
                    </a:p>
                  </a:txBody>
                  <a:tcPr marL="19050" marR="114300" marT="0" marB="0" anchor="ctr">
                    <a:lnL w="0">
                      <a:noFill/>
                    </a:lnL>
                    <a:lnR w="0">
                      <a:noFill/>
                    </a:lnR>
                    <a:lnT w="0">
                      <a:noFill/>
                    </a:lnT>
                    <a:lnB w="9525">
                      <a:solidFill>
                        <a:srgbClr val="E4E9EF"/>
                      </a:solidFill>
                    </a:lnB>
                    <a:solidFill>
                      <a:srgbClr val="FFFFFF"/>
                    </a:solidFill>
                  </a:tcPr>
                </a:tc>
              </a:tr>
            </a:tbl>
          </a:graphicData>
        </a:graphic>
      </p:graphicFrame>
      <p:sp>
        <p:nvSpPr>
          <p:cNvPr id="8" name="Tabellenrahmen"/>
          <p:cNvSpPr/>
          <p:nvPr/>
        </p:nvSpPr>
        <p:spPr>
          <a:xfrm>
            <a:off x="685800" y="1362075"/>
            <a:ext cx="5895022" cy="3609975"/>
          </a:xfrm>
          <a:prstGeom prst="rect">
            <a:avLst/>
          </a:prstGeom>
          <a:noFill/>
          <a:ln w="9525">
            <a:solidFill>
              <a:srgbClr val="D2DAE2"/>
            </a:solidFill>
          </a:ln>
          <a:effectLst/>
        </p:spPr>
        <p:txBody>
          <a:bodyPr rtlCol="0" anchor="ctr"/>
          <a:lstStyle/>
          <a:p>
            <a:pPr algn="ctr"/>
          </a:p>
        </p:txBody>
      </p:sp>
      <p:sp>
        <p:nvSpPr>
          <p:cNvPr id="9" name="Rounded Rectangle 8"/>
          <p:cNvSpPr/>
          <p:nvPr/>
        </p:nvSpPr>
        <p:spPr>
          <a:xfrm>
            <a:off x="6790372" y="1362075"/>
            <a:ext cx="4715828" cy="695325"/>
          </a:xfrm>
          <a:prstGeom prst="roundRect">
            <a:avLst>
              <a:gd name="adj" fmla="val 13698"/>
            </a:avLst>
          </a:prstGeom>
          <a:solidFill>
            <a:srgbClr val="FFFFFF"/>
          </a:solidFill>
          <a:ln w="9525">
            <a:solidFill>
              <a:srgbClr val="D2DAE2"/>
            </a:solidFill>
          </a:ln>
          <a:effectLst/>
        </p:spPr>
        <p:txBody>
          <a:bodyPr rtlCol="0" anchor="ctr"/>
          <a:lstStyle/>
          <a:p>
            <a:pPr algn="ctr"/>
          </a:p>
        </p:txBody>
      </p:sp>
      <p:grpSp>
        <p:nvGrpSpPr>
          <p:cNvPr id="10" name="Scheibe trees"/>
          <p:cNvGrpSpPr/>
          <p:nvPr/>
        </p:nvGrpSpPr>
        <p:grpSpPr>
          <a:xfrm>
            <a:off x="6952298" y="1495425"/>
            <a:ext cx="323850" cy="323850"/>
            <a:chOff x="6952298" y="1495425"/>
            <a:chExt cx="323850" cy="323850"/>
          </a:xfrm>
        </p:grpSpPr>
        <p:sp>
          <p:nvSpPr>
            <p:cNvPr id="11" name="Oval 10"/>
            <p:cNvSpPr/>
            <p:nvPr/>
          </p:nvSpPr>
          <p:spPr>
            <a:xfrm>
              <a:off x="6952298" y="1495425"/>
              <a:ext cx="323850" cy="323850"/>
            </a:xfrm>
            <a:prstGeom prst="ellipse">
              <a:avLst/>
            </a:prstGeom>
            <a:solidFill>
              <a:srgbClr val="084878"/>
            </a:solidFill>
            <a:ln>
              <a:noFill/>
            </a:ln>
            <a:effectLst/>
          </p:spPr>
          <p:txBody>
            <a:bodyPr rtlCol="0" anchor="ctr"/>
            <a:lstStyle/>
            <a:p>
              <a:pPr algn="ctr"/>
            </a:p>
          </p:txBody>
        </p:sp>
        <p:pic>
          <p:nvPicPr>
            <p:cNvPr id="12" name="Picture 11" descr="trees__FFFFFF.png"/>
            <p:cNvPicPr>
              <a:picLocks noChangeAspect="1"/>
            </p:cNvPicPr>
            <p:nvPr/>
          </p:nvPicPr>
          <p:blipFill>
            <a:blip r:embed="rId4"/>
            <a:stretch>
              <a:fillRect/>
            </a:stretch>
          </p:blipFill>
          <p:spPr>
            <a:xfrm>
              <a:off x="7030021" y="1573149"/>
              <a:ext cx="168402" cy="168402"/>
            </a:xfrm>
            <a:prstGeom prst="rect">
              <a:avLst/>
            </a:prstGeom>
          </p:spPr>
        </p:pic>
      </p:grpSp>
      <p:sp>
        <p:nvSpPr>
          <p:cNvPr id="13" name="TextBox 12"/>
          <p:cNvSpPr txBox="1"/>
          <p:nvPr/>
        </p:nvSpPr>
        <p:spPr>
          <a:xfrm>
            <a:off x="7409498" y="150495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Tiefe 8</a:t>
            </a:r>
          </a:p>
        </p:txBody>
      </p:sp>
      <p:sp>
        <p:nvSpPr>
          <p:cNvPr id="14" name="TextBox 13"/>
          <p:cNvSpPr txBox="1"/>
          <p:nvPr/>
        </p:nvSpPr>
        <p:spPr>
          <a:xfrm>
            <a:off x="7409498" y="1724025"/>
            <a:ext cx="3934778" cy="285750"/>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Begrenzte Tiefe vermeidet sehr spezielle Einzelregeln.</a:t>
            </a:r>
          </a:p>
        </p:txBody>
      </p:sp>
      <p:sp>
        <p:nvSpPr>
          <p:cNvPr id="15" name="Rounded Rectangle 14"/>
          <p:cNvSpPr/>
          <p:nvPr/>
        </p:nvSpPr>
        <p:spPr>
          <a:xfrm>
            <a:off x="6790372" y="2171700"/>
            <a:ext cx="4715828" cy="695325"/>
          </a:xfrm>
          <a:prstGeom prst="roundRect">
            <a:avLst>
              <a:gd name="adj" fmla="val 13698"/>
            </a:avLst>
          </a:prstGeom>
          <a:solidFill>
            <a:srgbClr val="FFFFFF"/>
          </a:solidFill>
          <a:ln w="9525">
            <a:solidFill>
              <a:srgbClr val="D2DAE2"/>
            </a:solidFill>
          </a:ln>
          <a:effectLst/>
        </p:spPr>
        <p:txBody>
          <a:bodyPr rtlCol="0" anchor="ctr"/>
          <a:lstStyle/>
          <a:p>
            <a:pPr algn="ctr"/>
          </a:p>
        </p:txBody>
      </p:sp>
      <p:grpSp>
        <p:nvGrpSpPr>
          <p:cNvPr id="16" name="Scheibe layers"/>
          <p:cNvGrpSpPr/>
          <p:nvPr/>
        </p:nvGrpSpPr>
        <p:grpSpPr>
          <a:xfrm>
            <a:off x="6952298" y="2305050"/>
            <a:ext cx="323850" cy="323850"/>
            <a:chOff x="6952298" y="2305050"/>
            <a:chExt cx="323850" cy="323850"/>
          </a:xfrm>
        </p:grpSpPr>
        <p:sp>
          <p:nvSpPr>
            <p:cNvPr id="17" name="Oval 16"/>
            <p:cNvSpPr/>
            <p:nvPr/>
          </p:nvSpPr>
          <p:spPr>
            <a:xfrm>
              <a:off x="6952298" y="2305050"/>
              <a:ext cx="323850" cy="323850"/>
            </a:xfrm>
            <a:prstGeom prst="ellipse">
              <a:avLst/>
            </a:prstGeom>
            <a:solidFill>
              <a:srgbClr val="084878"/>
            </a:solidFill>
            <a:ln>
              <a:noFill/>
            </a:ln>
            <a:effectLst/>
          </p:spPr>
          <p:txBody>
            <a:bodyPr rtlCol="0" anchor="ctr"/>
            <a:lstStyle/>
            <a:p>
              <a:pPr algn="ctr"/>
            </a:p>
          </p:txBody>
        </p:sp>
        <p:pic>
          <p:nvPicPr>
            <p:cNvPr id="18" name="Picture 17" descr="layers__FFFFFF.png"/>
            <p:cNvPicPr>
              <a:picLocks noChangeAspect="1"/>
            </p:cNvPicPr>
            <p:nvPr/>
          </p:nvPicPr>
          <p:blipFill>
            <a:blip r:embed="rId5"/>
            <a:stretch>
              <a:fillRect/>
            </a:stretch>
          </p:blipFill>
          <p:spPr>
            <a:xfrm>
              <a:off x="7030021" y="2382774"/>
              <a:ext cx="168402" cy="168402"/>
            </a:xfrm>
            <a:prstGeom prst="rect">
              <a:avLst/>
            </a:prstGeom>
          </p:spPr>
        </p:pic>
      </p:grpSp>
      <p:sp>
        <p:nvSpPr>
          <p:cNvPr id="19" name="TextBox 18"/>
          <p:cNvSpPr txBox="1"/>
          <p:nvPr/>
        </p:nvSpPr>
        <p:spPr>
          <a:xfrm>
            <a:off x="7409498" y="2314575"/>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Mindestens 5 Fälle je Blatt</a:t>
            </a:r>
          </a:p>
        </p:txBody>
      </p:sp>
      <p:sp>
        <p:nvSpPr>
          <p:cNvPr id="20" name="TextBox 19"/>
          <p:cNvSpPr txBox="1"/>
          <p:nvPr/>
        </p:nvSpPr>
        <p:spPr>
          <a:xfrm>
            <a:off x="7409498" y="2533650"/>
            <a:ext cx="3934778" cy="285750"/>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Ein Blatt steht nicht nur für einen einzelnen Zähler-Monat.</a:t>
            </a:r>
          </a:p>
        </p:txBody>
      </p:sp>
      <p:sp>
        <p:nvSpPr>
          <p:cNvPr id="21" name="Rounded Rectangle 20"/>
          <p:cNvSpPr/>
          <p:nvPr/>
        </p:nvSpPr>
        <p:spPr>
          <a:xfrm>
            <a:off x="6790372" y="2981325"/>
            <a:ext cx="4715828" cy="695325"/>
          </a:xfrm>
          <a:prstGeom prst="roundRect">
            <a:avLst>
              <a:gd name="adj" fmla="val 13698"/>
            </a:avLst>
          </a:prstGeom>
          <a:solidFill>
            <a:srgbClr val="FFFFFF"/>
          </a:solidFill>
          <a:ln w="9525">
            <a:solidFill>
              <a:srgbClr val="D2DAE2"/>
            </a:solidFill>
          </a:ln>
          <a:effectLst/>
        </p:spPr>
        <p:txBody>
          <a:bodyPr rtlCol="0" anchor="ctr"/>
          <a:lstStyle/>
          <a:p>
            <a:pPr algn="ctr"/>
          </a:p>
        </p:txBody>
      </p:sp>
      <p:grpSp>
        <p:nvGrpSpPr>
          <p:cNvPr id="22" name="Scheibe shuffle"/>
          <p:cNvGrpSpPr/>
          <p:nvPr/>
        </p:nvGrpSpPr>
        <p:grpSpPr>
          <a:xfrm>
            <a:off x="6952298" y="3114675"/>
            <a:ext cx="323850" cy="323850"/>
            <a:chOff x="6952298" y="3114675"/>
            <a:chExt cx="323850" cy="323850"/>
          </a:xfrm>
        </p:grpSpPr>
        <p:sp>
          <p:nvSpPr>
            <p:cNvPr id="23" name="Oval 22"/>
            <p:cNvSpPr/>
            <p:nvPr/>
          </p:nvSpPr>
          <p:spPr>
            <a:xfrm>
              <a:off x="6952298" y="3114675"/>
              <a:ext cx="323850" cy="323850"/>
            </a:xfrm>
            <a:prstGeom prst="ellipse">
              <a:avLst/>
            </a:prstGeom>
            <a:solidFill>
              <a:srgbClr val="084878"/>
            </a:solidFill>
            <a:ln>
              <a:noFill/>
            </a:ln>
            <a:effectLst/>
          </p:spPr>
          <p:txBody>
            <a:bodyPr rtlCol="0" anchor="ctr"/>
            <a:lstStyle/>
            <a:p>
              <a:pPr algn="ctr"/>
            </a:p>
          </p:txBody>
        </p:sp>
        <p:pic>
          <p:nvPicPr>
            <p:cNvPr id="24" name="Picture 23" descr="shuffle__FFFFFF.png"/>
            <p:cNvPicPr>
              <a:picLocks noChangeAspect="1"/>
            </p:cNvPicPr>
            <p:nvPr/>
          </p:nvPicPr>
          <p:blipFill>
            <a:blip r:embed="rId6"/>
            <a:stretch>
              <a:fillRect/>
            </a:stretch>
          </p:blipFill>
          <p:spPr>
            <a:xfrm>
              <a:off x="7030021" y="3192399"/>
              <a:ext cx="168402" cy="168402"/>
            </a:xfrm>
            <a:prstGeom prst="rect">
              <a:avLst/>
            </a:prstGeom>
          </p:spPr>
        </p:pic>
      </p:grpSp>
      <p:sp>
        <p:nvSpPr>
          <p:cNvPr id="25" name="TextBox 24"/>
          <p:cNvSpPr txBox="1"/>
          <p:nvPr/>
        </p:nvSpPr>
        <p:spPr>
          <a:xfrm>
            <a:off x="7409498" y="312420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70 % der Merkmale</a:t>
            </a:r>
          </a:p>
        </p:txBody>
      </p:sp>
      <p:sp>
        <p:nvSpPr>
          <p:cNvPr id="26" name="TextBox 25"/>
          <p:cNvSpPr txBox="1"/>
          <p:nvPr/>
        </p:nvSpPr>
        <p:spPr>
          <a:xfrm>
            <a:off x="7409498" y="3343275"/>
            <a:ext cx="3934778" cy="285750"/>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Bäume sehen unterschiedliche Merkmale und ergänzen sich.</a:t>
            </a:r>
          </a:p>
        </p:txBody>
      </p:sp>
      <p:sp>
        <p:nvSpPr>
          <p:cNvPr id="27" name="TextBox 26"/>
          <p:cNvSpPr txBox="1"/>
          <p:nvPr/>
        </p:nvSpPr>
        <p:spPr>
          <a:xfrm>
            <a:off x="6790372" y="3790950"/>
            <a:ext cx="4715828" cy="400050"/>
          </a:xfrm>
          <a:prstGeom prst="rect">
            <a:avLst/>
          </a:prstGeom>
          <a:noFill/>
        </p:spPr>
        <p:txBody>
          <a:bodyPr wrap="square" lIns="0" rIns="0" tIns="0" bIns="0" anchor="t">
            <a:noAutofit/>
          </a:bodyPr>
          <a:lstStyle/>
          <a:p>
            <a:pPr algn="l">
              <a:lnSpc>
                <a:spcPts val="1575"/>
              </a:lnSpc>
            </a:pPr>
            <a:r>
              <a:rPr sz="1125" b="0" i="0" lang="de-DE">
                <a:solidFill>
                  <a:srgbClr val="657383"/>
                </a:solidFill>
                <a:latin typeface="IBM Plex Sans"/>
              </a:rPr>
              <a:t>300 Bäume, random_state = 42. Die Unterschiede sind klein; entscheidend ist die zeitliche Prüfung.</a:t>
            </a:r>
          </a:p>
        </p:txBody>
      </p:sp>
      <p:cxnSp>
        <p:nvCxnSpPr>
          <p:cNvPr id="28"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29" name="Logo" descr="image.png"/>
          <p:cNvPicPr>
            <a:picLocks noChangeAspect="1"/>
          </p:cNvPicPr>
          <p:nvPr/>
        </p:nvPicPr>
        <p:blipFill>
          <a:blip r:embed="rId7"/>
          <a:stretch>
            <a:fillRect/>
          </a:stretch>
        </p:blipFill>
        <p:spPr>
          <a:xfrm>
            <a:off x="685800" y="6400800"/>
            <a:ext cx="715863" cy="247650"/>
          </a:xfrm>
          <a:prstGeom prst="rect">
            <a:avLst/>
          </a:prstGeom>
        </p:spPr>
      </p:pic>
      <p:sp>
        <p:nvSpPr>
          <p:cNvPr id="30" name="TextBox 29"/>
          <p:cNvSpPr txBox="1"/>
          <p:nvPr/>
        </p:nvSpPr>
        <p:spPr>
          <a:xfrm>
            <a:off x="1554480" y="6429375"/>
            <a:ext cx="289179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31" name="Connector 30"/>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32" name="Scheibe trees"/>
          <p:cNvGrpSpPr/>
          <p:nvPr/>
        </p:nvGrpSpPr>
        <p:grpSpPr>
          <a:xfrm>
            <a:off x="4516755" y="6419850"/>
            <a:ext cx="209550" cy="209550"/>
            <a:chOff x="4516755" y="6419850"/>
            <a:chExt cx="209550" cy="209550"/>
          </a:xfrm>
        </p:grpSpPr>
        <p:sp>
          <p:nvSpPr>
            <p:cNvPr id="33" name="Oval 32"/>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34" name="Picture 33" descr="trees__FFFFFF.png"/>
            <p:cNvPicPr>
              <a:picLocks noChangeAspect="1"/>
            </p:cNvPicPr>
            <p:nvPr/>
          </p:nvPicPr>
          <p:blipFill>
            <a:blip r:embed="rId4"/>
            <a:stretch>
              <a:fillRect/>
            </a:stretch>
          </p:blipFill>
          <p:spPr>
            <a:xfrm>
              <a:off x="4567047" y="6470142"/>
              <a:ext cx="108966" cy="108966"/>
            </a:xfrm>
            <a:prstGeom prst="rect">
              <a:avLst/>
            </a:prstGeom>
          </p:spPr>
        </p:pic>
      </p:grpSp>
      <p:sp>
        <p:nvSpPr>
          <p:cNvPr id="35" name="TextBox 34"/>
          <p:cNvSpPr txBox="1"/>
          <p:nvPr/>
        </p:nvSpPr>
        <p:spPr>
          <a:xfrm>
            <a:off x="4783455"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05</a:t>
            </a:r>
          </a:p>
        </p:txBody>
      </p:sp>
      <p:sp>
        <p:nvSpPr>
          <p:cNvPr id="36" name="TextBox 35"/>
          <p:cNvSpPr txBox="1"/>
          <p:nvPr/>
        </p:nvSpPr>
        <p:spPr>
          <a:xfrm>
            <a:off x="5000625" y="6438900"/>
            <a:ext cx="826465"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Lernansatz</a:t>
            </a:r>
          </a:p>
        </p:txBody>
      </p:sp>
      <p:sp>
        <p:nvSpPr>
          <p:cNvPr id="37" name="TextBox 36"/>
          <p:cNvSpPr txBox="1"/>
          <p:nvPr/>
        </p:nvSpPr>
        <p:spPr>
          <a:xfrm>
            <a:off x="9486900" y="6429375"/>
            <a:ext cx="12573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38" name="Seitenzahl"/>
          <p:cNvSpPr txBox="1"/>
          <p:nvPr/>
        </p:nvSpPr>
        <p:spPr>
          <a:xfrm>
            <a:off x="10835640" y="6424612"/>
            <a:ext cx="67056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B2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84878"/>
            </a:solidFill>
            <a:ln>
              <a:noFill/>
            </a:ln>
            <a:effectLst/>
          </p:spPr>
          <p:txBody>
            <a:bodyPr rtlCol="0" anchor="ctr"/>
            <a:lstStyle/>
            <a:p>
              <a:pPr algn="ctr"/>
            </a:p>
          </p:txBody>
        </p:sp>
        <p:pic>
          <p:nvPicPr>
            <p:cNvPr id="4" name="Picture 3" descr="sliders-horizontal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733425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Welche Informationen trägt das Modell?</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Die Verbrauchshistorie trägt den Großteil der Prognose</a:t>
            </a:r>
          </a:p>
        </p:txBody>
      </p:sp>
      <p:sp>
        <p:nvSpPr>
          <p:cNvPr id="7" name="Rounded Rectangle 6"/>
          <p:cNvSpPr/>
          <p:nvPr/>
        </p:nvSpPr>
        <p:spPr>
          <a:xfrm>
            <a:off x="685800" y="1362075"/>
            <a:ext cx="5895022" cy="3917632"/>
          </a:xfrm>
          <a:prstGeom prst="roundRect">
            <a:avLst>
              <a:gd name="adj" fmla="val 2431"/>
            </a:avLst>
          </a:prstGeom>
          <a:solidFill>
            <a:srgbClr val="FFFFFF"/>
          </a:solidFill>
          <a:ln w="9525">
            <a:solidFill>
              <a:srgbClr val="D2DAE2"/>
            </a:solidFill>
          </a:ln>
          <a:effectLst/>
        </p:spPr>
        <p:txBody>
          <a:bodyPr rtlCol="0" anchor="ctr"/>
          <a:lstStyle/>
          <a:p>
            <a:pPr algn="ctr"/>
          </a:p>
        </p:txBody>
      </p:sp>
      <p:sp>
        <p:nvSpPr>
          <p:cNvPr id="8" name="TextBox 7"/>
          <p:cNvSpPr txBox="1"/>
          <p:nvPr/>
        </p:nvSpPr>
        <p:spPr>
          <a:xfrm>
            <a:off x="885825" y="1524000"/>
            <a:ext cx="5524500" cy="381000"/>
          </a:xfrm>
          <a:prstGeom prst="rect">
            <a:avLst/>
          </a:prstGeom>
          <a:noFill/>
        </p:spPr>
        <p:txBody>
          <a:bodyPr wrap="square" lIns="0" rIns="0" tIns="0" bIns="0" anchor="t">
            <a:noAutofit/>
          </a:bodyPr>
          <a:lstStyle/>
          <a:p>
            <a:pPr algn="l">
              <a:lnSpc>
                <a:spcPts val="1500"/>
              </a:lnSpc>
            </a:pPr>
            <a:r>
              <a:rPr sz="1200" b="1" i="0" lang="de-DE">
                <a:solidFill>
                  <a:srgbClr val="141A21"/>
                </a:solidFill>
                <a:latin typeface="IBM Plex Sans"/>
              </a:rPr>
              <a:t>Anstieg des Test-RMSE, wenn eine Gruppe gemischt wird </a:t>
            </a:r>
            <a:r>
              <a:rPr sz="1200" b="0" i="0" lang="de-DE">
                <a:solidFill>
                  <a:srgbClr val="657383"/>
                </a:solidFill>
                <a:latin typeface="IBM Plex Sans"/>
              </a:rPr>
              <a:t>(kWh, Bericht Tab. D1)</a:t>
            </a:r>
          </a:p>
        </p:txBody>
      </p:sp>
      <p:sp>
        <p:nvSpPr>
          <p:cNvPr id="9" name="Rounded Rectangle 8"/>
          <p:cNvSpPr/>
          <p:nvPr/>
        </p:nvSpPr>
        <p:spPr>
          <a:xfrm>
            <a:off x="6790372" y="1362075"/>
            <a:ext cx="4715828" cy="895350"/>
          </a:xfrm>
          <a:prstGeom prst="roundRect">
            <a:avLst>
              <a:gd name="adj" fmla="val 10638"/>
            </a:avLst>
          </a:prstGeom>
          <a:solidFill>
            <a:srgbClr val="FFFFFF"/>
          </a:solidFill>
          <a:ln w="9525">
            <a:solidFill>
              <a:srgbClr val="D2DAE2"/>
            </a:solidFill>
          </a:ln>
          <a:effectLst/>
        </p:spPr>
        <p:txBody>
          <a:bodyPr rtlCol="0" anchor="ctr"/>
          <a:lstStyle/>
          <a:p>
            <a:pPr algn="ctr"/>
          </a:p>
        </p:txBody>
      </p:sp>
      <p:grpSp>
        <p:nvGrpSpPr>
          <p:cNvPr id="10" name="Scheibe shuffle"/>
          <p:cNvGrpSpPr/>
          <p:nvPr/>
        </p:nvGrpSpPr>
        <p:grpSpPr>
          <a:xfrm>
            <a:off x="6952298" y="1495425"/>
            <a:ext cx="323850" cy="323850"/>
            <a:chOff x="6952298" y="1495425"/>
            <a:chExt cx="323850" cy="323850"/>
          </a:xfrm>
        </p:grpSpPr>
        <p:sp>
          <p:nvSpPr>
            <p:cNvPr id="11" name="Oval 10"/>
            <p:cNvSpPr/>
            <p:nvPr/>
          </p:nvSpPr>
          <p:spPr>
            <a:xfrm>
              <a:off x="6952298" y="1495425"/>
              <a:ext cx="323850" cy="323850"/>
            </a:xfrm>
            <a:prstGeom prst="ellipse">
              <a:avLst/>
            </a:prstGeom>
            <a:solidFill>
              <a:srgbClr val="084878"/>
            </a:solidFill>
            <a:ln>
              <a:noFill/>
            </a:ln>
            <a:effectLst/>
          </p:spPr>
          <p:txBody>
            <a:bodyPr rtlCol="0" anchor="ctr"/>
            <a:lstStyle/>
            <a:p>
              <a:pPr algn="ctr"/>
            </a:p>
          </p:txBody>
        </p:sp>
        <p:pic>
          <p:nvPicPr>
            <p:cNvPr id="12" name="Picture 11" descr="shuffle__FFFFFF.png"/>
            <p:cNvPicPr>
              <a:picLocks noChangeAspect="1"/>
            </p:cNvPicPr>
            <p:nvPr/>
          </p:nvPicPr>
          <p:blipFill>
            <a:blip r:embed="rId4"/>
            <a:stretch>
              <a:fillRect/>
            </a:stretch>
          </p:blipFill>
          <p:spPr>
            <a:xfrm>
              <a:off x="7030021" y="1573149"/>
              <a:ext cx="168402" cy="168402"/>
            </a:xfrm>
            <a:prstGeom prst="rect">
              <a:avLst/>
            </a:prstGeom>
          </p:spPr>
        </p:pic>
      </p:grpSp>
      <p:sp>
        <p:nvSpPr>
          <p:cNvPr id="13" name="TextBox 12"/>
          <p:cNvSpPr txBox="1"/>
          <p:nvPr/>
        </p:nvSpPr>
        <p:spPr>
          <a:xfrm>
            <a:off x="7409498" y="150495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So liest man es</a:t>
            </a:r>
          </a:p>
        </p:txBody>
      </p:sp>
      <p:sp>
        <p:nvSpPr>
          <p:cNvPr id="14" name="TextBox 13"/>
          <p:cNvSpPr txBox="1"/>
          <p:nvPr/>
        </p:nvSpPr>
        <p:spPr>
          <a:xfrm>
            <a:off x="7409498" y="1724025"/>
            <a:ext cx="3934778"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Steigt der Fehler stark, war die Information wichtig für die Prognose.</a:t>
            </a:r>
          </a:p>
        </p:txBody>
      </p:sp>
      <p:sp>
        <p:nvSpPr>
          <p:cNvPr id="15" name="Rounded Rectangle 14"/>
          <p:cNvSpPr/>
          <p:nvPr/>
        </p:nvSpPr>
        <p:spPr>
          <a:xfrm>
            <a:off x="6790372" y="2371725"/>
            <a:ext cx="4715828" cy="895350"/>
          </a:xfrm>
          <a:prstGeom prst="roundRect">
            <a:avLst>
              <a:gd name="adj" fmla="val 10638"/>
            </a:avLst>
          </a:prstGeom>
          <a:solidFill>
            <a:srgbClr val="FFFFFF"/>
          </a:solidFill>
          <a:ln w="9525">
            <a:solidFill>
              <a:srgbClr val="D2DAE2"/>
            </a:solidFill>
          </a:ln>
          <a:effectLst/>
        </p:spPr>
        <p:txBody>
          <a:bodyPr rtlCol="0" anchor="ctr"/>
          <a:lstStyle/>
          <a:p>
            <a:pPr algn="ctr"/>
          </a:p>
        </p:txBody>
      </p:sp>
      <p:grpSp>
        <p:nvGrpSpPr>
          <p:cNvPr id="16" name="Scheibe factory"/>
          <p:cNvGrpSpPr/>
          <p:nvPr/>
        </p:nvGrpSpPr>
        <p:grpSpPr>
          <a:xfrm>
            <a:off x="6952298" y="2505075"/>
            <a:ext cx="323850" cy="323850"/>
            <a:chOff x="6952298" y="2505075"/>
            <a:chExt cx="323850" cy="323850"/>
          </a:xfrm>
        </p:grpSpPr>
        <p:sp>
          <p:nvSpPr>
            <p:cNvPr id="17" name="Oval 16"/>
            <p:cNvSpPr/>
            <p:nvPr/>
          </p:nvSpPr>
          <p:spPr>
            <a:xfrm>
              <a:off x="6952298" y="2505075"/>
              <a:ext cx="323850" cy="323850"/>
            </a:xfrm>
            <a:prstGeom prst="ellipse">
              <a:avLst/>
            </a:prstGeom>
            <a:solidFill>
              <a:srgbClr val="00718E"/>
            </a:solidFill>
            <a:ln>
              <a:noFill/>
            </a:ln>
            <a:effectLst/>
          </p:spPr>
          <p:txBody>
            <a:bodyPr rtlCol="0" anchor="ctr"/>
            <a:lstStyle/>
            <a:p>
              <a:pPr algn="ctr"/>
            </a:p>
          </p:txBody>
        </p:sp>
        <p:pic>
          <p:nvPicPr>
            <p:cNvPr id="18" name="Picture 17" descr="factory__FFFFFF.png"/>
            <p:cNvPicPr>
              <a:picLocks noChangeAspect="1"/>
            </p:cNvPicPr>
            <p:nvPr/>
          </p:nvPicPr>
          <p:blipFill>
            <a:blip r:embed="rId5"/>
            <a:stretch>
              <a:fillRect/>
            </a:stretch>
          </p:blipFill>
          <p:spPr>
            <a:xfrm>
              <a:off x="7030021" y="2582799"/>
              <a:ext cx="168402" cy="168402"/>
            </a:xfrm>
            <a:prstGeom prst="rect">
              <a:avLst/>
            </a:prstGeom>
          </p:spPr>
        </p:pic>
      </p:grpSp>
      <p:sp>
        <p:nvSpPr>
          <p:cNvPr id="19" name="TextBox 18"/>
          <p:cNvSpPr txBox="1"/>
          <p:nvPr/>
        </p:nvSpPr>
        <p:spPr>
          <a:xfrm>
            <a:off x="7409498" y="251460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Plausibel</a:t>
            </a:r>
          </a:p>
        </p:txBody>
      </p:sp>
      <p:sp>
        <p:nvSpPr>
          <p:cNvPr id="20" name="TextBox 19"/>
          <p:cNvSpPr txBox="1"/>
          <p:nvPr/>
        </p:nvSpPr>
        <p:spPr>
          <a:xfrm>
            <a:off x="7409498" y="2733675"/>
            <a:ext cx="3934778"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Historie, Produktionsplan und Wartung sind betriebliche Treiber; der Kundentyp steckt bereits in der Historie.</a:t>
            </a:r>
          </a:p>
        </p:txBody>
      </p:sp>
      <p:sp>
        <p:nvSpPr>
          <p:cNvPr id="21" name="Rounded Rectangle 20"/>
          <p:cNvSpPr/>
          <p:nvPr/>
        </p:nvSpPr>
        <p:spPr>
          <a:xfrm>
            <a:off x="6790372" y="3381375"/>
            <a:ext cx="4715828" cy="895350"/>
          </a:xfrm>
          <a:prstGeom prst="roundRect">
            <a:avLst>
              <a:gd name="adj" fmla="val 10638"/>
            </a:avLst>
          </a:prstGeom>
          <a:solidFill>
            <a:srgbClr val="FFFFFF"/>
          </a:solidFill>
          <a:ln w="9525">
            <a:solidFill>
              <a:srgbClr val="D2DAE2"/>
            </a:solidFill>
          </a:ln>
          <a:effectLst/>
        </p:spPr>
        <p:txBody>
          <a:bodyPr rtlCol="0" anchor="ctr"/>
          <a:lstStyle/>
          <a:p>
            <a:pPr algn="ctr"/>
          </a:p>
        </p:txBody>
      </p:sp>
      <p:grpSp>
        <p:nvGrpSpPr>
          <p:cNvPr id="22" name="Scheibe triangle-alert"/>
          <p:cNvGrpSpPr/>
          <p:nvPr/>
        </p:nvGrpSpPr>
        <p:grpSpPr>
          <a:xfrm>
            <a:off x="6952298" y="3514725"/>
            <a:ext cx="323850" cy="323850"/>
            <a:chOff x="6952298" y="3514725"/>
            <a:chExt cx="323850" cy="323850"/>
          </a:xfrm>
        </p:grpSpPr>
        <p:sp>
          <p:nvSpPr>
            <p:cNvPr id="23" name="Oval 22"/>
            <p:cNvSpPr/>
            <p:nvPr/>
          </p:nvSpPr>
          <p:spPr>
            <a:xfrm>
              <a:off x="6952298" y="3514725"/>
              <a:ext cx="323850" cy="323850"/>
            </a:xfrm>
            <a:prstGeom prst="ellipse">
              <a:avLst/>
            </a:prstGeom>
            <a:solidFill>
              <a:srgbClr val="A86505"/>
            </a:solidFill>
            <a:ln>
              <a:noFill/>
            </a:ln>
            <a:effectLst/>
          </p:spPr>
          <p:txBody>
            <a:bodyPr rtlCol="0" anchor="ctr"/>
            <a:lstStyle/>
            <a:p>
              <a:pPr algn="ctr"/>
            </a:p>
          </p:txBody>
        </p:sp>
        <p:pic>
          <p:nvPicPr>
            <p:cNvPr id="24" name="Picture 23" descr="triangle-alert__FFFFFF.png"/>
            <p:cNvPicPr>
              <a:picLocks noChangeAspect="1"/>
            </p:cNvPicPr>
            <p:nvPr/>
          </p:nvPicPr>
          <p:blipFill>
            <a:blip r:embed="rId6"/>
            <a:stretch>
              <a:fillRect/>
            </a:stretch>
          </p:blipFill>
          <p:spPr>
            <a:xfrm>
              <a:off x="7030021" y="3592449"/>
              <a:ext cx="168402" cy="168402"/>
            </a:xfrm>
            <a:prstGeom prst="rect">
              <a:avLst/>
            </a:prstGeom>
          </p:spPr>
        </p:pic>
      </p:grpSp>
      <p:sp>
        <p:nvSpPr>
          <p:cNvPr id="25" name="TextBox 24"/>
          <p:cNvSpPr txBox="1"/>
          <p:nvPr/>
        </p:nvSpPr>
        <p:spPr>
          <a:xfrm>
            <a:off x="7409498" y="352425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Grenze</a:t>
            </a:r>
          </a:p>
        </p:txBody>
      </p:sp>
      <p:sp>
        <p:nvSpPr>
          <p:cNvPr id="26" name="TextBox 25"/>
          <p:cNvSpPr txBox="1"/>
          <p:nvPr/>
        </p:nvSpPr>
        <p:spPr>
          <a:xfrm>
            <a:off x="7409498" y="3743325"/>
            <a:ext cx="3934778"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Wichtigkeit ist keine Kausalität. Die Vertragsleistung wird nicht gemischt, sie ist der Umrechnungsfaktor.</a:t>
            </a:r>
          </a:p>
        </p:txBody>
      </p:sp>
      <p:sp>
        <p:nvSpPr>
          <p:cNvPr id="27" name="TextBox 26"/>
          <p:cNvSpPr txBox="1"/>
          <p:nvPr/>
        </p:nvSpPr>
        <p:spPr>
          <a:xfrm>
            <a:off x="6790372" y="4391025"/>
            <a:ext cx="4715828" cy="400050"/>
          </a:xfrm>
          <a:prstGeom prst="rect">
            <a:avLst/>
          </a:prstGeom>
          <a:noFill/>
        </p:spPr>
        <p:txBody>
          <a:bodyPr wrap="square" lIns="0" rIns="0" tIns="0" bIns="0" anchor="t">
            <a:noAutofit/>
          </a:bodyPr>
          <a:lstStyle/>
          <a:p>
            <a:pPr algn="l">
              <a:lnSpc>
                <a:spcPts val="1575"/>
              </a:lnSpc>
            </a:pPr>
            <a:r>
              <a:rPr sz="1125" b="0" i="0" lang="de-DE">
                <a:solidFill>
                  <a:srgbClr val="657383"/>
                </a:solidFill>
                <a:latin typeface="IBM Plex Sans"/>
              </a:rPr>
              <a:t>Bericht Tab. D1 mit fünf Wiederholungen; Notebook 13 mit drei Wiederholungen zeigt dieselbe Rangfolge.</a:t>
            </a:r>
          </a:p>
        </p:txBody>
      </p:sp>
      <p:cxnSp>
        <p:nvCxnSpPr>
          <p:cNvPr id="28"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29" name="Logo" descr="image.png"/>
          <p:cNvPicPr>
            <a:picLocks noChangeAspect="1"/>
          </p:cNvPicPr>
          <p:nvPr/>
        </p:nvPicPr>
        <p:blipFill>
          <a:blip r:embed="rId7"/>
          <a:stretch>
            <a:fillRect/>
          </a:stretch>
        </p:blipFill>
        <p:spPr>
          <a:xfrm>
            <a:off x="685800" y="6400800"/>
            <a:ext cx="715863" cy="247650"/>
          </a:xfrm>
          <a:prstGeom prst="rect">
            <a:avLst/>
          </a:prstGeom>
        </p:spPr>
      </p:pic>
      <p:sp>
        <p:nvSpPr>
          <p:cNvPr id="30" name="TextBox 29"/>
          <p:cNvSpPr txBox="1"/>
          <p:nvPr/>
        </p:nvSpPr>
        <p:spPr>
          <a:xfrm>
            <a:off x="1554480" y="6429375"/>
            <a:ext cx="289179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31" name="Connector 30"/>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32" name="Scheibe sliders-horizontal"/>
          <p:cNvGrpSpPr/>
          <p:nvPr/>
        </p:nvGrpSpPr>
        <p:grpSpPr>
          <a:xfrm>
            <a:off x="4516755" y="6419850"/>
            <a:ext cx="209550" cy="209550"/>
            <a:chOff x="4516755" y="6419850"/>
            <a:chExt cx="209550" cy="209550"/>
          </a:xfrm>
        </p:grpSpPr>
        <p:sp>
          <p:nvSpPr>
            <p:cNvPr id="33" name="Oval 32"/>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34" name="Picture 33" descr="sliders-horizontal__FFFFFF.png"/>
            <p:cNvPicPr>
              <a:picLocks noChangeAspect="1"/>
            </p:cNvPicPr>
            <p:nvPr/>
          </p:nvPicPr>
          <p:blipFill>
            <a:blip r:embed="rId3"/>
            <a:stretch>
              <a:fillRect/>
            </a:stretch>
          </p:blipFill>
          <p:spPr>
            <a:xfrm>
              <a:off x="4567047" y="6470142"/>
              <a:ext cx="108966" cy="108966"/>
            </a:xfrm>
            <a:prstGeom prst="rect">
              <a:avLst/>
            </a:prstGeom>
          </p:spPr>
        </p:pic>
      </p:grpSp>
      <p:sp>
        <p:nvSpPr>
          <p:cNvPr id="35" name="TextBox 34"/>
          <p:cNvSpPr txBox="1"/>
          <p:nvPr/>
        </p:nvSpPr>
        <p:spPr>
          <a:xfrm>
            <a:off x="4783455"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04</a:t>
            </a:r>
          </a:p>
        </p:txBody>
      </p:sp>
      <p:sp>
        <p:nvSpPr>
          <p:cNvPr id="36" name="TextBox 35"/>
          <p:cNvSpPr txBox="1"/>
          <p:nvPr/>
        </p:nvSpPr>
        <p:spPr>
          <a:xfrm>
            <a:off x="5000625" y="6438900"/>
            <a:ext cx="761924"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Merkmale</a:t>
            </a:r>
          </a:p>
        </p:txBody>
      </p:sp>
      <p:sp>
        <p:nvSpPr>
          <p:cNvPr id="37" name="TextBox 36"/>
          <p:cNvSpPr txBox="1"/>
          <p:nvPr/>
        </p:nvSpPr>
        <p:spPr>
          <a:xfrm>
            <a:off x="9486900" y="6429375"/>
            <a:ext cx="12573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38" name="Seitenzahl"/>
          <p:cNvSpPr txBox="1"/>
          <p:nvPr/>
        </p:nvSpPr>
        <p:spPr>
          <a:xfrm>
            <a:off x="10835640" y="6424612"/>
            <a:ext cx="67056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B3</a:t>
            </a:r>
          </a:p>
        </p:txBody>
      </p:sp>
      <p:pic>
        <p:nvPicPr>
          <p:cNvPr id="39" name="Diagramm s14_svg01.png" descr="s14_svg01.png"/>
          <p:cNvPicPr>
            <a:picLocks noChangeAspect="1"/>
          </p:cNvPicPr>
          <p:nvPr/>
        </p:nvPicPr>
        <p:blipFill>
          <a:blip r:embed="rId8"/>
          <a:stretch>
            <a:fillRect/>
          </a:stretch>
        </p:blipFill>
        <p:spPr>
          <a:xfrm>
            <a:off x="885825" y="1981498"/>
            <a:ext cx="5494734" cy="3136999"/>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84878"/>
            </a:solidFill>
            <a:ln>
              <a:noFill/>
            </a:ln>
            <a:effectLst/>
          </p:spPr>
          <p:txBody>
            <a:bodyPr rtlCol="0" anchor="ctr"/>
            <a:lstStyle/>
            <a:p>
              <a:pPr algn="ctr"/>
            </a:p>
          </p:txBody>
        </p:sp>
        <p:pic>
          <p:nvPicPr>
            <p:cNvPr id="4" name="Picture 3" descr="history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733425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Wie entstehen die Historien-Merkmale?</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Lag-Features verschieben bekannte Historie nach vorn</a:t>
            </a:r>
          </a:p>
        </p:txBody>
      </p:sp>
      <p:sp>
        <p:nvSpPr>
          <p:cNvPr id="7" name="Rounded Rectangle 6"/>
          <p:cNvSpPr/>
          <p:nvPr/>
        </p:nvSpPr>
        <p:spPr>
          <a:xfrm>
            <a:off x="685800" y="1362075"/>
            <a:ext cx="5895022" cy="3822382"/>
          </a:xfrm>
          <a:prstGeom prst="roundRect">
            <a:avLst>
              <a:gd name="adj" fmla="val 2491"/>
            </a:avLst>
          </a:prstGeom>
          <a:solidFill>
            <a:srgbClr val="FFFFFF"/>
          </a:solidFill>
          <a:ln w="9525">
            <a:solidFill>
              <a:srgbClr val="D2DAE2"/>
            </a:solidFill>
          </a:ln>
          <a:effectLst/>
        </p:spPr>
        <p:txBody>
          <a:bodyPr rtlCol="0" anchor="ctr"/>
          <a:lstStyle/>
          <a:p>
            <a:pPr algn="ctr"/>
          </a:p>
        </p:txBody>
      </p:sp>
      <p:sp>
        <p:nvSpPr>
          <p:cNvPr id="8" name="TextBox 7"/>
          <p:cNvSpPr txBox="1"/>
          <p:nvPr/>
        </p:nvSpPr>
        <p:spPr>
          <a:xfrm>
            <a:off x="885825" y="1524000"/>
            <a:ext cx="5524500" cy="190500"/>
          </a:xfrm>
          <a:prstGeom prst="rect">
            <a:avLst/>
          </a:prstGeom>
          <a:noFill/>
        </p:spPr>
        <p:txBody>
          <a:bodyPr wrap="square" lIns="0" rIns="0" tIns="0" bIns="0" anchor="t">
            <a:noAutofit/>
          </a:bodyPr>
          <a:lstStyle/>
          <a:p>
            <a:pPr algn="l">
              <a:lnSpc>
                <a:spcPts val="1500"/>
              </a:lnSpc>
            </a:pPr>
            <a:r>
              <a:rPr sz="1200" b="1" i="0" lang="de-DE">
                <a:solidFill>
                  <a:srgbClr val="141A21"/>
                </a:solidFill>
                <a:latin typeface="IBM Plex Sans"/>
              </a:rPr>
              <a:t>Erster Zähler im Datensatz · ZL-00000 · 2024 </a:t>
            </a:r>
            <a:r>
              <a:rPr sz="1200" b="0" i="0" lang="de-DE">
                <a:solidFill>
                  <a:srgbClr val="657383"/>
                </a:solidFill>
                <a:latin typeface="IBM Plex Sans"/>
              </a:rPr>
              <a:t>(VLS-h)</a:t>
            </a:r>
          </a:p>
        </p:txBody>
      </p:sp>
      <p:sp>
        <p:nvSpPr>
          <p:cNvPr id="15" name="Rounded Rectangle 14"/>
          <p:cNvSpPr/>
          <p:nvPr/>
        </p:nvSpPr>
        <p:spPr>
          <a:xfrm>
            <a:off x="6790372" y="1362075"/>
            <a:ext cx="4715828" cy="895350"/>
          </a:xfrm>
          <a:prstGeom prst="roundRect">
            <a:avLst>
              <a:gd name="adj" fmla="val 10638"/>
            </a:avLst>
          </a:prstGeom>
          <a:solidFill>
            <a:srgbClr val="FFFFFF"/>
          </a:solidFill>
          <a:ln w="9525">
            <a:solidFill>
              <a:srgbClr val="D2DAE2"/>
            </a:solidFill>
          </a:ln>
          <a:effectLst/>
        </p:spPr>
        <p:txBody>
          <a:bodyPr rtlCol="0" anchor="ctr"/>
          <a:lstStyle/>
          <a:p>
            <a:pPr algn="ctr"/>
          </a:p>
        </p:txBody>
      </p:sp>
      <p:grpSp>
        <p:nvGrpSpPr>
          <p:cNvPr id="16" name="Scheibe calendar-x"/>
          <p:cNvGrpSpPr/>
          <p:nvPr/>
        </p:nvGrpSpPr>
        <p:grpSpPr>
          <a:xfrm>
            <a:off x="6952298" y="1495425"/>
            <a:ext cx="323850" cy="323850"/>
            <a:chOff x="6952298" y="1495425"/>
            <a:chExt cx="323850" cy="323850"/>
          </a:xfrm>
        </p:grpSpPr>
        <p:sp>
          <p:nvSpPr>
            <p:cNvPr id="17" name="Oval 16"/>
            <p:cNvSpPr/>
            <p:nvPr/>
          </p:nvSpPr>
          <p:spPr>
            <a:xfrm>
              <a:off x="6952298" y="1495425"/>
              <a:ext cx="323850" cy="323850"/>
            </a:xfrm>
            <a:prstGeom prst="ellipse">
              <a:avLst/>
            </a:prstGeom>
            <a:solidFill>
              <a:srgbClr val="084878"/>
            </a:solidFill>
            <a:ln>
              <a:noFill/>
            </a:ln>
            <a:effectLst/>
          </p:spPr>
          <p:txBody>
            <a:bodyPr rtlCol="0" anchor="ctr"/>
            <a:lstStyle/>
            <a:p>
              <a:pPr algn="ctr"/>
            </a:p>
          </p:txBody>
        </p:sp>
        <p:pic>
          <p:nvPicPr>
            <p:cNvPr id="18" name="Picture 17" descr="calendar-x__FFFFFF.png"/>
            <p:cNvPicPr>
              <a:picLocks noChangeAspect="1"/>
            </p:cNvPicPr>
            <p:nvPr/>
          </p:nvPicPr>
          <p:blipFill>
            <a:blip r:embed="rId4"/>
            <a:stretch>
              <a:fillRect/>
            </a:stretch>
          </p:blipFill>
          <p:spPr>
            <a:xfrm>
              <a:off x="7030021" y="1573149"/>
              <a:ext cx="168402" cy="168402"/>
            </a:xfrm>
            <a:prstGeom prst="rect">
              <a:avLst/>
            </a:prstGeom>
          </p:spPr>
        </p:pic>
      </p:grpSp>
      <p:sp>
        <p:nvSpPr>
          <p:cNvPr id="19" name="TextBox 18"/>
          <p:cNvSpPr txBox="1"/>
          <p:nvPr/>
        </p:nvSpPr>
        <p:spPr>
          <a:xfrm>
            <a:off x="7409498" y="150495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Januar 2024</a:t>
            </a:r>
          </a:p>
        </p:txBody>
      </p:sp>
      <p:sp>
        <p:nvSpPr>
          <p:cNvPr id="20" name="TextBox 19"/>
          <p:cNvSpPr txBox="1"/>
          <p:nvPr/>
        </p:nvSpPr>
        <p:spPr>
          <a:xfrm>
            <a:off x="7409498" y="1724025"/>
            <a:ext cx="3934778"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Echter Kaltstart: keine Historie. Die Werte bleiben leer und werden im Fold aufgefüllt.</a:t>
            </a:r>
          </a:p>
        </p:txBody>
      </p:sp>
      <p:sp>
        <p:nvSpPr>
          <p:cNvPr id="21" name="Rounded Rectangle 20"/>
          <p:cNvSpPr/>
          <p:nvPr/>
        </p:nvSpPr>
        <p:spPr>
          <a:xfrm>
            <a:off x="6790372" y="2371725"/>
            <a:ext cx="4715828" cy="695325"/>
          </a:xfrm>
          <a:prstGeom prst="roundRect">
            <a:avLst>
              <a:gd name="adj" fmla="val 13698"/>
            </a:avLst>
          </a:prstGeom>
          <a:solidFill>
            <a:srgbClr val="FFFFFF"/>
          </a:solidFill>
          <a:ln w="9525">
            <a:solidFill>
              <a:srgbClr val="D2DAE2"/>
            </a:solidFill>
          </a:ln>
          <a:effectLst/>
        </p:spPr>
        <p:txBody>
          <a:bodyPr rtlCol="0" anchor="ctr"/>
          <a:lstStyle/>
          <a:p>
            <a:pPr algn="ctr"/>
          </a:p>
        </p:txBody>
      </p:sp>
      <p:grpSp>
        <p:nvGrpSpPr>
          <p:cNvPr id="22" name="Scheibe calendar-days"/>
          <p:cNvGrpSpPr/>
          <p:nvPr/>
        </p:nvGrpSpPr>
        <p:grpSpPr>
          <a:xfrm>
            <a:off x="6952298" y="2505075"/>
            <a:ext cx="323850" cy="323850"/>
            <a:chOff x="6952298" y="2505075"/>
            <a:chExt cx="323850" cy="323850"/>
          </a:xfrm>
        </p:grpSpPr>
        <p:sp>
          <p:nvSpPr>
            <p:cNvPr id="23" name="Oval 22"/>
            <p:cNvSpPr/>
            <p:nvPr/>
          </p:nvSpPr>
          <p:spPr>
            <a:xfrm>
              <a:off x="6952298" y="2505075"/>
              <a:ext cx="323850" cy="323850"/>
            </a:xfrm>
            <a:prstGeom prst="ellipse">
              <a:avLst/>
            </a:prstGeom>
            <a:solidFill>
              <a:srgbClr val="084878"/>
            </a:solidFill>
            <a:ln>
              <a:noFill/>
            </a:ln>
            <a:effectLst/>
          </p:spPr>
          <p:txBody>
            <a:bodyPr rtlCol="0" anchor="ctr"/>
            <a:lstStyle/>
            <a:p>
              <a:pPr algn="ctr"/>
            </a:p>
          </p:txBody>
        </p:sp>
        <p:pic>
          <p:nvPicPr>
            <p:cNvPr id="24" name="Picture 23" descr="calendar-days__FFFFFF.png"/>
            <p:cNvPicPr>
              <a:picLocks noChangeAspect="1"/>
            </p:cNvPicPr>
            <p:nvPr/>
          </p:nvPicPr>
          <p:blipFill>
            <a:blip r:embed="rId5"/>
            <a:stretch>
              <a:fillRect/>
            </a:stretch>
          </p:blipFill>
          <p:spPr>
            <a:xfrm>
              <a:off x="7030021" y="2582799"/>
              <a:ext cx="168402" cy="168402"/>
            </a:xfrm>
            <a:prstGeom prst="rect">
              <a:avLst/>
            </a:prstGeom>
          </p:spPr>
        </p:pic>
      </p:grpSp>
      <p:sp>
        <p:nvSpPr>
          <p:cNvPr id="25" name="TextBox 24"/>
          <p:cNvSpPr txBox="1"/>
          <p:nvPr/>
        </p:nvSpPr>
        <p:spPr>
          <a:xfrm>
            <a:off x="7409498" y="251460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Februar und März</a:t>
            </a:r>
          </a:p>
        </p:txBody>
      </p:sp>
      <p:sp>
        <p:nvSpPr>
          <p:cNvPr id="26" name="TextBox 25"/>
          <p:cNvSpPr txBox="1"/>
          <p:nvPr/>
        </p:nvSpPr>
        <p:spPr>
          <a:xfrm>
            <a:off x="7409498" y="2733675"/>
            <a:ext cx="3934778" cy="285750"/>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Nutzen die verfügbare Historie (1 bzw. 2 Monate).</a:t>
            </a:r>
          </a:p>
        </p:txBody>
      </p:sp>
      <p:sp>
        <p:nvSpPr>
          <p:cNvPr id="27" name="Rounded Rectangle 26"/>
          <p:cNvSpPr/>
          <p:nvPr/>
        </p:nvSpPr>
        <p:spPr>
          <a:xfrm>
            <a:off x="6790372" y="3181350"/>
            <a:ext cx="4715828" cy="895350"/>
          </a:xfrm>
          <a:prstGeom prst="roundRect">
            <a:avLst>
              <a:gd name="adj" fmla="val 10638"/>
            </a:avLst>
          </a:prstGeom>
          <a:solidFill>
            <a:srgbClr val="FFFFFF"/>
          </a:solidFill>
          <a:ln w="9525">
            <a:solidFill>
              <a:srgbClr val="D2DAE2"/>
            </a:solidFill>
          </a:ln>
          <a:effectLst/>
        </p:spPr>
        <p:txBody>
          <a:bodyPr rtlCol="0" anchor="ctr"/>
          <a:lstStyle/>
          <a:p>
            <a:pPr algn="ctr"/>
          </a:p>
        </p:txBody>
      </p:sp>
      <p:grpSp>
        <p:nvGrpSpPr>
          <p:cNvPr id="28" name="Scheibe calendar-range"/>
          <p:cNvGrpSpPr/>
          <p:nvPr/>
        </p:nvGrpSpPr>
        <p:grpSpPr>
          <a:xfrm>
            <a:off x="6952298" y="3314700"/>
            <a:ext cx="323850" cy="323850"/>
            <a:chOff x="6952298" y="3314700"/>
            <a:chExt cx="323850" cy="323850"/>
          </a:xfrm>
        </p:grpSpPr>
        <p:sp>
          <p:nvSpPr>
            <p:cNvPr id="29" name="Oval 28"/>
            <p:cNvSpPr/>
            <p:nvPr/>
          </p:nvSpPr>
          <p:spPr>
            <a:xfrm>
              <a:off x="6952298" y="3314700"/>
              <a:ext cx="323850" cy="323850"/>
            </a:xfrm>
            <a:prstGeom prst="ellipse">
              <a:avLst/>
            </a:prstGeom>
            <a:solidFill>
              <a:srgbClr val="084878"/>
            </a:solidFill>
            <a:ln>
              <a:noFill/>
            </a:ln>
            <a:effectLst/>
          </p:spPr>
          <p:txBody>
            <a:bodyPr rtlCol="0" anchor="ctr"/>
            <a:lstStyle/>
            <a:p>
              <a:pPr algn="ctr"/>
            </a:p>
          </p:txBody>
        </p:sp>
        <p:pic>
          <p:nvPicPr>
            <p:cNvPr id="30" name="Picture 29" descr="calendar-range__FFFFFF.png"/>
            <p:cNvPicPr>
              <a:picLocks noChangeAspect="1"/>
            </p:cNvPicPr>
            <p:nvPr/>
          </p:nvPicPr>
          <p:blipFill>
            <a:blip r:embed="rId6"/>
            <a:stretch>
              <a:fillRect/>
            </a:stretch>
          </p:blipFill>
          <p:spPr>
            <a:xfrm>
              <a:off x="7030021" y="3392424"/>
              <a:ext cx="168402" cy="168402"/>
            </a:xfrm>
            <a:prstGeom prst="rect">
              <a:avLst/>
            </a:prstGeom>
          </p:spPr>
        </p:pic>
      </p:grpSp>
      <p:sp>
        <p:nvSpPr>
          <p:cNvPr id="31" name="TextBox 30"/>
          <p:cNvSpPr txBox="1"/>
          <p:nvPr/>
        </p:nvSpPr>
        <p:spPr>
          <a:xfrm>
            <a:off x="7409498" y="3324225"/>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Ab April</a:t>
            </a:r>
          </a:p>
        </p:txBody>
      </p:sp>
      <p:sp>
        <p:nvSpPr>
          <p:cNvPr id="32" name="TextBox 31"/>
          <p:cNvSpPr txBox="1"/>
          <p:nvPr/>
        </p:nvSpPr>
        <p:spPr>
          <a:xfrm>
            <a:off x="7409498" y="3543300"/>
            <a:ext cx="3934778"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Mittel aus bis zu drei gültigen, abgeschlossenen Vormonaten (Umsetzung mit shift(1)).</a:t>
            </a:r>
          </a:p>
        </p:txBody>
      </p:sp>
      <p:sp>
        <p:nvSpPr>
          <p:cNvPr id="33" name="TextBox 32"/>
          <p:cNvSpPr txBox="1"/>
          <p:nvPr/>
        </p:nvSpPr>
        <p:spPr>
          <a:xfrm>
            <a:off x="6790372" y="4191000"/>
            <a:ext cx="4715828" cy="400050"/>
          </a:xfrm>
          <a:prstGeom prst="rect">
            <a:avLst/>
          </a:prstGeom>
          <a:noFill/>
        </p:spPr>
        <p:txBody>
          <a:bodyPr wrap="square" lIns="0" rIns="0" tIns="0" bIns="0" anchor="t">
            <a:noAutofit/>
          </a:bodyPr>
          <a:lstStyle/>
          <a:p>
            <a:pPr algn="l">
              <a:lnSpc>
                <a:spcPts val="1575"/>
              </a:lnSpc>
            </a:pPr>
            <a:r>
              <a:rPr sz="1125" b="0" i="0" lang="de-DE">
                <a:solidFill>
                  <a:srgbClr val="657383"/>
                </a:solidFill>
                <a:latin typeface="IBM Plex Sans"/>
              </a:rPr>
              <a:t>So bleiben 1.453 Drei-Monats-Werte erhalten; nur 700 Januar-Kaltstarts sind leer.</a:t>
            </a:r>
          </a:p>
        </p:txBody>
      </p:sp>
      <p:cxnSp>
        <p:nvCxnSpPr>
          <p:cNvPr id="34"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35" name="Logo" descr="image.png"/>
          <p:cNvPicPr>
            <a:picLocks noChangeAspect="1"/>
          </p:cNvPicPr>
          <p:nvPr/>
        </p:nvPicPr>
        <p:blipFill>
          <a:blip r:embed="rId7"/>
          <a:stretch>
            <a:fillRect/>
          </a:stretch>
        </p:blipFill>
        <p:spPr>
          <a:xfrm>
            <a:off x="685800" y="6400800"/>
            <a:ext cx="715863" cy="247650"/>
          </a:xfrm>
          <a:prstGeom prst="rect">
            <a:avLst/>
          </a:prstGeom>
        </p:spPr>
      </p:pic>
      <p:sp>
        <p:nvSpPr>
          <p:cNvPr id="36" name="TextBox 35"/>
          <p:cNvSpPr txBox="1"/>
          <p:nvPr/>
        </p:nvSpPr>
        <p:spPr>
          <a:xfrm>
            <a:off x="1554480" y="6429375"/>
            <a:ext cx="289179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37" name="Connector 36"/>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38" name="Scheibe sliders-horizontal"/>
          <p:cNvGrpSpPr/>
          <p:nvPr/>
        </p:nvGrpSpPr>
        <p:grpSpPr>
          <a:xfrm>
            <a:off x="4516755" y="6419850"/>
            <a:ext cx="209550" cy="209550"/>
            <a:chOff x="4516755" y="6419850"/>
            <a:chExt cx="209550" cy="209550"/>
          </a:xfrm>
        </p:grpSpPr>
        <p:sp>
          <p:nvSpPr>
            <p:cNvPr id="39" name="Oval 38"/>
            <p:cNvSpPr/>
            <p:nvPr/>
          </p:nvSpPr>
          <p:spPr>
            <a:xfrm>
              <a:off x="4516755" y="6419850"/>
              <a:ext cx="209550" cy="209550"/>
            </a:xfrm>
            <a:prstGeom prst="ellipse">
              <a:avLst/>
            </a:prstGeom>
            <a:solidFill>
              <a:srgbClr val="00718E"/>
            </a:solidFill>
            <a:ln>
              <a:noFill/>
            </a:ln>
            <a:effectLst/>
          </p:spPr>
          <p:txBody>
            <a:bodyPr rtlCol="0" anchor="ctr"/>
            <a:lstStyle/>
            <a:p>
              <a:pPr algn="ctr"/>
            </a:p>
          </p:txBody>
        </p:sp>
        <p:pic>
          <p:nvPicPr>
            <p:cNvPr id="40" name="Picture 39" descr="sliders-horizontal__FFFFFF.png"/>
            <p:cNvPicPr>
              <a:picLocks noChangeAspect="1"/>
            </p:cNvPicPr>
            <p:nvPr/>
          </p:nvPicPr>
          <p:blipFill>
            <a:blip r:embed="rId8"/>
            <a:stretch>
              <a:fillRect/>
            </a:stretch>
          </p:blipFill>
          <p:spPr>
            <a:xfrm>
              <a:off x="4567047" y="6470142"/>
              <a:ext cx="108966" cy="108966"/>
            </a:xfrm>
            <a:prstGeom prst="rect">
              <a:avLst/>
            </a:prstGeom>
          </p:spPr>
        </p:pic>
      </p:grpSp>
      <p:sp>
        <p:nvSpPr>
          <p:cNvPr id="41" name="TextBox 40"/>
          <p:cNvSpPr txBox="1"/>
          <p:nvPr/>
        </p:nvSpPr>
        <p:spPr>
          <a:xfrm>
            <a:off x="4783455"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04</a:t>
            </a:r>
          </a:p>
        </p:txBody>
      </p:sp>
      <p:sp>
        <p:nvSpPr>
          <p:cNvPr id="42" name="TextBox 41"/>
          <p:cNvSpPr txBox="1"/>
          <p:nvPr/>
        </p:nvSpPr>
        <p:spPr>
          <a:xfrm>
            <a:off x="5000625" y="6438900"/>
            <a:ext cx="761924"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Merkmale</a:t>
            </a:r>
          </a:p>
        </p:txBody>
      </p:sp>
      <p:sp>
        <p:nvSpPr>
          <p:cNvPr id="43" name="TextBox 42"/>
          <p:cNvSpPr txBox="1"/>
          <p:nvPr/>
        </p:nvSpPr>
        <p:spPr>
          <a:xfrm>
            <a:off x="9486900" y="6429375"/>
            <a:ext cx="12573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44" name="Seitenzahl"/>
          <p:cNvSpPr txBox="1"/>
          <p:nvPr/>
        </p:nvSpPr>
        <p:spPr>
          <a:xfrm>
            <a:off x="10835640" y="6424612"/>
            <a:ext cx="67056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B4</a:t>
            </a:r>
          </a:p>
        </p:txBody>
      </p:sp>
      <p:pic>
        <p:nvPicPr>
          <p:cNvPr id="45" name="Diagramm s15_svg01.png" descr="s15_svg01.png"/>
          <p:cNvPicPr>
            <a:picLocks noChangeAspect="1"/>
          </p:cNvPicPr>
          <p:nvPr/>
        </p:nvPicPr>
        <p:blipFill>
          <a:blip r:embed="rId9"/>
          <a:stretch>
            <a:fillRect/>
          </a:stretch>
        </p:blipFill>
        <p:spPr>
          <a:xfrm>
            <a:off x="885825" y="1790998"/>
            <a:ext cx="5494734" cy="32321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63659"/>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6CC0D2"/>
            </a:solidFill>
            <a:ln>
              <a:noFill/>
            </a:ln>
            <a:effectLst/>
          </p:spPr>
          <p:txBody>
            <a:bodyPr rtlCol="0" anchor="ctr"/>
            <a:lstStyle/>
            <a:p>
              <a:pPr algn="ctr"/>
            </a:p>
          </p:txBody>
        </p:sp>
        <p:pic>
          <p:nvPicPr>
            <p:cNvPr id="4" name="Picture 3" descr="shield-check__04263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7334250" cy="257175"/>
          </a:xfrm>
          <a:prstGeom prst="rect">
            <a:avLst/>
          </a:prstGeom>
          <a:noFill/>
        </p:spPr>
        <p:txBody>
          <a:bodyPr wrap="none" lIns="0" rIns="0" tIns="0" bIns="0" anchor="t">
            <a:noAutofit/>
          </a:bodyPr>
          <a:lstStyle/>
          <a:p>
            <a:pPr algn="l">
              <a:lnSpc>
                <a:spcPts val="2025"/>
              </a:lnSpc>
            </a:pPr>
            <a:r>
              <a:rPr sz="1500" b="0" i="0" lang="de-DE">
                <a:solidFill>
                  <a:srgbClr val="6CC0D2"/>
                </a:solidFill>
                <a:latin typeface="IBM Plex Sans"/>
              </a:rPr>
              <a:t>Was können wir belastbar sagen, und was nicht?</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FFFFFF"/>
                </a:solidFill>
                <a:latin typeface="IBM Plex Sans"/>
              </a:rPr>
              <a:t>Was wir belastbar sagen können und was noch Daten braucht</a:t>
            </a:r>
          </a:p>
        </p:txBody>
      </p:sp>
      <p:sp>
        <p:nvSpPr>
          <p:cNvPr id="7" name="Rounded Rectangle 6"/>
          <p:cNvSpPr/>
          <p:nvPr/>
        </p:nvSpPr>
        <p:spPr>
          <a:xfrm>
            <a:off x="685800" y="1362075"/>
            <a:ext cx="2590800" cy="3918585"/>
          </a:xfrm>
          <a:prstGeom prst="roundRect">
            <a:avLst>
              <a:gd name="adj" fmla="val 3676"/>
            </a:avLst>
          </a:prstGeom>
          <a:solidFill>
            <a:srgbClr val="174465"/>
          </a:solidFill>
          <a:ln w="9525">
            <a:solidFill>
              <a:srgbClr val="2E5674"/>
            </a:solidFill>
          </a:ln>
          <a:effectLst/>
        </p:spPr>
        <p:txBody>
          <a:bodyPr rtlCol="0" anchor="ctr"/>
          <a:lstStyle/>
          <a:p>
            <a:pPr algn="ctr"/>
          </a:p>
        </p:txBody>
      </p:sp>
      <p:grpSp>
        <p:nvGrpSpPr>
          <p:cNvPr id="8" name="Scheibe badge-check"/>
          <p:cNvGrpSpPr/>
          <p:nvPr/>
        </p:nvGrpSpPr>
        <p:grpSpPr>
          <a:xfrm>
            <a:off x="866775" y="1543050"/>
            <a:ext cx="304800" cy="304800"/>
            <a:chOff x="866775" y="1543050"/>
            <a:chExt cx="304800" cy="304800"/>
          </a:xfrm>
        </p:grpSpPr>
        <p:sp>
          <p:nvSpPr>
            <p:cNvPr id="9" name="Oval 8"/>
            <p:cNvSpPr/>
            <p:nvPr/>
          </p:nvSpPr>
          <p:spPr>
            <a:xfrm>
              <a:off x="866775" y="1543050"/>
              <a:ext cx="304800" cy="304800"/>
            </a:xfrm>
            <a:prstGeom prst="ellipse">
              <a:avLst/>
            </a:prstGeom>
            <a:solidFill>
              <a:srgbClr val="6CC0D2"/>
            </a:solidFill>
            <a:ln>
              <a:noFill/>
            </a:ln>
            <a:effectLst/>
          </p:spPr>
          <p:txBody>
            <a:bodyPr rtlCol="0" anchor="ctr"/>
            <a:lstStyle/>
            <a:p>
              <a:pPr algn="ctr"/>
            </a:p>
          </p:txBody>
        </p:sp>
        <p:pic>
          <p:nvPicPr>
            <p:cNvPr id="10" name="Picture 9" descr="badge-check__04263F.png"/>
            <p:cNvPicPr>
              <a:picLocks noChangeAspect="1"/>
            </p:cNvPicPr>
            <p:nvPr/>
          </p:nvPicPr>
          <p:blipFill>
            <a:blip r:embed="rId4"/>
            <a:stretch>
              <a:fillRect/>
            </a:stretch>
          </p:blipFill>
          <p:spPr>
            <a:xfrm>
              <a:off x="939927" y="1616202"/>
              <a:ext cx="158496" cy="158496"/>
            </a:xfrm>
            <a:prstGeom prst="rect">
              <a:avLst/>
            </a:prstGeom>
          </p:spPr>
        </p:pic>
      </p:grpSp>
      <p:sp>
        <p:nvSpPr>
          <p:cNvPr id="11" name="TextBox 10"/>
          <p:cNvSpPr txBox="1"/>
          <p:nvPr/>
        </p:nvSpPr>
        <p:spPr>
          <a:xfrm>
            <a:off x="866775" y="1981200"/>
            <a:ext cx="2451735" cy="161925"/>
          </a:xfrm>
          <a:prstGeom prst="rect">
            <a:avLst/>
          </a:prstGeom>
          <a:noFill/>
        </p:spPr>
        <p:txBody>
          <a:bodyPr wrap="none" lIns="0" rIns="0" tIns="0" bIns="0" anchor="t">
            <a:noAutofit/>
          </a:bodyPr>
          <a:lstStyle/>
          <a:p>
            <a:pPr algn="l">
              <a:lnSpc>
                <a:spcPts val="1275"/>
              </a:lnSpc>
            </a:pPr>
            <a:r>
              <a:rPr sz="975" b="1" i="0" lang="de-DE" spc="78">
                <a:solidFill>
                  <a:srgbClr val="6CC0D2"/>
                </a:solidFill>
                <a:latin typeface="IBM Plex Sans"/>
              </a:rPr>
              <a:t>BELEGT</a:t>
            </a:r>
          </a:p>
        </p:txBody>
      </p:sp>
      <p:sp>
        <p:nvSpPr>
          <p:cNvPr id="12" name="TextBox 11"/>
          <p:cNvSpPr txBox="1"/>
          <p:nvPr/>
        </p:nvSpPr>
        <p:spPr>
          <a:xfrm>
            <a:off x="866775" y="2219325"/>
            <a:ext cx="2286000" cy="452438"/>
          </a:xfrm>
          <a:prstGeom prst="rect">
            <a:avLst/>
          </a:prstGeom>
          <a:noFill/>
        </p:spPr>
        <p:txBody>
          <a:bodyPr wrap="square" lIns="0" rIns="0" tIns="0" bIns="0" anchor="t">
            <a:noAutofit/>
          </a:bodyPr>
          <a:lstStyle/>
          <a:p>
            <a:pPr algn="l">
              <a:lnSpc>
                <a:spcPts val="1781"/>
              </a:lnSpc>
            </a:pPr>
            <a:r>
              <a:rPr sz="1425" b="1" i="0" lang="de-DE">
                <a:solidFill>
                  <a:srgbClr val="FFFFFF"/>
                </a:solidFill>
                <a:latin typeface="IBM Plex Sans"/>
              </a:rPr>
              <a:t>Prognose schlägt einfache Regeln</a:t>
            </a:r>
          </a:p>
        </p:txBody>
      </p:sp>
      <p:sp>
        <p:nvSpPr>
          <p:cNvPr id="13" name="TextBox 12"/>
          <p:cNvSpPr txBox="1"/>
          <p:nvPr/>
        </p:nvSpPr>
        <p:spPr>
          <a:xfrm>
            <a:off x="866775" y="2824162"/>
            <a:ext cx="2286000" cy="2381250"/>
          </a:xfrm>
          <a:prstGeom prst="rect">
            <a:avLst/>
          </a:prstGeom>
          <a:noFill/>
        </p:spPr>
        <p:txBody>
          <a:bodyPr wrap="square" lIns="0" rIns="0" tIns="0" bIns="0" anchor="t">
            <a:noAutofit/>
          </a:bodyPr>
          <a:lstStyle/>
          <a:p>
            <a:pPr algn="l" marL="171450" indent="-171450">
              <a:lnSpc>
                <a:spcPts val="1631"/>
              </a:lnSpc>
              <a:buChar char="•"/>
            </a:pPr>
            <a:r>
              <a:rPr sz="1125" b="0" i="0" lang="de-DE">
                <a:solidFill>
                  <a:srgbClr val="BBD7EA"/>
                </a:solidFill>
                <a:latin typeface="IBM Plex Sans"/>
              </a:rPr>
              <a:t>RMSE 9.188 kWh, MAE 3.725 kWh</a:t>
            </a:r>
          </a:p>
          <a:p>
            <a:pPr algn="l" marL="171450" indent="-171450">
              <a:lnSpc>
                <a:spcPts val="1631"/>
              </a:lnSpc>
              <a:spcBef>
                <a:spcPts val="300"/>
              </a:spcBef>
              <a:buChar char="•"/>
            </a:pPr>
            <a:r>
              <a:rPr sz="1125" b="0" i="0" lang="de-DE">
                <a:solidFill>
                  <a:srgbClr val="BBD7EA"/>
                </a:solidFill>
                <a:latin typeface="IBM Plex Sans"/>
              </a:rPr>
              <a:t>−15,9 % gegenüber Ø bis zu 3 Vormonate</a:t>
            </a:r>
          </a:p>
          <a:p>
            <a:pPr algn="l" marL="171450" indent="-171450">
              <a:lnSpc>
                <a:spcPts val="1631"/>
              </a:lnSpc>
              <a:spcBef>
                <a:spcPts val="300"/>
              </a:spcBef>
              <a:buChar char="•"/>
            </a:pPr>
            <a:r>
              <a:rPr sz="1125" b="0" i="0" lang="de-DE">
                <a:solidFill>
                  <a:srgbClr val="BBD7EA"/>
                </a:solidFill>
                <a:latin typeface="IBM Plex Sans"/>
              </a:rPr>
              <a:t>Kein klares Overfitting-Signal</a:t>
            </a:r>
          </a:p>
        </p:txBody>
      </p:sp>
      <p:sp>
        <p:nvSpPr>
          <p:cNvPr id="14" name="Rounded Rectangle 13"/>
          <p:cNvSpPr/>
          <p:nvPr/>
        </p:nvSpPr>
        <p:spPr>
          <a:xfrm>
            <a:off x="3429000" y="1362075"/>
            <a:ext cx="2590800" cy="3918585"/>
          </a:xfrm>
          <a:prstGeom prst="roundRect">
            <a:avLst>
              <a:gd name="adj" fmla="val 3676"/>
            </a:avLst>
          </a:prstGeom>
          <a:solidFill>
            <a:srgbClr val="174465"/>
          </a:solidFill>
          <a:ln w="9525">
            <a:solidFill>
              <a:srgbClr val="2E5674"/>
            </a:solidFill>
          </a:ln>
          <a:effectLst/>
        </p:spPr>
        <p:txBody>
          <a:bodyPr rtlCol="0" anchor="ctr"/>
          <a:lstStyle/>
          <a:p>
            <a:pPr algn="ctr"/>
          </a:p>
        </p:txBody>
      </p:sp>
      <p:grpSp>
        <p:nvGrpSpPr>
          <p:cNvPr id="15" name="Scheibe scale"/>
          <p:cNvGrpSpPr/>
          <p:nvPr/>
        </p:nvGrpSpPr>
        <p:grpSpPr>
          <a:xfrm>
            <a:off x="3609975" y="1543050"/>
            <a:ext cx="304800" cy="304800"/>
            <a:chOff x="3609975" y="1543050"/>
            <a:chExt cx="304800" cy="304800"/>
          </a:xfrm>
        </p:grpSpPr>
        <p:sp>
          <p:nvSpPr>
            <p:cNvPr id="16" name="Oval 15"/>
            <p:cNvSpPr/>
            <p:nvPr/>
          </p:nvSpPr>
          <p:spPr>
            <a:xfrm>
              <a:off x="3609975" y="1543050"/>
              <a:ext cx="304800" cy="304800"/>
            </a:xfrm>
            <a:prstGeom prst="ellipse">
              <a:avLst/>
            </a:prstGeom>
            <a:solidFill>
              <a:srgbClr val="6CC0D2"/>
            </a:solidFill>
            <a:ln>
              <a:noFill/>
            </a:ln>
            <a:effectLst/>
          </p:spPr>
          <p:txBody>
            <a:bodyPr rtlCol="0" anchor="ctr"/>
            <a:lstStyle/>
            <a:p>
              <a:pPr algn="ctr"/>
            </a:p>
          </p:txBody>
        </p:sp>
        <p:pic>
          <p:nvPicPr>
            <p:cNvPr id="17" name="Picture 16" descr="scale__04263F.png"/>
            <p:cNvPicPr>
              <a:picLocks noChangeAspect="1"/>
            </p:cNvPicPr>
            <p:nvPr/>
          </p:nvPicPr>
          <p:blipFill>
            <a:blip r:embed="rId5"/>
            <a:stretch>
              <a:fillRect/>
            </a:stretch>
          </p:blipFill>
          <p:spPr>
            <a:xfrm>
              <a:off x="3683127" y="1616202"/>
              <a:ext cx="158496" cy="158496"/>
            </a:xfrm>
            <a:prstGeom prst="rect">
              <a:avLst/>
            </a:prstGeom>
          </p:spPr>
        </p:pic>
      </p:grpSp>
      <p:sp>
        <p:nvSpPr>
          <p:cNvPr id="18" name="TextBox 17"/>
          <p:cNvSpPr txBox="1"/>
          <p:nvPr/>
        </p:nvSpPr>
        <p:spPr>
          <a:xfrm>
            <a:off x="3609975" y="1981200"/>
            <a:ext cx="2451735" cy="161925"/>
          </a:xfrm>
          <a:prstGeom prst="rect">
            <a:avLst/>
          </a:prstGeom>
          <a:noFill/>
        </p:spPr>
        <p:txBody>
          <a:bodyPr wrap="none" lIns="0" rIns="0" tIns="0" bIns="0" anchor="t">
            <a:noAutofit/>
          </a:bodyPr>
          <a:lstStyle/>
          <a:p>
            <a:pPr algn="l">
              <a:lnSpc>
                <a:spcPts val="1275"/>
              </a:lnSpc>
            </a:pPr>
            <a:r>
              <a:rPr sz="975" b="1" i="0" lang="de-DE" spc="78">
                <a:solidFill>
                  <a:srgbClr val="6CC0D2"/>
                </a:solidFill>
                <a:latin typeface="IBM Plex Sans"/>
              </a:rPr>
              <a:t>ENTSCHEIDUNG</a:t>
            </a:r>
          </a:p>
        </p:txBody>
      </p:sp>
      <p:sp>
        <p:nvSpPr>
          <p:cNvPr id="19" name="TextBox 18"/>
          <p:cNvSpPr txBox="1"/>
          <p:nvPr/>
        </p:nvSpPr>
        <p:spPr>
          <a:xfrm>
            <a:off x="3609975" y="2219325"/>
            <a:ext cx="2286000" cy="226219"/>
          </a:xfrm>
          <a:prstGeom prst="rect">
            <a:avLst/>
          </a:prstGeom>
          <a:noFill/>
        </p:spPr>
        <p:txBody>
          <a:bodyPr wrap="square" lIns="0" rIns="0" tIns="0" bIns="0" anchor="t">
            <a:noAutofit/>
          </a:bodyPr>
          <a:lstStyle/>
          <a:p>
            <a:pPr algn="l">
              <a:lnSpc>
                <a:spcPts val="1781"/>
              </a:lnSpc>
            </a:pPr>
            <a:r>
              <a:rPr sz="1425" b="1" i="0" lang="de-DE">
                <a:solidFill>
                  <a:srgbClr val="FFFFFF"/>
                </a:solidFill>
                <a:latin typeface="IBM Plex Sans"/>
              </a:rPr>
              <a:t>q99 ist eine Pilotannahme</a:t>
            </a:r>
          </a:p>
        </p:txBody>
      </p:sp>
      <p:sp>
        <p:nvSpPr>
          <p:cNvPr id="20" name="TextBox 19"/>
          <p:cNvSpPr txBox="1"/>
          <p:nvPr/>
        </p:nvSpPr>
        <p:spPr>
          <a:xfrm>
            <a:off x="3609975" y="2597944"/>
            <a:ext cx="2286000" cy="2381250"/>
          </a:xfrm>
          <a:prstGeom prst="rect">
            <a:avLst/>
          </a:prstGeom>
          <a:noFill/>
        </p:spPr>
        <p:txBody>
          <a:bodyPr wrap="square" lIns="0" rIns="0" tIns="0" bIns="0" anchor="t">
            <a:noAutofit/>
          </a:bodyPr>
          <a:lstStyle/>
          <a:p>
            <a:pPr algn="l" marL="171450" indent="-171450">
              <a:lnSpc>
                <a:spcPts val="1631"/>
              </a:lnSpc>
              <a:buChar char="•"/>
            </a:pPr>
            <a:r>
              <a:rPr sz="1125" b="0" i="0" lang="de-DE">
                <a:solidFill>
                  <a:srgbClr val="BBD7EA"/>
                </a:solidFill>
                <a:latin typeface="IBM Plex Sans"/>
              </a:rPr>
              <a:t>9,5 Hinweise pro Monat, 114 im Jahr 2025</a:t>
            </a:r>
          </a:p>
          <a:p>
            <a:pPr algn="l" marL="171450" indent="-171450">
              <a:lnSpc>
                <a:spcPts val="1631"/>
              </a:lnSpc>
              <a:spcBef>
                <a:spcPts val="300"/>
              </a:spcBef>
              <a:buChar char="•"/>
            </a:pPr>
            <a:r>
              <a:rPr sz="1125" b="0" i="0" lang="de-DE">
                <a:solidFill>
                  <a:srgbClr val="BBD7EA"/>
                </a:solidFill>
                <a:latin typeface="IBM Plex Sans"/>
              </a:rPr>
              <a:t>Per Regler verschiebbar, ohne Retraining</a:t>
            </a:r>
          </a:p>
          <a:p>
            <a:pPr algn="l" marL="171450" indent="-171450">
              <a:lnSpc>
                <a:spcPts val="1631"/>
              </a:lnSpc>
              <a:spcBef>
                <a:spcPts val="300"/>
              </a:spcBef>
              <a:buChar char="•"/>
            </a:pPr>
            <a:r>
              <a:rPr sz="1125" b="0" i="0" lang="de-DE">
                <a:solidFill>
                  <a:srgbClr val="BBD7EA"/>
                </a:solidFill>
                <a:latin typeface="IBM Plex Sans"/>
              </a:rPr>
              <a:t>Fachbereich legt die Kapazität fest</a:t>
            </a:r>
          </a:p>
        </p:txBody>
      </p:sp>
      <p:sp>
        <p:nvSpPr>
          <p:cNvPr id="21" name="Rounded Rectangle 20"/>
          <p:cNvSpPr/>
          <p:nvPr/>
        </p:nvSpPr>
        <p:spPr>
          <a:xfrm>
            <a:off x="6172200" y="1362075"/>
            <a:ext cx="2590800" cy="3918585"/>
          </a:xfrm>
          <a:prstGeom prst="roundRect">
            <a:avLst>
              <a:gd name="adj" fmla="val 3676"/>
            </a:avLst>
          </a:prstGeom>
          <a:solidFill>
            <a:srgbClr val="174465"/>
          </a:solidFill>
          <a:ln w="9525">
            <a:solidFill>
              <a:srgbClr val="2E5674"/>
            </a:solidFill>
          </a:ln>
          <a:effectLst/>
        </p:spPr>
        <p:txBody>
          <a:bodyPr rtlCol="0" anchor="ctr"/>
          <a:lstStyle/>
          <a:p>
            <a:pPr algn="ctr"/>
          </a:p>
        </p:txBody>
      </p:sp>
      <p:grpSp>
        <p:nvGrpSpPr>
          <p:cNvPr id="22" name="Scheibe circle-help"/>
          <p:cNvGrpSpPr/>
          <p:nvPr/>
        </p:nvGrpSpPr>
        <p:grpSpPr>
          <a:xfrm>
            <a:off x="6353175" y="1543050"/>
            <a:ext cx="304800" cy="304800"/>
            <a:chOff x="6353175" y="1543050"/>
            <a:chExt cx="304800" cy="304800"/>
          </a:xfrm>
        </p:grpSpPr>
        <p:sp>
          <p:nvSpPr>
            <p:cNvPr id="23" name="Oval 22"/>
            <p:cNvSpPr/>
            <p:nvPr/>
          </p:nvSpPr>
          <p:spPr>
            <a:xfrm>
              <a:off x="6353175" y="1543050"/>
              <a:ext cx="304800" cy="304800"/>
            </a:xfrm>
            <a:prstGeom prst="ellipse">
              <a:avLst/>
            </a:prstGeom>
            <a:solidFill>
              <a:srgbClr val="6CC0D2"/>
            </a:solidFill>
            <a:ln>
              <a:noFill/>
            </a:ln>
            <a:effectLst/>
          </p:spPr>
          <p:txBody>
            <a:bodyPr rtlCol="0" anchor="ctr"/>
            <a:lstStyle/>
            <a:p>
              <a:pPr algn="ctr"/>
            </a:p>
          </p:txBody>
        </p:sp>
        <p:pic>
          <p:nvPicPr>
            <p:cNvPr id="24" name="Picture 23" descr="circle-help__04263F.png"/>
            <p:cNvPicPr>
              <a:picLocks noChangeAspect="1"/>
            </p:cNvPicPr>
            <p:nvPr/>
          </p:nvPicPr>
          <p:blipFill>
            <a:blip r:embed="rId6"/>
            <a:stretch>
              <a:fillRect/>
            </a:stretch>
          </p:blipFill>
          <p:spPr>
            <a:xfrm>
              <a:off x="6426327" y="1616202"/>
              <a:ext cx="158496" cy="158496"/>
            </a:xfrm>
            <a:prstGeom prst="rect">
              <a:avLst/>
            </a:prstGeom>
          </p:spPr>
        </p:pic>
      </p:grpSp>
      <p:sp>
        <p:nvSpPr>
          <p:cNvPr id="25" name="TextBox 24"/>
          <p:cNvSpPr txBox="1"/>
          <p:nvPr/>
        </p:nvSpPr>
        <p:spPr>
          <a:xfrm>
            <a:off x="6353175" y="1981200"/>
            <a:ext cx="2451735" cy="161925"/>
          </a:xfrm>
          <a:prstGeom prst="rect">
            <a:avLst/>
          </a:prstGeom>
          <a:noFill/>
        </p:spPr>
        <p:txBody>
          <a:bodyPr wrap="none" lIns="0" rIns="0" tIns="0" bIns="0" anchor="t">
            <a:noAutofit/>
          </a:bodyPr>
          <a:lstStyle/>
          <a:p>
            <a:pPr algn="l">
              <a:lnSpc>
                <a:spcPts val="1275"/>
              </a:lnSpc>
            </a:pPr>
            <a:r>
              <a:rPr sz="975" b="1" i="0" lang="de-DE" spc="78">
                <a:solidFill>
                  <a:srgbClr val="6CC0D2"/>
                </a:solidFill>
                <a:latin typeface="IBM Plex Sans"/>
              </a:rPr>
              <a:t>OFFEN</a:t>
            </a:r>
          </a:p>
        </p:txBody>
      </p:sp>
      <p:sp>
        <p:nvSpPr>
          <p:cNvPr id="26" name="TextBox 25"/>
          <p:cNvSpPr txBox="1"/>
          <p:nvPr/>
        </p:nvSpPr>
        <p:spPr>
          <a:xfrm>
            <a:off x="6353175" y="2219325"/>
            <a:ext cx="2286000" cy="226219"/>
          </a:xfrm>
          <a:prstGeom prst="rect">
            <a:avLst/>
          </a:prstGeom>
          <a:noFill/>
        </p:spPr>
        <p:txBody>
          <a:bodyPr wrap="square" lIns="0" rIns="0" tIns="0" bIns="0" anchor="t">
            <a:noAutofit/>
          </a:bodyPr>
          <a:lstStyle/>
          <a:p>
            <a:pPr algn="l">
              <a:lnSpc>
                <a:spcPts val="1781"/>
              </a:lnSpc>
            </a:pPr>
            <a:r>
              <a:rPr sz="1425" b="1" i="0" lang="de-DE">
                <a:solidFill>
                  <a:srgbClr val="FFFFFF"/>
                </a:solidFill>
                <a:latin typeface="IBM Plex Sans"/>
              </a:rPr>
              <a:t>Keine Precision und Recall</a:t>
            </a:r>
          </a:p>
        </p:txBody>
      </p:sp>
      <p:sp>
        <p:nvSpPr>
          <p:cNvPr id="27" name="TextBox 26"/>
          <p:cNvSpPr txBox="1"/>
          <p:nvPr/>
        </p:nvSpPr>
        <p:spPr>
          <a:xfrm>
            <a:off x="6353175" y="2597944"/>
            <a:ext cx="2286000" cy="2381250"/>
          </a:xfrm>
          <a:prstGeom prst="rect">
            <a:avLst/>
          </a:prstGeom>
          <a:noFill/>
        </p:spPr>
        <p:txBody>
          <a:bodyPr wrap="square" lIns="0" rIns="0" tIns="0" bIns="0" anchor="t">
            <a:noAutofit/>
          </a:bodyPr>
          <a:lstStyle/>
          <a:p>
            <a:pPr algn="l" marL="171450" indent="-171450">
              <a:lnSpc>
                <a:spcPts val="1631"/>
              </a:lnSpc>
              <a:buChar char="•"/>
            </a:pPr>
            <a:r>
              <a:rPr sz="1125" b="0" i="0" lang="de-DE">
                <a:solidFill>
                  <a:srgbClr val="BBD7EA"/>
                </a:solidFill>
                <a:latin typeface="IBM Plex Sans"/>
              </a:rPr>
              <a:t>Prüfhinweis ≠ bestätigte Anomalie</a:t>
            </a:r>
          </a:p>
          <a:p>
            <a:pPr algn="l" marL="171450" indent="-171450">
              <a:lnSpc>
                <a:spcPts val="1631"/>
              </a:lnSpc>
              <a:spcBef>
                <a:spcPts val="300"/>
              </a:spcBef>
              <a:buChar char="•"/>
            </a:pPr>
            <a:r>
              <a:rPr sz="1125" b="0" i="0" lang="de-DE">
                <a:solidFill>
                  <a:srgbClr val="BBD7EA"/>
                </a:solidFill>
                <a:latin typeface="IBM Plex Sans"/>
              </a:rPr>
              <a:t>2025 ist retrospektiv, kein Blindtest</a:t>
            </a:r>
          </a:p>
          <a:p>
            <a:pPr algn="l" marL="171450" indent="-171450">
              <a:lnSpc>
                <a:spcPts val="1631"/>
              </a:lnSpc>
              <a:spcBef>
                <a:spcPts val="300"/>
              </a:spcBef>
              <a:buChar char="•"/>
            </a:pPr>
            <a:r>
              <a:rPr sz="1125" b="0" i="0" lang="de-DE">
                <a:solidFill>
                  <a:srgbClr val="BBD7EA"/>
                </a:solidFill>
                <a:latin typeface="IBM Plex Sans"/>
              </a:rPr>
              <a:t>Pilot mit Bewertungen und Stichprobe liefert die Evidenz</a:t>
            </a:r>
          </a:p>
        </p:txBody>
      </p:sp>
      <p:sp>
        <p:nvSpPr>
          <p:cNvPr id="28" name="Rounded Rectangle 27"/>
          <p:cNvSpPr/>
          <p:nvPr/>
        </p:nvSpPr>
        <p:spPr>
          <a:xfrm>
            <a:off x="8915400" y="1362075"/>
            <a:ext cx="2590800" cy="3918585"/>
          </a:xfrm>
          <a:prstGeom prst="roundRect">
            <a:avLst>
              <a:gd name="adj" fmla="val 3676"/>
            </a:avLst>
          </a:prstGeom>
          <a:solidFill>
            <a:srgbClr val="174465"/>
          </a:solidFill>
          <a:ln w="9525">
            <a:solidFill>
              <a:srgbClr val="2E5674"/>
            </a:solidFill>
          </a:ln>
          <a:effectLst/>
        </p:spPr>
        <p:txBody>
          <a:bodyPr rtlCol="0" anchor="ctr"/>
          <a:lstStyle/>
          <a:p>
            <a:pPr algn="ctr"/>
          </a:p>
        </p:txBody>
      </p:sp>
      <p:grpSp>
        <p:nvGrpSpPr>
          <p:cNvPr id="29" name="Scheibe shield-check"/>
          <p:cNvGrpSpPr/>
          <p:nvPr/>
        </p:nvGrpSpPr>
        <p:grpSpPr>
          <a:xfrm>
            <a:off x="9096375" y="1543050"/>
            <a:ext cx="304800" cy="304800"/>
            <a:chOff x="9096375" y="1543050"/>
            <a:chExt cx="304800" cy="304800"/>
          </a:xfrm>
        </p:grpSpPr>
        <p:sp>
          <p:nvSpPr>
            <p:cNvPr id="30" name="Oval 29"/>
            <p:cNvSpPr/>
            <p:nvPr/>
          </p:nvSpPr>
          <p:spPr>
            <a:xfrm>
              <a:off x="9096375" y="1543050"/>
              <a:ext cx="304800" cy="304800"/>
            </a:xfrm>
            <a:prstGeom prst="ellipse">
              <a:avLst/>
            </a:prstGeom>
            <a:solidFill>
              <a:srgbClr val="6CC0D2"/>
            </a:solidFill>
            <a:ln>
              <a:noFill/>
            </a:ln>
            <a:effectLst/>
          </p:spPr>
          <p:txBody>
            <a:bodyPr rtlCol="0" anchor="ctr"/>
            <a:lstStyle/>
            <a:p>
              <a:pPr algn="ctr"/>
            </a:p>
          </p:txBody>
        </p:sp>
        <p:pic>
          <p:nvPicPr>
            <p:cNvPr id="31" name="Picture 30" descr="shield-check__04263F.png"/>
            <p:cNvPicPr>
              <a:picLocks noChangeAspect="1"/>
            </p:cNvPicPr>
            <p:nvPr/>
          </p:nvPicPr>
          <p:blipFill>
            <a:blip r:embed="rId3"/>
            <a:stretch>
              <a:fillRect/>
            </a:stretch>
          </p:blipFill>
          <p:spPr>
            <a:xfrm>
              <a:off x="9169527" y="1616202"/>
              <a:ext cx="158496" cy="158496"/>
            </a:xfrm>
            <a:prstGeom prst="rect">
              <a:avLst/>
            </a:prstGeom>
          </p:spPr>
        </p:pic>
      </p:grpSp>
      <p:sp>
        <p:nvSpPr>
          <p:cNvPr id="32" name="TextBox 31"/>
          <p:cNvSpPr txBox="1"/>
          <p:nvPr/>
        </p:nvSpPr>
        <p:spPr>
          <a:xfrm>
            <a:off x="9096375" y="1981200"/>
            <a:ext cx="2451735" cy="161925"/>
          </a:xfrm>
          <a:prstGeom prst="rect">
            <a:avLst/>
          </a:prstGeom>
          <a:noFill/>
        </p:spPr>
        <p:txBody>
          <a:bodyPr wrap="none" lIns="0" rIns="0" tIns="0" bIns="0" anchor="t">
            <a:noAutofit/>
          </a:bodyPr>
          <a:lstStyle/>
          <a:p>
            <a:pPr algn="l">
              <a:lnSpc>
                <a:spcPts val="1275"/>
              </a:lnSpc>
            </a:pPr>
            <a:r>
              <a:rPr sz="975" b="1" i="0" lang="de-DE" spc="78">
                <a:solidFill>
                  <a:srgbClr val="6CC0D2"/>
                </a:solidFill>
                <a:latin typeface="IBM Plex Sans"/>
              </a:rPr>
              <a:t>VERANTWORTUNG</a:t>
            </a:r>
          </a:p>
        </p:txBody>
      </p:sp>
      <p:sp>
        <p:nvSpPr>
          <p:cNvPr id="33" name="TextBox 32"/>
          <p:cNvSpPr txBox="1"/>
          <p:nvPr/>
        </p:nvSpPr>
        <p:spPr>
          <a:xfrm>
            <a:off x="9096375" y="2219325"/>
            <a:ext cx="2286000" cy="226219"/>
          </a:xfrm>
          <a:prstGeom prst="rect">
            <a:avLst/>
          </a:prstGeom>
          <a:noFill/>
        </p:spPr>
        <p:txBody>
          <a:bodyPr wrap="square" lIns="0" rIns="0" tIns="0" bIns="0" anchor="t">
            <a:noAutofit/>
          </a:bodyPr>
          <a:lstStyle/>
          <a:p>
            <a:pPr algn="l">
              <a:lnSpc>
                <a:spcPts val="1781"/>
              </a:lnSpc>
            </a:pPr>
            <a:r>
              <a:rPr sz="1425" b="1" i="0" lang="de-DE">
                <a:solidFill>
                  <a:srgbClr val="FFFFFF"/>
                </a:solidFill>
                <a:latin typeface="IBM Plex Sans"/>
              </a:rPr>
              <a:t>Der Mensch entscheidet</a:t>
            </a:r>
          </a:p>
        </p:txBody>
      </p:sp>
      <p:sp>
        <p:nvSpPr>
          <p:cNvPr id="34" name="TextBox 33"/>
          <p:cNvSpPr txBox="1"/>
          <p:nvPr/>
        </p:nvSpPr>
        <p:spPr>
          <a:xfrm>
            <a:off x="9096375" y="2597944"/>
            <a:ext cx="2286000" cy="2381250"/>
          </a:xfrm>
          <a:prstGeom prst="rect">
            <a:avLst/>
          </a:prstGeom>
          <a:noFill/>
        </p:spPr>
        <p:txBody>
          <a:bodyPr wrap="square" lIns="0" rIns="0" tIns="0" bIns="0" anchor="t">
            <a:noAutofit/>
          </a:bodyPr>
          <a:lstStyle/>
          <a:p>
            <a:pPr algn="l" marL="171450" indent="-171450">
              <a:lnSpc>
                <a:spcPts val="1631"/>
              </a:lnSpc>
              <a:buChar char="•"/>
            </a:pPr>
            <a:r>
              <a:rPr sz="1125" b="0" i="0" lang="de-DE">
                <a:solidFill>
                  <a:srgbClr val="BBD7EA"/>
                </a:solidFill>
                <a:latin typeface="IBM Plex Sans"/>
              </a:rPr>
              <a:t>Kundentypen Gewerbe, Industrie, Kommunal</a:t>
            </a:r>
          </a:p>
          <a:p>
            <a:pPr algn="l" marL="171450" indent="-171450">
              <a:lnSpc>
                <a:spcPts val="1631"/>
              </a:lnSpc>
              <a:spcBef>
                <a:spcPts val="300"/>
              </a:spcBef>
              <a:buChar char="•"/>
            </a:pPr>
            <a:r>
              <a:rPr sz="1125" b="0" i="0" lang="de-DE">
                <a:solidFill>
                  <a:srgbClr val="BBD7EA"/>
                </a:solidFill>
                <a:latin typeface="IBM Plex Sans"/>
              </a:rPr>
              <a:t>Bewertungen im Prototyp nur lokal</a:t>
            </a:r>
          </a:p>
          <a:p>
            <a:pPr algn="l" marL="171450" indent="-171450">
              <a:lnSpc>
                <a:spcPts val="1631"/>
              </a:lnSpc>
              <a:spcBef>
                <a:spcPts val="300"/>
              </a:spcBef>
              <a:buChar char="•"/>
            </a:pPr>
            <a:r>
              <a:rPr sz="1125" b="0" i="0" lang="de-DE">
                <a:solidFill>
                  <a:srgbClr val="BBD7EA"/>
                </a:solidFill>
                <a:latin typeface="IBM Plex Sans"/>
              </a:rPr>
              <a:t>Hinweisquote je Kundentyp im Pilot beobachten</a:t>
            </a:r>
          </a:p>
        </p:txBody>
      </p:sp>
      <p:sp>
        <p:nvSpPr>
          <p:cNvPr id="35" name="Rounded Rectangle 34"/>
          <p:cNvSpPr/>
          <p:nvPr/>
        </p:nvSpPr>
        <p:spPr>
          <a:xfrm>
            <a:off x="685800" y="5394960"/>
            <a:ext cx="10820400" cy="691515"/>
          </a:xfrm>
          <a:prstGeom prst="roundRect">
            <a:avLst>
              <a:gd name="adj" fmla="val 13774"/>
            </a:avLst>
          </a:prstGeom>
          <a:solidFill>
            <a:srgbClr val="174465"/>
          </a:solidFill>
          <a:ln w="9525">
            <a:solidFill>
              <a:srgbClr val="2E5674"/>
            </a:solidFill>
          </a:ln>
          <a:effectLst/>
        </p:spPr>
        <p:txBody>
          <a:bodyPr rtlCol="0" anchor="ctr"/>
          <a:lstStyle/>
          <a:p>
            <a:pPr algn="ctr"/>
          </a:p>
        </p:txBody>
      </p:sp>
      <p:grpSp>
        <p:nvGrpSpPr>
          <p:cNvPr id="36" name="Scheibe lightbulb"/>
          <p:cNvGrpSpPr/>
          <p:nvPr/>
        </p:nvGrpSpPr>
        <p:grpSpPr>
          <a:xfrm>
            <a:off x="809625" y="5597842"/>
            <a:ext cx="285750" cy="285750"/>
            <a:chOff x="809625" y="5597842"/>
            <a:chExt cx="285750" cy="285750"/>
          </a:xfrm>
        </p:grpSpPr>
        <p:sp>
          <p:nvSpPr>
            <p:cNvPr id="37" name="Oval 36"/>
            <p:cNvSpPr/>
            <p:nvPr/>
          </p:nvSpPr>
          <p:spPr>
            <a:xfrm>
              <a:off x="809625" y="5597842"/>
              <a:ext cx="285750" cy="285750"/>
            </a:xfrm>
            <a:prstGeom prst="ellipse">
              <a:avLst/>
            </a:prstGeom>
            <a:solidFill>
              <a:srgbClr val="C77E11"/>
            </a:solidFill>
            <a:ln>
              <a:noFill/>
            </a:ln>
            <a:effectLst/>
          </p:spPr>
          <p:txBody>
            <a:bodyPr rtlCol="0" anchor="ctr"/>
            <a:lstStyle/>
            <a:p>
              <a:pPr algn="ctr"/>
            </a:p>
          </p:txBody>
        </p:sp>
        <p:pic>
          <p:nvPicPr>
            <p:cNvPr id="38" name="Picture 37" descr="lightbulb__04263F.png"/>
            <p:cNvPicPr>
              <a:picLocks noChangeAspect="1"/>
            </p:cNvPicPr>
            <p:nvPr/>
          </p:nvPicPr>
          <p:blipFill>
            <a:blip r:embed="rId7"/>
            <a:stretch>
              <a:fillRect/>
            </a:stretch>
          </p:blipFill>
          <p:spPr>
            <a:xfrm>
              <a:off x="878205" y="5666422"/>
              <a:ext cx="148590" cy="148590"/>
            </a:xfrm>
            <a:prstGeom prst="rect">
              <a:avLst/>
            </a:prstGeom>
          </p:spPr>
        </p:pic>
      </p:grpSp>
      <p:sp>
        <p:nvSpPr>
          <p:cNvPr id="39" name="Merksatz"/>
          <p:cNvSpPr txBox="1"/>
          <p:nvPr/>
        </p:nvSpPr>
        <p:spPr>
          <a:xfrm>
            <a:off x="1228725" y="5394960"/>
            <a:ext cx="10086975" cy="691515"/>
          </a:xfrm>
          <a:prstGeom prst="rect">
            <a:avLst/>
          </a:prstGeom>
          <a:noFill/>
        </p:spPr>
        <p:txBody>
          <a:bodyPr wrap="square" lIns="0" rIns="0" tIns="0" bIns="0" anchor="ctr">
            <a:noAutofit/>
          </a:bodyPr>
          <a:lstStyle/>
          <a:p>
            <a:pPr algn="l">
              <a:lnSpc>
                <a:spcPts val="1822"/>
              </a:lnSpc>
            </a:pPr>
            <a:r>
              <a:rPr sz="1350" b="0" i="0" lang="de-DE">
                <a:solidFill>
                  <a:srgbClr val="FFFFFF"/>
                </a:solidFill>
                <a:latin typeface="IBM Plex Sans"/>
              </a:rPr>
              <a:t>Verfügbarkeit: Die Heizgradtage stehen vereinfachend für die Wetterprognose. Im Betrieb Prognose- und Planversionen zum Stichtag speichern.</a:t>
            </a:r>
          </a:p>
        </p:txBody>
      </p:sp>
      <p:cxnSp>
        <p:nvCxnSpPr>
          <p:cNvPr id="40" name="Fußlinie"/>
          <p:cNvCxnSpPr/>
          <p:nvPr/>
        </p:nvCxnSpPr>
        <p:spPr>
          <a:xfrm>
            <a:off x="0" y="6219825"/>
            <a:ext cx="12192000" cy="0"/>
          </a:xfrm>
          <a:prstGeom prst="line">
            <a:avLst/>
          </a:prstGeom>
          <a:ln w="9525">
            <a:solidFill>
              <a:srgbClr val="2E5674"/>
            </a:solidFill>
          </a:ln>
        </p:spPr>
        <p:style>
          <a:lnRef idx="2">
            <a:schemeClr val="accent1"/>
          </a:lnRef>
          <a:fillRef idx="0">
            <a:schemeClr val="accent1"/>
          </a:fillRef>
          <a:effectRef idx="1">
            <a:schemeClr val="accent1"/>
          </a:effectRef>
          <a:fontRef idx="minor">
            <a:schemeClr val="tx1"/>
          </a:fontRef>
        </p:style>
      </p:cxnSp>
      <p:sp>
        <p:nvSpPr>
          <p:cNvPr id="41" name="Logo-Grund"/>
          <p:cNvSpPr/>
          <p:nvPr/>
        </p:nvSpPr>
        <p:spPr>
          <a:xfrm>
            <a:off x="685800" y="6400800"/>
            <a:ext cx="609600" cy="247650"/>
          </a:xfrm>
          <a:prstGeom prst="roundRect">
            <a:avLst>
              <a:gd name="adj" fmla="val 15384"/>
            </a:avLst>
          </a:prstGeom>
          <a:solidFill>
            <a:srgbClr val="FFFFFF"/>
          </a:solidFill>
          <a:ln>
            <a:noFill/>
          </a:ln>
          <a:effectLst/>
        </p:spPr>
        <p:txBody>
          <a:bodyPr rtlCol="0" anchor="ctr"/>
          <a:lstStyle/>
          <a:p>
            <a:pPr algn="ctr"/>
          </a:p>
        </p:txBody>
      </p:sp>
      <p:pic>
        <p:nvPicPr>
          <p:cNvPr id="42" name="Logo" descr="image.png"/>
          <p:cNvPicPr>
            <a:picLocks noChangeAspect="1"/>
          </p:cNvPicPr>
          <p:nvPr/>
        </p:nvPicPr>
        <p:blipFill>
          <a:blip r:embed="rId8"/>
          <a:stretch>
            <a:fillRect/>
          </a:stretch>
        </p:blipFill>
        <p:spPr>
          <a:xfrm>
            <a:off x="742950" y="6438900"/>
            <a:ext cx="495598" cy="171450"/>
          </a:xfrm>
          <a:prstGeom prst="rect">
            <a:avLst/>
          </a:prstGeom>
        </p:spPr>
      </p:pic>
      <p:sp>
        <p:nvSpPr>
          <p:cNvPr id="43" name="TextBox 42"/>
          <p:cNvSpPr txBox="1"/>
          <p:nvPr/>
        </p:nvSpPr>
        <p:spPr>
          <a:xfrm>
            <a:off x="1447800" y="6429375"/>
            <a:ext cx="2891790" cy="190500"/>
          </a:xfrm>
          <a:prstGeom prst="rect">
            <a:avLst/>
          </a:prstGeom>
          <a:noFill/>
        </p:spPr>
        <p:txBody>
          <a:bodyPr wrap="none" lIns="0" rIns="0" tIns="0" bIns="0" anchor="t">
            <a:noAutofit/>
          </a:bodyPr>
          <a:lstStyle/>
          <a:p>
            <a:pPr algn="l">
              <a:lnSpc>
                <a:spcPts val="1500"/>
              </a:lnSpc>
            </a:pPr>
            <a:r>
              <a:rPr sz="1200" b="0" i="0" lang="de-DE">
                <a:solidFill>
                  <a:srgbClr val="7FB4D8"/>
                </a:solidFill>
                <a:latin typeface="IBM Plex Sans"/>
              </a:rPr>
              <a:t>Verbrauchsprognose &amp; Frühwarnung</a:t>
            </a:r>
          </a:p>
        </p:txBody>
      </p:sp>
      <p:sp>
        <p:nvSpPr>
          <p:cNvPr id="44" name="TextBox 43"/>
          <p:cNvSpPr txBox="1"/>
          <p:nvPr/>
        </p:nvSpPr>
        <p:spPr>
          <a:xfrm>
            <a:off x="9486900" y="6429375"/>
            <a:ext cx="1257300" cy="190500"/>
          </a:xfrm>
          <a:prstGeom prst="rect">
            <a:avLst/>
          </a:prstGeom>
          <a:noFill/>
        </p:spPr>
        <p:txBody>
          <a:bodyPr wrap="none" lIns="0" rIns="0" tIns="0" bIns="0" anchor="t">
            <a:noAutofit/>
          </a:bodyPr>
          <a:lstStyle/>
          <a:p>
            <a:pPr algn="r">
              <a:lnSpc>
                <a:spcPts val="1500"/>
              </a:lnSpc>
            </a:pPr>
            <a:r>
              <a:rPr sz="1200" b="1" i="0" lang="de-DE">
                <a:solidFill>
                  <a:srgbClr val="BBD7EA"/>
                </a:solidFill>
                <a:latin typeface="IBM Plex Sans"/>
              </a:rPr>
              <a:t>Kiko</a:t>
            </a:r>
          </a:p>
        </p:txBody>
      </p:sp>
      <p:sp>
        <p:nvSpPr>
          <p:cNvPr id="45" name="Seitenzahl"/>
          <p:cNvSpPr txBox="1"/>
          <p:nvPr/>
        </p:nvSpPr>
        <p:spPr>
          <a:xfrm>
            <a:off x="10835640" y="6424612"/>
            <a:ext cx="670560" cy="200025"/>
          </a:xfrm>
          <a:prstGeom prst="rect">
            <a:avLst/>
          </a:prstGeom>
          <a:noFill/>
        </p:spPr>
        <p:txBody>
          <a:bodyPr wrap="none" lIns="0" rIns="0" tIns="0" bIns="0" anchor="t">
            <a:noAutofit/>
          </a:bodyPr>
          <a:lstStyle/>
          <a:p>
            <a:pPr algn="r">
              <a:lnSpc>
                <a:spcPts val="1575"/>
              </a:lnSpc>
            </a:pPr>
            <a:r>
              <a:rPr sz="1200" b="0" i="0" lang="de-DE">
                <a:solidFill>
                  <a:srgbClr val="7FB4D8"/>
                </a:solidFill>
                <a:latin typeface="Geist Mono"/>
              </a:rPr>
              <a:t>B5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Leitfrage-Scheibe"/>
          <p:cNvGrpSpPr/>
          <p:nvPr/>
        </p:nvGrpSpPr>
        <p:grpSpPr>
          <a:xfrm>
            <a:off x="685800" y="361950"/>
            <a:ext cx="304800" cy="304800"/>
            <a:chOff x="685800" y="361950"/>
            <a:chExt cx="304800" cy="304800"/>
          </a:xfrm>
        </p:grpSpPr>
        <p:sp>
          <p:nvSpPr>
            <p:cNvPr id="3" name="Oval 2"/>
            <p:cNvSpPr/>
            <p:nvPr/>
          </p:nvSpPr>
          <p:spPr>
            <a:xfrm>
              <a:off x="685800" y="361950"/>
              <a:ext cx="304800" cy="304800"/>
            </a:xfrm>
            <a:prstGeom prst="ellipse">
              <a:avLst/>
            </a:prstGeom>
            <a:solidFill>
              <a:srgbClr val="00718E"/>
            </a:solidFill>
            <a:ln>
              <a:noFill/>
            </a:ln>
            <a:effectLst/>
          </p:spPr>
          <p:txBody>
            <a:bodyPr rtlCol="0" anchor="ctr"/>
            <a:lstStyle/>
            <a:p>
              <a:pPr algn="ctr"/>
            </a:p>
          </p:txBody>
        </p:sp>
        <p:pic>
          <p:nvPicPr>
            <p:cNvPr id="4" name="Picture 3" descr="clipboard-list__FFFFFF.png"/>
            <p:cNvPicPr>
              <a:picLocks noChangeAspect="1"/>
            </p:cNvPicPr>
            <p:nvPr/>
          </p:nvPicPr>
          <p:blipFill>
            <a:blip r:embed="rId3"/>
            <a:stretch>
              <a:fillRect/>
            </a:stretch>
          </p:blipFill>
          <p:spPr>
            <a:xfrm>
              <a:off x="758952" y="435102"/>
              <a:ext cx="158496" cy="158496"/>
            </a:xfrm>
            <a:prstGeom prst="rect">
              <a:avLst/>
            </a:prstGeom>
          </p:spPr>
        </p:pic>
      </p:grpSp>
      <p:sp>
        <p:nvSpPr>
          <p:cNvPr id="5" name="Leitfrage"/>
          <p:cNvSpPr txBox="1"/>
          <p:nvPr/>
        </p:nvSpPr>
        <p:spPr>
          <a:xfrm>
            <a:off x="1104900" y="385762"/>
            <a:ext cx="7334250" cy="257175"/>
          </a:xfrm>
          <a:prstGeom prst="rect">
            <a:avLst/>
          </a:prstGeom>
          <a:noFill/>
        </p:spPr>
        <p:txBody>
          <a:bodyPr wrap="none" lIns="0" rIns="0" tIns="0" bIns="0" anchor="t">
            <a:noAutofit/>
          </a:bodyPr>
          <a:lstStyle/>
          <a:p>
            <a:pPr algn="l">
              <a:lnSpc>
                <a:spcPts val="2025"/>
              </a:lnSpc>
            </a:pPr>
            <a:r>
              <a:rPr sz="1500" b="0" i="0" lang="de-DE">
                <a:solidFill>
                  <a:srgbClr val="00718E"/>
                </a:solidFill>
                <a:latin typeface="IBM Plex Sans"/>
              </a:rPr>
              <a:t>Was kostet der Betrieb, solange Euro fehlen?</a:t>
            </a:r>
          </a:p>
        </p:txBody>
      </p:sp>
      <p:sp>
        <p:nvSpPr>
          <p:cNvPr id="6" name="Titel"/>
          <p:cNvSpPr txBox="1"/>
          <p:nvPr/>
        </p:nvSpPr>
        <p:spPr>
          <a:xfrm>
            <a:off x="685800" y="762000"/>
            <a:ext cx="10820400" cy="390525"/>
          </a:xfrm>
          <a:prstGeom prst="rect">
            <a:avLst/>
          </a:prstGeom>
          <a:noFill/>
        </p:spPr>
        <p:txBody>
          <a:bodyPr wrap="square" lIns="0" rIns="0" tIns="0" bIns="0" anchor="t">
            <a:noAutofit/>
          </a:bodyPr>
          <a:lstStyle/>
          <a:p>
            <a:pPr algn="l">
              <a:lnSpc>
                <a:spcPts val="3075"/>
              </a:lnSpc>
            </a:pPr>
            <a:r>
              <a:rPr sz="2700" b="1" i="0" lang="de-DE" spc="-54">
                <a:solidFill>
                  <a:srgbClr val="141A21"/>
                </a:solidFill>
                <a:latin typeface="IBM Plex Sans"/>
              </a:rPr>
              <a:t>Prüfaufwand statt ROI: belegte Mengen, keine erfundenen Euro</a:t>
            </a:r>
          </a:p>
        </p:txBody>
      </p:sp>
      <p:sp>
        <p:nvSpPr>
          <p:cNvPr id="7" name="Rounded Rectangle 6"/>
          <p:cNvSpPr/>
          <p:nvPr/>
        </p:nvSpPr>
        <p:spPr>
          <a:xfrm>
            <a:off x="685800" y="1362075"/>
            <a:ext cx="5895022" cy="3727132"/>
          </a:xfrm>
          <a:prstGeom prst="roundRect">
            <a:avLst>
              <a:gd name="adj" fmla="val 2555"/>
            </a:avLst>
          </a:prstGeom>
          <a:solidFill>
            <a:srgbClr val="FFFFFF"/>
          </a:solidFill>
          <a:ln w="9525">
            <a:solidFill>
              <a:srgbClr val="D2DAE2"/>
            </a:solidFill>
          </a:ln>
          <a:effectLst/>
        </p:spPr>
        <p:txBody>
          <a:bodyPr rtlCol="0" anchor="ctr"/>
          <a:lstStyle/>
          <a:p>
            <a:pPr algn="ctr"/>
          </a:p>
        </p:txBody>
      </p:sp>
      <p:sp>
        <p:nvSpPr>
          <p:cNvPr id="8" name="TextBox 7"/>
          <p:cNvSpPr txBox="1"/>
          <p:nvPr/>
        </p:nvSpPr>
        <p:spPr>
          <a:xfrm>
            <a:off x="885825" y="1524000"/>
            <a:ext cx="3810000" cy="190500"/>
          </a:xfrm>
          <a:prstGeom prst="rect">
            <a:avLst/>
          </a:prstGeom>
          <a:noFill/>
        </p:spPr>
        <p:txBody>
          <a:bodyPr wrap="square" lIns="0" rIns="0" tIns="0" bIns="0" anchor="t">
            <a:noAutofit/>
          </a:bodyPr>
          <a:lstStyle/>
          <a:p>
            <a:pPr algn="l">
              <a:lnSpc>
                <a:spcPts val="1500"/>
              </a:lnSpc>
            </a:pPr>
            <a:r>
              <a:rPr sz="1200" b="1" i="0" lang="de-DE">
                <a:solidFill>
                  <a:srgbClr val="141A21"/>
                </a:solidFill>
                <a:latin typeface="IBM Plex Sans"/>
              </a:rPr>
              <a:t>Prüfhinweise je Monat 2025 </a:t>
            </a:r>
            <a:r>
              <a:rPr sz="1200" b="0" i="0" lang="de-DE">
                <a:solidFill>
                  <a:srgbClr val="657383"/>
                </a:solidFill>
                <a:latin typeface="IBM Plex Sans"/>
              </a:rPr>
              <a:t>(q99)</a:t>
            </a:r>
          </a:p>
        </p:txBody>
      </p:sp>
      <p:cxnSp>
        <p:nvCxnSpPr>
          <p:cNvPr id="9" name="Connector 8"/>
          <p:cNvCxnSpPr/>
          <p:nvPr/>
        </p:nvCxnSpPr>
        <p:spPr>
          <a:xfrm>
            <a:off x="5032820" y="1619250"/>
            <a:ext cx="247650" cy="0"/>
          </a:xfrm>
          <a:prstGeom prst="line">
            <a:avLst/>
          </a:prstGeom>
          <a:ln w="19050">
            <a:solidFill>
              <a:srgbClr val="A86505"/>
            </a:solidFill>
            <a:prstDash val="dash"/>
          </a:ln>
        </p:spPr>
        <p:style>
          <a:lnRef idx="2">
            <a:schemeClr val="accent1"/>
          </a:lnRef>
          <a:fillRef idx="0">
            <a:schemeClr val="accent1"/>
          </a:fillRef>
          <a:effectRef idx="1">
            <a:schemeClr val="accent1"/>
          </a:effectRef>
          <a:fontRef idx="minor">
            <a:schemeClr val="tx1"/>
          </a:fontRef>
        </p:style>
      </p:cxnSp>
      <p:sp>
        <p:nvSpPr>
          <p:cNvPr id="10" name="Ø-Linie Beschriftung"/>
          <p:cNvSpPr txBox="1"/>
          <p:nvPr/>
        </p:nvSpPr>
        <p:spPr>
          <a:xfrm>
            <a:off x="5212347" y="1524000"/>
            <a:ext cx="1168451" cy="190500"/>
          </a:xfrm>
          <a:prstGeom prst="rect">
            <a:avLst/>
          </a:prstGeom>
          <a:noFill/>
        </p:spPr>
        <p:txBody>
          <a:bodyPr wrap="none" lIns="0" rIns="0" tIns="0" bIns="0" anchor="t">
            <a:noAutofit/>
          </a:bodyPr>
          <a:lstStyle/>
          <a:p>
            <a:pPr algn="r">
              <a:lnSpc>
                <a:spcPts val="1500"/>
              </a:lnSpc>
            </a:pPr>
            <a:r>
              <a:rPr sz="1200" b="1" i="0" lang="de-DE">
                <a:solidFill>
                  <a:srgbClr val="7F4C03"/>
                </a:solidFill>
                <a:latin typeface="IBM Plex Sans"/>
              </a:rPr>
              <a:t>Ø 9,5 je Monat</a:t>
            </a:r>
          </a:p>
        </p:txBody>
      </p:sp>
      <p:sp>
        <p:nvSpPr>
          <p:cNvPr id="11" name="Rounded Rectangle 10"/>
          <p:cNvSpPr/>
          <p:nvPr/>
        </p:nvSpPr>
        <p:spPr>
          <a:xfrm>
            <a:off x="6790372" y="1362075"/>
            <a:ext cx="4715828" cy="895350"/>
          </a:xfrm>
          <a:prstGeom prst="roundRect">
            <a:avLst>
              <a:gd name="adj" fmla="val 10638"/>
            </a:avLst>
          </a:prstGeom>
          <a:solidFill>
            <a:srgbClr val="FFFFFF"/>
          </a:solidFill>
          <a:ln w="9525">
            <a:solidFill>
              <a:srgbClr val="D2DAE2"/>
            </a:solidFill>
          </a:ln>
          <a:effectLst/>
        </p:spPr>
        <p:txBody>
          <a:bodyPr rtlCol="0" anchor="ctr"/>
          <a:lstStyle/>
          <a:p>
            <a:pPr algn="ctr"/>
          </a:p>
        </p:txBody>
      </p:sp>
      <p:grpSp>
        <p:nvGrpSpPr>
          <p:cNvPr id="12" name="Scheibe scale"/>
          <p:cNvGrpSpPr/>
          <p:nvPr/>
        </p:nvGrpSpPr>
        <p:grpSpPr>
          <a:xfrm>
            <a:off x="6952298" y="1495425"/>
            <a:ext cx="323850" cy="323850"/>
            <a:chOff x="6952298" y="1495425"/>
            <a:chExt cx="323850" cy="323850"/>
          </a:xfrm>
        </p:grpSpPr>
        <p:sp>
          <p:nvSpPr>
            <p:cNvPr id="13" name="Oval 12"/>
            <p:cNvSpPr/>
            <p:nvPr/>
          </p:nvSpPr>
          <p:spPr>
            <a:xfrm>
              <a:off x="6952298" y="1495425"/>
              <a:ext cx="323850" cy="323850"/>
            </a:xfrm>
            <a:prstGeom prst="ellipse">
              <a:avLst/>
            </a:prstGeom>
            <a:solidFill>
              <a:srgbClr val="A86505"/>
            </a:solidFill>
            <a:ln>
              <a:noFill/>
            </a:ln>
            <a:effectLst/>
          </p:spPr>
          <p:txBody>
            <a:bodyPr rtlCol="0" anchor="ctr"/>
            <a:lstStyle/>
            <a:p>
              <a:pPr algn="ctr"/>
            </a:p>
          </p:txBody>
        </p:sp>
        <p:pic>
          <p:nvPicPr>
            <p:cNvPr id="14" name="Picture 13" descr="scale__FFFFFF.png"/>
            <p:cNvPicPr>
              <a:picLocks noChangeAspect="1"/>
            </p:cNvPicPr>
            <p:nvPr/>
          </p:nvPicPr>
          <p:blipFill>
            <a:blip r:embed="rId4"/>
            <a:stretch>
              <a:fillRect/>
            </a:stretch>
          </p:blipFill>
          <p:spPr>
            <a:xfrm>
              <a:off x="7030021" y="1573149"/>
              <a:ext cx="168402" cy="168402"/>
            </a:xfrm>
            <a:prstGeom prst="rect">
              <a:avLst/>
            </a:prstGeom>
          </p:spPr>
        </p:pic>
      </p:grpSp>
      <p:sp>
        <p:nvSpPr>
          <p:cNvPr id="15" name="TextBox 14"/>
          <p:cNvSpPr txBox="1"/>
          <p:nvPr/>
        </p:nvSpPr>
        <p:spPr>
          <a:xfrm>
            <a:off x="7409498" y="150495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Worst Case beim Aufwand</a:t>
            </a:r>
          </a:p>
        </p:txBody>
      </p:sp>
      <p:sp>
        <p:nvSpPr>
          <p:cNvPr id="16" name="TextBox 15"/>
          <p:cNvSpPr txBox="1"/>
          <p:nvPr/>
        </p:nvSpPr>
        <p:spPr>
          <a:xfrm>
            <a:off x="7409498" y="1724025"/>
            <a:ext cx="3934778"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q95 statt q99: 33,3 statt 9,5 Fälle im Monat, also 3,5-facher Prüfaufwand.</a:t>
            </a:r>
          </a:p>
        </p:txBody>
      </p:sp>
      <p:sp>
        <p:nvSpPr>
          <p:cNvPr id="17" name="Rounded Rectangle 16"/>
          <p:cNvSpPr/>
          <p:nvPr/>
        </p:nvSpPr>
        <p:spPr>
          <a:xfrm>
            <a:off x="6790372" y="2371725"/>
            <a:ext cx="4715828" cy="895350"/>
          </a:xfrm>
          <a:prstGeom prst="roundRect">
            <a:avLst>
              <a:gd name="adj" fmla="val 10638"/>
            </a:avLst>
          </a:prstGeom>
          <a:solidFill>
            <a:srgbClr val="FFFFFF"/>
          </a:solidFill>
          <a:ln w="9525">
            <a:solidFill>
              <a:srgbClr val="D2DAE2"/>
            </a:solidFill>
          </a:ln>
          <a:effectLst/>
        </p:spPr>
        <p:txBody>
          <a:bodyPr rtlCol="0" anchor="ctr"/>
          <a:lstStyle/>
          <a:p>
            <a:pPr algn="ctr"/>
          </a:p>
        </p:txBody>
      </p:sp>
      <p:grpSp>
        <p:nvGrpSpPr>
          <p:cNvPr id="18" name="Scheibe undo-2"/>
          <p:cNvGrpSpPr/>
          <p:nvPr/>
        </p:nvGrpSpPr>
        <p:grpSpPr>
          <a:xfrm>
            <a:off x="6952298" y="2505075"/>
            <a:ext cx="323850" cy="323850"/>
            <a:chOff x="6952298" y="2505075"/>
            <a:chExt cx="323850" cy="323850"/>
          </a:xfrm>
        </p:grpSpPr>
        <p:sp>
          <p:nvSpPr>
            <p:cNvPr id="19" name="Oval 18"/>
            <p:cNvSpPr/>
            <p:nvPr/>
          </p:nvSpPr>
          <p:spPr>
            <a:xfrm>
              <a:off x="6952298" y="2505075"/>
              <a:ext cx="323850" cy="323850"/>
            </a:xfrm>
            <a:prstGeom prst="ellipse">
              <a:avLst/>
            </a:prstGeom>
            <a:solidFill>
              <a:srgbClr val="084878"/>
            </a:solidFill>
            <a:ln>
              <a:noFill/>
            </a:ln>
            <a:effectLst/>
          </p:spPr>
          <p:txBody>
            <a:bodyPr rtlCol="0" anchor="ctr"/>
            <a:lstStyle/>
            <a:p>
              <a:pPr algn="ctr"/>
            </a:p>
          </p:txBody>
        </p:sp>
        <p:pic>
          <p:nvPicPr>
            <p:cNvPr id="20" name="Picture 19" descr="undo-2__FFFFFF.png"/>
            <p:cNvPicPr>
              <a:picLocks noChangeAspect="1"/>
            </p:cNvPicPr>
            <p:nvPr/>
          </p:nvPicPr>
          <p:blipFill>
            <a:blip r:embed="rId5"/>
            <a:stretch>
              <a:fillRect/>
            </a:stretch>
          </p:blipFill>
          <p:spPr>
            <a:xfrm>
              <a:off x="7030021" y="2582799"/>
              <a:ext cx="168402" cy="168402"/>
            </a:xfrm>
            <a:prstGeom prst="rect">
              <a:avLst/>
            </a:prstGeom>
          </p:spPr>
        </p:pic>
      </p:grpSp>
      <p:sp>
        <p:nvSpPr>
          <p:cNvPr id="21" name="TextBox 20"/>
          <p:cNvSpPr txBox="1"/>
          <p:nvPr/>
        </p:nvSpPr>
        <p:spPr>
          <a:xfrm>
            <a:off x="7409498" y="251460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Rückfall</a:t>
            </a:r>
          </a:p>
        </p:txBody>
      </p:sp>
      <p:sp>
        <p:nvSpPr>
          <p:cNvPr id="22" name="TextBox 21"/>
          <p:cNvSpPr txBox="1"/>
          <p:nvPr/>
        </p:nvSpPr>
        <p:spPr>
          <a:xfrm>
            <a:off x="7409498" y="2733675"/>
            <a:ext cx="3934778"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Ist das Modell im Pilot nicht besser: lineare Regression oder das Mittel der letzten drei Monate.</a:t>
            </a:r>
          </a:p>
        </p:txBody>
      </p:sp>
      <p:sp>
        <p:nvSpPr>
          <p:cNvPr id="23" name="Rounded Rectangle 22"/>
          <p:cNvSpPr/>
          <p:nvPr/>
        </p:nvSpPr>
        <p:spPr>
          <a:xfrm>
            <a:off x="6790372" y="3381375"/>
            <a:ext cx="4715828" cy="895350"/>
          </a:xfrm>
          <a:prstGeom prst="roundRect">
            <a:avLst>
              <a:gd name="adj" fmla="val 10638"/>
            </a:avLst>
          </a:prstGeom>
          <a:solidFill>
            <a:srgbClr val="FFFFFF"/>
          </a:solidFill>
          <a:ln w="9525">
            <a:solidFill>
              <a:srgbClr val="D2DAE2"/>
            </a:solidFill>
          </a:ln>
          <a:effectLst/>
        </p:spPr>
        <p:txBody>
          <a:bodyPr rtlCol="0" anchor="ctr"/>
          <a:lstStyle/>
          <a:p>
            <a:pPr algn="ctr"/>
          </a:p>
        </p:txBody>
      </p:sp>
      <p:grpSp>
        <p:nvGrpSpPr>
          <p:cNvPr id="24" name="Scheibe clipboard-check"/>
          <p:cNvGrpSpPr/>
          <p:nvPr/>
        </p:nvGrpSpPr>
        <p:grpSpPr>
          <a:xfrm>
            <a:off x="6952298" y="3514725"/>
            <a:ext cx="323850" cy="323850"/>
            <a:chOff x="6952298" y="3514725"/>
            <a:chExt cx="323850" cy="323850"/>
          </a:xfrm>
        </p:grpSpPr>
        <p:sp>
          <p:nvSpPr>
            <p:cNvPr id="25" name="Oval 24"/>
            <p:cNvSpPr/>
            <p:nvPr/>
          </p:nvSpPr>
          <p:spPr>
            <a:xfrm>
              <a:off x="6952298" y="3514725"/>
              <a:ext cx="323850" cy="323850"/>
            </a:xfrm>
            <a:prstGeom prst="ellipse">
              <a:avLst/>
            </a:prstGeom>
            <a:solidFill>
              <a:srgbClr val="00718E"/>
            </a:solidFill>
            <a:ln>
              <a:noFill/>
            </a:ln>
            <a:effectLst/>
          </p:spPr>
          <p:txBody>
            <a:bodyPr rtlCol="0" anchor="ctr"/>
            <a:lstStyle/>
            <a:p>
              <a:pPr algn="ctr"/>
            </a:p>
          </p:txBody>
        </p:sp>
        <p:pic>
          <p:nvPicPr>
            <p:cNvPr id="26" name="Picture 25" descr="clipboard-check__FFFFFF.png"/>
            <p:cNvPicPr>
              <a:picLocks noChangeAspect="1"/>
            </p:cNvPicPr>
            <p:nvPr/>
          </p:nvPicPr>
          <p:blipFill>
            <a:blip r:embed="rId6"/>
            <a:stretch>
              <a:fillRect/>
            </a:stretch>
          </p:blipFill>
          <p:spPr>
            <a:xfrm>
              <a:off x="7030021" y="3592449"/>
              <a:ext cx="168402" cy="168402"/>
            </a:xfrm>
            <a:prstGeom prst="rect">
              <a:avLst/>
            </a:prstGeom>
          </p:spPr>
        </p:pic>
      </p:grpSp>
      <p:sp>
        <p:nvSpPr>
          <p:cNvPr id="27" name="TextBox 26"/>
          <p:cNvSpPr txBox="1"/>
          <p:nvPr/>
        </p:nvSpPr>
        <p:spPr>
          <a:xfrm>
            <a:off x="7409498" y="3524250"/>
            <a:ext cx="3934778" cy="190500"/>
          </a:xfrm>
          <a:prstGeom prst="rect">
            <a:avLst/>
          </a:prstGeom>
          <a:noFill/>
        </p:spPr>
        <p:txBody>
          <a:bodyPr wrap="square" lIns="0" rIns="0" tIns="0" bIns="0" anchor="t">
            <a:noAutofit/>
          </a:bodyPr>
          <a:lstStyle/>
          <a:p>
            <a:pPr algn="l">
              <a:lnSpc>
                <a:spcPts val="1500"/>
              </a:lnSpc>
            </a:pPr>
            <a:r>
              <a:rPr sz="1200" b="1" i="0" lang="de-DE">
                <a:solidFill>
                  <a:srgbClr val="084878"/>
                </a:solidFill>
                <a:latin typeface="IBM Plex Sans"/>
              </a:rPr>
              <a:t>Im Pilot erfassen</a:t>
            </a:r>
          </a:p>
        </p:txBody>
      </p:sp>
      <p:sp>
        <p:nvSpPr>
          <p:cNvPr id="28" name="TextBox 27"/>
          <p:cNvSpPr txBox="1"/>
          <p:nvPr/>
        </p:nvSpPr>
        <p:spPr>
          <a:xfrm>
            <a:off x="7409498" y="3743325"/>
            <a:ext cx="3934778" cy="485775"/>
          </a:xfrm>
          <a:prstGeom prst="rect">
            <a:avLst/>
          </a:prstGeom>
          <a:noFill/>
        </p:spPr>
        <p:txBody>
          <a:bodyPr wrap="square" lIns="0" rIns="0" tIns="0" bIns="0" anchor="t">
            <a:noAutofit/>
          </a:bodyPr>
          <a:lstStyle/>
          <a:p>
            <a:pPr algn="l">
              <a:lnSpc>
                <a:spcPts val="1575"/>
              </a:lnSpc>
            </a:pPr>
            <a:r>
              <a:rPr sz="1125" b="0" i="0" lang="de-DE">
                <a:solidFill>
                  <a:srgbClr val="4E5A68"/>
                </a:solidFill>
                <a:latin typeface="IBM Plex Sans"/>
              </a:rPr>
              <a:t>Prüfzeit je Fall, Bestätigungsquote und Spotmarkt-Mengen. Erst daraus entsteht eine Euro-Rechnung.</a:t>
            </a:r>
          </a:p>
        </p:txBody>
      </p:sp>
      <p:cxnSp>
        <p:nvCxnSpPr>
          <p:cNvPr id="29" name="Fußlinie"/>
          <p:cNvCxnSpPr/>
          <p:nvPr/>
        </p:nvCxnSpPr>
        <p:spPr>
          <a:xfrm>
            <a:off x="0" y="6219825"/>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30" name="Logo" descr="image.png"/>
          <p:cNvPicPr>
            <a:picLocks noChangeAspect="1"/>
          </p:cNvPicPr>
          <p:nvPr/>
        </p:nvPicPr>
        <p:blipFill>
          <a:blip r:embed="rId7"/>
          <a:stretch>
            <a:fillRect/>
          </a:stretch>
        </p:blipFill>
        <p:spPr>
          <a:xfrm>
            <a:off x="685800" y="6400800"/>
            <a:ext cx="715863" cy="247650"/>
          </a:xfrm>
          <a:prstGeom prst="rect">
            <a:avLst/>
          </a:prstGeom>
        </p:spPr>
      </p:pic>
      <p:sp>
        <p:nvSpPr>
          <p:cNvPr id="31" name="TextBox 30"/>
          <p:cNvSpPr txBox="1"/>
          <p:nvPr/>
        </p:nvSpPr>
        <p:spPr>
          <a:xfrm>
            <a:off x="1554480" y="6429375"/>
            <a:ext cx="2891790" cy="190500"/>
          </a:xfrm>
          <a:prstGeom prst="rect">
            <a:avLst/>
          </a:prstGeom>
          <a:noFill/>
        </p:spPr>
        <p:txBody>
          <a:bodyPr wrap="none" lIns="0" rIns="0" tIns="0" bIns="0" anchor="t">
            <a:noAutofit/>
          </a:bodyPr>
          <a:lstStyle/>
          <a:p>
            <a:pPr algn="l">
              <a:lnSpc>
                <a:spcPts val="1500"/>
              </a:lnSpc>
            </a:pPr>
            <a:r>
              <a:rPr sz="1200" b="0" i="0" lang="de-DE">
                <a:solidFill>
                  <a:srgbClr val="6B7887"/>
                </a:solidFill>
                <a:latin typeface="IBM Plex Sans"/>
              </a:rPr>
              <a:t>Verbrauchsprognose &amp; Frühwarnung</a:t>
            </a:r>
          </a:p>
        </p:txBody>
      </p:sp>
      <p:cxnSp>
        <p:nvCxnSpPr>
          <p:cNvPr id="32" name="Connector 31"/>
          <p:cNvCxnSpPr/>
          <p:nvPr/>
        </p:nvCxnSpPr>
        <p:spPr>
          <a:xfrm>
            <a:off x="4354830" y="6419850"/>
            <a:ext cx="0" cy="20955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grpSp>
        <p:nvGrpSpPr>
          <p:cNvPr id="33" name="Scheibe target"/>
          <p:cNvGrpSpPr/>
          <p:nvPr/>
        </p:nvGrpSpPr>
        <p:grpSpPr>
          <a:xfrm>
            <a:off x="4523899" y="6426994"/>
            <a:ext cx="195262" cy="195262"/>
            <a:chOff x="4523899" y="6426994"/>
            <a:chExt cx="195262" cy="195262"/>
          </a:xfrm>
        </p:grpSpPr>
        <p:sp>
          <p:nvSpPr>
            <p:cNvPr id="34" name="Oval 33"/>
            <p:cNvSpPr/>
            <p:nvPr/>
          </p:nvSpPr>
          <p:spPr>
            <a:xfrm>
              <a:off x="4523899" y="6426994"/>
              <a:ext cx="195262" cy="195262"/>
            </a:xfrm>
            <a:prstGeom prst="ellipse">
              <a:avLst/>
            </a:prstGeom>
            <a:solidFill>
              <a:srgbClr val="FFFFFF"/>
            </a:solidFill>
            <a:ln w="14287">
              <a:solidFill>
                <a:srgbClr val="B4BFCB"/>
              </a:solidFill>
            </a:ln>
            <a:effectLst/>
          </p:spPr>
          <p:txBody>
            <a:bodyPr rtlCol="0" anchor="ctr"/>
            <a:lstStyle/>
            <a:p>
              <a:pPr algn="ctr"/>
            </a:p>
          </p:txBody>
        </p:sp>
        <p:pic>
          <p:nvPicPr>
            <p:cNvPr id="35" name="Picture 34" descr="target__084878.png"/>
            <p:cNvPicPr>
              <a:picLocks noChangeAspect="1"/>
            </p:cNvPicPr>
            <p:nvPr/>
          </p:nvPicPr>
          <p:blipFill>
            <a:blip r:embed="rId8"/>
            <a:stretch>
              <a:fillRect/>
            </a:stretch>
          </p:blipFill>
          <p:spPr>
            <a:xfrm>
              <a:off x="4567047" y="6470142"/>
              <a:ext cx="108966" cy="108966"/>
            </a:xfrm>
            <a:prstGeom prst="rect">
              <a:avLst/>
            </a:prstGeom>
          </p:spPr>
        </p:pic>
      </p:grpSp>
      <p:sp>
        <p:nvSpPr>
          <p:cNvPr id="36" name="TextBox 35"/>
          <p:cNvSpPr txBox="1"/>
          <p:nvPr/>
        </p:nvSpPr>
        <p:spPr>
          <a:xfrm>
            <a:off x="4783455"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08</a:t>
            </a:r>
          </a:p>
        </p:txBody>
      </p:sp>
      <p:sp>
        <p:nvSpPr>
          <p:cNvPr id="37" name="TextBox 36"/>
          <p:cNvSpPr txBox="1"/>
          <p:nvPr/>
        </p:nvSpPr>
        <p:spPr>
          <a:xfrm>
            <a:off x="5000625" y="6438900"/>
            <a:ext cx="578568"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Impact</a:t>
            </a:r>
          </a:p>
        </p:txBody>
      </p:sp>
      <p:grpSp>
        <p:nvGrpSpPr>
          <p:cNvPr id="38" name="Scheibe activity"/>
          <p:cNvGrpSpPr/>
          <p:nvPr/>
        </p:nvGrpSpPr>
        <p:grpSpPr>
          <a:xfrm>
            <a:off x="5552789" y="6426994"/>
            <a:ext cx="195262" cy="195262"/>
            <a:chOff x="5552789" y="6426994"/>
            <a:chExt cx="195262" cy="195262"/>
          </a:xfrm>
        </p:grpSpPr>
        <p:sp>
          <p:nvSpPr>
            <p:cNvPr id="39" name="Oval 38"/>
            <p:cNvSpPr/>
            <p:nvPr/>
          </p:nvSpPr>
          <p:spPr>
            <a:xfrm>
              <a:off x="5552789" y="6426994"/>
              <a:ext cx="195262" cy="195262"/>
            </a:xfrm>
            <a:prstGeom prst="ellipse">
              <a:avLst/>
            </a:prstGeom>
            <a:solidFill>
              <a:srgbClr val="FFFFFF"/>
            </a:solidFill>
            <a:ln w="14287">
              <a:solidFill>
                <a:srgbClr val="B4BFCB"/>
              </a:solidFill>
            </a:ln>
            <a:effectLst/>
          </p:spPr>
          <p:txBody>
            <a:bodyPr rtlCol="0" anchor="ctr"/>
            <a:lstStyle/>
            <a:p>
              <a:pPr algn="ctr"/>
            </a:p>
          </p:txBody>
        </p:sp>
        <p:pic>
          <p:nvPicPr>
            <p:cNvPr id="40" name="Picture 39" descr="activity__084878.png"/>
            <p:cNvPicPr>
              <a:picLocks noChangeAspect="1"/>
            </p:cNvPicPr>
            <p:nvPr/>
          </p:nvPicPr>
          <p:blipFill>
            <a:blip r:embed="rId9"/>
            <a:stretch>
              <a:fillRect/>
            </a:stretch>
          </p:blipFill>
          <p:spPr>
            <a:xfrm>
              <a:off x="5595938" y="6470142"/>
              <a:ext cx="108966" cy="108966"/>
            </a:xfrm>
            <a:prstGeom prst="rect">
              <a:avLst/>
            </a:prstGeom>
          </p:spPr>
        </p:pic>
      </p:grpSp>
      <p:sp>
        <p:nvSpPr>
          <p:cNvPr id="41" name="TextBox 40"/>
          <p:cNvSpPr txBox="1"/>
          <p:nvPr/>
        </p:nvSpPr>
        <p:spPr>
          <a:xfrm>
            <a:off x="5812346" y="6438900"/>
            <a:ext cx="323850" cy="171450"/>
          </a:xfrm>
          <a:prstGeom prst="rect">
            <a:avLst/>
          </a:prstGeom>
          <a:noFill/>
        </p:spPr>
        <p:txBody>
          <a:bodyPr wrap="none" lIns="0" rIns="0" tIns="0" bIns="0" anchor="t">
            <a:noAutofit/>
          </a:bodyPr>
          <a:lstStyle/>
          <a:p>
            <a:pPr algn="l">
              <a:lnSpc>
                <a:spcPts val="1350"/>
              </a:lnSpc>
            </a:pPr>
            <a:r>
              <a:rPr sz="1050" b="1" i="0" lang="de-DE">
                <a:solidFill>
                  <a:srgbClr val="00718E"/>
                </a:solidFill>
                <a:latin typeface="Geist Mono"/>
              </a:rPr>
              <a:t>10</a:t>
            </a:r>
          </a:p>
        </p:txBody>
      </p:sp>
      <p:sp>
        <p:nvSpPr>
          <p:cNvPr id="42" name="TextBox 41"/>
          <p:cNvSpPr txBox="1"/>
          <p:nvPr/>
        </p:nvSpPr>
        <p:spPr>
          <a:xfrm>
            <a:off x="6029516" y="6438900"/>
            <a:ext cx="811797" cy="171450"/>
          </a:xfrm>
          <a:prstGeom prst="rect">
            <a:avLst/>
          </a:prstGeom>
          <a:noFill/>
        </p:spPr>
        <p:txBody>
          <a:bodyPr wrap="none" lIns="0" rIns="0" tIns="0" bIns="0" anchor="t">
            <a:noAutofit/>
          </a:bodyPr>
          <a:lstStyle/>
          <a:p>
            <a:pPr algn="l">
              <a:lnSpc>
                <a:spcPts val="1350"/>
              </a:lnSpc>
            </a:pPr>
            <a:r>
              <a:rPr sz="1050" b="0" i="0" lang="de-DE">
                <a:solidFill>
                  <a:srgbClr val="4E5A68"/>
                </a:solidFill>
                <a:latin typeface="IBM Plex Sans"/>
              </a:rPr>
              <a:t>Monitoring</a:t>
            </a:r>
          </a:p>
        </p:txBody>
      </p:sp>
      <p:sp>
        <p:nvSpPr>
          <p:cNvPr id="43" name="TextBox 42"/>
          <p:cNvSpPr txBox="1"/>
          <p:nvPr/>
        </p:nvSpPr>
        <p:spPr>
          <a:xfrm>
            <a:off x="9486900" y="6429375"/>
            <a:ext cx="1257300" cy="190500"/>
          </a:xfrm>
          <a:prstGeom prst="rect">
            <a:avLst/>
          </a:prstGeom>
          <a:noFill/>
        </p:spPr>
        <p:txBody>
          <a:bodyPr wrap="none" lIns="0" rIns="0" tIns="0" bIns="0" anchor="t">
            <a:noAutofit/>
          </a:bodyPr>
          <a:lstStyle/>
          <a:p>
            <a:pPr algn="r">
              <a:lnSpc>
                <a:spcPts val="1500"/>
              </a:lnSpc>
            </a:pPr>
            <a:r>
              <a:rPr sz="1200" b="1" i="0" lang="de-DE">
                <a:solidFill>
                  <a:srgbClr val="4E5A68"/>
                </a:solidFill>
                <a:latin typeface="IBM Plex Sans"/>
              </a:rPr>
              <a:t>Kiko</a:t>
            </a:r>
          </a:p>
        </p:txBody>
      </p:sp>
      <p:sp>
        <p:nvSpPr>
          <p:cNvPr id="44" name="Seitenzahl"/>
          <p:cNvSpPr txBox="1"/>
          <p:nvPr/>
        </p:nvSpPr>
        <p:spPr>
          <a:xfrm>
            <a:off x="10835640" y="6424612"/>
            <a:ext cx="670560" cy="200025"/>
          </a:xfrm>
          <a:prstGeom prst="rect">
            <a:avLst/>
          </a:prstGeom>
          <a:noFill/>
        </p:spPr>
        <p:txBody>
          <a:bodyPr wrap="none" lIns="0" rIns="0" tIns="0" bIns="0" anchor="t">
            <a:noAutofit/>
          </a:bodyPr>
          <a:lstStyle/>
          <a:p>
            <a:pPr algn="r">
              <a:lnSpc>
                <a:spcPts val="1575"/>
              </a:lnSpc>
            </a:pPr>
            <a:r>
              <a:rPr sz="1200" b="0" i="0" lang="de-DE">
                <a:solidFill>
                  <a:srgbClr val="6B7887"/>
                </a:solidFill>
                <a:latin typeface="Geist Mono"/>
              </a:rPr>
              <a:t>B6</a:t>
            </a:r>
          </a:p>
        </p:txBody>
      </p:sp>
      <p:pic>
        <p:nvPicPr>
          <p:cNvPr id="45" name="Diagramm s17_svg01.png" descr="s17_svg01.png"/>
          <p:cNvPicPr>
            <a:picLocks noChangeAspect="1"/>
          </p:cNvPicPr>
          <p:nvPr/>
        </p:nvPicPr>
        <p:blipFill>
          <a:blip r:embed="rId10"/>
          <a:stretch>
            <a:fillRect/>
          </a:stretch>
        </p:blipFill>
        <p:spPr>
          <a:xfrm>
            <a:off x="885825" y="1790998"/>
            <a:ext cx="5494734" cy="313699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IBM Plex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IBM Plex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Prognose des monatlichen Energieverbrauchs und Erkennung von Anomalien</dc:title>
  <dc:subject/>
  <dc:creator>Gruppe 6 · Iana Kraievska · Patrick Olmo Hederer · Kiko Ramon Lukas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de-DE</dc:language>
</cp:coreProperties>
</file>