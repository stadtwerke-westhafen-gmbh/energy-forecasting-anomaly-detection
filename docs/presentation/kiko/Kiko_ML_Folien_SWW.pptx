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Danke an Iana</a:t>
            </a:r>
          </a:p>
          <a:p>
            <a:r>
              <a:rPr b="0"/>
              <a:t>• drei Fragen = drei Farben</a:t>
            </a:r>
          </a:p>
          <a:p>
            <a:r>
              <a:rPr b="0"/>
              <a:t>• am Ende: mein nächster Schritt</a:t>
            </a:r>
          </a:p>
          <a:p>
            <a:r>
              <a:rPr b="0"/>
              <a:t/>
            </a:r>
          </a:p>
          <a:p>
            <a:r>
              <a:rPr b="1"/>
              <a:t>SPRECHTEXT</a:t>
            </a:r>
          </a:p>
          <a:p>
            <a:r>
              <a:rPr b="0"/>
              <a:t>Danke, Iana. Ich zeige jetzt den Machine-Learning-Teil. Drei Fragen führen durch: Was sagt unser Modell vorher, und womit? Woran messen wir, ob es gut ist? Und ab wann wird aus einer Abweichung ein Prüfhinweis? Am Ende sage ich, was ich als Nächstes vorhabe.</a:t>
            </a:r>
          </a:p>
          <a:p>
            <a:r>
              <a:rPr b="0"/>
              <a:t/>
            </a:r>
          </a:p>
          <a:p>
            <a:r>
              <a:rPr b="1"/>
              <a:t>SO VERSTEHST DU ES</a:t>
            </a:r>
          </a:p>
          <a:p>
            <a:r>
              <a:rPr b="0"/>
              <a:t>• Die Folie ist die Landkarte für deine neun Minuten. Die drei Farben kommen wieder: Navy steht für die Vorhersage (Folie 2–4), Teal für das Messen (Folie 5–6), Amber für den Prüfhinweis (Folie 7–8).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Canvas = Steckbrief mit zehn Feldern</a:t>
            </a:r>
          </a:p>
          <a:p>
            <a:r>
              <a:rPr b="0"/>
              <a:t>• Iana: Mehrwert, Daten · Patrick: Impact, Monitoring</a:t>
            </a:r>
          </a:p>
          <a:p>
            <a:r>
              <a:rPr b="0"/>
              <a:t>• sechs Karten als Kette lesen: was, womit, wie, woran, was dann, wann</a:t>
            </a:r>
          </a:p>
          <a:p>
            <a:r>
              <a:rPr b="0"/>
              <a:t/>
            </a:r>
          </a:p>
          <a:p>
            <a:r>
              <a:rPr b="1"/>
              <a:t>SPRECHTEXT</a:t>
            </a:r>
          </a:p>
          <a:p>
            <a:r>
              <a:rPr b="0"/>
              <a:t>Der Machine Learning Canvas ist ein Steckbrief für ein ML-Projekt: zehn Felder, die zusammenpassen müssen. Mehrwert und Datenquellen hat Iana gezeigt, Impact und Monitoring kommen bei Patrick. Sechs Felder gehören zum Modell, die gehe ich kurz durch.</a:t>
            </a:r>
          </a:p>
          <a:p>
            <a:r>
              <a:rPr b="0"/>
              <a:t>Vorhersage: Wir sagen den Stromverbrauch jedes Zählers für den nächsten Monat vorher. Merkmale: Dafür nutzen wir nur, was vor Monatsbeginn feststeht, also den bisherigen Verbrauch, Kalender, Wetter, Produktionsplan, Wartung und Kundentyp. Lernansatz: Das Modell lernt aus Beispielen, bei denen das Ergebnis bekannt ist. Wir haben einen Random Forest gegen einfachere Verfahren antreten lassen.</a:t>
            </a:r>
          </a:p>
          <a:p>
            <a:r>
              <a:rPr b="0"/>
              <a:t>Evaluation: Wir messen mit dem RMSE in Kilowattstunden, und zwar nur auf Monaten, die das Modell beim Lernen nicht kannte. Entscheidung und Zeitpunkt: Vor Monatsbeginn geht die Prognose an die Beschaffung. Nach Monatsende prüfen wir, ob die Abweichung ungewöhnlich groß ist.</a:t>
            </a:r>
          </a:p>
          <a:p>
            <a:r>
              <a:rPr b="0"/>
              <a:t/>
            </a:r>
          </a:p>
          <a:p>
            <a:r>
              <a:rPr b="1"/>
              <a:t>SO VERSTEHST DU ES</a:t>
            </a:r>
          </a:p>
          <a:p>
            <a:r>
              <a:rPr b="0"/>
              <a:t>• Lies die Karten von links oben nach rechts unten wie eine Kette: Was sagen wir vorher, womit, wie lernt das Modell, woran messen wir, was passiert mit dem Ergebnis, wann läuft es.</a:t>
            </a:r>
          </a:p>
          <a:p>
            <a:r>
              <a:rPr b="0"/>
              <a:t>• Regression heißt: Das Modell sagt eine Zahl vorher (kWh), keine Kategorie wie „Anomalie ja/nein“.</a:t>
            </a:r>
          </a:p>
          <a:p>
            <a:r>
              <a:rPr b="0"/>
              <a:t>• Überwachtes Lernen heißt: Beim Lernen kennt das Modell den richtigen Wert, hier den echten Verbrauch der Vergangenheit.</a:t>
            </a:r>
          </a:p>
          <a:p>
            <a:r>
              <a:rPr b="0"/>
              <a:t>• Random Forest: viele Entscheidungsbäume, jeder lernt auf einer etwas anderen Stichprobe; der Durchschnitt aller Bäume ist die Prognose. Das macht ihn robust gegen einzelne Ausreißer.</a:t>
            </a:r>
          </a:p>
          <a:p>
            <a:r>
              <a:rPr b="0"/>
              <a:t/>
            </a:r>
          </a:p>
          <a:p>
            <a:r>
              <a:rPr b="1"/>
              <a:t>FALLS GEFRAGT WIRD</a:t>
            </a:r>
          </a:p>
          <a:p>
            <a:r>
              <a:rPr b="1"/>
              <a:t>Warum keine Klassifikation? </a:t>
            </a:r>
            <a:r>
              <a:rPr b="0"/>
              <a:t>Es gibt keine bestätigten Anomalie-Labels. Die Spalte „anomalie“ ist nur ein geliefertes Kennzeichen, kein geprüftes Ergebnis. Deshalb sagen wir den Verbrauch vorher und werten die Abweichung aus.</a:t>
            </a:r>
          </a:p>
          <a:p>
            <a:r>
              <a:rPr b="1"/>
              <a:t>Welche Merkmale sind bewusst weggelassen? </a:t>
            </a:r>
            <a:r>
              <a:rPr b="0"/>
              <a:t>Der Vorjahreswert (für 2024 fehlt die Historie aus 2023), die Temperatur (fast dasselbe wie die Heizgradtage), die Spalte „anomalie“ und die Vertragsleistung als Merkmal; sie dient nur der Umrechnung.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nie aus der Zukunft lernen</a:t>
            </a:r>
          </a:p>
          <a:p>
            <a:r>
              <a:rPr b="0"/>
              <a:t>• drei Folds 2024: Modellwahl</a:t>
            </a:r>
          </a:p>
          <a:p>
            <a:r>
              <a:rPr b="0"/>
              <a:t>• Schwelle Nov–Dez 2024, dann eingefroren</a:t>
            </a:r>
          </a:p>
          <a:p>
            <a:r>
              <a:rPr b="0"/>
              <a:t>• 3-Monats-Mittel neu berechnet (Leakage)</a:t>
            </a:r>
          </a:p>
          <a:p>
            <a:r>
              <a:rPr b="0"/>
              <a:t/>
            </a:r>
          </a:p>
          <a:p>
            <a:r>
              <a:rPr b="1"/>
              <a:t>SPRECHTEXT</a:t>
            </a:r>
          </a:p>
          <a:p>
            <a:r>
              <a:rPr b="0"/>
              <a:t>Das Wichtigste bei Zeitreihen: Ein Modell darf nie aus der Zukunft lernen. Deshalb teilen wir die Daten nicht zufällig auf, sondern nach der Zeit.</a:t>
            </a:r>
          </a:p>
          <a:p>
            <a:r>
              <a:rPr b="0"/>
              <a:t>In drei Durchgängen, den Folds, lernt das Modell auf den frühen Monaten 2024 und wird auf den zwei Monaten danach bewertet. Zum Beispiel: lernen Januar bis April, bewerten Mai und Juni. Damit entscheiden wir, welches Modell das beste ist.</a:t>
            </a:r>
          </a:p>
          <a:p>
            <a:r>
              <a:rPr b="0"/>
              <a:t>Die Schwelle für Prüfhinweise legen wir mit November und Dezember 2024 fest und frieren sie ein. Erst dann rechnet das finale Modell, gelernt auf ganz 2024, das Jahr 2025 durch. [Pause]</a:t>
            </a:r>
          </a:p>
          <a:p>
            <a:r>
              <a:rPr b="0"/>
              <a:t>Eine Falle haben wir dabei gefunden: Das gelieferte Drei-Monats-Mittel enthielt spätere Werte. Wir haben es für jeden Zähler nur aus abgeschlossenen Monaten neu berechnet.</a:t>
            </a:r>
          </a:p>
          <a:p>
            <a:r>
              <a:rPr b="0"/>
              <a:t/>
            </a:r>
          </a:p>
          <a:p>
            <a:r>
              <a:rPr b="1"/>
              <a:t>SO VERSTEHST DU ES</a:t>
            </a:r>
          </a:p>
          <a:p>
            <a:r>
              <a:rPr b="0"/>
              <a:t>• Leakage heißt: Das Modell sieht beim Lernen Informationen, die es in der Wirklichkeit noch nicht hätte. Dann sieht der Fehler im Test besser aus, als er im Betrieb wäre.</a:t>
            </a:r>
          </a:p>
          <a:p>
            <a:r>
              <a:rPr b="0"/>
              <a:t>• Fold = ein Durchgang aus Lernen und Bewerten. Drei Folds zeigen, ob ein Modell nicht nur zufällig in einem Zeitraum gut ist.</a:t>
            </a:r>
          </a:p>
          <a:p>
            <a:r>
              <a:rPr b="0"/>
              <a:t>• Die Zeitleiste von oben nach unten: drei Folds für die Modellwahl, dann die Schwelle, dann das finale Modell. Die gestrichelte Linie ist der Jahreswechsel: Alles rechts davon wird nur noch angewendet.</a:t>
            </a:r>
          </a:p>
          <a:p>
            <a:r>
              <a:rPr b="0"/>
              <a:t/>
            </a:r>
          </a:p>
          <a:p>
            <a:r>
              <a:rPr b="1"/>
              <a:t>FALLS GEFRAGT WIRD</a:t>
            </a:r>
          </a:p>
          <a:p>
            <a:r>
              <a:rPr b="1"/>
              <a:t>Warum kein zufälliger Split? </a:t>
            </a:r>
            <a:r>
              <a:rPr b="0"/>
              <a:t>Er würde zum Beispiel Juli lernen und Mai testen. Das Modell kennt dann die Zukunft, und die Fehler wären zu optimistisch.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Zähler sehr unterschiedlich groß (92 % Streuung zwischen Zählern)</a:t>
            </a:r>
          </a:p>
          <a:p>
            <a:r>
              <a:rPr b="0"/>
              <a:t>• VLS = Verbrauch ÷ Leistung</a:t>
            </a:r>
          </a:p>
          <a:p>
            <a:r>
              <a:rPr b="0"/>
              <a:t>• A und B: beide 200 VLS-h</a:t>
            </a:r>
          </a:p>
          <a:p>
            <a:r>
              <a:rPr b="0"/>
              <a:t>• zurück in kWh für die Planung</a:t>
            </a:r>
          </a:p>
          <a:p>
            <a:r>
              <a:rPr b="0"/>
              <a:t/>
            </a:r>
          </a:p>
          <a:p>
            <a:r>
              <a:rPr b="1"/>
              <a:t>SPRECHTEXT</a:t>
            </a:r>
          </a:p>
          <a:p>
            <a:r>
              <a:rPr b="0"/>
              <a:t>Unsere Zähler sind sehr unterschiedlich groß. 92 Prozent der Streuung im Verbrauch liegen zwischen den Zählern, das hat Patricks Analyse gezeigt. Ein großer Industriekunde verbraucht einfach viel mehr als ein kleiner Betrieb.</a:t>
            </a:r>
          </a:p>
          <a:p>
            <a:r>
              <a:rPr b="0"/>
              <a:t>Deshalb lernt das Modell nicht direkt Kilowattstunden, sondern Vollaststunden: Verbrauch geteilt durch die vertraglich vereinbarte Leistung. Rechts sieht man es: Zähler A mit 10.000 Kilowattstunden bei 50 Kilowatt und Zähler B mit 40.000 bei 200 Kilowatt haben beide 200 Vollaststunden. Sie sind also gleich ausgelastet. [Pause]</a:t>
            </a:r>
          </a:p>
          <a:p>
            <a:r>
              <a:rPr b="0"/>
              <a:t>Für die Beschaffung rechnen wir die Prognose wieder in Kilowattstunden zurück, und in Kilowattstunden messen wir auch den Fehler.</a:t>
            </a:r>
          </a:p>
          <a:p>
            <a:r>
              <a:rPr b="0"/>
              <a:t/>
            </a:r>
          </a:p>
          <a:p>
            <a:r>
              <a:rPr b="1"/>
              <a:t>SO VERSTEHST DU ES</a:t>
            </a:r>
          </a:p>
          <a:p>
            <a:r>
              <a:rPr b="0"/>
              <a:t>• Vollaststunden beantworten die Frage: Wie viele Stunden hätte der Anschluss mit voller Leistung laufen müssen, um diesen Verbrauch zu erreichen? Ein Monat hat rund 730 Stunden.</a:t>
            </a:r>
          </a:p>
          <a:p>
            <a:r>
              <a:rPr b="0"/>
              <a:t>• Der Vorteil: Das Modell lernt ein Muster für alle Zähler (Auslastung) statt 700 verschiedene Größenordnungen.</a:t>
            </a:r>
          </a:p>
          <a:p>
            <a:r>
              <a:rPr b="0"/>
              <a:t/>
            </a:r>
          </a:p>
          <a:p>
            <a:r>
              <a:rPr b="1"/>
              <a:t>FALLS GEFRAGT WIRD</a:t>
            </a:r>
          </a:p>
          <a:p>
            <a:r>
              <a:rPr b="1"/>
              <a:t>Bringt VLS messbar etwas? </a:t>
            </a:r>
            <a:r>
              <a:rPr b="0"/>
              <a:t>Ja, im Test liegt der Fehler niedriger als bei einer direkten kWh-Prognose; die Ergebnisse 2025 zeigt Patrick.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gleiche Fehlersumme, gleicher MAE (10)</a:t>
            </a:r>
          </a:p>
          <a:p>
            <a:r>
              <a:rPr b="0"/>
              <a:t>• RMSE quadriert: 10 gegen 20 kWh</a:t>
            </a:r>
          </a:p>
          <a:p>
            <a:r>
              <a:rPr b="0"/>
              <a:t>• große Fehler teuer am Spotmarkt</a:t>
            </a:r>
          </a:p>
          <a:p>
            <a:r>
              <a:rPr b="0"/>
              <a:t>• Einheit kWh = Planungseinheit</a:t>
            </a:r>
          </a:p>
          <a:p>
            <a:r>
              <a:rPr b="0"/>
              <a:t/>
            </a:r>
          </a:p>
          <a:p>
            <a:r>
              <a:rPr b="1"/>
              <a:t>SPRECHTEXT</a:t>
            </a:r>
          </a:p>
          <a:p>
            <a:r>
              <a:rPr b="0"/>
              <a:t>Woran messen wir, ob die Prognose gut ist? Unsere Hauptmetrik ist der RMSE, die Wurzel aus dem mittleren quadrierten Fehler.</a:t>
            </a:r>
          </a:p>
          <a:p>
            <a:r>
              <a:rPr b="0"/>
              <a:t>Das Beispiel links zeigt, warum. Beide Male liegen vier Prognosen zusammen 40 Kilowattstunden daneben. In A ist jeder Fehler 10, in B sind drei Fehler null und einer 40. Der durchschnittliche Fehler, der MAE, ist in beiden Fällen 10. Der RMSE quadriert die Fehler aber vor dem Mitteln. Deshalb zählt der eine große Fehler stärker, und der RMSE steigt in B auf 20. [Pause]</a:t>
            </a:r>
          </a:p>
          <a:p>
            <a:r>
              <a:rPr b="0"/>
              <a:t>Genau das wollen wir: Große Abweichungen muss die Beschaffung kurzfristig am Spotmarkt ausgleichen, und das ist teuer. Außerdem misst der RMSE in Kilowattstunden, also in der Einheit, in der geplant wird. MAE und R² schauen wir ergänzend an, entschieden wird mit dem RMSE.</a:t>
            </a:r>
          </a:p>
          <a:p>
            <a:r>
              <a:rPr b="0"/>
              <a:t/>
            </a:r>
          </a:p>
          <a:p>
            <a:r>
              <a:rPr b="1"/>
              <a:t>SO VERSTEHST DU ES</a:t>
            </a:r>
          </a:p>
          <a:p>
            <a:r>
              <a:rPr b="0"/>
              <a:t>• Rechenweg für B: Fehler quadrieren (40² = 1.600, die Nullen bleiben 0), Mittelwert bilden (1.600 ÷ 4 = 400), Wurzel ziehen (√400 = 20). Die Wurzel bringt die Einheit zurück auf kWh.</a:t>
            </a:r>
          </a:p>
          <a:p>
            <a:r>
              <a:rPr b="0"/>
              <a:t>• MAE = Durchschnitt der Fehlerbeträge, also der typische Fehler. R² = Anteil der Streuung, den das Modell erklärt, zwischen 0 und 1, ohne Einheit.</a:t>
            </a:r>
          </a:p>
          <a:p>
            <a:r>
              <a:rPr b="0"/>
              <a:t>• Das Beispiel ist aus Notebook 13 und zeigt das Prinzip; es sind keine Projektwerte.</a:t>
            </a:r>
          </a:p>
          <a:p>
            <a:r>
              <a:rPr b="0"/>
              <a:t/>
            </a:r>
          </a:p>
          <a:p>
            <a:r>
              <a:rPr b="1"/>
              <a:t>FALLS GEFRAGT WIRD</a:t>
            </a:r>
          </a:p>
          <a:p>
            <a:r>
              <a:rPr b="1"/>
              <a:t>Warum nicht MAPE, also Prozentfehler? </a:t>
            </a:r>
            <a:r>
              <a:rPr b="0"/>
              <a:t>Bei kleinen Verbräuchen werden Prozentfehler riesig und gewichten kleine Zähler zu stark. Geplant wird in kWh.</a:t>
            </a:r>
          </a:p>
          <a:p>
            <a:r>
              <a:rPr b="1"/>
              <a:t>Warum nicht R² als Hauptmetrik? </a:t>
            </a:r>
            <a:r>
              <a:rPr b="0"/>
              <a:t>R² hat keine Einheit und sagt nicht, wie viele kWh wir danebenliegen. Für die Beschaffung zählt die Menge.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vier Kandidaten, drei Folds</a:t>
            </a:r>
          </a:p>
          <a:p>
            <a:r>
              <a:rPr b="0"/>
              <a:t>• Random Forest 13.272 vor linearer Regression 13.643</a:t>
            </a:r>
          </a:p>
          <a:p>
            <a:r>
              <a:rPr b="0"/>
              <a:t>• einfache Regeln klar dahinter</a:t>
            </a:r>
          </a:p>
          <a:p>
            <a:r>
              <a:rPr b="0"/>
              <a:t>• Fold 1 am schwersten</a:t>
            </a:r>
          </a:p>
          <a:p>
            <a:r>
              <a:rPr b="0"/>
              <a:t>• 2025 zeigt Patrick</a:t>
            </a:r>
          </a:p>
          <a:p>
            <a:r>
              <a:rPr b="0"/>
              <a:t/>
            </a:r>
          </a:p>
          <a:p>
            <a:r>
              <a:rPr b="1"/>
              <a:t>SPRECHTEXT</a:t>
            </a:r>
          </a:p>
          <a:p>
            <a:r>
              <a:rPr b="0"/>
              <a:t>Mit dieser Metrik haben wir vier Kandidaten verglichen: einen Random Forest, eine lineare Regression und zwei einfache Regeln, nämlich „wie im Vormonat“ und „Mittel der letzten drei Monate“. Alle wurden in denselben drei Folds von 2024 bewertet. Die Rauten zeigen die einzelnen Folds.</a:t>
            </a:r>
          </a:p>
          <a:p>
            <a:r>
              <a:rPr b="0"/>
              <a:t>Der Random Forest liegt im Mittel bei 13.272 Kilowattstunden, knapp vor der linearen Regression mit 13.643. Die einfachen Regeln liegen klar dahinter. Auffällig ist Fold 1, Mai und Juni: Der ist für alle Modelle am schwersten und zieht jeden Mittelwert hoch. [Pause]</a:t>
            </a:r>
          </a:p>
          <a:p>
            <a:r>
              <a:rPr b="0"/>
              <a:t>Entschieden haben wir nur mit 2024. Wie gut das Modell dann im Testjahr 2025 war, zeigt gleich Patrick.</a:t>
            </a:r>
          </a:p>
          <a:p>
            <a:r>
              <a:rPr b="0"/>
              <a:t/>
            </a:r>
          </a:p>
          <a:p>
            <a:r>
              <a:rPr b="1"/>
              <a:t>SO VERSTEHST DU ES</a:t>
            </a:r>
          </a:p>
          <a:p>
            <a:r>
              <a:rPr b="0"/>
              <a:t>• Einfache Regeln (Baselines) sind der Maßstab: Ein Modell lohnt sich nur, wenn es besser ist als „nimm einfach den Vormonat“.</a:t>
            </a:r>
          </a:p>
          <a:p>
            <a:r>
              <a:rPr b="0"/>
              <a:t>• Der Balken ist der Durchschnitt über die drei Folds, die Rauten sind die einzelnen Folds, der Strich zeigt die Streuung (±1 Standardabweichung).</a:t>
            </a:r>
          </a:p>
          <a:p>
            <a:r>
              <a:rPr b="0"/>
              <a:t>• Die lineare Regression ist fast gleich gut und bleibt deshalb die Rückfallebene im Pilot.</a:t>
            </a:r>
          </a:p>
          <a:p>
            <a:r>
              <a:rPr b="0"/>
              <a:t/>
            </a:r>
          </a:p>
          <a:p>
            <a:r>
              <a:rPr b="1"/>
              <a:t>FALLS GEFRAGT WIRD</a:t>
            </a:r>
          </a:p>
          <a:p>
            <a:r>
              <a:rPr b="1"/>
              <a:t>Warum nicht die lineare Regression, wenn es so knapp ist? </a:t>
            </a:r>
            <a:r>
              <a:rPr b="0"/>
              <a:t>Der Random Forest war im Mittel besser und erfasst nichtlineare Effekte; die lineare Regression bleibt die Rückfallebene.</a:t>
            </a:r>
          </a:p>
          <a:p>
            <a:r>
              <a:rPr b="1"/>
              <a:t>Welche Hyperparameter? </a:t>
            </a:r>
            <a:r>
              <a:rPr b="0"/>
              <a:t>Acht Kombinationen, nur in 2024 verglichen: Backup B1.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kleine Abweichungen sind normal</a:t>
            </a:r>
          </a:p>
          <a:p>
            <a:r>
              <a:rPr b="0"/>
              <a:t>• 1. messen · 2. normale Fehler sammeln · 3. Grenze ziehen</a:t>
            </a:r>
          </a:p>
          <a:p>
            <a:r>
              <a:rPr b="0"/>
              <a:t>• 99 von 100 darunter = 144,4 VLS-h, eingefroren</a:t>
            </a:r>
          </a:p>
          <a:p>
            <a:r>
              <a:rPr b="0"/>
              <a:t>• Faktor ≥ 1 → Prüfhinweis</a:t>
            </a:r>
          </a:p>
          <a:p>
            <a:r>
              <a:rPr b="0"/>
              <a:t>• 99 % = Startwert, Kapazität zeigt Patrick</a:t>
            </a:r>
          </a:p>
          <a:p>
            <a:r>
              <a:rPr b="0"/>
              <a:t/>
            </a:r>
          </a:p>
          <a:p>
            <a:r>
              <a:rPr b="1"/>
              <a:t>SPRECHTEXT</a:t>
            </a:r>
          </a:p>
          <a:p>
            <a:r>
              <a:rPr b="0"/>
              <a:t>Jetzt die dritte Frage: Ab wann ist eine Abweichung ungewöhnlich? Kein Modell trifft genau, kleine Abweichungen sind also normal. Wir brauchen eine Grenze.</a:t>
            </a:r>
          </a:p>
          <a:p>
            <a:r>
              <a:rPr b="0"/>
              <a:t>Die haben wir in drei Schritten gezogen. Erstens messen wir nach Monatsende die Abweichung zwischen Ist und Prognose. Zweitens haben wir gesammelt, wie groß die normalen Fehler des Modells sind: 1.397 echte Vorhersagen für November und Dezember 2024. Rechts sind sie der Größe nach sortiert. Drittens ziehen wir die Grenze dort, wo 99 von 100 Fehlern darunter bleiben. Das sind 144,4 Vollaststunden, und diese Grenze frieren wir vor 2025 ein. [Pause]</a:t>
            </a:r>
          </a:p>
          <a:p>
            <a:r>
              <a:rPr b="0"/>
              <a:t>Wie weit ein Monat darüber liegt, sagt der Faktor: Abweichung geteilt durch die Grenze. Ab 1 gibt es einen Prüfhinweis.</a:t>
            </a:r>
          </a:p>
          <a:p>
            <a:r>
              <a:rPr b="0"/>
              <a:t>99 Prozent ist unser Startwert für den Pilot. Wie viele Hinweise das Team im Monat schafft und wie sich die Schwelle dafür verschieben lässt, zeigt Patrick im Dashboard.</a:t>
            </a:r>
          </a:p>
          <a:p>
            <a:r>
              <a:rPr b="0"/>
              <a:t/>
            </a:r>
          </a:p>
          <a:p>
            <a:r>
              <a:rPr b="1"/>
              <a:t>SO VERSTEHST DU ES</a:t>
            </a:r>
          </a:p>
          <a:p>
            <a:r>
              <a:rPr b="0"/>
              <a:t>• Das Diagramm rechts: Jeder Punkt der Kurve ist ein Fehler, von klein (links) nach groß (rechts) sortiert. Fast alle Fehler sind klein; ganz rechts schießen 14 Fehler nach oben. Die gestrichelte Linie bei 144,4 trennt die 99 % normalen von dem 1 % auffälligen.</a:t>
            </a:r>
          </a:p>
          <a:p>
            <a:r>
              <a:rPr b="0"/>
              <a:t>• Perzentil = Rangplatz in der sortierten Liste. Das 99. Perzentil ist der Wert, unter dem 99 % der Fehler liegen.</a:t>
            </a:r>
          </a:p>
          <a:p>
            <a:r>
              <a:rPr b="0"/>
              <a:t>• Die Abwägung dahinter: Falsch-positiv heißt, ein normaler Monat wird gemeldet und umsonst geprüft. Falsch-negativ heißt, ein echtes Problem wird nicht gemeldet und fällt wie heute erst im Quartal auf. Eine niedrigere Grenze (etwa 95 %) meldet mehr Fälle, also mehr Arbeit und mehr Fehlalarme. Eine höhere Grenze meldet weniger, dafür rutscht eher etwas durch.</a:t>
            </a:r>
          </a:p>
          <a:p>
            <a:r>
              <a:rPr b="0"/>
              <a:t>• Warum 99 %: Die Prüfkapazität ist begrenzt, jede Meldung soll wirklich auffällig sein. Deshalb ein strenger Startwert, den der Fachbereich im Pilot anpassen kann.</a:t>
            </a:r>
          </a:p>
          <a:p>
            <a:r>
              <a:rPr b="0"/>
              <a:t>• Warum eingefroren: Würden wir die Grenze mit 2025 einstellen, wäre der Test geschönt (Leakage).</a:t>
            </a:r>
          </a:p>
          <a:p>
            <a:r>
              <a:rPr b="0"/>
              <a:t>• Faktor-Beispiel: ZL-00147 hat 331,8 VLS-h Abweichung. 331,8 ÷ 144,4 = 2,3. Das Vorzeichen sagt die Richtung: plus = mehr verbraucht als erwartet, minus = weniger.</a:t>
            </a:r>
          </a:p>
          <a:p>
            <a:r>
              <a:rPr b="0"/>
              <a:t/>
            </a:r>
          </a:p>
          <a:p>
            <a:r>
              <a:rPr b="1"/>
              <a:t>FALLS GEFRAGT WIRD</a:t>
            </a:r>
          </a:p>
          <a:p>
            <a:r>
              <a:rPr b="1"/>
              <a:t>Warum 99 und nicht 95 Prozent? </a:t>
            </a:r>
            <a:r>
              <a:rPr b="0"/>
              <a:t>Bei 95 % läge jeder 20. normale Fehler über der Grenze, das wären viele Fehlalarme. 99 % ist ein strenger Startwert; welche Grenze zur Prüfkapazität passt, entscheidet der Fachbereich im Pilot.</a:t>
            </a:r>
          </a:p>
          <a:p>
            <a:r>
              <a:rPr b="1"/>
              <a:t>Warum gerade November und Dezember 2024? </a:t>
            </a:r>
            <a:r>
              <a:rPr b="0"/>
              <a:t>Das sind die jüngsten Monate vor dem Test, und sie wurden nicht für die Modellwahl gebraucht; die Folds enden im Oktober. Später ginge nur mit 2025 selbst. Backup B3.</a:t>
            </a:r>
          </a:p>
          <a:p>
            <a:r>
              <a:rPr b="1"/>
              <a:t>Ist die Schwelle 2025 eine andere? </a:t>
            </a:r>
            <a:r>
              <a:rPr b="0"/>
              <a:t>Nachträglich aus 2025 berechnet läge sie bei rund 175 VLS-h. Das zu nutzen wäre Leakage. Der typische Fehler ist 2025 gleich groß, nur die Extreme sind größer.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ZL-00147, 49 kW, August 2025</a:t>
            </a:r>
          </a:p>
          <a:p>
            <a:r>
              <a:rPr b="0"/>
              <a:t>• erwartet gut 7.300, gemessen über 23.500 kWh</a:t>
            </a:r>
          </a:p>
          <a:p>
            <a:r>
              <a:rPr b="0"/>
              <a:t>• 331,8 ÷ 144,4 = Faktor 2,3</a:t>
            </a:r>
          </a:p>
          <a:p>
            <a:r>
              <a:rPr b="0"/>
              <a:t>• Hinweis ≠ Anomalie</a:t>
            </a:r>
          </a:p>
          <a:p>
            <a:r>
              <a:rPr b="0"/>
              <a:t>• Bewertung wird Label</a:t>
            </a:r>
          </a:p>
          <a:p>
            <a:r>
              <a:rPr b="0"/>
              <a:t/>
            </a:r>
          </a:p>
          <a:p>
            <a:r>
              <a:rPr b="1"/>
              <a:t>SPRECHTEXT</a:t>
            </a:r>
          </a:p>
          <a:p>
            <a:r>
              <a:rPr b="0"/>
              <a:t>So sieht ein Prüfhinweis konkret aus. Zähler ZL-00147, ein Anschluss mit 49 Kilowatt. Für August 2025 hat das Modell gut 7.300 Kilowattstunden erwartet, gemessen wurden über 23.500. In Vollaststunden ist die Abweichung 331,8, die Grenze liegt bei 144,4. Der Faktor ist also 2,3: Die Abweichung ist 2,3-mal so groß wie erlaubt, deshalb der Hinweis. [Pause]</a:t>
            </a:r>
          </a:p>
          <a:p>
            <a:r>
              <a:rPr b="0"/>
              <a:t>Ein Hinweis ist aber noch keine bestätigte Anomalie. Deshalb wird jeder Fall im Cockpit geprüft und bewertet: Ist der Messwert gültig? Ist die Abweichung erklärt? Was war die Ursache? Diese Antworten speichern wir, und genau sie sind die Grundlage für meinen nächsten Schritt.</a:t>
            </a:r>
          </a:p>
          <a:p>
            <a:r>
              <a:rPr b="0"/>
              <a:t/>
            </a:r>
          </a:p>
          <a:p>
            <a:r>
              <a:rPr b="1"/>
              <a:t>SO VERSTEHST DU ES</a:t>
            </a:r>
          </a:p>
          <a:p>
            <a:r>
              <a:rPr b="0"/>
              <a:t>• Der Faktor macht Zähler vergleichbar: 2,3 heißt mehr als doppelt so weit draußen wie erlaubt, egal wie groß der Anschluss ist.</a:t>
            </a:r>
          </a:p>
          <a:p>
            <a:r>
              <a:rPr b="0"/>
              <a:t>• Im Diagramm: die durchgezogene Linie ist der gemessene Verbrauch, die gestrichelte die Prognose, die blaue Fläche der erlaubte Bereich. Nur der August liegt deutlich draußen.</a:t>
            </a:r>
          </a:p>
          <a:p>
            <a:r>
              <a:rPr b="0"/>
              <a:t>• Im September ist die Prognose erhöht, weil der hohe August als Vormonat in die Prognose einfließt; der Faktor liegt dort bei −0,68, also innerhalb der Grenze.</a:t>
            </a:r>
          </a:p>
          <a:p>
            <a:r>
              <a:rPr b="0"/>
              <a:t/>
            </a:r>
          </a:p>
          <a:p>
            <a:r>
              <a:rPr b="1"/>
              <a:t>FALLS GEFRAGT WIRD</a:t>
            </a:r>
          </a:p>
          <a:p>
            <a:r>
              <a:rPr b="1"/>
              <a:t>Ist das eine bestätigte Anomalie? </a:t>
            </a:r>
            <a:r>
              <a:rPr b="0"/>
              <a:t>Nein. Ein Prüfhinweis sagt nur: ungewöhnlich groß. Erst die Bewertung bestätigt oder verwirft den Verdacht.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Bewertung = Label</a:t>
            </a:r>
          </a:p>
          <a:p>
            <a:r>
              <a:rPr b="0"/>
              <a:t>• zweites Modell: Klassifikation mit Wahrscheinlichkeit in %</a:t>
            </a:r>
          </a:p>
          <a:p>
            <a:r>
              <a:rPr b="0"/>
              <a:t>• automatisiert vorsortieren, Mensch entscheidet</a:t>
            </a:r>
          </a:p>
          <a:p>
            <a:r>
              <a:rPr b="0"/>
              <a:t>• Übergabe an Patrick</a:t>
            </a:r>
          </a:p>
          <a:p>
            <a:r>
              <a:rPr b="0"/>
              <a:t/>
            </a:r>
          </a:p>
          <a:p>
            <a:r>
              <a:rPr b="1"/>
              <a:t>SPRECHTEXT</a:t>
            </a:r>
          </a:p>
          <a:p>
            <a:r>
              <a:rPr b="0"/>
              <a:t>Mein nächster Schritt baut auf diesen Bewertungen auf. Jede Bewertung ist ein Label: Hat sich der Hinweis bestätigt, ja oder nein, und warum.</a:t>
            </a:r>
          </a:p>
          <a:p>
            <a:r>
              <a:rPr b="0"/>
              <a:t>Sobald genug bestätigte Fälle vorliegen, trainiere ich darauf ein zweites Modell, ein Klassifikationsmodell. Die Regression sagt weiter den erwarteten Verbrauch vorher. Das Klassifikationsmodell schätzt dann für jeden Prüfhinweis, wie wahrscheinlich er sich bestätigt, zum Beispiel 80 Prozent. [Pause]</a:t>
            </a:r>
          </a:p>
          <a:p>
            <a:r>
              <a:rPr b="0"/>
              <a:t>Damit lassen sich die Hinweise automatisiert vorsortieren, die wahrscheinlichsten zuerst. Das spart Prüfzeit und erhöht die Treffsicherheit. Entscheiden bleibt beim Menschen: Das Modell ersetzt keine Abrechnungsentscheidung, es flaggt nur, was eine Prüfung wert ist.</a:t>
            </a:r>
          </a:p>
          <a:p>
            <a:r>
              <a:rPr b="0"/>
              <a:t>Wie das Modell 2025 abgeschnitten hat und wie bestätigte echte Zählerwerte das Retraining der Prognose verbessern können, zeigt jetzt Patrick.</a:t>
            </a:r>
          </a:p>
          <a:p>
            <a:r>
              <a:rPr b="0"/>
              <a:t/>
            </a:r>
          </a:p>
          <a:p>
            <a:r>
              <a:rPr b="1"/>
              <a:t>SO VERSTEHST DU ES</a:t>
            </a:r>
          </a:p>
          <a:p>
            <a:r>
              <a:rPr b="0"/>
              <a:t>• Regression sagt eine Zahl vorher (kWh). Klassifikation sagt eine Klasse vorher (bestätigt ja/nein) und kann dazu eine Wahrscheinlichkeit angeben.</a:t>
            </a:r>
          </a:p>
          <a:p>
            <a:r>
              <a:rPr b="0"/>
              <a:t>• Heute fehlen dafür die Labels, deshalb erst sammeln, dann trainieren. Belastbar wird die Prozentzahl erst, wenn man sie auf neuen Fällen geprüft und kalibriert hat.</a:t>
            </a:r>
          </a:p>
          <a:p>
            <a:r>
              <a:rPr b="0"/>
              <a:t>• Arbeitsteilung mit Patrick: Du sprichst über das zweite Modell für die Hinweise, Patrick über das bessere Retraining der Verbrauchsprognose.</a:t>
            </a:r>
          </a:p>
          <a:p>
            <a:r>
              <a:rPr b="0"/>
              <a:t/>
            </a:r>
          </a:p>
          <a:p>
            <a:r>
              <a:rPr b="1"/>
              <a:t>FALLS GEFRAGT WIRD</a:t>
            </a:r>
          </a:p>
          <a:p>
            <a:r>
              <a:rPr b="1"/>
              <a:t>Wie viele Labels braucht man? </a:t>
            </a:r>
            <a:r>
              <a:rPr b="0"/>
              <a:t>Das legt der Pilot fest; wichtig sind genug bestätigte und verworfene Fälle, auch aus einer Stichprobe unauffälliger Monate.</a:t>
            </a:r>
          </a:p>
          <a:p>
            <a:r>
              <a:rPr b="1"/>
              <a:t>Was ist Precision@K? </a:t>
            </a:r>
            <a:r>
              <a:rPr b="0"/>
              <a:t>Der Anteil bestätigter Fälle unter den K obersten Hinweisen der Prüfliste, also wie treffsicher die Liste 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acht Kombinationen</a:t>
            </a:r>
          </a:p>
          <a:p>
            <a:r>
              <a:rPr b="0"/>
              <a:t>• nur 2024 entscheidet</a:t>
            </a:r>
          </a:p>
          <a:p>
            <a:r>
              <a:rPr b="0"/>
              <a:t/>
            </a:r>
          </a:p>
          <a:p>
            <a:r>
              <a:rPr b="1"/>
              <a:t>SPRECHTEXT</a:t>
            </a:r>
          </a:p>
          <a:p>
            <a:r>
              <a:rPr b="0"/>
              <a:t>Baumtiefe, Merkmalsanteil und Mindestfälle je Blatt haben wir in acht Kombinationen verglichen, nur in den Folds 2024. Die Unterschiede sind klein.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shift(1): nur Vergangenheit</a:t>
            </a:r>
          </a:p>
          <a:p>
            <a:r>
              <a:rPr b="0"/>
              <a:t>• Kaltstart Januar</a:t>
            </a:r>
          </a:p>
          <a:p>
            <a:r>
              <a:rPr b="0"/>
              <a:t/>
            </a:r>
          </a:p>
          <a:p>
            <a:r>
              <a:rPr b="1"/>
              <a:t>SPRECHTEXT</a:t>
            </a:r>
          </a:p>
          <a:p>
            <a:r>
              <a:rPr b="0"/>
              <a:t>Die Historien-Merkmale werden je Zähler um einen Monat verschoben, damit nur abgeschlossene Monate einfließen.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jüngste Monate vor dem Test</a:t>
            </a:r>
          </a:p>
          <a:p>
            <a:r>
              <a:rPr b="0"/>
              <a:t>• keine Überschneidung mit der Modellwahl</a:t>
            </a:r>
          </a:p>
          <a:p>
            <a:r>
              <a:rPr b="0"/>
              <a:t>• 2025-Wert nur Einordnung</a:t>
            </a:r>
          </a:p>
          <a:p>
            <a:r>
              <a:rPr b="0"/>
              <a:t/>
            </a:r>
          </a:p>
          <a:p>
            <a:r>
              <a:rPr b="1"/>
              <a:t>SPRECHTEXT</a:t>
            </a:r>
          </a:p>
          <a:p>
            <a:r>
              <a:rPr b="0"/>
              <a:t>Die Schwelle muss vor 2025 feststehen. November und Dezember 2024 sind die letzten Monate davor und wurden nicht für die Modellwahl gebraucht.</a:t>
            </a:r>
          </a:p>
          <a:p>
            <a:r>
              <a:rPr b="0"/>
              <a:t>Im Nachhinein läge das 99. Perzentil 2025 bei 175 Vollaststunden. Der typische Fehler ist aber gleich groß; 2025 sind nur die Extreme größer.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STICHWORTE</a:t>
            </a:r>
          </a:p>
          <a:p>
            <a:r>
              <a:rPr b="0"/>
              <a:t>• Wortlaut wie im Bericht</a:t>
            </a:r>
          </a:p>
          <a:p>
            <a:r>
              <a:rPr b="0"/>
              <a:t>• ML-Felder hellteal</a:t>
            </a:r>
          </a:p>
          <a:p>
            <a:r>
              <a:rPr b="0"/>
              <a:t/>
            </a:r>
          </a:p>
          <a:p>
            <a:r>
              <a:rPr b="1"/>
              <a:t>SPRECHTEXT</a:t>
            </a:r>
          </a:p>
          <a:p>
            <a:r>
              <a:rPr b="0"/>
              <a:t>Falls gefragt: Das ist der Canvas im Wortlaut des Berichts; die hervorgehobenen Zeilen sind meine Felder.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apitelfläche"/>
          <p:cNvSpPr/>
          <p:nvPr/>
        </p:nvSpPr>
        <p:spPr>
          <a:xfrm>
            <a:off x="0" y="0"/>
            <a:ext cx="5610225" cy="6858000"/>
          </a:xfrm>
          <a:prstGeom prst="rect">
            <a:avLst/>
          </a:prstGeom>
          <a:solidFill>
            <a:srgbClr val="063659"/>
          </a:solidFill>
          <a:ln>
            <a:noFill/>
          </a:ln>
          <a:effectLst/>
        </p:spPr>
        <p:txBody>
          <a:bodyPr rtlCol="0" anchor="ctr"/>
          <a:lstStyle/>
          <a:p>
            <a:pPr algn="ctr"/>
          </a:p>
        </p:txBody>
      </p:sp>
      <p:sp>
        <p:nvSpPr>
          <p:cNvPr id="3" name="Ring"/>
          <p:cNvSpPr/>
          <p:nvPr/>
        </p:nvSpPr>
        <p:spPr>
          <a:xfrm>
            <a:off x="3228975" y="0"/>
            <a:ext cx="2381250" cy="2667000"/>
          </a:xfrm>
          <a:custGeom>
            <a:avLst/>
            <a:gdLst/>
            <a:ahLst/>
            <a:cxnLst/>
            <a:rect l="l" t="t" r="r" b="b"/>
            <a:pathLst>
              <a:path w="2381250" h="2667000">
                <a:moveTo>
                  <a:pt x="2381250" y="2667000"/>
                </a:moveTo>
                <a:lnTo>
                  <a:pt x="2381250" y="2667000"/>
                </a:lnTo>
                <a:lnTo>
                  <a:pt x="2360470" y="2666909"/>
                </a:lnTo>
                <a:lnTo>
                  <a:pt x="2339691" y="2666637"/>
                </a:lnTo>
                <a:lnTo>
                  <a:pt x="2318916" y="2666184"/>
                </a:lnTo>
                <a:lnTo>
                  <a:pt x="2298146" y="2665549"/>
                </a:lnTo>
                <a:lnTo>
                  <a:pt x="2277381" y="2664734"/>
                </a:lnTo>
                <a:lnTo>
                  <a:pt x="2256625" y="2663737"/>
                </a:lnTo>
                <a:lnTo>
                  <a:pt x="2235878" y="2662558"/>
                </a:lnTo>
                <a:lnTo>
                  <a:pt x="2215142" y="2661199"/>
                </a:lnTo>
                <a:lnTo>
                  <a:pt x="2194419" y="2659659"/>
                </a:lnTo>
                <a:lnTo>
                  <a:pt x="2173710" y="2657939"/>
                </a:lnTo>
                <a:lnTo>
                  <a:pt x="2153017" y="2656037"/>
                </a:lnTo>
                <a:lnTo>
                  <a:pt x="2132342" y="2653955"/>
                </a:lnTo>
                <a:lnTo>
                  <a:pt x="2111685" y="2651693"/>
                </a:lnTo>
                <a:lnTo>
                  <a:pt x="2091049" y="2649251"/>
                </a:lnTo>
                <a:lnTo>
                  <a:pt x="2070435" y="2646628"/>
                </a:lnTo>
                <a:lnTo>
                  <a:pt x="2049844" y="2643826"/>
                </a:lnTo>
                <a:lnTo>
                  <a:pt x="2029279" y="2640844"/>
                </a:lnTo>
                <a:lnTo>
                  <a:pt x="2008740" y="2637683"/>
                </a:lnTo>
                <a:lnTo>
                  <a:pt x="1988230" y="2634343"/>
                </a:lnTo>
                <a:lnTo>
                  <a:pt x="1967750" y="2630823"/>
                </a:lnTo>
                <a:lnTo>
                  <a:pt x="1947302" y="2627126"/>
                </a:lnTo>
                <a:lnTo>
                  <a:pt x="1926886" y="2623250"/>
                </a:lnTo>
                <a:lnTo>
                  <a:pt x="1906505" y="2619196"/>
                </a:lnTo>
                <a:lnTo>
                  <a:pt x="1886160" y="2614964"/>
                </a:lnTo>
                <a:lnTo>
                  <a:pt x="1865853" y="2610555"/>
                </a:lnTo>
                <a:lnTo>
                  <a:pt x="1845585" y="2605969"/>
                </a:lnTo>
                <a:lnTo>
                  <a:pt x="1825358" y="2601206"/>
                </a:lnTo>
                <a:lnTo>
                  <a:pt x="1805173" y="2596267"/>
                </a:lnTo>
                <a:lnTo>
                  <a:pt x="1785033" y="2591152"/>
                </a:lnTo>
                <a:lnTo>
                  <a:pt x="1764937" y="2585861"/>
                </a:lnTo>
                <a:lnTo>
                  <a:pt x="1744889" y="2580395"/>
                </a:lnTo>
                <a:lnTo>
                  <a:pt x="1724889" y="2574754"/>
                </a:lnTo>
                <a:lnTo>
                  <a:pt x="1704938" y="2568939"/>
                </a:lnTo>
                <a:lnTo>
                  <a:pt x="1685040" y="2562951"/>
                </a:lnTo>
                <a:lnTo>
                  <a:pt x="1665194" y="2556788"/>
                </a:lnTo>
                <a:lnTo>
                  <a:pt x="1645403" y="2550453"/>
                </a:lnTo>
                <a:lnTo>
                  <a:pt x="1625668" y="2543946"/>
                </a:lnTo>
                <a:lnTo>
                  <a:pt x="1605991" y="2537266"/>
                </a:lnTo>
                <a:lnTo>
                  <a:pt x="1586372" y="2530415"/>
                </a:lnTo>
                <a:lnTo>
                  <a:pt x="1566815" y="2523393"/>
                </a:lnTo>
                <a:lnTo>
                  <a:pt x="1547319" y="2516201"/>
                </a:lnTo>
                <a:lnTo>
                  <a:pt x="1527886" y="2508838"/>
                </a:lnTo>
                <a:lnTo>
                  <a:pt x="1508519" y="2501307"/>
                </a:lnTo>
                <a:lnTo>
                  <a:pt x="1489218" y="2493607"/>
                </a:lnTo>
                <a:lnTo>
                  <a:pt x="1469985" y="2485738"/>
                </a:lnTo>
                <a:lnTo>
                  <a:pt x="1450822" y="2477702"/>
                </a:lnTo>
                <a:lnTo>
                  <a:pt x="1431729" y="2469499"/>
                </a:lnTo>
                <a:lnTo>
                  <a:pt x="1412708" y="2461130"/>
                </a:lnTo>
                <a:lnTo>
                  <a:pt x="1393762" y="2452595"/>
                </a:lnTo>
                <a:lnTo>
                  <a:pt x="1374890" y="2443895"/>
                </a:lnTo>
                <a:lnTo>
                  <a:pt x="1356095" y="2435031"/>
                </a:lnTo>
                <a:lnTo>
                  <a:pt x="1337379" y="2426003"/>
                </a:lnTo>
                <a:lnTo>
                  <a:pt x="1318741" y="2416812"/>
                </a:lnTo>
                <a:lnTo>
                  <a:pt x="1300185" y="2407459"/>
                </a:lnTo>
                <a:lnTo>
                  <a:pt x="1281711" y="2397945"/>
                </a:lnTo>
                <a:lnTo>
                  <a:pt x="1263321" y="2388269"/>
                </a:lnTo>
                <a:lnTo>
                  <a:pt x="1245016" y="2378433"/>
                </a:lnTo>
                <a:lnTo>
                  <a:pt x="1226797" y="2368438"/>
                </a:lnTo>
                <a:lnTo>
                  <a:pt x="1208666" y="2358285"/>
                </a:lnTo>
                <a:lnTo>
                  <a:pt x="1190625" y="2347973"/>
                </a:lnTo>
                <a:lnTo>
                  <a:pt x="1172674" y="2337504"/>
                </a:lnTo>
                <a:lnTo>
                  <a:pt x="1154816" y="2326880"/>
                </a:lnTo>
                <a:lnTo>
                  <a:pt x="1137050" y="2316099"/>
                </a:lnTo>
                <a:lnTo>
                  <a:pt x="1119380" y="2305165"/>
                </a:lnTo>
                <a:lnTo>
                  <a:pt x="1101805" y="2294076"/>
                </a:lnTo>
                <a:lnTo>
                  <a:pt x="1084328" y="2282834"/>
                </a:lnTo>
                <a:lnTo>
                  <a:pt x="1066950" y="2271441"/>
                </a:lnTo>
                <a:lnTo>
                  <a:pt x="1049672" y="2259896"/>
                </a:lnTo>
                <a:lnTo>
                  <a:pt x="1032495" y="2248200"/>
                </a:lnTo>
                <a:lnTo>
                  <a:pt x="1015421" y="2236356"/>
                </a:lnTo>
                <a:lnTo>
                  <a:pt x="998451" y="2224363"/>
                </a:lnTo>
                <a:lnTo>
                  <a:pt x="981586" y="2212222"/>
                </a:lnTo>
                <a:lnTo>
                  <a:pt x="964828" y="2199934"/>
                </a:lnTo>
                <a:lnTo>
                  <a:pt x="948178" y="2187501"/>
                </a:lnTo>
                <a:lnTo>
                  <a:pt x="931637" y="2174923"/>
                </a:lnTo>
                <a:lnTo>
                  <a:pt x="915206" y="2162201"/>
                </a:lnTo>
                <a:lnTo>
                  <a:pt x="898887" y="2149336"/>
                </a:lnTo>
                <a:lnTo>
                  <a:pt x="882681" y="2136329"/>
                </a:lnTo>
                <a:lnTo>
                  <a:pt x="866589" y="2123181"/>
                </a:lnTo>
                <a:lnTo>
                  <a:pt x="850612" y="2109893"/>
                </a:lnTo>
                <a:lnTo>
                  <a:pt x="834752" y="2096467"/>
                </a:lnTo>
                <a:lnTo>
                  <a:pt x="819009" y="2082902"/>
                </a:lnTo>
                <a:lnTo>
                  <a:pt x="803386" y="2069201"/>
                </a:lnTo>
                <a:lnTo>
                  <a:pt x="787883" y="2055364"/>
                </a:lnTo>
                <a:lnTo>
                  <a:pt x="772501" y="2041392"/>
                </a:lnTo>
                <a:lnTo>
                  <a:pt x="757241" y="2027286"/>
                </a:lnTo>
                <a:lnTo>
                  <a:pt x="742106" y="2013048"/>
                </a:lnTo>
                <a:lnTo>
                  <a:pt x="727095" y="1998678"/>
                </a:lnTo>
                <a:lnTo>
                  <a:pt x="712210" y="1984178"/>
                </a:lnTo>
                <a:lnTo>
                  <a:pt x="697452" y="1969548"/>
                </a:lnTo>
                <a:lnTo>
                  <a:pt x="682822" y="1954790"/>
                </a:lnTo>
                <a:lnTo>
                  <a:pt x="668322" y="1939905"/>
                </a:lnTo>
                <a:lnTo>
                  <a:pt x="653952" y="1924894"/>
                </a:lnTo>
                <a:lnTo>
                  <a:pt x="639714" y="1909759"/>
                </a:lnTo>
                <a:lnTo>
                  <a:pt x="625608" y="1894499"/>
                </a:lnTo>
                <a:lnTo>
                  <a:pt x="611636" y="1879117"/>
                </a:lnTo>
                <a:lnTo>
                  <a:pt x="597799" y="1863614"/>
                </a:lnTo>
                <a:lnTo>
                  <a:pt x="584098" y="1847991"/>
                </a:lnTo>
                <a:lnTo>
                  <a:pt x="570533" y="1832248"/>
                </a:lnTo>
                <a:lnTo>
                  <a:pt x="557107" y="1816388"/>
                </a:lnTo>
                <a:lnTo>
                  <a:pt x="543819" y="1800411"/>
                </a:lnTo>
                <a:lnTo>
                  <a:pt x="530671" y="1784319"/>
                </a:lnTo>
                <a:lnTo>
                  <a:pt x="517664" y="1768113"/>
                </a:lnTo>
                <a:lnTo>
                  <a:pt x="504799" y="1751794"/>
                </a:lnTo>
                <a:lnTo>
                  <a:pt x="492077" y="1735363"/>
                </a:lnTo>
                <a:lnTo>
                  <a:pt x="479499" y="1718822"/>
                </a:lnTo>
                <a:lnTo>
                  <a:pt x="467066" y="1702172"/>
                </a:lnTo>
                <a:lnTo>
                  <a:pt x="454778" y="1685414"/>
                </a:lnTo>
                <a:lnTo>
                  <a:pt x="442637" y="1668549"/>
                </a:lnTo>
                <a:lnTo>
                  <a:pt x="430644" y="1651579"/>
                </a:lnTo>
                <a:lnTo>
                  <a:pt x="418800" y="1634505"/>
                </a:lnTo>
                <a:lnTo>
                  <a:pt x="407104" y="1617328"/>
                </a:lnTo>
                <a:lnTo>
                  <a:pt x="395559" y="1600050"/>
                </a:lnTo>
                <a:lnTo>
                  <a:pt x="384166" y="1582672"/>
                </a:lnTo>
                <a:lnTo>
                  <a:pt x="372924" y="1565195"/>
                </a:lnTo>
                <a:lnTo>
                  <a:pt x="361835" y="1547620"/>
                </a:lnTo>
                <a:lnTo>
                  <a:pt x="350901" y="1529950"/>
                </a:lnTo>
                <a:lnTo>
                  <a:pt x="340120" y="1512184"/>
                </a:lnTo>
                <a:lnTo>
                  <a:pt x="329496" y="1494326"/>
                </a:lnTo>
                <a:lnTo>
                  <a:pt x="319027" y="1476375"/>
                </a:lnTo>
                <a:lnTo>
                  <a:pt x="308715" y="1458334"/>
                </a:lnTo>
                <a:lnTo>
                  <a:pt x="298562" y="1440203"/>
                </a:lnTo>
                <a:lnTo>
                  <a:pt x="288567" y="1421984"/>
                </a:lnTo>
                <a:lnTo>
                  <a:pt x="278731" y="1403679"/>
                </a:lnTo>
                <a:lnTo>
                  <a:pt x="269055" y="1385289"/>
                </a:lnTo>
                <a:lnTo>
                  <a:pt x="259541" y="1366815"/>
                </a:lnTo>
                <a:lnTo>
                  <a:pt x="250188" y="1348259"/>
                </a:lnTo>
                <a:lnTo>
                  <a:pt x="240997" y="1329621"/>
                </a:lnTo>
                <a:lnTo>
                  <a:pt x="231969" y="1310905"/>
                </a:lnTo>
                <a:lnTo>
                  <a:pt x="223105" y="1292110"/>
                </a:lnTo>
                <a:lnTo>
                  <a:pt x="214405" y="1273238"/>
                </a:lnTo>
                <a:lnTo>
                  <a:pt x="205870" y="1254292"/>
                </a:lnTo>
                <a:lnTo>
                  <a:pt x="197501" y="1235271"/>
                </a:lnTo>
                <a:lnTo>
                  <a:pt x="189298" y="1216178"/>
                </a:lnTo>
                <a:lnTo>
                  <a:pt x="181262" y="1197015"/>
                </a:lnTo>
                <a:lnTo>
                  <a:pt x="173393" y="1177782"/>
                </a:lnTo>
                <a:lnTo>
                  <a:pt x="165693" y="1158481"/>
                </a:lnTo>
                <a:lnTo>
                  <a:pt x="158162" y="1139114"/>
                </a:lnTo>
                <a:lnTo>
                  <a:pt x="150799" y="1119681"/>
                </a:lnTo>
                <a:lnTo>
                  <a:pt x="143607" y="1100185"/>
                </a:lnTo>
                <a:lnTo>
                  <a:pt x="136585" y="1080628"/>
                </a:lnTo>
                <a:lnTo>
                  <a:pt x="129734" y="1061009"/>
                </a:lnTo>
                <a:lnTo>
                  <a:pt x="123054" y="1041332"/>
                </a:lnTo>
                <a:lnTo>
                  <a:pt x="116547" y="1021597"/>
                </a:lnTo>
                <a:lnTo>
                  <a:pt x="110212" y="1001806"/>
                </a:lnTo>
                <a:lnTo>
                  <a:pt x="104049" y="981960"/>
                </a:lnTo>
                <a:lnTo>
                  <a:pt x="98061" y="962062"/>
                </a:lnTo>
                <a:lnTo>
                  <a:pt x="92246" y="942111"/>
                </a:lnTo>
                <a:lnTo>
                  <a:pt x="86605" y="922111"/>
                </a:lnTo>
                <a:lnTo>
                  <a:pt x="81139" y="902063"/>
                </a:lnTo>
                <a:lnTo>
                  <a:pt x="75848" y="881967"/>
                </a:lnTo>
                <a:lnTo>
                  <a:pt x="70733" y="861827"/>
                </a:lnTo>
                <a:lnTo>
                  <a:pt x="65794" y="841642"/>
                </a:lnTo>
                <a:lnTo>
                  <a:pt x="61031" y="821415"/>
                </a:lnTo>
                <a:lnTo>
                  <a:pt x="56445" y="801147"/>
                </a:lnTo>
                <a:lnTo>
                  <a:pt x="52036" y="780840"/>
                </a:lnTo>
                <a:lnTo>
                  <a:pt x="47804" y="760495"/>
                </a:lnTo>
                <a:lnTo>
                  <a:pt x="43750" y="740114"/>
                </a:lnTo>
                <a:lnTo>
                  <a:pt x="39874" y="719698"/>
                </a:lnTo>
                <a:lnTo>
                  <a:pt x="36177" y="699250"/>
                </a:lnTo>
                <a:lnTo>
                  <a:pt x="32657" y="678770"/>
                </a:lnTo>
                <a:lnTo>
                  <a:pt x="29317" y="658260"/>
                </a:lnTo>
                <a:lnTo>
                  <a:pt x="26156" y="637721"/>
                </a:lnTo>
                <a:lnTo>
                  <a:pt x="23174" y="617156"/>
                </a:lnTo>
                <a:lnTo>
                  <a:pt x="20372" y="596565"/>
                </a:lnTo>
                <a:lnTo>
                  <a:pt x="17749" y="575951"/>
                </a:lnTo>
                <a:lnTo>
                  <a:pt x="15307" y="555315"/>
                </a:lnTo>
                <a:lnTo>
                  <a:pt x="13045" y="534658"/>
                </a:lnTo>
                <a:lnTo>
                  <a:pt x="10963" y="513983"/>
                </a:lnTo>
                <a:lnTo>
                  <a:pt x="9061" y="493290"/>
                </a:lnTo>
                <a:lnTo>
                  <a:pt x="7341" y="472581"/>
                </a:lnTo>
                <a:lnTo>
                  <a:pt x="5801" y="451858"/>
                </a:lnTo>
                <a:lnTo>
                  <a:pt x="4442" y="431122"/>
                </a:lnTo>
                <a:lnTo>
                  <a:pt x="3263" y="410375"/>
                </a:lnTo>
                <a:lnTo>
                  <a:pt x="2266" y="389619"/>
                </a:lnTo>
                <a:lnTo>
                  <a:pt x="1451" y="368854"/>
                </a:lnTo>
                <a:lnTo>
                  <a:pt x="816" y="348084"/>
                </a:lnTo>
                <a:lnTo>
                  <a:pt x="363" y="327309"/>
                </a:lnTo>
                <a:lnTo>
                  <a:pt x="91" y="306530"/>
                </a:lnTo>
                <a:lnTo>
                  <a:pt x="0" y="285750"/>
                </a:lnTo>
                <a:lnTo>
                  <a:pt x="91" y="264970"/>
                </a:lnTo>
                <a:lnTo>
                  <a:pt x="363" y="244191"/>
                </a:lnTo>
                <a:lnTo>
                  <a:pt x="816" y="223416"/>
                </a:lnTo>
                <a:lnTo>
                  <a:pt x="1451" y="202646"/>
                </a:lnTo>
                <a:lnTo>
                  <a:pt x="2266" y="181881"/>
                </a:lnTo>
                <a:lnTo>
                  <a:pt x="3263" y="161125"/>
                </a:lnTo>
                <a:lnTo>
                  <a:pt x="4442" y="140378"/>
                </a:lnTo>
                <a:lnTo>
                  <a:pt x="5801" y="119642"/>
                </a:lnTo>
                <a:lnTo>
                  <a:pt x="7341" y="98919"/>
                </a:lnTo>
                <a:lnTo>
                  <a:pt x="9061" y="78210"/>
                </a:lnTo>
                <a:lnTo>
                  <a:pt x="10963" y="57517"/>
                </a:lnTo>
                <a:lnTo>
                  <a:pt x="13045" y="36842"/>
                </a:lnTo>
                <a:lnTo>
                  <a:pt x="15307" y="16185"/>
                </a:lnTo>
                <a:lnTo>
                  <a:pt x="17207" y="0"/>
                </a:lnTo>
              </a:path>
            </a:pathLst>
          </a:custGeom>
          <a:noFill/>
          <a:ln w="19050">
            <a:solidFill>
              <a:srgbClr val="1A5271"/>
            </a:solidFill>
          </a:ln>
          <a:effectLst/>
        </p:spPr>
        <p:txBody>
          <a:bodyPr rtlCol="0" anchor="ctr"/>
          <a:lstStyle/>
          <a:p>
            <a:pPr algn="ctr"/>
          </a:p>
        </p:txBody>
      </p:sp>
      <p:sp>
        <p:nvSpPr>
          <p:cNvPr id="4" name="Ring"/>
          <p:cNvSpPr/>
          <p:nvPr/>
        </p:nvSpPr>
        <p:spPr>
          <a:xfrm>
            <a:off x="3990975" y="0"/>
            <a:ext cx="1619250" cy="1905000"/>
          </a:xfrm>
          <a:custGeom>
            <a:avLst/>
            <a:gdLst/>
            <a:ahLst/>
            <a:cxnLst/>
            <a:rect l="l" t="t" r="r" b="b"/>
            <a:pathLst>
              <a:path w="1619250" h="1905000">
                <a:moveTo>
                  <a:pt x="1619250" y="1902021"/>
                </a:moveTo>
                <a:lnTo>
                  <a:pt x="1617038" y="1902157"/>
                </a:lnTo>
                <a:lnTo>
                  <a:pt x="1603760" y="1902911"/>
                </a:lnTo>
                <a:lnTo>
                  <a:pt x="1590476" y="1903549"/>
                </a:lnTo>
                <a:lnTo>
                  <a:pt x="1577187" y="1904072"/>
                </a:lnTo>
                <a:lnTo>
                  <a:pt x="1563894" y="1904478"/>
                </a:lnTo>
                <a:lnTo>
                  <a:pt x="1550597" y="1904768"/>
                </a:lnTo>
                <a:lnTo>
                  <a:pt x="1537299" y="1904942"/>
                </a:lnTo>
                <a:lnTo>
                  <a:pt x="1524000" y="1905000"/>
                </a:lnTo>
                <a:lnTo>
                  <a:pt x="1510701" y="1904942"/>
                </a:lnTo>
                <a:lnTo>
                  <a:pt x="1497403" y="1904768"/>
                </a:lnTo>
                <a:lnTo>
                  <a:pt x="1484106" y="1904478"/>
                </a:lnTo>
                <a:lnTo>
                  <a:pt x="1470813" y="1904072"/>
                </a:lnTo>
                <a:lnTo>
                  <a:pt x="1457524" y="1903549"/>
                </a:lnTo>
                <a:lnTo>
                  <a:pt x="1444240" y="1902911"/>
                </a:lnTo>
                <a:lnTo>
                  <a:pt x="1430962" y="1902157"/>
                </a:lnTo>
                <a:lnTo>
                  <a:pt x="1417691" y="1901288"/>
                </a:lnTo>
                <a:lnTo>
                  <a:pt x="1404428" y="1900302"/>
                </a:lnTo>
                <a:lnTo>
                  <a:pt x="1391175" y="1899201"/>
                </a:lnTo>
                <a:lnTo>
                  <a:pt x="1377931" y="1897984"/>
                </a:lnTo>
                <a:lnTo>
                  <a:pt x="1364699" y="1896651"/>
                </a:lnTo>
                <a:lnTo>
                  <a:pt x="1351478" y="1895204"/>
                </a:lnTo>
                <a:lnTo>
                  <a:pt x="1338271" y="1893640"/>
                </a:lnTo>
                <a:lnTo>
                  <a:pt x="1325078" y="1891962"/>
                </a:lnTo>
                <a:lnTo>
                  <a:pt x="1311900" y="1890169"/>
                </a:lnTo>
                <a:lnTo>
                  <a:pt x="1298738" y="1888260"/>
                </a:lnTo>
                <a:lnTo>
                  <a:pt x="1285594" y="1886237"/>
                </a:lnTo>
                <a:lnTo>
                  <a:pt x="1272467" y="1884099"/>
                </a:lnTo>
                <a:lnTo>
                  <a:pt x="1259360" y="1881847"/>
                </a:lnTo>
                <a:lnTo>
                  <a:pt x="1246273" y="1879480"/>
                </a:lnTo>
                <a:lnTo>
                  <a:pt x="1233207" y="1877000"/>
                </a:lnTo>
                <a:lnTo>
                  <a:pt x="1220163" y="1874405"/>
                </a:lnTo>
                <a:lnTo>
                  <a:pt x="1207143" y="1871697"/>
                </a:lnTo>
                <a:lnTo>
                  <a:pt x="1194146" y="1868875"/>
                </a:lnTo>
                <a:lnTo>
                  <a:pt x="1181175" y="1865940"/>
                </a:lnTo>
                <a:lnTo>
                  <a:pt x="1168229" y="1862892"/>
                </a:lnTo>
                <a:lnTo>
                  <a:pt x="1155311" y="1859731"/>
                </a:lnTo>
                <a:lnTo>
                  <a:pt x="1142421" y="1856457"/>
                </a:lnTo>
                <a:lnTo>
                  <a:pt x="1129560" y="1853071"/>
                </a:lnTo>
                <a:lnTo>
                  <a:pt x="1116729" y="1849573"/>
                </a:lnTo>
                <a:lnTo>
                  <a:pt x="1103929" y="1845963"/>
                </a:lnTo>
                <a:lnTo>
                  <a:pt x="1091161" y="1842241"/>
                </a:lnTo>
                <a:lnTo>
                  <a:pt x="1078426" y="1838408"/>
                </a:lnTo>
                <a:lnTo>
                  <a:pt x="1065724" y="1834465"/>
                </a:lnTo>
                <a:lnTo>
                  <a:pt x="1053058" y="1830410"/>
                </a:lnTo>
                <a:lnTo>
                  <a:pt x="1040428" y="1826245"/>
                </a:lnTo>
                <a:lnTo>
                  <a:pt x="1027834" y="1821970"/>
                </a:lnTo>
                <a:lnTo>
                  <a:pt x="1015278" y="1817586"/>
                </a:lnTo>
                <a:lnTo>
                  <a:pt x="1002761" y="1813092"/>
                </a:lnTo>
                <a:lnTo>
                  <a:pt x="990284" y="1808488"/>
                </a:lnTo>
                <a:lnTo>
                  <a:pt x="977847" y="1803777"/>
                </a:lnTo>
                <a:lnTo>
                  <a:pt x="965452" y="1798956"/>
                </a:lnTo>
                <a:lnTo>
                  <a:pt x="953100" y="1794028"/>
                </a:lnTo>
                <a:lnTo>
                  <a:pt x="940790" y="1788992"/>
                </a:lnTo>
                <a:lnTo>
                  <a:pt x="928526" y="1783849"/>
                </a:lnTo>
                <a:lnTo>
                  <a:pt x="916306" y="1778600"/>
                </a:lnTo>
                <a:lnTo>
                  <a:pt x="904133" y="1773243"/>
                </a:lnTo>
                <a:lnTo>
                  <a:pt x="892007" y="1767781"/>
                </a:lnTo>
                <a:lnTo>
                  <a:pt x="879930" y="1762213"/>
                </a:lnTo>
                <a:lnTo>
                  <a:pt x="867901" y="1756540"/>
                </a:lnTo>
                <a:lnTo>
                  <a:pt x="855922" y="1750762"/>
                </a:lnTo>
                <a:lnTo>
                  <a:pt x="843995" y="1744880"/>
                </a:lnTo>
                <a:lnTo>
                  <a:pt x="832118" y="1738894"/>
                </a:lnTo>
                <a:lnTo>
                  <a:pt x="820295" y="1732805"/>
                </a:lnTo>
                <a:lnTo>
                  <a:pt x="808525" y="1726612"/>
                </a:lnTo>
                <a:lnTo>
                  <a:pt x="796810" y="1720317"/>
                </a:lnTo>
                <a:lnTo>
                  <a:pt x="785150" y="1713920"/>
                </a:lnTo>
                <a:lnTo>
                  <a:pt x="773546" y="1707422"/>
                </a:lnTo>
                <a:lnTo>
                  <a:pt x="762000" y="1700823"/>
                </a:lnTo>
                <a:lnTo>
                  <a:pt x="750512" y="1694123"/>
                </a:lnTo>
                <a:lnTo>
                  <a:pt x="739082" y="1687323"/>
                </a:lnTo>
                <a:lnTo>
                  <a:pt x="727712" y="1680424"/>
                </a:lnTo>
                <a:lnTo>
                  <a:pt x="716403" y="1673425"/>
                </a:lnTo>
                <a:lnTo>
                  <a:pt x="705155" y="1666329"/>
                </a:lnTo>
                <a:lnTo>
                  <a:pt x="693970" y="1659134"/>
                </a:lnTo>
                <a:lnTo>
                  <a:pt x="682848" y="1651842"/>
                </a:lnTo>
                <a:lnTo>
                  <a:pt x="671790" y="1644453"/>
                </a:lnTo>
                <a:lnTo>
                  <a:pt x="660797" y="1636968"/>
                </a:lnTo>
                <a:lnTo>
                  <a:pt x="649870" y="1629388"/>
                </a:lnTo>
                <a:lnTo>
                  <a:pt x="639009" y="1621712"/>
                </a:lnTo>
                <a:lnTo>
                  <a:pt x="628215" y="1613942"/>
                </a:lnTo>
                <a:lnTo>
                  <a:pt x="617490" y="1606078"/>
                </a:lnTo>
                <a:lnTo>
                  <a:pt x="606834" y="1598121"/>
                </a:lnTo>
                <a:lnTo>
                  <a:pt x="596248" y="1590070"/>
                </a:lnTo>
                <a:lnTo>
                  <a:pt x="585732" y="1581928"/>
                </a:lnTo>
                <a:lnTo>
                  <a:pt x="575288" y="1573695"/>
                </a:lnTo>
                <a:lnTo>
                  <a:pt x="564916" y="1565370"/>
                </a:lnTo>
                <a:lnTo>
                  <a:pt x="554617" y="1556956"/>
                </a:lnTo>
                <a:lnTo>
                  <a:pt x="544392" y="1548452"/>
                </a:lnTo>
                <a:lnTo>
                  <a:pt x="534241" y="1539859"/>
                </a:lnTo>
                <a:lnTo>
                  <a:pt x="524166" y="1531177"/>
                </a:lnTo>
                <a:lnTo>
                  <a:pt x="514167" y="1522409"/>
                </a:lnTo>
                <a:lnTo>
                  <a:pt x="504245" y="1513553"/>
                </a:lnTo>
                <a:lnTo>
                  <a:pt x="494401" y="1504611"/>
                </a:lnTo>
                <a:lnTo>
                  <a:pt x="484634" y="1495583"/>
                </a:lnTo>
                <a:lnTo>
                  <a:pt x="474948" y="1486471"/>
                </a:lnTo>
                <a:lnTo>
                  <a:pt x="465341" y="1477274"/>
                </a:lnTo>
                <a:lnTo>
                  <a:pt x="455814" y="1467994"/>
                </a:lnTo>
                <a:lnTo>
                  <a:pt x="446369" y="1458631"/>
                </a:lnTo>
                <a:lnTo>
                  <a:pt x="437006" y="1449186"/>
                </a:lnTo>
                <a:lnTo>
                  <a:pt x="427726" y="1439659"/>
                </a:lnTo>
                <a:lnTo>
                  <a:pt x="418529" y="1430052"/>
                </a:lnTo>
                <a:lnTo>
                  <a:pt x="409417" y="1420366"/>
                </a:lnTo>
                <a:lnTo>
                  <a:pt x="400389" y="1410599"/>
                </a:lnTo>
                <a:lnTo>
                  <a:pt x="391447" y="1400755"/>
                </a:lnTo>
                <a:lnTo>
                  <a:pt x="382591" y="1390833"/>
                </a:lnTo>
                <a:lnTo>
                  <a:pt x="373823" y="1380834"/>
                </a:lnTo>
                <a:lnTo>
                  <a:pt x="365141" y="1370759"/>
                </a:lnTo>
                <a:lnTo>
                  <a:pt x="356548" y="1360608"/>
                </a:lnTo>
                <a:lnTo>
                  <a:pt x="348044" y="1350383"/>
                </a:lnTo>
                <a:lnTo>
                  <a:pt x="339630" y="1340084"/>
                </a:lnTo>
                <a:lnTo>
                  <a:pt x="331305" y="1329712"/>
                </a:lnTo>
                <a:lnTo>
                  <a:pt x="323072" y="1319268"/>
                </a:lnTo>
                <a:lnTo>
                  <a:pt x="314930" y="1308752"/>
                </a:lnTo>
                <a:lnTo>
                  <a:pt x="306879" y="1298166"/>
                </a:lnTo>
                <a:lnTo>
                  <a:pt x="298922" y="1287510"/>
                </a:lnTo>
                <a:lnTo>
                  <a:pt x="291058" y="1276785"/>
                </a:lnTo>
                <a:lnTo>
                  <a:pt x="283288" y="1265991"/>
                </a:lnTo>
                <a:lnTo>
                  <a:pt x="275612" y="1255130"/>
                </a:lnTo>
                <a:lnTo>
                  <a:pt x="268032" y="1244203"/>
                </a:lnTo>
                <a:lnTo>
                  <a:pt x="260547" y="1233210"/>
                </a:lnTo>
                <a:lnTo>
                  <a:pt x="253158" y="1222152"/>
                </a:lnTo>
                <a:lnTo>
                  <a:pt x="245866" y="1211030"/>
                </a:lnTo>
                <a:lnTo>
                  <a:pt x="238671" y="1199845"/>
                </a:lnTo>
                <a:lnTo>
                  <a:pt x="231575" y="1188597"/>
                </a:lnTo>
                <a:lnTo>
                  <a:pt x="224576" y="1177288"/>
                </a:lnTo>
                <a:lnTo>
                  <a:pt x="217677" y="1165918"/>
                </a:lnTo>
                <a:lnTo>
                  <a:pt x="210877" y="1154488"/>
                </a:lnTo>
                <a:lnTo>
                  <a:pt x="204177" y="1143000"/>
                </a:lnTo>
                <a:lnTo>
                  <a:pt x="197578" y="1131454"/>
                </a:lnTo>
                <a:lnTo>
                  <a:pt x="191080" y="1119850"/>
                </a:lnTo>
                <a:lnTo>
                  <a:pt x="184683" y="1108190"/>
                </a:lnTo>
                <a:lnTo>
                  <a:pt x="178388" y="1096475"/>
                </a:lnTo>
                <a:lnTo>
                  <a:pt x="172195" y="1084705"/>
                </a:lnTo>
                <a:lnTo>
                  <a:pt x="166106" y="1072882"/>
                </a:lnTo>
                <a:lnTo>
                  <a:pt x="160120" y="1061005"/>
                </a:lnTo>
                <a:lnTo>
                  <a:pt x="154238" y="1049078"/>
                </a:lnTo>
                <a:lnTo>
                  <a:pt x="148460" y="1037099"/>
                </a:lnTo>
                <a:lnTo>
                  <a:pt x="142787" y="1025070"/>
                </a:lnTo>
                <a:lnTo>
                  <a:pt x="137219" y="1012993"/>
                </a:lnTo>
                <a:lnTo>
                  <a:pt x="131757" y="1000867"/>
                </a:lnTo>
                <a:lnTo>
                  <a:pt x="126400" y="988694"/>
                </a:lnTo>
                <a:lnTo>
                  <a:pt x="121151" y="976474"/>
                </a:lnTo>
                <a:lnTo>
                  <a:pt x="116008" y="964210"/>
                </a:lnTo>
                <a:lnTo>
                  <a:pt x="110972" y="951900"/>
                </a:lnTo>
                <a:lnTo>
                  <a:pt x="106044" y="939548"/>
                </a:lnTo>
                <a:lnTo>
                  <a:pt x="101223" y="927153"/>
                </a:lnTo>
                <a:lnTo>
                  <a:pt x="96512" y="914716"/>
                </a:lnTo>
                <a:lnTo>
                  <a:pt x="91908" y="902239"/>
                </a:lnTo>
                <a:lnTo>
                  <a:pt x="87414" y="889722"/>
                </a:lnTo>
                <a:lnTo>
                  <a:pt x="83030" y="877166"/>
                </a:lnTo>
                <a:lnTo>
                  <a:pt x="78755" y="864572"/>
                </a:lnTo>
                <a:lnTo>
                  <a:pt x="74590" y="851942"/>
                </a:lnTo>
                <a:lnTo>
                  <a:pt x="70535" y="839276"/>
                </a:lnTo>
                <a:lnTo>
                  <a:pt x="66592" y="826574"/>
                </a:lnTo>
                <a:lnTo>
                  <a:pt x="62759" y="813839"/>
                </a:lnTo>
                <a:lnTo>
                  <a:pt x="59037" y="801071"/>
                </a:lnTo>
                <a:lnTo>
                  <a:pt x="55427" y="788271"/>
                </a:lnTo>
                <a:lnTo>
                  <a:pt x="51929" y="775440"/>
                </a:lnTo>
                <a:lnTo>
                  <a:pt x="48543" y="762579"/>
                </a:lnTo>
                <a:lnTo>
                  <a:pt x="45269" y="749689"/>
                </a:lnTo>
                <a:lnTo>
                  <a:pt x="42108" y="736771"/>
                </a:lnTo>
                <a:lnTo>
                  <a:pt x="39060" y="723825"/>
                </a:lnTo>
                <a:lnTo>
                  <a:pt x="36125" y="710854"/>
                </a:lnTo>
                <a:lnTo>
                  <a:pt x="33303" y="697857"/>
                </a:lnTo>
                <a:lnTo>
                  <a:pt x="30595" y="684837"/>
                </a:lnTo>
                <a:lnTo>
                  <a:pt x="28000" y="671793"/>
                </a:lnTo>
                <a:lnTo>
                  <a:pt x="25520" y="658727"/>
                </a:lnTo>
                <a:lnTo>
                  <a:pt x="23153" y="645640"/>
                </a:lnTo>
                <a:lnTo>
                  <a:pt x="20901" y="632533"/>
                </a:lnTo>
                <a:lnTo>
                  <a:pt x="18763" y="619406"/>
                </a:lnTo>
                <a:lnTo>
                  <a:pt x="16740" y="606262"/>
                </a:lnTo>
                <a:lnTo>
                  <a:pt x="14831" y="593100"/>
                </a:lnTo>
                <a:lnTo>
                  <a:pt x="13038" y="579922"/>
                </a:lnTo>
                <a:lnTo>
                  <a:pt x="11360" y="566729"/>
                </a:lnTo>
                <a:lnTo>
                  <a:pt x="9796" y="553522"/>
                </a:lnTo>
                <a:lnTo>
                  <a:pt x="8349" y="540301"/>
                </a:lnTo>
                <a:lnTo>
                  <a:pt x="7016" y="527069"/>
                </a:lnTo>
                <a:lnTo>
                  <a:pt x="5799" y="513825"/>
                </a:lnTo>
                <a:lnTo>
                  <a:pt x="4698" y="500572"/>
                </a:lnTo>
                <a:lnTo>
                  <a:pt x="3712" y="487309"/>
                </a:lnTo>
                <a:lnTo>
                  <a:pt x="2843" y="474038"/>
                </a:lnTo>
                <a:lnTo>
                  <a:pt x="2089" y="460760"/>
                </a:lnTo>
                <a:lnTo>
                  <a:pt x="1451" y="447476"/>
                </a:lnTo>
                <a:lnTo>
                  <a:pt x="928" y="434187"/>
                </a:lnTo>
                <a:lnTo>
                  <a:pt x="522" y="420894"/>
                </a:lnTo>
                <a:lnTo>
                  <a:pt x="232" y="407597"/>
                </a:lnTo>
                <a:lnTo>
                  <a:pt x="58" y="394299"/>
                </a:lnTo>
                <a:lnTo>
                  <a:pt x="0" y="381000"/>
                </a:lnTo>
                <a:lnTo>
                  <a:pt x="58" y="367701"/>
                </a:lnTo>
                <a:lnTo>
                  <a:pt x="232" y="354403"/>
                </a:lnTo>
                <a:lnTo>
                  <a:pt x="522" y="341106"/>
                </a:lnTo>
                <a:lnTo>
                  <a:pt x="928" y="327813"/>
                </a:lnTo>
                <a:lnTo>
                  <a:pt x="1451" y="314524"/>
                </a:lnTo>
                <a:lnTo>
                  <a:pt x="2089" y="301240"/>
                </a:lnTo>
                <a:lnTo>
                  <a:pt x="2843" y="287962"/>
                </a:lnTo>
                <a:lnTo>
                  <a:pt x="3712" y="274691"/>
                </a:lnTo>
                <a:lnTo>
                  <a:pt x="4698" y="261428"/>
                </a:lnTo>
                <a:lnTo>
                  <a:pt x="5799" y="248175"/>
                </a:lnTo>
                <a:lnTo>
                  <a:pt x="7016" y="234931"/>
                </a:lnTo>
                <a:lnTo>
                  <a:pt x="8349" y="221699"/>
                </a:lnTo>
                <a:lnTo>
                  <a:pt x="9796" y="208478"/>
                </a:lnTo>
                <a:lnTo>
                  <a:pt x="11360" y="195271"/>
                </a:lnTo>
                <a:lnTo>
                  <a:pt x="13038" y="182078"/>
                </a:lnTo>
                <a:lnTo>
                  <a:pt x="14831" y="168900"/>
                </a:lnTo>
                <a:lnTo>
                  <a:pt x="16740" y="155738"/>
                </a:lnTo>
                <a:lnTo>
                  <a:pt x="18763" y="142594"/>
                </a:lnTo>
                <a:lnTo>
                  <a:pt x="20901" y="129467"/>
                </a:lnTo>
                <a:lnTo>
                  <a:pt x="23153" y="116360"/>
                </a:lnTo>
                <a:lnTo>
                  <a:pt x="25520" y="103273"/>
                </a:lnTo>
                <a:lnTo>
                  <a:pt x="28000" y="90207"/>
                </a:lnTo>
                <a:lnTo>
                  <a:pt x="30595" y="77163"/>
                </a:lnTo>
                <a:lnTo>
                  <a:pt x="33303" y="64143"/>
                </a:lnTo>
                <a:lnTo>
                  <a:pt x="36125" y="51146"/>
                </a:lnTo>
                <a:lnTo>
                  <a:pt x="39060" y="38175"/>
                </a:lnTo>
                <a:lnTo>
                  <a:pt x="42108" y="25229"/>
                </a:lnTo>
                <a:lnTo>
                  <a:pt x="45269" y="12311"/>
                </a:lnTo>
                <a:lnTo>
                  <a:pt x="48393" y="0"/>
                </a:lnTo>
              </a:path>
            </a:pathLst>
          </a:custGeom>
          <a:noFill/>
          <a:ln w="19050">
            <a:solidFill>
              <a:srgbClr val="124768"/>
            </a:solidFill>
          </a:ln>
          <a:effectLst/>
        </p:spPr>
        <p:txBody>
          <a:bodyPr rtlCol="0" anchor="ctr"/>
          <a:lstStyle/>
          <a:p>
            <a:pPr algn="ctr"/>
          </a:p>
        </p:txBody>
      </p:sp>
      <p:sp>
        <p:nvSpPr>
          <p:cNvPr id="5" name="Label"/>
          <p:cNvSpPr txBox="1"/>
          <p:nvPr/>
        </p:nvSpPr>
        <p:spPr>
          <a:xfrm>
            <a:off x="533400" y="381000"/>
            <a:ext cx="5029200" cy="190500"/>
          </a:xfrm>
          <a:prstGeom prst="rect">
            <a:avLst/>
          </a:prstGeom>
          <a:noFill/>
        </p:spPr>
        <p:txBody>
          <a:bodyPr wrap="none" lIns="0" rIns="0" tIns="0" bIns="0" anchor="t">
            <a:noAutofit/>
          </a:bodyPr>
          <a:lstStyle/>
          <a:p>
            <a:pPr algn="l">
              <a:lnSpc>
                <a:spcPts val="1500"/>
              </a:lnSpc>
            </a:pPr>
            <a:r>
              <a:rPr sz="1200" b="1" i="0" lang="de-DE" spc="120">
                <a:solidFill>
                  <a:srgbClr val="6CC0D2"/>
                </a:solidFill>
                <a:latin typeface="IBM Plex Sans"/>
              </a:rPr>
              <a:t>KAPITEL 3 UND 4 · KIKO</a:t>
            </a:r>
          </a:p>
        </p:txBody>
      </p:sp>
      <p:sp>
        <p:nvSpPr>
          <p:cNvPr id="6" name="TextBox 5"/>
          <p:cNvSpPr txBox="1"/>
          <p:nvPr/>
        </p:nvSpPr>
        <p:spPr>
          <a:xfrm>
            <a:off x="533400" y="3886200"/>
            <a:ext cx="5029200" cy="1104900"/>
          </a:xfrm>
          <a:prstGeom prst="rect">
            <a:avLst/>
          </a:prstGeom>
          <a:noFill/>
        </p:spPr>
        <p:txBody>
          <a:bodyPr wrap="none" lIns="0" rIns="0" tIns="0" bIns="0" anchor="t">
            <a:noAutofit/>
          </a:bodyPr>
          <a:lstStyle/>
          <a:p>
            <a:pPr algn="l">
              <a:lnSpc>
                <a:spcPts val="8100"/>
              </a:lnSpc>
            </a:pPr>
            <a:r>
              <a:rPr sz="9000" b="1" i="0" lang="de-DE">
                <a:solidFill>
                  <a:srgbClr val="397B96"/>
                </a:solidFill>
                <a:latin typeface="Geist Mono"/>
              </a:rPr>
              <a:t>03/04</a:t>
            </a:r>
          </a:p>
        </p:txBody>
      </p:sp>
      <p:sp>
        <p:nvSpPr>
          <p:cNvPr id="7" name="Titel"/>
          <p:cNvSpPr txBox="1"/>
          <p:nvPr/>
        </p:nvSpPr>
        <p:spPr>
          <a:xfrm>
            <a:off x="533400" y="5143500"/>
            <a:ext cx="4572000" cy="952500"/>
          </a:xfrm>
          <a:prstGeom prst="rect">
            <a:avLst/>
          </a:prstGeom>
          <a:noFill/>
        </p:spPr>
        <p:txBody>
          <a:bodyPr wrap="square" lIns="0" rIns="0" tIns="0" bIns="0" anchor="t">
            <a:noAutofit/>
          </a:bodyPr>
          <a:lstStyle/>
          <a:p>
            <a:pPr algn="l">
              <a:lnSpc>
                <a:spcPts val="3375"/>
              </a:lnSpc>
            </a:pPr>
            <a:r>
              <a:rPr sz="3000" b="1" i="0" lang="de-DE">
                <a:solidFill>
                  <a:srgbClr val="FFFFFF"/>
                </a:solidFill>
                <a:latin typeface="IBM Plex Sans"/>
              </a:rPr>
              <a:t>Machine Learning: vom Canvas zum Prüfhinweis</a:t>
            </a:r>
          </a:p>
        </p:txBody>
      </p:sp>
      <p:sp>
        <p:nvSpPr>
          <p:cNvPr id="8" name="Regel"/>
          <p:cNvSpPr/>
          <p:nvPr/>
        </p:nvSpPr>
        <p:spPr>
          <a:xfrm>
            <a:off x="6296025" y="1762125"/>
            <a:ext cx="609600" cy="38100"/>
          </a:xfrm>
          <a:prstGeom prst="roundRect">
            <a:avLst>
              <a:gd name="adj" fmla="val 50000"/>
            </a:avLst>
          </a:prstGeom>
          <a:solidFill>
            <a:srgbClr val="0080A0"/>
          </a:solidFill>
          <a:ln>
            <a:noFill/>
          </a:ln>
          <a:effectLst/>
        </p:spPr>
        <p:txBody>
          <a:bodyPr rtlCol="0" anchor="ctr"/>
          <a:lstStyle/>
          <a:p>
            <a:pPr algn="ctr"/>
          </a:p>
        </p:txBody>
      </p:sp>
      <p:sp>
        <p:nvSpPr>
          <p:cNvPr id="9" name="TextBox 8"/>
          <p:cNvSpPr txBox="1"/>
          <p:nvPr/>
        </p:nvSpPr>
        <p:spPr>
          <a:xfrm>
            <a:off x="6296025" y="2047875"/>
            <a:ext cx="5210175" cy="304800"/>
          </a:xfrm>
          <a:prstGeom prst="rect">
            <a:avLst/>
          </a:prstGeom>
          <a:noFill/>
        </p:spPr>
        <p:txBody>
          <a:bodyPr wrap="square" lIns="0" rIns="0" tIns="0" bIns="0" anchor="t">
            <a:noAutofit/>
          </a:bodyPr>
          <a:lstStyle/>
          <a:p>
            <a:pPr algn="l">
              <a:lnSpc>
                <a:spcPts val="2400"/>
              </a:lnSpc>
            </a:pPr>
            <a:r>
              <a:rPr sz="1800" b="0" i="0" lang="de-DE">
                <a:solidFill>
                  <a:srgbClr val="141A21"/>
                </a:solidFill>
                <a:latin typeface="IBM Plex Sans"/>
              </a:rPr>
              <a:t>Was in diesem Teil beantwortet wird</a:t>
            </a:r>
          </a:p>
        </p:txBody>
      </p:sp>
      <p:grpSp>
        <p:nvGrpSpPr>
          <p:cNvPr id="10" name="Scheibe Vorhersage"/>
          <p:cNvGrpSpPr/>
          <p:nvPr/>
        </p:nvGrpSpPr>
        <p:grpSpPr>
          <a:xfrm>
            <a:off x="6296025" y="2562225"/>
            <a:ext cx="419100" cy="419100"/>
            <a:chOff x="6296025" y="2562225"/>
            <a:chExt cx="419100" cy="419100"/>
          </a:xfrm>
        </p:grpSpPr>
        <p:sp>
          <p:nvSpPr>
            <p:cNvPr id="11" name="Oval 10"/>
            <p:cNvSpPr/>
            <p:nvPr/>
          </p:nvSpPr>
          <p:spPr>
            <a:xfrm>
              <a:off x="6296025" y="2562225"/>
              <a:ext cx="419100" cy="419100"/>
            </a:xfrm>
            <a:prstGeom prst="ellipse">
              <a:avLst/>
            </a:prstGeom>
            <a:solidFill>
              <a:srgbClr val="084878"/>
            </a:solidFill>
            <a:ln>
              <a:noFill/>
            </a:ln>
            <a:effectLst/>
          </p:spPr>
          <p:txBody>
            <a:bodyPr rtlCol="0" anchor="ctr"/>
            <a:lstStyle/>
            <a:p>
              <a:pPr algn="ctr"/>
            </a:p>
          </p:txBody>
        </p:sp>
        <p:pic>
          <p:nvPicPr>
            <p:cNvPr id="12" name="Picture 11" descr="chart-spline__FFFFFF.png"/>
            <p:cNvPicPr>
              <a:picLocks noChangeAspect="1"/>
            </p:cNvPicPr>
            <p:nvPr/>
          </p:nvPicPr>
          <p:blipFill>
            <a:blip r:embed="rId2"/>
            <a:stretch>
              <a:fillRect/>
            </a:stretch>
          </p:blipFill>
          <p:spPr>
            <a:xfrm>
              <a:off x="6396609" y="2662809"/>
              <a:ext cx="217932" cy="217932"/>
            </a:xfrm>
            <a:prstGeom prst="rect">
              <a:avLst/>
            </a:prstGeom>
          </p:spPr>
        </p:pic>
      </p:grpSp>
      <p:sp>
        <p:nvSpPr>
          <p:cNvPr id="13" name="TextBox 12"/>
          <p:cNvSpPr txBox="1"/>
          <p:nvPr/>
        </p:nvSpPr>
        <p:spPr>
          <a:xfrm>
            <a:off x="6886575" y="2543175"/>
            <a:ext cx="4619625" cy="285750"/>
          </a:xfrm>
          <a:prstGeom prst="rect">
            <a:avLst/>
          </a:prstGeom>
          <a:noFill/>
        </p:spPr>
        <p:txBody>
          <a:bodyPr wrap="square" lIns="0" rIns="0" tIns="0" bIns="0" anchor="t">
            <a:noAutofit/>
          </a:bodyPr>
          <a:lstStyle/>
          <a:p>
            <a:pPr algn="l">
              <a:lnSpc>
                <a:spcPts val="2175"/>
              </a:lnSpc>
            </a:pPr>
            <a:r>
              <a:rPr sz="1650" b="1" i="0" lang="de-DE">
                <a:solidFill>
                  <a:srgbClr val="141A21"/>
                </a:solidFill>
                <a:latin typeface="IBM Plex Sans"/>
              </a:rPr>
              <a:t>Was sagt das Modell vorher, und womit?</a:t>
            </a:r>
          </a:p>
        </p:txBody>
      </p:sp>
      <p:sp>
        <p:nvSpPr>
          <p:cNvPr id="14" name="TextBox 13"/>
          <p:cNvSpPr txBox="1"/>
          <p:nvPr/>
        </p:nvSpPr>
        <p:spPr>
          <a:xfrm>
            <a:off x="6886575" y="2847975"/>
            <a:ext cx="4619625" cy="209550"/>
          </a:xfrm>
          <a:prstGeom prst="rect">
            <a:avLst/>
          </a:prstGeom>
          <a:noFill/>
        </p:spPr>
        <p:txBody>
          <a:bodyPr wrap="square" lIns="0" rIns="0" tIns="0" bIns="0" anchor="t">
            <a:noAutofit/>
          </a:bodyPr>
          <a:lstStyle/>
          <a:p>
            <a:pPr algn="l">
              <a:lnSpc>
                <a:spcPts val="1650"/>
              </a:lnSpc>
            </a:pPr>
            <a:r>
              <a:rPr sz="1200" b="0" i="0" lang="de-DE">
                <a:solidFill>
                  <a:srgbClr val="657383"/>
                </a:solidFill>
                <a:latin typeface="IBM Plex Sans"/>
              </a:rPr>
              <a:t>Folie 2–4</a:t>
            </a:r>
          </a:p>
        </p:txBody>
      </p:sp>
      <p:grpSp>
        <p:nvGrpSpPr>
          <p:cNvPr id="15" name="Scheibe Messen"/>
          <p:cNvGrpSpPr/>
          <p:nvPr/>
        </p:nvGrpSpPr>
        <p:grpSpPr>
          <a:xfrm>
            <a:off x="6296025" y="3476625"/>
            <a:ext cx="419100" cy="419100"/>
            <a:chOff x="6296025" y="3476625"/>
            <a:chExt cx="419100" cy="419100"/>
          </a:xfrm>
        </p:grpSpPr>
        <p:sp>
          <p:nvSpPr>
            <p:cNvPr id="16" name="Oval 15"/>
            <p:cNvSpPr/>
            <p:nvPr/>
          </p:nvSpPr>
          <p:spPr>
            <a:xfrm>
              <a:off x="6296025" y="3476625"/>
              <a:ext cx="419100" cy="419100"/>
            </a:xfrm>
            <a:prstGeom prst="ellipse">
              <a:avLst/>
            </a:prstGeom>
            <a:solidFill>
              <a:srgbClr val="00718E"/>
            </a:solidFill>
            <a:ln>
              <a:noFill/>
            </a:ln>
            <a:effectLst/>
          </p:spPr>
          <p:txBody>
            <a:bodyPr rtlCol="0" anchor="ctr"/>
            <a:lstStyle/>
            <a:p>
              <a:pPr algn="ctr"/>
            </a:p>
          </p:txBody>
        </p:sp>
        <p:pic>
          <p:nvPicPr>
            <p:cNvPr id="17" name="Picture 16" descr="ruler__FFFFFF.png"/>
            <p:cNvPicPr>
              <a:picLocks noChangeAspect="1"/>
            </p:cNvPicPr>
            <p:nvPr/>
          </p:nvPicPr>
          <p:blipFill>
            <a:blip r:embed="rId3"/>
            <a:stretch>
              <a:fillRect/>
            </a:stretch>
          </p:blipFill>
          <p:spPr>
            <a:xfrm>
              <a:off x="6396609" y="3577209"/>
              <a:ext cx="217932" cy="217932"/>
            </a:xfrm>
            <a:prstGeom prst="rect">
              <a:avLst/>
            </a:prstGeom>
          </p:spPr>
        </p:pic>
      </p:grpSp>
      <p:sp>
        <p:nvSpPr>
          <p:cNvPr id="18" name="TextBox 17"/>
          <p:cNvSpPr txBox="1"/>
          <p:nvPr/>
        </p:nvSpPr>
        <p:spPr>
          <a:xfrm>
            <a:off x="6886575" y="3457575"/>
            <a:ext cx="4619625" cy="285750"/>
          </a:xfrm>
          <a:prstGeom prst="rect">
            <a:avLst/>
          </a:prstGeom>
          <a:noFill/>
        </p:spPr>
        <p:txBody>
          <a:bodyPr wrap="square" lIns="0" rIns="0" tIns="0" bIns="0" anchor="t">
            <a:noAutofit/>
          </a:bodyPr>
          <a:lstStyle/>
          <a:p>
            <a:pPr algn="l">
              <a:lnSpc>
                <a:spcPts val="2175"/>
              </a:lnSpc>
            </a:pPr>
            <a:r>
              <a:rPr sz="1650" b="1" i="0" lang="de-DE">
                <a:solidFill>
                  <a:srgbClr val="141A21"/>
                </a:solidFill>
                <a:latin typeface="IBM Plex Sans"/>
              </a:rPr>
              <a:t>Woran messen wir, ob es gut ist?</a:t>
            </a:r>
          </a:p>
        </p:txBody>
      </p:sp>
      <p:sp>
        <p:nvSpPr>
          <p:cNvPr id="19" name="TextBox 18"/>
          <p:cNvSpPr txBox="1"/>
          <p:nvPr/>
        </p:nvSpPr>
        <p:spPr>
          <a:xfrm>
            <a:off x="6886575" y="3762375"/>
            <a:ext cx="4619625" cy="209550"/>
          </a:xfrm>
          <a:prstGeom prst="rect">
            <a:avLst/>
          </a:prstGeom>
          <a:noFill/>
        </p:spPr>
        <p:txBody>
          <a:bodyPr wrap="square" lIns="0" rIns="0" tIns="0" bIns="0" anchor="t">
            <a:noAutofit/>
          </a:bodyPr>
          <a:lstStyle/>
          <a:p>
            <a:pPr algn="l">
              <a:lnSpc>
                <a:spcPts val="1650"/>
              </a:lnSpc>
            </a:pPr>
            <a:r>
              <a:rPr sz="1200" b="0" i="0" lang="de-DE">
                <a:solidFill>
                  <a:srgbClr val="657383"/>
                </a:solidFill>
                <a:latin typeface="IBM Plex Sans"/>
              </a:rPr>
              <a:t>Folie 5–6</a:t>
            </a:r>
          </a:p>
        </p:txBody>
      </p:sp>
      <p:grpSp>
        <p:nvGrpSpPr>
          <p:cNvPr id="20" name="Scheibe Prüfhinweis"/>
          <p:cNvGrpSpPr/>
          <p:nvPr/>
        </p:nvGrpSpPr>
        <p:grpSpPr>
          <a:xfrm>
            <a:off x="6296025" y="4391025"/>
            <a:ext cx="419100" cy="419100"/>
            <a:chOff x="6296025" y="4391025"/>
            <a:chExt cx="419100" cy="419100"/>
          </a:xfrm>
        </p:grpSpPr>
        <p:sp>
          <p:nvSpPr>
            <p:cNvPr id="21" name="Oval 20"/>
            <p:cNvSpPr/>
            <p:nvPr/>
          </p:nvSpPr>
          <p:spPr>
            <a:xfrm>
              <a:off x="6296025" y="4391025"/>
              <a:ext cx="419100" cy="419100"/>
            </a:xfrm>
            <a:prstGeom prst="ellipse">
              <a:avLst/>
            </a:prstGeom>
            <a:solidFill>
              <a:srgbClr val="A86505"/>
            </a:solidFill>
            <a:ln>
              <a:noFill/>
            </a:ln>
            <a:effectLst/>
          </p:spPr>
          <p:txBody>
            <a:bodyPr rtlCol="0" anchor="ctr"/>
            <a:lstStyle/>
            <a:p>
              <a:pPr algn="ctr"/>
            </a:p>
          </p:txBody>
        </p:sp>
        <p:pic>
          <p:nvPicPr>
            <p:cNvPr id="22" name="Picture 21" descr="flag__FFFFFF.png"/>
            <p:cNvPicPr>
              <a:picLocks noChangeAspect="1"/>
            </p:cNvPicPr>
            <p:nvPr/>
          </p:nvPicPr>
          <p:blipFill>
            <a:blip r:embed="rId4"/>
            <a:stretch>
              <a:fillRect/>
            </a:stretch>
          </p:blipFill>
          <p:spPr>
            <a:xfrm>
              <a:off x="6396609" y="4491609"/>
              <a:ext cx="217932" cy="217932"/>
            </a:xfrm>
            <a:prstGeom prst="rect">
              <a:avLst/>
            </a:prstGeom>
          </p:spPr>
        </p:pic>
      </p:grpSp>
      <p:sp>
        <p:nvSpPr>
          <p:cNvPr id="23" name="TextBox 22"/>
          <p:cNvSpPr txBox="1"/>
          <p:nvPr/>
        </p:nvSpPr>
        <p:spPr>
          <a:xfrm>
            <a:off x="6886575" y="4371975"/>
            <a:ext cx="4619625" cy="285750"/>
          </a:xfrm>
          <a:prstGeom prst="rect">
            <a:avLst/>
          </a:prstGeom>
          <a:noFill/>
        </p:spPr>
        <p:txBody>
          <a:bodyPr wrap="square" lIns="0" rIns="0" tIns="0" bIns="0" anchor="t">
            <a:noAutofit/>
          </a:bodyPr>
          <a:lstStyle/>
          <a:p>
            <a:pPr algn="l">
              <a:lnSpc>
                <a:spcPts val="2175"/>
              </a:lnSpc>
            </a:pPr>
            <a:r>
              <a:rPr sz="1650" b="1" i="0" lang="de-DE">
                <a:solidFill>
                  <a:srgbClr val="141A21"/>
                </a:solidFill>
                <a:latin typeface="IBM Plex Sans"/>
              </a:rPr>
              <a:t>Ab wann wird eine Abweichung geprüft?</a:t>
            </a:r>
          </a:p>
        </p:txBody>
      </p:sp>
      <p:sp>
        <p:nvSpPr>
          <p:cNvPr id="24" name="TextBox 23"/>
          <p:cNvSpPr txBox="1"/>
          <p:nvPr/>
        </p:nvSpPr>
        <p:spPr>
          <a:xfrm>
            <a:off x="6886575" y="4676775"/>
            <a:ext cx="4619625" cy="209550"/>
          </a:xfrm>
          <a:prstGeom prst="rect">
            <a:avLst/>
          </a:prstGeom>
          <a:noFill/>
        </p:spPr>
        <p:txBody>
          <a:bodyPr wrap="square" lIns="0" rIns="0" tIns="0" bIns="0" anchor="t">
            <a:noAutofit/>
          </a:bodyPr>
          <a:lstStyle/>
          <a:p>
            <a:pPr algn="l">
              <a:lnSpc>
                <a:spcPts val="1650"/>
              </a:lnSpc>
            </a:pPr>
            <a:r>
              <a:rPr sz="1200" b="0" i="0" lang="de-DE">
                <a:solidFill>
                  <a:srgbClr val="657383"/>
                </a:solidFill>
                <a:latin typeface="IBM Plex Sans"/>
              </a:rPr>
              <a:t>Folie 7–8</a:t>
            </a:r>
          </a:p>
        </p:txBody>
      </p:sp>
      <p:sp>
        <p:nvSpPr>
          <p:cNvPr id="25" name="TextBox 24"/>
          <p:cNvSpPr txBox="1"/>
          <p:nvPr/>
        </p:nvSpPr>
        <p:spPr>
          <a:xfrm>
            <a:off x="6296025" y="5715000"/>
            <a:ext cx="5210175" cy="228600"/>
          </a:xfrm>
          <a:prstGeom prst="rect">
            <a:avLst/>
          </a:prstGeom>
          <a:noFill/>
        </p:spPr>
        <p:txBody>
          <a:bodyPr wrap="square" lIns="0" rIns="0" tIns="0" bIns="0" anchor="t">
            <a:noAutofit/>
          </a:bodyPr>
          <a:lstStyle/>
          <a:p>
            <a:pPr algn="l">
              <a:lnSpc>
                <a:spcPts val="1800"/>
              </a:lnSpc>
            </a:pPr>
            <a:r>
              <a:rPr sz="1350" b="0" i="0" lang="de-DE">
                <a:solidFill>
                  <a:srgbClr val="657383"/>
                </a:solidFill>
                <a:latin typeface="IBM Plex Sans"/>
              </a:rPr>
              <a:t>Kiko Ramon Lukas · Machine Learning und Evaluation</a:t>
            </a:r>
          </a:p>
        </p:txBody>
      </p:sp>
      <p:sp>
        <p:nvSpPr>
          <p:cNvPr id="26" name="Seitenzahl"/>
          <p:cNvSpPr txBox="1"/>
          <p:nvPr/>
        </p:nvSpPr>
        <p:spPr>
          <a:xfrm>
            <a:off x="10835640" y="6391275"/>
            <a:ext cx="67056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1 / 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00718E"/>
                </a:solidFill>
                <a:latin typeface="IBM Plex Sans"/>
              </a:rPr>
              <a:t>KAPITEL 3 · ML CANVAS · KIKO</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141A21"/>
                </a:solidFill>
                <a:latin typeface="IBM Plex Sans"/>
              </a:rPr>
              <a:t>ML Canvas: sechs Felder gehören zum Modell</a:t>
            </a:r>
          </a:p>
        </p:txBody>
      </p:sp>
      <p:sp>
        <p:nvSpPr>
          <p:cNvPr id="4" name="Rounded Rectangle 3"/>
          <p:cNvSpPr/>
          <p:nvPr/>
        </p:nvSpPr>
        <p:spPr>
          <a:xfrm>
            <a:off x="685800" y="1524000"/>
            <a:ext cx="3486150" cy="1828800"/>
          </a:xfrm>
          <a:prstGeom prst="roundRect">
            <a:avLst>
              <a:gd name="adj" fmla="val 5208"/>
            </a:avLst>
          </a:prstGeom>
          <a:solidFill>
            <a:srgbClr val="FFFFFF"/>
          </a:solidFill>
          <a:ln w="9525">
            <a:solidFill>
              <a:srgbClr val="D2DAE2"/>
            </a:solidFill>
          </a:ln>
          <a:effectLst/>
        </p:spPr>
        <p:txBody>
          <a:bodyPr rtlCol="0" anchor="ctr"/>
          <a:lstStyle/>
          <a:p>
            <a:pPr algn="ctr"/>
          </a:p>
        </p:txBody>
      </p:sp>
      <p:sp>
        <p:nvSpPr>
          <p:cNvPr id="5" name="TextBox 4"/>
          <p:cNvSpPr txBox="1"/>
          <p:nvPr/>
        </p:nvSpPr>
        <p:spPr>
          <a:xfrm>
            <a:off x="895350" y="1695450"/>
            <a:ext cx="3373755" cy="198120"/>
          </a:xfrm>
          <a:prstGeom prst="rect">
            <a:avLst/>
          </a:prstGeom>
          <a:noFill/>
        </p:spPr>
        <p:txBody>
          <a:bodyPr wrap="none" lIns="0" rIns="0" tIns="0" bIns="0" anchor="t">
            <a:noAutofit/>
          </a:bodyPr>
          <a:lstStyle/>
          <a:p>
            <a:pPr algn="l">
              <a:lnSpc>
                <a:spcPts val="1560"/>
              </a:lnSpc>
            </a:pPr>
            <a:r>
              <a:rPr sz="1200" b="1" i="0" lang="de-DE" spc="72">
                <a:solidFill>
                  <a:srgbClr val="00718E"/>
                </a:solidFill>
                <a:latin typeface="IBM Plex Sans"/>
              </a:rPr>
              <a:t>03 · VORHERSAGE</a:t>
            </a:r>
          </a:p>
        </p:txBody>
      </p:sp>
      <p:sp>
        <p:nvSpPr>
          <p:cNvPr id="6" name="Frage 03"/>
          <p:cNvSpPr txBox="1"/>
          <p:nvPr/>
        </p:nvSpPr>
        <p:spPr>
          <a:xfrm>
            <a:off x="895350" y="1962150"/>
            <a:ext cx="3067050" cy="247650"/>
          </a:xfrm>
          <a:prstGeom prst="rect">
            <a:avLst/>
          </a:prstGeom>
          <a:noFill/>
        </p:spPr>
        <p:txBody>
          <a:bodyPr wrap="square" lIns="0" rIns="0" tIns="0" bIns="0" anchor="t">
            <a:noAutofit/>
          </a:bodyPr>
          <a:lstStyle/>
          <a:p>
            <a:pPr algn="l">
              <a:lnSpc>
                <a:spcPts val="1950"/>
              </a:lnSpc>
            </a:pPr>
            <a:r>
              <a:rPr sz="1425" b="1" i="0" lang="de-DE">
                <a:solidFill>
                  <a:srgbClr val="141A21"/>
                </a:solidFill>
                <a:latin typeface="IBM Plex Sans"/>
              </a:rPr>
              <a:t>Was sagt das Modell vorher?</a:t>
            </a:r>
          </a:p>
        </p:txBody>
      </p:sp>
      <p:sp>
        <p:nvSpPr>
          <p:cNvPr id="7" name="Feld 03"/>
          <p:cNvSpPr txBox="1"/>
          <p:nvPr/>
        </p:nvSpPr>
        <p:spPr>
          <a:xfrm>
            <a:off x="895350" y="2266950"/>
            <a:ext cx="3067050" cy="990600"/>
          </a:xfrm>
          <a:prstGeom prst="rect">
            <a:avLst/>
          </a:prstGeom>
          <a:noFill/>
        </p:spPr>
        <p:txBody>
          <a:bodyPr wrap="square" lIns="0" rIns="0" tIns="0" bIns="0" anchor="t">
            <a:noAutofit/>
          </a:bodyPr>
          <a:lstStyle/>
          <a:p>
            <a:pPr algn="l">
              <a:lnSpc>
                <a:spcPts val="1875"/>
              </a:lnSpc>
            </a:pPr>
            <a:r>
              <a:rPr sz="1350" b="0" i="0" lang="de-DE">
                <a:solidFill>
                  <a:srgbClr val="4E5A68"/>
                </a:solidFill>
                <a:latin typeface="IBM Plex Sans"/>
              </a:rPr>
              <a:t>Den Stromverbrauch jedes Zählers im nächsten Monat, am Ende in kWh.</a:t>
            </a:r>
          </a:p>
        </p:txBody>
      </p:sp>
      <p:sp>
        <p:nvSpPr>
          <p:cNvPr id="8" name="Rounded Rectangle 7"/>
          <p:cNvSpPr/>
          <p:nvPr/>
        </p:nvSpPr>
        <p:spPr>
          <a:xfrm>
            <a:off x="4352925" y="1524000"/>
            <a:ext cx="3486150" cy="1828800"/>
          </a:xfrm>
          <a:prstGeom prst="roundRect">
            <a:avLst>
              <a:gd name="adj" fmla="val 5208"/>
            </a:avLst>
          </a:prstGeom>
          <a:solidFill>
            <a:srgbClr val="FFFFFF"/>
          </a:solidFill>
          <a:ln w="9525">
            <a:solidFill>
              <a:srgbClr val="D2DAE2"/>
            </a:solidFill>
          </a:ln>
          <a:effectLst/>
        </p:spPr>
        <p:txBody>
          <a:bodyPr rtlCol="0" anchor="ctr"/>
          <a:lstStyle/>
          <a:p>
            <a:pPr algn="ctr"/>
          </a:p>
        </p:txBody>
      </p:sp>
      <p:sp>
        <p:nvSpPr>
          <p:cNvPr id="9" name="TextBox 8"/>
          <p:cNvSpPr txBox="1"/>
          <p:nvPr/>
        </p:nvSpPr>
        <p:spPr>
          <a:xfrm>
            <a:off x="4562475" y="1695450"/>
            <a:ext cx="3373755" cy="198120"/>
          </a:xfrm>
          <a:prstGeom prst="rect">
            <a:avLst/>
          </a:prstGeom>
          <a:noFill/>
        </p:spPr>
        <p:txBody>
          <a:bodyPr wrap="none" lIns="0" rIns="0" tIns="0" bIns="0" anchor="t">
            <a:noAutofit/>
          </a:bodyPr>
          <a:lstStyle/>
          <a:p>
            <a:pPr algn="l">
              <a:lnSpc>
                <a:spcPts val="1560"/>
              </a:lnSpc>
            </a:pPr>
            <a:r>
              <a:rPr sz="1200" b="1" i="0" lang="de-DE" spc="72">
                <a:solidFill>
                  <a:srgbClr val="00718E"/>
                </a:solidFill>
                <a:latin typeface="IBM Plex Sans"/>
              </a:rPr>
              <a:t>04 · MERKMALE</a:t>
            </a:r>
          </a:p>
        </p:txBody>
      </p:sp>
      <p:sp>
        <p:nvSpPr>
          <p:cNvPr id="10" name="Frage 04"/>
          <p:cNvSpPr txBox="1"/>
          <p:nvPr/>
        </p:nvSpPr>
        <p:spPr>
          <a:xfrm>
            <a:off x="4562475" y="1962150"/>
            <a:ext cx="3067050" cy="247650"/>
          </a:xfrm>
          <a:prstGeom prst="rect">
            <a:avLst/>
          </a:prstGeom>
          <a:noFill/>
        </p:spPr>
        <p:txBody>
          <a:bodyPr wrap="square" lIns="0" rIns="0" tIns="0" bIns="0" anchor="t">
            <a:noAutofit/>
          </a:bodyPr>
          <a:lstStyle/>
          <a:p>
            <a:pPr algn="l">
              <a:lnSpc>
                <a:spcPts val="1950"/>
              </a:lnSpc>
            </a:pPr>
            <a:r>
              <a:rPr sz="1425" b="1" i="0" lang="de-DE">
                <a:solidFill>
                  <a:srgbClr val="141A21"/>
                </a:solidFill>
                <a:latin typeface="IBM Plex Sans"/>
              </a:rPr>
              <a:t>Womit rechnet es?</a:t>
            </a:r>
          </a:p>
        </p:txBody>
      </p:sp>
      <p:sp>
        <p:nvSpPr>
          <p:cNvPr id="11" name="Feld 04"/>
          <p:cNvSpPr txBox="1"/>
          <p:nvPr/>
        </p:nvSpPr>
        <p:spPr>
          <a:xfrm>
            <a:off x="4562475" y="2266950"/>
            <a:ext cx="3067050" cy="990600"/>
          </a:xfrm>
          <a:prstGeom prst="rect">
            <a:avLst/>
          </a:prstGeom>
          <a:noFill/>
        </p:spPr>
        <p:txBody>
          <a:bodyPr wrap="square" lIns="0" rIns="0" tIns="0" bIns="0" anchor="t">
            <a:noAutofit/>
          </a:bodyPr>
          <a:lstStyle/>
          <a:p>
            <a:pPr algn="l">
              <a:lnSpc>
                <a:spcPts val="1875"/>
              </a:lnSpc>
            </a:pPr>
            <a:r>
              <a:rPr sz="1350" b="0" i="0" lang="de-DE">
                <a:solidFill>
                  <a:srgbClr val="4E5A68"/>
                </a:solidFill>
                <a:latin typeface="IBM Plex Sans"/>
              </a:rPr>
              <a:t>Nur mit Wissen vor Monatsbeginn: Verbrauchshistorie, Kalender, Wetter, Produktion, Wartung, Kundentyp.</a:t>
            </a:r>
          </a:p>
        </p:txBody>
      </p:sp>
      <p:sp>
        <p:nvSpPr>
          <p:cNvPr id="12" name="Rounded Rectangle 11"/>
          <p:cNvSpPr/>
          <p:nvPr/>
        </p:nvSpPr>
        <p:spPr>
          <a:xfrm>
            <a:off x="8020050" y="1524000"/>
            <a:ext cx="3486150" cy="1828800"/>
          </a:xfrm>
          <a:prstGeom prst="roundRect">
            <a:avLst>
              <a:gd name="adj" fmla="val 5208"/>
            </a:avLst>
          </a:prstGeom>
          <a:solidFill>
            <a:srgbClr val="FFFFFF"/>
          </a:solidFill>
          <a:ln w="9525">
            <a:solidFill>
              <a:srgbClr val="D2DAE2"/>
            </a:solidFill>
          </a:ln>
          <a:effectLst/>
        </p:spPr>
        <p:txBody>
          <a:bodyPr rtlCol="0" anchor="ctr"/>
          <a:lstStyle/>
          <a:p>
            <a:pPr algn="ctr"/>
          </a:p>
        </p:txBody>
      </p:sp>
      <p:sp>
        <p:nvSpPr>
          <p:cNvPr id="13" name="TextBox 12"/>
          <p:cNvSpPr txBox="1"/>
          <p:nvPr/>
        </p:nvSpPr>
        <p:spPr>
          <a:xfrm>
            <a:off x="8229600" y="1695450"/>
            <a:ext cx="3373755" cy="198120"/>
          </a:xfrm>
          <a:prstGeom prst="rect">
            <a:avLst/>
          </a:prstGeom>
          <a:noFill/>
        </p:spPr>
        <p:txBody>
          <a:bodyPr wrap="none" lIns="0" rIns="0" tIns="0" bIns="0" anchor="t">
            <a:noAutofit/>
          </a:bodyPr>
          <a:lstStyle/>
          <a:p>
            <a:pPr algn="l">
              <a:lnSpc>
                <a:spcPts val="1560"/>
              </a:lnSpc>
            </a:pPr>
            <a:r>
              <a:rPr sz="1200" b="1" i="0" lang="de-DE" spc="72">
                <a:solidFill>
                  <a:srgbClr val="00718E"/>
                </a:solidFill>
                <a:latin typeface="IBM Plex Sans"/>
              </a:rPr>
              <a:t>05 · LERNANSATZ</a:t>
            </a:r>
          </a:p>
        </p:txBody>
      </p:sp>
      <p:sp>
        <p:nvSpPr>
          <p:cNvPr id="14" name="Frage 05"/>
          <p:cNvSpPr txBox="1"/>
          <p:nvPr/>
        </p:nvSpPr>
        <p:spPr>
          <a:xfrm>
            <a:off x="8229600" y="1962150"/>
            <a:ext cx="3067050" cy="247650"/>
          </a:xfrm>
          <a:prstGeom prst="rect">
            <a:avLst/>
          </a:prstGeom>
          <a:noFill/>
        </p:spPr>
        <p:txBody>
          <a:bodyPr wrap="square" lIns="0" rIns="0" tIns="0" bIns="0" anchor="t">
            <a:noAutofit/>
          </a:bodyPr>
          <a:lstStyle/>
          <a:p>
            <a:pPr algn="l">
              <a:lnSpc>
                <a:spcPts val="1950"/>
              </a:lnSpc>
            </a:pPr>
            <a:r>
              <a:rPr sz="1425" b="1" i="0" lang="de-DE">
                <a:solidFill>
                  <a:srgbClr val="141A21"/>
                </a:solidFill>
                <a:latin typeface="IBM Plex Sans"/>
              </a:rPr>
              <a:t>Wie lernt es?</a:t>
            </a:r>
          </a:p>
        </p:txBody>
      </p:sp>
      <p:sp>
        <p:nvSpPr>
          <p:cNvPr id="15" name="Feld 05"/>
          <p:cNvSpPr txBox="1"/>
          <p:nvPr/>
        </p:nvSpPr>
        <p:spPr>
          <a:xfrm>
            <a:off x="8229600" y="2266950"/>
            <a:ext cx="3067050" cy="990600"/>
          </a:xfrm>
          <a:prstGeom prst="rect">
            <a:avLst/>
          </a:prstGeom>
          <a:noFill/>
        </p:spPr>
        <p:txBody>
          <a:bodyPr wrap="square" lIns="0" rIns="0" tIns="0" bIns="0" anchor="t">
            <a:noAutofit/>
          </a:bodyPr>
          <a:lstStyle/>
          <a:p>
            <a:pPr algn="l">
              <a:lnSpc>
                <a:spcPts val="1875"/>
              </a:lnSpc>
            </a:pPr>
            <a:r>
              <a:rPr sz="1350" b="0" i="0" lang="de-DE">
                <a:solidFill>
                  <a:srgbClr val="4E5A68"/>
                </a:solidFill>
                <a:latin typeface="IBM Plex Sans"/>
              </a:rPr>
              <a:t>Aus Beispielen mit bekanntem Ergebnis: Random Forest gegen einfachere Verfahren.</a:t>
            </a:r>
          </a:p>
        </p:txBody>
      </p:sp>
      <p:sp>
        <p:nvSpPr>
          <p:cNvPr id="16" name="Rounded Rectangle 15"/>
          <p:cNvSpPr/>
          <p:nvPr/>
        </p:nvSpPr>
        <p:spPr>
          <a:xfrm>
            <a:off x="685800" y="3486150"/>
            <a:ext cx="3486150" cy="1828800"/>
          </a:xfrm>
          <a:prstGeom prst="roundRect">
            <a:avLst>
              <a:gd name="adj" fmla="val 5208"/>
            </a:avLst>
          </a:prstGeom>
          <a:solidFill>
            <a:srgbClr val="FFFFFF"/>
          </a:solidFill>
          <a:ln w="9525">
            <a:solidFill>
              <a:srgbClr val="D2DAE2"/>
            </a:solidFill>
          </a:ln>
          <a:effectLst/>
        </p:spPr>
        <p:txBody>
          <a:bodyPr rtlCol="0" anchor="ctr"/>
          <a:lstStyle/>
          <a:p>
            <a:pPr algn="ctr"/>
          </a:p>
        </p:txBody>
      </p:sp>
      <p:sp>
        <p:nvSpPr>
          <p:cNvPr id="17" name="TextBox 16"/>
          <p:cNvSpPr txBox="1"/>
          <p:nvPr/>
        </p:nvSpPr>
        <p:spPr>
          <a:xfrm>
            <a:off x="895350" y="3657600"/>
            <a:ext cx="3373755" cy="198120"/>
          </a:xfrm>
          <a:prstGeom prst="rect">
            <a:avLst/>
          </a:prstGeom>
          <a:noFill/>
        </p:spPr>
        <p:txBody>
          <a:bodyPr wrap="none" lIns="0" rIns="0" tIns="0" bIns="0" anchor="t">
            <a:noAutofit/>
          </a:bodyPr>
          <a:lstStyle/>
          <a:p>
            <a:pPr algn="l">
              <a:lnSpc>
                <a:spcPts val="1560"/>
              </a:lnSpc>
            </a:pPr>
            <a:r>
              <a:rPr sz="1200" b="1" i="0" lang="de-DE" spc="72">
                <a:solidFill>
                  <a:srgbClr val="00718E"/>
                </a:solidFill>
                <a:latin typeface="IBM Plex Sans"/>
              </a:rPr>
              <a:t>06 · EVALUATION</a:t>
            </a:r>
          </a:p>
        </p:txBody>
      </p:sp>
      <p:sp>
        <p:nvSpPr>
          <p:cNvPr id="18" name="Frage 06"/>
          <p:cNvSpPr txBox="1"/>
          <p:nvPr/>
        </p:nvSpPr>
        <p:spPr>
          <a:xfrm>
            <a:off x="895350" y="3924300"/>
            <a:ext cx="3067050" cy="247650"/>
          </a:xfrm>
          <a:prstGeom prst="rect">
            <a:avLst/>
          </a:prstGeom>
          <a:noFill/>
        </p:spPr>
        <p:txBody>
          <a:bodyPr wrap="square" lIns="0" rIns="0" tIns="0" bIns="0" anchor="t">
            <a:noAutofit/>
          </a:bodyPr>
          <a:lstStyle/>
          <a:p>
            <a:pPr algn="l">
              <a:lnSpc>
                <a:spcPts val="1950"/>
              </a:lnSpc>
            </a:pPr>
            <a:r>
              <a:rPr sz="1425" b="1" i="0" lang="de-DE">
                <a:solidFill>
                  <a:srgbClr val="141A21"/>
                </a:solidFill>
                <a:latin typeface="IBM Plex Sans"/>
              </a:rPr>
              <a:t>Woran messen wir es?</a:t>
            </a:r>
          </a:p>
        </p:txBody>
      </p:sp>
      <p:sp>
        <p:nvSpPr>
          <p:cNvPr id="19" name="Feld 06"/>
          <p:cNvSpPr txBox="1"/>
          <p:nvPr/>
        </p:nvSpPr>
        <p:spPr>
          <a:xfrm>
            <a:off x="895350" y="4229100"/>
            <a:ext cx="3067050" cy="990600"/>
          </a:xfrm>
          <a:prstGeom prst="rect">
            <a:avLst/>
          </a:prstGeom>
          <a:noFill/>
        </p:spPr>
        <p:txBody>
          <a:bodyPr wrap="square" lIns="0" rIns="0" tIns="0" bIns="0" anchor="t">
            <a:noAutofit/>
          </a:bodyPr>
          <a:lstStyle/>
          <a:p>
            <a:pPr algn="l">
              <a:lnSpc>
                <a:spcPts val="1875"/>
              </a:lnSpc>
            </a:pPr>
            <a:r>
              <a:rPr sz="1350" b="0" i="0" lang="de-DE">
                <a:solidFill>
                  <a:srgbClr val="4E5A68"/>
                </a:solidFill>
                <a:latin typeface="IBM Plex Sans"/>
              </a:rPr>
              <a:t>Am RMSE in kWh, nur auf Monaten, die das Modell beim Lernen nicht kannte.</a:t>
            </a:r>
          </a:p>
        </p:txBody>
      </p:sp>
      <p:sp>
        <p:nvSpPr>
          <p:cNvPr id="20" name="Rounded Rectangle 19"/>
          <p:cNvSpPr/>
          <p:nvPr/>
        </p:nvSpPr>
        <p:spPr>
          <a:xfrm>
            <a:off x="4352925" y="3486150"/>
            <a:ext cx="3486150" cy="1828800"/>
          </a:xfrm>
          <a:prstGeom prst="roundRect">
            <a:avLst>
              <a:gd name="adj" fmla="val 5208"/>
            </a:avLst>
          </a:prstGeom>
          <a:solidFill>
            <a:srgbClr val="FFFFFF"/>
          </a:solidFill>
          <a:ln w="9525">
            <a:solidFill>
              <a:srgbClr val="D2DAE2"/>
            </a:solidFill>
          </a:ln>
          <a:effectLst/>
        </p:spPr>
        <p:txBody>
          <a:bodyPr rtlCol="0" anchor="ctr"/>
          <a:lstStyle/>
          <a:p>
            <a:pPr algn="ctr"/>
          </a:p>
        </p:txBody>
      </p:sp>
      <p:sp>
        <p:nvSpPr>
          <p:cNvPr id="21" name="TextBox 20"/>
          <p:cNvSpPr txBox="1"/>
          <p:nvPr/>
        </p:nvSpPr>
        <p:spPr>
          <a:xfrm>
            <a:off x="4562475" y="3657600"/>
            <a:ext cx="3373755" cy="198120"/>
          </a:xfrm>
          <a:prstGeom prst="rect">
            <a:avLst/>
          </a:prstGeom>
          <a:noFill/>
        </p:spPr>
        <p:txBody>
          <a:bodyPr wrap="none" lIns="0" rIns="0" tIns="0" bIns="0" anchor="t">
            <a:noAutofit/>
          </a:bodyPr>
          <a:lstStyle/>
          <a:p>
            <a:pPr algn="l">
              <a:lnSpc>
                <a:spcPts val="1560"/>
              </a:lnSpc>
            </a:pPr>
            <a:r>
              <a:rPr sz="1200" b="1" i="0" lang="de-DE" spc="72">
                <a:solidFill>
                  <a:srgbClr val="00718E"/>
                </a:solidFill>
                <a:latin typeface="IBM Plex Sans"/>
              </a:rPr>
              <a:t>07 · ENTSCHEIDUNG</a:t>
            </a:r>
          </a:p>
        </p:txBody>
      </p:sp>
      <p:sp>
        <p:nvSpPr>
          <p:cNvPr id="22" name="Frage 07"/>
          <p:cNvSpPr txBox="1"/>
          <p:nvPr/>
        </p:nvSpPr>
        <p:spPr>
          <a:xfrm>
            <a:off x="4562475" y="3924300"/>
            <a:ext cx="3067050" cy="247650"/>
          </a:xfrm>
          <a:prstGeom prst="rect">
            <a:avLst/>
          </a:prstGeom>
          <a:noFill/>
        </p:spPr>
        <p:txBody>
          <a:bodyPr wrap="square" lIns="0" rIns="0" tIns="0" bIns="0" anchor="t">
            <a:noAutofit/>
          </a:bodyPr>
          <a:lstStyle/>
          <a:p>
            <a:pPr algn="l">
              <a:lnSpc>
                <a:spcPts val="1950"/>
              </a:lnSpc>
            </a:pPr>
            <a:r>
              <a:rPr sz="1425" b="1" i="0" lang="de-DE">
                <a:solidFill>
                  <a:srgbClr val="141A21"/>
                </a:solidFill>
                <a:latin typeface="IBM Plex Sans"/>
              </a:rPr>
              <a:t>Was passiert mit dem Ergebnis?</a:t>
            </a:r>
          </a:p>
        </p:txBody>
      </p:sp>
      <p:sp>
        <p:nvSpPr>
          <p:cNvPr id="23" name="Feld 07"/>
          <p:cNvSpPr txBox="1"/>
          <p:nvPr/>
        </p:nvSpPr>
        <p:spPr>
          <a:xfrm>
            <a:off x="4562475" y="4229100"/>
            <a:ext cx="3067050" cy="990600"/>
          </a:xfrm>
          <a:prstGeom prst="rect">
            <a:avLst/>
          </a:prstGeom>
          <a:noFill/>
        </p:spPr>
        <p:txBody>
          <a:bodyPr wrap="square" lIns="0" rIns="0" tIns="0" bIns="0" anchor="t">
            <a:noAutofit/>
          </a:bodyPr>
          <a:lstStyle/>
          <a:p>
            <a:pPr algn="l">
              <a:lnSpc>
                <a:spcPts val="1875"/>
              </a:lnSpc>
            </a:pPr>
            <a:r>
              <a:rPr sz="1350" b="0" i="0" lang="de-DE">
                <a:solidFill>
                  <a:srgbClr val="4E5A68"/>
                </a:solidFill>
                <a:latin typeface="IBM Plex Sans"/>
              </a:rPr>
              <a:t>Die Prognose geht in die Beschaffung; ungewöhnliche Abweichungen gehen zur Prüfung.</a:t>
            </a:r>
          </a:p>
        </p:txBody>
      </p:sp>
      <p:sp>
        <p:nvSpPr>
          <p:cNvPr id="24" name="Rounded Rectangle 23"/>
          <p:cNvSpPr/>
          <p:nvPr/>
        </p:nvSpPr>
        <p:spPr>
          <a:xfrm>
            <a:off x="8020050" y="3486150"/>
            <a:ext cx="3486150" cy="1828800"/>
          </a:xfrm>
          <a:prstGeom prst="roundRect">
            <a:avLst>
              <a:gd name="adj" fmla="val 5208"/>
            </a:avLst>
          </a:prstGeom>
          <a:solidFill>
            <a:srgbClr val="FFFFFF"/>
          </a:solidFill>
          <a:ln w="9525">
            <a:solidFill>
              <a:srgbClr val="D2DAE2"/>
            </a:solidFill>
          </a:ln>
          <a:effectLst/>
        </p:spPr>
        <p:txBody>
          <a:bodyPr rtlCol="0" anchor="ctr"/>
          <a:lstStyle/>
          <a:p>
            <a:pPr algn="ctr"/>
          </a:p>
        </p:txBody>
      </p:sp>
      <p:sp>
        <p:nvSpPr>
          <p:cNvPr id="25" name="TextBox 24"/>
          <p:cNvSpPr txBox="1"/>
          <p:nvPr/>
        </p:nvSpPr>
        <p:spPr>
          <a:xfrm>
            <a:off x="8229600" y="3657600"/>
            <a:ext cx="3373755" cy="198120"/>
          </a:xfrm>
          <a:prstGeom prst="rect">
            <a:avLst/>
          </a:prstGeom>
          <a:noFill/>
        </p:spPr>
        <p:txBody>
          <a:bodyPr wrap="none" lIns="0" rIns="0" tIns="0" bIns="0" anchor="t">
            <a:noAutofit/>
          </a:bodyPr>
          <a:lstStyle/>
          <a:p>
            <a:pPr algn="l">
              <a:lnSpc>
                <a:spcPts val="1560"/>
              </a:lnSpc>
            </a:pPr>
            <a:r>
              <a:rPr sz="1200" b="1" i="0" lang="de-DE" spc="72">
                <a:solidFill>
                  <a:srgbClr val="00718E"/>
                </a:solidFill>
                <a:latin typeface="IBM Plex Sans"/>
              </a:rPr>
              <a:t>09 · ZEITPUNKT</a:t>
            </a:r>
          </a:p>
        </p:txBody>
      </p:sp>
      <p:sp>
        <p:nvSpPr>
          <p:cNvPr id="26" name="Frage 09"/>
          <p:cNvSpPr txBox="1"/>
          <p:nvPr/>
        </p:nvSpPr>
        <p:spPr>
          <a:xfrm>
            <a:off x="8229600" y="3924300"/>
            <a:ext cx="3067050" cy="247650"/>
          </a:xfrm>
          <a:prstGeom prst="rect">
            <a:avLst/>
          </a:prstGeom>
          <a:noFill/>
        </p:spPr>
        <p:txBody>
          <a:bodyPr wrap="square" lIns="0" rIns="0" tIns="0" bIns="0" anchor="t">
            <a:noAutofit/>
          </a:bodyPr>
          <a:lstStyle/>
          <a:p>
            <a:pPr algn="l">
              <a:lnSpc>
                <a:spcPts val="1950"/>
              </a:lnSpc>
            </a:pPr>
            <a:r>
              <a:rPr sz="1425" b="1" i="0" lang="de-DE">
                <a:solidFill>
                  <a:srgbClr val="141A21"/>
                </a:solidFill>
                <a:latin typeface="IBM Plex Sans"/>
              </a:rPr>
              <a:t>Wann läuft es?</a:t>
            </a:r>
          </a:p>
        </p:txBody>
      </p:sp>
      <p:sp>
        <p:nvSpPr>
          <p:cNvPr id="27" name="Feld 09"/>
          <p:cNvSpPr txBox="1"/>
          <p:nvPr/>
        </p:nvSpPr>
        <p:spPr>
          <a:xfrm>
            <a:off x="8229600" y="4229100"/>
            <a:ext cx="3067050" cy="990600"/>
          </a:xfrm>
          <a:prstGeom prst="rect">
            <a:avLst/>
          </a:prstGeom>
          <a:noFill/>
        </p:spPr>
        <p:txBody>
          <a:bodyPr wrap="square" lIns="0" rIns="0" tIns="0" bIns="0" anchor="t">
            <a:noAutofit/>
          </a:bodyPr>
          <a:lstStyle/>
          <a:p>
            <a:pPr algn="l">
              <a:lnSpc>
                <a:spcPts val="1875"/>
              </a:lnSpc>
            </a:pPr>
            <a:r>
              <a:rPr sz="1350" b="0" i="0" lang="de-DE">
                <a:solidFill>
                  <a:srgbClr val="4E5A68"/>
                </a:solidFill>
                <a:latin typeface="IBM Plex Sans"/>
              </a:rPr>
              <a:t>Zweimal im Monat: Prognose vor Monatsbeginn, Prüfung nach Monatsende.</a:t>
            </a:r>
          </a:p>
        </p:txBody>
      </p:sp>
      <p:sp>
        <p:nvSpPr>
          <p:cNvPr id="28" name="Rounded Rectangle 27"/>
          <p:cNvSpPr/>
          <p:nvPr/>
        </p:nvSpPr>
        <p:spPr>
          <a:xfrm>
            <a:off x="685800" y="5505450"/>
            <a:ext cx="5314950" cy="495300"/>
          </a:xfrm>
          <a:prstGeom prst="roundRect">
            <a:avLst>
              <a:gd name="adj" fmla="val 19230"/>
            </a:avLst>
          </a:prstGeom>
          <a:solidFill>
            <a:srgbClr val="F1F4F7"/>
          </a:solidFill>
          <a:ln w="9525">
            <a:solidFill>
              <a:srgbClr val="D2DAE2"/>
            </a:solidFill>
          </a:ln>
          <a:effectLst/>
        </p:spPr>
        <p:txBody>
          <a:bodyPr rtlCol="0" anchor="ctr"/>
          <a:lstStyle/>
          <a:p>
            <a:pPr algn="ctr"/>
          </a:p>
        </p:txBody>
      </p:sp>
      <p:sp>
        <p:nvSpPr>
          <p:cNvPr id="29" name="TextBox 28"/>
          <p:cNvSpPr txBox="1"/>
          <p:nvPr/>
        </p:nvSpPr>
        <p:spPr>
          <a:xfrm>
            <a:off x="895350" y="5505450"/>
            <a:ext cx="3143250" cy="495300"/>
          </a:xfrm>
          <a:prstGeom prst="rect">
            <a:avLst/>
          </a:prstGeom>
          <a:noFill/>
        </p:spPr>
        <p:txBody>
          <a:bodyPr wrap="square" lIns="0" rIns="0" tIns="0" bIns="0" anchor="ctr">
            <a:noAutofit/>
          </a:bodyPr>
          <a:lstStyle/>
          <a:p>
            <a:pPr algn="l">
              <a:lnSpc>
                <a:spcPts val="1650"/>
              </a:lnSpc>
            </a:pPr>
            <a:r>
              <a:rPr sz="1275" b="1" i="0" lang="de-DE">
                <a:solidFill>
                  <a:srgbClr val="4E5A68"/>
                </a:solidFill>
                <a:latin typeface="IBM Plex Sans"/>
              </a:rPr>
              <a:t>01 Mehrwert · 02 Datenquellen</a:t>
            </a:r>
          </a:p>
        </p:txBody>
      </p:sp>
      <p:sp>
        <p:nvSpPr>
          <p:cNvPr id="30" name="TextBox 29"/>
          <p:cNvSpPr txBox="1"/>
          <p:nvPr/>
        </p:nvSpPr>
        <p:spPr>
          <a:xfrm>
            <a:off x="3924300" y="5505450"/>
            <a:ext cx="1866900" cy="495300"/>
          </a:xfrm>
          <a:prstGeom prst="rect">
            <a:avLst/>
          </a:prstGeom>
          <a:noFill/>
        </p:spPr>
        <p:txBody>
          <a:bodyPr wrap="square" lIns="0" rIns="0" tIns="0" bIns="0" anchor="ctr">
            <a:noAutofit/>
          </a:bodyPr>
          <a:lstStyle/>
          <a:p>
            <a:pPr algn="r">
              <a:lnSpc>
                <a:spcPts val="1650"/>
              </a:lnSpc>
            </a:pPr>
            <a:r>
              <a:rPr sz="1275" b="0" i="0" lang="de-DE">
                <a:solidFill>
                  <a:srgbClr val="657383"/>
                </a:solidFill>
                <a:latin typeface="IBM Plex Sans"/>
              </a:rPr>
              <a:t>besprochen · Iana</a:t>
            </a:r>
          </a:p>
        </p:txBody>
      </p:sp>
      <p:sp>
        <p:nvSpPr>
          <p:cNvPr id="31" name="Rounded Rectangle 30"/>
          <p:cNvSpPr/>
          <p:nvPr/>
        </p:nvSpPr>
        <p:spPr>
          <a:xfrm>
            <a:off x="6191250" y="5505450"/>
            <a:ext cx="5314950" cy="495300"/>
          </a:xfrm>
          <a:prstGeom prst="roundRect">
            <a:avLst>
              <a:gd name="adj" fmla="val 19230"/>
            </a:avLst>
          </a:prstGeom>
          <a:solidFill>
            <a:srgbClr val="F1F4F7"/>
          </a:solidFill>
          <a:ln w="9525">
            <a:solidFill>
              <a:srgbClr val="D2DAE2"/>
            </a:solidFill>
          </a:ln>
          <a:effectLst/>
        </p:spPr>
        <p:txBody>
          <a:bodyPr rtlCol="0" anchor="ctr"/>
          <a:lstStyle/>
          <a:p>
            <a:pPr algn="ctr"/>
          </a:p>
        </p:txBody>
      </p:sp>
      <p:sp>
        <p:nvSpPr>
          <p:cNvPr id="32" name="TextBox 31"/>
          <p:cNvSpPr txBox="1"/>
          <p:nvPr/>
        </p:nvSpPr>
        <p:spPr>
          <a:xfrm>
            <a:off x="6400800" y="5505450"/>
            <a:ext cx="3143250" cy="495300"/>
          </a:xfrm>
          <a:prstGeom prst="rect">
            <a:avLst/>
          </a:prstGeom>
          <a:noFill/>
        </p:spPr>
        <p:txBody>
          <a:bodyPr wrap="square" lIns="0" rIns="0" tIns="0" bIns="0" anchor="ctr">
            <a:noAutofit/>
          </a:bodyPr>
          <a:lstStyle/>
          <a:p>
            <a:pPr algn="l">
              <a:lnSpc>
                <a:spcPts val="1650"/>
              </a:lnSpc>
            </a:pPr>
            <a:r>
              <a:rPr sz="1275" b="1" i="0" lang="de-DE">
                <a:solidFill>
                  <a:srgbClr val="4E5A68"/>
                </a:solidFill>
                <a:latin typeface="IBM Plex Sans"/>
              </a:rPr>
              <a:t>08 Impact · 10 Monitoring</a:t>
            </a:r>
          </a:p>
        </p:txBody>
      </p:sp>
      <p:sp>
        <p:nvSpPr>
          <p:cNvPr id="33" name="TextBox 32"/>
          <p:cNvSpPr txBox="1"/>
          <p:nvPr/>
        </p:nvSpPr>
        <p:spPr>
          <a:xfrm>
            <a:off x="9429750" y="5505450"/>
            <a:ext cx="1866900" cy="495300"/>
          </a:xfrm>
          <a:prstGeom prst="rect">
            <a:avLst/>
          </a:prstGeom>
          <a:noFill/>
        </p:spPr>
        <p:txBody>
          <a:bodyPr wrap="square" lIns="0" rIns="0" tIns="0" bIns="0" anchor="ctr">
            <a:noAutofit/>
          </a:bodyPr>
          <a:lstStyle/>
          <a:p>
            <a:pPr algn="r">
              <a:lnSpc>
                <a:spcPts val="1650"/>
              </a:lnSpc>
            </a:pPr>
            <a:r>
              <a:rPr sz="1275" b="0" i="0" lang="de-DE">
                <a:solidFill>
                  <a:srgbClr val="657383"/>
                </a:solidFill>
                <a:latin typeface="IBM Plex Sans"/>
              </a:rPr>
              <a:t>folgt · Patrick</a:t>
            </a:r>
          </a:p>
        </p:txBody>
      </p:sp>
      <p:cxnSp>
        <p:nvCxnSpPr>
          <p:cNvPr id="34" name="Fußlinie"/>
          <p:cNvCxnSpPr/>
          <p:nvPr/>
        </p:nvCxnSpPr>
        <p:spPr>
          <a:xfrm>
            <a:off x="0" y="6153150"/>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35" name="Logo" descr="image.png"/>
          <p:cNvPicPr>
            <a:picLocks noChangeAspect="1"/>
          </p:cNvPicPr>
          <p:nvPr/>
        </p:nvPicPr>
        <p:blipFill>
          <a:blip r:embed="rId2"/>
          <a:stretch>
            <a:fillRect/>
          </a:stretch>
        </p:blipFill>
        <p:spPr>
          <a:xfrm>
            <a:off x="685800" y="6362700"/>
            <a:ext cx="715863" cy="247650"/>
          </a:xfrm>
          <a:prstGeom prst="rect">
            <a:avLst/>
          </a:prstGeom>
        </p:spPr>
      </p:pic>
      <p:sp>
        <p:nvSpPr>
          <p:cNvPr id="36" name="TextBox 35"/>
          <p:cNvSpPr txBox="1"/>
          <p:nvPr/>
        </p:nvSpPr>
        <p:spPr>
          <a:xfrm>
            <a:off x="1562100" y="6391275"/>
            <a:ext cx="2891790"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a:t>
            </a:r>
          </a:p>
        </p:txBody>
      </p:sp>
      <p:sp>
        <p:nvSpPr>
          <p:cNvPr id="37" name="Seitenzahl"/>
          <p:cNvSpPr txBox="1"/>
          <p:nvPr/>
        </p:nvSpPr>
        <p:spPr>
          <a:xfrm>
            <a:off x="10835640" y="6391275"/>
            <a:ext cx="67056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2 /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00718E"/>
                </a:solidFill>
                <a:latin typeface="IBM Plex Sans"/>
              </a:rPr>
              <a:t>KAPITEL 4 · METHODIK · KIKO</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141A21"/>
                </a:solidFill>
                <a:latin typeface="IBM Plex Sans"/>
              </a:rPr>
              <a:t>Vergangenheit erklärt Zukunft, niemals umgekehrt</a:t>
            </a:r>
          </a:p>
        </p:txBody>
      </p:sp>
      <p:sp>
        <p:nvSpPr>
          <p:cNvPr id="4" name="Rounded Rectangle 3"/>
          <p:cNvSpPr/>
          <p:nvPr/>
        </p:nvSpPr>
        <p:spPr>
          <a:xfrm>
            <a:off x="685800" y="1562100"/>
            <a:ext cx="10820400" cy="2707120"/>
          </a:xfrm>
          <a:prstGeom prst="roundRect">
            <a:avLst>
              <a:gd name="adj" fmla="val 3518"/>
            </a:avLst>
          </a:prstGeom>
          <a:solidFill>
            <a:srgbClr val="FFFFFF"/>
          </a:solidFill>
          <a:ln w="9525">
            <a:solidFill>
              <a:srgbClr val="D2DAE2"/>
            </a:solidFill>
          </a:ln>
          <a:effectLst/>
        </p:spPr>
        <p:txBody>
          <a:bodyPr rtlCol="0" anchor="ctr"/>
          <a:lstStyle/>
          <a:p>
            <a:pPr algn="ctr"/>
          </a:p>
        </p:txBody>
      </p:sp>
      <p:pic>
        <p:nvPicPr>
          <p:cNvPr id="5" name="Diagramm Zeitliche Validierung" descr="s04_svg07.png"/>
          <p:cNvPicPr>
            <a:picLocks noChangeAspect="1"/>
          </p:cNvPicPr>
          <p:nvPr/>
        </p:nvPicPr>
        <p:blipFill>
          <a:blip r:embed="rId2"/>
          <a:stretch>
            <a:fillRect/>
          </a:stretch>
        </p:blipFill>
        <p:spPr>
          <a:xfrm>
            <a:off x="800100" y="1676400"/>
            <a:ext cx="10591800" cy="2478520"/>
          </a:xfrm>
          <a:prstGeom prst="rect">
            <a:avLst/>
          </a:prstGeom>
        </p:spPr>
      </p:pic>
      <p:sp>
        <p:nvSpPr>
          <p:cNvPr id="6" name="TextBox 5"/>
          <p:cNvSpPr txBox="1"/>
          <p:nvPr/>
        </p:nvSpPr>
        <p:spPr>
          <a:xfrm>
            <a:off x="685800" y="4476750"/>
            <a:ext cx="6667500" cy="609600"/>
          </a:xfrm>
          <a:prstGeom prst="rect">
            <a:avLst/>
          </a:prstGeom>
          <a:noFill/>
        </p:spPr>
        <p:txBody>
          <a:bodyPr wrap="square" lIns="0" rIns="0" tIns="0" bIns="0" anchor="t">
            <a:noAutofit/>
          </a:bodyPr>
          <a:lstStyle/>
          <a:p>
            <a:pPr algn="l">
              <a:lnSpc>
                <a:spcPts val="2175"/>
              </a:lnSpc>
            </a:pPr>
            <a:r>
              <a:rPr sz="1500" b="0" i="0" lang="de-DE">
                <a:solidFill>
                  <a:srgbClr val="4E5A68"/>
                </a:solidFill>
                <a:latin typeface="IBM Plex Sans"/>
              </a:rPr>
              <a:t>Jede Bewertung nutzt nur Monate, die davor liegen. Modell und Schwelle stehen fest, bevor 2025 bewertet wird.</a:t>
            </a:r>
          </a:p>
        </p:txBody>
      </p:sp>
      <p:sp>
        <p:nvSpPr>
          <p:cNvPr id="7" name="Rounded Rectangle 6"/>
          <p:cNvSpPr/>
          <p:nvPr/>
        </p:nvSpPr>
        <p:spPr>
          <a:xfrm>
            <a:off x="7620000" y="4381500"/>
            <a:ext cx="3886200" cy="1428750"/>
          </a:xfrm>
          <a:prstGeom prst="roundRect">
            <a:avLst>
              <a:gd name="adj" fmla="val 6666"/>
            </a:avLst>
          </a:prstGeom>
          <a:solidFill>
            <a:srgbClr val="E3F3F7"/>
          </a:solidFill>
          <a:ln w="9525">
            <a:solidFill>
              <a:srgbClr val="B2DEE7"/>
            </a:solidFill>
          </a:ln>
          <a:effectLst/>
        </p:spPr>
        <p:txBody>
          <a:bodyPr rtlCol="0" anchor="ctr"/>
          <a:lstStyle/>
          <a:p>
            <a:pPr algn="ctr"/>
          </a:p>
        </p:txBody>
      </p:sp>
      <p:sp>
        <p:nvSpPr>
          <p:cNvPr id="8" name="TextBox 7"/>
          <p:cNvSpPr txBox="1"/>
          <p:nvPr/>
        </p:nvSpPr>
        <p:spPr>
          <a:xfrm>
            <a:off x="7848600" y="4591050"/>
            <a:ext cx="3429000" cy="222885"/>
          </a:xfrm>
          <a:prstGeom prst="rect">
            <a:avLst/>
          </a:prstGeom>
          <a:noFill/>
        </p:spPr>
        <p:txBody>
          <a:bodyPr wrap="square" lIns="0" rIns="0" tIns="0" bIns="0" anchor="t">
            <a:noAutofit/>
          </a:bodyPr>
          <a:lstStyle/>
          <a:p>
            <a:pPr algn="l">
              <a:lnSpc>
                <a:spcPts val="1755"/>
              </a:lnSpc>
            </a:pPr>
            <a:r>
              <a:rPr sz="1350" b="1" i="0" lang="de-DE">
                <a:solidFill>
                  <a:srgbClr val="005E77"/>
                </a:solidFill>
                <a:latin typeface="IBM Plex Sans"/>
              </a:rPr>
              <a:t>Leakage vermieden</a:t>
            </a:r>
          </a:p>
        </p:txBody>
      </p:sp>
      <p:sp>
        <p:nvSpPr>
          <p:cNvPr id="9" name="TextBox 8"/>
          <p:cNvSpPr txBox="1"/>
          <p:nvPr/>
        </p:nvSpPr>
        <p:spPr>
          <a:xfrm>
            <a:off x="7848600" y="4890135"/>
            <a:ext cx="3429000" cy="729615"/>
          </a:xfrm>
          <a:prstGeom prst="rect">
            <a:avLst/>
          </a:prstGeom>
          <a:noFill/>
        </p:spPr>
        <p:txBody>
          <a:bodyPr wrap="square" lIns="0" rIns="0" tIns="0" bIns="0" anchor="t">
            <a:noAutofit/>
          </a:bodyPr>
          <a:lstStyle/>
          <a:p>
            <a:pPr algn="l">
              <a:lnSpc>
                <a:spcPts val="1848"/>
              </a:lnSpc>
            </a:pPr>
            <a:r>
              <a:rPr sz="1275" b="0" i="0" lang="de-DE">
                <a:solidFill>
                  <a:srgbClr val="141A21"/>
                </a:solidFill>
                <a:latin typeface="IBM Plex Sans"/>
              </a:rPr>
              <a:t>Das 3-Monats-Mittel wurde nur aus abgeschlossenen Monaten neu berechnet.</a:t>
            </a:r>
          </a:p>
        </p:txBody>
      </p:sp>
      <p:cxnSp>
        <p:nvCxnSpPr>
          <p:cNvPr id="10" name="Fußlinie"/>
          <p:cNvCxnSpPr/>
          <p:nvPr/>
        </p:nvCxnSpPr>
        <p:spPr>
          <a:xfrm>
            <a:off x="0" y="6153150"/>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11" name="Logo" descr="image.png"/>
          <p:cNvPicPr>
            <a:picLocks noChangeAspect="1"/>
          </p:cNvPicPr>
          <p:nvPr/>
        </p:nvPicPr>
        <p:blipFill>
          <a:blip r:embed="rId3"/>
          <a:stretch>
            <a:fillRect/>
          </a:stretch>
        </p:blipFill>
        <p:spPr>
          <a:xfrm>
            <a:off x="685800" y="6362700"/>
            <a:ext cx="715863" cy="247650"/>
          </a:xfrm>
          <a:prstGeom prst="rect">
            <a:avLst/>
          </a:prstGeom>
        </p:spPr>
      </p:pic>
      <p:sp>
        <p:nvSpPr>
          <p:cNvPr id="12" name="TextBox 11"/>
          <p:cNvSpPr txBox="1"/>
          <p:nvPr/>
        </p:nvSpPr>
        <p:spPr>
          <a:xfrm>
            <a:off x="1562100" y="6391275"/>
            <a:ext cx="2891790"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a:t>
            </a:r>
          </a:p>
        </p:txBody>
      </p:sp>
      <p:sp>
        <p:nvSpPr>
          <p:cNvPr id="13" name="Seitenzahl"/>
          <p:cNvSpPr txBox="1"/>
          <p:nvPr/>
        </p:nvSpPr>
        <p:spPr>
          <a:xfrm>
            <a:off x="10835640" y="6391275"/>
            <a:ext cx="67056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3 /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00718E"/>
                </a:solidFill>
                <a:latin typeface="IBM Plex Sans"/>
              </a:rPr>
              <a:t>KAPITEL 4 · ZIELGRÖSSE · KIKO</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141A21"/>
                </a:solidFill>
                <a:latin typeface="IBM Plex Sans"/>
              </a:rPr>
              <a:t>Das Modell lernt Vollaststunden, geplant wird in kWh</a:t>
            </a:r>
          </a:p>
        </p:txBody>
      </p:sp>
      <p:sp>
        <p:nvSpPr>
          <p:cNvPr id="4" name="Rounded Rectangle 3"/>
          <p:cNvSpPr/>
          <p:nvPr/>
        </p:nvSpPr>
        <p:spPr>
          <a:xfrm>
            <a:off x="685800" y="1581150"/>
            <a:ext cx="5334000" cy="1028700"/>
          </a:xfrm>
          <a:prstGeom prst="roundRect">
            <a:avLst>
              <a:gd name="adj" fmla="val 9259"/>
            </a:avLst>
          </a:prstGeom>
          <a:solidFill>
            <a:srgbClr val="FFFFFF"/>
          </a:solidFill>
          <a:ln w="9525">
            <a:solidFill>
              <a:srgbClr val="D2DAE2"/>
            </a:solidFill>
          </a:ln>
          <a:effectLst/>
        </p:spPr>
        <p:txBody>
          <a:bodyPr rtlCol="0" anchor="ctr"/>
          <a:lstStyle/>
          <a:p>
            <a:pPr algn="ctr"/>
          </a:p>
        </p:txBody>
      </p:sp>
      <p:sp>
        <p:nvSpPr>
          <p:cNvPr id="5" name="TextBox 4"/>
          <p:cNvSpPr txBox="1"/>
          <p:nvPr/>
        </p:nvSpPr>
        <p:spPr>
          <a:xfrm>
            <a:off x="914400" y="1752600"/>
            <a:ext cx="4191000" cy="198120"/>
          </a:xfrm>
          <a:prstGeom prst="rect">
            <a:avLst/>
          </a:prstGeom>
          <a:noFill/>
        </p:spPr>
        <p:txBody>
          <a:bodyPr wrap="none" lIns="0" rIns="0" tIns="0" bIns="0" anchor="t">
            <a:noAutofit/>
          </a:bodyPr>
          <a:lstStyle/>
          <a:p>
            <a:pPr algn="l">
              <a:lnSpc>
                <a:spcPts val="1560"/>
              </a:lnSpc>
            </a:pPr>
            <a:r>
              <a:rPr sz="1200" b="1" i="0" lang="de-DE" spc="72">
                <a:solidFill>
                  <a:srgbClr val="00718E"/>
                </a:solidFill>
                <a:latin typeface="IBM Plex Sans"/>
              </a:rPr>
              <a:t>NORMIEREN</a:t>
            </a:r>
          </a:p>
        </p:txBody>
      </p:sp>
      <p:sp>
        <p:nvSpPr>
          <p:cNvPr id="6" name="TextBox 5"/>
          <p:cNvSpPr txBox="1"/>
          <p:nvPr/>
        </p:nvSpPr>
        <p:spPr>
          <a:xfrm>
            <a:off x="914400" y="2076450"/>
            <a:ext cx="5364480" cy="304800"/>
          </a:xfrm>
          <a:prstGeom prst="rect">
            <a:avLst/>
          </a:prstGeom>
          <a:noFill/>
        </p:spPr>
        <p:txBody>
          <a:bodyPr wrap="none" lIns="0" rIns="0" tIns="0" bIns="0" anchor="t">
            <a:noAutofit/>
          </a:bodyPr>
          <a:lstStyle/>
          <a:p>
            <a:pPr algn="l">
              <a:lnSpc>
                <a:spcPts val="2250"/>
              </a:lnSpc>
            </a:pPr>
            <a:r>
              <a:rPr sz="1575" b="1" i="0" lang="de-DE">
                <a:solidFill>
                  <a:srgbClr val="141A21"/>
                </a:solidFill>
                <a:latin typeface="Geist Mono"/>
              </a:rPr>
              <a:t>VLS = Verbrauch [kWh] ÷ Leistung [kW]</a:t>
            </a:r>
          </a:p>
        </p:txBody>
      </p:sp>
      <p:sp>
        <p:nvSpPr>
          <p:cNvPr id="7" name="Rounded Rectangle 6"/>
          <p:cNvSpPr/>
          <p:nvPr/>
        </p:nvSpPr>
        <p:spPr>
          <a:xfrm>
            <a:off x="685800" y="2762250"/>
            <a:ext cx="5334000" cy="1028700"/>
          </a:xfrm>
          <a:prstGeom prst="roundRect">
            <a:avLst>
              <a:gd name="adj" fmla="val 9259"/>
            </a:avLst>
          </a:prstGeom>
          <a:solidFill>
            <a:srgbClr val="FFFFFF"/>
          </a:solidFill>
          <a:ln w="9525">
            <a:solidFill>
              <a:srgbClr val="D2DAE2"/>
            </a:solidFill>
          </a:ln>
          <a:effectLst/>
        </p:spPr>
        <p:txBody>
          <a:bodyPr rtlCol="0" anchor="ctr"/>
          <a:lstStyle/>
          <a:p>
            <a:pPr algn="ctr"/>
          </a:p>
        </p:txBody>
      </p:sp>
      <p:sp>
        <p:nvSpPr>
          <p:cNvPr id="8" name="TextBox 7"/>
          <p:cNvSpPr txBox="1"/>
          <p:nvPr/>
        </p:nvSpPr>
        <p:spPr>
          <a:xfrm>
            <a:off x="914400" y="2933700"/>
            <a:ext cx="4191000" cy="198120"/>
          </a:xfrm>
          <a:prstGeom prst="rect">
            <a:avLst/>
          </a:prstGeom>
          <a:noFill/>
        </p:spPr>
        <p:txBody>
          <a:bodyPr wrap="none" lIns="0" rIns="0" tIns="0" bIns="0" anchor="t">
            <a:noAutofit/>
          </a:bodyPr>
          <a:lstStyle/>
          <a:p>
            <a:pPr algn="l">
              <a:lnSpc>
                <a:spcPts val="1560"/>
              </a:lnSpc>
            </a:pPr>
            <a:r>
              <a:rPr sz="1200" b="1" i="0" lang="de-DE" spc="72">
                <a:solidFill>
                  <a:srgbClr val="00718E"/>
                </a:solidFill>
                <a:latin typeface="IBM Plex Sans"/>
              </a:rPr>
              <a:t>ZURÜCKRECHNEN</a:t>
            </a:r>
          </a:p>
        </p:txBody>
      </p:sp>
      <p:sp>
        <p:nvSpPr>
          <p:cNvPr id="9" name="TextBox 8"/>
          <p:cNvSpPr txBox="1"/>
          <p:nvPr/>
        </p:nvSpPr>
        <p:spPr>
          <a:xfrm>
            <a:off x="914400" y="3257550"/>
            <a:ext cx="5364480" cy="304800"/>
          </a:xfrm>
          <a:prstGeom prst="rect">
            <a:avLst/>
          </a:prstGeom>
          <a:noFill/>
        </p:spPr>
        <p:txBody>
          <a:bodyPr wrap="none" lIns="0" rIns="0" tIns="0" bIns="0" anchor="t">
            <a:noAutofit/>
          </a:bodyPr>
          <a:lstStyle/>
          <a:p>
            <a:pPr algn="l">
              <a:lnSpc>
                <a:spcPts val="2250"/>
              </a:lnSpc>
            </a:pPr>
            <a:r>
              <a:rPr sz="1575" b="1" i="0" lang="de-DE">
                <a:solidFill>
                  <a:srgbClr val="141A21"/>
                </a:solidFill>
                <a:latin typeface="Geist Mono"/>
              </a:rPr>
              <a:t>Prognose [kWh] = VLS × Leistung [kW]</a:t>
            </a:r>
          </a:p>
        </p:txBody>
      </p:sp>
      <p:sp>
        <p:nvSpPr>
          <p:cNvPr id="10" name="Rounded Rectangle 9"/>
          <p:cNvSpPr/>
          <p:nvPr/>
        </p:nvSpPr>
        <p:spPr>
          <a:xfrm>
            <a:off x="685800" y="3943350"/>
            <a:ext cx="5334000" cy="1676400"/>
          </a:xfrm>
          <a:prstGeom prst="roundRect">
            <a:avLst>
              <a:gd name="adj" fmla="val 5681"/>
            </a:avLst>
          </a:prstGeom>
          <a:solidFill>
            <a:srgbClr val="E3F3F7"/>
          </a:solidFill>
          <a:ln w="9525">
            <a:solidFill>
              <a:srgbClr val="B2DEE7"/>
            </a:solidFill>
          </a:ln>
          <a:effectLst/>
        </p:spPr>
        <p:txBody>
          <a:bodyPr rtlCol="0" anchor="ctr"/>
          <a:lstStyle/>
          <a:p>
            <a:pPr algn="ctr"/>
          </a:p>
        </p:txBody>
      </p:sp>
      <p:sp>
        <p:nvSpPr>
          <p:cNvPr id="11" name="TextBox 10"/>
          <p:cNvSpPr txBox="1"/>
          <p:nvPr/>
        </p:nvSpPr>
        <p:spPr>
          <a:xfrm>
            <a:off x="914400" y="4152900"/>
            <a:ext cx="4876800" cy="247650"/>
          </a:xfrm>
          <a:prstGeom prst="rect">
            <a:avLst/>
          </a:prstGeom>
          <a:noFill/>
        </p:spPr>
        <p:txBody>
          <a:bodyPr wrap="square" lIns="0" rIns="0" tIns="0" bIns="0" anchor="t">
            <a:noAutofit/>
          </a:bodyPr>
          <a:lstStyle/>
          <a:p>
            <a:pPr algn="l">
              <a:lnSpc>
                <a:spcPts val="1950"/>
              </a:lnSpc>
            </a:pPr>
            <a:r>
              <a:rPr sz="1500" b="1" i="0" lang="de-DE">
                <a:solidFill>
                  <a:srgbClr val="005E77"/>
                </a:solidFill>
                <a:latin typeface="IBM Plex Sans"/>
              </a:rPr>
              <a:t>Warum?</a:t>
            </a:r>
          </a:p>
        </p:txBody>
      </p:sp>
      <p:sp>
        <p:nvSpPr>
          <p:cNvPr id="12" name="TextBox 11"/>
          <p:cNvSpPr txBox="1"/>
          <p:nvPr/>
        </p:nvSpPr>
        <p:spPr>
          <a:xfrm>
            <a:off x="914400" y="4476750"/>
            <a:ext cx="4876800" cy="952500"/>
          </a:xfrm>
          <a:prstGeom prst="rect">
            <a:avLst/>
          </a:prstGeom>
          <a:noFill/>
        </p:spPr>
        <p:txBody>
          <a:bodyPr wrap="square" lIns="0" rIns="0" tIns="0" bIns="0" anchor="t">
            <a:noAutofit/>
          </a:bodyPr>
          <a:lstStyle/>
          <a:p>
            <a:pPr algn="l">
              <a:lnSpc>
                <a:spcPts val="2066"/>
              </a:lnSpc>
            </a:pPr>
            <a:r>
              <a:rPr sz="1425" b="0" i="0" lang="de-DE">
                <a:solidFill>
                  <a:srgbClr val="141A21"/>
                </a:solidFill>
                <a:latin typeface="IBM Plex Sans"/>
              </a:rPr>
              <a:t>92 % der Streuung im Rohverbrauch liegen zwischen den Zählern. In VLS werden große und kleine Anschlüsse vergleichbar.</a:t>
            </a:r>
          </a:p>
        </p:txBody>
      </p:sp>
      <p:sp>
        <p:nvSpPr>
          <p:cNvPr id="13" name="Rounded Rectangle 12"/>
          <p:cNvSpPr/>
          <p:nvPr/>
        </p:nvSpPr>
        <p:spPr>
          <a:xfrm>
            <a:off x="6324600" y="1581150"/>
            <a:ext cx="5181600" cy="3610604"/>
          </a:xfrm>
          <a:prstGeom prst="roundRect">
            <a:avLst>
              <a:gd name="adj" fmla="val 2638"/>
            </a:avLst>
          </a:prstGeom>
          <a:solidFill>
            <a:srgbClr val="FFFFFF"/>
          </a:solidFill>
          <a:ln w="9525">
            <a:solidFill>
              <a:srgbClr val="D2DAE2"/>
            </a:solidFill>
          </a:ln>
          <a:effectLst/>
        </p:spPr>
        <p:txBody>
          <a:bodyPr rtlCol="0" anchor="ctr"/>
          <a:lstStyle/>
          <a:p>
            <a:pPr algn="ctr"/>
          </a:p>
        </p:txBody>
      </p:sp>
      <p:pic>
        <p:nvPicPr>
          <p:cNvPr id="14" name="Diagramm Vollaststunden" descr="s05_svg11.png"/>
          <p:cNvPicPr>
            <a:picLocks noChangeAspect="1"/>
          </p:cNvPicPr>
          <p:nvPr/>
        </p:nvPicPr>
        <p:blipFill>
          <a:blip r:embed="rId2"/>
          <a:stretch>
            <a:fillRect/>
          </a:stretch>
        </p:blipFill>
        <p:spPr>
          <a:xfrm>
            <a:off x="6438900" y="1695450"/>
            <a:ext cx="4953000" cy="3382004"/>
          </a:xfrm>
          <a:prstGeom prst="rect">
            <a:avLst/>
          </a:prstGeom>
        </p:spPr>
      </p:pic>
      <p:cxnSp>
        <p:nvCxnSpPr>
          <p:cNvPr id="15" name="Fußlinie"/>
          <p:cNvCxnSpPr/>
          <p:nvPr/>
        </p:nvCxnSpPr>
        <p:spPr>
          <a:xfrm>
            <a:off x="0" y="6153150"/>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16" name="Logo" descr="image.png"/>
          <p:cNvPicPr>
            <a:picLocks noChangeAspect="1"/>
          </p:cNvPicPr>
          <p:nvPr/>
        </p:nvPicPr>
        <p:blipFill>
          <a:blip r:embed="rId3"/>
          <a:stretch>
            <a:fillRect/>
          </a:stretch>
        </p:blipFill>
        <p:spPr>
          <a:xfrm>
            <a:off x="685800" y="6362700"/>
            <a:ext cx="715863" cy="247650"/>
          </a:xfrm>
          <a:prstGeom prst="rect">
            <a:avLst/>
          </a:prstGeom>
        </p:spPr>
      </p:pic>
      <p:sp>
        <p:nvSpPr>
          <p:cNvPr id="17" name="TextBox 16"/>
          <p:cNvSpPr txBox="1"/>
          <p:nvPr/>
        </p:nvSpPr>
        <p:spPr>
          <a:xfrm>
            <a:off x="1562100" y="6391275"/>
            <a:ext cx="2891790"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a:t>
            </a:r>
          </a:p>
        </p:txBody>
      </p:sp>
      <p:sp>
        <p:nvSpPr>
          <p:cNvPr id="18" name="Seitenzahl"/>
          <p:cNvSpPr txBox="1"/>
          <p:nvPr/>
        </p:nvSpPr>
        <p:spPr>
          <a:xfrm>
            <a:off x="10835640" y="6391275"/>
            <a:ext cx="67056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4 /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00718E"/>
                </a:solidFill>
                <a:latin typeface="IBM Plex Sans"/>
              </a:rPr>
              <a:t>KAPITEL 4 · HAUPTMETRIK · KIKO</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141A21"/>
                </a:solidFill>
                <a:latin typeface="IBM Plex Sans"/>
              </a:rPr>
              <a:t>Warum RMSE? Er gewichtet große Fehler stärker</a:t>
            </a:r>
          </a:p>
        </p:txBody>
      </p:sp>
      <p:sp>
        <p:nvSpPr>
          <p:cNvPr id="4" name="Rounded Rectangle 3"/>
          <p:cNvSpPr/>
          <p:nvPr/>
        </p:nvSpPr>
        <p:spPr>
          <a:xfrm>
            <a:off x="685800" y="1524000"/>
            <a:ext cx="5905500" cy="4476750"/>
          </a:xfrm>
          <a:prstGeom prst="roundRect">
            <a:avLst>
              <a:gd name="adj" fmla="val 2127"/>
            </a:avLst>
          </a:prstGeom>
          <a:solidFill>
            <a:srgbClr val="FFFFFF"/>
          </a:solidFill>
          <a:ln w="9525">
            <a:solidFill>
              <a:srgbClr val="D2DAE2"/>
            </a:solidFill>
          </a:ln>
          <a:effectLst/>
        </p:spPr>
        <p:txBody>
          <a:bodyPr rtlCol="0" anchor="ctr"/>
          <a:lstStyle/>
          <a:p>
            <a:pPr algn="ctr"/>
          </a:p>
        </p:txBody>
      </p:sp>
      <p:sp>
        <p:nvSpPr>
          <p:cNvPr id="5" name="Rounded Rectangle 4"/>
          <p:cNvSpPr/>
          <p:nvPr/>
        </p:nvSpPr>
        <p:spPr>
          <a:xfrm>
            <a:off x="914400" y="1771650"/>
            <a:ext cx="152400" cy="152400"/>
          </a:xfrm>
          <a:prstGeom prst="roundRect">
            <a:avLst>
              <a:gd name="adj" fmla="val 18750"/>
            </a:avLst>
          </a:prstGeom>
          <a:solidFill>
            <a:srgbClr val="8C99A7"/>
          </a:solidFill>
          <a:ln>
            <a:noFill/>
          </a:ln>
          <a:effectLst/>
        </p:spPr>
        <p:txBody>
          <a:bodyPr rtlCol="0" anchor="ctr"/>
          <a:lstStyle/>
          <a:p>
            <a:pPr algn="ctr"/>
          </a:p>
        </p:txBody>
      </p:sp>
      <p:sp>
        <p:nvSpPr>
          <p:cNvPr id="6" name="TextBox 5"/>
          <p:cNvSpPr txBox="1"/>
          <p:nvPr/>
        </p:nvSpPr>
        <p:spPr>
          <a:xfrm>
            <a:off x="1143000" y="1733550"/>
            <a:ext cx="1740103" cy="228600"/>
          </a:xfrm>
          <a:prstGeom prst="rect">
            <a:avLst/>
          </a:prstGeom>
          <a:noFill/>
        </p:spPr>
        <p:txBody>
          <a:bodyPr wrap="none" lIns="0" rIns="0" tIns="0" bIns="0" anchor="t">
            <a:noAutofit/>
          </a:bodyPr>
          <a:lstStyle/>
          <a:p>
            <a:pPr algn="l">
              <a:lnSpc>
                <a:spcPts val="1800"/>
              </a:lnSpc>
            </a:pPr>
            <a:r>
              <a:rPr sz="1200" b="0" i="0" lang="de-DE">
                <a:solidFill>
                  <a:srgbClr val="4E5A68"/>
                </a:solidFill>
                <a:latin typeface="IBM Plex Sans"/>
              </a:rPr>
              <a:t>MAE · mittlerer Fehler</a:t>
            </a:r>
          </a:p>
        </p:txBody>
      </p:sp>
      <p:sp>
        <p:nvSpPr>
          <p:cNvPr id="7" name="Rounded Rectangle 6"/>
          <p:cNvSpPr/>
          <p:nvPr/>
        </p:nvSpPr>
        <p:spPr>
          <a:xfrm>
            <a:off x="3054553" y="1771650"/>
            <a:ext cx="152400" cy="152400"/>
          </a:xfrm>
          <a:prstGeom prst="roundRect">
            <a:avLst>
              <a:gd name="adj" fmla="val 18750"/>
            </a:avLst>
          </a:prstGeom>
          <a:solidFill>
            <a:srgbClr val="0090C8"/>
          </a:solidFill>
          <a:ln>
            <a:noFill/>
          </a:ln>
          <a:effectLst/>
        </p:spPr>
        <p:txBody>
          <a:bodyPr rtlCol="0" anchor="ctr"/>
          <a:lstStyle/>
          <a:p>
            <a:pPr algn="ctr"/>
          </a:p>
        </p:txBody>
      </p:sp>
      <p:sp>
        <p:nvSpPr>
          <p:cNvPr id="8" name="TextBox 7"/>
          <p:cNvSpPr txBox="1"/>
          <p:nvPr/>
        </p:nvSpPr>
        <p:spPr>
          <a:xfrm>
            <a:off x="3283153" y="1733550"/>
            <a:ext cx="2978963" cy="228600"/>
          </a:xfrm>
          <a:prstGeom prst="rect">
            <a:avLst/>
          </a:prstGeom>
          <a:noFill/>
        </p:spPr>
        <p:txBody>
          <a:bodyPr wrap="none" lIns="0" rIns="0" tIns="0" bIns="0" anchor="t">
            <a:noAutofit/>
          </a:bodyPr>
          <a:lstStyle/>
          <a:p>
            <a:pPr algn="l">
              <a:lnSpc>
                <a:spcPts val="1800"/>
              </a:lnSpc>
            </a:pPr>
            <a:r>
              <a:rPr sz="1200" b="0" i="0" lang="de-DE">
                <a:solidFill>
                  <a:srgbClr val="4E5A68"/>
                </a:solidFill>
                <a:latin typeface="IBM Plex Sans"/>
              </a:rPr>
              <a:t>RMSE · große Fehler stärker gewichtet</a:t>
            </a:r>
          </a:p>
        </p:txBody>
      </p:sp>
      <p:cxnSp>
        <p:nvCxnSpPr>
          <p:cNvPr id="9" name="Connector 8"/>
          <p:cNvCxnSpPr/>
          <p:nvPr/>
        </p:nvCxnSpPr>
        <p:spPr>
          <a:xfrm>
            <a:off x="1352550" y="4953000"/>
            <a:ext cx="5010150" cy="0"/>
          </a:xfrm>
          <a:prstGeom prst="line">
            <a:avLst/>
          </a:prstGeom>
          <a:ln w="9525">
            <a:solidFill>
              <a:srgbClr val="D2DAE2"/>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38200" y="4848225"/>
            <a:ext cx="419100" cy="209550"/>
          </a:xfrm>
          <a:prstGeom prst="rect">
            <a:avLst/>
          </a:prstGeom>
          <a:noFill/>
        </p:spPr>
        <p:txBody>
          <a:bodyPr wrap="none" lIns="0" rIns="0" tIns="0" bIns="0" anchor="t">
            <a:noAutofit/>
          </a:bodyPr>
          <a:lstStyle/>
          <a:p>
            <a:pPr algn="r">
              <a:lnSpc>
                <a:spcPts val="1650"/>
              </a:lnSpc>
            </a:pPr>
            <a:r>
              <a:rPr sz="1200" b="0" i="0" lang="de-DE">
                <a:solidFill>
                  <a:srgbClr val="657383"/>
                </a:solidFill>
                <a:latin typeface="IBM Plex Sans"/>
              </a:rPr>
              <a:t>0</a:t>
            </a:r>
          </a:p>
        </p:txBody>
      </p:sp>
      <p:cxnSp>
        <p:nvCxnSpPr>
          <p:cNvPr id="11" name="Connector 10"/>
          <p:cNvCxnSpPr/>
          <p:nvPr/>
        </p:nvCxnSpPr>
        <p:spPr>
          <a:xfrm>
            <a:off x="1352550" y="3865563"/>
            <a:ext cx="5010150" cy="0"/>
          </a:xfrm>
          <a:prstGeom prst="line">
            <a:avLst/>
          </a:prstGeom>
          <a:ln w="9525">
            <a:solidFill>
              <a:srgbClr val="D2DAE2"/>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38200" y="3760788"/>
            <a:ext cx="419100" cy="209550"/>
          </a:xfrm>
          <a:prstGeom prst="rect">
            <a:avLst/>
          </a:prstGeom>
          <a:noFill/>
        </p:spPr>
        <p:txBody>
          <a:bodyPr wrap="none" lIns="0" rIns="0" tIns="0" bIns="0" anchor="t">
            <a:noAutofit/>
          </a:bodyPr>
          <a:lstStyle/>
          <a:p>
            <a:pPr algn="r">
              <a:lnSpc>
                <a:spcPts val="1650"/>
              </a:lnSpc>
            </a:pPr>
            <a:r>
              <a:rPr sz="1200" b="0" i="0" lang="de-DE">
                <a:solidFill>
                  <a:srgbClr val="657383"/>
                </a:solidFill>
                <a:latin typeface="IBM Plex Sans"/>
              </a:rPr>
              <a:t>10</a:t>
            </a:r>
          </a:p>
        </p:txBody>
      </p:sp>
      <p:cxnSp>
        <p:nvCxnSpPr>
          <p:cNvPr id="13" name="Connector 12"/>
          <p:cNvCxnSpPr/>
          <p:nvPr/>
        </p:nvCxnSpPr>
        <p:spPr>
          <a:xfrm>
            <a:off x="1352550" y="2778125"/>
            <a:ext cx="5010150" cy="0"/>
          </a:xfrm>
          <a:prstGeom prst="line">
            <a:avLst/>
          </a:prstGeom>
          <a:ln w="9525">
            <a:solidFill>
              <a:srgbClr val="D2DAE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38200" y="2673350"/>
            <a:ext cx="419100" cy="209550"/>
          </a:xfrm>
          <a:prstGeom prst="rect">
            <a:avLst/>
          </a:prstGeom>
          <a:noFill/>
        </p:spPr>
        <p:txBody>
          <a:bodyPr wrap="none" lIns="0" rIns="0" tIns="0" bIns="0" anchor="t">
            <a:noAutofit/>
          </a:bodyPr>
          <a:lstStyle/>
          <a:p>
            <a:pPr algn="r">
              <a:lnSpc>
                <a:spcPts val="1650"/>
              </a:lnSpc>
            </a:pPr>
            <a:r>
              <a:rPr sz="1200" b="0" i="0" lang="de-DE">
                <a:solidFill>
                  <a:srgbClr val="657383"/>
                </a:solidFill>
                <a:latin typeface="IBM Plex Sans"/>
              </a:rPr>
              <a:t>20</a:t>
            </a:r>
          </a:p>
        </p:txBody>
      </p:sp>
      <p:sp>
        <p:nvSpPr>
          <p:cNvPr id="15" name="TextBox 14"/>
          <p:cNvSpPr txBox="1"/>
          <p:nvPr/>
        </p:nvSpPr>
        <p:spPr>
          <a:xfrm>
            <a:off x="876300" y="2019300"/>
            <a:ext cx="1257300" cy="209550"/>
          </a:xfrm>
          <a:prstGeom prst="rect">
            <a:avLst/>
          </a:prstGeom>
          <a:noFill/>
        </p:spPr>
        <p:txBody>
          <a:bodyPr wrap="none" lIns="0" rIns="0" tIns="0" bIns="0" anchor="t">
            <a:noAutofit/>
          </a:bodyPr>
          <a:lstStyle/>
          <a:p>
            <a:pPr algn="l">
              <a:lnSpc>
                <a:spcPts val="1650"/>
              </a:lnSpc>
            </a:pPr>
            <a:r>
              <a:rPr sz="1200" b="0" i="0" lang="de-DE">
                <a:solidFill>
                  <a:srgbClr val="657383"/>
                </a:solidFill>
                <a:latin typeface="IBM Plex Sans"/>
              </a:rPr>
              <a:t>kWh</a:t>
            </a:r>
          </a:p>
        </p:txBody>
      </p:sp>
      <p:sp>
        <p:nvSpPr>
          <p:cNvPr id="16" name="Balken A MAE"/>
          <p:cNvSpPr/>
          <p:nvPr/>
        </p:nvSpPr>
        <p:spPr>
          <a:xfrm>
            <a:off x="1862138" y="3865563"/>
            <a:ext cx="704850" cy="1087438"/>
          </a:xfrm>
          <a:prstGeom prst="rect">
            <a:avLst/>
          </a:prstGeom>
          <a:solidFill>
            <a:srgbClr val="8C99A7"/>
          </a:solidFill>
          <a:ln>
            <a:noFill/>
          </a:ln>
          <a:effectLst/>
        </p:spPr>
        <p:txBody>
          <a:bodyPr rtlCol="0" anchor="ctr"/>
          <a:lstStyle/>
          <a:p>
            <a:pPr algn="ctr"/>
          </a:p>
        </p:txBody>
      </p:sp>
      <p:sp>
        <p:nvSpPr>
          <p:cNvPr id="17" name="TextBox 16"/>
          <p:cNvSpPr txBox="1"/>
          <p:nvPr/>
        </p:nvSpPr>
        <p:spPr>
          <a:xfrm>
            <a:off x="1722120" y="3579813"/>
            <a:ext cx="984885" cy="228600"/>
          </a:xfrm>
          <a:prstGeom prst="rect">
            <a:avLst/>
          </a:prstGeom>
          <a:noFill/>
        </p:spPr>
        <p:txBody>
          <a:bodyPr wrap="none" lIns="0" rIns="0" tIns="0" bIns="0" anchor="t">
            <a:noAutofit/>
          </a:bodyPr>
          <a:lstStyle/>
          <a:p>
            <a:pPr algn="ctr">
              <a:lnSpc>
                <a:spcPts val="1800"/>
              </a:lnSpc>
            </a:pPr>
            <a:r>
              <a:rPr sz="1350" b="1" i="0" lang="de-DE">
                <a:solidFill>
                  <a:srgbClr val="141A21"/>
                </a:solidFill>
                <a:latin typeface="IBM Plex Sans"/>
              </a:rPr>
              <a:t>10 kWh</a:t>
            </a:r>
          </a:p>
        </p:txBody>
      </p:sp>
      <p:sp>
        <p:nvSpPr>
          <p:cNvPr id="18" name="Balken A RMSE"/>
          <p:cNvSpPr/>
          <p:nvPr/>
        </p:nvSpPr>
        <p:spPr>
          <a:xfrm>
            <a:off x="2643188" y="3865563"/>
            <a:ext cx="704850" cy="1087438"/>
          </a:xfrm>
          <a:prstGeom prst="rect">
            <a:avLst/>
          </a:prstGeom>
          <a:solidFill>
            <a:srgbClr val="0090C8"/>
          </a:solidFill>
          <a:ln>
            <a:noFill/>
          </a:ln>
          <a:effectLst/>
        </p:spPr>
        <p:txBody>
          <a:bodyPr rtlCol="0" anchor="ctr"/>
          <a:lstStyle/>
          <a:p>
            <a:pPr algn="ctr"/>
          </a:p>
        </p:txBody>
      </p:sp>
      <p:sp>
        <p:nvSpPr>
          <p:cNvPr id="19" name="TextBox 18"/>
          <p:cNvSpPr txBox="1"/>
          <p:nvPr/>
        </p:nvSpPr>
        <p:spPr>
          <a:xfrm>
            <a:off x="2503170" y="3579813"/>
            <a:ext cx="984885" cy="228600"/>
          </a:xfrm>
          <a:prstGeom prst="rect">
            <a:avLst/>
          </a:prstGeom>
          <a:noFill/>
        </p:spPr>
        <p:txBody>
          <a:bodyPr wrap="none" lIns="0" rIns="0" tIns="0" bIns="0" anchor="t">
            <a:noAutofit/>
          </a:bodyPr>
          <a:lstStyle/>
          <a:p>
            <a:pPr algn="ctr">
              <a:lnSpc>
                <a:spcPts val="1800"/>
              </a:lnSpc>
            </a:pPr>
            <a:r>
              <a:rPr sz="1350" b="1" i="0" lang="de-DE">
                <a:solidFill>
                  <a:srgbClr val="141A21"/>
                </a:solidFill>
                <a:latin typeface="IBM Plex Sans"/>
              </a:rPr>
              <a:t>10 kWh</a:t>
            </a:r>
          </a:p>
        </p:txBody>
      </p:sp>
      <p:sp>
        <p:nvSpPr>
          <p:cNvPr id="20" name="TextBox 19"/>
          <p:cNvSpPr txBox="1"/>
          <p:nvPr/>
        </p:nvSpPr>
        <p:spPr>
          <a:xfrm>
            <a:off x="1243012" y="5086350"/>
            <a:ext cx="2724150" cy="228600"/>
          </a:xfrm>
          <a:prstGeom prst="rect">
            <a:avLst/>
          </a:prstGeom>
          <a:noFill/>
        </p:spPr>
        <p:txBody>
          <a:bodyPr wrap="none" lIns="0" rIns="0" tIns="0" bIns="0" anchor="t">
            <a:noAutofit/>
          </a:bodyPr>
          <a:lstStyle/>
          <a:p>
            <a:pPr algn="ctr">
              <a:lnSpc>
                <a:spcPts val="1800"/>
              </a:lnSpc>
            </a:pPr>
            <a:r>
              <a:rPr sz="1350" b="1" i="0" lang="de-DE">
                <a:solidFill>
                  <a:srgbClr val="141A21"/>
                </a:solidFill>
                <a:latin typeface="IBM Plex Sans"/>
              </a:rPr>
              <a:t>A · gleichmäßig</a:t>
            </a:r>
          </a:p>
        </p:txBody>
      </p:sp>
      <p:sp>
        <p:nvSpPr>
          <p:cNvPr id="21" name="TextBox 20"/>
          <p:cNvSpPr txBox="1"/>
          <p:nvPr/>
        </p:nvSpPr>
        <p:spPr>
          <a:xfrm>
            <a:off x="1243012" y="5334000"/>
            <a:ext cx="2724150" cy="209550"/>
          </a:xfrm>
          <a:prstGeom prst="rect">
            <a:avLst/>
          </a:prstGeom>
          <a:noFill/>
        </p:spPr>
        <p:txBody>
          <a:bodyPr wrap="none" lIns="0" rIns="0" tIns="0" bIns="0" anchor="t">
            <a:noAutofit/>
          </a:bodyPr>
          <a:lstStyle/>
          <a:p>
            <a:pPr algn="ctr">
              <a:lnSpc>
                <a:spcPts val="1650"/>
              </a:lnSpc>
            </a:pPr>
            <a:r>
              <a:rPr sz="1200" b="0" i="0" lang="de-DE">
                <a:solidFill>
                  <a:srgbClr val="4E5A68"/>
                </a:solidFill>
                <a:latin typeface="IBM Plex Sans"/>
              </a:rPr>
              <a:t>10 · 10 · 10 · 10 kWh</a:t>
            </a:r>
          </a:p>
        </p:txBody>
      </p:sp>
      <p:sp>
        <p:nvSpPr>
          <p:cNvPr id="22" name="Balken B MAE"/>
          <p:cNvSpPr/>
          <p:nvPr/>
        </p:nvSpPr>
        <p:spPr>
          <a:xfrm>
            <a:off x="4367212" y="3865563"/>
            <a:ext cx="704850" cy="1087438"/>
          </a:xfrm>
          <a:prstGeom prst="rect">
            <a:avLst/>
          </a:prstGeom>
          <a:solidFill>
            <a:srgbClr val="8C99A7"/>
          </a:solidFill>
          <a:ln>
            <a:noFill/>
          </a:ln>
          <a:effectLst/>
        </p:spPr>
        <p:txBody>
          <a:bodyPr rtlCol="0" anchor="ctr"/>
          <a:lstStyle/>
          <a:p>
            <a:pPr algn="ctr"/>
          </a:p>
        </p:txBody>
      </p:sp>
      <p:sp>
        <p:nvSpPr>
          <p:cNvPr id="23" name="TextBox 22"/>
          <p:cNvSpPr txBox="1"/>
          <p:nvPr/>
        </p:nvSpPr>
        <p:spPr>
          <a:xfrm>
            <a:off x="4227195" y="3579813"/>
            <a:ext cx="984885" cy="228600"/>
          </a:xfrm>
          <a:prstGeom prst="rect">
            <a:avLst/>
          </a:prstGeom>
          <a:noFill/>
        </p:spPr>
        <p:txBody>
          <a:bodyPr wrap="none" lIns="0" rIns="0" tIns="0" bIns="0" anchor="t">
            <a:noAutofit/>
          </a:bodyPr>
          <a:lstStyle/>
          <a:p>
            <a:pPr algn="ctr">
              <a:lnSpc>
                <a:spcPts val="1800"/>
              </a:lnSpc>
            </a:pPr>
            <a:r>
              <a:rPr sz="1350" b="1" i="0" lang="de-DE">
                <a:solidFill>
                  <a:srgbClr val="141A21"/>
                </a:solidFill>
                <a:latin typeface="IBM Plex Sans"/>
              </a:rPr>
              <a:t>10 kWh</a:t>
            </a:r>
          </a:p>
        </p:txBody>
      </p:sp>
      <p:sp>
        <p:nvSpPr>
          <p:cNvPr id="24" name="Balken B RMSE"/>
          <p:cNvSpPr/>
          <p:nvPr/>
        </p:nvSpPr>
        <p:spPr>
          <a:xfrm>
            <a:off x="5148262" y="2778125"/>
            <a:ext cx="704850" cy="2174875"/>
          </a:xfrm>
          <a:prstGeom prst="rect">
            <a:avLst/>
          </a:prstGeom>
          <a:solidFill>
            <a:srgbClr val="0090C8"/>
          </a:solidFill>
          <a:ln>
            <a:noFill/>
          </a:ln>
          <a:effectLst/>
        </p:spPr>
        <p:txBody>
          <a:bodyPr rtlCol="0" anchor="ctr"/>
          <a:lstStyle/>
          <a:p>
            <a:pPr algn="ctr"/>
          </a:p>
        </p:txBody>
      </p:sp>
      <p:sp>
        <p:nvSpPr>
          <p:cNvPr id="25" name="TextBox 24"/>
          <p:cNvSpPr txBox="1"/>
          <p:nvPr/>
        </p:nvSpPr>
        <p:spPr>
          <a:xfrm>
            <a:off x="5008245" y="2492375"/>
            <a:ext cx="984885" cy="228600"/>
          </a:xfrm>
          <a:prstGeom prst="rect">
            <a:avLst/>
          </a:prstGeom>
          <a:noFill/>
        </p:spPr>
        <p:txBody>
          <a:bodyPr wrap="none" lIns="0" rIns="0" tIns="0" bIns="0" anchor="t">
            <a:noAutofit/>
          </a:bodyPr>
          <a:lstStyle/>
          <a:p>
            <a:pPr algn="ctr">
              <a:lnSpc>
                <a:spcPts val="1800"/>
              </a:lnSpc>
            </a:pPr>
            <a:r>
              <a:rPr sz="1350" b="1" i="0" lang="de-DE">
                <a:solidFill>
                  <a:srgbClr val="141A21"/>
                </a:solidFill>
                <a:latin typeface="IBM Plex Sans"/>
              </a:rPr>
              <a:t>20 kWh</a:t>
            </a:r>
          </a:p>
        </p:txBody>
      </p:sp>
      <p:sp>
        <p:nvSpPr>
          <p:cNvPr id="26" name="TextBox 25"/>
          <p:cNvSpPr txBox="1"/>
          <p:nvPr/>
        </p:nvSpPr>
        <p:spPr>
          <a:xfrm>
            <a:off x="3748088" y="5086350"/>
            <a:ext cx="2724150" cy="228600"/>
          </a:xfrm>
          <a:prstGeom prst="rect">
            <a:avLst/>
          </a:prstGeom>
          <a:noFill/>
        </p:spPr>
        <p:txBody>
          <a:bodyPr wrap="none" lIns="0" rIns="0" tIns="0" bIns="0" anchor="t">
            <a:noAutofit/>
          </a:bodyPr>
          <a:lstStyle/>
          <a:p>
            <a:pPr algn="ctr">
              <a:lnSpc>
                <a:spcPts val="1800"/>
              </a:lnSpc>
            </a:pPr>
            <a:r>
              <a:rPr sz="1350" b="1" i="0" lang="de-DE">
                <a:solidFill>
                  <a:srgbClr val="141A21"/>
                </a:solidFill>
                <a:latin typeface="IBM Plex Sans"/>
              </a:rPr>
              <a:t>B · ein großer Fehler</a:t>
            </a:r>
          </a:p>
        </p:txBody>
      </p:sp>
      <p:sp>
        <p:nvSpPr>
          <p:cNvPr id="27" name="TextBox 26"/>
          <p:cNvSpPr txBox="1"/>
          <p:nvPr/>
        </p:nvSpPr>
        <p:spPr>
          <a:xfrm>
            <a:off x="3748088" y="5334000"/>
            <a:ext cx="2724150" cy="209550"/>
          </a:xfrm>
          <a:prstGeom prst="rect">
            <a:avLst/>
          </a:prstGeom>
          <a:noFill/>
        </p:spPr>
        <p:txBody>
          <a:bodyPr wrap="none" lIns="0" rIns="0" tIns="0" bIns="0" anchor="t">
            <a:noAutofit/>
          </a:bodyPr>
          <a:lstStyle/>
          <a:p>
            <a:pPr algn="ctr">
              <a:lnSpc>
                <a:spcPts val="1650"/>
              </a:lnSpc>
            </a:pPr>
            <a:r>
              <a:rPr sz="1200" b="0" i="0" lang="de-DE">
                <a:solidFill>
                  <a:srgbClr val="4E5A68"/>
                </a:solidFill>
                <a:latin typeface="IBM Plex Sans"/>
              </a:rPr>
              <a:t>0 · 0 · 0 · 40 kWh</a:t>
            </a:r>
          </a:p>
        </p:txBody>
      </p:sp>
      <p:sp>
        <p:nvSpPr>
          <p:cNvPr id="28" name="TextBox 27"/>
          <p:cNvSpPr txBox="1"/>
          <p:nvPr/>
        </p:nvSpPr>
        <p:spPr>
          <a:xfrm>
            <a:off x="914400" y="5619750"/>
            <a:ext cx="5448300" cy="209550"/>
          </a:xfrm>
          <a:prstGeom prst="rect">
            <a:avLst/>
          </a:prstGeom>
          <a:noFill/>
        </p:spPr>
        <p:txBody>
          <a:bodyPr wrap="square" lIns="0" rIns="0" tIns="0" bIns="0" anchor="t">
            <a:noAutofit/>
          </a:bodyPr>
          <a:lstStyle/>
          <a:p>
            <a:pPr algn="l">
              <a:lnSpc>
                <a:spcPts val="1650"/>
              </a:lnSpc>
            </a:pPr>
            <a:r>
              <a:rPr sz="1200" b="0" i="0" lang="de-DE">
                <a:solidFill>
                  <a:srgbClr val="657383"/>
                </a:solidFill>
                <a:latin typeface="IBM Plex Sans"/>
              </a:rPr>
              <a:t>Beispiel aus Notebook 13, keine Projektwerte</a:t>
            </a:r>
          </a:p>
        </p:txBody>
      </p:sp>
      <p:sp>
        <p:nvSpPr>
          <p:cNvPr id="29" name="Rounded Rectangle 28"/>
          <p:cNvSpPr/>
          <p:nvPr/>
        </p:nvSpPr>
        <p:spPr>
          <a:xfrm>
            <a:off x="6819900" y="1524000"/>
            <a:ext cx="4686300" cy="1714500"/>
          </a:xfrm>
          <a:prstGeom prst="roundRect">
            <a:avLst>
              <a:gd name="adj" fmla="val 5555"/>
            </a:avLst>
          </a:prstGeom>
          <a:solidFill>
            <a:srgbClr val="E4EFF7"/>
          </a:solidFill>
          <a:ln w="9525">
            <a:solidFill>
              <a:srgbClr val="BBD7EA"/>
            </a:solidFill>
          </a:ln>
          <a:effectLst/>
        </p:spPr>
        <p:txBody>
          <a:bodyPr rtlCol="0" anchor="ctr"/>
          <a:lstStyle/>
          <a:p>
            <a:pPr algn="ctr"/>
          </a:p>
        </p:txBody>
      </p:sp>
      <p:sp>
        <p:nvSpPr>
          <p:cNvPr id="30" name="TextBox 29"/>
          <p:cNvSpPr txBox="1"/>
          <p:nvPr/>
        </p:nvSpPr>
        <p:spPr>
          <a:xfrm>
            <a:off x="7048500" y="1714500"/>
            <a:ext cx="4610100" cy="198120"/>
          </a:xfrm>
          <a:prstGeom prst="rect">
            <a:avLst/>
          </a:prstGeom>
          <a:noFill/>
        </p:spPr>
        <p:txBody>
          <a:bodyPr wrap="none" lIns="0" rIns="0" tIns="0" bIns="0" anchor="t">
            <a:noAutofit/>
          </a:bodyPr>
          <a:lstStyle/>
          <a:p>
            <a:pPr algn="l">
              <a:lnSpc>
                <a:spcPts val="1560"/>
              </a:lnSpc>
            </a:pPr>
            <a:r>
              <a:rPr sz="1200" b="1" i="0" lang="de-DE" spc="72">
                <a:solidFill>
                  <a:srgbClr val="00718E"/>
                </a:solidFill>
                <a:latin typeface="IBM Plex Sans"/>
              </a:rPr>
              <a:t>FORMEL</a:t>
            </a:r>
          </a:p>
        </p:txBody>
      </p:sp>
      <p:sp>
        <p:nvSpPr>
          <p:cNvPr id="31" name="TextBox 30"/>
          <p:cNvSpPr txBox="1"/>
          <p:nvPr/>
        </p:nvSpPr>
        <p:spPr>
          <a:xfrm>
            <a:off x="7048500" y="2019300"/>
            <a:ext cx="4693920" cy="285750"/>
          </a:xfrm>
          <a:prstGeom prst="rect">
            <a:avLst/>
          </a:prstGeom>
          <a:noFill/>
        </p:spPr>
        <p:txBody>
          <a:bodyPr wrap="none" lIns="0" rIns="0" tIns="0" bIns="0" anchor="t">
            <a:noAutofit/>
          </a:bodyPr>
          <a:lstStyle/>
          <a:p>
            <a:pPr algn="l">
              <a:lnSpc>
                <a:spcPts val="2250"/>
              </a:lnSpc>
            </a:pPr>
            <a:r>
              <a:rPr sz="1500" b="1" i="0" lang="de-DE">
                <a:solidFill>
                  <a:srgbClr val="141A21"/>
                </a:solidFill>
                <a:latin typeface="Geist Mono"/>
              </a:rPr>
              <a:t>RMSE = √( Σ (Ist − Prognose)² ÷ n )</a:t>
            </a:r>
          </a:p>
        </p:txBody>
      </p:sp>
      <p:sp>
        <p:nvSpPr>
          <p:cNvPr id="32" name="TextBox 31"/>
          <p:cNvSpPr txBox="1"/>
          <p:nvPr/>
        </p:nvSpPr>
        <p:spPr>
          <a:xfrm>
            <a:off x="7048500" y="2457450"/>
            <a:ext cx="4267200" cy="609600"/>
          </a:xfrm>
          <a:prstGeom prst="rect">
            <a:avLst/>
          </a:prstGeom>
          <a:noFill/>
        </p:spPr>
        <p:txBody>
          <a:bodyPr wrap="square" lIns="0" rIns="0" tIns="0" bIns="0" anchor="t">
            <a:noAutofit/>
          </a:bodyPr>
          <a:lstStyle/>
          <a:p>
            <a:pPr algn="l">
              <a:lnSpc>
                <a:spcPts val="1950"/>
              </a:lnSpc>
            </a:pPr>
            <a:r>
              <a:rPr sz="1275" b="0" i="0" lang="de-DE">
                <a:solidFill>
                  <a:srgbClr val="4E5A68"/>
                </a:solidFill>
                <a:latin typeface="Geist Mono"/>
              </a:rPr>
              <a:t>A: √(4 · 10² ÷ 4) = 10 kWh</a:t>
            </a:r>
          </a:p>
          <a:p>
            <a:pPr algn="l">
              <a:lnSpc>
                <a:spcPts val="1950"/>
              </a:lnSpc>
            </a:pPr>
            <a:r>
              <a:rPr sz="1275" b="0" i="0" lang="de-DE">
                <a:solidFill>
                  <a:srgbClr val="4E5A68"/>
                </a:solidFill>
                <a:latin typeface="Geist Mono"/>
              </a:rPr>
              <a:t>B: √(40² ÷ 4) = 20 kWh</a:t>
            </a:r>
          </a:p>
        </p:txBody>
      </p:sp>
      <p:sp>
        <p:nvSpPr>
          <p:cNvPr id="33" name="TextBox 32"/>
          <p:cNvSpPr txBox="1"/>
          <p:nvPr/>
        </p:nvSpPr>
        <p:spPr>
          <a:xfrm>
            <a:off x="6819900" y="3448050"/>
            <a:ext cx="4686300" cy="2476500"/>
          </a:xfrm>
          <a:prstGeom prst="rect">
            <a:avLst/>
          </a:prstGeom>
          <a:noFill/>
        </p:spPr>
        <p:txBody>
          <a:bodyPr wrap="square" lIns="0" rIns="0" tIns="0" bIns="0" anchor="t">
            <a:noAutofit/>
          </a:bodyPr>
          <a:lstStyle/>
          <a:p>
            <a:pPr algn="l" marL="209550" indent="-209550">
              <a:lnSpc>
                <a:spcPts val="2025"/>
              </a:lnSpc>
              <a:buChar char="•"/>
            </a:pPr>
            <a:r>
              <a:rPr sz="1425" b="0" i="0" lang="de-DE">
                <a:solidFill>
                  <a:srgbClr val="141A21"/>
                </a:solidFill>
                <a:latin typeface="IBM Plex Sans"/>
              </a:rPr>
              <a:t>Misst in kWh: der Einheit, in der die Beschaffung plant.</a:t>
            </a:r>
          </a:p>
          <a:p>
            <a:pPr algn="l" marL="209550" indent="-209550">
              <a:lnSpc>
                <a:spcPts val="2025"/>
              </a:lnSpc>
              <a:spcBef>
                <a:spcPts val="900"/>
              </a:spcBef>
              <a:buChar char="•"/>
            </a:pPr>
            <a:r>
              <a:rPr sz="1425" b="0" i="0" lang="de-DE">
                <a:solidFill>
                  <a:srgbClr val="141A21"/>
                </a:solidFill>
                <a:latin typeface="IBM Plex Sans"/>
              </a:rPr>
              <a:t>Große Abweichungen gleicht die Beschaffung teuer am Spotmarkt aus.</a:t>
            </a:r>
          </a:p>
          <a:p>
            <a:pPr algn="l" marL="209550" indent="-209550">
              <a:lnSpc>
                <a:spcPts val="2025"/>
              </a:lnSpc>
              <a:spcBef>
                <a:spcPts val="900"/>
              </a:spcBef>
              <a:buChar char="•"/>
            </a:pPr>
            <a:r>
              <a:rPr sz="1425" b="0" i="0" lang="de-DE">
                <a:solidFill>
                  <a:srgbClr val="141A21"/>
                </a:solidFill>
                <a:latin typeface="IBM Plex Sans"/>
              </a:rPr>
              <a:t>MAE und R² ergänzen, entscheiden aber nicht.</a:t>
            </a:r>
          </a:p>
        </p:txBody>
      </p:sp>
      <p:cxnSp>
        <p:nvCxnSpPr>
          <p:cNvPr id="34" name="Fußlinie"/>
          <p:cNvCxnSpPr/>
          <p:nvPr/>
        </p:nvCxnSpPr>
        <p:spPr>
          <a:xfrm>
            <a:off x="0" y="6153150"/>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35" name="Logo" descr="image.png"/>
          <p:cNvPicPr>
            <a:picLocks noChangeAspect="1"/>
          </p:cNvPicPr>
          <p:nvPr/>
        </p:nvPicPr>
        <p:blipFill>
          <a:blip r:embed="rId2"/>
          <a:stretch>
            <a:fillRect/>
          </a:stretch>
        </p:blipFill>
        <p:spPr>
          <a:xfrm>
            <a:off x="685800" y="6362700"/>
            <a:ext cx="715863" cy="247650"/>
          </a:xfrm>
          <a:prstGeom prst="rect">
            <a:avLst/>
          </a:prstGeom>
        </p:spPr>
      </p:pic>
      <p:sp>
        <p:nvSpPr>
          <p:cNvPr id="36" name="TextBox 35"/>
          <p:cNvSpPr txBox="1"/>
          <p:nvPr/>
        </p:nvSpPr>
        <p:spPr>
          <a:xfrm>
            <a:off x="1562100" y="6391275"/>
            <a:ext cx="2891790"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a:t>
            </a:r>
          </a:p>
        </p:txBody>
      </p:sp>
      <p:sp>
        <p:nvSpPr>
          <p:cNvPr id="37" name="Seitenzahl"/>
          <p:cNvSpPr txBox="1"/>
          <p:nvPr/>
        </p:nvSpPr>
        <p:spPr>
          <a:xfrm>
            <a:off x="10835640" y="6391275"/>
            <a:ext cx="67056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5 /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00718E"/>
                </a:solidFill>
                <a:latin typeface="IBM Plex Sans"/>
              </a:rPr>
              <a:t>KAPITEL 4 · MODELLWAHL · KIKO</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141A21"/>
                </a:solidFill>
                <a:latin typeface="IBM Plex Sans"/>
              </a:rPr>
              <a:t>Random Forest gewinnt die Auswahl in 2024</a:t>
            </a:r>
          </a:p>
        </p:txBody>
      </p:sp>
      <p:sp>
        <p:nvSpPr>
          <p:cNvPr id="4" name="Rounded Rectangle 3"/>
          <p:cNvSpPr/>
          <p:nvPr/>
        </p:nvSpPr>
        <p:spPr>
          <a:xfrm>
            <a:off x="685800" y="1524000"/>
            <a:ext cx="6667500" cy="4476750"/>
          </a:xfrm>
          <a:prstGeom prst="roundRect">
            <a:avLst>
              <a:gd name="adj" fmla="val 2127"/>
            </a:avLst>
          </a:prstGeom>
          <a:solidFill>
            <a:srgbClr val="FFFFFF"/>
          </a:solidFill>
          <a:ln w="9525">
            <a:solidFill>
              <a:srgbClr val="D2DAE2"/>
            </a:solidFill>
          </a:ln>
          <a:effectLst/>
        </p:spPr>
        <p:txBody>
          <a:bodyPr rtlCol="0" anchor="ctr"/>
          <a:lstStyle/>
          <a:p>
            <a:pPr algn="ctr"/>
          </a:p>
        </p:txBody>
      </p:sp>
      <p:sp>
        <p:nvSpPr>
          <p:cNvPr id="5" name="TextBox 4"/>
          <p:cNvSpPr txBox="1"/>
          <p:nvPr/>
        </p:nvSpPr>
        <p:spPr>
          <a:xfrm>
            <a:off x="914400" y="1714500"/>
            <a:ext cx="6191250" cy="247650"/>
          </a:xfrm>
          <a:prstGeom prst="rect">
            <a:avLst/>
          </a:prstGeom>
          <a:noFill/>
        </p:spPr>
        <p:txBody>
          <a:bodyPr wrap="square" lIns="0" rIns="0" tIns="0" bIns="0" anchor="t">
            <a:noAutofit/>
          </a:bodyPr>
          <a:lstStyle/>
          <a:p>
            <a:pPr algn="l">
              <a:lnSpc>
                <a:spcPts val="1950"/>
              </a:lnSpc>
            </a:pPr>
            <a:r>
              <a:rPr sz="1425" b="1" i="0" lang="de-DE">
                <a:solidFill>
                  <a:srgbClr val="141A21"/>
                </a:solidFill>
                <a:latin typeface="IBM Plex Sans"/>
              </a:rPr>
              <a:t>Ø RMSE über drei zeitliche Folds 2024</a:t>
            </a:r>
          </a:p>
        </p:txBody>
      </p:sp>
      <p:sp>
        <p:nvSpPr>
          <p:cNvPr id="6" name="TextBox 5"/>
          <p:cNvSpPr txBox="1"/>
          <p:nvPr/>
        </p:nvSpPr>
        <p:spPr>
          <a:xfrm>
            <a:off x="914400" y="1962150"/>
            <a:ext cx="6191250" cy="209550"/>
          </a:xfrm>
          <a:prstGeom prst="rect">
            <a:avLst/>
          </a:prstGeom>
          <a:noFill/>
        </p:spPr>
        <p:txBody>
          <a:bodyPr wrap="square" lIns="0" rIns="0" tIns="0" bIns="0" anchor="t">
            <a:noAutofit/>
          </a:bodyPr>
          <a:lstStyle/>
          <a:p>
            <a:pPr algn="l">
              <a:lnSpc>
                <a:spcPts val="1650"/>
              </a:lnSpc>
            </a:pPr>
            <a:r>
              <a:rPr sz="1200" b="0" i="0" lang="de-DE">
                <a:solidFill>
                  <a:srgbClr val="4E5A68"/>
                </a:solidFill>
                <a:latin typeface="IBM Plex Sans"/>
              </a:rPr>
              <a:t>in kWh · Raute je Fold, Strich ±1 Standardabweichung</a:t>
            </a:r>
          </a:p>
        </p:txBody>
      </p:sp>
      <p:pic>
        <p:nvPicPr>
          <p:cNvPr id="7" name="Diagramm Modellwahl 2024" descr="s06_svg07.png"/>
          <p:cNvPicPr>
            <a:picLocks noChangeAspect="1"/>
          </p:cNvPicPr>
          <p:nvPr/>
        </p:nvPicPr>
        <p:blipFill>
          <a:blip r:embed="rId2"/>
          <a:stretch>
            <a:fillRect/>
          </a:stretch>
        </p:blipFill>
        <p:spPr>
          <a:xfrm>
            <a:off x="914400" y="2381250"/>
            <a:ext cx="6210300" cy="2833509"/>
          </a:xfrm>
          <a:prstGeom prst="rect">
            <a:avLst/>
          </a:prstGeom>
        </p:spPr>
      </p:pic>
      <p:sp>
        <p:nvSpPr>
          <p:cNvPr id="8" name="Rounded Rectangle 7"/>
          <p:cNvSpPr/>
          <p:nvPr/>
        </p:nvSpPr>
        <p:spPr>
          <a:xfrm>
            <a:off x="7581900" y="1524000"/>
            <a:ext cx="3924300" cy="1371600"/>
          </a:xfrm>
          <a:prstGeom prst="roundRect">
            <a:avLst>
              <a:gd name="adj" fmla="val 6944"/>
            </a:avLst>
          </a:prstGeom>
          <a:solidFill>
            <a:srgbClr val="FFFFFF"/>
          </a:solidFill>
          <a:ln w="9525">
            <a:solidFill>
              <a:srgbClr val="D2DAE2"/>
            </a:solidFill>
          </a:ln>
          <a:effectLst/>
        </p:spPr>
        <p:txBody>
          <a:bodyPr rtlCol="0" anchor="ctr"/>
          <a:lstStyle/>
          <a:p>
            <a:pPr algn="ctr"/>
          </a:p>
        </p:txBody>
      </p:sp>
      <p:sp>
        <p:nvSpPr>
          <p:cNvPr id="9" name="TextBox 8"/>
          <p:cNvSpPr txBox="1"/>
          <p:nvPr/>
        </p:nvSpPr>
        <p:spPr>
          <a:xfrm>
            <a:off x="7810500" y="1733550"/>
            <a:ext cx="3467100" cy="222885"/>
          </a:xfrm>
          <a:prstGeom prst="rect">
            <a:avLst/>
          </a:prstGeom>
          <a:noFill/>
        </p:spPr>
        <p:txBody>
          <a:bodyPr wrap="square" lIns="0" rIns="0" tIns="0" bIns="0" anchor="t">
            <a:noAutofit/>
          </a:bodyPr>
          <a:lstStyle/>
          <a:p>
            <a:pPr algn="l">
              <a:lnSpc>
                <a:spcPts val="1755"/>
              </a:lnSpc>
            </a:pPr>
            <a:r>
              <a:rPr sz="1350" b="1" i="0" lang="de-DE">
                <a:solidFill>
                  <a:srgbClr val="141A21"/>
                </a:solidFill>
                <a:latin typeface="IBM Plex Sans"/>
              </a:rPr>
              <a:t>Knapp vor der linearen Regression</a:t>
            </a:r>
          </a:p>
        </p:txBody>
      </p:sp>
      <p:sp>
        <p:nvSpPr>
          <p:cNvPr id="10" name="TextBox 9"/>
          <p:cNvSpPr txBox="1"/>
          <p:nvPr/>
        </p:nvSpPr>
        <p:spPr>
          <a:xfrm>
            <a:off x="7810500" y="2032635"/>
            <a:ext cx="3467100" cy="672465"/>
          </a:xfrm>
          <a:prstGeom prst="rect">
            <a:avLst/>
          </a:prstGeom>
          <a:noFill/>
        </p:spPr>
        <p:txBody>
          <a:bodyPr wrap="square" lIns="0" rIns="0" tIns="0" bIns="0" anchor="t">
            <a:noAutofit/>
          </a:bodyPr>
          <a:lstStyle/>
          <a:p>
            <a:pPr algn="l">
              <a:lnSpc>
                <a:spcPts val="1848"/>
              </a:lnSpc>
            </a:pPr>
            <a:r>
              <a:rPr sz="1275" b="0" i="0" lang="de-DE">
                <a:solidFill>
                  <a:srgbClr val="4E5A68"/>
                </a:solidFill>
                <a:latin typeface="IBM Plex Sans"/>
              </a:rPr>
              <a:t>13.272 gegen 13.643 kWh: der Wald erfasst nichtlineare Effekte.</a:t>
            </a:r>
          </a:p>
        </p:txBody>
      </p:sp>
      <p:sp>
        <p:nvSpPr>
          <p:cNvPr id="11" name="Rounded Rectangle 10"/>
          <p:cNvSpPr/>
          <p:nvPr/>
        </p:nvSpPr>
        <p:spPr>
          <a:xfrm>
            <a:off x="7581900" y="3028950"/>
            <a:ext cx="3924300" cy="1371600"/>
          </a:xfrm>
          <a:prstGeom prst="roundRect">
            <a:avLst>
              <a:gd name="adj" fmla="val 6944"/>
            </a:avLst>
          </a:prstGeom>
          <a:solidFill>
            <a:srgbClr val="FFFFFF"/>
          </a:solidFill>
          <a:ln w="9525">
            <a:solidFill>
              <a:srgbClr val="D2DAE2"/>
            </a:solidFill>
          </a:ln>
          <a:effectLst/>
        </p:spPr>
        <p:txBody>
          <a:bodyPr rtlCol="0" anchor="ctr"/>
          <a:lstStyle/>
          <a:p>
            <a:pPr algn="ctr"/>
          </a:p>
        </p:txBody>
      </p:sp>
      <p:sp>
        <p:nvSpPr>
          <p:cNvPr id="12" name="TextBox 11"/>
          <p:cNvSpPr txBox="1"/>
          <p:nvPr/>
        </p:nvSpPr>
        <p:spPr>
          <a:xfrm>
            <a:off x="7810500" y="3238500"/>
            <a:ext cx="3467100" cy="222885"/>
          </a:xfrm>
          <a:prstGeom prst="rect">
            <a:avLst/>
          </a:prstGeom>
          <a:noFill/>
        </p:spPr>
        <p:txBody>
          <a:bodyPr wrap="square" lIns="0" rIns="0" tIns="0" bIns="0" anchor="t">
            <a:noAutofit/>
          </a:bodyPr>
          <a:lstStyle/>
          <a:p>
            <a:pPr algn="l">
              <a:lnSpc>
                <a:spcPts val="1755"/>
              </a:lnSpc>
            </a:pPr>
            <a:r>
              <a:rPr sz="1350" b="1" i="0" lang="de-DE">
                <a:solidFill>
                  <a:srgbClr val="141A21"/>
                </a:solidFill>
                <a:latin typeface="IBM Plex Sans"/>
              </a:rPr>
              <a:t>Klar vor einfachen Regeln</a:t>
            </a:r>
          </a:p>
        </p:txBody>
      </p:sp>
      <p:sp>
        <p:nvSpPr>
          <p:cNvPr id="13" name="TextBox 12"/>
          <p:cNvSpPr txBox="1"/>
          <p:nvPr/>
        </p:nvSpPr>
        <p:spPr>
          <a:xfrm>
            <a:off x="7810500" y="3537585"/>
            <a:ext cx="3467100" cy="672465"/>
          </a:xfrm>
          <a:prstGeom prst="rect">
            <a:avLst/>
          </a:prstGeom>
          <a:noFill/>
        </p:spPr>
        <p:txBody>
          <a:bodyPr wrap="square" lIns="0" rIns="0" tIns="0" bIns="0" anchor="t">
            <a:noAutofit/>
          </a:bodyPr>
          <a:lstStyle/>
          <a:p>
            <a:pPr algn="l">
              <a:lnSpc>
                <a:spcPts val="1848"/>
              </a:lnSpc>
            </a:pPr>
            <a:r>
              <a:rPr sz="1275" b="0" i="0" lang="de-DE">
                <a:solidFill>
                  <a:srgbClr val="4E5A68"/>
                </a:solidFill>
                <a:latin typeface="IBM Plex Sans"/>
              </a:rPr>
              <a:t>3-Monats-Mittel 15.483, Vormonat 18.460 kWh.</a:t>
            </a:r>
          </a:p>
        </p:txBody>
      </p:sp>
      <p:sp>
        <p:nvSpPr>
          <p:cNvPr id="14" name="Rounded Rectangle 13"/>
          <p:cNvSpPr/>
          <p:nvPr/>
        </p:nvSpPr>
        <p:spPr>
          <a:xfrm>
            <a:off x="7581900" y="4533900"/>
            <a:ext cx="3924300" cy="1371600"/>
          </a:xfrm>
          <a:prstGeom prst="roundRect">
            <a:avLst>
              <a:gd name="adj" fmla="val 6944"/>
            </a:avLst>
          </a:prstGeom>
          <a:solidFill>
            <a:srgbClr val="FFFFFF"/>
          </a:solidFill>
          <a:ln w="9525">
            <a:solidFill>
              <a:srgbClr val="D2DAE2"/>
            </a:solidFill>
          </a:ln>
          <a:effectLst/>
        </p:spPr>
        <p:txBody>
          <a:bodyPr rtlCol="0" anchor="ctr"/>
          <a:lstStyle/>
          <a:p>
            <a:pPr algn="ctr"/>
          </a:p>
        </p:txBody>
      </p:sp>
      <p:sp>
        <p:nvSpPr>
          <p:cNvPr id="15" name="TextBox 14"/>
          <p:cNvSpPr txBox="1"/>
          <p:nvPr/>
        </p:nvSpPr>
        <p:spPr>
          <a:xfrm>
            <a:off x="7810500" y="4743450"/>
            <a:ext cx="3467100" cy="222885"/>
          </a:xfrm>
          <a:prstGeom prst="rect">
            <a:avLst/>
          </a:prstGeom>
          <a:noFill/>
        </p:spPr>
        <p:txBody>
          <a:bodyPr wrap="square" lIns="0" rIns="0" tIns="0" bIns="0" anchor="t">
            <a:noAutofit/>
          </a:bodyPr>
          <a:lstStyle/>
          <a:p>
            <a:pPr algn="l">
              <a:lnSpc>
                <a:spcPts val="1755"/>
              </a:lnSpc>
            </a:pPr>
            <a:r>
              <a:rPr sz="1350" b="1" i="0" lang="de-DE">
                <a:solidFill>
                  <a:srgbClr val="141A21"/>
                </a:solidFill>
                <a:latin typeface="IBM Plex Sans"/>
              </a:rPr>
              <a:t>Fold 1 ist für alle am schwersten</a:t>
            </a:r>
          </a:p>
        </p:txBody>
      </p:sp>
      <p:sp>
        <p:nvSpPr>
          <p:cNvPr id="16" name="TextBox 15"/>
          <p:cNvSpPr txBox="1"/>
          <p:nvPr/>
        </p:nvSpPr>
        <p:spPr>
          <a:xfrm>
            <a:off x="7810500" y="5042535"/>
            <a:ext cx="3467100" cy="672465"/>
          </a:xfrm>
          <a:prstGeom prst="rect">
            <a:avLst/>
          </a:prstGeom>
          <a:noFill/>
        </p:spPr>
        <p:txBody>
          <a:bodyPr wrap="square" lIns="0" rIns="0" tIns="0" bIns="0" anchor="t">
            <a:noAutofit/>
          </a:bodyPr>
          <a:lstStyle/>
          <a:p>
            <a:pPr algn="l">
              <a:lnSpc>
                <a:spcPts val="1848"/>
              </a:lnSpc>
            </a:pPr>
            <a:r>
              <a:rPr sz="1275" b="0" i="0" lang="de-DE">
                <a:solidFill>
                  <a:srgbClr val="4E5A68"/>
                </a:solidFill>
                <a:latin typeface="IBM Plex Sans"/>
              </a:rPr>
              <a:t>Mai–Jun zieht jeden Mittelwert hoch.</a:t>
            </a:r>
          </a:p>
        </p:txBody>
      </p:sp>
      <p:cxnSp>
        <p:nvCxnSpPr>
          <p:cNvPr id="17" name="Fußlinie"/>
          <p:cNvCxnSpPr/>
          <p:nvPr/>
        </p:nvCxnSpPr>
        <p:spPr>
          <a:xfrm>
            <a:off x="0" y="6153150"/>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18" name="Logo" descr="image.png"/>
          <p:cNvPicPr>
            <a:picLocks noChangeAspect="1"/>
          </p:cNvPicPr>
          <p:nvPr/>
        </p:nvPicPr>
        <p:blipFill>
          <a:blip r:embed="rId3"/>
          <a:stretch>
            <a:fillRect/>
          </a:stretch>
        </p:blipFill>
        <p:spPr>
          <a:xfrm>
            <a:off x="685800" y="6362700"/>
            <a:ext cx="715863" cy="247650"/>
          </a:xfrm>
          <a:prstGeom prst="rect">
            <a:avLst/>
          </a:prstGeom>
        </p:spPr>
      </p:pic>
      <p:sp>
        <p:nvSpPr>
          <p:cNvPr id="19" name="TextBox 18"/>
          <p:cNvSpPr txBox="1"/>
          <p:nvPr/>
        </p:nvSpPr>
        <p:spPr>
          <a:xfrm>
            <a:off x="1562100" y="6391275"/>
            <a:ext cx="2891790"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a:t>
            </a:r>
          </a:p>
        </p:txBody>
      </p:sp>
      <p:sp>
        <p:nvSpPr>
          <p:cNvPr id="20" name="Seitenzahl"/>
          <p:cNvSpPr txBox="1"/>
          <p:nvPr/>
        </p:nvSpPr>
        <p:spPr>
          <a:xfrm>
            <a:off x="10835640" y="6391275"/>
            <a:ext cx="67056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6 /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00718E"/>
                </a:solidFill>
                <a:latin typeface="IBM Plex Sans"/>
              </a:rPr>
              <a:t>KAPITEL 4 · SCHWELLE · KIKO</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141A21"/>
                </a:solidFill>
                <a:latin typeface="IBM Plex Sans"/>
              </a:rPr>
              <a:t>Ungewöhnlich ist, was 99 von 100 Fehler übertrifft</a:t>
            </a:r>
          </a:p>
        </p:txBody>
      </p:sp>
      <p:grpSp>
        <p:nvGrpSpPr>
          <p:cNvPr id="4" name="Hinweis 1"/>
          <p:cNvGrpSpPr/>
          <p:nvPr/>
        </p:nvGrpSpPr>
        <p:grpSpPr>
          <a:xfrm>
            <a:off x="647700" y="1543050"/>
            <a:ext cx="419100" cy="304800"/>
            <a:chOff x="647700" y="1543050"/>
            <a:chExt cx="419100" cy="304800"/>
          </a:xfrm>
        </p:grpSpPr>
        <p:sp>
          <p:nvSpPr>
            <p:cNvPr id="5" name="Oval 4"/>
            <p:cNvSpPr/>
            <p:nvPr/>
          </p:nvSpPr>
          <p:spPr>
            <a:xfrm>
              <a:off x="704850" y="1543050"/>
              <a:ext cx="304800" cy="304800"/>
            </a:xfrm>
            <a:prstGeom prst="ellipse">
              <a:avLst/>
            </a:prstGeom>
            <a:solidFill>
              <a:srgbClr val="084878"/>
            </a:solidFill>
            <a:ln w="19050">
              <a:solidFill>
                <a:srgbClr val="FFFFFF"/>
              </a:solidFill>
            </a:ln>
            <a:effectLst/>
          </p:spPr>
          <p:txBody>
            <a:bodyPr rtlCol="0" anchor="ctr"/>
            <a:lstStyle/>
            <a:p>
              <a:pPr algn="ctr"/>
            </a:p>
          </p:txBody>
        </p:sp>
        <p:sp>
          <p:nvSpPr>
            <p:cNvPr id="6" name="TextBox 5"/>
            <p:cNvSpPr txBox="1"/>
            <p:nvPr/>
          </p:nvSpPr>
          <p:spPr>
            <a:xfrm>
              <a:off x="647700" y="1543050"/>
              <a:ext cx="419100" cy="304800"/>
            </a:xfrm>
            <a:prstGeom prst="rect">
              <a:avLst/>
            </a:prstGeom>
            <a:noFill/>
          </p:spPr>
          <p:txBody>
            <a:bodyPr wrap="none" lIns="0" rIns="0" tIns="0" bIns="0" anchor="ctr">
              <a:noAutofit/>
            </a:bodyPr>
            <a:lstStyle/>
            <a:p>
              <a:pPr algn="ctr">
                <a:lnSpc>
                  <a:spcPts val="2400"/>
                </a:lnSpc>
              </a:pPr>
              <a:r>
                <a:rPr sz="1275" b="1" i="0" lang="de-DE">
                  <a:solidFill>
                    <a:srgbClr val="FFFFFF"/>
                  </a:solidFill>
                  <a:latin typeface="Geist Mono"/>
                </a:rPr>
                <a:t>1</a:t>
              </a:r>
            </a:p>
          </p:txBody>
        </p:sp>
      </p:grpSp>
      <p:sp>
        <p:nvSpPr>
          <p:cNvPr id="7" name="TextBox 6"/>
          <p:cNvSpPr txBox="1"/>
          <p:nvPr/>
        </p:nvSpPr>
        <p:spPr>
          <a:xfrm>
            <a:off x="1162050" y="1562100"/>
            <a:ext cx="4000500" cy="266700"/>
          </a:xfrm>
          <a:prstGeom prst="rect">
            <a:avLst/>
          </a:prstGeom>
          <a:noFill/>
        </p:spPr>
        <p:txBody>
          <a:bodyPr wrap="square" lIns="0" rIns="0" tIns="0" bIns="0" anchor="t">
            <a:noAutofit/>
          </a:bodyPr>
          <a:lstStyle/>
          <a:p>
            <a:pPr algn="l">
              <a:lnSpc>
                <a:spcPts val="2025"/>
              </a:lnSpc>
            </a:pPr>
            <a:r>
              <a:rPr sz="1500" b="1" i="0" lang="de-DE">
                <a:solidFill>
                  <a:srgbClr val="141A21"/>
                </a:solidFill>
                <a:latin typeface="IBM Plex Sans"/>
              </a:rPr>
              <a:t>Abweichung messen</a:t>
            </a:r>
          </a:p>
        </p:txBody>
      </p:sp>
      <p:sp>
        <p:nvSpPr>
          <p:cNvPr id="8" name="TextBox 7"/>
          <p:cNvSpPr txBox="1"/>
          <p:nvPr/>
        </p:nvSpPr>
        <p:spPr>
          <a:xfrm>
            <a:off x="1162050" y="1847850"/>
            <a:ext cx="4000500" cy="495300"/>
          </a:xfrm>
          <a:prstGeom prst="rect">
            <a:avLst/>
          </a:prstGeom>
          <a:noFill/>
        </p:spPr>
        <p:txBody>
          <a:bodyPr wrap="square" lIns="0" rIns="0" tIns="0" bIns="0" anchor="t">
            <a:noAutofit/>
          </a:bodyPr>
          <a:lstStyle/>
          <a:p>
            <a:pPr algn="l">
              <a:lnSpc>
                <a:spcPts val="1800"/>
              </a:lnSpc>
            </a:pPr>
            <a:r>
              <a:rPr sz="1275" b="0" i="0" lang="de-DE">
                <a:solidFill>
                  <a:srgbClr val="4E5A68"/>
                </a:solidFill>
                <a:latin typeface="IBM Plex Sans"/>
              </a:rPr>
              <a:t>Nach Monatsende: Ist minus Prognose, in Vollaststunden.</a:t>
            </a:r>
          </a:p>
        </p:txBody>
      </p:sp>
      <p:grpSp>
        <p:nvGrpSpPr>
          <p:cNvPr id="9" name="Hinweis 2"/>
          <p:cNvGrpSpPr/>
          <p:nvPr/>
        </p:nvGrpSpPr>
        <p:grpSpPr>
          <a:xfrm>
            <a:off x="647700" y="2457450"/>
            <a:ext cx="419100" cy="304800"/>
            <a:chOff x="647700" y="2457450"/>
            <a:chExt cx="419100" cy="304800"/>
          </a:xfrm>
        </p:grpSpPr>
        <p:sp>
          <p:nvSpPr>
            <p:cNvPr id="10" name="Oval 9"/>
            <p:cNvSpPr/>
            <p:nvPr/>
          </p:nvSpPr>
          <p:spPr>
            <a:xfrm>
              <a:off x="704850" y="2457450"/>
              <a:ext cx="304800" cy="304800"/>
            </a:xfrm>
            <a:prstGeom prst="ellipse">
              <a:avLst/>
            </a:prstGeom>
            <a:solidFill>
              <a:srgbClr val="084878"/>
            </a:solidFill>
            <a:ln w="19050">
              <a:solidFill>
                <a:srgbClr val="FFFFFF"/>
              </a:solidFill>
            </a:ln>
            <a:effectLst/>
          </p:spPr>
          <p:txBody>
            <a:bodyPr rtlCol="0" anchor="ctr"/>
            <a:lstStyle/>
            <a:p>
              <a:pPr algn="ctr"/>
            </a:p>
          </p:txBody>
        </p:sp>
        <p:sp>
          <p:nvSpPr>
            <p:cNvPr id="11" name="TextBox 10"/>
            <p:cNvSpPr txBox="1"/>
            <p:nvPr/>
          </p:nvSpPr>
          <p:spPr>
            <a:xfrm>
              <a:off x="647700" y="2457450"/>
              <a:ext cx="419100" cy="304800"/>
            </a:xfrm>
            <a:prstGeom prst="rect">
              <a:avLst/>
            </a:prstGeom>
            <a:noFill/>
          </p:spPr>
          <p:txBody>
            <a:bodyPr wrap="none" lIns="0" rIns="0" tIns="0" bIns="0" anchor="ctr">
              <a:noAutofit/>
            </a:bodyPr>
            <a:lstStyle/>
            <a:p>
              <a:pPr algn="ctr">
                <a:lnSpc>
                  <a:spcPts val="2400"/>
                </a:lnSpc>
              </a:pPr>
              <a:r>
                <a:rPr sz="1275" b="1" i="0" lang="de-DE">
                  <a:solidFill>
                    <a:srgbClr val="FFFFFF"/>
                  </a:solidFill>
                  <a:latin typeface="Geist Mono"/>
                </a:rPr>
                <a:t>2</a:t>
              </a:r>
            </a:p>
          </p:txBody>
        </p:sp>
      </p:grpSp>
      <p:sp>
        <p:nvSpPr>
          <p:cNvPr id="12" name="TextBox 11"/>
          <p:cNvSpPr txBox="1"/>
          <p:nvPr/>
        </p:nvSpPr>
        <p:spPr>
          <a:xfrm>
            <a:off x="1162050" y="2476500"/>
            <a:ext cx="4000500" cy="266700"/>
          </a:xfrm>
          <a:prstGeom prst="rect">
            <a:avLst/>
          </a:prstGeom>
          <a:noFill/>
        </p:spPr>
        <p:txBody>
          <a:bodyPr wrap="square" lIns="0" rIns="0" tIns="0" bIns="0" anchor="t">
            <a:noAutofit/>
          </a:bodyPr>
          <a:lstStyle/>
          <a:p>
            <a:pPr algn="l">
              <a:lnSpc>
                <a:spcPts val="2025"/>
              </a:lnSpc>
            </a:pPr>
            <a:r>
              <a:rPr sz="1500" b="1" i="0" lang="de-DE">
                <a:solidFill>
                  <a:srgbClr val="141A21"/>
                </a:solidFill>
                <a:latin typeface="IBM Plex Sans"/>
              </a:rPr>
              <a:t>Normale Fehler sammeln</a:t>
            </a:r>
          </a:p>
        </p:txBody>
      </p:sp>
      <p:sp>
        <p:nvSpPr>
          <p:cNvPr id="13" name="TextBox 12"/>
          <p:cNvSpPr txBox="1"/>
          <p:nvPr/>
        </p:nvSpPr>
        <p:spPr>
          <a:xfrm>
            <a:off x="1162050" y="2762250"/>
            <a:ext cx="4000500" cy="495300"/>
          </a:xfrm>
          <a:prstGeom prst="rect">
            <a:avLst/>
          </a:prstGeom>
          <a:noFill/>
        </p:spPr>
        <p:txBody>
          <a:bodyPr wrap="square" lIns="0" rIns="0" tIns="0" bIns="0" anchor="t">
            <a:noAutofit/>
          </a:bodyPr>
          <a:lstStyle/>
          <a:p>
            <a:pPr algn="l">
              <a:lnSpc>
                <a:spcPts val="1800"/>
              </a:lnSpc>
            </a:pPr>
            <a:r>
              <a:rPr sz="1275" b="0" i="0" lang="de-DE">
                <a:solidFill>
                  <a:srgbClr val="4E5A68"/>
                </a:solidFill>
                <a:latin typeface="IBM Plex Sans"/>
              </a:rPr>
              <a:t>1.397 echte Vorhersagefehler aus Nov–Dez 2024, der Größe nach sortiert.</a:t>
            </a:r>
          </a:p>
        </p:txBody>
      </p:sp>
      <p:grpSp>
        <p:nvGrpSpPr>
          <p:cNvPr id="14" name="Hinweis 3"/>
          <p:cNvGrpSpPr/>
          <p:nvPr/>
        </p:nvGrpSpPr>
        <p:grpSpPr>
          <a:xfrm>
            <a:off x="647700" y="3371850"/>
            <a:ext cx="419100" cy="304800"/>
            <a:chOff x="647700" y="3371850"/>
            <a:chExt cx="419100" cy="304800"/>
          </a:xfrm>
        </p:grpSpPr>
        <p:sp>
          <p:nvSpPr>
            <p:cNvPr id="15" name="Oval 14"/>
            <p:cNvSpPr/>
            <p:nvPr/>
          </p:nvSpPr>
          <p:spPr>
            <a:xfrm>
              <a:off x="704850" y="3371850"/>
              <a:ext cx="304800" cy="304800"/>
            </a:xfrm>
            <a:prstGeom prst="ellipse">
              <a:avLst/>
            </a:prstGeom>
            <a:solidFill>
              <a:srgbClr val="084878"/>
            </a:solidFill>
            <a:ln w="19050">
              <a:solidFill>
                <a:srgbClr val="FFFFFF"/>
              </a:solidFill>
            </a:ln>
            <a:effectLst/>
          </p:spPr>
          <p:txBody>
            <a:bodyPr rtlCol="0" anchor="ctr"/>
            <a:lstStyle/>
            <a:p>
              <a:pPr algn="ctr"/>
            </a:p>
          </p:txBody>
        </p:sp>
        <p:sp>
          <p:nvSpPr>
            <p:cNvPr id="16" name="TextBox 15"/>
            <p:cNvSpPr txBox="1"/>
            <p:nvPr/>
          </p:nvSpPr>
          <p:spPr>
            <a:xfrm>
              <a:off x="647700" y="3371850"/>
              <a:ext cx="419100" cy="304800"/>
            </a:xfrm>
            <a:prstGeom prst="rect">
              <a:avLst/>
            </a:prstGeom>
            <a:noFill/>
          </p:spPr>
          <p:txBody>
            <a:bodyPr wrap="none" lIns="0" rIns="0" tIns="0" bIns="0" anchor="ctr">
              <a:noAutofit/>
            </a:bodyPr>
            <a:lstStyle/>
            <a:p>
              <a:pPr algn="ctr">
                <a:lnSpc>
                  <a:spcPts val="2400"/>
                </a:lnSpc>
              </a:pPr>
              <a:r>
                <a:rPr sz="1275" b="1" i="0" lang="de-DE">
                  <a:solidFill>
                    <a:srgbClr val="FFFFFF"/>
                  </a:solidFill>
                  <a:latin typeface="Geist Mono"/>
                </a:rPr>
                <a:t>3</a:t>
              </a:r>
            </a:p>
          </p:txBody>
        </p:sp>
      </p:grpSp>
      <p:sp>
        <p:nvSpPr>
          <p:cNvPr id="17" name="TextBox 16"/>
          <p:cNvSpPr txBox="1"/>
          <p:nvPr/>
        </p:nvSpPr>
        <p:spPr>
          <a:xfrm>
            <a:off x="1162050" y="3390900"/>
            <a:ext cx="4000500" cy="266700"/>
          </a:xfrm>
          <a:prstGeom prst="rect">
            <a:avLst/>
          </a:prstGeom>
          <a:noFill/>
        </p:spPr>
        <p:txBody>
          <a:bodyPr wrap="square" lIns="0" rIns="0" tIns="0" bIns="0" anchor="t">
            <a:noAutofit/>
          </a:bodyPr>
          <a:lstStyle/>
          <a:p>
            <a:pPr algn="l">
              <a:lnSpc>
                <a:spcPts val="2025"/>
              </a:lnSpc>
            </a:pPr>
            <a:r>
              <a:rPr sz="1500" b="1" i="0" lang="de-DE">
                <a:solidFill>
                  <a:srgbClr val="141A21"/>
                </a:solidFill>
                <a:latin typeface="IBM Plex Sans"/>
              </a:rPr>
              <a:t>Grenze ziehen</a:t>
            </a:r>
          </a:p>
        </p:txBody>
      </p:sp>
      <p:sp>
        <p:nvSpPr>
          <p:cNvPr id="18" name="TextBox 17"/>
          <p:cNvSpPr txBox="1"/>
          <p:nvPr/>
        </p:nvSpPr>
        <p:spPr>
          <a:xfrm>
            <a:off x="1162050" y="3676650"/>
            <a:ext cx="4000500" cy="495300"/>
          </a:xfrm>
          <a:prstGeom prst="rect">
            <a:avLst/>
          </a:prstGeom>
          <a:noFill/>
        </p:spPr>
        <p:txBody>
          <a:bodyPr wrap="square" lIns="0" rIns="0" tIns="0" bIns="0" anchor="t">
            <a:noAutofit/>
          </a:bodyPr>
          <a:lstStyle/>
          <a:p>
            <a:pPr algn="l">
              <a:lnSpc>
                <a:spcPts val="1800"/>
              </a:lnSpc>
            </a:pPr>
            <a:r>
              <a:rPr sz="1275" b="0" i="0" lang="de-DE">
                <a:solidFill>
                  <a:srgbClr val="4E5A68"/>
                </a:solidFill>
                <a:latin typeface="IBM Plex Sans"/>
              </a:rPr>
              <a:t>99 von 100 Fehlern liegen darunter: 144,4 VLS-h, vor 2025 eingefroren.</a:t>
            </a:r>
          </a:p>
        </p:txBody>
      </p:sp>
      <p:sp>
        <p:nvSpPr>
          <p:cNvPr id="19" name="Rounded Rectangle 18"/>
          <p:cNvSpPr/>
          <p:nvPr/>
        </p:nvSpPr>
        <p:spPr>
          <a:xfrm>
            <a:off x="685800" y="4286250"/>
            <a:ext cx="4476750" cy="952500"/>
          </a:xfrm>
          <a:prstGeom prst="roundRect">
            <a:avLst>
              <a:gd name="adj" fmla="val 10000"/>
            </a:avLst>
          </a:prstGeom>
          <a:solidFill>
            <a:srgbClr val="E3F3F7"/>
          </a:solidFill>
          <a:ln w="9525">
            <a:solidFill>
              <a:srgbClr val="B2DEE7"/>
            </a:solidFill>
          </a:ln>
          <a:effectLst/>
        </p:spPr>
        <p:txBody>
          <a:bodyPr rtlCol="0" anchor="ctr"/>
          <a:lstStyle/>
          <a:p>
            <a:pPr algn="ctr"/>
          </a:p>
        </p:txBody>
      </p:sp>
      <p:sp>
        <p:nvSpPr>
          <p:cNvPr id="20" name="TextBox 19"/>
          <p:cNvSpPr txBox="1"/>
          <p:nvPr/>
        </p:nvSpPr>
        <p:spPr>
          <a:xfrm>
            <a:off x="914400" y="4495800"/>
            <a:ext cx="4019550" cy="552450"/>
          </a:xfrm>
          <a:prstGeom prst="rect">
            <a:avLst/>
          </a:prstGeom>
          <a:noFill/>
        </p:spPr>
        <p:txBody>
          <a:bodyPr wrap="square" lIns="0" rIns="0" tIns="0" bIns="0" anchor="t">
            <a:noAutofit/>
          </a:bodyPr>
          <a:lstStyle/>
          <a:p>
            <a:pPr algn="l">
              <a:lnSpc>
                <a:spcPts val="1848"/>
              </a:lnSpc>
            </a:pPr>
            <a:r>
              <a:rPr sz="1275" b="0" i="0" lang="de-DE">
                <a:solidFill>
                  <a:srgbClr val="141A21"/>
                </a:solidFill>
                <a:latin typeface="IBM Plex Sans"/>
              </a:rPr>
              <a:t>99 % ist der Startwert für den Pilot. Wie viele Hinweise das Team schafft, zeigt Patrick im Dashboard.</a:t>
            </a:r>
          </a:p>
        </p:txBody>
      </p:sp>
      <p:sp>
        <p:nvSpPr>
          <p:cNvPr id="21" name="Rounded Rectangle 20"/>
          <p:cNvSpPr/>
          <p:nvPr/>
        </p:nvSpPr>
        <p:spPr>
          <a:xfrm>
            <a:off x="5448300" y="1524000"/>
            <a:ext cx="6057900" cy="3500146"/>
          </a:xfrm>
          <a:prstGeom prst="roundRect">
            <a:avLst>
              <a:gd name="adj" fmla="val 2721"/>
            </a:avLst>
          </a:prstGeom>
          <a:solidFill>
            <a:srgbClr val="FFFFFF"/>
          </a:solidFill>
          <a:ln w="9525">
            <a:solidFill>
              <a:srgbClr val="D2DAE2"/>
            </a:solidFill>
          </a:ln>
          <a:effectLst/>
        </p:spPr>
        <p:txBody>
          <a:bodyPr rtlCol="0" anchor="ctr"/>
          <a:lstStyle/>
          <a:p>
            <a:pPr algn="ctr"/>
          </a:p>
        </p:txBody>
      </p:sp>
      <p:pic>
        <p:nvPicPr>
          <p:cNvPr id="22" name="Diagramm Kalibrierung" descr="s07_svg12.png"/>
          <p:cNvPicPr>
            <a:picLocks noChangeAspect="1"/>
          </p:cNvPicPr>
          <p:nvPr/>
        </p:nvPicPr>
        <p:blipFill>
          <a:blip r:embed="rId2"/>
          <a:stretch>
            <a:fillRect/>
          </a:stretch>
        </p:blipFill>
        <p:spPr>
          <a:xfrm>
            <a:off x="5562600" y="1638300"/>
            <a:ext cx="5829300" cy="3271546"/>
          </a:xfrm>
          <a:prstGeom prst="rect">
            <a:avLst/>
          </a:prstGeom>
        </p:spPr>
      </p:pic>
      <p:sp>
        <p:nvSpPr>
          <p:cNvPr id="23" name="Faktor"/>
          <p:cNvSpPr/>
          <p:nvPr/>
        </p:nvSpPr>
        <p:spPr>
          <a:xfrm>
            <a:off x="685800" y="5391150"/>
            <a:ext cx="10820400" cy="571500"/>
          </a:xfrm>
          <a:prstGeom prst="roundRect">
            <a:avLst>
              <a:gd name="adj" fmla="val 16666"/>
            </a:avLst>
          </a:prstGeom>
          <a:solidFill>
            <a:srgbClr val="084878"/>
          </a:solidFill>
          <a:ln>
            <a:noFill/>
          </a:ln>
          <a:effectLst/>
        </p:spPr>
        <p:txBody>
          <a:bodyPr rtlCol="0" anchor="ctr"/>
          <a:lstStyle/>
          <a:p>
            <a:pPr algn="ctr"/>
          </a:p>
        </p:txBody>
      </p:sp>
      <p:sp>
        <p:nvSpPr>
          <p:cNvPr id="24" name="Etikett Faktor"/>
          <p:cNvSpPr/>
          <p:nvPr/>
        </p:nvSpPr>
        <p:spPr>
          <a:xfrm>
            <a:off x="876300" y="5524500"/>
            <a:ext cx="755142" cy="312420"/>
          </a:xfrm>
          <a:prstGeom prst="roundRect">
            <a:avLst>
              <a:gd name="adj" fmla="val 50000"/>
            </a:avLst>
          </a:prstGeom>
          <a:solidFill>
            <a:srgbClr val="215A86"/>
          </a:solidFill>
          <a:ln w="9525">
            <a:solidFill>
              <a:srgbClr val="437498"/>
            </a:solidFill>
          </a:ln>
          <a:effectLst/>
        </p:spPr>
        <p:txBody>
          <a:bodyPr rtlCol="0" anchor="ctr"/>
          <a:lstStyle/>
          <a:p>
            <a:pPr algn="ctr"/>
          </a:p>
        </p:txBody>
      </p:sp>
      <p:sp>
        <p:nvSpPr>
          <p:cNvPr id="25" name="TextBox 24"/>
          <p:cNvSpPr txBox="1"/>
          <p:nvPr/>
        </p:nvSpPr>
        <p:spPr>
          <a:xfrm>
            <a:off x="838543" y="5524500"/>
            <a:ext cx="830656" cy="312420"/>
          </a:xfrm>
          <a:prstGeom prst="rect">
            <a:avLst/>
          </a:prstGeom>
          <a:noFill/>
        </p:spPr>
        <p:txBody>
          <a:bodyPr wrap="none" lIns="0" rIns="0" tIns="0" bIns="0" anchor="ctr">
            <a:noAutofit/>
          </a:bodyPr>
          <a:lstStyle/>
          <a:p>
            <a:pPr algn="ctr">
              <a:lnSpc>
                <a:spcPts val="1560"/>
              </a:lnSpc>
            </a:pPr>
            <a:r>
              <a:rPr sz="1200" b="1" i="0" lang="de-DE">
                <a:solidFill>
                  <a:srgbClr val="FFFFFF"/>
                </a:solidFill>
                <a:latin typeface="IBM Plex Sans"/>
              </a:rPr>
              <a:t>Faktor</a:t>
            </a:r>
          </a:p>
        </p:txBody>
      </p:sp>
      <p:sp>
        <p:nvSpPr>
          <p:cNvPr id="26" name="TextBox 25"/>
          <p:cNvSpPr txBox="1"/>
          <p:nvPr/>
        </p:nvSpPr>
        <p:spPr>
          <a:xfrm>
            <a:off x="1821942" y="5391150"/>
            <a:ext cx="9429750" cy="571500"/>
          </a:xfrm>
          <a:prstGeom prst="rect">
            <a:avLst/>
          </a:prstGeom>
          <a:noFill/>
        </p:spPr>
        <p:txBody>
          <a:bodyPr wrap="none" lIns="0" rIns="0" tIns="0" bIns="0" anchor="ctr">
            <a:noAutofit/>
          </a:bodyPr>
          <a:lstStyle/>
          <a:p>
            <a:pPr algn="l">
              <a:lnSpc>
                <a:spcPts val="1950"/>
              </a:lnSpc>
            </a:pPr>
            <a:r>
              <a:rPr sz="1425" b="0" i="0" lang="de-DE">
                <a:solidFill>
                  <a:srgbClr val="FFFFFF"/>
                </a:solidFill>
                <a:latin typeface="Geist Mono"/>
              </a:rPr>
              <a:t>F = Abweichung ÷ 144,4 VLS-h  ·  ab F ≥ 1 Prüfhinweis  ·  ZL-00147: F = 2,3</a:t>
            </a:r>
          </a:p>
        </p:txBody>
      </p:sp>
      <p:cxnSp>
        <p:nvCxnSpPr>
          <p:cNvPr id="27" name="Fußlinie"/>
          <p:cNvCxnSpPr/>
          <p:nvPr/>
        </p:nvCxnSpPr>
        <p:spPr>
          <a:xfrm>
            <a:off x="0" y="6153150"/>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28" name="Logo" descr="image.png"/>
          <p:cNvPicPr>
            <a:picLocks noChangeAspect="1"/>
          </p:cNvPicPr>
          <p:nvPr/>
        </p:nvPicPr>
        <p:blipFill>
          <a:blip r:embed="rId3"/>
          <a:stretch>
            <a:fillRect/>
          </a:stretch>
        </p:blipFill>
        <p:spPr>
          <a:xfrm>
            <a:off x="685800" y="6362700"/>
            <a:ext cx="715863" cy="247650"/>
          </a:xfrm>
          <a:prstGeom prst="rect">
            <a:avLst/>
          </a:prstGeom>
        </p:spPr>
      </p:pic>
      <p:sp>
        <p:nvSpPr>
          <p:cNvPr id="29" name="TextBox 28"/>
          <p:cNvSpPr txBox="1"/>
          <p:nvPr/>
        </p:nvSpPr>
        <p:spPr>
          <a:xfrm>
            <a:off x="1562100" y="6391275"/>
            <a:ext cx="2891790"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a:t>
            </a:r>
          </a:p>
        </p:txBody>
      </p:sp>
      <p:sp>
        <p:nvSpPr>
          <p:cNvPr id="30" name="Seitenzahl"/>
          <p:cNvSpPr txBox="1"/>
          <p:nvPr/>
        </p:nvSpPr>
        <p:spPr>
          <a:xfrm>
            <a:off x="10835640" y="6391275"/>
            <a:ext cx="67056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7 /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00718E"/>
                </a:solidFill>
                <a:latin typeface="IBM Plex Sans"/>
              </a:rPr>
              <a:t>KAPITEL 4 · PRÜFFALL · KIKO</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141A21"/>
                </a:solidFill>
                <a:latin typeface="IBM Plex Sans"/>
              </a:rPr>
              <a:t>ZL-00147: im August 2,3-mal so groß wie erlaubt</a:t>
            </a:r>
          </a:p>
        </p:txBody>
      </p:sp>
      <p:sp>
        <p:nvSpPr>
          <p:cNvPr id="4" name="Rounded Rectangle 3"/>
          <p:cNvSpPr/>
          <p:nvPr/>
        </p:nvSpPr>
        <p:spPr>
          <a:xfrm>
            <a:off x="685800" y="1524000"/>
            <a:ext cx="5562600" cy="3926347"/>
          </a:xfrm>
          <a:prstGeom prst="roundRect">
            <a:avLst>
              <a:gd name="adj" fmla="val 2425"/>
            </a:avLst>
          </a:prstGeom>
          <a:solidFill>
            <a:srgbClr val="FFFFFF"/>
          </a:solidFill>
          <a:ln w="9525">
            <a:solidFill>
              <a:srgbClr val="D2DAE2"/>
            </a:solidFill>
          </a:ln>
          <a:effectLst/>
        </p:spPr>
        <p:txBody>
          <a:bodyPr rtlCol="0" anchor="ctr"/>
          <a:lstStyle/>
          <a:p>
            <a:pPr algn="ctr"/>
          </a:p>
        </p:txBody>
      </p:sp>
      <p:pic>
        <p:nvPicPr>
          <p:cNvPr id="5" name="Diagramm Prüffall ZL-00147" descr="s10_svg08.png"/>
          <p:cNvPicPr>
            <a:picLocks noChangeAspect="1"/>
          </p:cNvPicPr>
          <p:nvPr/>
        </p:nvPicPr>
        <p:blipFill>
          <a:blip r:embed="rId2"/>
          <a:stretch>
            <a:fillRect/>
          </a:stretch>
        </p:blipFill>
        <p:spPr>
          <a:xfrm>
            <a:off x="800100" y="1638300"/>
            <a:ext cx="5334000" cy="3697747"/>
          </a:xfrm>
          <a:prstGeom prst="rect">
            <a:avLst/>
          </a:prstGeom>
        </p:spPr>
      </p:pic>
      <p:sp>
        <p:nvSpPr>
          <p:cNvPr id="6" name="Rounded Rectangle 5"/>
          <p:cNvSpPr/>
          <p:nvPr/>
        </p:nvSpPr>
        <p:spPr>
          <a:xfrm>
            <a:off x="6553200" y="1524000"/>
            <a:ext cx="4953000" cy="1428750"/>
          </a:xfrm>
          <a:prstGeom prst="roundRect">
            <a:avLst>
              <a:gd name="adj" fmla="val 6666"/>
            </a:avLst>
          </a:prstGeom>
          <a:solidFill>
            <a:srgbClr val="FFFFFF"/>
          </a:solidFill>
          <a:ln w="9525">
            <a:solidFill>
              <a:srgbClr val="D2DAE2"/>
            </a:solidFill>
          </a:ln>
          <a:effectLst/>
        </p:spPr>
        <p:txBody>
          <a:bodyPr rtlCol="0" anchor="ctr"/>
          <a:lstStyle/>
          <a:p>
            <a:pPr algn="ctr"/>
          </a:p>
        </p:txBody>
      </p:sp>
      <p:sp>
        <p:nvSpPr>
          <p:cNvPr id="7" name="TextBox 6"/>
          <p:cNvSpPr txBox="1"/>
          <p:nvPr/>
        </p:nvSpPr>
        <p:spPr>
          <a:xfrm>
            <a:off x="6800850" y="1752600"/>
            <a:ext cx="4457700" cy="228600"/>
          </a:xfrm>
          <a:prstGeom prst="rect">
            <a:avLst/>
          </a:prstGeom>
          <a:noFill/>
        </p:spPr>
        <p:txBody>
          <a:bodyPr wrap="square" lIns="0" rIns="0" tIns="0" bIns="0" anchor="t">
            <a:noAutofit/>
          </a:bodyPr>
          <a:lstStyle/>
          <a:p>
            <a:pPr algn="l">
              <a:lnSpc>
                <a:spcPts val="1800"/>
              </a:lnSpc>
            </a:pPr>
            <a:r>
              <a:rPr sz="1350" b="0" i="0" lang="de-DE">
                <a:solidFill>
                  <a:srgbClr val="4E5A68"/>
                </a:solidFill>
                <a:latin typeface="IBM Plex Sans"/>
              </a:rPr>
              <a:t>Faktor im August 2025</a:t>
            </a:r>
          </a:p>
        </p:txBody>
      </p:sp>
      <p:sp>
        <p:nvSpPr>
          <p:cNvPr id="8" name="TextBox 7"/>
          <p:cNvSpPr txBox="1"/>
          <p:nvPr/>
        </p:nvSpPr>
        <p:spPr>
          <a:xfrm>
            <a:off x="6800850" y="2038350"/>
            <a:ext cx="1341120" cy="495300"/>
          </a:xfrm>
          <a:prstGeom prst="rect">
            <a:avLst/>
          </a:prstGeom>
          <a:noFill/>
        </p:spPr>
        <p:txBody>
          <a:bodyPr wrap="none" lIns="0" rIns="0" tIns="0" bIns="0" anchor="t">
            <a:noAutofit/>
          </a:bodyPr>
          <a:lstStyle/>
          <a:p>
            <a:pPr algn="l">
              <a:lnSpc>
                <a:spcPts val="3900"/>
              </a:lnSpc>
            </a:pPr>
            <a:r>
              <a:rPr sz="3000" b="1" i="0" lang="de-DE">
                <a:solidFill>
                  <a:srgbClr val="B3261E"/>
                </a:solidFill>
                <a:latin typeface="Geist Mono"/>
              </a:rPr>
              <a:t>+2,30</a:t>
            </a:r>
          </a:p>
        </p:txBody>
      </p:sp>
      <p:sp>
        <p:nvSpPr>
          <p:cNvPr id="9" name="TextBox 8"/>
          <p:cNvSpPr txBox="1"/>
          <p:nvPr/>
        </p:nvSpPr>
        <p:spPr>
          <a:xfrm>
            <a:off x="6800850" y="2590800"/>
            <a:ext cx="4457700" cy="209550"/>
          </a:xfrm>
          <a:prstGeom prst="rect">
            <a:avLst/>
          </a:prstGeom>
          <a:noFill/>
        </p:spPr>
        <p:txBody>
          <a:bodyPr wrap="square" lIns="0" rIns="0" tIns="0" bIns="0" anchor="t">
            <a:noAutofit/>
          </a:bodyPr>
          <a:lstStyle/>
          <a:p>
            <a:pPr algn="l">
              <a:lnSpc>
                <a:spcPts val="1650"/>
              </a:lnSpc>
            </a:pPr>
            <a:r>
              <a:rPr sz="1200" b="0" i="0" lang="de-DE">
                <a:solidFill>
                  <a:srgbClr val="4E5A68"/>
                </a:solidFill>
                <a:latin typeface="IBM Plex Sans"/>
              </a:rPr>
              <a:t>Residuum 331,8 VLS-h ÷ Schwelle 144,4 VLS-h</a:t>
            </a:r>
          </a:p>
        </p:txBody>
      </p:sp>
      <p:sp>
        <p:nvSpPr>
          <p:cNvPr id="10" name="Rounded Rectangle 9"/>
          <p:cNvSpPr/>
          <p:nvPr/>
        </p:nvSpPr>
        <p:spPr>
          <a:xfrm>
            <a:off x="6553200" y="3143250"/>
            <a:ext cx="4953000" cy="2857500"/>
          </a:xfrm>
          <a:prstGeom prst="roundRect">
            <a:avLst>
              <a:gd name="adj" fmla="val 3333"/>
            </a:avLst>
          </a:prstGeom>
          <a:solidFill>
            <a:srgbClr val="FFFFFF"/>
          </a:solidFill>
          <a:ln w="9525">
            <a:solidFill>
              <a:srgbClr val="D2DAE2"/>
            </a:solidFill>
          </a:ln>
          <a:effectLst/>
        </p:spPr>
        <p:txBody>
          <a:bodyPr rtlCol="0" anchor="ctr"/>
          <a:lstStyle/>
          <a:p>
            <a:pPr algn="ctr"/>
          </a:p>
        </p:txBody>
      </p:sp>
      <p:sp>
        <p:nvSpPr>
          <p:cNvPr id="11" name="TextBox 10"/>
          <p:cNvSpPr txBox="1"/>
          <p:nvPr/>
        </p:nvSpPr>
        <p:spPr>
          <a:xfrm>
            <a:off x="6781800" y="3352800"/>
            <a:ext cx="4924425" cy="198120"/>
          </a:xfrm>
          <a:prstGeom prst="rect">
            <a:avLst/>
          </a:prstGeom>
          <a:noFill/>
        </p:spPr>
        <p:txBody>
          <a:bodyPr wrap="none" lIns="0" rIns="0" tIns="0" bIns="0" anchor="t">
            <a:noAutofit/>
          </a:bodyPr>
          <a:lstStyle/>
          <a:p>
            <a:pPr algn="l">
              <a:lnSpc>
                <a:spcPts val="1560"/>
              </a:lnSpc>
            </a:pPr>
            <a:r>
              <a:rPr sz="1200" b="1" i="0" lang="de-DE" spc="72">
                <a:solidFill>
                  <a:srgbClr val="00718E"/>
                </a:solidFill>
                <a:latin typeface="IBM Plex Sans"/>
              </a:rPr>
              <a:t>BEWERTUNG IM COCKPIT</a:t>
            </a:r>
          </a:p>
        </p:txBody>
      </p:sp>
      <p:sp>
        <p:nvSpPr>
          <p:cNvPr id="12" name="TextBox 11"/>
          <p:cNvSpPr txBox="1"/>
          <p:nvPr/>
        </p:nvSpPr>
        <p:spPr>
          <a:xfrm>
            <a:off x="6781800" y="3733800"/>
            <a:ext cx="2381250" cy="381000"/>
          </a:xfrm>
          <a:prstGeom prst="rect">
            <a:avLst/>
          </a:prstGeom>
          <a:noFill/>
        </p:spPr>
        <p:txBody>
          <a:bodyPr wrap="square" lIns="0" rIns="0" tIns="0" bIns="0" anchor="ctr">
            <a:noAutofit/>
          </a:bodyPr>
          <a:lstStyle/>
          <a:p>
            <a:pPr algn="l">
              <a:lnSpc>
                <a:spcPts val="1950"/>
              </a:lnSpc>
            </a:pPr>
            <a:r>
              <a:rPr sz="1425" b="0" i="0" lang="de-DE">
                <a:solidFill>
                  <a:srgbClr val="141A21"/>
                </a:solidFill>
                <a:latin typeface="IBM Plex Sans"/>
              </a:rPr>
              <a:t>Messwert gültig?</a:t>
            </a:r>
          </a:p>
        </p:txBody>
      </p:sp>
      <p:sp>
        <p:nvSpPr>
          <p:cNvPr id="13" name="Etikett Ja"/>
          <p:cNvSpPr/>
          <p:nvPr/>
        </p:nvSpPr>
        <p:spPr>
          <a:xfrm>
            <a:off x="9429750" y="3752850"/>
            <a:ext cx="457962" cy="312420"/>
          </a:xfrm>
          <a:prstGeom prst="roundRect">
            <a:avLst>
              <a:gd name="adj" fmla="val 50000"/>
            </a:avLst>
          </a:prstGeom>
          <a:solidFill>
            <a:srgbClr val="E3F3F7"/>
          </a:solidFill>
          <a:ln w="9525">
            <a:solidFill>
              <a:srgbClr val="B2DEE7"/>
            </a:solidFill>
          </a:ln>
          <a:effectLst/>
        </p:spPr>
        <p:txBody>
          <a:bodyPr rtlCol="0" anchor="ctr"/>
          <a:lstStyle/>
          <a:p>
            <a:pPr algn="ctr"/>
          </a:p>
        </p:txBody>
      </p:sp>
      <p:sp>
        <p:nvSpPr>
          <p:cNvPr id="14" name="TextBox 13"/>
          <p:cNvSpPr txBox="1"/>
          <p:nvPr/>
        </p:nvSpPr>
        <p:spPr>
          <a:xfrm>
            <a:off x="9406852" y="3752850"/>
            <a:ext cx="503758" cy="312420"/>
          </a:xfrm>
          <a:prstGeom prst="rect">
            <a:avLst/>
          </a:prstGeom>
          <a:noFill/>
        </p:spPr>
        <p:txBody>
          <a:bodyPr wrap="none" lIns="0" rIns="0" tIns="0" bIns="0" anchor="ctr">
            <a:noAutofit/>
          </a:bodyPr>
          <a:lstStyle/>
          <a:p>
            <a:pPr algn="ctr">
              <a:lnSpc>
                <a:spcPts val="1560"/>
              </a:lnSpc>
            </a:pPr>
            <a:r>
              <a:rPr sz="1200" b="1" i="0" lang="de-DE">
                <a:solidFill>
                  <a:srgbClr val="005E77"/>
                </a:solidFill>
                <a:latin typeface="IBM Plex Sans"/>
              </a:rPr>
              <a:t>Ja</a:t>
            </a:r>
          </a:p>
        </p:txBody>
      </p:sp>
      <p:sp>
        <p:nvSpPr>
          <p:cNvPr id="15" name="Etikett Nein"/>
          <p:cNvSpPr/>
          <p:nvPr/>
        </p:nvSpPr>
        <p:spPr>
          <a:xfrm>
            <a:off x="9982962" y="3752850"/>
            <a:ext cx="616458" cy="312420"/>
          </a:xfrm>
          <a:prstGeom prst="roundRect">
            <a:avLst>
              <a:gd name="adj" fmla="val 50000"/>
            </a:avLst>
          </a:prstGeom>
          <a:solidFill>
            <a:srgbClr val="FBE9E7"/>
          </a:solidFill>
          <a:ln w="9525">
            <a:solidFill>
              <a:srgbClr val="F3C6C1"/>
            </a:solidFill>
          </a:ln>
          <a:effectLst/>
        </p:spPr>
        <p:txBody>
          <a:bodyPr rtlCol="0" anchor="ctr"/>
          <a:lstStyle/>
          <a:p>
            <a:pPr algn="ctr"/>
          </a:p>
        </p:txBody>
      </p:sp>
      <p:sp>
        <p:nvSpPr>
          <p:cNvPr id="16" name="TextBox 15"/>
          <p:cNvSpPr txBox="1"/>
          <p:nvPr/>
        </p:nvSpPr>
        <p:spPr>
          <a:xfrm>
            <a:off x="9952139" y="3752850"/>
            <a:ext cx="678104" cy="312420"/>
          </a:xfrm>
          <a:prstGeom prst="rect">
            <a:avLst/>
          </a:prstGeom>
          <a:noFill/>
        </p:spPr>
        <p:txBody>
          <a:bodyPr wrap="none" lIns="0" rIns="0" tIns="0" bIns="0" anchor="ctr">
            <a:noAutofit/>
          </a:bodyPr>
          <a:lstStyle/>
          <a:p>
            <a:pPr algn="ctr">
              <a:lnSpc>
                <a:spcPts val="1560"/>
              </a:lnSpc>
            </a:pPr>
            <a:r>
              <a:rPr sz="1200" b="1" i="0" lang="de-DE">
                <a:solidFill>
                  <a:srgbClr val="951C15"/>
                </a:solidFill>
                <a:latin typeface="IBM Plex Sans"/>
              </a:rPr>
              <a:t>Nein</a:t>
            </a:r>
          </a:p>
        </p:txBody>
      </p:sp>
      <p:sp>
        <p:nvSpPr>
          <p:cNvPr id="17" name="TextBox 16"/>
          <p:cNvSpPr txBox="1"/>
          <p:nvPr/>
        </p:nvSpPr>
        <p:spPr>
          <a:xfrm>
            <a:off x="6781800" y="4305300"/>
            <a:ext cx="2381250" cy="381000"/>
          </a:xfrm>
          <a:prstGeom prst="rect">
            <a:avLst/>
          </a:prstGeom>
          <a:noFill/>
        </p:spPr>
        <p:txBody>
          <a:bodyPr wrap="square" lIns="0" rIns="0" tIns="0" bIns="0" anchor="ctr">
            <a:noAutofit/>
          </a:bodyPr>
          <a:lstStyle/>
          <a:p>
            <a:pPr algn="l">
              <a:lnSpc>
                <a:spcPts val="1950"/>
              </a:lnSpc>
            </a:pPr>
            <a:r>
              <a:rPr sz="1425" b="0" i="0" lang="de-DE">
                <a:solidFill>
                  <a:srgbClr val="141A21"/>
                </a:solidFill>
                <a:latin typeface="IBM Plex Sans"/>
              </a:rPr>
              <a:t>Abweichung erklärt?</a:t>
            </a:r>
          </a:p>
        </p:txBody>
      </p:sp>
      <p:sp>
        <p:nvSpPr>
          <p:cNvPr id="18" name="Etikett Ja"/>
          <p:cNvSpPr/>
          <p:nvPr/>
        </p:nvSpPr>
        <p:spPr>
          <a:xfrm>
            <a:off x="9429750" y="4324350"/>
            <a:ext cx="457962" cy="312420"/>
          </a:xfrm>
          <a:prstGeom prst="roundRect">
            <a:avLst>
              <a:gd name="adj" fmla="val 50000"/>
            </a:avLst>
          </a:prstGeom>
          <a:solidFill>
            <a:srgbClr val="E3F3F7"/>
          </a:solidFill>
          <a:ln w="9525">
            <a:solidFill>
              <a:srgbClr val="B2DEE7"/>
            </a:solidFill>
          </a:ln>
          <a:effectLst/>
        </p:spPr>
        <p:txBody>
          <a:bodyPr rtlCol="0" anchor="ctr"/>
          <a:lstStyle/>
          <a:p>
            <a:pPr algn="ctr"/>
          </a:p>
        </p:txBody>
      </p:sp>
      <p:sp>
        <p:nvSpPr>
          <p:cNvPr id="19" name="TextBox 18"/>
          <p:cNvSpPr txBox="1"/>
          <p:nvPr/>
        </p:nvSpPr>
        <p:spPr>
          <a:xfrm>
            <a:off x="9406852" y="4324350"/>
            <a:ext cx="503758" cy="312420"/>
          </a:xfrm>
          <a:prstGeom prst="rect">
            <a:avLst/>
          </a:prstGeom>
          <a:noFill/>
        </p:spPr>
        <p:txBody>
          <a:bodyPr wrap="none" lIns="0" rIns="0" tIns="0" bIns="0" anchor="ctr">
            <a:noAutofit/>
          </a:bodyPr>
          <a:lstStyle/>
          <a:p>
            <a:pPr algn="ctr">
              <a:lnSpc>
                <a:spcPts val="1560"/>
              </a:lnSpc>
            </a:pPr>
            <a:r>
              <a:rPr sz="1200" b="1" i="0" lang="de-DE">
                <a:solidFill>
                  <a:srgbClr val="005E77"/>
                </a:solidFill>
                <a:latin typeface="IBM Plex Sans"/>
              </a:rPr>
              <a:t>Ja</a:t>
            </a:r>
          </a:p>
        </p:txBody>
      </p:sp>
      <p:sp>
        <p:nvSpPr>
          <p:cNvPr id="20" name="Etikett Nein"/>
          <p:cNvSpPr/>
          <p:nvPr/>
        </p:nvSpPr>
        <p:spPr>
          <a:xfrm>
            <a:off x="9982962" y="4324350"/>
            <a:ext cx="616458" cy="312420"/>
          </a:xfrm>
          <a:prstGeom prst="roundRect">
            <a:avLst>
              <a:gd name="adj" fmla="val 50000"/>
            </a:avLst>
          </a:prstGeom>
          <a:solidFill>
            <a:srgbClr val="FBE9E7"/>
          </a:solidFill>
          <a:ln w="9525">
            <a:solidFill>
              <a:srgbClr val="F3C6C1"/>
            </a:solidFill>
          </a:ln>
          <a:effectLst/>
        </p:spPr>
        <p:txBody>
          <a:bodyPr rtlCol="0" anchor="ctr"/>
          <a:lstStyle/>
          <a:p>
            <a:pPr algn="ctr"/>
          </a:p>
        </p:txBody>
      </p:sp>
      <p:sp>
        <p:nvSpPr>
          <p:cNvPr id="21" name="TextBox 20"/>
          <p:cNvSpPr txBox="1"/>
          <p:nvPr/>
        </p:nvSpPr>
        <p:spPr>
          <a:xfrm>
            <a:off x="9952139" y="4324350"/>
            <a:ext cx="678104" cy="312420"/>
          </a:xfrm>
          <a:prstGeom prst="rect">
            <a:avLst/>
          </a:prstGeom>
          <a:noFill/>
        </p:spPr>
        <p:txBody>
          <a:bodyPr wrap="none" lIns="0" rIns="0" tIns="0" bIns="0" anchor="ctr">
            <a:noAutofit/>
          </a:bodyPr>
          <a:lstStyle/>
          <a:p>
            <a:pPr algn="ctr">
              <a:lnSpc>
                <a:spcPts val="1560"/>
              </a:lnSpc>
            </a:pPr>
            <a:r>
              <a:rPr sz="1200" b="1" i="0" lang="de-DE">
                <a:solidFill>
                  <a:srgbClr val="951C15"/>
                </a:solidFill>
                <a:latin typeface="IBM Plex Sans"/>
              </a:rPr>
              <a:t>Nein</a:t>
            </a:r>
          </a:p>
        </p:txBody>
      </p:sp>
      <p:sp>
        <p:nvSpPr>
          <p:cNvPr id="22" name="TextBox 21"/>
          <p:cNvSpPr txBox="1"/>
          <p:nvPr/>
        </p:nvSpPr>
        <p:spPr>
          <a:xfrm>
            <a:off x="6781800" y="4876800"/>
            <a:ext cx="2381250" cy="381000"/>
          </a:xfrm>
          <a:prstGeom prst="rect">
            <a:avLst/>
          </a:prstGeom>
          <a:noFill/>
        </p:spPr>
        <p:txBody>
          <a:bodyPr wrap="square" lIns="0" rIns="0" tIns="0" bIns="0" anchor="ctr">
            <a:noAutofit/>
          </a:bodyPr>
          <a:lstStyle/>
          <a:p>
            <a:pPr algn="l">
              <a:lnSpc>
                <a:spcPts val="1950"/>
              </a:lnSpc>
            </a:pPr>
            <a:r>
              <a:rPr sz="1425" b="0" i="0" lang="de-DE">
                <a:solidFill>
                  <a:srgbClr val="141A21"/>
                </a:solidFill>
                <a:latin typeface="IBM Plex Sans"/>
              </a:rPr>
              <a:t>Ursache</a:t>
            </a:r>
          </a:p>
        </p:txBody>
      </p:sp>
      <p:sp>
        <p:nvSpPr>
          <p:cNvPr id="23" name="Rounded Rectangle 22"/>
          <p:cNvSpPr/>
          <p:nvPr/>
        </p:nvSpPr>
        <p:spPr>
          <a:xfrm>
            <a:off x="9429750" y="4895850"/>
            <a:ext cx="1847850" cy="342900"/>
          </a:xfrm>
          <a:prstGeom prst="roundRect">
            <a:avLst>
              <a:gd name="adj" fmla="val 27777"/>
            </a:avLst>
          </a:prstGeom>
          <a:solidFill>
            <a:srgbClr val="F1F4F7"/>
          </a:solidFill>
          <a:ln w="9525">
            <a:solidFill>
              <a:srgbClr val="D2DAE2"/>
            </a:solidFill>
          </a:ln>
          <a:effectLst/>
        </p:spPr>
        <p:txBody>
          <a:bodyPr rtlCol="0" anchor="ctr"/>
          <a:lstStyle/>
          <a:p>
            <a:pPr algn="ctr"/>
          </a:p>
        </p:txBody>
      </p:sp>
      <p:sp>
        <p:nvSpPr>
          <p:cNvPr id="24" name="TextBox 23"/>
          <p:cNvSpPr txBox="1"/>
          <p:nvPr/>
        </p:nvSpPr>
        <p:spPr>
          <a:xfrm>
            <a:off x="9544050" y="4895850"/>
            <a:ext cx="1844040" cy="342900"/>
          </a:xfrm>
          <a:prstGeom prst="rect">
            <a:avLst/>
          </a:prstGeom>
          <a:noFill/>
        </p:spPr>
        <p:txBody>
          <a:bodyPr wrap="none" lIns="0" rIns="0" tIns="0" bIns="0" anchor="ctr">
            <a:noAutofit/>
          </a:bodyPr>
          <a:lstStyle/>
          <a:p>
            <a:pPr algn="l">
              <a:lnSpc>
                <a:spcPts val="1650"/>
              </a:lnSpc>
            </a:pPr>
            <a:r>
              <a:rPr sz="1200" b="0" i="0" lang="de-DE">
                <a:solidFill>
                  <a:srgbClr val="657383"/>
                </a:solidFill>
                <a:latin typeface="IBM Plex Sans"/>
              </a:rPr>
              <a:t>Freitext</a:t>
            </a:r>
          </a:p>
        </p:txBody>
      </p:sp>
      <p:sp>
        <p:nvSpPr>
          <p:cNvPr id="25" name="TextBox 24"/>
          <p:cNvSpPr txBox="1"/>
          <p:nvPr/>
        </p:nvSpPr>
        <p:spPr>
          <a:xfrm>
            <a:off x="6781800" y="5429250"/>
            <a:ext cx="4476750" cy="419100"/>
          </a:xfrm>
          <a:prstGeom prst="rect">
            <a:avLst/>
          </a:prstGeom>
          <a:noFill/>
        </p:spPr>
        <p:txBody>
          <a:bodyPr wrap="square" lIns="0" rIns="0" tIns="0" bIns="0" anchor="ctr">
            <a:noAutofit/>
          </a:bodyPr>
          <a:lstStyle/>
          <a:p>
            <a:pPr algn="l">
              <a:lnSpc>
                <a:spcPts val="1950"/>
              </a:lnSpc>
            </a:pPr>
            <a:r>
              <a:rPr sz="1425" b="1" i="0" lang="de-DE">
                <a:solidFill>
                  <a:srgbClr val="005E77"/>
                </a:solidFill>
                <a:latin typeface="IBM Plex Sans"/>
              </a:rPr>
              <a:t>Jede Bewertung ist ein Label für später.</a:t>
            </a:r>
          </a:p>
        </p:txBody>
      </p:sp>
      <p:cxnSp>
        <p:nvCxnSpPr>
          <p:cNvPr id="26" name="Fußlinie"/>
          <p:cNvCxnSpPr/>
          <p:nvPr/>
        </p:nvCxnSpPr>
        <p:spPr>
          <a:xfrm>
            <a:off x="0" y="6153150"/>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27" name="Logo" descr="image.png"/>
          <p:cNvPicPr>
            <a:picLocks noChangeAspect="1"/>
          </p:cNvPicPr>
          <p:nvPr/>
        </p:nvPicPr>
        <p:blipFill>
          <a:blip r:embed="rId3"/>
          <a:stretch>
            <a:fillRect/>
          </a:stretch>
        </p:blipFill>
        <p:spPr>
          <a:xfrm>
            <a:off x="685800" y="6362700"/>
            <a:ext cx="715863" cy="247650"/>
          </a:xfrm>
          <a:prstGeom prst="rect">
            <a:avLst/>
          </a:prstGeom>
        </p:spPr>
      </p:pic>
      <p:sp>
        <p:nvSpPr>
          <p:cNvPr id="28" name="TextBox 27"/>
          <p:cNvSpPr txBox="1"/>
          <p:nvPr/>
        </p:nvSpPr>
        <p:spPr>
          <a:xfrm>
            <a:off x="1562100" y="6391275"/>
            <a:ext cx="2891790"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a:t>
            </a:r>
          </a:p>
        </p:txBody>
      </p:sp>
      <p:sp>
        <p:nvSpPr>
          <p:cNvPr id="29" name="Seitenzahl"/>
          <p:cNvSpPr txBox="1"/>
          <p:nvPr/>
        </p:nvSpPr>
        <p:spPr>
          <a:xfrm>
            <a:off x="10835640" y="6391275"/>
            <a:ext cx="67056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8 /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63659"/>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6CC0D2"/>
                </a:solidFill>
                <a:latin typeface="IBM Plex Sans"/>
              </a:rPr>
              <a:t>AUSBLICK · KIKO</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FFFFFF"/>
                </a:solidFill>
                <a:latin typeface="IBM Plex Sans"/>
              </a:rPr>
              <a:t>Aus Bewertungen wird ein Klassifikationsmodell</a:t>
            </a:r>
          </a:p>
        </p:txBody>
      </p:sp>
      <p:sp>
        <p:nvSpPr>
          <p:cNvPr id="4" name="Rounded Rectangle 3"/>
          <p:cNvSpPr/>
          <p:nvPr/>
        </p:nvSpPr>
        <p:spPr>
          <a:xfrm>
            <a:off x="685800" y="1524000"/>
            <a:ext cx="3486150" cy="2495550"/>
          </a:xfrm>
          <a:prstGeom prst="roundRect">
            <a:avLst>
              <a:gd name="adj" fmla="val 3816"/>
            </a:avLst>
          </a:prstGeom>
          <a:solidFill>
            <a:srgbClr val="174465"/>
          </a:solidFill>
          <a:ln w="9525">
            <a:solidFill>
              <a:srgbClr val="2E5674"/>
            </a:solidFill>
          </a:ln>
          <a:effectLst/>
        </p:spPr>
        <p:txBody>
          <a:bodyPr rtlCol="0" anchor="ctr"/>
          <a:lstStyle/>
          <a:p>
            <a:pPr algn="ctr"/>
          </a:p>
        </p:txBody>
      </p:sp>
      <p:sp>
        <p:nvSpPr>
          <p:cNvPr id="5" name="TextBox 4"/>
          <p:cNvSpPr txBox="1"/>
          <p:nvPr/>
        </p:nvSpPr>
        <p:spPr>
          <a:xfrm>
            <a:off x="933450" y="1752600"/>
            <a:ext cx="1257300" cy="381000"/>
          </a:xfrm>
          <a:prstGeom prst="rect">
            <a:avLst/>
          </a:prstGeom>
          <a:noFill/>
        </p:spPr>
        <p:txBody>
          <a:bodyPr wrap="none" lIns="0" rIns="0" tIns="0" bIns="0" anchor="t">
            <a:noAutofit/>
          </a:bodyPr>
          <a:lstStyle/>
          <a:p>
            <a:pPr algn="l">
              <a:lnSpc>
                <a:spcPts val="3000"/>
              </a:lnSpc>
            </a:pPr>
            <a:r>
              <a:rPr sz="2400" b="1" i="0" lang="de-DE">
                <a:solidFill>
                  <a:srgbClr val="6CC0D2"/>
                </a:solidFill>
                <a:latin typeface="Geist Mono"/>
              </a:rPr>
              <a:t>01</a:t>
            </a:r>
          </a:p>
        </p:txBody>
      </p:sp>
      <p:sp>
        <p:nvSpPr>
          <p:cNvPr id="6" name="TextBox 5"/>
          <p:cNvSpPr txBox="1"/>
          <p:nvPr/>
        </p:nvSpPr>
        <p:spPr>
          <a:xfrm>
            <a:off x="933450" y="2247900"/>
            <a:ext cx="2990850" cy="285750"/>
          </a:xfrm>
          <a:prstGeom prst="rect">
            <a:avLst/>
          </a:prstGeom>
          <a:noFill/>
        </p:spPr>
        <p:txBody>
          <a:bodyPr wrap="square" lIns="0" rIns="0" tIns="0" bIns="0" anchor="t">
            <a:noAutofit/>
          </a:bodyPr>
          <a:lstStyle/>
          <a:p>
            <a:pPr algn="l">
              <a:lnSpc>
                <a:spcPts val="2175"/>
              </a:lnSpc>
            </a:pPr>
            <a:r>
              <a:rPr sz="1650" b="1" i="0" lang="de-DE">
                <a:solidFill>
                  <a:srgbClr val="FFFFFF"/>
                </a:solidFill>
                <a:latin typeface="IBM Plex Sans"/>
              </a:rPr>
              <a:t>Prüfhinweise bewerten</a:t>
            </a:r>
          </a:p>
        </p:txBody>
      </p:sp>
      <p:sp>
        <p:nvSpPr>
          <p:cNvPr id="7" name="TextBox 6"/>
          <p:cNvSpPr txBox="1"/>
          <p:nvPr/>
        </p:nvSpPr>
        <p:spPr>
          <a:xfrm>
            <a:off x="933450" y="2628900"/>
            <a:ext cx="2990850" cy="1257300"/>
          </a:xfrm>
          <a:prstGeom prst="rect">
            <a:avLst/>
          </a:prstGeom>
          <a:noFill/>
        </p:spPr>
        <p:txBody>
          <a:bodyPr wrap="square" lIns="0" rIns="0" tIns="0" bIns="0" anchor="t">
            <a:noAutofit/>
          </a:bodyPr>
          <a:lstStyle/>
          <a:p>
            <a:pPr algn="l">
              <a:lnSpc>
                <a:spcPts val="2025"/>
              </a:lnSpc>
            </a:pPr>
            <a:r>
              <a:rPr sz="1425" b="0" i="0" lang="de-DE">
                <a:solidFill>
                  <a:srgbClr val="BBD7EA"/>
                </a:solidFill>
                <a:latin typeface="IBM Plex Sans"/>
              </a:rPr>
              <a:t>Jede Prüfung speichert: Messwert gültig? Abweichung erklärt? Ursache.</a:t>
            </a:r>
          </a:p>
        </p:txBody>
      </p:sp>
      <p:sp>
        <p:nvSpPr>
          <p:cNvPr id="8" name="Rounded Rectangle 7"/>
          <p:cNvSpPr/>
          <p:nvPr/>
        </p:nvSpPr>
        <p:spPr>
          <a:xfrm>
            <a:off x="4352925" y="1524000"/>
            <a:ext cx="3486150" cy="2495550"/>
          </a:xfrm>
          <a:prstGeom prst="roundRect">
            <a:avLst>
              <a:gd name="adj" fmla="val 3816"/>
            </a:avLst>
          </a:prstGeom>
          <a:solidFill>
            <a:srgbClr val="174465"/>
          </a:solidFill>
          <a:ln w="9525">
            <a:solidFill>
              <a:srgbClr val="2E5674"/>
            </a:solidFill>
          </a:ln>
          <a:effectLst/>
        </p:spPr>
        <p:txBody>
          <a:bodyPr rtlCol="0" anchor="ctr"/>
          <a:lstStyle/>
          <a:p>
            <a:pPr algn="ctr"/>
          </a:p>
        </p:txBody>
      </p:sp>
      <p:sp>
        <p:nvSpPr>
          <p:cNvPr id="9" name="TextBox 8"/>
          <p:cNvSpPr txBox="1"/>
          <p:nvPr/>
        </p:nvSpPr>
        <p:spPr>
          <a:xfrm>
            <a:off x="4600575" y="1752600"/>
            <a:ext cx="1257300" cy="381000"/>
          </a:xfrm>
          <a:prstGeom prst="rect">
            <a:avLst/>
          </a:prstGeom>
          <a:noFill/>
        </p:spPr>
        <p:txBody>
          <a:bodyPr wrap="none" lIns="0" rIns="0" tIns="0" bIns="0" anchor="t">
            <a:noAutofit/>
          </a:bodyPr>
          <a:lstStyle/>
          <a:p>
            <a:pPr algn="l">
              <a:lnSpc>
                <a:spcPts val="3000"/>
              </a:lnSpc>
            </a:pPr>
            <a:r>
              <a:rPr sz="2400" b="1" i="0" lang="de-DE">
                <a:solidFill>
                  <a:srgbClr val="6CC0D2"/>
                </a:solidFill>
                <a:latin typeface="Geist Mono"/>
              </a:rPr>
              <a:t>02</a:t>
            </a:r>
          </a:p>
        </p:txBody>
      </p:sp>
      <p:sp>
        <p:nvSpPr>
          <p:cNvPr id="10" name="TextBox 9"/>
          <p:cNvSpPr txBox="1"/>
          <p:nvPr/>
        </p:nvSpPr>
        <p:spPr>
          <a:xfrm>
            <a:off x="4600575" y="2247900"/>
            <a:ext cx="2990850" cy="285750"/>
          </a:xfrm>
          <a:prstGeom prst="rect">
            <a:avLst/>
          </a:prstGeom>
          <a:noFill/>
        </p:spPr>
        <p:txBody>
          <a:bodyPr wrap="square" lIns="0" rIns="0" tIns="0" bIns="0" anchor="t">
            <a:noAutofit/>
          </a:bodyPr>
          <a:lstStyle/>
          <a:p>
            <a:pPr algn="l">
              <a:lnSpc>
                <a:spcPts val="2175"/>
              </a:lnSpc>
            </a:pPr>
            <a:r>
              <a:rPr sz="1650" b="1" i="0" lang="de-DE">
                <a:solidFill>
                  <a:srgbClr val="FFFFFF"/>
                </a:solidFill>
                <a:latin typeface="IBM Plex Sans"/>
              </a:rPr>
              <a:t>Klassifikation trainieren</a:t>
            </a:r>
          </a:p>
        </p:txBody>
      </p:sp>
      <p:sp>
        <p:nvSpPr>
          <p:cNvPr id="11" name="TextBox 10"/>
          <p:cNvSpPr txBox="1"/>
          <p:nvPr/>
        </p:nvSpPr>
        <p:spPr>
          <a:xfrm>
            <a:off x="4600575" y="2628900"/>
            <a:ext cx="2990850" cy="1257300"/>
          </a:xfrm>
          <a:prstGeom prst="rect">
            <a:avLst/>
          </a:prstGeom>
          <a:noFill/>
        </p:spPr>
        <p:txBody>
          <a:bodyPr wrap="square" lIns="0" rIns="0" tIns="0" bIns="0" anchor="t">
            <a:noAutofit/>
          </a:bodyPr>
          <a:lstStyle/>
          <a:p>
            <a:pPr algn="l">
              <a:lnSpc>
                <a:spcPts val="2025"/>
              </a:lnSpc>
            </a:pPr>
            <a:r>
              <a:rPr sz="1425" b="0" i="0" lang="de-DE">
                <a:solidFill>
                  <a:srgbClr val="BBD7EA"/>
                </a:solidFill>
                <a:latin typeface="IBM Plex Sans"/>
              </a:rPr>
              <a:t>Mit genug bestätigten Fällen schätzt ein zweites Modell je Hinweis die Wahrscheinlichkeit in %.</a:t>
            </a:r>
          </a:p>
        </p:txBody>
      </p:sp>
      <p:sp>
        <p:nvSpPr>
          <p:cNvPr id="12" name="Rounded Rectangle 11"/>
          <p:cNvSpPr/>
          <p:nvPr/>
        </p:nvSpPr>
        <p:spPr>
          <a:xfrm>
            <a:off x="8020050" y="1524000"/>
            <a:ext cx="3486150" cy="2495550"/>
          </a:xfrm>
          <a:prstGeom prst="roundRect">
            <a:avLst>
              <a:gd name="adj" fmla="val 3816"/>
            </a:avLst>
          </a:prstGeom>
          <a:solidFill>
            <a:srgbClr val="174465"/>
          </a:solidFill>
          <a:ln w="9525">
            <a:solidFill>
              <a:srgbClr val="2E5674"/>
            </a:solidFill>
          </a:ln>
          <a:effectLst/>
        </p:spPr>
        <p:txBody>
          <a:bodyPr rtlCol="0" anchor="ctr"/>
          <a:lstStyle/>
          <a:p>
            <a:pPr algn="ctr"/>
          </a:p>
        </p:txBody>
      </p:sp>
      <p:sp>
        <p:nvSpPr>
          <p:cNvPr id="13" name="TextBox 12"/>
          <p:cNvSpPr txBox="1"/>
          <p:nvPr/>
        </p:nvSpPr>
        <p:spPr>
          <a:xfrm>
            <a:off x="8267700" y="1752600"/>
            <a:ext cx="1257300" cy="381000"/>
          </a:xfrm>
          <a:prstGeom prst="rect">
            <a:avLst/>
          </a:prstGeom>
          <a:noFill/>
        </p:spPr>
        <p:txBody>
          <a:bodyPr wrap="none" lIns="0" rIns="0" tIns="0" bIns="0" anchor="t">
            <a:noAutofit/>
          </a:bodyPr>
          <a:lstStyle/>
          <a:p>
            <a:pPr algn="l">
              <a:lnSpc>
                <a:spcPts val="3000"/>
              </a:lnSpc>
            </a:pPr>
            <a:r>
              <a:rPr sz="2400" b="1" i="0" lang="de-DE">
                <a:solidFill>
                  <a:srgbClr val="6CC0D2"/>
                </a:solidFill>
                <a:latin typeface="Geist Mono"/>
              </a:rPr>
              <a:t>03</a:t>
            </a:r>
          </a:p>
        </p:txBody>
      </p:sp>
      <p:sp>
        <p:nvSpPr>
          <p:cNvPr id="14" name="TextBox 13"/>
          <p:cNvSpPr txBox="1"/>
          <p:nvPr/>
        </p:nvSpPr>
        <p:spPr>
          <a:xfrm>
            <a:off x="8267700" y="2247900"/>
            <a:ext cx="2990850" cy="285750"/>
          </a:xfrm>
          <a:prstGeom prst="rect">
            <a:avLst/>
          </a:prstGeom>
          <a:noFill/>
        </p:spPr>
        <p:txBody>
          <a:bodyPr wrap="square" lIns="0" rIns="0" tIns="0" bIns="0" anchor="t">
            <a:noAutofit/>
          </a:bodyPr>
          <a:lstStyle/>
          <a:p>
            <a:pPr algn="l">
              <a:lnSpc>
                <a:spcPts val="2175"/>
              </a:lnSpc>
            </a:pPr>
            <a:r>
              <a:rPr sz="1650" b="1" i="0" lang="de-DE">
                <a:solidFill>
                  <a:srgbClr val="FFFFFF"/>
                </a:solidFill>
                <a:latin typeface="IBM Plex Sans"/>
              </a:rPr>
              <a:t>Workflow automatisieren</a:t>
            </a:r>
          </a:p>
        </p:txBody>
      </p:sp>
      <p:sp>
        <p:nvSpPr>
          <p:cNvPr id="15" name="TextBox 14"/>
          <p:cNvSpPr txBox="1"/>
          <p:nvPr/>
        </p:nvSpPr>
        <p:spPr>
          <a:xfrm>
            <a:off x="8267700" y="2628900"/>
            <a:ext cx="2990850" cy="1257300"/>
          </a:xfrm>
          <a:prstGeom prst="rect">
            <a:avLst/>
          </a:prstGeom>
          <a:noFill/>
        </p:spPr>
        <p:txBody>
          <a:bodyPr wrap="square" lIns="0" rIns="0" tIns="0" bIns="0" anchor="t">
            <a:noAutofit/>
          </a:bodyPr>
          <a:lstStyle/>
          <a:p>
            <a:pPr algn="l">
              <a:lnSpc>
                <a:spcPts val="2025"/>
              </a:lnSpc>
            </a:pPr>
            <a:r>
              <a:rPr sz="1425" b="0" i="0" lang="de-DE">
                <a:solidFill>
                  <a:srgbClr val="BBD7EA"/>
                </a:solidFill>
                <a:latin typeface="IBM Plex Sans"/>
              </a:rPr>
              <a:t>Hinweise nach Wahrscheinlichkeit automatisiert vorsortieren; der Mensch entscheidet.</a:t>
            </a:r>
          </a:p>
        </p:txBody>
      </p:sp>
      <p:sp>
        <p:nvSpPr>
          <p:cNvPr id="16" name="Rounded Rectangle 15"/>
          <p:cNvSpPr/>
          <p:nvPr/>
        </p:nvSpPr>
        <p:spPr>
          <a:xfrm>
            <a:off x="685800" y="4191000"/>
            <a:ext cx="10820400" cy="666750"/>
          </a:xfrm>
          <a:prstGeom prst="roundRect">
            <a:avLst>
              <a:gd name="adj" fmla="val 14285"/>
            </a:avLst>
          </a:prstGeom>
          <a:solidFill>
            <a:srgbClr val="174465"/>
          </a:solidFill>
          <a:ln w="9525">
            <a:solidFill>
              <a:srgbClr val="2E5674"/>
            </a:solidFill>
          </a:ln>
          <a:effectLst/>
        </p:spPr>
        <p:txBody>
          <a:bodyPr rtlCol="0" anchor="ctr"/>
          <a:lstStyle/>
          <a:p>
            <a:pPr algn="ctr"/>
          </a:p>
        </p:txBody>
      </p:sp>
      <p:sp>
        <p:nvSpPr>
          <p:cNvPr id="17" name="Etikett Vorbehalt"/>
          <p:cNvSpPr/>
          <p:nvPr/>
        </p:nvSpPr>
        <p:spPr>
          <a:xfrm>
            <a:off x="876300" y="4362450"/>
            <a:ext cx="991362" cy="312420"/>
          </a:xfrm>
          <a:prstGeom prst="roundRect">
            <a:avLst>
              <a:gd name="adj" fmla="val 50000"/>
            </a:avLst>
          </a:prstGeom>
          <a:solidFill>
            <a:srgbClr val="2E5774"/>
          </a:solidFill>
          <a:ln w="9525">
            <a:solidFill>
              <a:srgbClr val="4F718A"/>
            </a:solidFill>
          </a:ln>
          <a:effectLst/>
        </p:spPr>
        <p:txBody>
          <a:bodyPr rtlCol="0" anchor="ctr"/>
          <a:lstStyle/>
          <a:p>
            <a:pPr algn="ctr"/>
          </a:p>
        </p:txBody>
      </p:sp>
      <p:sp>
        <p:nvSpPr>
          <p:cNvPr id="18" name="TextBox 17"/>
          <p:cNvSpPr txBox="1"/>
          <p:nvPr/>
        </p:nvSpPr>
        <p:spPr>
          <a:xfrm>
            <a:off x="826732" y="4362450"/>
            <a:ext cx="1090498" cy="312420"/>
          </a:xfrm>
          <a:prstGeom prst="rect">
            <a:avLst/>
          </a:prstGeom>
          <a:noFill/>
        </p:spPr>
        <p:txBody>
          <a:bodyPr wrap="none" lIns="0" rIns="0" tIns="0" bIns="0" anchor="ctr">
            <a:noAutofit/>
          </a:bodyPr>
          <a:lstStyle/>
          <a:p>
            <a:pPr algn="ctr">
              <a:lnSpc>
                <a:spcPts val="1560"/>
              </a:lnSpc>
            </a:pPr>
            <a:r>
              <a:rPr sz="1200" b="1" i="0" lang="de-DE">
                <a:solidFill>
                  <a:srgbClr val="FFFFFF"/>
                </a:solidFill>
                <a:latin typeface="IBM Plex Sans"/>
              </a:rPr>
              <a:t>Vorbehalt</a:t>
            </a:r>
          </a:p>
        </p:txBody>
      </p:sp>
      <p:sp>
        <p:nvSpPr>
          <p:cNvPr id="19" name="TextBox 18"/>
          <p:cNvSpPr txBox="1"/>
          <p:nvPr/>
        </p:nvSpPr>
        <p:spPr>
          <a:xfrm>
            <a:off x="2020062" y="4191000"/>
            <a:ext cx="9295638" cy="666750"/>
          </a:xfrm>
          <a:prstGeom prst="rect">
            <a:avLst/>
          </a:prstGeom>
          <a:noFill/>
        </p:spPr>
        <p:txBody>
          <a:bodyPr wrap="square" lIns="0" rIns="0" tIns="0" bIns="0" anchor="ctr">
            <a:noAutofit/>
          </a:bodyPr>
          <a:lstStyle/>
          <a:p>
            <a:pPr algn="l">
              <a:lnSpc>
                <a:spcPts val="1875"/>
              </a:lnSpc>
            </a:pPr>
            <a:r>
              <a:rPr sz="1350" b="0" i="0" lang="de-DE">
                <a:solidFill>
                  <a:srgbClr val="FFFFFF"/>
                </a:solidFill>
                <a:latin typeface="IBM Plex Sans"/>
              </a:rPr>
              <a:t>Das Modell ersetzt keine Abrechnungsentscheidung — es flaggt nur Untersuchungswürdiges.</a:t>
            </a:r>
          </a:p>
        </p:txBody>
      </p:sp>
      <p:sp>
        <p:nvSpPr>
          <p:cNvPr id="20" name="TextBox 19"/>
          <p:cNvSpPr txBox="1"/>
          <p:nvPr/>
        </p:nvSpPr>
        <p:spPr>
          <a:xfrm>
            <a:off x="685800" y="5067300"/>
            <a:ext cx="10820400" cy="609600"/>
          </a:xfrm>
          <a:prstGeom prst="rect">
            <a:avLst/>
          </a:prstGeom>
          <a:noFill/>
        </p:spPr>
        <p:txBody>
          <a:bodyPr wrap="square" lIns="0" rIns="0" tIns="0" bIns="0" anchor="t">
            <a:noAutofit/>
          </a:bodyPr>
          <a:lstStyle/>
          <a:p>
            <a:pPr algn="l">
              <a:lnSpc>
                <a:spcPts val="2175"/>
              </a:lnSpc>
            </a:pPr>
            <a:r>
              <a:rPr sz="1500" b="1" i="0" lang="de-DE">
                <a:solidFill>
                  <a:srgbClr val="6CC0D2"/>
                </a:solidFill>
                <a:latin typeface="IBM Plex Sans"/>
              </a:rPr>
              <a:t>Weiter mit Patrick: Ergebnisse 2025 und wie hinterlegte echte Zählerwerte das Retraining der Prognose verbessern.</a:t>
            </a:r>
          </a:p>
        </p:txBody>
      </p:sp>
      <p:cxnSp>
        <p:nvCxnSpPr>
          <p:cNvPr id="21" name="Fußlinie"/>
          <p:cNvCxnSpPr/>
          <p:nvPr/>
        </p:nvCxnSpPr>
        <p:spPr>
          <a:xfrm>
            <a:off x="0" y="6153150"/>
            <a:ext cx="12192000" cy="0"/>
          </a:xfrm>
          <a:prstGeom prst="line">
            <a:avLst/>
          </a:prstGeom>
          <a:ln w="9525">
            <a:solidFill>
              <a:srgbClr val="2E5674"/>
            </a:solidFill>
          </a:ln>
        </p:spPr>
        <p:style>
          <a:lnRef idx="2">
            <a:schemeClr val="accent1"/>
          </a:lnRef>
          <a:fillRef idx="0">
            <a:schemeClr val="accent1"/>
          </a:fillRef>
          <a:effectRef idx="1">
            <a:schemeClr val="accent1"/>
          </a:effectRef>
          <a:fontRef idx="minor">
            <a:schemeClr val="tx1"/>
          </a:fontRef>
        </p:style>
      </p:cxnSp>
      <p:sp>
        <p:nvSpPr>
          <p:cNvPr id="22" name="Logo-Grund"/>
          <p:cNvSpPr/>
          <p:nvPr/>
        </p:nvSpPr>
        <p:spPr>
          <a:xfrm>
            <a:off x="685800" y="6343650"/>
            <a:ext cx="666750" cy="285750"/>
          </a:xfrm>
          <a:prstGeom prst="roundRect">
            <a:avLst>
              <a:gd name="adj" fmla="val 13333"/>
            </a:avLst>
          </a:prstGeom>
          <a:solidFill>
            <a:srgbClr val="FFFFFF"/>
          </a:solidFill>
          <a:ln>
            <a:noFill/>
          </a:ln>
          <a:effectLst/>
        </p:spPr>
        <p:txBody>
          <a:bodyPr rtlCol="0" anchor="ctr"/>
          <a:lstStyle/>
          <a:p>
            <a:pPr algn="ctr"/>
          </a:p>
        </p:txBody>
      </p:sp>
      <p:pic>
        <p:nvPicPr>
          <p:cNvPr id="23" name="Logo" descr="image.png"/>
          <p:cNvPicPr>
            <a:picLocks noChangeAspect="1"/>
          </p:cNvPicPr>
          <p:nvPr/>
        </p:nvPicPr>
        <p:blipFill>
          <a:blip r:embed="rId2"/>
          <a:stretch>
            <a:fillRect/>
          </a:stretch>
        </p:blipFill>
        <p:spPr>
          <a:xfrm>
            <a:off x="742950" y="6381750"/>
            <a:ext cx="605730" cy="209550"/>
          </a:xfrm>
          <a:prstGeom prst="rect">
            <a:avLst/>
          </a:prstGeom>
        </p:spPr>
      </p:pic>
      <p:sp>
        <p:nvSpPr>
          <p:cNvPr id="24" name="TextBox 23"/>
          <p:cNvSpPr txBox="1"/>
          <p:nvPr/>
        </p:nvSpPr>
        <p:spPr>
          <a:xfrm>
            <a:off x="1504950" y="6391275"/>
            <a:ext cx="2891790" cy="190500"/>
          </a:xfrm>
          <a:prstGeom prst="rect">
            <a:avLst/>
          </a:prstGeom>
          <a:noFill/>
        </p:spPr>
        <p:txBody>
          <a:bodyPr wrap="none" lIns="0" rIns="0" tIns="0" bIns="0" anchor="t">
            <a:noAutofit/>
          </a:bodyPr>
          <a:lstStyle/>
          <a:p>
            <a:pPr algn="l">
              <a:lnSpc>
                <a:spcPts val="1500"/>
              </a:lnSpc>
            </a:pPr>
            <a:r>
              <a:rPr sz="1200" b="0" i="0" lang="de-DE">
                <a:solidFill>
                  <a:srgbClr val="7FB4D8"/>
                </a:solidFill>
                <a:latin typeface="IBM Plex Sans"/>
              </a:rPr>
              <a:t>Verbrauchsprognose &amp; Frühwarnung</a:t>
            </a:r>
          </a:p>
        </p:txBody>
      </p:sp>
      <p:sp>
        <p:nvSpPr>
          <p:cNvPr id="25" name="Seitenzahl"/>
          <p:cNvSpPr txBox="1"/>
          <p:nvPr/>
        </p:nvSpPr>
        <p:spPr>
          <a:xfrm>
            <a:off x="10835640" y="6391275"/>
            <a:ext cx="670560" cy="190500"/>
          </a:xfrm>
          <a:prstGeom prst="rect">
            <a:avLst/>
          </a:prstGeom>
          <a:noFill/>
        </p:spPr>
        <p:txBody>
          <a:bodyPr wrap="none" lIns="0" rIns="0" tIns="0" bIns="0" anchor="t">
            <a:noAutofit/>
          </a:bodyPr>
          <a:lstStyle/>
          <a:p>
            <a:pPr algn="r">
              <a:lnSpc>
                <a:spcPts val="1500"/>
              </a:lnSpc>
            </a:pPr>
            <a:r>
              <a:rPr sz="1200" b="0" i="0" lang="de-DE">
                <a:solidFill>
                  <a:srgbClr val="7FB4D8"/>
                </a:solidFill>
                <a:latin typeface="IBM Plex Sans"/>
              </a:rPr>
              <a:t>9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00718E"/>
                </a:solidFill>
                <a:latin typeface="IBM Plex Sans"/>
              </a:rPr>
              <a:t>BACKUP · MODELLWAHL · KIKO</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23"/>
              </a:lnSpc>
            </a:pPr>
            <a:r>
              <a:rPr sz="2953" b="1" i="0" lang="de-DE">
                <a:solidFill>
                  <a:srgbClr val="141A21"/>
                </a:solidFill>
                <a:latin typeface="IBM Plex Sans"/>
              </a:rPr>
              <a:t>Acht kontrollierte Kombinationen, entschieden nur in 2024</a:t>
            </a:r>
          </a:p>
        </p:txBody>
      </p:sp>
      <p:graphicFrame>
        <p:nvGraphicFramePr>
          <p:cNvPr id="4" name="Tabelle Hyperparameter"/>
          <p:cNvGraphicFramePr>
            <a:graphicFrameLocks noGrp="1"/>
          </p:cNvGraphicFramePr>
          <p:nvPr/>
        </p:nvGraphicFramePr>
        <p:xfrm>
          <a:off x="685800" y="1524000"/>
          <a:ext cx="10820400" cy="3810000"/>
        </p:xfrm>
        <a:graphic>
          <a:graphicData uri="http://schemas.openxmlformats.org/drawingml/2006/table">
            <a:tbl>
              <a:tblPr>
                <a:tableStyleId>{5C22544A-7EE6-4342-B048-85BDC9FD1C3A}</a:tableStyleId>
              </a:tblPr>
              <a:tblGrid>
                <a:gridCol w="1905000"/>
                <a:gridCol w="1905000"/>
                <a:gridCol w="2095500"/>
                <a:gridCol w="2381250"/>
                <a:gridCol w="2533650"/>
              </a:tblGrid>
              <a:tr h="457200">
                <a:tc>
                  <a:txBody>
                    <a:bodyPr/>
                    <a:lstStyle/>
                    <a:p>
                      <a:pPr algn="l">
                        <a:lnSpc>
                          <a:spcPts val="1560"/>
                        </a:lnSpc>
                      </a:pPr>
                      <a:r>
                        <a:rPr sz="1200" b="1" i="0">
                          <a:solidFill>
                            <a:srgbClr val="FFFFFF"/>
                          </a:solidFill>
                          <a:latin typeface="IBM Plex Sans"/>
                        </a:rPr>
                        <a:t>Baumtiefe</a:t>
                      </a:r>
                    </a:p>
                  </a:txBody>
                  <a:tcPr marL="114300" marR="114300" marT="38100" marB="38100" anchor="ctr">
                    <a:lnL w="9525">
                      <a:solidFill>
                        <a:srgbClr val="D2DAE2"/>
                      </a:solidFill>
                    </a:lnL>
                    <a:lnR w="0">
                      <a:noFill/>
                    </a:lnR>
                    <a:lnT w="9525">
                      <a:solidFill>
                        <a:srgbClr val="D2DAE2"/>
                      </a:solidFill>
                    </a:lnT>
                    <a:lnB w="0">
                      <a:noFill/>
                    </a:lnB>
                    <a:solidFill>
                      <a:srgbClr val="04263F"/>
                    </a:solidFill>
                  </a:tcPr>
                </a:tc>
                <a:tc>
                  <a:txBody>
                    <a:bodyPr/>
                    <a:lstStyle/>
                    <a:p>
                      <a:pPr algn="l">
                        <a:lnSpc>
                          <a:spcPts val="1560"/>
                        </a:lnSpc>
                      </a:pPr>
                      <a:r>
                        <a:rPr sz="1200" b="1" i="0">
                          <a:solidFill>
                            <a:srgbClr val="FFFFFF"/>
                          </a:solidFill>
                          <a:latin typeface="IBM Plex Sans"/>
                        </a:rPr>
                        <a:t>Merkmalsanteil</a:t>
                      </a:r>
                    </a:p>
                  </a:txBody>
                  <a:tcPr marL="114300" marR="114300" marT="38100" marB="38100" anchor="ctr">
                    <a:lnL w="0">
                      <a:noFill/>
                    </a:lnL>
                    <a:lnR w="0">
                      <a:noFill/>
                    </a:lnR>
                    <a:lnT w="9525">
                      <a:solidFill>
                        <a:srgbClr val="D2DAE2"/>
                      </a:solidFill>
                    </a:lnT>
                    <a:lnB w="0">
                      <a:noFill/>
                    </a:lnB>
                    <a:solidFill>
                      <a:srgbClr val="04263F"/>
                    </a:solidFill>
                  </a:tcPr>
                </a:tc>
                <a:tc>
                  <a:txBody>
                    <a:bodyPr/>
                    <a:lstStyle/>
                    <a:p>
                      <a:pPr algn="l">
                        <a:lnSpc>
                          <a:spcPts val="1560"/>
                        </a:lnSpc>
                      </a:pPr>
                      <a:r>
                        <a:rPr sz="1200" b="1" i="0">
                          <a:solidFill>
                            <a:srgbClr val="FFFFFF"/>
                          </a:solidFill>
                          <a:latin typeface="IBM Plex Sans"/>
                        </a:rPr>
                        <a:t>Min. Fälle je Blatt</a:t>
                      </a:r>
                    </a:p>
                  </a:txBody>
                  <a:tcPr marL="114300" marR="114300" marT="38100" marB="38100" anchor="ctr">
                    <a:lnL w="0">
                      <a:noFill/>
                    </a:lnL>
                    <a:lnR w="0">
                      <a:noFill/>
                    </a:lnR>
                    <a:lnT w="9525">
                      <a:solidFill>
                        <a:srgbClr val="D2DAE2"/>
                      </a:solidFill>
                    </a:lnT>
                    <a:lnB w="0">
                      <a:noFill/>
                    </a:lnB>
                    <a:solidFill>
                      <a:srgbClr val="04263F"/>
                    </a:solidFill>
                  </a:tcPr>
                </a:tc>
                <a:tc>
                  <a:txBody>
                    <a:bodyPr/>
                    <a:lstStyle/>
                    <a:p>
                      <a:pPr algn="l">
                        <a:lnSpc>
                          <a:spcPts val="1560"/>
                        </a:lnSpc>
                      </a:pPr>
                      <a:r>
                        <a:rPr sz="1200" b="1" i="0">
                          <a:solidFill>
                            <a:srgbClr val="FFFFFF"/>
                          </a:solidFill>
                          <a:latin typeface="IBM Plex Sans"/>
                        </a:rPr>
                        <a:t>CV-RMSE (kWh)</a:t>
                      </a:r>
                    </a:p>
                  </a:txBody>
                  <a:tcPr marL="114300" marR="114300" marT="38100" marB="38100" anchor="ctr">
                    <a:lnL w="0">
                      <a:noFill/>
                    </a:lnL>
                    <a:lnR w="0">
                      <a:noFill/>
                    </a:lnR>
                    <a:lnT w="9525">
                      <a:solidFill>
                        <a:srgbClr val="D2DAE2"/>
                      </a:solidFill>
                    </a:lnT>
                    <a:lnB w="0">
                      <a:noFill/>
                    </a:lnB>
                    <a:solidFill>
                      <a:srgbClr val="04263F"/>
                    </a:solidFill>
                  </a:tcPr>
                </a:tc>
                <a:tc>
                  <a:txBody>
                    <a:bodyPr/>
                    <a:lstStyle/>
                    <a:p>
                      <a:pPr algn="l">
                        <a:lnSpc>
                          <a:spcPts val="1560"/>
                        </a:lnSpc>
                      </a:pPr>
                      <a:r>
                        <a:rPr sz="1200" b="1" i="0">
                          <a:solidFill>
                            <a:srgbClr val="FFFFFF"/>
                          </a:solidFill>
                          <a:latin typeface="IBM Plex Sans"/>
                        </a:rPr>
                        <a:t>Fold-Streuung (Std., kWh)</a:t>
                      </a:r>
                    </a:p>
                  </a:txBody>
                  <a:tcPr marL="114300" marR="114300" marT="38100" marB="38100" anchor="ctr">
                    <a:lnL w="0">
                      <a:noFill/>
                    </a:lnL>
                    <a:lnR w="9525">
                      <a:solidFill>
                        <a:srgbClr val="D2DAE2"/>
                      </a:solidFill>
                    </a:lnR>
                    <a:lnT w="9525">
                      <a:solidFill>
                        <a:srgbClr val="D2DAE2"/>
                      </a:solidFill>
                    </a:lnT>
                    <a:lnB w="0">
                      <a:noFill/>
                    </a:lnB>
                    <a:solidFill>
                      <a:srgbClr val="04263F"/>
                    </a:solidFill>
                  </a:tcPr>
                </a:tc>
              </a:tr>
              <a:tr h="419100">
                <a:tc>
                  <a:txBody>
                    <a:bodyPr/>
                    <a:lstStyle/>
                    <a:p>
                      <a:pPr algn="l">
                        <a:lnSpc>
                          <a:spcPts val="1657"/>
                        </a:lnSpc>
                      </a:pPr>
                      <a:r>
                        <a:rPr sz="1275" b="0" i="0">
                          <a:solidFill>
                            <a:srgbClr val="141A21"/>
                          </a:solidFill>
                          <a:latin typeface="IBM Plex Sans"/>
                        </a:rPr>
                        <a:t>8</a:t>
                      </a:r>
                    </a:p>
                  </a:txBody>
                  <a:tcPr marL="114300" marR="114300" marT="38100" marB="38100" anchor="ctr">
                    <a:lnL w="9525">
                      <a:solidFill>
                        <a:srgbClr val="D2DAE2"/>
                      </a:solidFill>
                    </a:lnL>
                    <a:lnR w="0">
                      <a:noFill/>
                    </a:lnR>
                    <a:lnT w="0">
                      <a:noFill/>
                    </a:lnT>
                    <a:lnB w="9525">
                      <a:solidFill>
                        <a:srgbClr val="E4E9EF"/>
                      </a:solidFill>
                    </a:lnB>
                    <a:solidFill>
                      <a:srgbClr val="E3F3F7"/>
                    </a:solidFill>
                  </a:tcPr>
                </a:tc>
                <a:tc>
                  <a:txBody>
                    <a:bodyPr/>
                    <a:lstStyle/>
                    <a:p>
                      <a:pPr algn="l">
                        <a:lnSpc>
                          <a:spcPts val="1657"/>
                        </a:lnSpc>
                      </a:pPr>
                      <a:r>
                        <a:rPr sz="1275" b="0" i="0">
                          <a:solidFill>
                            <a:srgbClr val="141A21"/>
                          </a:solidFill>
                          <a:latin typeface="IBM Plex Sans"/>
                        </a:rPr>
                        <a:t>0,7</a:t>
                      </a:r>
                    </a:p>
                  </a:txBody>
                  <a:tcPr marL="114300" marR="114300" marT="38100" marB="38100" anchor="ctr">
                    <a:lnL w="0">
                      <a:noFill/>
                    </a:lnL>
                    <a:lnR w="0">
                      <a:noFill/>
                    </a:lnR>
                    <a:lnT w="0">
                      <a:noFill/>
                    </a:lnT>
                    <a:lnB w="9525">
                      <a:solidFill>
                        <a:srgbClr val="E4E9EF"/>
                      </a:solidFill>
                    </a:lnB>
                    <a:solidFill>
                      <a:srgbClr val="E3F3F7"/>
                    </a:solidFill>
                  </a:tcPr>
                </a:tc>
                <a:tc>
                  <a:txBody>
                    <a:bodyPr/>
                    <a:lstStyle/>
                    <a:p>
                      <a:pPr algn="l">
                        <a:lnSpc>
                          <a:spcPts val="1657"/>
                        </a:lnSpc>
                      </a:pPr>
                      <a:r>
                        <a:rPr sz="1275" b="0" i="0">
                          <a:solidFill>
                            <a:srgbClr val="141A21"/>
                          </a:solidFill>
                          <a:latin typeface="IBM Plex Sans"/>
                        </a:rPr>
                        <a:t>5</a:t>
                      </a:r>
                    </a:p>
                  </a:txBody>
                  <a:tcPr marL="114300" marR="114300" marT="38100" marB="38100" anchor="ctr">
                    <a:lnL w="0">
                      <a:noFill/>
                    </a:lnL>
                    <a:lnR w="0">
                      <a:noFill/>
                    </a:lnR>
                    <a:lnT w="0">
                      <a:noFill/>
                    </a:lnT>
                    <a:lnB w="9525">
                      <a:solidFill>
                        <a:srgbClr val="E4E9EF"/>
                      </a:solidFill>
                    </a:lnB>
                    <a:solidFill>
                      <a:srgbClr val="E3F3F7"/>
                    </a:solidFill>
                  </a:tcPr>
                </a:tc>
                <a:tc>
                  <a:txBody>
                    <a:bodyPr/>
                    <a:lstStyle/>
                    <a:p>
                      <a:pPr algn="r">
                        <a:lnSpc>
                          <a:spcPts val="1657"/>
                        </a:lnSpc>
                      </a:pPr>
                      <a:r>
                        <a:rPr sz="1275" b="0" i="0">
                          <a:solidFill>
                            <a:srgbClr val="141A21"/>
                          </a:solidFill>
                          <a:latin typeface="IBM Plex Sans"/>
                        </a:rPr>
                        <a:t>13.272</a:t>
                      </a:r>
                    </a:p>
                  </a:txBody>
                  <a:tcPr marL="114300" marR="114300" marT="38100" marB="38100" anchor="ctr">
                    <a:lnL w="0">
                      <a:noFill/>
                    </a:lnL>
                    <a:lnR w="0">
                      <a:noFill/>
                    </a:lnR>
                    <a:lnT w="0">
                      <a:noFill/>
                    </a:lnT>
                    <a:lnB w="9525">
                      <a:solidFill>
                        <a:srgbClr val="E4E9EF"/>
                      </a:solidFill>
                    </a:lnB>
                    <a:solidFill>
                      <a:srgbClr val="E3F3F7"/>
                    </a:solidFill>
                  </a:tcPr>
                </a:tc>
                <a:tc>
                  <a:txBody>
                    <a:bodyPr/>
                    <a:lstStyle/>
                    <a:p>
                      <a:pPr algn="r">
                        <a:lnSpc>
                          <a:spcPts val="1657"/>
                        </a:lnSpc>
                      </a:pPr>
                      <a:r>
                        <a:rPr sz="1275" b="0" i="0">
                          <a:solidFill>
                            <a:srgbClr val="141A21"/>
                          </a:solidFill>
                          <a:latin typeface="IBM Plex Sans"/>
                        </a:rPr>
                        <a:t>3.843</a:t>
                      </a:r>
                    </a:p>
                  </a:txBody>
                  <a:tcPr marL="114300" marR="114300" marT="38100" marB="38100" anchor="ctr">
                    <a:lnL w="0">
                      <a:noFill/>
                    </a:lnL>
                    <a:lnR w="9525">
                      <a:solidFill>
                        <a:srgbClr val="D2DAE2"/>
                      </a:solidFill>
                    </a:lnR>
                    <a:lnT w="0">
                      <a:noFill/>
                    </a:lnT>
                    <a:lnB w="9525">
                      <a:solidFill>
                        <a:srgbClr val="E4E9EF"/>
                      </a:solidFill>
                    </a:lnB>
                    <a:solidFill>
                      <a:srgbClr val="E3F3F7"/>
                    </a:solidFill>
                  </a:tcPr>
                </a:tc>
              </a:tr>
              <a:tr h="419100">
                <a:tc>
                  <a:txBody>
                    <a:bodyPr/>
                    <a:lstStyle/>
                    <a:p>
                      <a:pPr algn="l">
                        <a:lnSpc>
                          <a:spcPts val="1657"/>
                        </a:lnSpc>
                      </a:pPr>
                      <a:r>
                        <a:rPr sz="1275" b="0" i="0">
                          <a:solidFill>
                            <a:srgbClr val="141A21"/>
                          </a:solidFill>
                          <a:latin typeface="IBM Plex Sans"/>
                        </a:rPr>
                        <a:t>unbegrenzt</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l">
                        <a:lnSpc>
                          <a:spcPts val="1657"/>
                        </a:lnSpc>
                      </a:pPr>
                      <a:r>
                        <a:rPr sz="1275" b="0" i="0">
                          <a:solidFill>
                            <a:srgbClr val="141A21"/>
                          </a:solidFill>
                          <a:latin typeface="IBM Plex Sans"/>
                        </a:rPr>
                        <a:t>0,7</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657"/>
                        </a:lnSpc>
                      </a:pPr>
                      <a:r>
                        <a:rPr sz="1275" b="0" i="0">
                          <a:solidFill>
                            <a:srgbClr val="141A21"/>
                          </a:solidFill>
                          <a:latin typeface="IBM Plex Sans"/>
                        </a:rPr>
                        <a:t>5</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657"/>
                        </a:lnSpc>
                      </a:pPr>
                      <a:r>
                        <a:rPr sz="1275" b="0" i="0">
                          <a:solidFill>
                            <a:srgbClr val="141A21"/>
                          </a:solidFill>
                          <a:latin typeface="IBM Plex Sans"/>
                        </a:rPr>
                        <a:t>13.331</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657"/>
                        </a:lnSpc>
                      </a:pPr>
                      <a:r>
                        <a:rPr sz="1275" b="0" i="0">
                          <a:solidFill>
                            <a:srgbClr val="141A21"/>
                          </a:solidFill>
                          <a:latin typeface="IBM Plex Sans"/>
                        </a:rPr>
                        <a:t>3.849</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419100">
                <a:tc>
                  <a:txBody>
                    <a:bodyPr/>
                    <a:lstStyle/>
                    <a:p>
                      <a:pPr algn="l">
                        <a:lnSpc>
                          <a:spcPts val="1657"/>
                        </a:lnSpc>
                      </a:pPr>
                      <a:r>
                        <a:rPr sz="1275" b="0" i="0">
                          <a:solidFill>
                            <a:srgbClr val="141A21"/>
                          </a:solidFill>
                          <a:latin typeface="IBM Plex Sans"/>
                        </a:rPr>
                        <a:t>8</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l">
                        <a:lnSpc>
                          <a:spcPts val="1657"/>
                        </a:lnSpc>
                      </a:pPr>
                      <a:r>
                        <a:rPr sz="1275" b="0" i="0">
                          <a:solidFill>
                            <a:srgbClr val="141A21"/>
                          </a:solidFill>
                          <a:latin typeface="IBM Plex Sans"/>
                        </a:rPr>
                        <a:t>1,0</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657"/>
                        </a:lnSpc>
                      </a:pPr>
                      <a:r>
                        <a:rPr sz="1275" b="0" i="0">
                          <a:solidFill>
                            <a:srgbClr val="141A21"/>
                          </a:solidFill>
                          <a:latin typeface="IBM Plex Sans"/>
                        </a:rPr>
                        <a:t>5</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657"/>
                        </a:lnSpc>
                      </a:pPr>
                      <a:r>
                        <a:rPr sz="1275" b="0" i="0">
                          <a:solidFill>
                            <a:srgbClr val="141A21"/>
                          </a:solidFill>
                          <a:latin typeface="IBM Plex Sans"/>
                        </a:rPr>
                        <a:t>13.355</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657"/>
                        </a:lnSpc>
                      </a:pPr>
                      <a:r>
                        <a:rPr sz="1275" b="0" i="0">
                          <a:solidFill>
                            <a:srgbClr val="141A21"/>
                          </a:solidFill>
                          <a:latin typeface="IBM Plex Sans"/>
                        </a:rPr>
                        <a:t>3.757</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419100">
                <a:tc>
                  <a:txBody>
                    <a:bodyPr/>
                    <a:lstStyle/>
                    <a:p>
                      <a:pPr algn="l">
                        <a:lnSpc>
                          <a:spcPts val="1657"/>
                        </a:lnSpc>
                      </a:pPr>
                      <a:r>
                        <a:rPr sz="1275" b="0" i="0">
                          <a:solidFill>
                            <a:srgbClr val="141A21"/>
                          </a:solidFill>
                          <a:latin typeface="IBM Plex Sans"/>
                        </a:rPr>
                        <a:t>unbegrenzt</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l">
                        <a:lnSpc>
                          <a:spcPts val="1657"/>
                        </a:lnSpc>
                      </a:pPr>
                      <a:r>
                        <a:rPr sz="1275" b="0" i="0">
                          <a:solidFill>
                            <a:srgbClr val="141A21"/>
                          </a:solidFill>
                          <a:latin typeface="IBM Plex Sans"/>
                        </a:rPr>
                        <a:t>1,0</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657"/>
                        </a:lnSpc>
                      </a:pPr>
                      <a:r>
                        <a:rPr sz="1275" b="0" i="0">
                          <a:solidFill>
                            <a:srgbClr val="141A21"/>
                          </a:solidFill>
                          <a:latin typeface="IBM Plex Sans"/>
                        </a:rPr>
                        <a:t>5</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657"/>
                        </a:lnSpc>
                      </a:pPr>
                      <a:r>
                        <a:rPr sz="1275" b="0" i="0">
                          <a:solidFill>
                            <a:srgbClr val="141A21"/>
                          </a:solidFill>
                          <a:latin typeface="IBM Plex Sans"/>
                        </a:rPr>
                        <a:t>13.422</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657"/>
                        </a:lnSpc>
                      </a:pPr>
                      <a:r>
                        <a:rPr sz="1275" b="0" i="0">
                          <a:solidFill>
                            <a:srgbClr val="141A21"/>
                          </a:solidFill>
                          <a:latin typeface="IBM Plex Sans"/>
                        </a:rPr>
                        <a:t>3.729</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419100">
                <a:tc>
                  <a:txBody>
                    <a:bodyPr/>
                    <a:lstStyle/>
                    <a:p>
                      <a:pPr algn="l">
                        <a:lnSpc>
                          <a:spcPts val="1657"/>
                        </a:lnSpc>
                      </a:pPr>
                      <a:r>
                        <a:rPr sz="1275" b="0" i="0">
                          <a:solidFill>
                            <a:srgbClr val="141A21"/>
                          </a:solidFill>
                          <a:latin typeface="IBM Plex Sans"/>
                        </a:rPr>
                        <a:t>unbegrenzt</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l">
                        <a:lnSpc>
                          <a:spcPts val="1657"/>
                        </a:lnSpc>
                      </a:pPr>
                      <a:r>
                        <a:rPr sz="1275" b="0" i="0">
                          <a:solidFill>
                            <a:srgbClr val="141A21"/>
                          </a:solidFill>
                          <a:latin typeface="IBM Plex Sans"/>
                        </a:rPr>
                        <a:t>0,7</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657"/>
                        </a:lnSpc>
                      </a:pPr>
                      <a:r>
                        <a:rPr sz="1275" b="0" i="0">
                          <a:solidFill>
                            <a:srgbClr val="141A21"/>
                          </a:solidFill>
                          <a:latin typeface="IBM Plex Sans"/>
                        </a:rPr>
                        <a:t>20</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657"/>
                        </a:lnSpc>
                      </a:pPr>
                      <a:r>
                        <a:rPr sz="1275" b="0" i="0">
                          <a:solidFill>
                            <a:srgbClr val="141A21"/>
                          </a:solidFill>
                          <a:latin typeface="IBM Plex Sans"/>
                        </a:rPr>
                        <a:t>13.473</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657"/>
                        </a:lnSpc>
                      </a:pPr>
                      <a:r>
                        <a:rPr sz="1275" b="0" i="0">
                          <a:solidFill>
                            <a:srgbClr val="141A21"/>
                          </a:solidFill>
                          <a:latin typeface="IBM Plex Sans"/>
                        </a:rPr>
                        <a:t>4.021</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419100">
                <a:tc>
                  <a:txBody>
                    <a:bodyPr/>
                    <a:lstStyle/>
                    <a:p>
                      <a:pPr algn="l">
                        <a:lnSpc>
                          <a:spcPts val="1657"/>
                        </a:lnSpc>
                      </a:pPr>
                      <a:r>
                        <a:rPr sz="1275" b="0" i="0">
                          <a:solidFill>
                            <a:srgbClr val="141A21"/>
                          </a:solidFill>
                          <a:latin typeface="IBM Plex Sans"/>
                        </a:rPr>
                        <a:t>8</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l">
                        <a:lnSpc>
                          <a:spcPts val="1657"/>
                        </a:lnSpc>
                      </a:pPr>
                      <a:r>
                        <a:rPr sz="1275" b="0" i="0">
                          <a:solidFill>
                            <a:srgbClr val="141A21"/>
                          </a:solidFill>
                          <a:latin typeface="IBM Plex Sans"/>
                        </a:rPr>
                        <a:t>0,7</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657"/>
                        </a:lnSpc>
                      </a:pPr>
                      <a:r>
                        <a:rPr sz="1275" b="0" i="0">
                          <a:solidFill>
                            <a:srgbClr val="141A21"/>
                          </a:solidFill>
                          <a:latin typeface="IBM Plex Sans"/>
                        </a:rPr>
                        <a:t>20</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657"/>
                        </a:lnSpc>
                      </a:pPr>
                      <a:r>
                        <a:rPr sz="1275" b="0" i="0">
                          <a:solidFill>
                            <a:srgbClr val="141A21"/>
                          </a:solidFill>
                          <a:latin typeface="IBM Plex Sans"/>
                        </a:rPr>
                        <a:t>13.481</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657"/>
                        </a:lnSpc>
                      </a:pPr>
                      <a:r>
                        <a:rPr sz="1275" b="0" i="0">
                          <a:solidFill>
                            <a:srgbClr val="141A21"/>
                          </a:solidFill>
                          <a:latin typeface="IBM Plex Sans"/>
                        </a:rPr>
                        <a:t>4.015</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419100">
                <a:tc>
                  <a:txBody>
                    <a:bodyPr/>
                    <a:lstStyle/>
                    <a:p>
                      <a:pPr algn="l">
                        <a:lnSpc>
                          <a:spcPts val="1657"/>
                        </a:lnSpc>
                      </a:pPr>
                      <a:r>
                        <a:rPr sz="1275" b="0" i="0">
                          <a:solidFill>
                            <a:srgbClr val="141A21"/>
                          </a:solidFill>
                          <a:latin typeface="IBM Plex Sans"/>
                        </a:rPr>
                        <a:t>8</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l">
                        <a:lnSpc>
                          <a:spcPts val="1657"/>
                        </a:lnSpc>
                      </a:pPr>
                      <a:r>
                        <a:rPr sz="1275" b="0" i="0">
                          <a:solidFill>
                            <a:srgbClr val="141A21"/>
                          </a:solidFill>
                          <a:latin typeface="IBM Plex Sans"/>
                        </a:rPr>
                        <a:t>1,0</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657"/>
                        </a:lnSpc>
                      </a:pPr>
                      <a:r>
                        <a:rPr sz="1275" b="0" i="0">
                          <a:solidFill>
                            <a:srgbClr val="141A21"/>
                          </a:solidFill>
                          <a:latin typeface="IBM Plex Sans"/>
                        </a:rPr>
                        <a:t>20</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657"/>
                        </a:lnSpc>
                      </a:pPr>
                      <a:r>
                        <a:rPr sz="1275" b="0" i="0">
                          <a:solidFill>
                            <a:srgbClr val="141A21"/>
                          </a:solidFill>
                          <a:latin typeface="IBM Plex Sans"/>
                        </a:rPr>
                        <a:t>13.549</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r">
                        <a:lnSpc>
                          <a:spcPts val="1657"/>
                        </a:lnSpc>
                      </a:pPr>
                      <a:r>
                        <a:rPr sz="1275" b="0" i="0">
                          <a:solidFill>
                            <a:srgbClr val="141A21"/>
                          </a:solidFill>
                          <a:latin typeface="IBM Plex Sans"/>
                        </a:rPr>
                        <a:t>3.941</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419100">
                <a:tc>
                  <a:txBody>
                    <a:bodyPr/>
                    <a:lstStyle/>
                    <a:p>
                      <a:pPr algn="l">
                        <a:lnSpc>
                          <a:spcPts val="1657"/>
                        </a:lnSpc>
                      </a:pPr>
                      <a:r>
                        <a:rPr sz="1275" b="0" i="0">
                          <a:solidFill>
                            <a:srgbClr val="141A21"/>
                          </a:solidFill>
                          <a:latin typeface="IBM Plex Sans"/>
                        </a:rPr>
                        <a:t>unbegrenzt</a:t>
                      </a:r>
                    </a:p>
                  </a:txBody>
                  <a:tcPr marL="114300" marR="114300" marT="38100" marB="38100" anchor="ctr">
                    <a:lnL w="9525">
                      <a:solidFill>
                        <a:srgbClr val="D2DAE2"/>
                      </a:solidFill>
                    </a:lnL>
                    <a:lnR w="0">
                      <a:noFill/>
                    </a:lnR>
                    <a:lnT w="0">
                      <a:noFill/>
                    </a:lnT>
                    <a:lnB w="9525">
                      <a:solidFill>
                        <a:srgbClr val="D2DAE2"/>
                      </a:solidFill>
                    </a:lnB>
                    <a:solidFill>
                      <a:srgbClr val="FFFFFF"/>
                    </a:solidFill>
                  </a:tcPr>
                </a:tc>
                <a:tc>
                  <a:txBody>
                    <a:bodyPr/>
                    <a:lstStyle/>
                    <a:p>
                      <a:pPr algn="l">
                        <a:lnSpc>
                          <a:spcPts val="1657"/>
                        </a:lnSpc>
                      </a:pPr>
                      <a:r>
                        <a:rPr sz="1275" b="0" i="0">
                          <a:solidFill>
                            <a:srgbClr val="141A21"/>
                          </a:solidFill>
                          <a:latin typeface="IBM Plex Sans"/>
                        </a:rPr>
                        <a:t>1,0</a:t>
                      </a:r>
                    </a:p>
                  </a:txBody>
                  <a:tcPr marL="114300" marR="114300" marT="38100" marB="38100" anchor="ctr">
                    <a:lnL w="0">
                      <a:noFill/>
                    </a:lnL>
                    <a:lnR w="0">
                      <a:noFill/>
                    </a:lnR>
                    <a:lnT w="0">
                      <a:noFill/>
                    </a:lnT>
                    <a:lnB w="9525">
                      <a:solidFill>
                        <a:srgbClr val="D2DAE2"/>
                      </a:solidFill>
                    </a:lnB>
                    <a:solidFill>
                      <a:srgbClr val="FFFFFF"/>
                    </a:solidFill>
                  </a:tcPr>
                </a:tc>
                <a:tc>
                  <a:txBody>
                    <a:bodyPr/>
                    <a:lstStyle/>
                    <a:p>
                      <a:pPr algn="l">
                        <a:lnSpc>
                          <a:spcPts val="1657"/>
                        </a:lnSpc>
                      </a:pPr>
                      <a:r>
                        <a:rPr sz="1275" b="0" i="0">
                          <a:solidFill>
                            <a:srgbClr val="141A21"/>
                          </a:solidFill>
                          <a:latin typeface="IBM Plex Sans"/>
                        </a:rPr>
                        <a:t>20</a:t>
                      </a:r>
                    </a:p>
                  </a:txBody>
                  <a:tcPr marL="114300" marR="114300" marT="38100" marB="38100" anchor="ctr">
                    <a:lnL w="0">
                      <a:noFill/>
                    </a:lnL>
                    <a:lnR w="0">
                      <a:noFill/>
                    </a:lnR>
                    <a:lnT w="0">
                      <a:noFill/>
                    </a:lnT>
                    <a:lnB w="9525">
                      <a:solidFill>
                        <a:srgbClr val="D2DAE2"/>
                      </a:solidFill>
                    </a:lnB>
                    <a:solidFill>
                      <a:srgbClr val="FFFFFF"/>
                    </a:solidFill>
                  </a:tcPr>
                </a:tc>
                <a:tc>
                  <a:txBody>
                    <a:bodyPr/>
                    <a:lstStyle/>
                    <a:p>
                      <a:pPr algn="r">
                        <a:lnSpc>
                          <a:spcPts val="1657"/>
                        </a:lnSpc>
                      </a:pPr>
                      <a:r>
                        <a:rPr sz="1275" b="0" i="0">
                          <a:solidFill>
                            <a:srgbClr val="141A21"/>
                          </a:solidFill>
                          <a:latin typeface="IBM Plex Sans"/>
                        </a:rPr>
                        <a:t>13.565</a:t>
                      </a:r>
                    </a:p>
                  </a:txBody>
                  <a:tcPr marL="114300" marR="114300" marT="38100" marB="38100" anchor="ctr">
                    <a:lnL w="0">
                      <a:noFill/>
                    </a:lnL>
                    <a:lnR w="0">
                      <a:noFill/>
                    </a:lnR>
                    <a:lnT w="0">
                      <a:noFill/>
                    </a:lnT>
                    <a:lnB w="9525">
                      <a:solidFill>
                        <a:srgbClr val="D2DAE2"/>
                      </a:solidFill>
                    </a:lnB>
                    <a:solidFill>
                      <a:srgbClr val="FFFFFF"/>
                    </a:solidFill>
                  </a:tcPr>
                </a:tc>
                <a:tc>
                  <a:txBody>
                    <a:bodyPr/>
                    <a:lstStyle/>
                    <a:p>
                      <a:pPr algn="r">
                        <a:lnSpc>
                          <a:spcPts val="1657"/>
                        </a:lnSpc>
                      </a:pPr>
                      <a:r>
                        <a:rPr sz="1275" b="0" i="0">
                          <a:solidFill>
                            <a:srgbClr val="141A21"/>
                          </a:solidFill>
                          <a:latin typeface="IBM Plex Sans"/>
                        </a:rPr>
                        <a:t>3.923</a:t>
                      </a:r>
                    </a:p>
                  </a:txBody>
                  <a:tcPr marL="114300" marR="114300" marT="38100" marB="38100" anchor="ctr">
                    <a:lnL w="0">
                      <a:noFill/>
                    </a:lnL>
                    <a:lnR w="9525">
                      <a:solidFill>
                        <a:srgbClr val="D2DAE2"/>
                      </a:solidFill>
                    </a:lnR>
                    <a:lnT w="0">
                      <a:noFill/>
                    </a:lnT>
                    <a:lnB w="9525">
                      <a:solidFill>
                        <a:srgbClr val="D2DAE2"/>
                      </a:solidFill>
                    </a:lnB>
                    <a:solidFill>
                      <a:srgbClr val="FFFFFF"/>
                    </a:solidFill>
                  </a:tcPr>
                </a:tc>
              </a:tr>
            </a:tbl>
          </a:graphicData>
        </a:graphic>
      </p:graphicFrame>
      <p:sp>
        <p:nvSpPr>
          <p:cNvPr id="5" name="TextBox 4"/>
          <p:cNvSpPr txBox="1"/>
          <p:nvPr/>
        </p:nvSpPr>
        <p:spPr>
          <a:xfrm>
            <a:off x="685800" y="5505450"/>
            <a:ext cx="10820400" cy="247650"/>
          </a:xfrm>
          <a:prstGeom prst="rect">
            <a:avLst/>
          </a:prstGeom>
          <a:noFill/>
        </p:spPr>
        <p:txBody>
          <a:bodyPr wrap="square" lIns="0" rIns="0" tIns="0" bIns="0" anchor="t">
            <a:noAutofit/>
          </a:bodyPr>
          <a:lstStyle/>
          <a:p>
            <a:pPr algn="l">
              <a:lnSpc>
                <a:spcPts val="1950"/>
              </a:lnSpc>
            </a:pPr>
            <a:r>
              <a:rPr sz="1350" b="0" i="0" lang="de-DE">
                <a:solidFill>
                  <a:srgbClr val="4E5A68"/>
                </a:solidFill>
                <a:latin typeface="IBM Plex Sans"/>
              </a:rPr>
              <a:t>300 Bäume, random_state = 42. Die Unterschiede sind klein; entscheidend ist die zeitliche Prüfung.</a:t>
            </a:r>
          </a:p>
        </p:txBody>
      </p:sp>
      <p:cxnSp>
        <p:nvCxnSpPr>
          <p:cNvPr id="6" name="Fußlinie"/>
          <p:cNvCxnSpPr/>
          <p:nvPr/>
        </p:nvCxnSpPr>
        <p:spPr>
          <a:xfrm>
            <a:off x="0" y="6153150"/>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7" name="Logo" descr="image.png"/>
          <p:cNvPicPr>
            <a:picLocks noChangeAspect="1"/>
          </p:cNvPicPr>
          <p:nvPr/>
        </p:nvPicPr>
        <p:blipFill>
          <a:blip r:embed="rId2"/>
          <a:stretch>
            <a:fillRect/>
          </a:stretch>
        </p:blipFill>
        <p:spPr>
          <a:xfrm>
            <a:off x="685800" y="6362700"/>
            <a:ext cx="715863" cy="247650"/>
          </a:xfrm>
          <a:prstGeom prst="rect">
            <a:avLst/>
          </a:prstGeom>
        </p:spPr>
      </p:pic>
      <p:sp>
        <p:nvSpPr>
          <p:cNvPr id="8" name="TextBox 7"/>
          <p:cNvSpPr txBox="1"/>
          <p:nvPr/>
        </p:nvSpPr>
        <p:spPr>
          <a:xfrm>
            <a:off x="1562100" y="6391275"/>
            <a:ext cx="2891790"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a:t>
            </a:r>
          </a:p>
        </p:txBody>
      </p:sp>
      <p:sp>
        <p:nvSpPr>
          <p:cNvPr id="9" name="Seitenzahl"/>
          <p:cNvSpPr txBox="1"/>
          <p:nvPr/>
        </p:nvSpPr>
        <p:spPr>
          <a:xfrm>
            <a:off x="10835640" y="6391275"/>
            <a:ext cx="67056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B1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00718E"/>
                </a:solidFill>
                <a:latin typeface="IBM Plex Sans"/>
              </a:rPr>
              <a:t>BACKUP · MERKMALE · KIKO</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141A21"/>
                </a:solidFill>
                <a:latin typeface="IBM Plex Sans"/>
              </a:rPr>
              <a:t>Lag-Merkmale verschieben bekannte Historie nach vorn</a:t>
            </a:r>
          </a:p>
        </p:txBody>
      </p:sp>
      <p:sp>
        <p:nvSpPr>
          <p:cNvPr id="4" name="Rounded Rectangle 3"/>
          <p:cNvSpPr/>
          <p:nvPr/>
        </p:nvSpPr>
        <p:spPr>
          <a:xfrm>
            <a:off x="685800" y="1524000"/>
            <a:ext cx="5943600" cy="3596191"/>
          </a:xfrm>
          <a:prstGeom prst="roundRect">
            <a:avLst>
              <a:gd name="adj" fmla="val 2648"/>
            </a:avLst>
          </a:prstGeom>
          <a:solidFill>
            <a:srgbClr val="FFFFFF"/>
          </a:solidFill>
          <a:ln w="9525">
            <a:solidFill>
              <a:srgbClr val="D2DAE2"/>
            </a:solidFill>
          </a:ln>
          <a:effectLst/>
        </p:spPr>
        <p:txBody>
          <a:bodyPr rtlCol="0" anchor="ctr"/>
          <a:lstStyle/>
          <a:p>
            <a:pPr algn="ctr"/>
          </a:p>
        </p:txBody>
      </p:sp>
      <p:pic>
        <p:nvPicPr>
          <p:cNvPr id="5" name="Diagramm Lag-Merkmale" descr="s15_svg01.png"/>
          <p:cNvPicPr>
            <a:picLocks noChangeAspect="1"/>
          </p:cNvPicPr>
          <p:nvPr/>
        </p:nvPicPr>
        <p:blipFill>
          <a:blip r:embed="rId2"/>
          <a:stretch>
            <a:fillRect/>
          </a:stretch>
        </p:blipFill>
        <p:spPr>
          <a:xfrm>
            <a:off x="800100" y="1638300"/>
            <a:ext cx="5715000" cy="3367591"/>
          </a:xfrm>
          <a:prstGeom prst="rect">
            <a:avLst/>
          </a:prstGeom>
        </p:spPr>
      </p:pic>
      <p:sp>
        <p:nvSpPr>
          <p:cNvPr id="6" name="Rounded Rectangle 5"/>
          <p:cNvSpPr/>
          <p:nvPr/>
        </p:nvSpPr>
        <p:spPr>
          <a:xfrm>
            <a:off x="6934200" y="1524000"/>
            <a:ext cx="4572000" cy="1219200"/>
          </a:xfrm>
          <a:prstGeom prst="roundRect">
            <a:avLst>
              <a:gd name="adj" fmla="val 7812"/>
            </a:avLst>
          </a:prstGeom>
          <a:solidFill>
            <a:srgbClr val="FFFFFF"/>
          </a:solidFill>
          <a:ln w="9525">
            <a:solidFill>
              <a:srgbClr val="D2DAE2"/>
            </a:solidFill>
          </a:ln>
          <a:effectLst/>
        </p:spPr>
        <p:txBody>
          <a:bodyPr rtlCol="0" anchor="ctr"/>
          <a:lstStyle/>
          <a:p>
            <a:pPr algn="ctr"/>
          </a:p>
        </p:txBody>
      </p:sp>
      <p:sp>
        <p:nvSpPr>
          <p:cNvPr id="7" name="TextBox 6"/>
          <p:cNvSpPr txBox="1"/>
          <p:nvPr/>
        </p:nvSpPr>
        <p:spPr>
          <a:xfrm>
            <a:off x="7162800" y="1733550"/>
            <a:ext cx="4114800" cy="222885"/>
          </a:xfrm>
          <a:prstGeom prst="rect">
            <a:avLst/>
          </a:prstGeom>
          <a:noFill/>
        </p:spPr>
        <p:txBody>
          <a:bodyPr wrap="square" lIns="0" rIns="0" tIns="0" bIns="0" anchor="t">
            <a:noAutofit/>
          </a:bodyPr>
          <a:lstStyle/>
          <a:p>
            <a:pPr algn="l">
              <a:lnSpc>
                <a:spcPts val="1755"/>
              </a:lnSpc>
            </a:pPr>
            <a:r>
              <a:rPr sz="1350" b="1" i="0" lang="de-DE">
                <a:solidFill>
                  <a:srgbClr val="141A21"/>
                </a:solidFill>
                <a:latin typeface="IBM Plex Sans"/>
              </a:rPr>
              <a:t>Januar 2024</a:t>
            </a:r>
          </a:p>
        </p:txBody>
      </p:sp>
      <p:sp>
        <p:nvSpPr>
          <p:cNvPr id="8" name="TextBox 7"/>
          <p:cNvSpPr txBox="1"/>
          <p:nvPr/>
        </p:nvSpPr>
        <p:spPr>
          <a:xfrm>
            <a:off x="7162800" y="2032635"/>
            <a:ext cx="4114800" cy="520065"/>
          </a:xfrm>
          <a:prstGeom prst="rect">
            <a:avLst/>
          </a:prstGeom>
          <a:noFill/>
        </p:spPr>
        <p:txBody>
          <a:bodyPr wrap="square" lIns="0" rIns="0" tIns="0" bIns="0" anchor="t">
            <a:noAutofit/>
          </a:bodyPr>
          <a:lstStyle/>
          <a:p>
            <a:pPr algn="l">
              <a:lnSpc>
                <a:spcPts val="1848"/>
              </a:lnSpc>
            </a:pPr>
            <a:r>
              <a:rPr sz="1275" b="0" i="0" lang="de-DE">
                <a:solidFill>
                  <a:srgbClr val="4E5A68"/>
                </a:solidFill>
                <a:latin typeface="IBM Plex Sans"/>
              </a:rPr>
              <a:t>Echter Kaltstart ohne Historie; bleibt leer.</a:t>
            </a:r>
          </a:p>
        </p:txBody>
      </p:sp>
      <p:sp>
        <p:nvSpPr>
          <p:cNvPr id="9" name="Rounded Rectangle 8"/>
          <p:cNvSpPr/>
          <p:nvPr/>
        </p:nvSpPr>
        <p:spPr>
          <a:xfrm>
            <a:off x="6934200" y="2876550"/>
            <a:ext cx="4572000" cy="1219200"/>
          </a:xfrm>
          <a:prstGeom prst="roundRect">
            <a:avLst>
              <a:gd name="adj" fmla="val 7812"/>
            </a:avLst>
          </a:prstGeom>
          <a:solidFill>
            <a:srgbClr val="FFFFFF"/>
          </a:solidFill>
          <a:ln w="9525">
            <a:solidFill>
              <a:srgbClr val="D2DAE2"/>
            </a:solidFill>
          </a:ln>
          <a:effectLst/>
        </p:spPr>
        <p:txBody>
          <a:bodyPr rtlCol="0" anchor="ctr"/>
          <a:lstStyle/>
          <a:p>
            <a:pPr algn="ctr"/>
          </a:p>
        </p:txBody>
      </p:sp>
      <p:sp>
        <p:nvSpPr>
          <p:cNvPr id="10" name="TextBox 9"/>
          <p:cNvSpPr txBox="1"/>
          <p:nvPr/>
        </p:nvSpPr>
        <p:spPr>
          <a:xfrm>
            <a:off x="7162800" y="3086100"/>
            <a:ext cx="4114800" cy="222885"/>
          </a:xfrm>
          <a:prstGeom prst="rect">
            <a:avLst/>
          </a:prstGeom>
          <a:noFill/>
        </p:spPr>
        <p:txBody>
          <a:bodyPr wrap="square" lIns="0" rIns="0" tIns="0" bIns="0" anchor="t">
            <a:noAutofit/>
          </a:bodyPr>
          <a:lstStyle/>
          <a:p>
            <a:pPr algn="l">
              <a:lnSpc>
                <a:spcPts val="1755"/>
              </a:lnSpc>
            </a:pPr>
            <a:r>
              <a:rPr sz="1350" b="1" i="0" lang="de-DE">
                <a:solidFill>
                  <a:srgbClr val="141A21"/>
                </a:solidFill>
                <a:latin typeface="IBM Plex Sans"/>
              </a:rPr>
              <a:t>Februar und März</a:t>
            </a:r>
          </a:p>
        </p:txBody>
      </p:sp>
      <p:sp>
        <p:nvSpPr>
          <p:cNvPr id="11" name="TextBox 10"/>
          <p:cNvSpPr txBox="1"/>
          <p:nvPr/>
        </p:nvSpPr>
        <p:spPr>
          <a:xfrm>
            <a:off x="7162800" y="3385185"/>
            <a:ext cx="4114800" cy="520065"/>
          </a:xfrm>
          <a:prstGeom prst="rect">
            <a:avLst/>
          </a:prstGeom>
          <a:noFill/>
        </p:spPr>
        <p:txBody>
          <a:bodyPr wrap="square" lIns="0" rIns="0" tIns="0" bIns="0" anchor="t">
            <a:noAutofit/>
          </a:bodyPr>
          <a:lstStyle/>
          <a:p>
            <a:pPr algn="l">
              <a:lnSpc>
                <a:spcPts val="1848"/>
              </a:lnSpc>
            </a:pPr>
            <a:r>
              <a:rPr sz="1275" b="0" i="0" lang="de-DE">
                <a:solidFill>
                  <a:srgbClr val="4E5A68"/>
                </a:solidFill>
                <a:latin typeface="IBM Plex Sans"/>
              </a:rPr>
              <a:t>Nutzen die verfügbare Historie (1 bzw. 2 Monate).</a:t>
            </a:r>
          </a:p>
        </p:txBody>
      </p:sp>
      <p:sp>
        <p:nvSpPr>
          <p:cNvPr id="12" name="Rounded Rectangle 11"/>
          <p:cNvSpPr/>
          <p:nvPr/>
        </p:nvSpPr>
        <p:spPr>
          <a:xfrm>
            <a:off x="6934200" y="4229100"/>
            <a:ext cx="4572000" cy="1219200"/>
          </a:xfrm>
          <a:prstGeom prst="roundRect">
            <a:avLst>
              <a:gd name="adj" fmla="val 7812"/>
            </a:avLst>
          </a:prstGeom>
          <a:solidFill>
            <a:srgbClr val="FFFFFF"/>
          </a:solidFill>
          <a:ln w="9525">
            <a:solidFill>
              <a:srgbClr val="D2DAE2"/>
            </a:solidFill>
          </a:ln>
          <a:effectLst/>
        </p:spPr>
        <p:txBody>
          <a:bodyPr rtlCol="0" anchor="ctr"/>
          <a:lstStyle/>
          <a:p>
            <a:pPr algn="ctr"/>
          </a:p>
        </p:txBody>
      </p:sp>
      <p:sp>
        <p:nvSpPr>
          <p:cNvPr id="13" name="TextBox 12"/>
          <p:cNvSpPr txBox="1"/>
          <p:nvPr/>
        </p:nvSpPr>
        <p:spPr>
          <a:xfrm>
            <a:off x="7162800" y="4438650"/>
            <a:ext cx="4114800" cy="222885"/>
          </a:xfrm>
          <a:prstGeom prst="rect">
            <a:avLst/>
          </a:prstGeom>
          <a:noFill/>
        </p:spPr>
        <p:txBody>
          <a:bodyPr wrap="square" lIns="0" rIns="0" tIns="0" bIns="0" anchor="t">
            <a:noAutofit/>
          </a:bodyPr>
          <a:lstStyle/>
          <a:p>
            <a:pPr algn="l">
              <a:lnSpc>
                <a:spcPts val="1755"/>
              </a:lnSpc>
            </a:pPr>
            <a:r>
              <a:rPr sz="1350" b="1" i="0" lang="de-DE">
                <a:solidFill>
                  <a:srgbClr val="141A21"/>
                </a:solidFill>
                <a:latin typeface="IBM Plex Sans"/>
              </a:rPr>
              <a:t>Ab April</a:t>
            </a:r>
          </a:p>
        </p:txBody>
      </p:sp>
      <p:sp>
        <p:nvSpPr>
          <p:cNvPr id="14" name="TextBox 13"/>
          <p:cNvSpPr txBox="1"/>
          <p:nvPr/>
        </p:nvSpPr>
        <p:spPr>
          <a:xfrm>
            <a:off x="7162800" y="4737735"/>
            <a:ext cx="4114800" cy="520065"/>
          </a:xfrm>
          <a:prstGeom prst="rect">
            <a:avLst/>
          </a:prstGeom>
          <a:noFill/>
        </p:spPr>
        <p:txBody>
          <a:bodyPr wrap="square" lIns="0" rIns="0" tIns="0" bIns="0" anchor="t">
            <a:noAutofit/>
          </a:bodyPr>
          <a:lstStyle/>
          <a:p>
            <a:pPr algn="l">
              <a:lnSpc>
                <a:spcPts val="1848"/>
              </a:lnSpc>
            </a:pPr>
            <a:r>
              <a:rPr sz="1275" b="0" i="0" lang="de-DE">
                <a:solidFill>
                  <a:srgbClr val="4E5A68"/>
                </a:solidFill>
                <a:latin typeface="IBM Plex Sans"/>
              </a:rPr>
              <a:t>Mittel aus bis zu drei abgeschlossenen Vormonaten.</a:t>
            </a:r>
          </a:p>
        </p:txBody>
      </p:sp>
      <p:sp>
        <p:nvSpPr>
          <p:cNvPr id="15" name="TextBox 14"/>
          <p:cNvSpPr txBox="1"/>
          <p:nvPr/>
        </p:nvSpPr>
        <p:spPr>
          <a:xfrm>
            <a:off x="6934200" y="5619750"/>
            <a:ext cx="4572000" cy="247650"/>
          </a:xfrm>
          <a:prstGeom prst="rect">
            <a:avLst/>
          </a:prstGeom>
          <a:noFill/>
        </p:spPr>
        <p:txBody>
          <a:bodyPr wrap="square" lIns="0" rIns="0" tIns="0" bIns="0" anchor="t">
            <a:noAutofit/>
          </a:bodyPr>
          <a:lstStyle/>
          <a:p>
            <a:pPr algn="l">
              <a:lnSpc>
                <a:spcPts val="1800"/>
              </a:lnSpc>
            </a:pPr>
            <a:r>
              <a:rPr sz="1275" b="0" i="0" lang="de-DE">
                <a:solidFill>
                  <a:srgbClr val="4E5A68"/>
                </a:solidFill>
                <a:latin typeface="IBM Plex Sans"/>
              </a:rPr>
              <a:t>1.453 Drei-Monats-Werte bleiben erhalten.</a:t>
            </a:r>
          </a:p>
        </p:txBody>
      </p:sp>
      <p:cxnSp>
        <p:nvCxnSpPr>
          <p:cNvPr id="16" name="Fußlinie"/>
          <p:cNvCxnSpPr/>
          <p:nvPr/>
        </p:nvCxnSpPr>
        <p:spPr>
          <a:xfrm>
            <a:off x="0" y="6153150"/>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17" name="Logo" descr="image.png"/>
          <p:cNvPicPr>
            <a:picLocks noChangeAspect="1"/>
          </p:cNvPicPr>
          <p:nvPr/>
        </p:nvPicPr>
        <p:blipFill>
          <a:blip r:embed="rId3"/>
          <a:stretch>
            <a:fillRect/>
          </a:stretch>
        </p:blipFill>
        <p:spPr>
          <a:xfrm>
            <a:off x="685800" y="6362700"/>
            <a:ext cx="715863" cy="247650"/>
          </a:xfrm>
          <a:prstGeom prst="rect">
            <a:avLst/>
          </a:prstGeom>
        </p:spPr>
      </p:pic>
      <p:sp>
        <p:nvSpPr>
          <p:cNvPr id="18" name="TextBox 17"/>
          <p:cNvSpPr txBox="1"/>
          <p:nvPr/>
        </p:nvSpPr>
        <p:spPr>
          <a:xfrm>
            <a:off x="1562100" y="6391275"/>
            <a:ext cx="2891790"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a:t>
            </a:r>
          </a:p>
        </p:txBody>
      </p:sp>
      <p:sp>
        <p:nvSpPr>
          <p:cNvPr id="19" name="Seitenzahl"/>
          <p:cNvSpPr txBox="1"/>
          <p:nvPr/>
        </p:nvSpPr>
        <p:spPr>
          <a:xfrm>
            <a:off x="10835640" y="6391275"/>
            <a:ext cx="67056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B2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00718E"/>
                </a:solidFill>
                <a:latin typeface="IBM Plex Sans"/>
              </a:rPr>
              <a:t>BACKUP · SCHWELLE · KIKO</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141A21"/>
                </a:solidFill>
                <a:latin typeface="IBM Plex Sans"/>
              </a:rPr>
              <a:t>Warum die Schwelle aus Nov–Dez 2024 stammt</a:t>
            </a:r>
          </a:p>
        </p:txBody>
      </p:sp>
      <p:sp>
        <p:nvSpPr>
          <p:cNvPr id="4" name="Rounded Rectangle 3"/>
          <p:cNvSpPr/>
          <p:nvPr/>
        </p:nvSpPr>
        <p:spPr>
          <a:xfrm>
            <a:off x="685800" y="1524000"/>
            <a:ext cx="3486150" cy="1905000"/>
          </a:xfrm>
          <a:prstGeom prst="roundRect">
            <a:avLst>
              <a:gd name="adj" fmla="val 5000"/>
            </a:avLst>
          </a:prstGeom>
          <a:solidFill>
            <a:srgbClr val="FFFFFF"/>
          </a:solidFill>
          <a:ln w="9525">
            <a:solidFill>
              <a:srgbClr val="D2DAE2"/>
            </a:solidFill>
          </a:ln>
          <a:effectLst/>
        </p:spPr>
        <p:txBody>
          <a:bodyPr rtlCol="0" anchor="ctr"/>
          <a:lstStyle/>
          <a:p>
            <a:pPr algn="ctr"/>
          </a:p>
        </p:txBody>
      </p:sp>
      <p:sp>
        <p:nvSpPr>
          <p:cNvPr id="5" name="TextBox 4"/>
          <p:cNvSpPr txBox="1"/>
          <p:nvPr/>
        </p:nvSpPr>
        <p:spPr>
          <a:xfrm>
            <a:off x="914400" y="1733550"/>
            <a:ext cx="3028950" cy="235268"/>
          </a:xfrm>
          <a:prstGeom prst="rect">
            <a:avLst/>
          </a:prstGeom>
          <a:noFill/>
        </p:spPr>
        <p:txBody>
          <a:bodyPr wrap="square" lIns="0" rIns="0" tIns="0" bIns="0" anchor="t">
            <a:noAutofit/>
          </a:bodyPr>
          <a:lstStyle/>
          <a:p>
            <a:pPr algn="l">
              <a:lnSpc>
                <a:spcPts val="1852"/>
              </a:lnSpc>
            </a:pPr>
            <a:r>
              <a:rPr sz="1425" b="1" i="0" lang="de-DE">
                <a:solidFill>
                  <a:srgbClr val="141A21"/>
                </a:solidFill>
                <a:latin typeface="IBM Plex Sans"/>
              </a:rPr>
              <a:t>Jüngste Monate vor dem Test</a:t>
            </a:r>
          </a:p>
        </p:txBody>
      </p:sp>
      <p:sp>
        <p:nvSpPr>
          <p:cNvPr id="6" name="TextBox 5"/>
          <p:cNvSpPr txBox="1"/>
          <p:nvPr/>
        </p:nvSpPr>
        <p:spPr>
          <a:xfrm>
            <a:off x="914400" y="2045018"/>
            <a:ext cx="3028950" cy="1193482"/>
          </a:xfrm>
          <a:prstGeom prst="rect">
            <a:avLst/>
          </a:prstGeom>
          <a:noFill/>
        </p:spPr>
        <p:txBody>
          <a:bodyPr wrap="square" lIns="0" rIns="0" tIns="0" bIns="0" anchor="t">
            <a:noAutofit/>
          </a:bodyPr>
          <a:lstStyle/>
          <a:p>
            <a:pPr algn="l">
              <a:lnSpc>
                <a:spcPts val="1957"/>
              </a:lnSpc>
            </a:pPr>
            <a:r>
              <a:rPr sz="1350" b="0" i="0" lang="de-DE">
                <a:solidFill>
                  <a:srgbClr val="4E5A68"/>
                </a:solidFill>
                <a:latin typeface="IBM Plex Sans"/>
              </a:rPr>
              <a:t>November mit einem Modell aus Jan–Okt, Dezember aus Jan–Nov.</a:t>
            </a:r>
          </a:p>
        </p:txBody>
      </p:sp>
      <p:sp>
        <p:nvSpPr>
          <p:cNvPr id="7" name="Rounded Rectangle 6"/>
          <p:cNvSpPr/>
          <p:nvPr/>
        </p:nvSpPr>
        <p:spPr>
          <a:xfrm>
            <a:off x="4352925" y="1524000"/>
            <a:ext cx="3486150" cy="1905000"/>
          </a:xfrm>
          <a:prstGeom prst="roundRect">
            <a:avLst>
              <a:gd name="adj" fmla="val 5000"/>
            </a:avLst>
          </a:prstGeom>
          <a:solidFill>
            <a:srgbClr val="FFFFFF"/>
          </a:solidFill>
          <a:ln w="9525">
            <a:solidFill>
              <a:srgbClr val="D2DAE2"/>
            </a:solidFill>
          </a:ln>
          <a:effectLst/>
        </p:spPr>
        <p:txBody>
          <a:bodyPr rtlCol="0" anchor="ctr"/>
          <a:lstStyle/>
          <a:p>
            <a:pPr algn="ctr"/>
          </a:p>
        </p:txBody>
      </p:sp>
      <p:sp>
        <p:nvSpPr>
          <p:cNvPr id="8" name="TextBox 7"/>
          <p:cNvSpPr txBox="1"/>
          <p:nvPr/>
        </p:nvSpPr>
        <p:spPr>
          <a:xfrm>
            <a:off x="4581525" y="1733550"/>
            <a:ext cx="3028950" cy="235268"/>
          </a:xfrm>
          <a:prstGeom prst="rect">
            <a:avLst/>
          </a:prstGeom>
          <a:noFill/>
        </p:spPr>
        <p:txBody>
          <a:bodyPr wrap="square" lIns="0" rIns="0" tIns="0" bIns="0" anchor="t">
            <a:noAutofit/>
          </a:bodyPr>
          <a:lstStyle/>
          <a:p>
            <a:pPr algn="l">
              <a:lnSpc>
                <a:spcPts val="1852"/>
              </a:lnSpc>
            </a:pPr>
            <a:r>
              <a:rPr sz="1425" b="1" i="0" lang="de-DE">
                <a:solidFill>
                  <a:srgbClr val="141A21"/>
                </a:solidFill>
                <a:latin typeface="IBM Plex Sans"/>
              </a:rPr>
              <a:t>Nicht für die Modellwahl genutzt</a:t>
            </a:r>
          </a:p>
        </p:txBody>
      </p:sp>
      <p:sp>
        <p:nvSpPr>
          <p:cNvPr id="9" name="TextBox 8"/>
          <p:cNvSpPr txBox="1"/>
          <p:nvPr/>
        </p:nvSpPr>
        <p:spPr>
          <a:xfrm>
            <a:off x="4581525" y="2045018"/>
            <a:ext cx="3028950" cy="1193482"/>
          </a:xfrm>
          <a:prstGeom prst="rect">
            <a:avLst/>
          </a:prstGeom>
          <a:noFill/>
        </p:spPr>
        <p:txBody>
          <a:bodyPr wrap="square" lIns="0" rIns="0" tIns="0" bIns="0" anchor="t">
            <a:noAutofit/>
          </a:bodyPr>
          <a:lstStyle/>
          <a:p>
            <a:pPr algn="l">
              <a:lnSpc>
                <a:spcPts val="1957"/>
              </a:lnSpc>
            </a:pPr>
            <a:r>
              <a:rPr sz="1350" b="0" i="0" lang="de-DE">
                <a:solidFill>
                  <a:srgbClr val="4E5A68"/>
                </a:solidFill>
                <a:latin typeface="IBM Plex Sans"/>
              </a:rPr>
              <a:t>Die Folds enden im Oktober; die Fehler sind echte Vorwärtsfehler.</a:t>
            </a:r>
          </a:p>
        </p:txBody>
      </p:sp>
      <p:sp>
        <p:nvSpPr>
          <p:cNvPr id="10" name="Rounded Rectangle 9"/>
          <p:cNvSpPr/>
          <p:nvPr/>
        </p:nvSpPr>
        <p:spPr>
          <a:xfrm>
            <a:off x="8020050" y="1524000"/>
            <a:ext cx="3486150" cy="1905000"/>
          </a:xfrm>
          <a:prstGeom prst="roundRect">
            <a:avLst>
              <a:gd name="adj" fmla="val 5000"/>
            </a:avLst>
          </a:prstGeom>
          <a:solidFill>
            <a:srgbClr val="FFFFFF"/>
          </a:solidFill>
          <a:ln w="9525">
            <a:solidFill>
              <a:srgbClr val="D2DAE2"/>
            </a:solidFill>
          </a:ln>
          <a:effectLst/>
        </p:spPr>
        <p:txBody>
          <a:bodyPr rtlCol="0" anchor="ctr"/>
          <a:lstStyle/>
          <a:p>
            <a:pPr algn="ctr"/>
          </a:p>
        </p:txBody>
      </p:sp>
      <p:sp>
        <p:nvSpPr>
          <p:cNvPr id="11" name="TextBox 10"/>
          <p:cNvSpPr txBox="1"/>
          <p:nvPr/>
        </p:nvSpPr>
        <p:spPr>
          <a:xfrm>
            <a:off x="8248650" y="1733550"/>
            <a:ext cx="3028950" cy="235268"/>
          </a:xfrm>
          <a:prstGeom prst="rect">
            <a:avLst/>
          </a:prstGeom>
          <a:noFill/>
        </p:spPr>
        <p:txBody>
          <a:bodyPr wrap="square" lIns="0" rIns="0" tIns="0" bIns="0" anchor="t">
            <a:noAutofit/>
          </a:bodyPr>
          <a:lstStyle/>
          <a:p>
            <a:pPr algn="l">
              <a:lnSpc>
                <a:spcPts val="1852"/>
              </a:lnSpc>
            </a:pPr>
            <a:r>
              <a:rPr sz="1425" b="1" i="0" lang="de-DE">
                <a:solidFill>
                  <a:srgbClr val="141A21"/>
                </a:solidFill>
                <a:latin typeface="IBM Plex Sans"/>
              </a:rPr>
              <a:t>Später geht nicht</a:t>
            </a:r>
          </a:p>
        </p:txBody>
      </p:sp>
      <p:sp>
        <p:nvSpPr>
          <p:cNvPr id="12" name="TextBox 11"/>
          <p:cNvSpPr txBox="1"/>
          <p:nvPr/>
        </p:nvSpPr>
        <p:spPr>
          <a:xfrm>
            <a:off x="8248650" y="2045018"/>
            <a:ext cx="3028950" cy="1193482"/>
          </a:xfrm>
          <a:prstGeom prst="rect">
            <a:avLst/>
          </a:prstGeom>
          <a:noFill/>
        </p:spPr>
        <p:txBody>
          <a:bodyPr wrap="square" lIns="0" rIns="0" tIns="0" bIns="0" anchor="t">
            <a:noAutofit/>
          </a:bodyPr>
          <a:lstStyle/>
          <a:p>
            <a:pPr algn="l">
              <a:lnSpc>
                <a:spcPts val="1957"/>
              </a:lnSpc>
            </a:pPr>
            <a:r>
              <a:rPr sz="1350" b="0" i="0" lang="de-DE">
                <a:solidFill>
                  <a:srgbClr val="4E5A68"/>
                </a:solidFill>
                <a:latin typeface="IBM Plex Sans"/>
              </a:rPr>
              <a:t>Jede spätere Wahl würde 2025 selbst verwenden, also Leakage.</a:t>
            </a:r>
          </a:p>
        </p:txBody>
      </p:sp>
      <p:sp>
        <p:nvSpPr>
          <p:cNvPr id="13" name="Rounded Rectangle 12"/>
          <p:cNvSpPr/>
          <p:nvPr/>
        </p:nvSpPr>
        <p:spPr>
          <a:xfrm>
            <a:off x="685800" y="3657600"/>
            <a:ext cx="3486150" cy="1905000"/>
          </a:xfrm>
          <a:prstGeom prst="roundRect">
            <a:avLst>
              <a:gd name="adj" fmla="val 5000"/>
            </a:avLst>
          </a:prstGeom>
          <a:solidFill>
            <a:srgbClr val="FFFFFF"/>
          </a:solidFill>
          <a:ln w="9525">
            <a:solidFill>
              <a:srgbClr val="D2DAE2"/>
            </a:solidFill>
          </a:ln>
          <a:effectLst/>
        </p:spPr>
        <p:txBody>
          <a:bodyPr rtlCol="0" anchor="ctr"/>
          <a:lstStyle/>
          <a:p>
            <a:pPr algn="ctr"/>
          </a:p>
        </p:txBody>
      </p:sp>
      <p:sp>
        <p:nvSpPr>
          <p:cNvPr id="14" name="TextBox 13"/>
          <p:cNvSpPr txBox="1"/>
          <p:nvPr/>
        </p:nvSpPr>
        <p:spPr>
          <a:xfrm>
            <a:off x="933450" y="3886200"/>
            <a:ext cx="2990850" cy="228600"/>
          </a:xfrm>
          <a:prstGeom prst="rect">
            <a:avLst/>
          </a:prstGeom>
          <a:noFill/>
        </p:spPr>
        <p:txBody>
          <a:bodyPr wrap="square" lIns="0" rIns="0" tIns="0" bIns="0" anchor="t">
            <a:noAutofit/>
          </a:bodyPr>
          <a:lstStyle/>
          <a:p>
            <a:pPr algn="l">
              <a:lnSpc>
                <a:spcPts val="1800"/>
              </a:lnSpc>
            </a:pPr>
            <a:r>
              <a:rPr sz="1350" b="0" i="0" lang="de-DE">
                <a:solidFill>
                  <a:srgbClr val="4E5A68"/>
                </a:solidFill>
                <a:latin typeface="IBM Plex Sans"/>
              </a:rPr>
              <a:t>Kalibriert Nov–Dez 2024</a:t>
            </a:r>
          </a:p>
        </p:txBody>
      </p:sp>
      <p:sp>
        <p:nvSpPr>
          <p:cNvPr id="15" name="TextBox 14"/>
          <p:cNvSpPr txBox="1"/>
          <p:nvPr/>
        </p:nvSpPr>
        <p:spPr>
          <a:xfrm>
            <a:off x="933450" y="4171950"/>
            <a:ext cx="1341120" cy="495300"/>
          </a:xfrm>
          <a:prstGeom prst="rect">
            <a:avLst/>
          </a:prstGeom>
          <a:noFill/>
        </p:spPr>
        <p:txBody>
          <a:bodyPr wrap="none" lIns="0" rIns="0" tIns="0" bIns="0" anchor="t">
            <a:noAutofit/>
          </a:bodyPr>
          <a:lstStyle/>
          <a:p>
            <a:pPr algn="l">
              <a:lnSpc>
                <a:spcPts val="3900"/>
              </a:lnSpc>
            </a:pPr>
            <a:r>
              <a:rPr sz="3000" b="1" i="0" lang="de-DE">
                <a:solidFill>
                  <a:srgbClr val="141A21"/>
                </a:solidFill>
                <a:latin typeface="Geist Mono"/>
              </a:rPr>
              <a:t>144,4</a:t>
            </a:r>
          </a:p>
        </p:txBody>
      </p:sp>
      <p:sp>
        <p:nvSpPr>
          <p:cNvPr id="16" name="TextBox 15"/>
          <p:cNvSpPr txBox="1"/>
          <p:nvPr/>
        </p:nvSpPr>
        <p:spPr>
          <a:xfrm>
            <a:off x="2190750" y="4343400"/>
            <a:ext cx="611886" cy="228600"/>
          </a:xfrm>
          <a:prstGeom prst="rect">
            <a:avLst/>
          </a:prstGeom>
          <a:noFill/>
        </p:spPr>
        <p:txBody>
          <a:bodyPr wrap="none" lIns="0" rIns="0" tIns="0" bIns="0" anchor="t">
            <a:noAutofit/>
          </a:bodyPr>
          <a:lstStyle/>
          <a:p>
            <a:pPr algn="l">
              <a:lnSpc>
                <a:spcPts val="1800"/>
              </a:lnSpc>
            </a:pPr>
            <a:r>
              <a:rPr sz="1350" b="1" i="0" lang="de-DE">
                <a:solidFill>
                  <a:srgbClr val="657383"/>
                </a:solidFill>
                <a:latin typeface="IBM Plex Sans"/>
              </a:rPr>
              <a:t>VLS-h</a:t>
            </a:r>
          </a:p>
        </p:txBody>
      </p:sp>
      <p:sp>
        <p:nvSpPr>
          <p:cNvPr id="17" name="TextBox 16"/>
          <p:cNvSpPr txBox="1"/>
          <p:nvPr/>
        </p:nvSpPr>
        <p:spPr>
          <a:xfrm>
            <a:off x="933450" y="4724400"/>
            <a:ext cx="2990850" cy="685800"/>
          </a:xfrm>
          <a:prstGeom prst="rect">
            <a:avLst/>
          </a:prstGeom>
          <a:noFill/>
        </p:spPr>
        <p:txBody>
          <a:bodyPr wrap="square" lIns="0" rIns="0" tIns="0" bIns="0" anchor="t">
            <a:noAutofit/>
          </a:bodyPr>
          <a:lstStyle/>
          <a:p>
            <a:pPr algn="l">
              <a:lnSpc>
                <a:spcPts val="1650"/>
              </a:lnSpc>
            </a:pPr>
            <a:r>
              <a:rPr sz="1200" b="0" i="0" lang="de-DE">
                <a:solidFill>
                  <a:srgbClr val="4E5A68"/>
                </a:solidFill>
                <a:latin typeface="IBM Plex Sans"/>
              </a:rPr>
              <a:t>q99 aus 1.397 Fehlern, eingefroren</a:t>
            </a:r>
          </a:p>
        </p:txBody>
      </p:sp>
      <p:sp>
        <p:nvSpPr>
          <p:cNvPr id="18" name="Rounded Rectangle 17"/>
          <p:cNvSpPr/>
          <p:nvPr/>
        </p:nvSpPr>
        <p:spPr>
          <a:xfrm>
            <a:off x="4352925" y="3657600"/>
            <a:ext cx="3486150" cy="1905000"/>
          </a:xfrm>
          <a:prstGeom prst="roundRect">
            <a:avLst>
              <a:gd name="adj" fmla="val 5000"/>
            </a:avLst>
          </a:prstGeom>
          <a:solidFill>
            <a:srgbClr val="FFFFFF"/>
          </a:solidFill>
          <a:ln w="9525">
            <a:solidFill>
              <a:srgbClr val="D2DAE2"/>
            </a:solidFill>
          </a:ln>
          <a:effectLst/>
        </p:spPr>
        <p:txBody>
          <a:bodyPr rtlCol="0" anchor="ctr"/>
          <a:lstStyle/>
          <a:p>
            <a:pPr algn="ctr"/>
          </a:p>
        </p:txBody>
      </p:sp>
      <p:sp>
        <p:nvSpPr>
          <p:cNvPr id="19" name="TextBox 18"/>
          <p:cNvSpPr txBox="1"/>
          <p:nvPr/>
        </p:nvSpPr>
        <p:spPr>
          <a:xfrm>
            <a:off x="4600575" y="3886200"/>
            <a:ext cx="2990850" cy="228600"/>
          </a:xfrm>
          <a:prstGeom prst="rect">
            <a:avLst/>
          </a:prstGeom>
          <a:noFill/>
        </p:spPr>
        <p:txBody>
          <a:bodyPr wrap="square" lIns="0" rIns="0" tIns="0" bIns="0" anchor="t">
            <a:noAutofit/>
          </a:bodyPr>
          <a:lstStyle/>
          <a:p>
            <a:pPr algn="l">
              <a:lnSpc>
                <a:spcPts val="1800"/>
              </a:lnSpc>
            </a:pPr>
            <a:r>
              <a:rPr sz="1350" b="0" i="0" lang="de-DE">
                <a:solidFill>
                  <a:srgbClr val="4E5A68"/>
                </a:solidFill>
                <a:latin typeface="IBM Plex Sans"/>
              </a:rPr>
              <a:t>Nachträglich aus 2025</a:t>
            </a:r>
          </a:p>
        </p:txBody>
      </p:sp>
      <p:sp>
        <p:nvSpPr>
          <p:cNvPr id="20" name="TextBox 19"/>
          <p:cNvSpPr txBox="1"/>
          <p:nvPr/>
        </p:nvSpPr>
        <p:spPr>
          <a:xfrm>
            <a:off x="4600575" y="4171950"/>
            <a:ext cx="1341120" cy="495300"/>
          </a:xfrm>
          <a:prstGeom prst="rect">
            <a:avLst/>
          </a:prstGeom>
          <a:noFill/>
        </p:spPr>
        <p:txBody>
          <a:bodyPr wrap="none" lIns="0" rIns="0" tIns="0" bIns="0" anchor="t">
            <a:noAutofit/>
          </a:bodyPr>
          <a:lstStyle/>
          <a:p>
            <a:pPr algn="l">
              <a:lnSpc>
                <a:spcPts val="3900"/>
              </a:lnSpc>
            </a:pPr>
            <a:r>
              <a:rPr sz="3000" b="1" i="0" lang="de-DE">
                <a:solidFill>
                  <a:srgbClr val="141A21"/>
                </a:solidFill>
                <a:latin typeface="Geist Mono"/>
              </a:rPr>
              <a:t>175,1</a:t>
            </a:r>
          </a:p>
        </p:txBody>
      </p:sp>
      <p:sp>
        <p:nvSpPr>
          <p:cNvPr id="21" name="TextBox 20"/>
          <p:cNvSpPr txBox="1"/>
          <p:nvPr/>
        </p:nvSpPr>
        <p:spPr>
          <a:xfrm>
            <a:off x="5857875" y="4343400"/>
            <a:ext cx="611886" cy="228600"/>
          </a:xfrm>
          <a:prstGeom prst="rect">
            <a:avLst/>
          </a:prstGeom>
          <a:noFill/>
        </p:spPr>
        <p:txBody>
          <a:bodyPr wrap="none" lIns="0" rIns="0" tIns="0" bIns="0" anchor="t">
            <a:noAutofit/>
          </a:bodyPr>
          <a:lstStyle/>
          <a:p>
            <a:pPr algn="l">
              <a:lnSpc>
                <a:spcPts val="1800"/>
              </a:lnSpc>
            </a:pPr>
            <a:r>
              <a:rPr sz="1350" b="1" i="0" lang="de-DE">
                <a:solidFill>
                  <a:srgbClr val="657383"/>
                </a:solidFill>
                <a:latin typeface="IBM Plex Sans"/>
              </a:rPr>
              <a:t>VLS-h</a:t>
            </a:r>
          </a:p>
        </p:txBody>
      </p:sp>
      <p:sp>
        <p:nvSpPr>
          <p:cNvPr id="22" name="TextBox 21"/>
          <p:cNvSpPr txBox="1"/>
          <p:nvPr/>
        </p:nvSpPr>
        <p:spPr>
          <a:xfrm>
            <a:off x="4600575" y="4724400"/>
            <a:ext cx="2990850" cy="685800"/>
          </a:xfrm>
          <a:prstGeom prst="rect">
            <a:avLst/>
          </a:prstGeom>
          <a:noFill/>
        </p:spPr>
        <p:txBody>
          <a:bodyPr wrap="square" lIns="0" rIns="0" tIns="0" bIns="0" anchor="t">
            <a:noAutofit/>
          </a:bodyPr>
          <a:lstStyle/>
          <a:p>
            <a:pPr algn="l">
              <a:lnSpc>
                <a:spcPts val="1650"/>
              </a:lnSpc>
            </a:pPr>
            <a:r>
              <a:rPr sz="1200" b="0" i="0" lang="de-DE">
                <a:solidFill>
                  <a:srgbClr val="4E5A68"/>
                </a:solidFill>
                <a:latin typeface="IBM Plex Sans"/>
              </a:rPr>
              <a:t>wäre Leakage, nur zur Einordnung</a:t>
            </a:r>
          </a:p>
        </p:txBody>
      </p:sp>
      <p:sp>
        <p:nvSpPr>
          <p:cNvPr id="23" name="Rounded Rectangle 22"/>
          <p:cNvSpPr/>
          <p:nvPr/>
        </p:nvSpPr>
        <p:spPr>
          <a:xfrm>
            <a:off x="8020050" y="3657600"/>
            <a:ext cx="3486150" cy="1905000"/>
          </a:xfrm>
          <a:prstGeom prst="roundRect">
            <a:avLst>
              <a:gd name="adj" fmla="val 5000"/>
            </a:avLst>
          </a:prstGeom>
          <a:solidFill>
            <a:srgbClr val="FFFFFF"/>
          </a:solidFill>
          <a:ln w="9525">
            <a:solidFill>
              <a:srgbClr val="D2DAE2"/>
            </a:solidFill>
          </a:ln>
          <a:effectLst/>
        </p:spPr>
        <p:txBody>
          <a:bodyPr rtlCol="0" anchor="ctr"/>
          <a:lstStyle/>
          <a:p>
            <a:pPr algn="ctr"/>
          </a:p>
        </p:txBody>
      </p:sp>
      <p:sp>
        <p:nvSpPr>
          <p:cNvPr id="24" name="TextBox 23"/>
          <p:cNvSpPr txBox="1"/>
          <p:nvPr/>
        </p:nvSpPr>
        <p:spPr>
          <a:xfrm>
            <a:off x="8267700" y="3886200"/>
            <a:ext cx="2990850" cy="228600"/>
          </a:xfrm>
          <a:prstGeom prst="rect">
            <a:avLst/>
          </a:prstGeom>
          <a:noFill/>
        </p:spPr>
        <p:txBody>
          <a:bodyPr wrap="square" lIns="0" rIns="0" tIns="0" bIns="0" anchor="t">
            <a:noAutofit/>
          </a:bodyPr>
          <a:lstStyle/>
          <a:p>
            <a:pPr algn="l">
              <a:lnSpc>
                <a:spcPts val="1800"/>
              </a:lnSpc>
            </a:pPr>
            <a:r>
              <a:rPr sz="1350" b="0" i="0" lang="de-DE">
                <a:solidFill>
                  <a:srgbClr val="4E5A68"/>
                </a:solidFill>
                <a:latin typeface="IBM Plex Sans"/>
              </a:rPr>
              <a:t>Typischer Fehler (Median)</a:t>
            </a:r>
          </a:p>
        </p:txBody>
      </p:sp>
      <p:sp>
        <p:nvSpPr>
          <p:cNvPr id="25" name="TextBox 24"/>
          <p:cNvSpPr txBox="1"/>
          <p:nvPr/>
        </p:nvSpPr>
        <p:spPr>
          <a:xfrm>
            <a:off x="8267700" y="4171950"/>
            <a:ext cx="2950464" cy="495300"/>
          </a:xfrm>
          <a:prstGeom prst="rect">
            <a:avLst/>
          </a:prstGeom>
          <a:noFill/>
        </p:spPr>
        <p:txBody>
          <a:bodyPr wrap="none" lIns="0" rIns="0" tIns="0" bIns="0" anchor="t">
            <a:noAutofit/>
          </a:bodyPr>
          <a:lstStyle/>
          <a:p>
            <a:pPr algn="l">
              <a:lnSpc>
                <a:spcPts val="3900"/>
              </a:lnSpc>
            </a:pPr>
            <a:r>
              <a:rPr sz="3000" b="1" i="0" lang="de-DE">
                <a:solidFill>
                  <a:srgbClr val="141A21"/>
                </a:solidFill>
                <a:latin typeface="Geist Mono"/>
              </a:rPr>
              <a:t>17,3 → 17,1</a:t>
            </a:r>
          </a:p>
        </p:txBody>
      </p:sp>
      <p:sp>
        <p:nvSpPr>
          <p:cNvPr id="26" name="TextBox 25"/>
          <p:cNvSpPr txBox="1"/>
          <p:nvPr/>
        </p:nvSpPr>
        <p:spPr>
          <a:xfrm>
            <a:off x="8267700" y="4724400"/>
            <a:ext cx="2990850" cy="685800"/>
          </a:xfrm>
          <a:prstGeom prst="rect">
            <a:avLst/>
          </a:prstGeom>
          <a:noFill/>
        </p:spPr>
        <p:txBody>
          <a:bodyPr wrap="square" lIns="0" rIns="0" tIns="0" bIns="0" anchor="t">
            <a:noAutofit/>
          </a:bodyPr>
          <a:lstStyle/>
          <a:p>
            <a:pPr algn="l">
              <a:lnSpc>
                <a:spcPts val="1650"/>
              </a:lnSpc>
            </a:pPr>
            <a:r>
              <a:rPr sz="1200" b="0" i="0" lang="de-DE">
                <a:solidFill>
                  <a:srgbClr val="4E5A68"/>
                </a:solidFill>
                <a:latin typeface="IBM Plex Sans"/>
              </a:rPr>
              <a:t>Kalibrierung gegen 2025: gleich groß</a:t>
            </a:r>
          </a:p>
        </p:txBody>
      </p:sp>
      <p:cxnSp>
        <p:nvCxnSpPr>
          <p:cNvPr id="27" name="Fußlinie"/>
          <p:cNvCxnSpPr/>
          <p:nvPr/>
        </p:nvCxnSpPr>
        <p:spPr>
          <a:xfrm>
            <a:off x="0" y="6153150"/>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28" name="Logo" descr="image.png"/>
          <p:cNvPicPr>
            <a:picLocks noChangeAspect="1"/>
          </p:cNvPicPr>
          <p:nvPr/>
        </p:nvPicPr>
        <p:blipFill>
          <a:blip r:embed="rId2"/>
          <a:stretch>
            <a:fillRect/>
          </a:stretch>
        </p:blipFill>
        <p:spPr>
          <a:xfrm>
            <a:off x="685800" y="6362700"/>
            <a:ext cx="715863" cy="247650"/>
          </a:xfrm>
          <a:prstGeom prst="rect">
            <a:avLst/>
          </a:prstGeom>
        </p:spPr>
      </p:pic>
      <p:sp>
        <p:nvSpPr>
          <p:cNvPr id="29" name="TextBox 28"/>
          <p:cNvSpPr txBox="1"/>
          <p:nvPr/>
        </p:nvSpPr>
        <p:spPr>
          <a:xfrm>
            <a:off x="1562100" y="6391275"/>
            <a:ext cx="2891790"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a:t>
            </a:r>
          </a:p>
        </p:txBody>
      </p:sp>
      <p:sp>
        <p:nvSpPr>
          <p:cNvPr id="30" name="Seitenzahl"/>
          <p:cNvSpPr txBox="1"/>
          <p:nvPr/>
        </p:nvSpPr>
        <p:spPr>
          <a:xfrm>
            <a:off x="10835640" y="6391275"/>
            <a:ext cx="67056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B3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abel"/>
          <p:cNvSpPr txBox="1"/>
          <p:nvPr/>
        </p:nvSpPr>
        <p:spPr>
          <a:xfrm>
            <a:off x="685800" y="457200"/>
            <a:ext cx="8591550" cy="190500"/>
          </a:xfrm>
          <a:prstGeom prst="rect">
            <a:avLst/>
          </a:prstGeom>
          <a:noFill/>
        </p:spPr>
        <p:txBody>
          <a:bodyPr wrap="none" lIns="0" rIns="0" tIns="0" bIns="0" anchor="t">
            <a:noAutofit/>
          </a:bodyPr>
          <a:lstStyle/>
          <a:p>
            <a:pPr algn="l">
              <a:lnSpc>
                <a:spcPts val="1500"/>
              </a:lnSpc>
            </a:pPr>
            <a:r>
              <a:rPr sz="1200" b="1" i="0" lang="de-DE" spc="120">
                <a:solidFill>
                  <a:srgbClr val="00718E"/>
                </a:solidFill>
                <a:latin typeface="IBM Plex Sans"/>
              </a:rPr>
              <a:t>BACKUP · ML CANVAS · KIKO</a:t>
            </a:r>
          </a:p>
        </p:txBody>
      </p:sp>
      <p:sp>
        <p:nvSpPr>
          <p:cNvPr id="3" name="Titel"/>
          <p:cNvSpPr txBox="1"/>
          <p:nvPr/>
        </p:nvSpPr>
        <p:spPr>
          <a:xfrm>
            <a:off x="685800" y="762000"/>
            <a:ext cx="10820400" cy="438150"/>
          </a:xfrm>
          <a:prstGeom prst="rect">
            <a:avLst/>
          </a:prstGeom>
          <a:noFill/>
        </p:spPr>
        <p:txBody>
          <a:bodyPr wrap="square" lIns="0" rIns="0" tIns="0" bIns="0" anchor="t">
            <a:noAutofit/>
          </a:bodyPr>
          <a:lstStyle/>
          <a:p>
            <a:pPr algn="l">
              <a:lnSpc>
                <a:spcPts val="3375"/>
              </a:lnSpc>
            </a:pPr>
            <a:r>
              <a:rPr sz="3000" b="1" i="0" lang="de-DE">
                <a:solidFill>
                  <a:srgbClr val="141A21"/>
                </a:solidFill>
                <a:latin typeface="IBM Plex Sans"/>
              </a:rPr>
              <a:t>ML Canvas im Wortlaut von Tabelle A1 des Berichts</a:t>
            </a:r>
          </a:p>
        </p:txBody>
      </p:sp>
      <p:graphicFrame>
        <p:nvGraphicFramePr>
          <p:cNvPr id="4" name="Tabelle Canvas"/>
          <p:cNvGraphicFramePr>
            <a:graphicFrameLocks noGrp="1"/>
          </p:cNvGraphicFramePr>
          <p:nvPr/>
        </p:nvGraphicFramePr>
        <p:xfrm>
          <a:off x="685800" y="1428750"/>
          <a:ext cx="10820400" cy="4724400"/>
        </p:xfrm>
        <a:graphic>
          <a:graphicData uri="http://schemas.openxmlformats.org/drawingml/2006/table">
            <a:tbl>
              <a:tblPr>
                <a:tableStyleId>{5C22544A-7EE6-4342-B048-85BDC9FD1C3A}</a:tableStyleId>
              </a:tblPr>
              <a:tblGrid>
                <a:gridCol w="571500"/>
                <a:gridCol w="1809750"/>
                <a:gridCol w="8439150"/>
              </a:tblGrid>
              <a:tr h="342900">
                <a:tc>
                  <a:txBody>
                    <a:bodyPr/>
                    <a:lstStyle/>
                    <a:p>
                      <a:pPr algn="l">
                        <a:lnSpc>
                          <a:spcPts val="1364"/>
                        </a:lnSpc>
                      </a:pPr>
                      <a:r>
                        <a:rPr sz="1050" b="1" i="0">
                          <a:solidFill>
                            <a:srgbClr val="FFFFFF"/>
                          </a:solidFill>
                          <a:latin typeface="IBM Plex Sans"/>
                        </a:rPr>
                        <a:t>Nr.</a:t>
                      </a:r>
                    </a:p>
                  </a:txBody>
                  <a:tcPr marL="114300" marR="114300" marT="38100" marB="38100" anchor="ctr">
                    <a:lnL w="9525">
                      <a:solidFill>
                        <a:srgbClr val="D2DAE2"/>
                      </a:solidFill>
                    </a:lnL>
                    <a:lnR w="0">
                      <a:noFill/>
                    </a:lnR>
                    <a:lnT w="9525">
                      <a:solidFill>
                        <a:srgbClr val="D2DAE2"/>
                      </a:solidFill>
                    </a:lnT>
                    <a:lnB w="0">
                      <a:noFill/>
                    </a:lnB>
                    <a:solidFill>
                      <a:srgbClr val="04263F"/>
                    </a:solidFill>
                  </a:tcPr>
                </a:tc>
                <a:tc>
                  <a:txBody>
                    <a:bodyPr/>
                    <a:lstStyle/>
                    <a:p>
                      <a:pPr algn="l">
                        <a:lnSpc>
                          <a:spcPts val="1364"/>
                        </a:lnSpc>
                      </a:pPr>
                      <a:r>
                        <a:rPr sz="1050" b="1" i="0">
                          <a:solidFill>
                            <a:srgbClr val="FFFFFF"/>
                          </a:solidFill>
                          <a:latin typeface="IBM Plex Sans"/>
                        </a:rPr>
                        <a:t>Feld</a:t>
                      </a:r>
                    </a:p>
                  </a:txBody>
                  <a:tcPr marL="114300" marR="114300" marT="38100" marB="38100" anchor="ctr">
                    <a:lnL w="0">
                      <a:noFill/>
                    </a:lnL>
                    <a:lnR w="0">
                      <a:noFill/>
                    </a:lnR>
                    <a:lnT w="9525">
                      <a:solidFill>
                        <a:srgbClr val="D2DAE2"/>
                      </a:solidFill>
                    </a:lnT>
                    <a:lnB w="0">
                      <a:noFill/>
                    </a:lnB>
                    <a:solidFill>
                      <a:srgbClr val="04263F"/>
                    </a:solidFill>
                  </a:tcPr>
                </a:tc>
                <a:tc>
                  <a:txBody>
                    <a:bodyPr/>
                    <a:lstStyle/>
                    <a:p>
                      <a:pPr algn="l">
                        <a:lnSpc>
                          <a:spcPts val="1364"/>
                        </a:lnSpc>
                      </a:pPr>
                      <a:r>
                        <a:rPr sz="1050" b="1" i="0">
                          <a:solidFill>
                            <a:srgbClr val="FFFFFF"/>
                          </a:solidFill>
                          <a:latin typeface="IBM Plex Sans"/>
                        </a:rPr>
                        <a:t>Wortlaut (Bericht, Tab. A1)</a:t>
                      </a:r>
                    </a:p>
                  </a:txBody>
                  <a:tcPr marL="114300" marR="114300" marT="38100" marB="38100" anchor="ctr">
                    <a:lnL w="0">
                      <a:noFill/>
                    </a:lnL>
                    <a:lnR w="9525">
                      <a:solidFill>
                        <a:srgbClr val="D2DAE2"/>
                      </a:solidFill>
                    </a:lnR>
                    <a:lnT w="9525">
                      <a:solidFill>
                        <a:srgbClr val="D2DAE2"/>
                      </a:solidFill>
                    </a:lnT>
                    <a:lnB w="0">
                      <a:noFill/>
                    </a:lnB>
                    <a:solidFill>
                      <a:srgbClr val="04263F"/>
                    </a:solidFill>
                  </a:tcPr>
                </a:tc>
              </a:tr>
              <a:tr h="438150">
                <a:tc>
                  <a:txBody>
                    <a:bodyPr/>
                    <a:lstStyle/>
                    <a:p>
                      <a:pPr algn="l">
                        <a:lnSpc>
                          <a:spcPts val="1364"/>
                        </a:lnSpc>
                      </a:pPr>
                      <a:r>
                        <a:rPr sz="1050" b="0" i="0">
                          <a:solidFill>
                            <a:srgbClr val="141A21"/>
                          </a:solidFill>
                          <a:latin typeface="IBM Plex Sans"/>
                        </a:rPr>
                        <a:t>01</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l">
                        <a:lnSpc>
                          <a:spcPts val="1364"/>
                        </a:lnSpc>
                      </a:pPr>
                      <a:r>
                        <a:rPr sz="1050" b="0" i="0">
                          <a:solidFill>
                            <a:srgbClr val="141A21"/>
                          </a:solidFill>
                          <a:latin typeface="IBM Plex Sans"/>
                        </a:rPr>
                        <a:t>Mehrwert</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364"/>
                        </a:lnSpc>
                      </a:pPr>
                      <a:r>
                        <a:rPr sz="1050" b="0" i="0">
                          <a:solidFill>
                            <a:srgbClr val="141A21"/>
                          </a:solidFill>
                          <a:latin typeface="IBM Plex Sans"/>
                        </a:rPr>
                        <a:t>Genauere Folgemonatsplanung und monatliche Prüfung ungewöhnlicher Zählerwerte.</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438150">
                <a:tc>
                  <a:txBody>
                    <a:bodyPr/>
                    <a:lstStyle/>
                    <a:p>
                      <a:pPr algn="l">
                        <a:lnSpc>
                          <a:spcPts val="1364"/>
                        </a:lnSpc>
                      </a:pPr>
                      <a:r>
                        <a:rPr sz="1050" b="0" i="0">
                          <a:solidFill>
                            <a:srgbClr val="141A21"/>
                          </a:solidFill>
                          <a:latin typeface="IBM Plex Sans"/>
                        </a:rPr>
                        <a:t>02</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l">
                        <a:lnSpc>
                          <a:spcPts val="1364"/>
                        </a:lnSpc>
                      </a:pPr>
                      <a:r>
                        <a:rPr sz="1050" b="0" i="0">
                          <a:solidFill>
                            <a:srgbClr val="141A21"/>
                          </a:solidFill>
                          <a:latin typeface="IBM Plex Sans"/>
                        </a:rPr>
                        <a:t>Datenquellen</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364"/>
                        </a:lnSpc>
                      </a:pPr>
                      <a:r>
                        <a:rPr sz="1050" b="0" i="0">
                          <a:solidFill>
                            <a:srgbClr val="141A21"/>
                          </a:solidFill>
                          <a:latin typeface="IBM Plex Sans"/>
                        </a:rPr>
                        <a:t>Zählerverbräuche, Verträge, Kundentyp, Kalender, Wetter, Produktionsplan und Wartung.</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438150">
                <a:tc>
                  <a:txBody>
                    <a:bodyPr/>
                    <a:lstStyle/>
                    <a:p>
                      <a:pPr algn="l">
                        <a:lnSpc>
                          <a:spcPts val="1364"/>
                        </a:lnSpc>
                      </a:pPr>
                      <a:r>
                        <a:rPr sz="1050" b="0" i="0">
                          <a:solidFill>
                            <a:srgbClr val="141A21"/>
                          </a:solidFill>
                          <a:latin typeface="IBM Plex Sans"/>
                        </a:rPr>
                        <a:t>03</a:t>
                      </a:r>
                    </a:p>
                  </a:txBody>
                  <a:tcPr marL="114300" marR="114300" marT="38100" marB="38100" anchor="ctr">
                    <a:lnL w="9525">
                      <a:solidFill>
                        <a:srgbClr val="D2DAE2"/>
                      </a:solidFill>
                    </a:lnL>
                    <a:lnR w="0">
                      <a:noFill/>
                    </a:lnR>
                    <a:lnT w="0">
                      <a:noFill/>
                    </a:lnT>
                    <a:lnB w="9525">
                      <a:solidFill>
                        <a:srgbClr val="E4E9EF"/>
                      </a:solidFill>
                    </a:lnB>
                    <a:solidFill>
                      <a:srgbClr val="E3F3F7"/>
                    </a:solidFill>
                  </a:tcPr>
                </a:tc>
                <a:tc>
                  <a:txBody>
                    <a:bodyPr/>
                    <a:lstStyle/>
                    <a:p>
                      <a:pPr algn="l">
                        <a:lnSpc>
                          <a:spcPts val="1364"/>
                        </a:lnSpc>
                      </a:pPr>
                      <a:r>
                        <a:rPr sz="1050" b="0" i="0">
                          <a:solidFill>
                            <a:srgbClr val="141A21"/>
                          </a:solidFill>
                          <a:latin typeface="IBM Plex Sans"/>
                        </a:rPr>
                        <a:t>Vorhersage</a:t>
                      </a:r>
                    </a:p>
                  </a:txBody>
                  <a:tcPr marL="114300" marR="114300" marT="38100" marB="38100" anchor="ctr">
                    <a:lnL w="0">
                      <a:noFill/>
                    </a:lnL>
                    <a:lnR w="0">
                      <a:noFill/>
                    </a:lnR>
                    <a:lnT w="0">
                      <a:noFill/>
                    </a:lnT>
                    <a:lnB w="9525">
                      <a:solidFill>
                        <a:srgbClr val="E4E9EF"/>
                      </a:solidFill>
                    </a:lnB>
                    <a:solidFill>
                      <a:srgbClr val="E3F3F7"/>
                    </a:solidFill>
                  </a:tcPr>
                </a:tc>
                <a:tc>
                  <a:txBody>
                    <a:bodyPr/>
                    <a:lstStyle/>
                    <a:p>
                      <a:pPr algn="l">
                        <a:lnSpc>
                          <a:spcPts val="1364"/>
                        </a:lnSpc>
                      </a:pPr>
                      <a:r>
                        <a:rPr sz="1050" b="0" i="0">
                          <a:solidFill>
                            <a:srgbClr val="141A21"/>
                          </a:solidFill>
                          <a:latin typeface="IBM Plex Sans"/>
                        </a:rPr>
                        <a:t>VLS je Zähler-Monat; Rückrechnung in kWh; große Residuen werden Prüfhinweise.</a:t>
                      </a:r>
                    </a:p>
                  </a:txBody>
                  <a:tcPr marL="114300" marR="114300" marT="38100" marB="38100" anchor="ctr">
                    <a:lnL w="0">
                      <a:noFill/>
                    </a:lnL>
                    <a:lnR w="9525">
                      <a:solidFill>
                        <a:srgbClr val="D2DAE2"/>
                      </a:solidFill>
                    </a:lnR>
                    <a:lnT w="0">
                      <a:noFill/>
                    </a:lnT>
                    <a:lnB w="9525">
                      <a:solidFill>
                        <a:srgbClr val="E4E9EF"/>
                      </a:solidFill>
                    </a:lnB>
                    <a:solidFill>
                      <a:srgbClr val="E3F3F7"/>
                    </a:solidFill>
                  </a:tcPr>
                </a:tc>
              </a:tr>
              <a:tr h="438150">
                <a:tc>
                  <a:txBody>
                    <a:bodyPr/>
                    <a:lstStyle/>
                    <a:p>
                      <a:pPr algn="l">
                        <a:lnSpc>
                          <a:spcPts val="1364"/>
                        </a:lnSpc>
                      </a:pPr>
                      <a:r>
                        <a:rPr sz="1050" b="0" i="0">
                          <a:solidFill>
                            <a:srgbClr val="141A21"/>
                          </a:solidFill>
                          <a:latin typeface="IBM Plex Sans"/>
                        </a:rPr>
                        <a:t>04</a:t>
                      </a:r>
                    </a:p>
                  </a:txBody>
                  <a:tcPr marL="114300" marR="114300" marT="38100" marB="38100" anchor="ctr">
                    <a:lnL w="9525">
                      <a:solidFill>
                        <a:srgbClr val="D2DAE2"/>
                      </a:solidFill>
                    </a:lnL>
                    <a:lnR w="0">
                      <a:noFill/>
                    </a:lnR>
                    <a:lnT w="0">
                      <a:noFill/>
                    </a:lnT>
                    <a:lnB w="9525">
                      <a:solidFill>
                        <a:srgbClr val="E4E9EF"/>
                      </a:solidFill>
                    </a:lnB>
                    <a:solidFill>
                      <a:srgbClr val="E3F3F7"/>
                    </a:solidFill>
                  </a:tcPr>
                </a:tc>
                <a:tc>
                  <a:txBody>
                    <a:bodyPr/>
                    <a:lstStyle/>
                    <a:p>
                      <a:pPr algn="l">
                        <a:lnSpc>
                          <a:spcPts val="1364"/>
                        </a:lnSpc>
                      </a:pPr>
                      <a:r>
                        <a:rPr sz="1050" b="0" i="0">
                          <a:solidFill>
                            <a:srgbClr val="141A21"/>
                          </a:solidFill>
                          <a:latin typeface="IBM Plex Sans"/>
                        </a:rPr>
                        <a:t>Merkmale</a:t>
                      </a:r>
                    </a:p>
                  </a:txBody>
                  <a:tcPr marL="114300" marR="114300" marT="38100" marB="38100" anchor="ctr">
                    <a:lnL w="0">
                      <a:noFill/>
                    </a:lnL>
                    <a:lnR w="0">
                      <a:noFill/>
                    </a:lnR>
                    <a:lnT w="0">
                      <a:noFill/>
                    </a:lnT>
                    <a:lnB w="9525">
                      <a:solidFill>
                        <a:srgbClr val="E4E9EF"/>
                      </a:solidFill>
                    </a:lnB>
                    <a:solidFill>
                      <a:srgbClr val="E3F3F7"/>
                    </a:solidFill>
                  </a:tcPr>
                </a:tc>
                <a:tc>
                  <a:txBody>
                    <a:bodyPr/>
                    <a:lstStyle/>
                    <a:p>
                      <a:pPr algn="l">
                        <a:lnSpc>
                          <a:spcPts val="1364"/>
                        </a:lnSpc>
                      </a:pPr>
                      <a:r>
                        <a:rPr sz="1050" b="0" i="0">
                          <a:solidFill>
                            <a:srgbClr val="141A21"/>
                          </a:solidFill>
                          <a:latin typeface="IBM Plex Sans"/>
                        </a:rPr>
                        <a:t>Historie, Saison, Kalender, Wetterprognose, Produktionsplan, Wartung und Kundentyp.</a:t>
                      </a:r>
                    </a:p>
                  </a:txBody>
                  <a:tcPr marL="114300" marR="114300" marT="38100" marB="38100" anchor="ctr">
                    <a:lnL w="0">
                      <a:noFill/>
                    </a:lnL>
                    <a:lnR w="9525">
                      <a:solidFill>
                        <a:srgbClr val="D2DAE2"/>
                      </a:solidFill>
                    </a:lnR>
                    <a:lnT w="0">
                      <a:noFill/>
                    </a:lnT>
                    <a:lnB w="9525">
                      <a:solidFill>
                        <a:srgbClr val="E4E9EF"/>
                      </a:solidFill>
                    </a:lnB>
                    <a:solidFill>
                      <a:srgbClr val="E3F3F7"/>
                    </a:solidFill>
                  </a:tcPr>
                </a:tc>
              </a:tr>
              <a:tr h="438150">
                <a:tc>
                  <a:txBody>
                    <a:bodyPr/>
                    <a:lstStyle/>
                    <a:p>
                      <a:pPr algn="l">
                        <a:lnSpc>
                          <a:spcPts val="1364"/>
                        </a:lnSpc>
                      </a:pPr>
                      <a:r>
                        <a:rPr sz="1050" b="0" i="0">
                          <a:solidFill>
                            <a:srgbClr val="141A21"/>
                          </a:solidFill>
                          <a:latin typeface="IBM Plex Sans"/>
                        </a:rPr>
                        <a:t>05</a:t>
                      </a:r>
                    </a:p>
                  </a:txBody>
                  <a:tcPr marL="114300" marR="114300" marT="38100" marB="38100" anchor="ctr">
                    <a:lnL w="9525">
                      <a:solidFill>
                        <a:srgbClr val="D2DAE2"/>
                      </a:solidFill>
                    </a:lnL>
                    <a:lnR w="0">
                      <a:noFill/>
                    </a:lnR>
                    <a:lnT w="0">
                      <a:noFill/>
                    </a:lnT>
                    <a:lnB w="9525">
                      <a:solidFill>
                        <a:srgbClr val="E4E9EF"/>
                      </a:solidFill>
                    </a:lnB>
                    <a:solidFill>
                      <a:srgbClr val="E3F3F7"/>
                    </a:solidFill>
                  </a:tcPr>
                </a:tc>
                <a:tc>
                  <a:txBody>
                    <a:bodyPr/>
                    <a:lstStyle/>
                    <a:p>
                      <a:pPr algn="l">
                        <a:lnSpc>
                          <a:spcPts val="1364"/>
                        </a:lnSpc>
                      </a:pPr>
                      <a:r>
                        <a:rPr sz="1050" b="0" i="0">
                          <a:solidFill>
                            <a:srgbClr val="141A21"/>
                          </a:solidFill>
                          <a:latin typeface="IBM Plex Sans"/>
                        </a:rPr>
                        <a:t>Lernansatz</a:t>
                      </a:r>
                    </a:p>
                  </a:txBody>
                  <a:tcPr marL="114300" marR="114300" marT="38100" marB="38100" anchor="ctr">
                    <a:lnL w="0">
                      <a:noFill/>
                    </a:lnL>
                    <a:lnR w="0">
                      <a:noFill/>
                    </a:lnR>
                    <a:lnT w="0">
                      <a:noFill/>
                    </a:lnT>
                    <a:lnB w="9525">
                      <a:solidFill>
                        <a:srgbClr val="E4E9EF"/>
                      </a:solidFill>
                    </a:lnB>
                    <a:solidFill>
                      <a:srgbClr val="E3F3F7"/>
                    </a:solidFill>
                  </a:tcPr>
                </a:tc>
                <a:tc>
                  <a:txBody>
                    <a:bodyPr/>
                    <a:lstStyle/>
                    <a:p>
                      <a:pPr algn="l">
                        <a:lnSpc>
                          <a:spcPts val="1364"/>
                        </a:lnSpc>
                      </a:pPr>
                      <a:r>
                        <a:rPr sz="1050" b="0" i="0">
                          <a:solidFill>
                            <a:srgbClr val="141A21"/>
                          </a:solidFill>
                          <a:latin typeface="IBM Plex Sans"/>
                        </a:rPr>
                        <a:t>Überwachte Regression; lineare Regression als Referenz, Random Forest als nichtlinearer Vergleich.</a:t>
                      </a:r>
                    </a:p>
                  </a:txBody>
                  <a:tcPr marL="114300" marR="114300" marT="38100" marB="38100" anchor="ctr">
                    <a:lnL w="0">
                      <a:noFill/>
                    </a:lnL>
                    <a:lnR w="9525">
                      <a:solidFill>
                        <a:srgbClr val="D2DAE2"/>
                      </a:solidFill>
                    </a:lnR>
                    <a:lnT w="0">
                      <a:noFill/>
                    </a:lnT>
                    <a:lnB w="9525">
                      <a:solidFill>
                        <a:srgbClr val="E4E9EF"/>
                      </a:solidFill>
                    </a:lnB>
                    <a:solidFill>
                      <a:srgbClr val="E3F3F7"/>
                    </a:solidFill>
                  </a:tcPr>
                </a:tc>
              </a:tr>
              <a:tr h="438150">
                <a:tc>
                  <a:txBody>
                    <a:bodyPr/>
                    <a:lstStyle/>
                    <a:p>
                      <a:pPr algn="l">
                        <a:lnSpc>
                          <a:spcPts val="1364"/>
                        </a:lnSpc>
                      </a:pPr>
                      <a:r>
                        <a:rPr sz="1050" b="0" i="0">
                          <a:solidFill>
                            <a:srgbClr val="141A21"/>
                          </a:solidFill>
                          <a:latin typeface="IBM Plex Sans"/>
                        </a:rPr>
                        <a:t>06</a:t>
                      </a:r>
                    </a:p>
                  </a:txBody>
                  <a:tcPr marL="114300" marR="114300" marT="38100" marB="38100" anchor="ctr">
                    <a:lnL w="9525">
                      <a:solidFill>
                        <a:srgbClr val="D2DAE2"/>
                      </a:solidFill>
                    </a:lnL>
                    <a:lnR w="0">
                      <a:noFill/>
                    </a:lnR>
                    <a:lnT w="0">
                      <a:noFill/>
                    </a:lnT>
                    <a:lnB w="9525">
                      <a:solidFill>
                        <a:srgbClr val="E4E9EF"/>
                      </a:solidFill>
                    </a:lnB>
                    <a:solidFill>
                      <a:srgbClr val="E3F3F7"/>
                    </a:solidFill>
                  </a:tcPr>
                </a:tc>
                <a:tc>
                  <a:txBody>
                    <a:bodyPr/>
                    <a:lstStyle/>
                    <a:p>
                      <a:pPr algn="l">
                        <a:lnSpc>
                          <a:spcPts val="1364"/>
                        </a:lnSpc>
                      </a:pPr>
                      <a:r>
                        <a:rPr sz="1050" b="0" i="0">
                          <a:solidFill>
                            <a:srgbClr val="141A21"/>
                          </a:solidFill>
                          <a:latin typeface="IBM Plex Sans"/>
                        </a:rPr>
                        <a:t>Evaluation</a:t>
                      </a:r>
                    </a:p>
                  </a:txBody>
                  <a:tcPr marL="114300" marR="114300" marT="38100" marB="38100" anchor="ctr">
                    <a:lnL w="0">
                      <a:noFill/>
                    </a:lnL>
                    <a:lnR w="0">
                      <a:noFill/>
                    </a:lnR>
                    <a:lnT w="0">
                      <a:noFill/>
                    </a:lnT>
                    <a:lnB w="9525">
                      <a:solidFill>
                        <a:srgbClr val="E4E9EF"/>
                      </a:solidFill>
                    </a:lnB>
                    <a:solidFill>
                      <a:srgbClr val="E3F3F7"/>
                    </a:solidFill>
                  </a:tcPr>
                </a:tc>
                <a:tc>
                  <a:txBody>
                    <a:bodyPr/>
                    <a:lstStyle/>
                    <a:p>
                      <a:pPr algn="l">
                        <a:lnSpc>
                          <a:spcPts val="1364"/>
                        </a:lnSpc>
                      </a:pPr>
                      <a:r>
                        <a:rPr sz="1050" b="0" i="0">
                          <a:solidFill>
                            <a:srgbClr val="141A21"/>
                          </a:solidFill>
                          <a:latin typeface="IBM Plex Sans"/>
                        </a:rPr>
                        <a:t>RMSE in kWh als Hauptmetrik; MAE und R² ergänzend; Vergleich mit zwei Baselines.</a:t>
                      </a:r>
                    </a:p>
                  </a:txBody>
                  <a:tcPr marL="114300" marR="114300" marT="38100" marB="38100" anchor="ctr">
                    <a:lnL w="0">
                      <a:noFill/>
                    </a:lnL>
                    <a:lnR w="9525">
                      <a:solidFill>
                        <a:srgbClr val="D2DAE2"/>
                      </a:solidFill>
                    </a:lnR>
                    <a:lnT w="0">
                      <a:noFill/>
                    </a:lnT>
                    <a:lnB w="9525">
                      <a:solidFill>
                        <a:srgbClr val="E4E9EF"/>
                      </a:solidFill>
                    </a:lnB>
                    <a:solidFill>
                      <a:srgbClr val="E3F3F7"/>
                    </a:solidFill>
                  </a:tcPr>
                </a:tc>
              </a:tr>
              <a:tr h="438150">
                <a:tc>
                  <a:txBody>
                    <a:bodyPr/>
                    <a:lstStyle/>
                    <a:p>
                      <a:pPr algn="l">
                        <a:lnSpc>
                          <a:spcPts val="1364"/>
                        </a:lnSpc>
                      </a:pPr>
                      <a:r>
                        <a:rPr sz="1050" b="0" i="0">
                          <a:solidFill>
                            <a:srgbClr val="141A21"/>
                          </a:solidFill>
                          <a:latin typeface="IBM Plex Sans"/>
                        </a:rPr>
                        <a:t>07</a:t>
                      </a:r>
                    </a:p>
                  </a:txBody>
                  <a:tcPr marL="114300" marR="114300" marT="38100" marB="38100" anchor="ctr">
                    <a:lnL w="9525">
                      <a:solidFill>
                        <a:srgbClr val="D2DAE2"/>
                      </a:solidFill>
                    </a:lnL>
                    <a:lnR w="0">
                      <a:noFill/>
                    </a:lnR>
                    <a:lnT w="0">
                      <a:noFill/>
                    </a:lnT>
                    <a:lnB w="9525">
                      <a:solidFill>
                        <a:srgbClr val="E4E9EF"/>
                      </a:solidFill>
                    </a:lnB>
                    <a:solidFill>
                      <a:srgbClr val="E3F3F7"/>
                    </a:solidFill>
                  </a:tcPr>
                </a:tc>
                <a:tc>
                  <a:txBody>
                    <a:bodyPr/>
                    <a:lstStyle/>
                    <a:p>
                      <a:pPr algn="l">
                        <a:lnSpc>
                          <a:spcPts val="1364"/>
                        </a:lnSpc>
                      </a:pPr>
                      <a:r>
                        <a:rPr sz="1050" b="0" i="0">
                          <a:solidFill>
                            <a:srgbClr val="141A21"/>
                          </a:solidFill>
                          <a:latin typeface="IBM Plex Sans"/>
                        </a:rPr>
                        <a:t>Entscheidung</a:t>
                      </a:r>
                    </a:p>
                  </a:txBody>
                  <a:tcPr marL="114300" marR="114300" marT="38100" marB="38100" anchor="ctr">
                    <a:lnL w="0">
                      <a:noFill/>
                    </a:lnL>
                    <a:lnR w="0">
                      <a:noFill/>
                    </a:lnR>
                    <a:lnT w="0">
                      <a:noFill/>
                    </a:lnT>
                    <a:lnB w="9525">
                      <a:solidFill>
                        <a:srgbClr val="E4E9EF"/>
                      </a:solidFill>
                    </a:lnB>
                    <a:solidFill>
                      <a:srgbClr val="E3F3F7"/>
                    </a:solidFill>
                  </a:tcPr>
                </a:tc>
                <a:tc>
                  <a:txBody>
                    <a:bodyPr/>
                    <a:lstStyle/>
                    <a:p>
                      <a:pPr algn="l">
                        <a:lnSpc>
                          <a:spcPts val="1364"/>
                        </a:lnSpc>
                      </a:pPr>
                      <a:r>
                        <a:rPr sz="1050" b="0" i="0">
                          <a:solidFill>
                            <a:srgbClr val="141A21"/>
                          </a:solidFill>
                          <a:latin typeface="IBM Plex Sans"/>
                        </a:rPr>
                        <a:t>Prognose unterstützt Beschaffung; Hinweis führt zur menschlichen Prüfung.</a:t>
                      </a:r>
                    </a:p>
                  </a:txBody>
                  <a:tcPr marL="114300" marR="114300" marT="38100" marB="38100" anchor="ctr">
                    <a:lnL w="0">
                      <a:noFill/>
                    </a:lnL>
                    <a:lnR w="9525">
                      <a:solidFill>
                        <a:srgbClr val="D2DAE2"/>
                      </a:solidFill>
                    </a:lnR>
                    <a:lnT w="0">
                      <a:noFill/>
                    </a:lnT>
                    <a:lnB w="9525">
                      <a:solidFill>
                        <a:srgbClr val="E4E9EF"/>
                      </a:solidFill>
                    </a:lnB>
                    <a:solidFill>
                      <a:srgbClr val="E3F3F7"/>
                    </a:solidFill>
                  </a:tcPr>
                </a:tc>
              </a:tr>
              <a:tr h="438150">
                <a:tc>
                  <a:txBody>
                    <a:bodyPr/>
                    <a:lstStyle/>
                    <a:p>
                      <a:pPr algn="l">
                        <a:lnSpc>
                          <a:spcPts val="1364"/>
                        </a:lnSpc>
                      </a:pPr>
                      <a:r>
                        <a:rPr sz="1050" b="0" i="0">
                          <a:solidFill>
                            <a:srgbClr val="141A21"/>
                          </a:solidFill>
                          <a:latin typeface="IBM Plex Sans"/>
                        </a:rPr>
                        <a:t>08</a:t>
                      </a:r>
                    </a:p>
                  </a:txBody>
                  <a:tcPr marL="114300" marR="114300" marT="38100" marB="38100" anchor="ctr">
                    <a:lnL w="9525">
                      <a:solidFill>
                        <a:srgbClr val="D2DAE2"/>
                      </a:solidFill>
                    </a:lnL>
                    <a:lnR w="0">
                      <a:noFill/>
                    </a:lnR>
                    <a:lnT w="0">
                      <a:noFill/>
                    </a:lnT>
                    <a:lnB w="9525">
                      <a:solidFill>
                        <a:srgbClr val="E4E9EF"/>
                      </a:solidFill>
                    </a:lnB>
                    <a:solidFill>
                      <a:srgbClr val="FFFFFF"/>
                    </a:solidFill>
                  </a:tcPr>
                </a:tc>
                <a:tc>
                  <a:txBody>
                    <a:bodyPr/>
                    <a:lstStyle/>
                    <a:p>
                      <a:pPr algn="l">
                        <a:lnSpc>
                          <a:spcPts val="1364"/>
                        </a:lnSpc>
                      </a:pPr>
                      <a:r>
                        <a:rPr sz="1050" b="0" i="0">
                          <a:solidFill>
                            <a:srgbClr val="141A21"/>
                          </a:solidFill>
                          <a:latin typeface="IBM Plex Sans"/>
                        </a:rPr>
                        <a:t>Impact</a:t>
                      </a:r>
                    </a:p>
                  </a:txBody>
                  <a:tcPr marL="114300" marR="114300" marT="38100" marB="38100" anchor="ctr">
                    <a:lnL w="0">
                      <a:noFill/>
                    </a:lnL>
                    <a:lnR w="0">
                      <a:noFill/>
                    </a:lnR>
                    <a:lnT w="0">
                      <a:noFill/>
                    </a:lnT>
                    <a:lnB w="9525">
                      <a:solidFill>
                        <a:srgbClr val="E4E9EF"/>
                      </a:solidFill>
                    </a:lnB>
                    <a:solidFill>
                      <a:srgbClr val="FFFFFF"/>
                    </a:solidFill>
                  </a:tcPr>
                </a:tc>
                <a:tc>
                  <a:txBody>
                    <a:bodyPr/>
                    <a:lstStyle/>
                    <a:p>
                      <a:pPr algn="l">
                        <a:lnSpc>
                          <a:spcPts val="1364"/>
                        </a:lnSpc>
                      </a:pPr>
                      <a:r>
                        <a:rPr sz="1050" b="0" i="0">
                          <a:solidFill>
                            <a:srgbClr val="141A21"/>
                          </a:solidFill>
                          <a:latin typeface="IBM Plex Sans"/>
                        </a:rPr>
                        <a:t>Pilot-KPIs: Fehler, Hinweisvolumen, Prüfzeit und Bestätigungsquote.</a:t>
                      </a:r>
                    </a:p>
                  </a:txBody>
                  <a:tcPr marL="114300" marR="114300" marT="38100" marB="38100" anchor="ctr">
                    <a:lnL w="0">
                      <a:noFill/>
                    </a:lnL>
                    <a:lnR w="9525">
                      <a:solidFill>
                        <a:srgbClr val="D2DAE2"/>
                      </a:solidFill>
                    </a:lnR>
                    <a:lnT w="0">
                      <a:noFill/>
                    </a:lnT>
                    <a:lnB w="9525">
                      <a:solidFill>
                        <a:srgbClr val="E4E9EF"/>
                      </a:solidFill>
                    </a:lnB>
                    <a:solidFill>
                      <a:srgbClr val="FFFFFF"/>
                    </a:solidFill>
                  </a:tcPr>
                </a:tc>
              </a:tr>
              <a:tr h="438150">
                <a:tc>
                  <a:txBody>
                    <a:bodyPr/>
                    <a:lstStyle/>
                    <a:p>
                      <a:pPr algn="l">
                        <a:lnSpc>
                          <a:spcPts val="1364"/>
                        </a:lnSpc>
                      </a:pPr>
                      <a:r>
                        <a:rPr sz="1050" b="0" i="0">
                          <a:solidFill>
                            <a:srgbClr val="141A21"/>
                          </a:solidFill>
                          <a:latin typeface="IBM Plex Sans"/>
                        </a:rPr>
                        <a:t>09</a:t>
                      </a:r>
                    </a:p>
                  </a:txBody>
                  <a:tcPr marL="114300" marR="114300" marT="38100" marB="38100" anchor="ctr">
                    <a:lnL w="9525">
                      <a:solidFill>
                        <a:srgbClr val="D2DAE2"/>
                      </a:solidFill>
                    </a:lnL>
                    <a:lnR w="0">
                      <a:noFill/>
                    </a:lnR>
                    <a:lnT w="0">
                      <a:noFill/>
                    </a:lnT>
                    <a:lnB w="9525">
                      <a:solidFill>
                        <a:srgbClr val="E4E9EF"/>
                      </a:solidFill>
                    </a:lnB>
                    <a:solidFill>
                      <a:srgbClr val="E3F3F7"/>
                    </a:solidFill>
                  </a:tcPr>
                </a:tc>
                <a:tc>
                  <a:txBody>
                    <a:bodyPr/>
                    <a:lstStyle/>
                    <a:p>
                      <a:pPr algn="l">
                        <a:lnSpc>
                          <a:spcPts val="1364"/>
                        </a:lnSpc>
                      </a:pPr>
                      <a:r>
                        <a:rPr sz="1050" b="0" i="0">
                          <a:solidFill>
                            <a:srgbClr val="141A21"/>
                          </a:solidFill>
                          <a:latin typeface="IBM Plex Sans"/>
                        </a:rPr>
                        <a:t>Zeitpunkt</a:t>
                      </a:r>
                    </a:p>
                  </a:txBody>
                  <a:tcPr marL="114300" marR="114300" marT="38100" marB="38100" anchor="ctr">
                    <a:lnL w="0">
                      <a:noFill/>
                    </a:lnL>
                    <a:lnR w="0">
                      <a:noFill/>
                    </a:lnR>
                    <a:lnT w="0">
                      <a:noFill/>
                    </a:lnT>
                    <a:lnB w="9525">
                      <a:solidFill>
                        <a:srgbClr val="E4E9EF"/>
                      </a:solidFill>
                    </a:lnB>
                    <a:solidFill>
                      <a:srgbClr val="E3F3F7"/>
                    </a:solidFill>
                  </a:tcPr>
                </a:tc>
                <a:tc>
                  <a:txBody>
                    <a:bodyPr/>
                    <a:lstStyle/>
                    <a:p>
                      <a:pPr algn="l">
                        <a:lnSpc>
                          <a:spcPts val="1364"/>
                        </a:lnSpc>
                      </a:pPr>
                      <a:r>
                        <a:rPr sz="1050" b="0" i="0">
                          <a:solidFill>
                            <a:srgbClr val="141A21"/>
                          </a:solidFill>
                          <a:latin typeface="IBM Plex Sans"/>
                        </a:rPr>
                        <a:t>Prognose vor Monatsbeginn; Residuenprüfung nach Eintreffen des Monatswerts.</a:t>
                      </a:r>
                    </a:p>
                  </a:txBody>
                  <a:tcPr marL="114300" marR="114300" marT="38100" marB="38100" anchor="ctr">
                    <a:lnL w="0">
                      <a:noFill/>
                    </a:lnL>
                    <a:lnR w="9525">
                      <a:solidFill>
                        <a:srgbClr val="D2DAE2"/>
                      </a:solidFill>
                    </a:lnR>
                    <a:lnT w="0">
                      <a:noFill/>
                    </a:lnT>
                    <a:lnB w="9525">
                      <a:solidFill>
                        <a:srgbClr val="E4E9EF"/>
                      </a:solidFill>
                    </a:lnB>
                    <a:solidFill>
                      <a:srgbClr val="E3F3F7"/>
                    </a:solidFill>
                  </a:tcPr>
                </a:tc>
              </a:tr>
              <a:tr h="438150">
                <a:tc>
                  <a:txBody>
                    <a:bodyPr/>
                    <a:lstStyle/>
                    <a:p>
                      <a:pPr algn="l">
                        <a:lnSpc>
                          <a:spcPts val="1364"/>
                        </a:lnSpc>
                      </a:pPr>
                      <a:r>
                        <a:rPr sz="1050" b="0" i="0">
                          <a:solidFill>
                            <a:srgbClr val="141A21"/>
                          </a:solidFill>
                          <a:latin typeface="IBM Plex Sans"/>
                        </a:rPr>
                        <a:t>10</a:t>
                      </a:r>
                    </a:p>
                  </a:txBody>
                  <a:tcPr marL="114300" marR="114300" marT="38100" marB="38100" anchor="ctr">
                    <a:lnL w="9525">
                      <a:solidFill>
                        <a:srgbClr val="D2DAE2"/>
                      </a:solidFill>
                    </a:lnL>
                    <a:lnR w="0">
                      <a:noFill/>
                    </a:lnR>
                    <a:lnT w="0">
                      <a:noFill/>
                    </a:lnT>
                    <a:lnB w="9525">
                      <a:solidFill>
                        <a:srgbClr val="D2DAE2"/>
                      </a:solidFill>
                    </a:lnB>
                    <a:solidFill>
                      <a:srgbClr val="FFFFFF"/>
                    </a:solidFill>
                  </a:tcPr>
                </a:tc>
                <a:tc>
                  <a:txBody>
                    <a:bodyPr/>
                    <a:lstStyle/>
                    <a:p>
                      <a:pPr algn="l">
                        <a:lnSpc>
                          <a:spcPts val="1364"/>
                        </a:lnSpc>
                      </a:pPr>
                      <a:r>
                        <a:rPr sz="1050" b="0" i="0">
                          <a:solidFill>
                            <a:srgbClr val="141A21"/>
                          </a:solidFill>
                          <a:latin typeface="IBM Plex Sans"/>
                        </a:rPr>
                        <a:t>Monitoring</a:t>
                      </a:r>
                    </a:p>
                  </a:txBody>
                  <a:tcPr marL="114300" marR="114300" marT="38100" marB="38100" anchor="ctr">
                    <a:lnL w="0">
                      <a:noFill/>
                    </a:lnL>
                    <a:lnR w="0">
                      <a:noFill/>
                    </a:lnR>
                    <a:lnT w="0">
                      <a:noFill/>
                    </a:lnT>
                    <a:lnB w="9525">
                      <a:solidFill>
                        <a:srgbClr val="D2DAE2"/>
                      </a:solidFill>
                    </a:lnB>
                    <a:solidFill>
                      <a:srgbClr val="FFFFFF"/>
                    </a:solidFill>
                  </a:tcPr>
                </a:tc>
                <a:tc>
                  <a:txBody>
                    <a:bodyPr/>
                    <a:lstStyle/>
                    <a:p>
                      <a:pPr algn="l">
                        <a:lnSpc>
                          <a:spcPts val="1364"/>
                        </a:lnSpc>
                      </a:pPr>
                      <a:r>
                        <a:rPr sz="1050" b="0" i="0">
                          <a:solidFill>
                            <a:srgbClr val="141A21"/>
                          </a:solidFill>
                          <a:latin typeface="IBM Plex Sans"/>
                        </a:rPr>
                        <a:t>Monatliche Fehler-, Drift- und Hinweiskontrolle; Retraining nur bei belegter Verschlechterung.</a:t>
                      </a:r>
                    </a:p>
                  </a:txBody>
                  <a:tcPr marL="114300" marR="114300" marT="38100" marB="38100" anchor="ctr">
                    <a:lnL w="0">
                      <a:noFill/>
                    </a:lnL>
                    <a:lnR w="9525">
                      <a:solidFill>
                        <a:srgbClr val="D2DAE2"/>
                      </a:solidFill>
                    </a:lnR>
                    <a:lnT w="0">
                      <a:noFill/>
                    </a:lnT>
                    <a:lnB w="9525">
                      <a:solidFill>
                        <a:srgbClr val="D2DAE2"/>
                      </a:solidFill>
                    </a:lnB>
                    <a:solidFill>
                      <a:srgbClr val="FFFFFF"/>
                    </a:solidFill>
                  </a:tcPr>
                </a:tc>
              </a:tr>
            </a:tbl>
          </a:graphicData>
        </a:graphic>
      </p:graphicFrame>
      <p:cxnSp>
        <p:nvCxnSpPr>
          <p:cNvPr id="5" name="Fußlinie"/>
          <p:cNvCxnSpPr/>
          <p:nvPr/>
        </p:nvCxnSpPr>
        <p:spPr>
          <a:xfrm>
            <a:off x="0" y="6153150"/>
            <a:ext cx="12192000" cy="0"/>
          </a:xfrm>
          <a:prstGeom prst="line">
            <a:avLst/>
          </a:prstGeom>
          <a:ln w="9525">
            <a:solidFill>
              <a:srgbClr val="E4E9EF"/>
            </a:solidFill>
          </a:ln>
        </p:spPr>
        <p:style>
          <a:lnRef idx="2">
            <a:schemeClr val="accent1"/>
          </a:lnRef>
          <a:fillRef idx="0">
            <a:schemeClr val="accent1"/>
          </a:fillRef>
          <a:effectRef idx="1">
            <a:schemeClr val="accent1"/>
          </a:effectRef>
          <a:fontRef idx="minor">
            <a:schemeClr val="tx1"/>
          </a:fontRef>
        </p:style>
      </p:cxnSp>
      <p:pic>
        <p:nvPicPr>
          <p:cNvPr id="6" name="Logo" descr="image.png"/>
          <p:cNvPicPr>
            <a:picLocks noChangeAspect="1"/>
          </p:cNvPicPr>
          <p:nvPr/>
        </p:nvPicPr>
        <p:blipFill>
          <a:blip r:embed="rId2"/>
          <a:stretch>
            <a:fillRect/>
          </a:stretch>
        </p:blipFill>
        <p:spPr>
          <a:xfrm>
            <a:off x="685800" y="6362700"/>
            <a:ext cx="715863" cy="247650"/>
          </a:xfrm>
          <a:prstGeom prst="rect">
            <a:avLst/>
          </a:prstGeom>
        </p:spPr>
      </p:pic>
      <p:sp>
        <p:nvSpPr>
          <p:cNvPr id="7" name="TextBox 6"/>
          <p:cNvSpPr txBox="1"/>
          <p:nvPr/>
        </p:nvSpPr>
        <p:spPr>
          <a:xfrm>
            <a:off x="1562100" y="6391275"/>
            <a:ext cx="2891790" cy="190500"/>
          </a:xfrm>
          <a:prstGeom prst="rect">
            <a:avLst/>
          </a:prstGeom>
          <a:noFill/>
        </p:spPr>
        <p:txBody>
          <a:bodyPr wrap="none" lIns="0" rIns="0" tIns="0" bIns="0" anchor="t">
            <a:noAutofit/>
          </a:bodyPr>
          <a:lstStyle/>
          <a:p>
            <a:pPr algn="l">
              <a:lnSpc>
                <a:spcPts val="1500"/>
              </a:lnSpc>
            </a:pPr>
            <a:r>
              <a:rPr sz="1200" b="0" i="0" lang="de-DE">
                <a:solidFill>
                  <a:srgbClr val="4E5A68"/>
                </a:solidFill>
                <a:latin typeface="IBM Plex Sans"/>
              </a:rPr>
              <a:t>Verbrauchsprognose &amp; Frühwarnung</a:t>
            </a:r>
          </a:p>
        </p:txBody>
      </p:sp>
      <p:sp>
        <p:nvSpPr>
          <p:cNvPr id="8" name="Seitenzahl"/>
          <p:cNvSpPr txBox="1"/>
          <p:nvPr/>
        </p:nvSpPr>
        <p:spPr>
          <a:xfrm>
            <a:off x="10835640" y="6391275"/>
            <a:ext cx="670560" cy="190500"/>
          </a:xfrm>
          <a:prstGeom prst="rect">
            <a:avLst/>
          </a:prstGeom>
          <a:noFill/>
        </p:spPr>
        <p:txBody>
          <a:bodyPr wrap="none" lIns="0" rIns="0" tIns="0" bIns="0" anchor="t">
            <a:noAutofit/>
          </a:bodyPr>
          <a:lstStyle/>
          <a:p>
            <a:pPr algn="r">
              <a:lnSpc>
                <a:spcPts val="1500"/>
              </a:lnSpc>
            </a:pPr>
            <a:r>
              <a:rPr sz="1200" b="0" i="0" lang="de-DE">
                <a:solidFill>
                  <a:srgbClr val="4E5A68"/>
                </a:solidFill>
                <a:latin typeface="IBM Plex Sans"/>
              </a:rPr>
              <a:t>B4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IBM Plex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IBM Plex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vom Canvas zum Prüfhinweis</dc:title>
  <dc:subject/>
  <dc:creator>Kiko Ramon Lukas · Gruppe 6</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de-DE</dc:language>
</cp:coreProperties>
</file>