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d09390243c944cc" /><Relationship Type="http://schemas.openxmlformats.org/officeDocument/2006/relationships/extended-properties" Target="/docProps/app.xml" Id="Rcd43a7ed083c4bb8" /><Relationship Type="http://schemas.openxmlformats.org/officeDocument/2006/relationships/officeDocument" Target="/ppt/presentation.xml" Id="R70bc34b10fe748d0" /></Relationships>
</file>

<file path=ppt/presentation.xml><?xml version="1.0" encoding="utf-8"?>
<p:presentation xmlns:p="http://schemas.openxmlformats.org/presentationml/2006/main">
  <p:sldMasterIdLst>
    <p:sldMasterId xmlns:r="http://schemas.openxmlformats.org/officeDocument/2006/relationships" id="2147483648" r:id="R17393582ca5147ce"/>
  </p:sldMasterIdLst>
  <p:notesMasterIdLst>
    <p:notesMasterId xmlns:r="http://schemas.openxmlformats.org/officeDocument/2006/relationships" r:id="R276c77da72cf4bb7"/>
  </p:notesMasterIdLst>
  <p:sldIdLst>
    <p:sldId xmlns:r="http://schemas.openxmlformats.org/officeDocument/2006/relationships" id="256" r:id="Rabbfcc75bb6b484f"/>
    <p:sldId xmlns:r="http://schemas.openxmlformats.org/officeDocument/2006/relationships" id="257" r:id="R6042fb725f984c58"/>
    <p:sldId xmlns:r="http://schemas.openxmlformats.org/officeDocument/2006/relationships" id="258" r:id="R2cbf651e1c6b4b98"/>
    <p:sldId xmlns:r="http://schemas.openxmlformats.org/officeDocument/2006/relationships" id="259" r:id="Rae68bd1005f54fd8"/>
    <p:sldId xmlns:r="http://schemas.openxmlformats.org/officeDocument/2006/relationships" id="260" r:id="R76b4723beab641a3"/>
    <p:sldId xmlns:r="http://schemas.openxmlformats.org/officeDocument/2006/relationships" id="261" r:id="Rf0731e03147e4da1"/>
    <p:sldId xmlns:r="http://schemas.openxmlformats.org/officeDocument/2006/relationships" id="262" r:id="R0d1b7736672d4a1a"/>
    <p:sldId xmlns:r="http://schemas.openxmlformats.org/officeDocument/2006/relationships" id="263" r:id="Rac2fbbde187e4b29"/>
    <p:sldId xmlns:r="http://schemas.openxmlformats.org/officeDocument/2006/relationships" id="264" r:id="R4b519d37432e4f25"/>
    <p:sldId xmlns:r="http://schemas.openxmlformats.org/officeDocument/2006/relationships" id="265" r:id="Rf29af1dbf4584bac"/>
    <p:sldId xmlns:r="http://schemas.openxmlformats.org/officeDocument/2006/relationships" id="266" r:id="R7b8e2a20102f4f1d"/>
    <p:sldId xmlns:r="http://schemas.openxmlformats.org/officeDocument/2006/relationships" id="267" r:id="R0eb4e9b9deef4e7d"/>
    <p:sldId xmlns:r="http://schemas.openxmlformats.org/officeDocument/2006/relationships" id="268" r:id="R7e170039d7694cb1"/>
    <p:sldId xmlns:r="http://schemas.openxmlformats.org/officeDocument/2006/relationships" id="269" r:id="Re6277499f9024a0c"/>
    <p:sldId xmlns:r="http://schemas.openxmlformats.org/officeDocument/2006/relationships" id="270" r:id="R2701a222a5404ee6"/>
    <p:sldId xmlns:r="http://schemas.openxmlformats.org/officeDocument/2006/relationships" id="271" r:id="R2ca305a51494489c"/>
    <p:sldId xmlns:r="http://schemas.openxmlformats.org/officeDocument/2006/relationships" id="272" r:id="R7911c1386af54d1b"/>
    <p:sldId xmlns:r="http://schemas.openxmlformats.org/officeDocument/2006/relationships" id="273" r:id="Re3ea9d9f900548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fb4f56d0334394" /><Relationship Type="http://schemas.openxmlformats.org/officeDocument/2006/relationships/slideMaster" Target="/ppt/slideMasters/slideMaster1.xml" Id="R17393582ca5147ce" /><Relationship Type="http://schemas.openxmlformats.org/officeDocument/2006/relationships/notesMaster" Target="/ppt/notesMasters/notesMaster1.xml" Id="R276c77da72cf4bb7" /><Relationship Type="http://schemas.openxmlformats.org/officeDocument/2006/relationships/presProps" Target="/ppt/presProps.xml" Id="Red27fdcd1f514137" /><Relationship Type="http://schemas.openxmlformats.org/officeDocument/2006/relationships/tableStyles" Target="/ppt/tableStyles.xml" Id="R346610f9bfef4212" /><Relationship Type="http://schemas.openxmlformats.org/officeDocument/2006/relationships/slide" Target="/ppt/slides/slide1.xml" Id="Rabbfcc75bb6b484f" /><Relationship Type="http://schemas.openxmlformats.org/officeDocument/2006/relationships/slide" Target="/ppt/slides/slide2.xml" Id="R6042fb725f984c58" /><Relationship Type="http://schemas.openxmlformats.org/officeDocument/2006/relationships/slide" Target="/ppt/slides/slide3.xml" Id="R2cbf651e1c6b4b98" /><Relationship Type="http://schemas.openxmlformats.org/officeDocument/2006/relationships/slide" Target="/ppt/slides/slide4.xml" Id="Rae68bd1005f54fd8" /><Relationship Type="http://schemas.openxmlformats.org/officeDocument/2006/relationships/slide" Target="/ppt/slides/slide5.xml" Id="R76b4723beab641a3" /><Relationship Type="http://schemas.openxmlformats.org/officeDocument/2006/relationships/slide" Target="/ppt/slides/slide6.xml" Id="Rf0731e03147e4da1" /><Relationship Type="http://schemas.openxmlformats.org/officeDocument/2006/relationships/slide" Target="/ppt/slides/slide7.xml" Id="R0d1b7736672d4a1a" /><Relationship Type="http://schemas.openxmlformats.org/officeDocument/2006/relationships/slide" Target="/ppt/slides/slide8.xml" Id="Rac2fbbde187e4b29" /><Relationship Type="http://schemas.openxmlformats.org/officeDocument/2006/relationships/slide" Target="/ppt/slides/slide9.xml" Id="R4b519d37432e4f25" /><Relationship Type="http://schemas.openxmlformats.org/officeDocument/2006/relationships/slide" Target="/ppt/slides/slide10.xml" Id="Rf29af1dbf4584bac" /><Relationship Type="http://schemas.openxmlformats.org/officeDocument/2006/relationships/slide" Target="/ppt/slides/slide11.xml" Id="R7b8e2a20102f4f1d" /><Relationship Type="http://schemas.openxmlformats.org/officeDocument/2006/relationships/slide" Target="/ppt/slides/slide12.xml" Id="R0eb4e9b9deef4e7d" /><Relationship Type="http://schemas.openxmlformats.org/officeDocument/2006/relationships/slide" Target="/ppt/slides/slide13.xml" Id="R7e170039d7694cb1" /><Relationship Type="http://schemas.openxmlformats.org/officeDocument/2006/relationships/slide" Target="/ppt/slides/slide14.xml" Id="Re6277499f9024a0c" /><Relationship Type="http://schemas.openxmlformats.org/officeDocument/2006/relationships/slide" Target="/ppt/slides/slide15.xml" Id="R2701a222a5404ee6" /><Relationship Type="http://schemas.openxmlformats.org/officeDocument/2006/relationships/slide" Target="/ppt/slides/slide16.xml" Id="R2ca305a51494489c" /><Relationship Type="http://schemas.openxmlformats.org/officeDocument/2006/relationships/slide" Target="/ppt/slides/slide17.xml" Id="R7911c1386af54d1b" /><Relationship Type="http://schemas.openxmlformats.org/officeDocument/2006/relationships/slide" Target="/ppt/slides/slide18.xml" Id="Re3ea9d9f900548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c2f60044ee40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SWW Energy Analysis">
      <a:dk1>
        <a:srgbClr val="000000"/>
      </a:dk1>
      <a:lt1>
        <a:srgbClr val="FFFFFF"/>
      </a:lt1>
      <a:dk2>
        <a:srgbClr val="0D2742"/>
      </a:dk2>
      <a:lt2>
        <a:srgbClr val="D7E0EA"/>
      </a:lt2>
      <a:accent1>
        <a:srgbClr val="084878"/>
      </a:accent1>
      <a:accent2>
        <a:srgbClr val="0090C8"/>
      </a:accent2>
      <a:accent3>
        <a:srgbClr val="0080A0"/>
      </a:accent3>
      <a:accent4>
        <a:srgbClr val="A86505"/>
      </a:accent4>
      <a:accent5>
        <a:srgbClr val="B3261E"/>
      </a:accent5>
      <a:accent6>
        <a:srgbClr val="397A42"/>
      </a:accent6>
      <a:hlink>
        <a:srgbClr val="0090C8"/>
      </a:hlink>
      <a:folHlink>
        <a:srgbClr val="0080A0"/>
      </a:folHlink>
    </a:clrScheme>
    <a:fontScheme name="Office">
      <a:majorFont>
        <a:latin typeface="Calibri Light"/>
        <a:ea typeface="Calibri Light"/>
        <a:cs typeface="Calibri Light"/>
      </a:majorFont>
      <a:minorFont>
        <a:latin typeface="Calibri"/>
        <a:ea typeface="Calibri"/>
        <a:cs typeface="Calibri"/>
      </a:minorFont>
    </a:fontScheme>
    <a:fmtScheme name="SWW Energy Analysi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dc57e457d94a92" /><Relationship Type="http://schemas.openxmlformats.org/officeDocument/2006/relationships/notesMaster" Target="/ppt/notesMasters/notesMaster1.xml" Id="R08e90ad41aa74e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ca4661c40d43cc" /><Relationship Type="http://schemas.openxmlformats.org/officeDocument/2006/relationships/notesMaster" Target="/ppt/notesMasters/notesMaster1.xml" Id="R67c2a465a7e04a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3e68d092cb4569" /><Relationship Type="http://schemas.openxmlformats.org/officeDocument/2006/relationships/notesMaster" Target="/ppt/notesMasters/notesMaster1.xml" Id="Rc7a4e7562b5f4a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105e1ec0144742" /><Relationship Type="http://schemas.openxmlformats.org/officeDocument/2006/relationships/notesMaster" Target="/ppt/notesMasters/notesMaster1.xml" Id="R1c08e8b236ad47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31f06fb5804d96" /><Relationship Type="http://schemas.openxmlformats.org/officeDocument/2006/relationships/notesMaster" Target="/ppt/notesMasters/notesMaster1.xml" Id="Rc286372cde6b49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fe7164b4504bd4" /><Relationship Type="http://schemas.openxmlformats.org/officeDocument/2006/relationships/notesMaster" Target="/ppt/notesMasters/notesMaster1.xml" Id="R520477b37c2043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bb031f558b404a5e" /><Relationship Type="http://schemas.openxmlformats.org/officeDocument/2006/relationships/notesMaster" Target="/ppt/notesMasters/notesMaster1.xml" Id="R7828de8488f44d4d"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a4483869734702" /><Relationship Type="http://schemas.openxmlformats.org/officeDocument/2006/relationships/notesMaster" Target="/ppt/notesMasters/notesMaster1.xml" Id="R91d86d94e48544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faabf2a10f41444b" /><Relationship Type="http://schemas.openxmlformats.org/officeDocument/2006/relationships/notesMaster" Target="/ppt/notesMasters/notesMaster1.xml" Id="R3cfc374c959f4e6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68346285fc74aa2" /><Relationship Type="http://schemas.openxmlformats.org/officeDocument/2006/relationships/notesMaster" Target="/ppt/notesMasters/notesMaster1.xml" Id="Re64afc6f13d44db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d7cef8594374eac" /><Relationship Type="http://schemas.openxmlformats.org/officeDocument/2006/relationships/notesMaster" Target="/ppt/notesMasters/notesMaster1.xml" Id="R378a5ba6507343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9559b60f2e94e5c" /><Relationship Type="http://schemas.openxmlformats.org/officeDocument/2006/relationships/notesMaster" Target="/ppt/notesMasters/notesMaster1.xml" Id="R5ecae0217e33458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932da7d16294de6" /><Relationship Type="http://schemas.openxmlformats.org/officeDocument/2006/relationships/notesMaster" Target="/ppt/notesMasters/notesMaster1.xml" Id="R791550899d0d433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17925e834da44e1" /><Relationship Type="http://schemas.openxmlformats.org/officeDocument/2006/relationships/notesMaster" Target="/ppt/notesMasters/notesMaster1.xml" Id="R9f77c11b34d9451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a59f84f877c4ac9" /><Relationship Type="http://schemas.openxmlformats.org/officeDocument/2006/relationships/notesMaster" Target="/ppt/notesMasters/notesMaster1.xml" Id="R9294815a585149d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dbd1bd9b73e460a" /><Relationship Type="http://schemas.openxmlformats.org/officeDocument/2006/relationships/notesMaster" Target="/ppt/notesMasters/notesMaster1.xml" Id="R27cf3dc288fb40b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e65d2f0bd574b7a" /><Relationship Type="http://schemas.openxmlformats.org/officeDocument/2006/relationships/notesMaster" Target="/ppt/notesMasters/notesMaster1.xml" Id="R2b59e371dd18476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bd80cb6f43e4775" /><Relationship Type="http://schemas.openxmlformats.org/officeDocument/2006/relationships/notesMaster" Target="/ppt/notesMasters/notesMaster1.xml" Id="R99a4d55dcb9f47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Mein Teil beginnt dort, wo aus den aufbereiteten Daten eine belastbare Prognose und anschließend ein Prüfprozess entsteht. Das Ziel ist nicht, automatisch einen Defekt festzustellen. Das Modell soll zeigen, welcher Zähler-Monat ungewöhnlich stark von seinem erwarteten Verbrauch abweicht und deshalb fachlich geprüft werden sollte.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Zuerst schätzt das Modell, welcher Monatsverbrauch unter den bekannten Bedingungen zu erwarten wäre. Sobald der tatsächliche Wert vorliegt, berechnen wir das Residuum: Istwert minus Prognose. Überschreitet der Betrag dieses Fehlers unsere gelernte Grenze, entsteht ein Prüfhinweis. Erst die anschließende Daten-, Kontext- und Fachprüfung entscheidet, ob wirklich ein relevanter Sachverhalt vorliegt.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 großer Anschluss verbraucht naturgemäß mehr Kilowattstunden als ein kleiner. Deshalb normalisieren wir den Verbrauch durch die vertragliche Leistung. Vollaststunden sind hier keine gemessene Laufzeit, sondern eine Vergleichsgröße. Das Modell lernt in VLS-Stunden; für die verständliche Bewertung rechnen wir die Prognose anschließend wieder in Kilowattstunden zurück.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Wir mischen die Zeitreihe nicht zufällig. In jedem Fold lernt das Modell nur aus bereits vergangenen Monaten und wird auf späteren Monaten bewertet. Der Lernbereich wächst dabei von Fold zu Fold. November und Dezember 2024 verwenden wir anschließend nicht zur Modellwahl, sondern zur Festlegung der Fehlergrenze. So verhindern wir, dass Informationen aus der Zukunft in frühere Prognosen geraten.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lineare Regression ist unsere verständliche Referenz; der Random Forest kann zusätzlich nichtlineare Zusammenhänge abbilden. Statt einer unnötig großen Grid Search haben wir acht fachlich kontrollierte Kombinationen im gleichen zeitlichen Validierungsrahmen geprüft. Das sind 24 Fits. Gewonnen hat die Kombination mit dem niedrigsten mittleren RMSE – das Testjahr 2025 hatte auf diese Wahl keinen Einfluss.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Balken ist jeweils der Mittelwert aus drei zeitlichen Bewertungen. Die Punkte zeigen die einzelnen Folds, die Whisker deren Streuung. Der Random Forest liegt mit 13.272 Kilowattstunden knapp vor der linearen Regression mit 13.643. Der Vorsprung ist also real, aber nicht riesig. Beide Modelle schlagen das Drei-Monats-Mittel mit 15.483 und den Vormonat mit 18.460 Kilowattstunden. Die Streuung mahnt zugleich, keinen einzelnen Mittelwert zu überinterpretieren.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Danach prüfen wir die getroffene Modellentscheidung retrospektiv auf 2025. One Step Ahead bedeutet: Für jeden Monat werden nur die zu diesem Zeitpunkt bekannten Informationen verwendet; anschließend wird mit dem eingetroffenen Istwert bewertet. Über 8.398 Zähler-Monate erreicht der Random Forest einen RMSE von 9.188 und einen MAE von 3.725 Kilowattstunden. Gegenüber dem besten einfachen Vergleich, dem Drei-Monats-Mittel, sinkt der RMSE um 15,9 Prozent. Retrospektiv heißt: 2025 ist inzwischen bekannt und daher kein unangesehener Blindtest mehr. Nur der Vormonatsvergleich hat wegen zehn fehlender Werte n = 8.388; die entscheidende Gegenüberstellung zum Drei-Monats-Mittel nutzt dieselben 8.398 Fälle.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diese Auswertung mischen wir jeweils eine Informationsgruppe zufällig und lassen das trainierte Modell erneut vorhersagen. Steigt der RMSE stark, hat das Modell diese Information zuvor wirksam genutzt. Bei der Verbrauchshistorie steigt er um 7.349 Kilowattstunden – deutlich stärker als bei Produktionsplan oder Wartung. Weil zusammengehörige Spalten gemeinsam gemischt werden, messen wir den Beitrag der ganzen Informationsgruppe. Das ist Modellrelevanz, aber kein Beweis für einen kausalen Zusammenhang. Die Vertragsleistung wird bewusst nicht permutiert: Sie ist der feste Umrechnungsfaktor von VLS zurück in kWh.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die Kalibrierung sortieren wir 1.397 absolute Out-of-Fold-Fehler aus November und Dezember 2024 von klein nach groß. Das 99. Perzentil ist eine Position in dieser Liste. Durch die übliche lineare Interpolation liegt die Schwelle bei 144,4 VLS-Stunden. 1.383 Fehler liegen bis zu dieser Grenze und 14 darüber. q99 ist keine Defektwahrscheinlichkeit und nicht automatisch der perfekte Sweet Spot. Es ist eine konservative, nachvollziehbare Pilotentscheidung ohne bereits bestätigte Anomalie-Labels.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in 2024 festgelegte Grenze wird anschließend unverändert auf den Benchmark 2025 angewandt. Außerhalb des Bandes entstehen 114 Prüfhinweise, also 1,36 Prozent der 8.398 bewertbaren Zähler-Monate. Das entspricht durchschnittlich 9,5 Fällen pro Monat und 107 unterschiedlichen Zählern. Der Anteil muss nicht exakt ein Prozent betragen, weil 2025 eine andere Fehlerverteilung als die Kalibrierungsmonate haben kann.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Beim Zähler ZL-00147 sehen wir im August einen Istverbrauch von 23.563 gegenüber einer Prognose von 7.304 Kilowattstunden. Die Abweichung beträgt plus 16.260 Kilowattstunden beziehungsweise plus 331,8 VLS-Stunden. Geteilt durch die q99-Grenze ergibt das den Faktor plus 2,30: ein Prüfhinweis. Im September liegt der Istwert zwar deutlich unter der Prognose, aber die Abweichung beträgt nur minus 98,5 VLS-Stunden beziehungsweise Faktor minus 0,68. Sie bleibt innerhalb des Bandes. Der Faktor zeigt also die Stärke relativ zur Grenze – er ist keine Wahrscheinlichkeit.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Jetzt zeige ich den möglichen betrieblichen Ablauf live. Die Demo beweist keinen Defekt. Sie zeigt, wie Prüfhinweise priorisiert, geprüft und dokumentiert werden können.</a:t>
            </a:r>
          </a:p>
          <a:p xmlns:a="http://schemas.openxmlformats.org/drawingml/2006/main">
            <a:r>
              <a:t/>
            </a:r>
          </a:p>
          <a:p xmlns:a="http://schemas.openxmlformats.org/drawingml/2006/main">
            <a:r>
              <a:t>0:00–0:20: Aktive q99-Schwelle von 144,4 VLS-Stunden und daraus 9,5 Hinweise pro Monat zeigen.</a:t>
            </a:r>
          </a:p>
          <a:p xmlns:a="http://schemas.openxmlformats.org/drawingml/2006/main">
            <a:r>
              <a:t>0:20–0:40: Zwei ungewöhnlich hohe und zwei ungewöhnlich niedrige Fälle priorisieren.</a:t>
            </a:r>
          </a:p>
          <a:p xmlns:a="http://schemas.openxmlformats.org/drawingml/2006/main">
            <a:r>
              <a:t>0:40–1:10: Einen Fall öffnen und Istwert, Prognose, Residuum und Schwellenfaktor erklären.</a:t>
            </a:r>
          </a:p>
          <a:p xmlns:a="http://schemas.openxmlformats.org/drawingml/2006/main">
            <a:r>
              <a:t>1:10–1:35: Kontextinformationen wie Wartung, Produktionsplanung und Datenqualität prüfen.</a:t>
            </a:r>
          </a:p>
          <a:p xmlns:a="http://schemas.openxmlformats.org/drawingml/2006/main">
            <a:r>
              <a:t>1:35–1:55: Dokumentieren, ob der Prüfhinweis fachlich relevant war, und eine Begründung ergänzen.</a:t>
            </a:r>
          </a:p>
          <a:p xmlns:a="http://schemas.openxmlformats.org/drawingml/2006/main">
            <a:r>
              <a:t>1:55–2:00: Dieses Feedback liefert künftig die Labels für eine zweite Modellstufe.</a:t>
            </a:r>
          </a:p>
          <a:p xmlns:a="http://schemas.openxmlformats.org/drawingml/2006/main">
            <a:r>
              <a:t/>
            </a:r>
          </a:p>
          <a:p xmlns:a="http://schemas.openxmlformats.org/drawingml/2006/main">
            <a:r>
              <a:t>Vor der Präsentation lokal starten: node scripts/preview.mjs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Unser belastbares Ergebnis ist ein prognosegestützter Prüfprozess: Der Random Forest verbessert die Vorhersage gegenüber den einfachen Baselines, und q99 übersetzt ungewöhnlich große Modellabweichungen in ein handhabbares Arbeitsvolumen. Was wir noch nicht behaupten dürfen, ist eine automatische Defekt- oder Anomalieerkennung. Dafür fehlen bestätigte Labels. Wenn die Fachanwender ihre Entscheidungen strukturiert dokumentieren, können diese Rückmeldungen später ein Klassifikationsmodell trainieren. Das wäre kein weiteres Tuning der Regression, sondern eine zweite überwachte Lernaufgabe: relevant oder nicht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MAE sagt anschaulich, wie groß die absolute Abweichung im Durchschnitt ist. Beim RMSE werden die Fehler zuerst quadriert; dadurch wirken große Einzelfehler stärker. Das passt zu unserem Ziel, erhebliche Fehlprognosen nicht zu verdecken. Deshalb entscheiden wir die Modelle mit dem RMSE und ergänzen den leichter interpretierbaren MAE. R² lasse ich aus dieser didaktischen Geschichte heraus, weil es für die Kernaussage nicht nötig 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Hier vergleichen wir fair denselben Modelltyp und bewerten beide Varianten in Kilowattstunden. Die VLS-Variante erreicht 9.188 statt rund 9.800 Kilowattstunden RMSE. Das sind 6,2 Prozent weniger. Daraus folgt nicht, dass VLS immer überlegen sind; es ist das Ergebnis dieses Datensatzes und unseres Versuchsaufbaus.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Sensitivitätsanalyse verändert nicht das Modell und trainiert nichts neu. Sie verschiebt nur die betriebliche Fehlergrenze. Eine niedrigere Grenze erzeugt mehr Hinweise und erhöht die Chance, relevante Fälle zu sehen, aber auch den Prüfaufwand. q99 ist unsere konservative Pilotannahme. Welcher Punkt langfristig richtig ist, muss der Fachbereich anhand verfügbarer Prüfkapazität und später bestätigter Labels entscheiden.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einzelnen Fold-Werte erklären den Whisker aus der Hauptfolie. Fold 2 ist hier am besten, Fold 1 am schwächsten. Mehr Trainingsmonate bedeuten aber nicht automatisch einen besseren Bewertungswert, weil auch der jeweilige Bewertungszeitraum unterschiedlich schwierig sein kann. Die ausgewählte Kombination begrenzt die Baumtiefe auf acht und verlangt mindestens fünf Fälle pro Blatt; das bremst zu spezielle Regeln. 300 Bäume stabilisieren das Ensemble, der Zufallsstart 42 macht den Vergleich reproduzierbar.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Begriffe dürfen nicht gleichgesetzt werden. Ein statistischer Ausreißer ist lediglich ungewöhnlich gegenüber einer Verteilung. Unsere Methode betrachtet dagegen die Abweichung zwischen Istwert und individueller Modellprognose. Wird die q99-Grenze überschritten, entsteht ein Prüfhinweis. Erst eine menschliche Untersuchung kann daraus eine bestätigte Anomalie machen. Ohne solche Ground-Truth-Labels wären Precision und Recall erfunden; zusätzlich sollten auch zufällig ausgewählte Fälle ohne Hinweis geprüft werden, damit später nicht nur die Trefferquote, sondern auch übersehene Fälle beurteilt werden können.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826f5a51ba43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0ffae2b0534730" /><Relationship Type="http://schemas.openxmlformats.org/officeDocument/2006/relationships/slideLayout" Target="/ppt/slideLayouts/slideLayout1.xml" Id="R27f9e0041cd24d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7f9e0041cd24d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SWW Energy Analysis">
      <a:dk1>
        <a:srgbClr val="000000"/>
      </a:dk1>
      <a:lt1>
        <a:srgbClr val="FFFFFF"/>
      </a:lt1>
      <a:dk2>
        <a:srgbClr val="0D2742"/>
      </a:dk2>
      <a:lt2>
        <a:srgbClr val="D7E0EA"/>
      </a:lt2>
      <a:accent1>
        <a:srgbClr val="084878"/>
      </a:accent1>
      <a:accent2>
        <a:srgbClr val="0090C8"/>
      </a:accent2>
      <a:accent3>
        <a:srgbClr val="0080A0"/>
      </a:accent3>
      <a:accent4>
        <a:srgbClr val="A86505"/>
      </a:accent4>
      <a:accent5>
        <a:srgbClr val="B3261E"/>
      </a:accent5>
      <a:accent6>
        <a:srgbClr val="397A42"/>
      </a:accent6>
      <a:hlink>
        <a:srgbClr val="0090C8"/>
      </a:hlink>
      <a:folHlink>
        <a:srgbClr val="0080A0"/>
      </a:folHlink>
    </a:clrScheme>
    <a:fontScheme name="Office">
      <a:majorFont>
        <a:latin typeface="Calibri Light"/>
        <a:ea typeface="Calibri Light"/>
        <a:cs typeface="Calibri Light"/>
      </a:majorFont>
      <a:minorFont>
        <a:latin typeface="Calibri"/>
        <a:ea typeface="Calibri"/>
        <a:cs typeface="Calibri"/>
      </a:minorFont>
    </a:fontScheme>
    <a:fmtScheme name="SWW Energy Analysi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8085b6b2e444bba" /><Relationship Type="http://schemas.openxmlformats.org/officeDocument/2006/relationships/image" Target="/ppt/media/image.png" Id="Rcfcdcf5da5fd4e99" /><Relationship Type="http://schemas.openxmlformats.org/officeDocument/2006/relationships/notesSlide" Target="/ppt/notesSlides/notesSlide1.xml" Id="R5199d66da31848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e47fcb1d16b471a" /><Relationship Type="http://schemas.openxmlformats.org/officeDocument/2006/relationships/image" Target="/ppt/media/image2.png" Id="Rf2fb7c33f8d84598" /><Relationship Type="http://schemas.openxmlformats.org/officeDocument/2006/relationships/notesSlide" Target="/ppt/notesSlides/notesSlide2.xml" Id="R67cb46781c5e4c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d7edb826a1d4c1b" /><Relationship Type="http://schemas.openxmlformats.org/officeDocument/2006/relationships/image" Target="/ppt/media/image3.png" Id="R81d4a80e98ce4baa" /><Relationship Type="http://schemas.openxmlformats.org/officeDocument/2006/relationships/notesSlide" Target="/ppt/notesSlides/notesSlide3.xml" Id="R62ad4efb72324f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482471d38a84cdc" /><Relationship Type="http://schemas.openxmlformats.org/officeDocument/2006/relationships/image" Target="/ppt/media/image4.png" Id="R8762f87d6a35415b" /><Relationship Type="http://schemas.openxmlformats.org/officeDocument/2006/relationships/image" Target="/ppt/media/image5.png" Id="R59923eff444f4756" /><Relationship Type="http://schemas.openxmlformats.org/officeDocument/2006/relationships/notesSlide" Target="/ppt/notesSlides/notesSlide4.xml" Id="R38b2086613854c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05f0c17912f436e" /><Relationship Type="http://schemas.openxmlformats.org/officeDocument/2006/relationships/image" Target="/ppt/media/image6.png" Id="Rb222c44d3d7e47d2" /><Relationship Type="http://schemas.openxmlformats.org/officeDocument/2006/relationships/notesSlide" Target="/ppt/notesSlides/notesSlide5.xml" Id="Rae4a1f277c7140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53f5b53ec1d4a80" /><Relationship Type="http://schemas.openxmlformats.org/officeDocument/2006/relationships/image" Target="/ppt/media/image7.png" Id="R9d1cdd86eae0448f" /><Relationship Type="http://schemas.openxmlformats.org/officeDocument/2006/relationships/image" Target="/ppt/media/image8.png" Id="R4d537138e48446fa" /><Relationship Type="http://schemas.openxmlformats.org/officeDocument/2006/relationships/notesSlide" Target="/ppt/notesSlides/notesSlide6.xml" Id="R5abf53345fb147c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95e418134024e2d" /><Relationship Type="http://schemas.openxmlformats.org/officeDocument/2006/relationships/image" Target="/ppt/media/image9.png" Id="Rba0af0a53efc426c" /><Relationship Type="http://schemas.openxmlformats.org/officeDocument/2006/relationships/image" Target="/ppt/media/image10.png" Id="Rf5b48f5813a24339" /><Relationship Type="http://schemas.openxmlformats.org/officeDocument/2006/relationships/notesSlide" Target="/ppt/notesSlides/notesSlide7.xml" Id="R4d5286014675450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7734da7d4a94470" /><Relationship Type="http://schemas.openxmlformats.org/officeDocument/2006/relationships/image" Target="/ppt/media/image11.png" Id="Rf70f9923f6394848" /><Relationship Type="http://schemas.openxmlformats.org/officeDocument/2006/relationships/image" Target="/ppt/media/image12.png" Id="R0b29e9593c72442f" /><Relationship Type="http://schemas.openxmlformats.org/officeDocument/2006/relationships/notesSlide" Target="/ppt/notesSlides/notesSlide8.xml" Id="R9bb2ed30387d42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227c94a65464653" /><Relationship Type="http://schemas.openxmlformats.org/officeDocument/2006/relationships/image" Target="/ppt/media/image13.png" Id="R52891265e17c4746" /><Relationship Type="http://schemas.openxmlformats.org/officeDocument/2006/relationships/image" Target="/ppt/media/image14.png" Id="Rf9fdd14e175e43e3" /><Relationship Type="http://schemas.openxmlformats.org/officeDocument/2006/relationships/notesSlide" Target="/ppt/notesSlides/notesSlide9.xml" Id="R9532b7781b2a4e3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6dcd34cfaad48c4" /><Relationship Type="http://schemas.openxmlformats.org/officeDocument/2006/relationships/image" Target="/ppt/media/image15.png" Id="R1bffb30751c449e4" /><Relationship Type="http://schemas.openxmlformats.org/officeDocument/2006/relationships/image" Target="/ppt/media/image16.png" Id="Rb618be710be142b9" /><Relationship Type="http://schemas.openxmlformats.org/officeDocument/2006/relationships/notesSlide" Target="/ppt/notesSlides/notesSlide10.xml" Id="R498121942e2441e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0ffa00151eb465d" /><Relationship Type="http://schemas.openxmlformats.org/officeDocument/2006/relationships/image" Target="/ppt/media/image17.png" Id="R160ebe1c25894420" /><Relationship Type="http://schemas.openxmlformats.org/officeDocument/2006/relationships/image" Target="/ppt/media/image18.png" Id="Rfa5c88aca5e44bb4" /><Relationship Type="http://schemas.openxmlformats.org/officeDocument/2006/relationships/image" Target="/ppt/media/image19.png" Id="R384f80fc465c41e6" /><Relationship Type="http://schemas.openxmlformats.org/officeDocument/2006/relationships/notesSlide" Target="/ppt/notesSlides/notesSlide11.xml" Id="R232c84ea3116482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c83abc09d274bf9" /><Relationship Type="http://schemas.openxmlformats.org/officeDocument/2006/relationships/image" Target="/ppt/media/image20.png" Id="Rc16691d55078473c" /><Relationship Type="http://schemas.openxmlformats.org/officeDocument/2006/relationships/hyperlink" Target="http://127.0.0.1:4173/design-system/ui_kits/energie-cockpit/index.html?screen=anomalien" TargetMode="External" Id="R363b5e0d79e74906" /><Relationship Type="http://schemas.openxmlformats.org/officeDocument/2006/relationships/image" Target="/ppt/media/image21.png" Id="R68ede33a5f424087" /><Relationship Type="http://schemas.openxmlformats.org/officeDocument/2006/relationships/notesSlide" Target="/ppt/notesSlides/notesSlide12.xml" Id="R16cf135f5b204d5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0c7fccf03b745aa" /><Relationship Type="http://schemas.openxmlformats.org/officeDocument/2006/relationships/image" Target="/ppt/media/image22.png" Id="R042baa2a8f0f4405" /><Relationship Type="http://schemas.openxmlformats.org/officeDocument/2006/relationships/notesSlide" Target="/ppt/notesSlides/notesSlide13.xml" Id="R6b7d2290d3ce4d9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704313a45af4faf" /><Relationship Type="http://schemas.openxmlformats.org/officeDocument/2006/relationships/image" Target="/ppt/media/image23.png" Id="R9ce9d9e5cabc47e1" /><Relationship Type="http://schemas.openxmlformats.org/officeDocument/2006/relationships/image" Target="/ppt/media/image24.png" Id="R3f61b945e6ef4799" /><Relationship Type="http://schemas.openxmlformats.org/officeDocument/2006/relationships/notesSlide" Target="/ppt/notesSlides/notesSlide14.xml" Id="R27b5c50bb27a469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df77000c2b04425" /><Relationship Type="http://schemas.openxmlformats.org/officeDocument/2006/relationships/image" Target="/ppt/media/image25.png" Id="Rbcb68a05ecc848ca" /><Relationship Type="http://schemas.openxmlformats.org/officeDocument/2006/relationships/image" Target="/ppt/media/image26.png" Id="R937be623bde14355" /><Relationship Type="http://schemas.openxmlformats.org/officeDocument/2006/relationships/notesSlide" Target="/ppt/notesSlides/notesSlide15.xml" Id="R85661790144c44c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cbee96a2eae4758" /><Relationship Type="http://schemas.openxmlformats.org/officeDocument/2006/relationships/image" Target="/ppt/media/image27.png" Id="R5cccf8faa6504dd6" /><Relationship Type="http://schemas.openxmlformats.org/officeDocument/2006/relationships/image" Target="/ppt/media/image28.png" Id="R729020c01c8c4e8d" /><Relationship Type="http://schemas.openxmlformats.org/officeDocument/2006/relationships/notesSlide" Target="/ppt/notesSlides/notesSlide16.xml" Id="Rebe2c80f1eab48a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8a26b6f3aa84796" /><Relationship Type="http://schemas.openxmlformats.org/officeDocument/2006/relationships/image" Target="/ppt/media/image29.png" Id="R761b18d348e44604" /><Relationship Type="http://schemas.openxmlformats.org/officeDocument/2006/relationships/notesSlide" Target="/ppt/notesSlides/notesSlide17.xml" Id="Rfa0fc8f3abac4f0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41c2edc020c4eb3" /><Relationship Type="http://schemas.openxmlformats.org/officeDocument/2006/relationships/image" Target="/ppt/media/image30.png" Id="R7eda3f27c48a4185" /><Relationship Type="http://schemas.openxmlformats.org/officeDocument/2006/relationships/notesSlide" Target="/ppt/notesSlides/notesSlide18.xml" Id="Rad6e0bd9c86c4de9" /></Relationships>
</file>

<file path=ppt/slides/slide1.xml><?xml version="1.0" encoding="utf-8"?>
<p:sld xmlns:p="http://schemas.openxmlformats.org/presentationml/2006/main">
  <p:cSld>
    <p:bg>
      <p:bgPr>
        <a:solidFill xmlns:a="http://schemas.openxmlformats.org/drawingml/2006/main">
          <a:srgbClr val="06355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0BF0AAA-998E-420A-8A2F-C0B0321112BE}"/>
              </a:ext>
            </a:extLst>
          </p:cNvPr>
          <p:cNvSpPr>
            <a:spLocks xmlns:a="http://schemas.openxmlformats.org/drawingml/2006/main" noGrp="1"/>
          </p:cNvSpPr>
          <p:nvPr/>
        </p:nvSpPr>
        <p:spPr>
          <a:xfrm xmlns:a="http://schemas.openxmlformats.org/drawingml/2006/main">
            <a:off x="590550" y="4381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67D4F2"/>
                </a:solidFill>
                <a:latin typeface="IBM Plex Sans"/>
                <a:ea typeface="IBM Plex Sans"/>
                <a:cs typeface="IBM Plex Sans"/>
              </a:defRPr>
            </a:pPr>
            <a:r>
              <a:rPr sz="900" b="1">
                <a:solidFill>
                  <a:srgbClr val="67D4F2"/>
                </a:solidFill>
                <a:latin typeface="IBM Plex Sans"/>
                <a:ea typeface="IBM Plex Sans"/>
                <a:cs typeface="IBM Plex Sans"/>
              </a:rPr>
              <a:t>IHK-PROJEKT  ·  MACHINE LEARNING</a:t>
            </a:r>
          </a:p>
        </p:txBody>
      </p:sp>
      <p:sp>
        <p:nvSpPr>
          <p:cNvPr id="2" name="">
            <a:extLst xmlns:a="http://schemas.openxmlformats.org/drawingml/2006/main">
              <a:ext uri="{FF2B5EF4-FFF2-40B4-BE49-F238E27FC236}">
                <a16:creationId xmlns:a16="http://schemas.microsoft.com/office/drawing/2014/main" id="{17ABDF1D-ECBE-4104-97F9-CFB6142B6C97}"/>
              </a:ext>
            </a:extLst>
          </p:cNvPr>
          <p:cNvSpPr>
            <a:spLocks xmlns:a="http://schemas.openxmlformats.org/drawingml/2006/main" noGrp="1"/>
          </p:cNvSpPr>
          <p:nvPr/>
        </p:nvSpPr>
        <p:spPr>
          <a:xfrm xmlns:a="http://schemas.openxmlformats.org/drawingml/2006/main">
            <a:off x="590550" y="1009650"/>
            <a:ext cx="7334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150" b="1">
                <a:solidFill>
                  <a:srgbClr val="FFFFFF"/>
                </a:solidFill>
                <a:latin typeface="IBM Plex Sans"/>
                <a:ea typeface="IBM Plex Sans"/>
                <a:cs typeface="IBM Plex Sans"/>
              </a:defRPr>
            </a:pPr>
            <a:r>
              <a:rPr sz="3150" b="1">
                <a:solidFill>
                  <a:srgbClr val="FFFFFF"/>
                </a:solidFill>
                <a:latin typeface="IBM Plex Sans"/>
                <a:ea typeface="IBM Plex Sans"/>
                <a:cs typeface="IBM Plex Sans"/>
              </a:rPr>
              <a:t>Prognosegestützte Prüfung</a:t>
            </a:r>
          </a:p>
          <a:p xmlns:a="http://schemas.openxmlformats.org/drawingml/2006/main">
            <a:pPr algn="l">
              <a:lnSpc>
                <a:spcPct val="92000"/>
              </a:lnSpc>
              <a:buNone/>
              <a:defRPr sz="3150" b="1">
                <a:solidFill>
                  <a:srgbClr val="FFFFFF"/>
                </a:solidFill>
                <a:latin typeface="IBM Plex Sans"/>
                <a:ea typeface="IBM Plex Sans"/>
                <a:cs typeface="IBM Plex Sans"/>
              </a:defRPr>
            </a:pPr>
            <a:r>
              <a:rPr sz="3150" b="1">
                <a:solidFill>
                  <a:srgbClr val="FFFFFF"/>
                </a:solidFill>
                <a:latin typeface="IBM Plex Sans"/>
                <a:ea typeface="IBM Plex Sans"/>
                <a:cs typeface="IBM Plex Sans"/>
              </a:rPr>
              <a:t>von Energieverbräuchen</a:t>
            </a:r>
          </a:p>
        </p:txBody>
      </p:sp>
      <p:sp>
        <p:nvSpPr>
          <p:cNvPr id="3" name="">
            <a:extLst xmlns:a="http://schemas.openxmlformats.org/drawingml/2006/main">
              <a:ext uri="{FF2B5EF4-FFF2-40B4-BE49-F238E27FC236}">
                <a16:creationId xmlns:a16="http://schemas.microsoft.com/office/drawing/2014/main" id="{07416544-85A7-4693-940E-692B81BFA1CF}"/>
              </a:ext>
            </a:extLst>
          </p:cNvPr>
          <p:cNvSpPr>
            <a:spLocks xmlns:a="http://schemas.openxmlformats.org/drawingml/2006/main" noGrp="1"/>
          </p:cNvSpPr>
          <p:nvPr/>
        </p:nvSpPr>
        <p:spPr>
          <a:xfrm xmlns:a="http://schemas.openxmlformats.org/drawingml/2006/main">
            <a:off x="609600" y="2609850"/>
            <a:ext cx="685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CAE6F4"/>
                </a:solidFill>
                <a:latin typeface="IBM Plex Sans"/>
                <a:ea typeface="IBM Plex Sans"/>
                <a:cs typeface="IBM Plex Sans"/>
              </a:defRPr>
            </a:pPr>
            <a:r>
              <a:rPr sz="1650" b="0">
                <a:solidFill>
                  <a:srgbClr val="CAE6F4"/>
                </a:solidFill>
                <a:latin typeface="IBM Plex Sans"/>
                <a:ea typeface="IBM Plex Sans"/>
                <a:cs typeface="IBM Plex Sans"/>
              </a:rPr>
              <a:t>Modeling, Kalibrierung und betrieblicher Workflow</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fcdcf5da5fd4e99"/>
          <a:stretch xmlns:a="http://schemas.openxmlformats.org/drawingml/2006/main"/>
        </p:blipFill>
        <p:spPr>
          <a:xfrm xmlns:a="http://schemas.openxmlformats.org/drawingml/2006/main">
            <a:off x="9155195" y="819150"/>
            <a:ext cx="1273009" cy="1428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880D4C1-3F8C-4419-8120-C05E2775AE43}"/>
              </a:ext>
            </a:extLst>
          </p:cNvPr>
          <p:cNvSpPr>
            <a:spLocks xmlns:a="http://schemas.openxmlformats.org/drawingml/2006/main" noGrp="1"/>
          </p:cNvSpPr>
          <p:nvPr/>
        </p:nvSpPr>
        <p:spPr>
          <a:xfrm xmlns:a="http://schemas.openxmlformats.org/drawingml/2006/main">
            <a:off x="609600" y="3905250"/>
            <a:ext cx="2743200" cy="704850"/>
          </a:xfrm>
          <a:prstGeom xmlns:a="http://schemas.openxmlformats.org/drawingml/2006/main" prst="roundRect">
            <a:avLst>
              <a:gd name="adj" fmla="val 18919"/>
            </a:avLst>
          </a:prstGeom>
          <a:solidFill xmlns:a="http://schemas.openxmlformats.org/drawingml/2006/main">
            <a:srgbClr val="0B5370"/>
          </a:solidFill>
          <a:ln xmlns:a="http://schemas.openxmlformats.org/drawingml/2006/main" w="9525">
            <a:solidFill>
              <a:srgbClr val="2C7591"/>
            </a:solidFill>
            <a:prstDash val="solid"/>
          </a:ln>
        </p:spPr>
      </p:sp>
      <p:sp>
        <p:nvSpPr>
          <p:cNvPr id="6" name="">
            <a:extLst xmlns:a="http://schemas.openxmlformats.org/drawingml/2006/main">
              <a:ext uri="{FF2B5EF4-FFF2-40B4-BE49-F238E27FC236}">
                <a16:creationId xmlns:a16="http://schemas.microsoft.com/office/drawing/2014/main" id="{E9563DD4-39E8-4018-A9FC-0C52D54A52AF}"/>
              </a:ext>
            </a:extLst>
          </p:cNvPr>
          <p:cNvSpPr>
            <a:spLocks xmlns:a="http://schemas.openxmlformats.org/drawingml/2006/main" noGrp="1"/>
          </p:cNvSpPr>
          <p:nvPr/>
        </p:nvSpPr>
        <p:spPr>
          <a:xfrm xmlns:a="http://schemas.openxmlformats.org/drawingml/2006/main">
            <a:off x="800100" y="40481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7D4F2"/>
                </a:solidFill>
                <a:latin typeface="Geist Mono"/>
                <a:ea typeface="Geist Mono"/>
                <a:cs typeface="Geist Mono"/>
              </a:defRPr>
            </a:pPr>
            <a:r>
              <a:rPr sz="1275" b="1">
                <a:solidFill>
                  <a:srgbClr val="67D4F2"/>
                </a:solidFill>
                <a:latin typeface="Geist Mono"/>
                <a:ea typeface="Geist Mono"/>
                <a:cs typeface="Geist Mono"/>
              </a:rPr>
              <a:t>01</a:t>
            </a:r>
          </a:p>
        </p:txBody>
      </p:sp>
      <p:sp>
        <p:nvSpPr>
          <p:cNvPr id="7" name="">
            <a:extLst xmlns:a="http://schemas.openxmlformats.org/drawingml/2006/main">
              <a:ext uri="{FF2B5EF4-FFF2-40B4-BE49-F238E27FC236}">
                <a16:creationId xmlns:a16="http://schemas.microsoft.com/office/drawing/2014/main" id="{897B0CAC-9F45-47E3-B68E-9A8E20661141}"/>
              </a:ext>
            </a:extLst>
          </p:cNvPr>
          <p:cNvSpPr>
            <a:spLocks xmlns:a="http://schemas.openxmlformats.org/drawingml/2006/main" noGrp="1"/>
          </p:cNvSpPr>
          <p:nvPr/>
        </p:nvSpPr>
        <p:spPr>
          <a:xfrm xmlns:a="http://schemas.openxmlformats.org/drawingml/2006/main">
            <a:off x="1266825" y="4019550"/>
            <a:ext cx="1847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FFFFFF"/>
                </a:solidFill>
                <a:latin typeface="IBM Plex Sans"/>
                <a:ea typeface="IBM Plex Sans"/>
                <a:cs typeface="IBM Plex Sans"/>
              </a:defRPr>
            </a:pPr>
            <a:r>
              <a:rPr sz="1275" b="1">
                <a:solidFill>
                  <a:srgbClr val="FFFFFF"/>
                </a:solidFill>
                <a:latin typeface="IBM Plex Sans"/>
                <a:ea typeface="IBM Plex Sans"/>
                <a:cs typeface="IBM Plex Sans"/>
              </a:rPr>
              <a:t>Folgemonatsprognose</a:t>
            </a:r>
          </a:p>
        </p:txBody>
      </p:sp>
      <p:sp>
        <p:nvSpPr>
          <p:cNvPr id="8" name="">
            <a:extLst xmlns:a="http://schemas.openxmlformats.org/drawingml/2006/main">
              <a:ext uri="{FF2B5EF4-FFF2-40B4-BE49-F238E27FC236}">
                <a16:creationId xmlns:a16="http://schemas.microsoft.com/office/drawing/2014/main" id="{EBE6EC48-057F-4D7B-95A9-2CB26243D03B}"/>
              </a:ext>
            </a:extLst>
          </p:cNvPr>
          <p:cNvSpPr>
            <a:spLocks xmlns:a="http://schemas.openxmlformats.org/drawingml/2006/main" noGrp="1"/>
          </p:cNvSpPr>
          <p:nvPr/>
        </p:nvSpPr>
        <p:spPr>
          <a:xfrm xmlns:a="http://schemas.openxmlformats.org/drawingml/2006/main">
            <a:off x="3419475" y="4124325"/>
            <a:ext cx="285750" cy="190500"/>
          </a:xfrm>
          <a:prstGeom xmlns:a="http://schemas.openxmlformats.org/drawingml/2006/main" prst="rightArrow">
            <a:avLst/>
          </a:prstGeom>
          <a:solidFill xmlns:a="http://schemas.openxmlformats.org/drawingml/2006/main">
            <a:srgbClr val="67D4F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314DF7E-9F35-4053-831D-43C62CD64AFE}"/>
              </a:ext>
            </a:extLst>
          </p:cNvPr>
          <p:cNvSpPr>
            <a:spLocks xmlns:a="http://schemas.openxmlformats.org/drawingml/2006/main" noGrp="1"/>
          </p:cNvSpPr>
          <p:nvPr/>
        </p:nvSpPr>
        <p:spPr>
          <a:xfrm xmlns:a="http://schemas.openxmlformats.org/drawingml/2006/main">
            <a:off x="3752850" y="3905250"/>
            <a:ext cx="2743200" cy="704850"/>
          </a:xfrm>
          <a:prstGeom xmlns:a="http://schemas.openxmlformats.org/drawingml/2006/main" prst="roundRect">
            <a:avLst>
              <a:gd name="adj" fmla="val 18919"/>
            </a:avLst>
          </a:prstGeom>
          <a:solidFill xmlns:a="http://schemas.openxmlformats.org/drawingml/2006/main">
            <a:srgbClr val="0D607E"/>
          </a:solidFill>
          <a:ln xmlns:a="http://schemas.openxmlformats.org/drawingml/2006/main" w="9525">
            <a:solidFill>
              <a:srgbClr val="2C7591"/>
            </a:solidFill>
            <a:prstDash val="solid"/>
          </a:ln>
        </p:spPr>
      </p:sp>
      <p:sp>
        <p:nvSpPr>
          <p:cNvPr id="10" name="">
            <a:extLst xmlns:a="http://schemas.openxmlformats.org/drawingml/2006/main">
              <a:ext uri="{FF2B5EF4-FFF2-40B4-BE49-F238E27FC236}">
                <a16:creationId xmlns:a16="http://schemas.microsoft.com/office/drawing/2014/main" id="{3B4F5279-2777-47B3-8561-0C5C33D2BE15}"/>
              </a:ext>
            </a:extLst>
          </p:cNvPr>
          <p:cNvSpPr>
            <a:spLocks xmlns:a="http://schemas.openxmlformats.org/drawingml/2006/main" noGrp="1"/>
          </p:cNvSpPr>
          <p:nvPr/>
        </p:nvSpPr>
        <p:spPr>
          <a:xfrm xmlns:a="http://schemas.openxmlformats.org/drawingml/2006/main">
            <a:off x="3943350" y="40481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7D4F2"/>
                </a:solidFill>
                <a:latin typeface="Geist Mono"/>
                <a:ea typeface="Geist Mono"/>
                <a:cs typeface="Geist Mono"/>
              </a:defRPr>
            </a:pPr>
            <a:r>
              <a:rPr sz="1275" b="1">
                <a:solidFill>
                  <a:srgbClr val="67D4F2"/>
                </a:solidFill>
                <a:latin typeface="Geist Mono"/>
                <a:ea typeface="Geist Mono"/>
                <a:cs typeface="Geist Mono"/>
              </a:rPr>
              <a:t>02</a:t>
            </a:r>
          </a:p>
        </p:txBody>
      </p:sp>
      <p:sp>
        <p:nvSpPr>
          <p:cNvPr id="11" name="">
            <a:extLst xmlns:a="http://schemas.openxmlformats.org/drawingml/2006/main">
              <a:ext uri="{FF2B5EF4-FFF2-40B4-BE49-F238E27FC236}">
                <a16:creationId xmlns:a16="http://schemas.microsoft.com/office/drawing/2014/main" id="{026003FB-9FA9-483D-9F25-9FB2FD0C169A}"/>
              </a:ext>
            </a:extLst>
          </p:cNvPr>
          <p:cNvSpPr>
            <a:spLocks xmlns:a="http://schemas.openxmlformats.org/drawingml/2006/main" noGrp="1"/>
          </p:cNvSpPr>
          <p:nvPr/>
        </p:nvSpPr>
        <p:spPr>
          <a:xfrm xmlns:a="http://schemas.openxmlformats.org/drawingml/2006/main">
            <a:off x="4410075" y="4019550"/>
            <a:ext cx="1847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FFFFFF"/>
                </a:solidFill>
                <a:latin typeface="IBM Plex Sans"/>
                <a:ea typeface="IBM Plex Sans"/>
                <a:cs typeface="IBM Plex Sans"/>
              </a:defRPr>
            </a:pPr>
            <a:r>
              <a:rPr sz="1275" b="1">
                <a:solidFill>
                  <a:srgbClr val="FFFFFF"/>
                </a:solidFill>
                <a:latin typeface="IBM Plex Sans"/>
                <a:ea typeface="IBM Plex Sans"/>
                <a:cs typeface="IBM Plex Sans"/>
              </a:rPr>
              <a:t>q99-Prüfhinweise</a:t>
            </a:r>
          </a:p>
        </p:txBody>
      </p:sp>
      <p:sp>
        <p:nvSpPr>
          <p:cNvPr id="12" name="">
            <a:extLst xmlns:a="http://schemas.openxmlformats.org/drawingml/2006/main">
              <a:ext uri="{FF2B5EF4-FFF2-40B4-BE49-F238E27FC236}">
                <a16:creationId xmlns:a16="http://schemas.microsoft.com/office/drawing/2014/main" id="{642B55D8-4007-48F8-ABE6-737BFCEBE1FD}"/>
              </a:ext>
            </a:extLst>
          </p:cNvPr>
          <p:cNvSpPr>
            <a:spLocks xmlns:a="http://schemas.openxmlformats.org/drawingml/2006/main" noGrp="1"/>
          </p:cNvSpPr>
          <p:nvPr/>
        </p:nvSpPr>
        <p:spPr>
          <a:xfrm xmlns:a="http://schemas.openxmlformats.org/drawingml/2006/main">
            <a:off x="6562725" y="4124325"/>
            <a:ext cx="285750" cy="190500"/>
          </a:xfrm>
          <a:prstGeom xmlns:a="http://schemas.openxmlformats.org/drawingml/2006/main" prst="rightArrow">
            <a:avLst/>
          </a:prstGeom>
          <a:solidFill xmlns:a="http://schemas.openxmlformats.org/drawingml/2006/main">
            <a:srgbClr val="67D4F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B9305D9-E3C2-4B55-B06B-3A3C144EDDE3}"/>
              </a:ext>
            </a:extLst>
          </p:cNvPr>
          <p:cNvSpPr>
            <a:spLocks xmlns:a="http://schemas.openxmlformats.org/drawingml/2006/main" noGrp="1"/>
          </p:cNvSpPr>
          <p:nvPr/>
        </p:nvSpPr>
        <p:spPr>
          <a:xfrm xmlns:a="http://schemas.openxmlformats.org/drawingml/2006/main">
            <a:off x="6896100" y="3905250"/>
            <a:ext cx="2743200" cy="704850"/>
          </a:xfrm>
          <a:prstGeom xmlns:a="http://schemas.openxmlformats.org/drawingml/2006/main" prst="roundRect">
            <a:avLst>
              <a:gd name="adj" fmla="val 18919"/>
            </a:avLst>
          </a:prstGeom>
          <a:solidFill xmlns:a="http://schemas.openxmlformats.org/drawingml/2006/main">
            <a:srgbClr val="0B5370"/>
          </a:solidFill>
          <a:ln xmlns:a="http://schemas.openxmlformats.org/drawingml/2006/main" w="9525">
            <a:solidFill>
              <a:srgbClr val="2C7591"/>
            </a:solidFill>
            <a:prstDash val="solid"/>
          </a:ln>
        </p:spPr>
      </p:sp>
      <p:sp>
        <p:nvSpPr>
          <p:cNvPr id="14" name="">
            <a:extLst xmlns:a="http://schemas.openxmlformats.org/drawingml/2006/main">
              <a:ext uri="{FF2B5EF4-FFF2-40B4-BE49-F238E27FC236}">
                <a16:creationId xmlns:a16="http://schemas.microsoft.com/office/drawing/2014/main" id="{FBA028E7-F3D2-4E91-BE2A-5F473E63718E}"/>
              </a:ext>
            </a:extLst>
          </p:cNvPr>
          <p:cNvSpPr>
            <a:spLocks xmlns:a="http://schemas.openxmlformats.org/drawingml/2006/main" noGrp="1"/>
          </p:cNvSpPr>
          <p:nvPr/>
        </p:nvSpPr>
        <p:spPr>
          <a:xfrm xmlns:a="http://schemas.openxmlformats.org/drawingml/2006/main">
            <a:off x="7086600" y="40481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7D4F2"/>
                </a:solidFill>
                <a:latin typeface="Geist Mono"/>
                <a:ea typeface="Geist Mono"/>
                <a:cs typeface="Geist Mono"/>
              </a:defRPr>
            </a:pPr>
            <a:r>
              <a:rPr sz="1275" b="1">
                <a:solidFill>
                  <a:srgbClr val="67D4F2"/>
                </a:solidFill>
                <a:latin typeface="Geist Mono"/>
                <a:ea typeface="Geist Mono"/>
                <a:cs typeface="Geist Mono"/>
              </a:rPr>
              <a:t>03</a:t>
            </a:r>
          </a:p>
        </p:txBody>
      </p:sp>
      <p:sp>
        <p:nvSpPr>
          <p:cNvPr id="15" name="">
            <a:extLst xmlns:a="http://schemas.openxmlformats.org/drawingml/2006/main">
              <a:ext uri="{FF2B5EF4-FFF2-40B4-BE49-F238E27FC236}">
                <a16:creationId xmlns:a16="http://schemas.microsoft.com/office/drawing/2014/main" id="{9DF479C5-644C-4E49-A9C3-924BE16497ED}"/>
              </a:ext>
            </a:extLst>
          </p:cNvPr>
          <p:cNvSpPr>
            <a:spLocks xmlns:a="http://schemas.openxmlformats.org/drawingml/2006/main" noGrp="1"/>
          </p:cNvSpPr>
          <p:nvPr/>
        </p:nvSpPr>
        <p:spPr>
          <a:xfrm xmlns:a="http://schemas.openxmlformats.org/drawingml/2006/main">
            <a:off x="7553325" y="4019550"/>
            <a:ext cx="1847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FFFFFF"/>
                </a:solidFill>
                <a:latin typeface="IBM Plex Sans"/>
                <a:ea typeface="IBM Plex Sans"/>
                <a:cs typeface="IBM Plex Sans"/>
              </a:defRPr>
            </a:pPr>
            <a:r>
              <a:rPr sz="1275" b="1">
                <a:solidFill>
                  <a:srgbClr val="FFFFFF"/>
                </a:solidFill>
                <a:latin typeface="IBM Plex Sans"/>
                <a:ea typeface="IBM Plex Sans"/>
                <a:cs typeface="IBM Plex Sans"/>
              </a:rPr>
              <a:t>menschliche Entscheidung</a:t>
            </a:r>
          </a:p>
        </p:txBody>
      </p:sp>
      <p:sp>
        <p:nvSpPr>
          <p:cNvPr id="16" name="">
            <a:extLst xmlns:a="http://schemas.openxmlformats.org/drawingml/2006/main">
              <a:ext uri="{FF2B5EF4-FFF2-40B4-BE49-F238E27FC236}">
                <a16:creationId xmlns:a16="http://schemas.microsoft.com/office/drawing/2014/main" id="{9E55834D-A518-4F1D-9034-474A937356CA}"/>
              </a:ext>
            </a:extLst>
          </p:cNvPr>
          <p:cNvSpPr>
            <a:spLocks xmlns:a="http://schemas.openxmlformats.org/drawingml/2006/main" noGrp="1"/>
          </p:cNvSpPr>
          <p:nvPr/>
        </p:nvSpPr>
        <p:spPr>
          <a:xfrm xmlns:a="http://schemas.openxmlformats.org/drawingml/2006/main">
            <a:off x="609600" y="5219700"/>
            <a:ext cx="933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FFFFF"/>
                </a:solidFill>
                <a:latin typeface="IBM Plex Sans"/>
                <a:ea typeface="IBM Plex Sans"/>
                <a:cs typeface="IBM Plex Sans"/>
              </a:defRPr>
            </a:pPr>
            <a:r>
              <a:rPr sz="1800" b="1">
                <a:solidFill>
                  <a:srgbClr val="FFFFFF"/>
                </a:solidFill>
                <a:latin typeface="IBM Plex Sans"/>
                <a:ea typeface="IBM Plex Sans"/>
                <a:cs typeface="IBM Plex Sans"/>
              </a:rPr>
              <a:t>Das Modell priorisiert Untersuchungswürdiges – es diagnostiziert keinen Defekt.</a:t>
            </a:r>
          </a:p>
        </p:txBody>
      </p:sp>
      <p:sp>
        <p:nvSpPr>
          <p:cNvPr id="17" name="">
            <a:extLst xmlns:a="http://schemas.openxmlformats.org/drawingml/2006/main">
              <a:ext uri="{FF2B5EF4-FFF2-40B4-BE49-F238E27FC236}">
                <a16:creationId xmlns:a16="http://schemas.microsoft.com/office/drawing/2014/main" id="{A603064B-2F56-4134-AAF4-8D82074AAA01}"/>
              </a:ext>
            </a:extLst>
          </p:cNvPr>
          <p:cNvSpPr>
            <a:spLocks xmlns:a="http://schemas.openxmlformats.org/drawingml/2006/main" noGrp="1"/>
          </p:cNvSpPr>
          <p:nvPr/>
        </p:nvSpPr>
        <p:spPr>
          <a:xfrm xmlns:a="http://schemas.openxmlformats.org/drawingml/2006/main">
            <a:off x="609600" y="641985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B6D5E5"/>
                </a:solidFill>
                <a:latin typeface="IBM Plex Sans"/>
                <a:ea typeface="IBM Plex Sans"/>
                <a:cs typeface="IBM Plex Sans"/>
              </a:defRPr>
            </a:pPr>
            <a:r>
              <a:rPr sz="750" b="0">
                <a:solidFill>
                  <a:srgbClr val="B6D5E5"/>
                </a:solidFill>
                <a:latin typeface="IBM Plex Sans"/>
                <a:ea typeface="IBM Plex Sans"/>
                <a:cs typeface="IBM Plex Sans"/>
              </a:rPr>
              <a:t>SWW · Energieanalyse · Modellierung</a:t>
            </a:r>
          </a:p>
        </p:txBody>
      </p:sp>
      <p:sp>
        <p:nvSpPr>
          <p:cNvPr id="18" name="">
            <a:extLst xmlns:a="http://schemas.openxmlformats.org/drawingml/2006/main">
              <a:ext uri="{FF2B5EF4-FFF2-40B4-BE49-F238E27FC236}">
                <a16:creationId xmlns:a16="http://schemas.microsoft.com/office/drawing/2014/main" id="{40EAD579-BB62-4B7C-BAAF-F406E90962EA}"/>
              </a:ext>
            </a:extLst>
          </p:cNvPr>
          <p:cNvSpPr>
            <a:spLocks xmlns:a="http://schemas.openxmlformats.org/drawingml/2006/main" noGrp="1"/>
          </p:cNvSpPr>
          <p:nvPr/>
        </p:nvSpPr>
        <p:spPr>
          <a:xfrm xmlns:a="http://schemas.openxmlformats.org/drawingml/2006/main">
            <a:off x="10668000" y="64008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B6D5E5"/>
                </a:solidFill>
                <a:latin typeface="Geist Mono"/>
                <a:ea typeface="Geist Mono"/>
                <a:cs typeface="Geist Mono"/>
              </a:defRPr>
            </a:pPr>
            <a:r>
              <a:rPr sz="825" b="0">
                <a:solidFill>
                  <a:srgbClr val="B6D5E5"/>
                </a:solidFill>
                <a:latin typeface="Geist Mono"/>
                <a:ea typeface="Geist Mono"/>
                <a:cs typeface="Geist Mono"/>
              </a:rPr>
              <a:t>01</a:t>
            </a:r>
          </a:p>
        </p:txBody>
      </p:sp>
    </p:spTree>
    <p:extLst>
      <p:ext uri="{BB962C8B-B14F-4D97-AF65-F5344CB8AC3E}">
        <p14:creationId xmlns:p14="http://schemas.microsoft.com/office/powerpoint/2010/main" val="18823748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0C323786-4D97-4EF0-9097-D748824D2774}"/>
              </a:ext>
            </a:extLst>
          </p:cNvPr>
          <p:cNvSpPr>
            <a:spLocks xmlns:a="http://schemas.openxmlformats.org/drawingml/2006/main" noGrp="1"/>
          </p:cNvSpPr>
          <p:nvPr/>
        </p:nvSpPr>
        <p:spPr>
          <a:xfrm xmlns:a="http://schemas.openxmlformats.org/drawingml/2006/main">
            <a:off x="533400" y="3048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80A0"/>
                </a:solidFill>
                <a:latin typeface="IBM Plex Sans"/>
                <a:ea typeface="IBM Plex Sans"/>
                <a:cs typeface="IBM Plex Sans"/>
              </a:defRPr>
            </a:pPr>
            <a:r>
              <a:rPr sz="825" b="1">
                <a:solidFill>
                  <a:srgbClr val="0080A0"/>
                </a:solidFill>
                <a:latin typeface="IBM Plex Sans"/>
                <a:ea typeface="IBM Plex Sans"/>
                <a:cs typeface="IBM Plex Sans"/>
              </a:rPr>
              <a:t>SWW / ENERGIEANALYSE  ·  01 · AUFGABE</a:t>
            </a:r>
          </a:p>
        </p:txBody>
      </p:sp>
      <p:sp>
        <p:nvSpPr>
          <p:cNvPr id="2" name="">
            <a:extLst xmlns:a="http://schemas.openxmlformats.org/drawingml/2006/main">
              <a:ext uri="{FF2B5EF4-FFF2-40B4-BE49-F238E27FC236}">
                <a16:creationId xmlns:a16="http://schemas.microsoft.com/office/drawing/2014/main" id="{E7DCDD30-94C8-499B-BF5A-C0BF0EEAA2FB}"/>
              </a:ext>
            </a:extLst>
          </p:cNvPr>
          <p:cNvSpPr>
            <a:spLocks xmlns:a="http://schemas.openxmlformats.org/drawingml/2006/main" noGrp="1"/>
          </p:cNvSpPr>
          <p:nvPr/>
        </p:nvSpPr>
        <p:spPr>
          <a:xfrm xmlns:a="http://schemas.openxmlformats.org/drawingml/2006/main">
            <a:off x="533400" y="638175"/>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0D2742"/>
                </a:solidFill>
                <a:latin typeface="IBM Plex Sans"/>
                <a:ea typeface="IBM Plex Sans"/>
                <a:cs typeface="IBM Plex Sans"/>
              </a:defRPr>
            </a:pPr>
            <a:r>
              <a:rPr sz="2550" b="1">
                <a:solidFill>
                  <a:srgbClr val="0D2742"/>
                </a:solidFill>
                <a:latin typeface="IBM Plex Sans"/>
                <a:ea typeface="IBM Plex Sans"/>
                <a:cs typeface="IBM Plex Sans"/>
              </a:rPr>
              <a:t>Vom Prognosewert zum Arbeitsauftrag</a:t>
            </a:r>
          </a:p>
        </p:txBody>
      </p:sp>
      <p:sp>
        <p:nvSpPr>
          <p:cNvPr id="3" name="">
            <a:extLst xmlns:a="http://schemas.openxmlformats.org/drawingml/2006/main">
              <a:ext uri="{FF2B5EF4-FFF2-40B4-BE49-F238E27FC236}">
                <a16:creationId xmlns:a16="http://schemas.microsoft.com/office/drawing/2014/main" id="{9006D00F-AA92-4028-91CB-9C5578CA381C}"/>
              </a:ext>
            </a:extLst>
          </p:cNvPr>
          <p:cNvSpPr>
            <a:spLocks xmlns:a="http://schemas.openxmlformats.org/drawingml/2006/main" noGrp="1"/>
          </p:cNvSpPr>
          <p:nvPr/>
        </p:nvSpPr>
        <p:spPr>
          <a:xfrm xmlns:a="http://schemas.openxmlformats.org/drawingml/2006/main">
            <a:off x="533400" y="12668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6657A"/>
                </a:solidFill>
                <a:latin typeface="IBM Plex Sans"/>
                <a:ea typeface="IBM Plex Sans"/>
                <a:cs typeface="IBM Plex Sans"/>
              </a:defRPr>
            </a:pPr>
            <a:r>
              <a:rPr sz="1200" b="0">
                <a:solidFill>
                  <a:srgbClr val="56657A"/>
                </a:solidFill>
                <a:latin typeface="IBM Plex Sans"/>
                <a:ea typeface="IBM Plex Sans"/>
                <a:cs typeface="IBM Plex Sans"/>
              </a:rPr>
              <a:t>Prognose und Anomalieprüfung sind zwei getrennte Schritte.</a:t>
            </a:r>
          </a:p>
        </p:txBody>
      </p:sp>
      <p:sp>
        <p:nvSpPr>
          <p:cNvPr id="4" name="">
            <a:extLst xmlns:a="http://schemas.openxmlformats.org/drawingml/2006/main">
              <a:ext uri="{FF2B5EF4-FFF2-40B4-BE49-F238E27FC236}">
                <a16:creationId xmlns:a16="http://schemas.microsoft.com/office/drawing/2014/main" id="{A824E6F7-49F4-456C-A10E-D6AA0E50821F}"/>
              </a:ext>
            </a:extLst>
          </p:cNvPr>
          <p:cNvSpPr>
            <a:spLocks xmlns:a="http://schemas.openxmlformats.org/drawingml/2006/main" noGrp="1"/>
          </p:cNvSpPr>
          <p:nvPr/>
        </p:nvSpPr>
        <p:spPr>
          <a:xfrm xmlns:a="http://schemas.openxmlformats.org/drawingml/2006/main">
            <a:off x="609600" y="2190750"/>
            <a:ext cx="2238375" cy="1428750"/>
          </a:xfrm>
          <a:prstGeom xmlns:a="http://schemas.openxmlformats.org/drawingml/2006/main" prst="roundRect">
            <a:avLst>
              <a:gd name="adj" fmla="val 9333"/>
            </a:avLst>
          </a:prstGeom>
          <a:solidFill xmlns:a="http://schemas.openxmlformats.org/drawingml/2006/main">
            <a:srgbClr val="FFFFFF"/>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12C06A67-2253-4905-B109-D87574ACE05A}"/>
              </a:ext>
            </a:extLst>
          </p:cNvPr>
          <p:cNvSpPr>
            <a:spLocks xmlns:a="http://schemas.openxmlformats.org/drawingml/2006/main" noGrp="1"/>
          </p:cNvSpPr>
          <p:nvPr/>
        </p:nvSpPr>
        <p:spPr>
          <a:xfrm xmlns:a="http://schemas.openxmlformats.org/drawingml/2006/main">
            <a:off x="781050" y="2352675"/>
            <a:ext cx="323850" cy="323850"/>
          </a:xfrm>
          <a:prstGeom xmlns:a="http://schemas.openxmlformats.org/drawingml/2006/main" prst="ellipse">
            <a:avLst/>
          </a:prstGeom>
          <a:solidFill xmlns:a="http://schemas.openxmlformats.org/drawingml/2006/main">
            <a:srgbClr val="0090C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CFB7225-1F58-4B11-B765-7CF98869B9AC}"/>
              </a:ext>
            </a:extLst>
          </p:cNvPr>
          <p:cNvSpPr>
            <a:spLocks xmlns:a="http://schemas.openxmlformats.org/drawingml/2006/main" noGrp="1"/>
          </p:cNvSpPr>
          <p:nvPr/>
        </p:nvSpPr>
        <p:spPr>
          <a:xfrm xmlns:a="http://schemas.openxmlformats.org/drawingml/2006/main">
            <a:off x="781050" y="23907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Geist Mono"/>
                <a:ea typeface="Geist Mono"/>
                <a:cs typeface="Geist Mono"/>
              </a:defRPr>
            </a:pPr>
            <a:r>
              <a:rPr sz="1200" b="1">
                <a:solidFill>
                  <a:srgbClr val="FFFFFF"/>
                </a:solidFill>
                <a:latin typeface="Geist Mono"/>
                <a:ea typeface="Geist Mono"/>
                <a:cs typeface="Geist Mono"/>
              </a:rPr>
              <a:t>1</a:t>
            </a:r>
          </a:p>
        </p:txBody>
      </p:sp>
      <p:sp>
        <p:nvSpPr>
          <p:cNvPr id="7" name="">
            <a:extLst xmlns:a="http://schemas.openxmlformats.org/drawingml/2006/main">
              <a:ext uri="{FF2B5EF4-FFF2-40B4-BE49-F238E27FC236}">
                <a16:creationId xmlns:a16="http://schemas.microsoft.com/office/drawing/2014/main" id="{EAEF189F-8B76-49DF-9B36-E7D95D3123B3}"/>
              </a:ext>
            </a:extLst>
          </p:cNvPr>
          <p:cNvSpPr>
            <a:spLocks xmlns:a="http://schemas.openxmlformats.org/drawingml/2006/main" noGrp="1"/>
          </p:cNvSpPr>
          <p:nvPr/>
        </p:nvSpPr>
        <p:spPr>
          <a:xfrm xmlns:a="http://schemas.openxmlformats.org/drawingml/2006/main">
            <a:off x="781050" y="2781300"/>
            <a:ext cx="1895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084878"/>
                </a:solidFill>
                <a:latin typeface="IBM Plex Sans"/>
                <a:ea typeface="IBM Plex Sans"/>
                <a:cs typeface="IBM Plex Sans"/>
              </a:defRPr>
            </a:pPr>
            <a:r>
              <a:rPr sz="1500" b="1">
                <a:solidFill>
                  <a:srgbClr val="084878"/>
                </a:solidFill>
                <a:latin typeface="IBM Plex Sans"/>
                <a:ea typeface="IBM Plex Sans"/>
                <a:cs typeface="IBM Plex Sans"/>
              </a:rPr>
              <a:t>Prognose</a:t>
            </a:r>
          </a:p>
        </p:txBody>
      </p:sp>
      <p:sp>
        <p:nvSpPr>
          <p:cNvPr id="8" name="">
            <a:extLst xmlns:a="http://schemas.openxmlformats.org/drawingml/2006/main">
              <a:ext uri="{FF2B5EF4-FFF2-40B4-BE49-F238E27FC236}">
                <a16:creationId xmlns:a16="http://schemas.microsoft.com/office/drawing/2014/main" id="{2AB13FED-7C59-40BC-BA9F-33217F9A9609}"/>
              </a:ext>
            </a:extLst>
          </p:cNvPr>
          <p:cNvSpPr>
            <a:spLocks xmlns:a="http://schemas.openxmlformats.org/drawingml/2006/main" noGrp="1"/>
          </p:cNvSpPr>
          <p:nvPr/>
        </p:nvSpPr>
        <p:spPr>
          <a:xfrm xmlns:a="http://schemas.openxmlformats.org/drawingml/2006/main">
            <a:off x="781050" y="3105150"/>
            <a:ext cx="18954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56657A"/>
                </a:solidFill>
                <a:latin typeface="IBM Plex Sans"/>
                <a:ea typeface="IBM Plex Sans"/>
                <a:cs typeface="IBM Plex Sans"/>
              </a:defRPr>
            </a:pPr>
            <a:r>
              <a:rPr sz="1050" b="0">
                <a:solidFill>
                  <a:srgbClr val="56657A"/>
                </a:solidFill>
                <a:latin typeface="IBM Plex Sans"/>
                <a:ea typeface="IBM Plex Sans"/>
                <a:cs typeface="IBM Plex Sans"/>
              </a:rPr>
              <a:t>Vor Monatsbeginn: erwarteten Verbrauch schätzen.</a:t>
            </a:r>
          </a:p>
        </p:txBody>
      </p:sp>
      <p:sp>
        <p:nvSpPr>
          <p:cNvPr id="9" name="">
            <a:extLst xmlns:a="http://schemas.openxmlformats.org/drawingml/2006/main">
              <a:ext uri="{FF2B5EF4-FFF2-40B4-BE49-F238E27FC236}">
                <a16:creationId xmlns:a16="http://schemas.microsoft.com/office/drawing/2014/main" id="{1F63989A-6824-467B-8D39-A8FC83926D52}"/>
              </a:ext>
            </a:extLst>
          </p:cNvPr>
          <p:cNvSpPr>
            <a:spLocks xmlns:a="http://schemas.openxmlformats.org/drawingml/2006/main" noGrp="1"/>
          </p:cNvSpPr>
          <p:nvPr/>
        </p:nvSpPr>
        <p:spPr>
          <a:xfrm xmlns:a="http://schemas.openxmlformats.org/drawingml/2006/main">
            <a:off x="2962275" y="2752725"/>
            <a:ext cx="381000" cy="266700"/>
          </a:xfrm>
          <a:prstGeom xmlns:a="http://schemas.openxmlformats.org/drawingml/2006/main" prst="rightArrow">
            <a:avLst/>
          </a:prstGeom>
          <a:solidFill xmlns:a="http://schemas.openxmlformats.org/drawingml/2006/main">
            <a:srgbClr val="0080A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01DA660-A6DB-4791-9C16-1BFB34BFB9E5}"/>
              </a:ext>
            </a:extLst>
          </p:cNvPr>
          <p:cNvSpPr>
            <a:spLocks xmlns:a="http://schemas.openxmlformats.org/drawingml/2006/main" noGrp="1"/>
          </p:cNvSpPr>
          <p:nvPr/>
        </p:nvSpPr>
        <p:spPr>
          <a:xfrm xmlns:a="http://schemas.openxmlformats.org/drawingml/2006/main">
            <a:off x="3390900" y="2190750"/>
            <a:ext cx="2238375" cy="1428750"/>
          </a:xfrm>
          <a:prstGeom xmlns:a="http://schemas.openxmlformats.org/drawingml/2006/main" prst="roundRect">
            <a:avLst>
              <a:gd name="adj" fmla="val 9333"/>
            </a:avLst>
          </a:prstGeom>
          <a:solidFill xmlns:a="http://schemas.openxmlformats.org/drawingml/2006/main">
            <a:srgbClr val="FFFFFF"/>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DC03A042-542F-4E03-9994-1DCC71E9FB7F}"/>
              </a:ext>
            </a:extLst>
          </p:cNvPr>
          <p:cNvSpPr>
            <a:spLocks xmlns:a="http://schemas.openxmlformats.org/drawingml/2006/main" noGrp="1"/>
          </p:cNvSpPr>
          <p:nvPr/>
        </p:nvSpPr>
        <p:spPr>
          <a:xfrm xmlns:a="http://schemas.openxmlformats.org/drawingml/2006/main">
            <a:off x="3562350" y="2352675"/>
            <a:ext cx="323850" cy="323850"/>
          </a:xfrm>
          <a:prstGeom xmlns:a="http://schemas.openxmlformats.org/drawingml/2006/main" prst="ellipse">
            <a:avLst/>
          </a:prstGeom>
          <a:solidFill xmlns:a="http://schemas.openxmlformats.org/drawingml/2006/main">
            <a:srgbClr val="0090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3D7A771-33E2-43DA-91D0-820777AF3667}"/>
              </a:ext>
            </a:extLst>
          </p:cNvPr>
          <p:cNvSpPr>
            <a:spLocks xmlns:a="http://schemas.openxmlformats.org/drawingml/2006/main" noGrp="1"/>
          </p:cNvSpPr>
          <p:nvPr/>
        </p:nvSpPr>
        <p:spPr>
          <a:xfrm xmlns:a="http://schemas.openxmlformats.org/drawingml/2006/main">
            <a:off x="3562350" y="23907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Geist Mono"/>
                <a:ea typeface="Geist Mono"/>
                <a:cs typeface="Geist Mono"/>
              </a:defRPr>
            </a:pPr>
            <a:r>
              <a:rPr sz="1200" b="1">
                <a:solidFill>
                  <a:srgbClr val="FFFFFF"/>
                </a:solidFill>
                <a:latin typeface="Geist Mono"/>
                <a:ea typeface="Geist Mono"/>
                <a:cs typeface="Geist Mono"/>
              </a:rPr>
              <a:t>2</a:t>
            </a:r>
          </a:p>
        </p:txBody>
      </p:sp>
      <p:sp>
        <p:nvSpPr>
          <p:cNvPr id="13" name="">
            <a:extLst xmlns:a="http://schemas.openxmlformats.org/drawingml/2006/main">
              <a:ext uri="{FF2B5EF4-FFF2-40B4-BE49-F238E27FC236}">
                <a16:creationId xmlns:a16="http://schemas.microsoft.com/office/drawing/2014/main" id="{1855ED50-D5ED-45A6-B54E-43DBAA6A1C25}"/>
              </a:ext>
            </a:extLst>
          </p:cNvPr>
          <p:cNvSpPr>
            <a:spLocks xmlns:a="http://schemas.openxmlformats.org/drawingml/2006/main" noGrp="1"/>
          </p:cNvSpPr>
          <p:nvPr/>
        </p:nvSpPr>
        <p:spPr>
          <a:xfrm xmlns:a="http://schemas.openxmlformats.org/drawingml/2006/main">
            <a:off x="3562350" y="2781300"/>
            <a:ext cx="1895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084878"/>
                </a:solidFill>
                <a:latin typeface="IBM Plex Sans"/>
                <a:ea typeface="IBM Plex Sans"/>
                <a:cs typeface="IBM Plex Sans"/>
              </a:defRPr>
            </a:pPr>
            <a:r>
              <a:rPr sz="1500" b="1">
                <a:solidFill>
                  <a:srgbClr val="084878"/>
                </a:solidFill>
                <a:latin typeface="IBM Plex Sans"/>
                <a:ea typeface="IBM Plex Sans"/>
                <a:cs typeface="IBM Plex Sans"/>
              </a:rPr>
              <a:t>Istwert</a:t>
            </a:r>
          </a:p>
        </p:txBody>
      </p:sp>
      <p:sp>
        <p:nvSpPr>
          <p:cNvPr id="14" name="">
            <a:extLst xmlns:a="http://schemas.openxmlformats.org/drawingml/2006/main">
              <a:ext uri="{FF2B5EF4-FFF2-40B4-BE49-F238E27FC236}">
                <a16:creationId xmlns:a16="http://schemas.microsoft.com/office/drawing/2014/main" id="{275A3375-8BDD-4035-8F9D-353D443DD19A}"/>
              </a:ext>
            </a:extLst>
          </p:cNvPr>
          <p:cNvSpPr>
            <a:spLocks xmlns:a="http://schemas.openxmlformats.org/drawingml/2006/main" noGrp="1"/>
          </p:cNvSpPr>
          <p:nvPr/>
        </p:nvSpPr>
        <p:spPr>
          <a:xfrm xmlns:a="http://schemas.openxmlformats.org/drawingml/2006/main">
            <a:off x="3562350" y="3105150"/>
            <a:ext cx="18954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56657A"/>
                </a:solidFill>
                <a:latin typeface="IBM Plex Sans"/>
                <a:ea typeface="IBM Plex Sans"/>
                <a:cs typeface="IBM Plex Sans"/>
              </a:defRPr>
            </a:pPr>
            <a:r>
              <a:rPr sz="1050" b="0">
                <a:solidFill>
                  <a:srgbClr val="56657A"/>
                </a:solidFill>
                <a:latin typeface="IBM Plex Sans"/>
                <a:ea typeface="IBM Plex Sans"/>
                <a:cs typeface="IBM Plex Sans"/>
              </a:rPr>
              <a:t>Nach Monatsende: gemessenen Verbrauch übernehmen.</a:t>
            </a:r>
          </a:p>
        </p:txBody>
      </p:sp>
      <p:sp>
        <p:nvSpPr>
          <p:cNvPr id="15" name="">
            <a:extLst xmlns:a="http://schemas.openxmlformats.org/drawingml/2006/main">
              <a:ext uri="{FF2B5EF4-FFF2-40B4-BE49-F238E27FC236}">
                <a16:creationId xmlns:a16="http://schemas.microsoft.com/office/drawing/2014/main" id="{AC7B79C6-EECA-4B74-AB37-2F4F5074D3C9}"/>
              </a:ext>
            </a:extLst>
          </p:cNvPr>
          <p:cNvSpPr>
            <a:spLocks xmlns:a="http://schemas.openxmlformats.org/drawingml/2006/main" noGrp="1"/>
          </p:cNvSpPr>
          <p:nvPr/>
        </p:nvSpPr>
        <p:spPr>
          <a:xfrm xmlns:a="http://schemas.openxmlformats.org/drawingml/2006/main">
            <a:off x="5743575" y="2752725"/>
            <a:ext cx="381000" cy="266700"/>
          </a:xfrm>
          <a:prstGeom xmlns:a="http://schemas.openxmlformats.org/drawingml/2006/main" prst="rightArrow">
            <a:avLst/>
          </a:prstGeom>
          <a:solidFill xmlns:a="http://schemas.openxmlformats.org/drawingml/2006/main">
            <a:srgbClr val="0080A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8DBF9AE-5451-4096-A056-FB708079E5A7}"/>
              </a:ext>
            </a:extLst>
          </p:cNvPr>
          <p:cNvSpPr>
            <a:spLocks xmlns:a="http://schemas.openxmlformats.org/drawingml/2006/main" noGrp="1"/>
          </p:cNvSpPr>
          <p:nvPr/>
        </p:nvSpPr>
        <p:spPr>
          <a:xfrm xmlns:a="http://schemas.openxmlformats.org/drawingml/2006/main">
            <a:off x="6172200" y="2190750"/>
            <a:ext cx="2238375" cy="1428750"/>
          </a:xfrm>
          <a:prstGeom xmlns:a="http://schemas.openxmlformats.org/drawingml/2006/main" prst="roundRect">
            <a:avLst>
              <a:gd name="adj" fmla="val 9333"/>
            </a:avLst>
          </a:prstGeom>
          <a:solidFill xmlns:a="http://schemas.openxmlformats.org/drawingml/2006/main">
            <a:srgbClr val="FFFFFF"/>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FB363914-2A7B-477E-BE64-5B4DB3FE2ED8}"/>
              </a:ext>
            </a:extLst>
          </p:cNvPr>
          <p:cNvSpPr>
            <a:spLocks xmlns:a="http://schemas.openxmlformats.org/drawingml/2006/main" noGrp="1"/>
          </p:cNvSpPr>
          <p:nvPr/>
        </p:nvSpPr>
        <p:spPr>
          <a:xfrm xmlns:a="http://schemas.openxmlformats.org/drawingml/2006/main">
            <a:off x="6343650" y="2352675"/>
            <a:ext cx="323850" cy="323850"/>
          </a:xfrm>
          <a:prstGeom xmlns:a="http://schemas.openxmlformats.org/drawingml/2006/main" prst="ellipse">
            <a:avLst/>
          </a:prstGeom>
          <a:solidFill xmlns:a="http://schemas.openxmlformats.org/drawingml/2006/main">
            <a:srgbClr val="0090C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C18B944-1DBD-40D2-87D5-5791ADFED829}"/>
              </a:ext>
            </a:extLst>
          </p:cNvPr>
          <p:cNvSpPr>
            <a:spLocks xmlns:a="http://schemas.openxmlformats.org/drawingml/2006/main" noGrp="1"/>
          </p:cNvSpPr>
          <p:nvPr/>
        </p:nvSpPr>
        <p:spPr>
          <a:xfrm xmlns:a="http://schemas.openxmlformats.org/drawingml/2006/main">
            <a:off x="6343650" y="23907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Geist Mono"/>
                <a:ea typeface="Geist Mono"/>
                <a:cs typeface="Geist Mono"/>
              </a:defRPr>
            </a:pPr>
            <a:r>
              <a:rPr sz="1200" b="1">
                <a:solidFill>
                  <a:srgbClr val="FFFFFF"/>
                </a:solidFill>
                <a:latin typeface="Geist Mono"/>
                <a:ea typeface="Geist Mono"/>
                <a:cs typeface="Geist Mono"/>
              </a:rPr>
              <a:t>3</a:t>
            </a:r>
          </a:p>
        </p:txBody>
      </p:sp>
      <p:sp>
        <p:nvSpPr>
          <p:cNvPr id="19" name="">
            <a:extLst xmlns:a="http://schemas.openxmlformats.org/drawingml/2006/main">
              <a:ext uri="{FF2B5EF4-FFF2-40B4-BE49-F238E27FC236}">
                <a16:creationId xmlns:a16="http://schemas.microsoft.com/office/drawing/2014/main" id="{0FD47ED0-F0B9-4D90-AD72-825A16A789F6}"/>
              </a:ext>
            </a:extLst>
          </p:cNvPr>
          <p:cNvSpPr>
            <a:spLocks xmlns:a="http://schemas.openxmlformats.org/drawingml/2006/main" noGrp="1"/>
          </p:cNvSpPr>
          <p:nvPr/>
        </p:nvSpPr>
        <p:spPr>
          <a:xfrm xmlns:a="http://schemas.openxmlformats.org/drawingml/2006/main">
            <a:off x="6343650" y="2781300"/>
            <a:ext cx="1895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084878"/>
                </a:solidFill>
                <a:latin typeface="IBM Plex Sans"/>
                <a:ea typeface="IBM Plex Sans"/>
                <a:cs typeface="IBM Plex Sans"/>
              </a:defRPr>
            </a:pPr>
            <a:r>
              <a:rPr sz="1500" b="1">
                <a:solidFill>
                  <a:srgbClr val="084878"/>
                </a:solidFill>
                <a:latin typeface="IBM Plex Sans"/>
                <a:ea typeface="IBM Plex Sans"/>
                <a:cs typeface="IBM Plex Sans"/>
              </a:rPr>
              <a:t>Residuum</a:t>
            </a:r>
          </a:p>
        </p:txBody>
      </p:sp>
      <p:sp>
        <p:nvSpPr>
          <p:cNvPr id="20" name="">
            <a:extLst xmlns:a="http://schemas.openxmlformats.org/drawingml/2006/main">
              <a:ext uri="{FF2B5EF4-FFF2-40B4-BE49-F238E27FC236}">
                <a16:creationId xmlns:a16="http://schemas.microsoft.com/office/drawing/2014/main" id="{6D8BCC2B-0280-48F4-930B-4863749B3252}"/>
              </a:ext>
            </a:extLst>
          </p:cNvPr>
          <p:cNvSpPr>
            <a:spLocks xmlns:a="http://schemas.openxmlformats.org/drawingml/2006/main" noGrp="1"/>
          </p:cNvSpPr>
          <p:nvPr/>
        </p:nvSpPr>
        <p:spPr>
          <a:xfrm xmlns:a="http://schemas.openxmlformats.org/drawingml/2006/main">
            <a:off x="6343650" y="3105150"/>
            <a:ext cx="18954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56657A"/>
                </a:solidFill>
                <a:latin typeface="IBM Plex Sans"/>
                <a:ea typeface="IBM Plex Sans"/>
                <a:cs typeface="IBM Plex Sans"/>
              </a:defRPr>
            </a:pPr>
            <a:r>
              <a:rPr sz="1050" b="0">
                <a:solidFill>
                  <a:srgbClr val="56657A"/>
                </a:solidFill>
                <a:latin typeface="IBM Plex Sans"/>
                <a:ea typeface="IBM Plex Sans"/>
                <a:cs typeface="IBM Plex Sans"/>
              </a:rPr>
              <a:t>Ist minus Prognose – Richtung und Stärke bleiben sichtbar.</a:t>
            </a:r>
          </a:p>
        </p:txBody>
      </p:sp>
      <p:sp>
        <p:nvSpPr>
          <p:cNvPr id="21" name="">
            <a:extLst xmlns:a="http://schemas.openxmlformats.org/drawingml/2006/main">
              <a:ext uri="{FF2B5EF4-FFF2-40B4-BE49-F238E27FC236}">
                <a16:creationId xmlns:a16="http://schemas.microsoft.com/office/drawing/2014/main" id="{7CFEA018-96C5-4F3B-90A7-2A250CE008DF}"/>
              </a:ext>
            </a:extLst>
          </p:cNvPr>
          <p:cNvSpPr>
            <a:spLocks xmlns:a="http://schemas.openxmlformats.org/drawingml/2006/main" noGrp="1"/>
          </p:cNvSpPr>
          <p:nvPr/>
        </p:nvSpPr>
        <p:spPr>
          <a:xfrm xmlns:a="http://schemas.openxmlformats.org/drawingml/2006/main">
            <a:off x="8524875" y="2752725"/>
            <a:ext cx="381000" cy="266700"/>
          </a:xfrm>
          <a:prstGeom xmlns:a="http://schemas.openxmlformats.org/drawingml/2006/main" prst="rightArrow">
            <a:avLst/>
          </a:prstGeom>
          <a:solidFill xmlns:a="http://schemas.openxmlformats.org/drawingml/2006/main">
            <a:srgbClr val="0080A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37A1AF9-AAEB-4275-8E07-B0FA6DB68C9F}"/>
              </a:ext>
            </a:extLst>
          </p:cNvPr>
          <p:cNvSpPr>
            <a:spLocks xmlns:a="http://schemas.openxmlformats.org/drawingml/2006/main" noGrp="1"/>
          </p:cNvSpPr>
          <p:nvPr/>
        </p:nvSpPr>
        <p:spPr>
          <a:xfrm xmlns:a="http://schemas.openxmlformats.org/drawingml/2006/main">
            <a:off x="8953500" y="2190750"/>
            <a:ext cx="2238375" cy="1428750"/>
          </a:xfrm>
          <a:prstGeom xmlns:a="http://schemas.openxmlformats.org/drawingml/2006/main" prst="roundRect">
            <a:avLst>
              <a:gd name="adj" fmla="val 9333"/>
            </a:avLst>
          </a:prstGeom>
          <a:solidFill xmlns:a="http://schemas.openxmlformats.org/drawingml/2006/main">
            <a:srgbClr val="FFFFFF"/>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F09620F0-B45C-463B-B3F6-A03CA94F7748}"/>
              </a:ext>
            </a:extLst>
          </p:cNvPr>
          <p:cNvSpPr>
            <a:spLocks xmlns:a="http://schemas.openxmlformats.org/drawingml/2006/main" noGrp="1"/>
          </p:cNvSpPr>
          <p:nvPr/>
        </p:nvSpPr>
        <p:spPr>
          <a:xfrm xmlns:a="http://schemas.openxmlformats.org/drawingml/2006/main">
            <a:off x="9124950" y="2352675"/>
            <a:ext cx="323850" cy="323850"/>
          </a:xfrm>
          <a:prstGeom xmlns:a="http://schemas.openxmlformats.org/drawingml/2006/main" prst="ellipse">
            <a:avLst/>
          </a:prstGeom>
          <a:solidFill xmlns:a="http://schemas.openxmlformats.org/drawingml/2006/main">
            <a:srgbClr val="A86505"/>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9A99EA2-4924-4B0F-BEBC-1A2F86256A8A}"/>
              </a:ext>
            </a:extLst>
          </p:cNvPr>
          <p:cNvSpPr>
            <a:spLocks xmlns:a="http://schemas.openxmlformats.org/drawingml/2006/main" noGrp="1"/>
          </p:cNvSpPr>
          <p:nvPr/>
        </p:nvSpPr>
        <p:spPr>
          <a:xfrm xmlns:a="http://schemas.openxmlformats.org/drawingml/2006/main">
            <a:off x="9124950" y="23907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Geist Mono"/>
                <a:ea typeface="Geist Mono"/>
                <a:cs typeface="Geist Mono"/>
              </a:defRPr>
            </a:pPr>
            <a:r>
              <a:rPr sz="1200" b="1">
                <a:solidFill>
                  <a:srgbClr val="FFFFFF"/>
                </a:solidFill>
                <a:latin typeface="Geist Mono"/>
                <a:ea typeface="Geist Mono"/>
                <a:cs typeface="Geist Mono"/>
              </a:rPr>
              <a:t>4</a:t>
            </a:r>
          </a:p>
        </p:txBody>
      </p:sp>
      <p:sp>
        <p:nvSpPr>
          <p:cNvPr id="25" name="">
            <a:extLst xmlns:a="http://schemas.openxmlformats.org/drawingml/2006/main">
              <a:ext uri="{FF2B5EF4-FFF2-40B4-BE49-F238E27FC236}">
                <a16:creationId xmlns:a16="http://schemas.microsoft.com/office/drawing/2014/main" id="{0FAF378F-7F39-4FCB-BAC4-AEEC72B7C999}"/>
              </a:ext>
            </a:extLst>
          </p:cNvPr>
          <p:cNvSpPr>
            <a:spLocks xmlns:a="http://schemas.openxmlformats.org/drawingml/2006/main" noGrp="1"/>
          </p:cNvSpPr>
          <p:nvPr/>
        </p:nvSpPr>
        <p:spPr>
          <a:xfrm xmlns:a="http://schemas.openxmlformats.org/drawingml/2006/main">
            <a:off x="9124950" y="2781300"/>
            <a:ext cx="1895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084878"/>
                </a:solidFill>
                <a:latin typeface="IBM Plex Sans"/>
                <a:ea typeface="IBM Plex Sans"/>
                <a:cs typeface="IBM Plex Sans"/>
              </a:defRPr>
            </a:pPr>
            <a:r>
              <a:rPr sz="1500" b="1">
                <a:solidFill>
                  <a:srgbClr val="084878"/>
                </a:solidFill>
                <a:latin typeface="IBM Plex Sans"/>
                <a:ea typeface="IBM Plex Sans"/>
                <a:cs typeface="IBM Plex Sans"/>
              </a:rPr>
              <a:t>Fachprüfung</a:t>
            </a:r>
          </a:p>
        </p:txBody>
      </p:sp>
      <p:sp>
        <p:nvSpPr>
          <p:cNvPr id="26" name="">
            <a:extLst xmlns:a="http://schemas.openxmlformats.org/drawingml/2006/main">
              <a:ext uri="{FF2B5EF4-FFF2-40B4-BE49-F238E27FC236}">
                <a16:creationId xmlns:a16="http://schemas.microsoft.com/office/drawing/2014/main" id="{DB4744DF-F731-4B81-89B8-62F489A82E26}"/>
              </a:ext>
            </a:extLst>
          </p:cNvPr>
          <p:cNvSpPr>
            <a:spLocks xmlns:a="http://schemas.openxmlformats.org/drawingml/2006/main" noGrp="1"/>
          </p:cNvSpPr>
          <p:nvPr/>
        </p:nvSpPr>
        <p:spPr>
          <a:xfrm xmlns:a="http://schemas.openxmlformats.org/drawingml/2006/main">
            <a:off x="9124950" y="3105150"/>
            <a:ext cx="18954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56657A"/>
                </a:solidFill>
                <a:latin typeface="IBM Plex Sans"/>
                <a:ea typeface="IBM Plex Sans"/>
                <a:cs typeface="IBM Plex Sans"/>
              </a:defRPr>
            </a:pPr>
            <a:r>
              <a:rPr sz="1050" b="0">
                <a:solidFill>
                  <a:srgbClr val="56657A"/>
                </a:solidFill>
                <a:latin typeface="IBM Plex Sans"/>
                <a:ea typeface="IBM Plex Sans"/>
                <a:cs typeface="IBM Plex Sans"/>
              </a:rPr>
              <a:t>Große Abweichung priorisieren, Ursache menschlich prüfen.</a:t>
            </a:r>
          </a:p>
        </p:txBody>
      </p:sp>
      <p:sp>
        <p:nvSpPr>
          <p:cNvPr id="27" name="">
            <a:extLst xmlns:a="http://schemas.openxmlformats.org/drawingml/2006/main">
              <a:ext uri="{FF2B5EF4-FFF2-40B4-BE49-F238E27FC236}">
                <a16:creationId xmlns:a16="http://schemas.microsoft.com/office/drawing/2014/main" id="{62C4F335-E654-4E8D-8149-09C187621533}"/>
              </a:ext>
            </a:extLst>
          </p:cNvPr>
          <p:cNvSpPr>
            <a:spLocks xmlns:a="http://schemas.openxmlformats.org/drawingml/2006/main" noGrp="1"/>
          </p:cNvSpPr>
          <p:nvPr/>
        </p:nvSpPr>
        <p:spPr>
          <a:xfrm xmlns:a="http://schemas.openxmlformats.org/drawingml/2006/main">
            <a:off x="1619250" y="4333875"/>
            <a:ext cx="8953500" cy="904875"/>
          </a:xfrm>
          <a:prstGeom xmlns:a="http://schemas.openxmlformats.org/drawingml/2006/main" prst="roundRect">
            <a:avLst>
              <a:gd name="adj" fmla="val 14737"/>
            </a:avLst>
          </a:prstGeom>
          <a:solidFill xmlns:a="http://schemas.openxmlformats.org/drawingml/2006/main">
            <a:srgbClr val="F5F8FB"/>
          </a:solidFill>
          <a:ln xmlns:a="http://schemas.openxmlformats.org/drawingml/2006/main" w="9525">
            <a:solidFill>
              <a:srgbClr val="D7E0EA"/>
            </a:solidFill>
            <a:prstDash val="solid"/>
          </a:ln>
        </p:spPr>
      </p:sp>
      <p:sp>
        <p:nvSpPr>
          <p:cNvPr id="28" name="">
            <a:extLst xmlns:a="http://schemas.openxmlformats.org/drawingml/2006/main">
              <a:ext uri="{FF2B5EF4-FFF2-40B4-BE49-F238E27FC236}">
                <a16:creationId xmlns:a16="http://schemas.microsoft.com/office/drawing/2014/main" id="{DF4D76D1-D133-4AC0-B078-3CD0FC9CCC28}"/>
              </a:ext>
            </a:extLst>
          </p:cNvPr>
          <p:cNvSpPr>
            <a:spLocks xmlns:a="http://schemas.openxmlformats.org/drawingml/2006/main" noGrp="1"/>
          </p:cNvSpPr>
          <p:nvPr/>
        </p:nvSpPr>
        <p:spPr>
          <a:xfrm xmlns:a="http://schemas.openxmlformats.org/drawingml/2006/main">
            <a:off x="1952625" y="45529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084878"/>
                </a:solidFill>
                <a:latin typeface="Geist Mono"/>
                <a:ea typeface="Geist Mono"/>
                <a:cs typeface="Geist Mono"/>
              </a:defRPr>
            </a:pPr>
            <a:r>
              <a:rPr sz="1950" b="1">
                <a:solidFill>
                  <a:srgbClr val="084878"/>
                </a:solidFill>
                <a:latin typeface="Geist Mono"/>
                <a:ea typeface="Geist Mono"/>
                <a:cs typeface="Geist Mono"/>
              </a:rPr>
              <a:t>Residuum = Istwert − Prognose</a:t>
            </a:r>
          </a:p>
        </p:txBody>
      </p:sp>
      <p:sp>
        <p:nvSpPr>
          <p:cNvPr id="29" name="">
            <a:extLst xmlns:a="http://schemas.openxmlformats.org/drawingml/2006/main">
              <a:ext uri="{FF2B5EF4-FFF2-40B4-BE49-F238E27FC236}">
                <a16:creationId xmlns:a16="http://schemas.microsoft.com/office/drawing/2014/main" id="{AFB2FB9A-32D1-4B36-AA3D-7B15A0E2EDCA}"/>
              </a:ext>
            </a:extLst>
          </p:cNvPr>
          <p:cNvSpPr>
            <a:spLocks xmlns:a="http://schemas.openxmlformats.org/drawingml/2006/main" noGrp="1"/>
          </p:cNvSpPr>
          <p:nvPr/>
        </p:nvSpPr>
        <p:spPr>
          <a:xfrm xmlns:a="http://schemas.openxmlformats.org/drawingml/2006/main">
            <a:off x="6143625" y="4543425"/>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105"/>
          </a:bodyPr>
          <a:lstStyle xmlns:a="http://schemas.openxmlformats.org/drawingml/2006/main"/>
          <a:p xmlns:a="http://schemas.openxmlformats.org/drawingml/2006/main">
            <a:pPr algn="ctr">
              <a:defRPr sz="1425" b="1">
                <a:solidFill>
                  <a:srgbClr val="B3261E"/>
                </a:solidFill>
                <a:latin typeface="IBM Plex Sans"/>
                <a:ea typeface="IBM Plex Sans"/>
                <a:cs typeface="IBM Plex Sans"/>
              </a:defRPr>
            </a:pPr>
            <a:r>
              <a:rPr sz="1425" b="1">
                <a:solidFill>
                  <a:srgbClr val="B3261E"/>
                </a:solidFill>
                <a:latin typeface="IBM Plex Sans"/>
                <a:ea typeface="IBM Plex Sans"/>
                <a:cs typeface="IBM Plex Sans"/>
              </a:rPr>
              <a:t>Schwelle überschritten  →  Prüfhinweis  ≠  bestätigte Anomalie</a:t>
            </a:r>
          </a:p>
        </p:txBody>
      </p:sp>
      <p:sp>
        <p:nvSpPr>
          <p:cNvPr id="30" name="">
            <a:extLst xmlns:a="http://schemas.openxmlformats.org/drawingml/2006/main">
              <a:ext uri="{FF2B5EF4-FFF2-40B4-BE49-F238E27FC236}">
                <a16:creationId xmlns:a16="http://schemas.microsoft.com/office/drawing/2014/main" id="{32E815A6-8160-4F39-9C6E-919C9DA81932}"/>
              </a:ext>
            </a:extLst>
          </p:cNvPr>
          <p:cNvSpPr>
            <a:spLocks xmlns:a="http://schemas.openxmlformats.org/drawingml/2006/main" noGrp="1"/>
          </p:cNvSpPr>
          <p:nvPr/>
        </p:nvSpPr>
        <p:spPr>
          <a:xfrm xmlns:a="http://schemas.openxmlformats.org/drawingml/2006/main">
            <a:off x="533400" y="6229350"/>
            <a:ext cx="11106150" cy="0"/>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31" name="">
            <a:extLst xmlns:a="http://schemas.openxmlformats.org/drawingml/2006/main">
              <a:ext uri="{FF2B5EF4-FFF2-40B4-BE49-F238E27FC236}">
                <a16:creationId xmlns:a16="http://schemas.microsoft.com/office/drawing/2014/main" id="{2E79B74F-3E8D-4DCD-A1AA-93884548FD36}"/>
              </a:ext>
            </a:extLst>
          </p:cNvPr>
          <p:cNvSpPr>
            <a:spLocks xmlns:a="http://schemas.openxmlformats.org/drawingml/2006/main" noGrp="1"/>
          </p:cNvSpPr>
          <p:nvPr/>
        </p:nvSpPr>
        <p:spPr>
          <a:xfrm xmlns:a="http://schemas.openxmlformats.org/drawingml/2006/main">
            <a:off x="533400" y="6229350"/>
            <a:ext cx="895350" cy="0"/>
          </a:xfrm>
          <a:prstGeom xmlns:a="http://schemas.openxmlformats.org/drawingml/2006/main" prst="line">
            <a:avLst/>
          </a:prstGeom>
          <a:noFill xmlns:a="http://schemas.openxmlformats.org/drawingml/2006/main"/>
          <a:ln xmlns:a="http://schemas.openxmlformats.org/drawingml/2006/main" w="38100">
            <a:solidFill>
              <a:srgbClr val="084878"/>
            </a:solidFill>
            <a:prstDash val="solid"/>
          </a:ln>
        </p:spPr>
      </p:sp>
      <p:sp>
        <p:nvSpPr>
          <p:cNvPr id="32" name="">
            <a:extLst xmlns:a="http://schemas.openxmlformats.org/drawingml/2006/main">
              <a:ext uri="{FF2B5EF4-FFF2-40B4-BE49-F238E27FC236}">
                <a16:creationId xmlns:a16="http://schemas.microsoft.com/office/drawing/2014/main" id="{B6603C45-7914-4176-B0FA-CBD202DCB84C}"/>
              </a:ext>
            </a:extLst>
          </p:cNvPr>
          <p:cNvSpPr>
            <a:spLocks xmlns:a="http://schemas.openxmlformats.org/drawingml/2006/main" noGrp="1"/>
          </p:cNvSpPr>
          <p:nvPr/>
        </p:nvSpPr>
        <p:spPr>
          <a:xfrm xmlns:a="http://schemas.openxmlformats.org/drawingml/2006/main">
            <a:off x="533400" y="635317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13" b="0">
                <a:solidFill>
                  <a:srgbClr val="56657A"/>
                </a:solidFill>
                <a:latin typeface="IBM Plex Sans"/>
                <a:ea typeface="IBM Plex Sans"/>
                <a:cs typeface="IBM Plex Sans"/>
              </a:defRPr>
            </a:pPr>
            <a:r>
              <a:rPr sz="713" b="0">
                <a:solidFill>
                  <a:srgbClr val="56657A"/>
                </a:solidFill>
                <a:latin typeface="IBM Plex Sans"/>
                <a:ea typeface="IBM Plex Sans"/>
                <a:cs typeface="IBM Plex Sans"/>
              </a:rPr>
              <a:t>Quelle: notebooks/13_modellierung_von_grund_auf_verstehen.ipynb</a:t>
            </a:r>
          </a:p>
        </p:txBody>
      </p:sp>
      <p:sp>
        <p:nvSpPr>
          <p:cNvPr id="33" name="">
            <a:extLst xmlns:a="http://schemas.openxmlformats.org/drawingml/2006/main">
              <a:ext uri="{FF2B5EF4-FFF2-40B4-BE49-F238E27FC236}">
                <a16:creationId xmlns:a16="http://schemas.microsoft.com/office/drawing/2014/main" id="{7B5059D7-26E1-4290-98FD-3FACEA6797C9}"/>
              </a:ext>
            </a:extLst>
          </p:cNvPr>
          <p:cNvSpPr>
            <a:spLocks xmlns:a="http://schemas.openxmlformats.org/drawingml/2006/main" noGrp="1"/>
          </p:cNvSpPr>
          <p:nvPr/>
        </p:nvSpPr>
        <p:spPr>
          <a:xfrm xmlns:a="http://schemas.openxmlformats.org/drawingml/2006/main">
            <a:off x="10477500" y="63817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56657A"/>
                </a:solidFill>
                <a:latin typeface="Geist Mono"/>
                <a:ea typeface="Geist Mono"/>
                <a:cs typeface="Geist Mono"/>
              </a:defRPr>
            </a:pPr>
            <a:r>
              <a:rPr sz="825" b="0">
                <a:solidFill>
                  <a:srgbClr val="56657A"/>
                </a:solidFill>
                <a:latin typeface="Geist Mono"/>
                <a:ea typeface="Geist Mono"/>
                <a:cs typeface="Geist Mono"/>
              </a:rPr>
              <a:t>02</a:t>
            </a:r>
          </a:p>
        </p:txBody>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f2fb7c33f8d84598"/>
          <a:stretch xmlns:a="http://schemas.openxmlformats.org/drawingml/2006/main"/>
        </p:blipFill>
        <p:spPr>
          <a:xfrm xmlns:a="http://schemas.openxmlformats.org/drawingml/2006/main">
            <a:off x="11058812" y="6296025"/>
            <a:ext cx="513776" cy="438150"/>
          </a:xfrm>
          <a:prstGeom xmlns:a="http://schemas.openxmlformats.org/drawingml/2006/main" prst="rect">
            <a:avLst/>
          </a:prstGeom>
        </p:spPr>
      </p:pic>
    </p:spTree>
    <p:extLst>
      <p:ext uri="{BB962C8B-B14F-4D97-AF65-F5344CB8AC3E}">
        <p14:creationId xmlns:p14="http://schemas.microsoft.com/office/powerpoint/2010/main" val="7172884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F4AA939-747F-433F-894F-AD7C542B85CE}"/>
              </a:ext>
            </a:extLst>
          </p:cNvPr>
          <p:cNvSpPr>
            <a:spLocks xmlns:a="http://schemas.openxmlformats.org/drawingml/2006/main" noGrp="1"/>
          </p:cNvSpPr>
          <p:nvPr/>
        </p:nvSpPr>
        <p:spPr>
          <a:xfrm xmlns:a="http://schemas.openxmlformats.org/drawingml/2006/main">
            <a:off x="533400" y="3048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80A0"/>
                </a:solidFill>
                <a:latin typeface="IBM Plex Sans"/>
                <a:ea typeface="IBM Plex Sans"/>
                <a:cs typeface="IBM Plex Sans"/>
              </a:defRPr>
            </a:pPr>
            <a:r>
              <a:rPr sz="825" b="1">
                <a:solidFill>
                  <a:srgbClr val="0080A0"/>
                </a:solidFill>
                <a:latin typeface="IBM Plex Sans"/>
                <a:ea typeface="IBM Plex Sans"/>
                <a:cs typeface="IBM Plex Sans"/>
              </a:rPr>
              <a:t>SWW / ENERGIEANALYSE  ·  01 · ZIELVARIABLE</a:t>
            </a:r>
          </a:p>
        </p:txBody>
      </p:sp>
      <p:sp>
        <p:nvSpPr>
          <p:cNvPr id="2" name="">
            <a:extLst xmlns:a="http://schemas.openxmlformats.org/drawingml/2006/main">
              <a:ext uri="{FF2B5EF4-FFF2-40B4-BE49-F238E27FC236}">
                <a16:creationId xmlns:a16="http://schemas.microsoft.com/office/drawing/2014/main" id="{BEC2C5D3-1662-48C4-A532-02C1FBBE4A4E}"/>
              </a:ext>
            </a:extLst>
          </p:cNvPr>
          <p:cNvSpPr>
            <a:spLocks xmlns:a="http://schemas.openxmlformats.org/drawingml/2006/main" noGrp="1"/>
          </p:cNvSpPr>
          <p:nvPr/>
        </p:nvSpPr>
        <p:spPr>
          <a:xfrm xmlns:a="http://schemas.openxmlformats.org/drawingml/2006/main">
            <a:off x="533400" y="638175"/>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0D2742"/>
                </a:solidFill>
                <a:latin typeface="IBM Plex Sans"/>
                <a:ea typeface="IBM Plex Sans"/>
                <a:cs typeface="IBM Plex Sans"/>
              </a:defRPr>
            </a:pPr>
            <a:r>
              <a:rPr sz="2550" b="1">
                <a:solidFill>
                  <a:srgbClr val="0D2742"/>
                </a:solidFill>
                <a:latin typeface="IBM Plex Sans"/>
                <a:ea typeface="IBM Plex Sans"/>
                <a:cs typeface="IBM Plex Sans"/>
              </a:rPr>
              <a:t>Warum wir Vollaststunden vorhersagen</a:t>
            </a:r>
          </a:p>
        </p:txBody>
      </p:sp>
      <p:sp>
        <p:nvSpPr>
          <p:cNvPr id="3" name="">
            <a:extLst xmlns:a="http://schemas.openxmlformats.org/drawingml/2006/main">
              <a:ext uri="{FF2B5EF4-FFF2-40B4-BE49-F238E27FC236}">
                <a16:creationId xmlns:a16="http://schemas.microsoft.com/office/drawing/2014/main" id="{2C516BDF-DA5C-403B-9DBB-162BEACC7B22}"/>
              </a:ext>
            </a:extLst>
          </p:cNvPr>
          <p:cNvSpPr>
            <a:spLocks xmlns:a="http://schemas.openxmlformats.org/drawingml/2006/main" noGrp="1"/>
          </p:cNvSpPr>
          <p:nvPr/>
        </p:nvSpPr>
        <p:spPr>
          <a:xfrm xmlns:a="http://schemas.openxmlformats.org/drawingml/2006/main">
            <a:off x="533400" y="12668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6657A"/>
                </a:solidFill>
                <a:latin typeface="IBM Plex Sans"/>
                <a:ea typeface="IBM Plex Sans"/>
                <a:cs typeface="IBM Plex Sans"/>
              </a:defRPr>
            </a:pPr>
            <a:r>
              <a:rPr sz="1200" b="0">
                <a:solidFill>
                  <a:srgbClr val="56657A"/>
                </a:solidFill>
                <a:latin typeface="IBM Plex Sans"/>
                <a:ea typeface="IBM Plex Sans"/>
                <a:cs typeface="IBM Plex Sans"/>
              </a:rPr>
              <a:t>VLS normalisieren den Verbrauch auf die Anschlussgröße – sie sind keine gemessene Laufzeit.</a:t>
            </a:r>
          </a:p>
        </p:txBody>
      </p:sp>
      <p:sp>
        <p:nvSpPr>
          <p:cNvPr id="4" name="">
            <a:extLst xmlns:a="http://schemas.openxmlformats.org/drawingml/2006/main">
              <a:ext uri="{FF2B5EF4-FFF2-40B4-BE49-F238E27FC236}">
                <a16:creationId xmlns:a16="http://schemas.microsoft.com/office/drawing/2014/main" id="{33B852D4-37EF-46DF-80D2-B0266C2AB625}"/>
              </a:ext>
            </a:extLst>
          </p:cNvPr>
          <p:cNvSpPr>
            <a:spLocks xmlns:a="http://schemas.openxmlformats.org/drawingml/2006/main" noGrp="1"/>
          </p:cNvSpPr>
          <p:nvPr/>
        </p:nvSpPr>
        <p:spPr>
          <a:xfrm xmlns:a="http://schemas.openxmlformats.org/drawingml/2006/main">
            <a:off x="914400" y="1885950"/>
            <a:ext cx="10363200" cy="1000125"/>
          </a:xfrm>
          <a:prstGeom xmlns:a="http://schemas.openxmlformats.org/drawingml/2006/main" prst="roundRect">
            <a:avLst>
              <a:gd name="adj" fmla="val 13333"/>
            </a:avLst>
          </a:prstGeom>
          <a:solidFill xmlns:a="http://schemas.openxmlformats.org/drawingml/2006/main">
            <a:srgbClr val="0D274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AAA9820-5DF6-4DBE-8349-57DB46C5B4BD}"/>
              </a:ext>
            </a:extLst>
          </p:cNvPr>
          <p:cNvSpPr>
            <a:spLocks xmlns:a="http://schemas.openxmlformats.org/drawingml/2006/main" noGrp="1"/>
          </p:cNvSpPr>
          <p:nvPr/>
        </p:nvSpPr>
        <p:spPr>
          <a:xfrm xmlns:a="http://schemas.openxmlformats.org/drawingml/2006/main">
            <a:off x="1257300" y="2190750"/>
            <a:ext cx="9677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a:solidFill>
                  <a:srgbClr val="FFFFFF"/>
                </a:solidFill>
                <a:latin typeface="Geist Mono"/>
                <a:ea typeface="Geist Mono"/>
                <a:cs typeface="Geist Mono"/>
              </a:defRPr>
            </a:pPr>
            <a:r>
              <a:rPr sz="2250" b="1">
                <a:solidFill>
                  <a:srgbClr val="FFFFFF"/>
                </a:solidFill>
                <a:latin typeface="Geist Mono"/>
                <a:ea typeface="Geist Mono"/>
                <a:cs typeface="Geist Mono"/>
              </a:rPr>
              <a:t>VLS-h = Verbrauch in kWh  ÷  Vertragsleistung in kW</a:t>
            </a:r>
          </a:p>
        </p:txBody>
      </p:sp>
      <p:sp>
        <p:nvSpPr>
          <p:cNvPr id="6" name="">
            <a:extLst xmlns:a="http://schemas.openxmlformats.org/drawingml/2006/main">
              <a:ext uri="{FF2B5EF4-FFF2-40B4-BE49-F238E27FC236}">
                <a16:creationId xmlns:a16="http://schemas.microsoft.com/office/drawing/2014/main" id="{82685E07-BFF8-43FC-880F-0869DFE9BAA8}"/>
              </a:ext>
            </a:extLst>
          </p:cNvPr>
          <p:cNvSpPr>
            <a:spLocks xmlns:a="http://schemas.openxmlformats.org/drawingml/2006/main" noGrp="1"/>
          </p:cNvSpPr>
          <p:nvPr/>
        </p:nvSpPr>
        <p:spPr>
          <a:xfrm xmlns:a="http://schemas.openxmlformats.org/drawingml/2006/main">
            <a:off x="914400" y="3333750"/>
            <a:ext cx="4000500" cy="1619250"/>
          </a:xfrm>
          <a:prstGeom xmlns:a="http://schemas.openxmlformats.org/drawingml/2006/main" prst="roundRect">
            <a:avLst>
              <a:gd name="adj" fmla="val 8235"/>
            </a:avLst>
          </a:prstGeom>
          <a:solidFill xmlns:a="http://schemas.openxmlformats.org/drawingml/2006/main">
            <a:srgbClr val="F5F8FB"/>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B980D6AA-9CA7-40C9-B88A-76FFB8380282}"/>
              </a:ext>
            </a:extLst>
          </p:cNvPr>
          <p:cNvSpPr>
            <a:spLocks xmlns:a="http://schemas.openxmlformats.org/drawingml/2006/main" noGrp="1"/>
          </p:cNvSpPr>
          <p:nvPr/>
        </p:nvSpPr>
        <p:spPr>
          <a:xfrm xmlns:a="http://schemas.openxmlformats.org/drawingml/2006/main">
            <a:off x="914400" y="3333750"/>
            <a:ext cx="57150" cy="16192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311180D-83E0-48C7-A962-C0AE39FEAA5F}"/>
              </a:ext>
            </a:extLst>
          </p:cNvPr>
          <p:cNvSpPr>
            <a:spLocks xmlns:a="http://schemas.openxmlformats.org/drawingml/2006/main" noGrp="1"/>
          </p:cNvSpPr>
          <p:nvPr/>
        </p:nvSpPr>
        <p:spPr>
          <a:xfrm xmlns:a="http://schemas.openxmlformats.org/drawingml/2006/main">
            <a:off x="1104900" y="3476625"/>
            <a:ext cx="3638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80A0"/>
                </a:solidFill>
                <a:latin typeface="IBM Plex Sans"/>
                <a:ea typeface="IBM Plex Sans"/>
                <a:cs typeface="IBM Plex Sans"/>
              </a:defRPr>
            </a:pPr>
            <a:r>
              <a:rPr sz="825" b="1">
                <a:solidFill>
                  <a:srgbClr val="0080A0"/>
                </a:solidFill>
                <a:latin typeface="IBM Plex Sans"/>
                <a:ea typeface="IBM Plex Sans"/>
                <a:cs typeface="IBM Plex Sans"/>
              </a:rPr>
              <a:t>KLEINER ANSCHLUSS</a:t>
            </a:r>
          </a:p>
        </p:txBody>
      </p:sp>
      <p:sp>
        <p:nvSpPr>
          <p:cNvPr id="9" name="">
            <a:extLst xmlns:a="http://schemas.openxmlformats.org/drawingml/2006/main">
              <a:ext uri="{FF2B5EF4-FFF2-40B4-BE49-F238E27FC236}">
                <a16:creationId xmlns:a16="http://schemas.microsoft.com/office/drawing/2014/main" id="{A2D32DF5-A8E7-4663-8A9F-00066ADC683A}"/>
              </a:ext>
            </a:extLst>
          </p:cNvPr>
          <p:cNvSpPr>
            <a:spLocks xmlns:a="http://schemas.openxmlformats.org/drawingml/2006/main" noGrp="1"/>
          </p:cNvSpPr>
          <p:nvPr/>
        </p:nvSpPr>
        <p:spPr>
          <a:xfrm xmlns:a="http://schemas.openxmlformats.org/drawingml/2006/main">
            <a:off x="1104900" y="3733800"/>
            <a:ext cx="3638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084878"/>
                </a:solidFill>
                <a:latin typeface="Geist Mono"/>
                <a:ea typeface="Geist Mono"/>
                <a:cs typeface="Geist Mono"/>
              </a:defRPr>
            </a:pPr>
            <a:r>
              <a:rPr sz="1650" b="1">
                <a:solidFill>
                  <a:srgbClr val="084878"/>
                </a:solidFill>
                <a:latin typeface="Geist Mono"/>
                <a:ea typeface="Geist Mono"/>
                <a:cs typeface="Geist Mono"/>
              </a:rPr>
              <a:t>10.000 kWh ÷ 50 kW = 200 h</a:t>
            </a:r>
          </a:p>
        </p:txBody>
      </p:sp>
      <p:sp>
        <p:nvSpPr>
          <p:cNvPr id="10" name="">
            <a:extLst xmlns:a="http://schemas.openxmlformats.org/drawingml/2006/main">
              <a:ext uri="{FF2B5EF4-FFF2-40B4-BE49-F238E27FC236}">
                <a16:creationId xmlns:a16="http://schemas.microsoft.com/office/drawing/2014/main" id="{C06C09BC-AB9F-4559-A688-F7E15EEA263B}"/>
              </a:ext>
            </a:extLst>
          </p:cNvPr>
          <p:cNvSpPr>
            <a:spLocks xmlns:a="http://schemas.openxmlformats.org/drawingml/2006/main" noGrp="1"/>
          </p:cNvSpPr>
          <p:nvPr/>
        </p:nvSpPr>
        <p:spPr>
          <a:xfrm xmlns:a="http://schemas.openxmlformats.org/drawingml/2006/main">
            <a:off x="1104900" y="4171950"/>
            <a:ext cx="36385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a:solidFill>
                  <a:srgbClr val="56657A"/>
                </a:solidFill>
                <a:latin typeface="IBM Plex Sans"/>
                <a:ea typeface="IBM Plex Sans"/>
                <a:cs typeface="IBM Plex Sans"/>
              </a:defRPr>
            </a:pPr>
            <a:r>
              <a:rPr sz="1125" b="0">
                <a:solidFill>
                  <a:srgbClr val="56657A"/>
                </a:solidFill>
                <a:latin typeface="IBM Plex Sans"/>
                <a:ea typeface="IBM Plex Sans"/>
                <a:cs typeface="IBM Plex Sans"/>
              </a:rPr>
              <a:t>Geringere Energiemenge, aber dieselbe relative Auslastung.</a:t>
            </a:r>
          </a:p>
        </p:txBody>
      </p:sp>
      <p:sp>
        <p:nvSpPr>
          <p:cNvPr id="11" name="">
            <a:extLst xmlns:a="http://schemas.openxmlformats.org/drawingml/2006/main">
              <a:ext uri="{FF2B5EF4-FFF2-40B4-BE49-F238E27FC236}">
                <a16:creationId xmlns:a16="http://schemas.microsoft.com/office/drawing/2014/main" id="{84998A44-B485-43B9-8403-2F6E64BCB39A}"/>
              </a:ext>
            </a:extLst>
          </p:cNvPr>
          <p:cNvSpPr>
            <a:spLocks xmlns:a="http://schemas.openxmlformats.org/drawingml/2006/main" noGrp="1"/>
          </p:cNvSpPr>
          <p:nvPr/>
        </p:nvSpPr>
        <p:spPr>
          <a:xfrm xmlns:a="http://schemas.openxmlformats.org/drawingml/2006/main">
            <a:off x="5219700" y="3333750"/>
            <a:ext cx="4000500" cy="1619250"/>
          </a:xfrm>
          <a:prstGeom xmlns:a="http://schemas.openxmlformats.org/drawingml/2006/main" prst="roundRect">
            <a:avLst>
              <a:gd name="adj" fmla="val 8235"/>
            </a:avLst>
          </a:prstGeom>
          <a:solidFill xmlns:a="http://schemas.openxmlformats.org/drawingml/2006/main">
            <a:srgbClr val="F5F8FB"/>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3E5F1CD1-92A2-490E-A5A9-61B3E6632956}"/>
              </a:ext>
            </a:extLst>
          </p:cNvPr>
          <p:cNvSpPr>
            <a:spLocks xmlns:a="http://schemas.openxmlformats.org/drawingml/2006/main" noGrp="1"/>
          </p:cNvSpPr>
          <p:nvPr/>
        </p:nvSpPr>
        <p:spPr>
          <a:xfrm xmlns:a="http://schemas.openxmlformats.org/drawingml/2006/main">
            <a:off x="5219700" y="3333750"/>
            <a:ext cx="57150" cy="1619250"/>
          </a:xfrm>
          <a:prstGeom xmlns:a="http://schemas.openxmlformats.org/drawingml/2006/main" prst="rect">
            <a:avLst/>
          </a:prstGeom>
          <a:solidFill xmlns:a="http://schemas.openxmlformats.org/drawingml/2006/main">
            <a:srgbClr val="0090C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E503075-CAAE-4F4D-93D6-097DA32E21A6}"/>
              </a:ext>
            </a:extLst>
          </p:cNvPr>
          <p:cNvSpPr>
            <a:spLocks xmlns:a="http://schemas.openxmlformats.org/drawingml/2006/main" noGrp="1"/>
          </p:cNvSpPr>
          <p:nvPr/>
        </p:nvSpPr>
        <p:spPr>
          <a:xfrm xmlns:a="http://schemas.openxmlformats.org/drawingml/2006/main">
            <a:off x="5410200" y="3476625"/>
            <a:ext cx="3638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90C8"/>
                </a:solidFill>
                <a:latin typeface="IBM Plex Sans"/>
                <a:ea typeface="IBM Plex Sans"/>
                <a:cs typeface="IBM Plex Sans"/>
              </a:defRPr>
            </a:pPr>
            <a:r>
              <a:rPr sz="825" b="1">
                <a:solidFill>
                  <a:srgbClr val="0090C8"/>
                </a:solidFill>
                <a:latin typeface="IBM Plex Sans"/>
                <a:ea typeface="IBM Plex Sans"/>
                <a:cs typeface="IBM Plex Sans"/>
              </a:rPr>
              <a:t>GROSSER ANSCHLUSS</a:t>
            </a:r>
          </a:p>
        </p:txBody>
      </p:sp>
      <p:sp>
        <p:nvSpPr>
          <p:cNvPr id="14" name="">
            <a:extLst xmlns:a="http://schemas.openxmlformats.org/drawingml/2006/main">
              <a:ext uri="{FF2B5EF4-FFF2-40B4-BE49-F238E27FC236}">
                <a16:creationId xmlns:a16="http://schemas.microsoft.com/office/drawing/2014/main" id="{66C49ABA-FE83-4284-B7C9-739859829C60}"/>
              </a:ext>
            </a:extLst>
          </p:cNvPr>
          <p:cNvSpPr>
            <a:spLocks xmlns:a="http://schemas.openxmlformats.org/drawingml/2006/main" noGrp="1"/>
          </p:cNvSpPr>
          <p:nvPr/>
        </p:nvSpPr>
        <p:spPr>
          <a:xfrm xmlns:a="http://schemas.openxmlformats.org/drawingml/2006/main">
            <a:off x="5410200" y="3733800"/>
            <a:ext cx="3638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084878"/>
                </a:solidFill>
                <a:latin typeface="Geist Mono"/>
                <a:ea typeface="Geist Mono"/>
                <a:cs typeface="Geist Mono"/>
              </a:defRPr>
            </a:pPr>
            <a:r>
              <a:rPr sz="1650" b="1">
                <a:solidFill>
                  <a:srgbClr val="084878"/>
                </a:solidFill>
                <a:latin typeface="Geist Mono"/>
                <a:ea typeface="Geist Mono"/>
                <a:cs typeface="Geist Mono"/>
              </a:rPr>
              <a:t>40.000 kWh ÷ 200 kW = 200 h</a:t>
            </a:r>
          </a:p>
        </p:txBody>
      </p:sp>
      <p:sp>
        <p:nvSpPr>
          <p:cNvPr id="15" name="">
            <a:extLst xmlns:a="http://schemas.openxmlformats.org/drawingml/2006/main">
              <a:ext uri="{FF2B5EF4-FFF2-40B4-BE49-F238E27FC236}">
                <a16:creationId xmlns:a16="http://schemas.microsoft.com/office/drawing/2014/main" id="{E4B47474-40DC-4F85-A30A-E6446D78B639}"/>
              </a:ext>
            </a:extLst>
          </p:cNvPr>
          <p:cNvSpPr>
            <a:spLocks xmlns:a="http://schemas.openxmlformats.org/drawingml/2006/main" noGrp="1"/>
          </p:cNvSpPr>
          <p:nvPr/>
        </p:nvSpPr>
        <p:spPr>
          <a:xfrm xmlns:a="http://schemas.openxmlformats.org/drawingml/2006/main">
            <a:off x="5410200" y="4171950"/>
            <a:ext cx="36385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a:solidFill>
                  <a:srgbClr val="56657A"/>
                </a:solidFill>
                <a:latin typeface="IBM Plex Sans"/>
                <a:ea typeface="IBM Plex Sans"/>
                <a:cs typeface="IBM Plex Sans"/>
              </a:defRPr>
            </a:pPr>
            <a:r>
              <a:rPr sz="1125" b="0">
                <a:solidFill>
                  <a:srgbClr val="56657A"/>
                </a:solidFill>
                <a:latin typeface="IBM Plex Sans"/>
                <a:ea typeface="IBM Plex Sans"/>
                <a:cs typeface="IBM Plex Sans"/>
              </a:rPr>
              <a:t>Viermal mehr kWh und viermal mehr Leistung – daher gleiche VLS.</a:t>
            </a:r>
          </a:p>
        </p:txBody>
      </p:sp>
      <p:sp>
        <p:nvSpPr>
          <p:cNvPr id="16" name="">
            <a:extLst xmlns:a="http://schemas.openxmlformats.org/drawingml/2006/main">
              <a:ext uri="{FF2B5EF4-FFF2-40B4-BE49-F238E27FC236}">
                <a16:creationId xmlns:a16="http://schemas.microsoft.com/office/drawing/2014/main" id="{6B2F5E14-6B56-4ED6-AE91-A854CFFB9F31}"/>
              </a:ext>
            </a:extLst>
          </p:cNvPr>
          <p:cNvSpPr>
            <a:spLocks xmlns:a="http://schemas.openxmlformats.org/drawingml/2006/main" noGrp="1"/>
          </p:cNvSpPr>
          <p:nvPr/>
        </p:nvSpPr>
        <p:spPr>
          <a:xfrm xmlns:a="http://schemas.openxmlformats.org/drawingml/2006/main">
            <a:off x="9391650" y="3876675"/>
            <a:ext cx="552450" cy="381000"/>
          </a:xfrm>
          <a:prstGeom xmlns:a="http://schemas.openxmlformats.org/drawingml/2006/main" prst="rightArrow">
            <a:avLst/>
          </a:prstGeom>
          <a:solidFill xmlns:a="http://schemas.openxmlformats.org/drawingml/2006/main">
            <a:srgbClr val="A8650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3C83CA9-CB25-445C-BAB5-DE25E5D69E33}"/>
              </a:ext>
            </a:extLst>
          </p:cNvPr>
          <p:cNvSpPr>
            <a:spLocks xmlns:a="http://schemas.openxmlformats.org/drawingml/2006/main" noGrp="1"/>
          </p:cNvSpPr>
          <p:nvPr/>
        </p:nvSpPr>
        <p:spPr>
          <a:xfrm xmlns:a="http://schemas.openxmlformats.org/drawingml/2006/main">
            <a:off x="10067925" y="3352800"/>
            <a:ext cx="1219200" cy="1581150"/>
          </a:xfrm>
          <a:prstGeom xmlns:a="http://schemas.openxmlformats.org/drawingml/2006/main" prst="roundRect">
            <a:avLst>
              <a:gd name="adj" fmla="val 9375"/>
            </a:avLst>
          </a:prstGeom>
          <a:solidFill xmlns:a="http://schemas.openxmlformats.org/drawingml/2006/main">
            <a:srgbClr val="FFF2D8"/>
          </a:solidFill>
          <a:ln xmlns:a="http://schemas.openxmlformats.org/drawingml/2006/main" w="9525">
            <a:solidFill>
              <a:srgbClr val="E8C98D"/>
            </a:solidFill>
            <a:prstDash val="solid"/>
          </a:ln>
        </p:spPr>
      </p:sp>
      <p:sp>
        <p:nvSpPr>
          <p:cNvPr id="18" name="">
            <a:extLst xmlns:a="http://schemas.openxmlformats.org/drawingml/2006/main">
              <a:ext uri="{FF2B5EF4-FFF2-40B4-BE49-F238E27FC236}">
                <a16:creationId xmlns:a16="http://schemas.microsoft.com/office/drawing/2014/main" id="{01D09F44-EDDF-4198-9168-664D0FF677BE}"/>
              </a:ext>
            </a:extLst>
          </p:cNvPr>
          <p:cNvSpPr>
            <a:spLocks xmlns:a="http://schemas.openxmlformats.org/drawingml/2006/main" noGrp="1"/>
          </p:cNvSpPr>
          <p:nvPr/>
        </p:nvSpPr>
        <p:spPr>
          <a:xfrm xmlns:a="http://schemas.openxmlformats.org/drawingml/2006/main">
            <a:off x="10191750" y="3524250"/>
            <a:ext cx="971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A86505"/>
                </a:solidFill>
                <a:latin typeface="IBM Plex Sans"/>
                <a:ea typeface="IBM Plex Sans"/>
                <a:cs typeface="IBM Plex Sans"/>
              </a:defRPr>
            </a:pPr>
            <a:r>
              <a:rPr sz="1275" b="1">
                <a:solidFill>
                  <a:srgbClr val="A86505"/>
                </a:solidFill>
                <a:latin typeface="IBM Plex Sans"/>
                <a:ea typeface="IBM Plex Sans"/>
                <a:cs typeface="IBM Plex Sans"/>
              </a:rPr>
              <a:t>zurück in</a:t>
            </a:r>
          </a:p>
          <a:p xmlns:a="http://schemas.openxmlformats.org/drawingml/2006/main">
            <a:pPr algn="ctr">
              <a:defRPr sz="1275" b="1">
                <a:solidFill>
                  <a:srgbClr val="A86505"/>
                </a:solidFill>
                <a:latin typeface="IBM Plex Sans"/>
                <a:ea typeface="IBM Plex Sans"/>
                <a:cs typeface="IBM Plex Sans"/>
              </a:defRPr>
            </a:pPr>
            <a:r>
              <a:rPr sz="1275" b="1">
                <a:solidFill>
                  <a:srgbClr val="A86505"/>
                </a:solidFill>
                <a:latin typeface="IBM Plex Sans"/>
                <a:ea typeface="IBM Plex Sans"/>
                <a:cs typeface="IBM Plex Sans"/>
              </a:rPr>
              <a:t>kWh</a:t>
            </a:r>
          </a:p>
        </p:txBody>
      </p:sp>
      <p:sp>
        <p:nvSpPr>
          <p:cNvPr id="19" name="">
            <a:extLst xmlns:a="http://schemas.openxmlformats.org/drawingml/2006/main">
              <a:ext uri="{FF2B5EF4-FFF2-40B4-BE49-F238E27FC236}">
                <a16:creationId xmlns:a16="http://schemas.microsoft.com/office/drawing/2014/main" id="{61A48519-1B82-4D27-8EE5-680B62F98776}"/>
              </a:ext>
            </a:extLst>
          </p:cNvPr>
          <p:cNvSpPr>
            <a:spLocks xmlns:a="http://schemas.openxmlformats.org/drawingml/2006/main" noGrp="1"/>
          </p:cNvSpPr>
          <p:nvPr/>
        </p:nvSpPr>
        <p:spPr>
          <a:xfrm xmlns:a="http://schemas.openxmlformats.org/drawingml/2006/main">
            <a:off x="10191750" y="4191000"/>
            <a:ext cx="971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56657A"/>
                </a:solidFill>
                <a:latin typeface="Geist Mono"/>
                <a:ea typeface="Geist Mono"/>
                <a:cs typeface="Geist Mono"/>
              </a:defRPr>
            </a:pPr>
            <a:r>
              <a:rPr sz="1125" b="0">
                <a:solidFill>
                  <a:srgbClr val="56657A"/>
                </a:solidFill>
                <a:latin typeface="Geist Mono"/>
                <a:ea typeface="Geist Mono"/>
                <a:cs typeface="Geist Mono"/>
              </a:rPr>
              <a:t>Prognose-VLS</a:t>
            </a:r>
          </a:p>
          <a:p xmlns:a="http://schemas.openxmlformats.org/drawingml/2006/main">
            <a:pPr algn="ctr">
              <a:defRPr sz="1125" b="0">
                <a:solidFill>
                  <a:srgbClr val="56657A"/>
                </a:solidFill>
                <a:latin typeface="Geist Mono"/>
                <a:ea typeface="Geist Mono"/>
                <a:cs typeface="Geist Mono"/>
              </a:defRPr>
            </a:pPr>
            <a:r>
              <a:rPr sz="1125" b="0">
                <a:solidFill>
                  <a:srgbClr val="56657A"/>
                </a:solidFill>
                <a:latin typeface="Geist Mono"/>
                <a:ea typeface="Geist Mono"/>
                <a:cs typeface="Geist Mono"/>
              </a:rPr>
              <a:t>× Leistung</a:t>
            </a:r>
          </a:p>
        </p:txBody>
      </p:sp>
      <p:sp>
        <p:nvSpPr>
          <p:cNvPr id="20" name="">
            <a:extLst xmlns:a="http://schemas.openxmlformats.org/drawingml/2006/main">
              <a:ext uri="{FF2B5EF4-FFF2-40B4-BE49-F238E27FC236}">
                <a16:creationId xmlns:a16="http://schemas.microsoft.com/office/drawing/2014/main" id="{A9973E1E-33A2-4617-8D90-B02DF5FBA711}"/>
              </a:ext>
            </a:extLst>
          </p:cNvPr>
          <p:cNvSpPr>
            <a:spLocks xmlns:a="http://schemas.openxmlformats.org/drawingml/2006/main" noGrp="1"/>
          </p:cNvSpPr>
          <p:nvPr/>
        </p:nvSpPr>
        <p:spPr>
          <a:xfrm xmlns:a="http://schemas.openxmlformats.org/drawingml/2006/main">
            <a:off x="533400" y="6229350"/>
            <a:ext cx="11106150" cy="0"/>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21" name="">
            <a:extLst xmlns:a="http://schemas.openxmlformats.org/drawingml/2006/main">
              <a:ext uri="{FF2B5EF4-FFF2-40B4-BE49-F238E27FC236}">
                <a16:creationId xmlns:a16="http://schemas.microsoft.com/office/drawing/2014/main" id="{D8659BA5-E59C-452E-B029-44B4147AD970}"/>
              </a:ext>
            </a:extLst>
          </p:cNvPr>
          <p:cNvSpPr>
            <a:spLocks xmlns:a="http://schemas.openxmlformats.org/drawingml/2006/main" noGrp="1"/>
          </p:cNvSpPr>
          <p:nvPr/>
        </p:nvSpPr>
        <p:spPr>
          <a:xfrm xmlns:a="http://schemas.openxmlformats.org/drawingml/2006/main">
            <a:off x="533400" y="6229350"/>
            <a:ext cx="895350" cy="0"/>
          </a:xfrm>
          <a:prstGeom xmlns:a="http://schemas.openxmlformats.org/drawingml/2006/main" prst="line">
            <a:avLst/>
          </a:prstGeom>
          <a:noFill xmlns:a="http://schemas.openxmlformats.org/drawingml/2006/main"/>
          <a:ln xmlns:a="http://schemas.openxmlformats.org/drawingml/2006/main" w="38100">
            <a:solidFill>
              <a:srgbClr val="084878"/>
            </a:solidFill>
            <a:prstDash val="solid"/>
          </a:ln>
        </p:spPr>
      </p:sp>
      <p:sp>
        <p:nvSpPr>
          <p:cNvPr id="22" name="">
            <a:extLst xmlns:a="http://schemas.openxmlformats.org/drawingml/2006/main">
              <a:ext uri="{FF2B5EF4-FFF2-40B4-BE49-F238E27FC236}">
                <a16:creationId xmlns:a16="http://schemas.microsoft.com/office/drawing/2014/main" id="{988937DA-7331-473B-ACE2-55221EFA3E37}"/>
              </a:ext>
            </a:extLst>
          </p:cNvPr>
          <p:cNvSpPr>
            <a:spLocks xmlns:a="http://schemas.openxmlformats.org/drawingml/2006/main" noGrp="1"/>
          </p:cNvSpPr>
          <p:nvPr/>
        </p:nvSpPr>
        <p:spPr>
          <a:xfrm xmlns:a="http://schemas.openxmlformats.org/drawingml/2006/main">
            <a:off x="533400" y="635317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13" b="0">
                <a:solidFill>
                  <a:srgbClr val="56657A"/>
                </a:solidFill>
                <a:latin typeface="IBM Plex Sans"/>
                <a:ea typeface="IBM Plex Sans"/>
                <a:cs typeface="IBM Plex Sans"/>
              </a:defRPr>
            </a:pPr>
            <a:r>
              <a:rPr sz="713" b="0">
                <a:solidFill>
                  <a:srgbClr val="56657A"/>
                </a:solidFill>
                <a:latin typeface="IBM Plex Sans"/>
                <a:ea typeface="IBM Plex Sans"/>
                <a:cs typeface="IBM Plex Sans"/>
              </a:rPr>
              <a:t>Quelle: notebooks/13_modellierung_von_grund_auf_verstehen.ipynb</a:t>
            </a:r>
          </a:p>
        </p:txBody>
      </p:sp>
      <p:sp>
        <p:nvSpPr>
          <p:cNvPr id="23" name="">
            <a:extLst xmlns:a="http://schemas.openxmlformats.org/drawingml/2006/main">
              <a:ext uri="{FF2B5EF4-FFF2-40B4-BE49-F238E27FC236}">
                <a16:creationId xmlns:a16="http://schemas.microsoft.com/office/drawing/2014/main" id="{27079FA6-FFF9-4043-BA25-2502A54CB68C}"/>
              </a:ext>
            </a:extLst>
          </p:cNvPr>
          <p:cNvSpPr>
            <a:spLocks xmlns:a="http://schemas.openxmlformats.org/drawingml/2006/main" noGrp="1"/>
          </p:cNvSpPr>
          <p:nvPr/>
        </p:nvSpPr>
        <p:spPr>
          <a:xfrm xmlns:a="http://schemas.openxmlformats.org/drawingml/2006/main">
            <a:off x="10477500" y="63817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56657A"/>
                </a:solidFill>
                <a:latin typeface="Geist Mono"/>
                <a:ea typeface="Geist Mono"/>
                <a:cs typeface="Geist Mono"/>
              </a:defRPr>
            </a:pPr>
            <a:r>
              <a:rPr sz="825" b="0">
                <a:solidFill>
                  <a:srgbClr val="56657A"/>
                </a:solidFill>
                <a:latin typeface="Geist Mono"/>
                <a:ea typeface="Geist Mono"/>
                <a:cs typeface="Geist Mono"/>
              </a:rPr>
              <a:t>03</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81d4a80e98ce4baa"/>
          <a:stretch xmlns:a="http://schemas.openxmlformats.org/drawingml/2006/main"/>
        </p:blipFill>
        <p:spPr>
          <a:xfrm xmlns:a="http://schemas.openxmlformats.org/drawingml/2006/main">
            <a:off x="11058812" y="6296025"/>
            <a:ext cx="513776" cy="438150"/>
          </a:xfrm>
          <a:prstGeom xmlns:a="http://schemas.openxmlformats.org/drawingml/2006/main" prst="rect">
            <a:avLst/>
          </a:prstGeom>
        </p:spPr>
      </p:pic>
    </p:spTree>
    <p:extLst>
      <p:ext uri="{BB962C8B-B14F-4D97-AF65-F5344CB8AC3E}">
        <p14:creationId xmlns:p14="http://schemas.microsoft.com/office/powerpoint/2010/main" val="3880877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389D091-561E-491B-A7D0-49F218F6BEB8}"/>
              </a:ext>
            </a:extLst>
          </p:cNvPr>
          <p:cNvSpPr>
            <a:spLocks xmlns:a="http://schemas.openxmlformats.org/drawingml/2006/main" noGrp="1"/>
          </p:cNvSpPr>
          <p:nvPr/>
        </p:nvSpPr>
        <p:spPr>
          <a:xfrm xmlns:a="http://schemas.openxmlformats.org/drawingml/2006/main">
            <a:off x="533400" y="3048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80A0"/>
                </a:solidFill>
                <a:latin typeface="IBM Plex Sans"/>
                <a:ea typeface="IBM Plex Sans"/>
                <a:cs typeface="IBM Plex Sans"/>
              </a:defRPr>
            </a:pPr>
            <a:r>
              <a:rPr sz="825" b="1">
                <a:solidFill>
                  <a:srgbClr val="0080A0"/>
                </a:solidFill>
                <a:latin typeface="IBM Plex Sans"/>
                <a:ea typeface="IBM Plex Sans"/>
                <a:cs typeface="IBM Plex Sans"/>
              </a:rPr>
              <a:t>SWW / ENERGIEANALYSE  ·  02 · VALIDIERUNG</a:t>
            </a:r>
          </a:p>
        </p:txBody>
      </p:sp>
      <p:sp>
        <p:nvSpPr>
          <p:cNvPr id="2" name="">
            <a:extLst xmlns:a="http://schemas.openxmlformats.org/drawingml/2006/main">
              <a:ext uri="{FF2B5EF4-FFF2-40B4-BE49-F238E27FC236}">
                <a16:creationId xmlns:a16="http://schemas.microsoft.com/office/drawing/2014/main" id="{33552932-EA32-4D99-B411-6A67A838C8DB}"/>
              </a:ext>
            </a:extLst>
          </p:cNvPr>
          <p:cNvSpPr>
            <a:spLocks xmlns:a="http://schemas.openxmlformats.org/drawingml/2006/main" noGrp="1"/>
          </p:cNvSpPr>
          <p:nvPr/>
        </p:nvSpPr>
        <p:spPr>
          <a:xfrm xmlns:a="http://schemas.openxmlformats.org/drawingml/2006/main">
            <a:off x="533400" y="638175"/>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0D2742"/>
                </a:solidFill>
                <a:latin typeface="IBM Plex Sans"/>
                <a:ea typeface="IBM Plex Sans"/>
                <a:cs typeface="IBM Plex Sans"/>
              </a:defRPr>
            </a:pPr>
            <a:r>
              <a:rPr sz="2550" b="1">
                <a:solidFill>
                  <a:srgbClr val="0D2742"/>
                </a:solidFill>
                <a:latin typeface="IBM Plex Sans"/>
                <a:ea typeface="IBM Plex Sans"/>
                <a:cs typeface="IBM Plex Sans"/>
              </a:rPr>
              <a:t>Vergangenheit erklärt Zukunft – niemals umgekehrt</a:t>
            </a:r>
          </a:p>
        </p:txBody>
      </p:sp>
      <p:sp>
        <p:nvSpPr>
          <p:cNvPr id="3" name="">
            <a:extLst xmlns:a="http://schemas.openxmlformats.org/drawingml/2006/main">
              <a:ext uri="{FF2B5EF4-FFF2-40B4-BE49-F238E27FC236}">
                <a16:creationId xmlns:a16="http://schemas.microsoft.com/office/drawing/2014/main" id="{89BEA846-B978-43E0-BF5B-F7180320DE89}"/>
              </a:ext>
            </a:extLst>
          </p:cNvPr>
          <p:cNvSpPr>
            <a:spLocks xmlns:a="http://schemas.openxmlformats.org/drawingml/2006/main" noGrp="1"/>
          </p:cNvSpPr>
          <p:nvPr/>
        </p:nvSpPr>
        <p:spPr>
          <a:xfrm xmlns:a="http://schemas.openxmlformats.org/drawingml/2006/main">
            <a:off x="533400" y="12668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6657A"/>
                </a:solidFill>
                <a:latin typeface="IBM Plex Sans"/>
                <a:ea typeface="IBM Plex Sans"/>
                <a:cs typeface="IBM Plex Sans"/>
              </a:defRPr>
            </a:pPr>
            <a:r>
              <a:rPr sz="1200" b="0">
                <a:solidFill>
                  <a:srgbClr val="56657A"/>
                </a:solidFill>
                <a:latin typeface="IBM Plex Sans"/>
                <a:ea typeface="IBM Plex Sans"/>
                <a:cs typeface="IBM Plex Sans"/>
              </a:rPr>
              <a:t>Drei vorwärts laufende Folds 2024 · Kalibrierung Ende 2024 · Benchmark 2025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762f87d6a35415b"/>
          <a:stretch xmlns:a="http://schemas.openxmlformats.org/drawingml/2006/main"/>
        </p:blipFill>
        <p:spPr>
          <a:xfrm xmlns:a="http://schemas.openxmlformats.org/drawingml/2006/main">
            <a:off x="1660390" y="1714500"/>
            <a:ext cx="8852170" cy="3714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3B95A9B-C6D9-41E8-AA2A-0CE705DAD49C}"/>
              </a:ext>
            </a:extLst>
          </p:cNvPr>
          <p:cNvSpPr>
            <a:spLocks xmlns:a="http://schemas.openxmlformats.org/drawingml/2006/main" noGrp="1"/>
          </p:cNvSpPr>
          <p:nvPr/>
        </p:nvSpPr>
        <p:spPr>
          <a:xfrm xmlns:a="http://schemas.openxmlformats.org/drawingml/2006/main">
            <a:off x="904875" y="5505450"/>
            <a:ext cx="10382250" cy="514350"/>
          </a:xfrm>
          <a:prstGeom xmlns:a="http://schemas.openxmlformats.org/drawingml/2006/main" prst="roundRect">
            <a:avLst>
              <a:gd name="adj" fmla="val 18519"/>
            </a:avLst>
          </a:prstGeom>
          <a:solidFill xmlns:a="http://schemas.openxmlformats.org/drawingml/2006/main">
            <a:srgbClr val="DFF4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ABF84BA-49D6-4ACD-97F1-AD566F082D58}"/>
              </a:ext>
            </a:extLst>
          </p:cNvPr>
          <p:cNvSpPr>
            <a:spLocks xmlns:a="http://schemas.openxmlformats.org/drawingml/2006/main" noGrp="1"/>
          </p:cNvSpPr>
          <p:nvPr/>
        </p:nvSpPr>
        <p:spPr>
          <a:xfrm xmlns:a="http://schemas.openxmlformats.org/drawingml/2006/main">
            <a:off x="1123950" y="5657850"/>
            <a:ext cx="9963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084878"/>
                </a:solidFill>
                <a:latin typeface="IBM Plex Sans"/>
                <a:ea typeface="IBM Plex Sans"/>
                <a:cs typeface="IBM Plex Sans"/>
              </a:defRPr>
            </a:pPr>
            <a:r>
              <a:rPr sz="1275" b="1">
                <a:solidFill>
                  <a:srgbClr val="084878"/>
                </a:solidFill>
                <a:latin typeface="IBM Plex Sans"/>
                <a:ea typeface="IBM Plex Sans"/>
                <a:cs typeface="IBM Plex Sans"/>
              </a:rPr>
              <a:t>Keine zufällige Mischung: Jeder Bewertungsblock liegt vollständig nach seinem Trainingsblock.</a:t>
            </a:r>
          </a:p>
        </p:txBody>
      </p:sp>
      <p:sp>
        <p:nvSpPr>
          <p:cNvPr id="7" name="">
            <a:extLst xmlns:a="http://schemas.openxmlformats.org/drawingml/2006/main">
              <a:ext uri="{FF2B5EF4-FFF2-40B4-BE49-F238E27FC236}">
                <a16:creationId xmlns:a16="http://schemas.microsoft.com/office/drawing/2014/main" id="{0CE1D699-ECF1-4DD6-B74B-643FCE1E6304}"/>
              </a:ext>
            </a:extLst>
          </p:cNvPr>
          <p:cNvSpPr>
            <a:spLocks xmlns:a="http://schemas.openxmlformats.org/drawingml/2006/main" noGrp="1"/>
          </p:cNvSpPr>
          <p:nvPr/>
        </p:nvSpPr>
        <p:spPr>
          <a:xfrm xmlns:a="http://schemas.openxmlformats.org/drawingml/2006/main">
            <a:off x="533400" y="6229350"/>
            <a:ext cx="11106150" cy="0"/>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A499C23C-F209-4E40-9289-25982E0DB7BA}"/>
              </a:ext>
            </a:extLst>
          </p:cNvPr>
          <p:cNvSpPr>
            <a:spLocks xmlns:a="http://schemas.openxmlformats.org/drawingml/2006/main" noGrp="1"/>
          </p:cNvSpPr>
          <p:nvPr/>
        </p:nvSpPr>
        <p:spPr>
          <a:xfrm xmlns:a="http://schemas.openxmlformats.org/drawingml/2006/main">
            <a:off x="533400" y="6229350"/>
            <a:ext cx="895350" cy="0"/>
          </a:xfrm>
          <a:prstGeom xmlns:a="http://schemas.openxmlformats.org/drawingml/2006/main" prst="line">
            <a:avLst/>
          </a:prstGeom>
          <a:noFill xmlns:a="http://schemas.openxmlformats.org/drawingml/2006/main"/>
          <a:ln xmlns:a="http://schemas.openxmlformats.org/drawingml/2006/main" w="38100">
            <a:solidFill>
              <a:srgbClr val="084878"/>
            </a:solidFill>
            <a:prstDash val="solid"/>
          </a:ln>
        </p:spPr>
      </p:sp>
      <p:sp>
        <p:nvSpPr>
          <p:cNvPr id="9" name="">
            <a:extLst xmlns:a="http://schemas.openxmlformats.org/drawingml/2006/main">
              <a:ext uri="{FF2B5EF4-FFF2-40B4-BE49-F238E27FC236}">
                <a16:creationId xmlns:a16="http://schemas.microsoft.com/office/drawing/2014/main" id="{ACAE6504-52DB-418D-B111-E78586438308}"/>
              </a:ext>
            </a:extLst>
          </p:cNvPr>
          <p:cNvSpPr>
            <a:spLocks xmlns:a="http://schemas.openxmlformats.org/drawingml/2006/main" noGrp="1"/>
          </p:cNvSpPr>
          <p:nvPr/>
        </p:nvSpPr>
        <p:spPr>
          <a:xfrm xmlns:a="http://schemas.openxmlformats.org/drawingml/2006/main">
            <a:off x="533400" y="635317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13" b="0">
                <a:solidFill>
                  <a:srgbClr val="56657A"/>
                </a:solidFill>
                <a:latin typeface="IBM Plex Sans"/>
                <a:ea typeface="IBM Plex Sans"/>
                <a:cs typeface="IBM Plex Sans"/>
              </a:defRPr>
            </a:pPr>
            <a:r>
              <a:rPr sz="713" b="0">
                <a:solidFill>
                  <a:srgbClr val="56657A"/>
                </a:solidFill>
                <a:latin typeface="IBM Plex Sans"/>
                <a:ea typeface="IBM Plex Sans"/>
                <a:cs typeface="IBM Plex Sans"/>
              </a:rPr>
              <a:t>Quelle: notebooks/13_modellierung_von_grund_auf_verstehen.ipynb</a:t>
            </a:r>
          </a:p>
        </p:txBody>
      </p:sp>
      <p:sp>
        <p:nvSpPr>
          <p:cNvPr id="10" name="">
            <a:extLst xmlns:a="http://schemas.openxmlformats.org/drawingml/2006/main">
              <a:ext uri="{FF2B5EF4-FFF2-40B4-BE49-F238E27FC236}">
                <a16:creationId xmlns:a16="http://schemas.microsoft.com/office/drawing/2014/main" id="{DFD35100-EA6C-4734-9925-E65CA27B4C25}"/>
              </a:ext>
            </a:extLst>
          </p:cNvPr>
          <p:cNvSpPr>
            <a:spLocks xmlns:a="http://schemas.openxmlformats.org/drawingml/2006/main" noGrp="1"/>
          </p:cNvSpPr>
          <p:nvPr/>
        </p:nvSpPr>
        <p:spPr>
          <a:xfrm xmlns:a="http://schemas.openxmlformats.org/drawingml/2006/main">
            <a:off x="10477500" y="63817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56657A"/>
                </a:solidFill>
                <a:latin typeface="Geist Mono"/>
                <a:ea typeface="Geist Mono"/>
                <a:cs typeface="Geist Mono"/>
              </a:defRPr>
            </a:pPr>
            <a:r>
              <a:rPr sz="825" b="0">
                <a:solidFill>
                  <a:srgbClr val="56657A"/>
                </a:solidFill>
                <a:latin typeface="Geist Mono"/>
                <a:ea typeface="Geist Mono"/>
                <a:cs typeface="Geist Mono"/>
              </a:rPr>
              <a:t>04</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59923eff444f4756"/>
          <a:stretch xmlns:a="http://schemas.openxmlformats.org/drawingml/2006/main"/>
        </p:blipFill>
        <p:spPr>
          <a:xfrm xmlns:a="http://schemas.openxmlformats.org/drawingml/2006/main">
            <a:off x="11058812" y="6296025"/>
            <a:ext cx="513776" cy="438150"/>
          </a:xfrm>
          <a:prstGeom xmlns:a="http://schemas.openxmlformats.org/drawingml/2006/main" prst="rect">
            <a:avLst/>
          </a:prstGeom>
        </p:spPr>
      </p:pic>
    </p:spTree>
    <p:extLst>
      <p:ext uri="{BB962C8B-B14F-4D97-AF65-F5344CB8AC3E}">
        <p14:creationId xmlns:p14="http://schemas.microsoft.com/office/powerpoint/2010/main" val="7079578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EE2F0C6A-905D-4A17-917A-749F45568B7A}"/>
              </a:ext>
            </a:extLst>
          </p:cNvPr>
          <p:cNvSpPr>
            <a:spLocks xmlns:a="http://schemas.openxmlformats.org/drawingml/2006/main" noGrp="1"/>
          </p:cNvSpPr>
          <p:nvPr/>
        </p:nvSpPr>
        <p:spPr>
          <a:xfrm xmlns:a="http://schemas.openxmlformats.org/drawingml/2006/main">
            <a:off x="533400" y="3048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80A0"/>
                </a:solidFill>
                <a:latin typeface="IBM Plex Sans"/>
                <a:ea typeface="IBM Plex Sans"/>
                <a:cs typeface="IBM Plex Sans"/>
              </a:defRPr>
            </a:pPr>
            <a:r>
              <a:rPr sz="825" b="1">
                <a:solidFill>
                  <a:srgbClr val="0080A0"/>
                </a:solidFill>
                <a:latin typeface="IBM Plex Sans"/>
                <a:ea typeface="IBM Plex Sans"/>
                <a:cs typeface="IBM Plex Sans"/>
              </a:rPr>
              <a:t>SWW / ENERGIEANALYSE  ·  02 · MODELLWAHL</a:t>
            </a:r>
          </a:p>
        </p:txBody>
      </p:sp>
      <p:sp>
        <p:nvSpPr>
          <p:cNvPr id="2" name="">
            <a:extLst xmlns:a="http://schemas.openxmlformats.org/drawingml/2006/main">
              <a:ext uri="{FF2B5EF4-FFF2-40B4-BE49-F238E27FC236}">
                <a16:creationId xmlns:a16="http://schemas.microsoft.com/office/drawing/2014/main" id="{30790315-2BBF-4291-B5DB-769A3A846937}"/>
              </a:ext>
            </a:extLst>
          </p:cNvPr>
          <p:cNvSpPr>
            <a:spLocks xmlns:a="http://schemas.openxmlformats.org/drawingml/2006/main" noGrp="1"/>
          </p:cNvSpPr>
          <p:nvPr/>
        </p:nvSpPr>
        <p:spPr>
          <a:xfrm xmlns:a="http://schemas.openxmlformats.org/drawingml/2006/main">
            <a:off x="533400" y="638175"/>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0D2742"/>
                </a:solidFill>
                <a:latin typeface="IBM Plex Sans"/>
                <a:ea typeface="IBM Plex Sans"/>
                <a:cs typeface="IBM Plex Sans"/>
              </a:defRPr>
            </a:pPr>
            <a:r>
              <a:rPr sz="2550" b="1">
                <a:solidFill>
                  <a:srgbClr val="0D2742"/>
                </a:solidFill>
                <a:latin typeface="IBM Plex Sans"/>
                <a:ea typeface="IBM Plex Sans"/>
                <a:cs typeface="IBM Plex Sans"/>
              </a:rPr>
              <a:t>Kontrollierter Hyperparametervergleich statt Black Box</a:t>
            </a:r>
          </a:p>
        </p:txBody>
      </p:sp>
      <p:sp>
        <p:nvSpPr>
          <p:cNvPr id="3" name="">
            <a:extLst xmlns:a="http://schemas.openxmlformats.org/drawingml/2006/main">
              <a:ext uri="{FF2B5EF4-FFF2-40B4-BE49-F238E27FC236}">
                <a16:creationId xmlns:a16="http://schemas.microsoft.com/office/drawing/2014/main" id="{8C18F3D3-A77C-4D12-B5BF-65CE3AD52350}"/>
              </a:ext>
            </a:extLst>
          </p:cNvPr>
          <p:cNvSpPr>
            <a:spLocks xmlns:a="http://schemas.openxmlformats.org/drawingml/2006/main" noGrp="1"/>
          </p:cNvSpPr>
          <p:nvPr/>
        </p:nvSpPr>
        <p:spPr>
          <a:xfrm xmlns:a="http://schemas.openxmlformats.org/drawingml/2006/main">
            <a:off x="533400" y="12668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6657A"/>
                </a:solidFill>
                <a:latin typeface="IBM Plex Sans"/>
                <a:ea typeface="IBM Plex Sans"/>
                <a:cs typeface="IBM Plex Sans"/>
              </a:defRPr>
            </a:pPr>
            <a:r>
              <a:rPr sz="1200" b="0">
                <a:solidFill>
                  <a:srgbClr val="56657A"/>
                </a:solidFill>
                <a:latin typeface="IBM Plex Sans"/>
                <a:ea typeface="IBM Plex Sans"/>
                <a:cs typeface="IBM Plex Sans"/>
              </a:rPr>
              <a:t>2025 entscheidet keinen Hyperparameter – die Auswahl passiert ausschließlich in den drei Folds von 2024.</a:t>
            </a:r>
          </a:p>
        </p:txBody>
      </p:sp>
      <p:sp>
        <p:nvSpPr>
          <p:cNvPr id="4" name="">
            <a:extLst xmlns:a="http://schemas.openxmlformats.org/drawingml/2006/main">
              <a:ext uri="{FF2B5EF4-FFF2-40B4-BE49-F238E27FC236}">
                <a16:creationId xmlns:a16="http://schemas.microsoft.com/office/drawing/2014/main" id="{A0CF5E7B-9028-423B-BE76-14C814B5E584}"/>
              </a:ext>
            </a:extLst>
          </p:cNvPr>
          <p:cNvSpPr>
            <a:spLocks xmlns:a="http://schemas.openxmlformats.org/drawingml/2006/main" noGrp="1"/>
          </p:cNvSpPr>
          <p:nvPr/>
        </p:nvSpPr>
        <p:spPr>
          <a:xfrm xmlns:a="http://schemas.openxmlformats.org/drawingml/2006/main">
            <a:off x="590550" y="1952625"/>
            <a:ext cx="2857500" cy="1638300"/>
          </a:xfrm>
          <a:prstGeom xmlns:a="http://schemas.openxmlformats.org/drawingml/2006/main" prst="roundRect">
            <a:avLst>
              <a:gd name="adj" fmla="val 8140"/>
            </a:avLst>
          </a:prstGeom>
          <a:solidFill xmlns:a="http://schemas.openxmlformats.org/drawingml/2006/main">
            <a:srgbClr val="FFFFFF"/>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8A2FE269-CC31-4095-A3A9-A07035C138DB}"/>
              </a:ext>
            </a:extLst>
          </p:cNvPr>
          <p:cNvSpPr>
            <a:spLocks xmlns:a="http://schemas.openxmlformats.org/drawingml/2006/main" noGrp="1"/>
          </p:cNvSpPr>
          <p:nvPr/>
        </p:nvSpPr>
        <p:spPr>
          <a:xfrm xmlns:a="http://schemas.openxmlformats.org/drawingml/2006/main">
            <a:off x="590550" y="1952625"/>
            <a:ext cx="57150" cy="16383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B0ED77C-4DE8-4546-A324-25C6CA4A2545}"/>
              </a:ext>
            </a:extLst>
          </p:cNvPr>
          <p:cNvSpPr>
            <a:spLocks xmlns:a="http://schemas.openxmlformats.org/drawingml/2006/main" noGrp="1"/>
          </p:cNvSpPr>
          <p:nvPr/>
        </p:nvSpPr>
        <p:spPr>
          <a:xfrm xmlns:a="http://schemas.openxmlformats.org/drawingml/2006/main">
            <a:off x="781050" y="2095500"/>
            <a:ext cx="2495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80A0"/>
                </a:solidFill>
                <a:latin typeface="IBM Plex Sans"/>
                <a:ea typeface="IBM Plex Sans"/>
                <a:cs typeface="IBM Plex Sans"/>
              </a:defRPr>
            </a:pPr>
            <a:r>
              <a:rPr sz="825" b="1">
                <a:solidFill>
                  <a:srgbClr val="0080A0"/>
                </a:solidFill>
                <a:latin typeface="IBM Plex Sans"/>
                <a:ea typeface="IBM Plex Sans"/>
                <a:cs typeface="IBM Plex Sans"/>
              </a:rPr>
              <a:t>REFERENZ</a:t>
            </a:r>
          </a:p>
        </p:txBody>
      </p:sp>
      <p:sp>
        <p:nvSpPr>
          <p:cNvPr id="7" name="">
            <a:extLst xmlns:a="http://schemas.openxmlformats.org/drawingml/2006/main">
              <a:ext uri="{FF2B5EF4-FFF2-40B4-BE49-F238E27FC236}">
                <a16:creationId xmlns:a16="http://schemas.microsoft.com/office/drawing/2014/main" id="{00121D1B-88C2-411C-8A83-1E7E7FC399C5}"/>
              </a:ext>
            </a:extLst>
          </p:cNvPr>
          <p:cNvSpPr>
            <a:spLocks xmlns:a="http://schemas.openxmlformats.org/drawingml/2006/main" noGrp="1"/>
          </p:cNvSpPr>
          <p:nvPr/>
        </p:nvSpPr>
        <p:spPr>
          <a:xfrm xmlns:a="http://schemas.openxmlformats.org/drawingml/2006/main">
            <a:off x="781050" y="2352675"/>
            <a:ext cx="2495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084878"/>
                </a:solidFill>
                <a:latin typeface="IBM Plex Sans"/>
                <a:ea typeface="IBM Plex Sans"/>
                <a:cs typeface="IBM Plex Sans"/>
              </a:defRPr>
            </a:pPr>
            <a:r>
              <a:rPr sz="1725" b="1">
                <a:solidFill>
                  <a:srgbClr val="084878"/>
                </a:solidFill>
                <a:latin typeface="IBM Plex Sans"/>
                <a:ea typeface="IBM Plex Sans"/>
                <a:cs typeface="IBM Plex Sans"/>
              </a:rPr>
              <a:t>Lineare Regression</a:t>
            </a:r>
          </a:p>
        </p:txBody>
      </p:sp>
      <p:sp>
        <p:nvSpPr>
          <p:cNvPr id="8" name="">
            <a:extLst xmlns:a="http://schemas.openxmlformats.org/drawingml/2006/main">
              <a:ext uri="{FF2B5EF4-FFF2-40B4-BE49-F238E27FC236}">
                <a16:creationId xmlns:a16="http://schemas.microsoft.com/office/drawing/2014/main" id="{F77C0ACA-F7E6-45FC-B4A4-426A38F23F2E}"/>
              </a:ext>
            </a:extLst>
          </p:cNvPr>
          <p:cNvSpPr>
            <a:spLocks xmlns:a="http://schemas.openxmlformats.org/drawingml/2006/main" noGrp="1"/>
          </p:cNvSpPr>
          <p:nvPr/>
        </p:nvSpPr>
        <p:spPr>
          <a:xfrm xmlns:a="http://schemas.openxmlformats.org/drawingml/2006/main">
            <a:off x="781050" y="2790825"/>
            <a:ext cx="2495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a:solidFill>
                  <a:srgbClr val="56657A"/>
                </a:solidFill>
                <a:latin typeface="IBM Plex Sans"/>
                <a:ea typeface="IBM Plex Sans"/>
                <a:cs typeface="IBM Plex Sans"/>
              </a:defRPr>
            </a:pPr>
            <a:r>
              <a:rPr sz="1125" b="0">
                <a:solidFill>
                  <a:srgbClr val="56657A"/>
                </a:solidFill>
                <a:latin typeface="IBM Plex Sans"/>
                <a:ea typeface="IBM Plex Sans"/>
                <a:cs typeface="IBM Plex Sans"/>
              </a:rPr>
              <a:t>Einfach, nachvollziehbar und ein sinnvoller Prüfstein für zusätzliche Modellkomplexität.</a:t>
            </a:r>
          </a:p>
        </p:txBody>
      </p:sp>
      <p:sp>
        <p:nvSpPr>
          <p:cNvPr id="9" name="">
            <a:extLst xmlns:a="http://schemas.openxmlformats.org/drawingml/2006/main">
              <a:ext uri="{FF2B5EF4-FFF2-40B4-BE49-F238E27FC236}">
                <a16:creationId xmlns:a16="http://schemas.microsoft.com/office/drawing/2014/main" id="{DE2611FA-90F7-41DA-8083-AAE8DEBE4889}"/>
              </a:ext>
            </a:extLst>
          </p:cNvPr>
          <p:cNvSpPr>
            <a:spLocks xmlns:a="http://schemas.openxmlformats.org/drawingml/2006/main" noGrp="1"/>
          </p:cNvSpPr>
          <p:nvPr/>
        </p:nvSpPr>
        <p:spPr>
          <a:xfrm xmlns:a="http://schemas.openxmlformats.org/drawingml/2006/main">
            <a:off x="590550" y="3781425"/>
            <a:ext cx="2857500" cy="1638300"/>
          </a:xfrm>
          <a:prstGeom xmlns:a="http://schemas.openxmlformats.org/drawingml/2006/main" prst="roundRect">
            <a:avLst>
              <a:gd name="adj" fmla="val 8140"/>
            </a:avLst>
          </a:prstGeom>
          <a:solidFill xmlns:a="http://schemas.openxmlformats.org/drawingml/2006/main">
            <a:srgbClr val="FFFFFF"/>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F73017D5-3401-476D-BFD2-B69B85E203CF}"/>
              </a:ext>
            </a:extLst>
          </p:cNvPr>
          <p:cNvSpPr>
            <a:spLocks xmlns:a="http://schemas.openxmlformats.org/drawingml/2006/main" noGrp="1"/>
          </p:cNvSpPr>
          <p:nvPr/>
        </p:nvSpPr>
        <p:spPr>
          <a:xfrm xmlns:a="http://schemas.openxmlformats.org/drawingml/2006/main">
            <a:off x="590550" y="3781425"/>
            <a:ext cx="57150" cy="1638300"/>
          </a:xfrm>
          <a:prstGeom xmlns:a="http://schemas.openxmlformats.org/drawingml/2006/main" prst="rect">
            <a:avLst/>
          </a:prstGeom>
          <a:solidFill xmlns:a="http://schemas.openxmlformats.org/drawingml/2006/main">
            <a:srgbClr val="0090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19BC8A0-2A71-4842-980F-63709A6FE0A1}"/>
              </a:ext>
            </a:extLst>
          </p:cNvPr>
          <p:cNvSpPr>
            <a:spLocks xmlns:a="http://schemas.openxmlformats.org/drawingml/2006/main" noGrp="1"/>
          </p:cNvSpPr>
          <p:nvPr/>
        </p:nvSpPr>
        <p:spPr>
          <a:xfrm xmlns:a="http://schemas.openxmlformats.org/drawingml/2006/main">
            <a:off x="781050" y="3924300"/>
            <a:ext cx="2495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90C8"/>
                </a:solidFill>
                <a:latin typeface="IBM Plex Sans"/>
                <a:ea typeface="IBM Plex Sans"/>
                <a:cs typeface="IBM Plex Sans"/>
              </a:defRPr>
            </a:pPr>
            <a:r>
              <a:rPr sz="825" b="1">
                <a:solidFill>
                  <a:srgbClr val="0090C8"/>
                </a:solidFill>
                <a:latin typeface="IBM Plex Sans"/>
                <a:ea typeface="IBM Plex Sans"/>
                <a:cs typeface="IBM Plex Sans"/>
              </a:rPr>
              <a:t>NICHTLINEAR</a:t>
            </a:r>
          </a:p>
        </p:txBody>
      </p:sp>
      <p:sp>
        <p:nvSpPr>
          <p:cNvPr id="12" name="">
            <a:extLst xmlns:a="http://schemas.openxmlformats.org/drawingml/2006/main">
              <a:ext uri="{FF2B5EF4-FFF2-40B4-BE49-F238E27FC236}">
                <a16:creationId xmlns:a16="http://schemas.microsoft.com/office/drawing/2014/main" id="{FC6A5E3E-EDA1-44C5-85BA-6508CD34F744}"/>
              </a:ext>
            </a:extLst>
          </p:cNvPr>
          <p:cNvSpPr>
            <a:spLocks xmlns:a="http://schemas.openxmlformats.org/drawingml/2006/main" noGrp="1"/>
          </p:cNvSpPr>
          <p:nvPr/>
        </p:nvSpPr>
        <p:spPr>
          <a:xfrm xmlns:a="http://schemas.openxmlformats.org/drawingml/2006/main">
            <a:off x="781050" y="4181475"/>
            <a:ext cx="2495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084878"/>
                </a:solidFill>
                <a:latin typeface="IBM Plex Sans"/>
                <a:ea typeface="IBM Plex Sans"/>
                <a:cs typeface="IBM Plex Sans"/>
              </a:defRPr>
            </a:pPr>
            <a:r>
              <a:rPr sz="1725" b="1">
                <a:solidFill>
                  <a:srgbClr val="084878"/>
                </a:solidFill>
                <a:latin typeface="IBM Plex Sans"/>
                <a:ea typeface="IBM Plex Sans"/>
                <a:cs typeface="IBM Plex Sans"/>
              </a:rPr>
              <a:t>Random Forest</a:t>
            </a:r>
          </a:p>
        </p:txBody>
      </p:sp>
      <p:sp>
        <p:nvSpPr>
          <p:cNvPr id="13" name="">
            <a:extLst xmlns:a="http://schemas.openxmlformats.org/drawingml/2006/main">
              <a:ext uri="{FF2B5EF4-FFF2-40B4-BE49-F238E27FC236}">
                <a16:creationId xmlns:a16="http://schemas.microsoft.com/office/drawing/2014/main" id="{460A6C08-AC25-40CB-8B47-9AF76F9E68CF}"/>
              </a:ext>
            </a:extLst>
          </p:cNvPr>
          <p:cNvSpPr>
            <a:spLocks xmlns:a="http://schemas.openxmlformats.org/drawingml/2006/main" noGrp="1"/>
          </p:cNvSpPr>
          <p:nvPr/>
        </p:nvSpPr>
        <p:spPr>
          <a:xfrm xmlns:a="http://schemas.openxmlformats.org/drawingml/2006/main">
            <a:off x="781050" y="4619625"/>
            <a:ext cx="2495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a:solidFill>
                  <a:srgbClr val="56657A"/>
                </a:solidFill>
                <a:latin typeface="IBM Plex Sans"/>
                <a:ea typeface="IBM Plex Sans"/>
                <a:cs typeface="IBM Plex Sans"/>
              </a:defRPr>
            </a:pPr>
            <a:r>
              <a:rPr sz="1125" b="0">
                <a:solidFill>
                  <a:srgbClr val="56657A"/>
                </a:solidFill>
                <a:latin typeface="IBM Plex Sans"/>
                <a:ea typeface="IBM Plex Sans"/>
                <a:cs typeface="IBM Plex Sans"/>
              </a:rPr>
              <a:t>Kann Wechselwirkungen und nichtlineare Muster abbilden – muss seinen Mehrwert aber messen lassen.</a:t>
            </a:r>
          </a:p>
        </p:txBody>
      </p:sp>
      <p:sp>
        <p:nvSpPr>
          <p:cNvPr id="14" name="">
            <a:extLst xmlns:a="http://schemas.openxmlformats.org/drawingml/2006/main">
              <a:ext uri="{FF2B5EF4-FFF2-40B4-BE49-F238E27FC236}">
                <a16:creationId xmlns:a16="http://schemas.microsoft.com/office/drawing/2014/main" id="{C8BA4385-E9F6-456A-81B2-24E2D37D104B}"/>
              </a:ext>
            </a:extLst>
          </p:cNvPr>
          <p:cNvSpPr>
            <a:spLocks xmlns:a="http://schemas.openxmlformats.org/drawingml/2006/main" noGrp="1"/>
          </p:cNvSpPr>
          <p:nvPr/>
        </p:nvSpPr>
        <p:spPr>
          <a:xfrm xmlns:a="http://schemas.openxmlformats.org/drawingml/2006/main">
            <a:off x="3857625" y="1952625"/>
            <a:ext cx="3381375" cy="3467100"/>
          </a:xfrm>
          <a:prstGeom xmlns:a="http://schemas.openxmlformats.org/drawingml/2006/main" prst="roundRect">
            <a:avLst>
              <a:gd name="adj" fmla="val 3944"/>
            </a:avLst>
          </a:prstGeom>
          <a:solidFill xmlns:a="http://schemas.openxmlformats.org/drawingml/2006/main">
            <a:srgbClr val="F5F8FB"/>
          </a:solidFill>
          <a:ln xmlns:a="http://schemas.openxmlformats.org/drawingml/2006/main" w="9525">
            <a:solidFill>
              <a:srgbClr val="D7E0EA"/>
            </a:solidFill>
            <a:prstDash val="solid"/>
          </a:ln>
        </p:spPr>
      </p:sp>
      <p:sp>
        <p:nvSpPr>
          <p:cNvPr id="15" name="">
            <a:extLst xmlns:a="http://schemas.openxmlformats.org/drawingml/2006/main">
              <a:ext uri="{FF2B5EF4-FFF2-40B4-BE49-F238E27FC236}">
                <a16:creationId xmlns:a16="http://schemas.microsoft.com/office/drawing/2014/main" id="{3722DF73-E0E8-497E-B89E-17E9A5C025DB}"/>
              </a:ext>
            </a:extLst>
          </p:cNvPr>
          <p:cNvSpPr>
            <a:spLocks xmlns:a="http://schemas.openxmlformats.org/drawingml/2006/main" noGrp="1"/>
          </p:cNvSpPr>
          <p:nvPr/>
        </p:nvSpPr>
        <p:spPr>
          <a:xfrm xmlns:a="http://schemas.openxmlformats.org/drawingml/2006/main">
            <a:off x="4143375" y="21717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084878"/>
                </a:solidFill>
                <a:latin typeface="IBM Plex Sans"/>
                <a:ea typeface="IBM Plex Sans"/>
                <a:cs typeface="IBM Plex Sans"/>
              </a:defRPr>
            </a:pPr>
            <a:r>
              <a:rPr sz="1650" b="1">
                <a:solidFill>
                  <a:srgbClr val="084878"/>
                </a:solidFill>
                <a:latin typeface="IBM Plex Sans"/>
                <a:ea typeface="IBM Plex Sans"/>
                <a:cs typeface="IBM Plex Sans"/>
              </a:rPr>
              <a:t>Geprüfter Suchraum</a:t>
            </a:r>
          </a:p>
        </p:txBody>
      </p:sp>
      <p:sp>
        <p:nvSpPr>
          <p:cNvPr id="16" name="">
            <a:extLst xmlns:a="http://schemas.openxmlformats.org/drawingml/2006/main">
              <a:ext uri="{FF2B5EF4-FFF2-40B4-BE49-F238E27FC236}">
                <a16:creationId xmlns:a16="http://schemas.microsoft.com/office/drawing/2014/main" id="{6C46CDCC-D320-48C2-967B-4F4EBE9A684F}"/>
              </a:ext>
            </a:extLst>
          </p:cNvPr>
          <p:cNvSpPr>
            <a:spLocks xmlns:a="http://schemas.openxmlformats.org/drawingml/2006/main" noGrp="1"/>
          </p:cNvSpPr>
          <p:nvPr/>
        </p:nvSpPr>
        <p:spPr>
          <a:xfrm xmlns:a="http://schemas.openxmlformats.org/drawingml/2006/main">
            <a:off x="4171950" y="2724150"/>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56657A"/>
                </a:solidFill>
                <a:latin typeface="Geist Mono"/>
                <a:ea typeface="Geist Mono"/>
                <a:cs typeface="Geist Mono"/>
              </a:defRPr>
            </a:pPr>
            <a:r>
              <a:rPr sz="1125" b="1">
                <a:solidFill>
                  <a:srgbClr val="56657A"/>
                </a:solidFill>
                <a:latin typeface="Geist Mono"/>
                <a:ea typeface="Geist Mono"/>
                <a:cs typeface="Geist Mono"/>
              </a:rPr>
              <a:t>max_depth</a:t>
            </a:r>
          </a:p>
        </p:txBody>
      </p:sp>
      <p:sp>
        <p:nvSpPr>
          <p:cNvPr id="17" name="">
            <a:extLst xmlns:a="http://schemas.openxmlformats.org/drawingml/2006/main">
              <a:ext uri="{FF2B5EF4-FFF2-40B4-BE49-F238E27FC236}">
                <a16:creationId xmlns:a16="http://schemas.microsoft.com/office/drawing/2014/main" id="{2A9B7584-E7AC-4170-86DE-A461E694DFCC}"/>
              </a:ext>
            </a:extLst>
          </p:cNvPr>
          <p:cNvSpPr>
            <a:spLocks xmlns:a="http://schemas.openxmlformats.org/drawingml/2006/main" noGrp="1"/>
          </p:cNvSpPr>
          <p:nvPr/>
        </p:nvSpPr>
        <p:spPr>
          <a:xfrm xmlns:a="http://schemas.openxmlformats.org/drawingml/2006/main">
            <a:off x="5657850" y="2724150"/>
            <a:ext cx="128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084878"/>
                </a:solidFill>
                <a:latin typeface="Geist Mono"/>
                <a:ea typeface="Geist Mono"/>
                <a:cs typeface="Geist Mono"/>
              </a:defRPr>
            </a:pPr>
            <a:r>
              <a:rPr sz="1200" b="0">
                <a:solidFill>
                  <a:srgbClr val="084878"/>
                </a:solidFill>
                <a:latin typeface="Geist Mono"/>
                <a:ea typeface="Geist Mono"/>
                <a:cs typeface="Geist Mono"/>
              </a:rPr>
              <a:t>8  |  unbegrenzt</a:t>
            </a:r>
          </a:p>
        </p:txBody>
      </p:sp>
      <p:sp>
        <p:nvSpPr>
          <p:cNvPr id="18" name="">
            <a:extLst xmlns:a="http://schemas.openxmlformats.org/drawingml/2006/main">
              <a:ext uri="{FF2B5EF4-FFF2-40B4-BE49-F238E27FC236}">
                <a16:creationId xmlns:a16="http://schemas.microsoft.com/office/drawing/2014/main" id="{35BC6076-F688-45D4-93FF-6AD0F4E0BD32}"/>
              </a:ext>
            </a:extLst>
          </p:cNvPr>
          <p:cNvSpPr>
            <a:spLocks xmlns:a="http://schemas.openxmlformats.org/drawingml/2006/main" noGrp="1"/>
          </p:cNvSpPr>
          <p:nvPr/>
        </p:nvSpPr>
        <p:spPr>
          <a:xfrm xmlns:a="http://schemas.openxmlformats.org/drawingml/2006/main">
            <a:off x="4171950" y="3105150"/>
            <a:ext cx="2762250" cy="0"/>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9" name="">
            <a:extLst xmlns:a="http://schemas.openxmlformats.org/drawingml/2006/main">
              <a:ext uri="{FF2B5EF4-FFF2-40B4-BE49-F238E27FC236}">
                <a16:creationId xmlns:a16="http://schemas.microsoft.com/office/drawing/2014/main" id="{F0CFA183-E173-401A-904E-2864DC9708B5}"/>
              </a:ext>
            </a:extLst>
          </p:cNvPr>
          <p:cNvSpPr>
            <a:spLocks xmlns:a="http://schemas.openxmlformats.org/drawingml/2006/main" noGrp="1"/>
          </p:cNvSpPr>
          <p:nvPr/>
        </p:nvSpPr>
        <p:spPr>
          <a:xfrm xmlns:a="http://schemas.openxmlformats.org/drawingml/2006/main">
            <a:off x="4171950" y="3467100"/>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56657A"/>
                </a:solidFill>
                <a:latin typeface="Geist Mono"/>
                <a:ea typeface="Geist Mono"/>
                <a:cs typeface="Geist Mono"/>
              </a:defRPr>
            </a:pPr>
            <a:r>
              <a:rPr sz="1125" b="1">
                <a:solidFill>
                  <a:srgbClr val="56657A"/>
                </a:solidFill>
                <a:latin typeface="Geist Mono"/>
                <a:ea typeface="Geist Mono"/>
                <a:cs typeface="Geist Mono"/>
              </a:rPr>
              <a:t>min_samples_leaf</a:t>
            </a:r>
          </a:p>
        </p:txBody>
      </p:sp>
      <p:sp>
        <p:nvSpPr>
          <p:cNvPr id="20" name="">
            <a:extLst xmlns:a="http://schemas.openxmlformats.org/drawingml/2006/main">
              <a:ext uri="{FF2B5EF4-FFF2-40B4-BE49-F238E27FC236}">
                <a16:creationId xmlns:a16="http://schemas.microsoft.com/office/drawing/2014/main" id="{6A0CF365-F718-4EA5-969E-30966F661A58}"/>
              </a:ext>
            </a:extLst>
          </p:cNvPr>
          <p:cNvSpPr>
            <a:spLocks xmlns:a="http://schemas.openxmlformats.org/drawingml/2006/main" noGrp="1"/>
          </p:cNvSpPr>
          <p:nvPr/>
        </p:nvSpPr>
        <p:spPr>
          <a:xfrm xmlns:a="http://schemas.openxmlformats.org/drawingml/2006/main">
            <a:off x="5657850" y="3467100"/>
            <a:ext cx="128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084878"/>
                </a:solidFill>
                <a:latin typeface="Geist Mono"/>
                <a:ea typeface="Geist Mono"/>
                <a:cs typeface="Geist Mono"/>
              </a:defRPr>
            </a:pPr>
            <a:r>
              <a:rPr sz="1200" b="0">
                <a:solidFill>
                  <a:srgbClr val="084878"/>
                </a:solidFill>
                <a:latin typeface="Geist Mono"/>
                <a:ea typeface="Geist Mono"/>
                <a:cs typeface="Geist Mono"/>
              </a:rPr>
              <a:t>5  |  20</a:t>
            </a:r>
          </a:p>
        </p:txBody>
      </p:sp>
      <p:sp>
        <p:nvSpPr>
          <p:cNvPr id="21" name="">
            <a:extLst xmlns:a="http://schemas.openxmlformats.org/drawingml/2006/main">
              <a:ext uri="{FF2B5EF4-FFF2-40B4-BE49-F238E27FC236}">
                <a16:creationId xmlns:a16="http://schemas.microsoft.com/office/drawing/2014/main" id="{AF6761A3-E26D-49CC-BADB-410A19F42F91}"/>
              </a:ext>
            </a:extLst>
          </p:cNvPr>
          <p:cNvSpPr>
            <a:spLocks xmlns:a="http://schemas.openxmlformats.org/drawingml/2006/main" noGrp="1"/>
          </p:cNvSpPr>
          <p:nvPr/>
        </p:nvSpPr>
        <p:spPr>
          <a:xfrm xmlns:a="http://schemas.openxmlformats.org/drawingml/2006/main">
            <a:off x="4171950" y="3848100"/>
            <a:ext cx="2762250" cy="0"/>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22" name="">
            <a:extLst xmlns:a="http://schemas.openxmlformats.org/drawingml/2006/main">
              <a:ext uri="{FF2B5EF4-FFF2-40B4-BE49-F238E27FC236}">
                <a16:creationId xmlns:a16="http://schemas.microsoft.com/office/drawing/2014/main" id="{77BEEF8B-A38C-42AF-B1AE-1049CD400DC8}"/>
              </a:ext>
            </a:extLst>
          </p:cNvPr>
          <p:cNvSpPr>
            <a:spLocks xmlns:a="http://schemas.openxmlformats.org/drawingml/2006/main" noGrp="1"/>
          </p:cNvSpPr>
          <p:nvPr/>
        </p:nvSpPr>
        <p:spPr>
          <a:xfrm xmlns:a="http://schemas.openxmlformats.org/drawingml/2006/main">
            <a:off x="4171950" y="4210050"/>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56657A"/>
                </a:solidFill>
                <a:latin typeface="Geist Mono"/>
                <a:ea typeface="Geist Mono"/>
                <a:cs typeface="Geist Mono"/>
              </a:defRPr>
            </a:pPr>
            <a:r>
              <a:rPr sz="1125" b="1">
                <a:solidFill>
                  <a:srgbClr val="56657A"/>
                </a:solidFill>
                <a:latin typeface="Geist Mono"/>
                <a:ea typeface="Geist Mono"/>
                <a:cs typeface="Geist Mono"/>
              </a:rPr>
              <a:t>max_features</a:t>
            </a:r>
          </a:p>
        </p:txBody>
      </p:sp>
      <p:sp>
        <p:nvSpPr>
          <p:cNvPr id="23" name="">
            <a:extLst xmlns:a="http://schemas.openxmlformats.org/drawingml/2006/main">
              <a:ext uri="{FF2B5EF4-FFF2-40B4-BE49-F238E27FC236}">
                <a16:creationId xmlns:a16="http://schemas.microsoft.com/office/drawing/2014/main" id="{01AFAC68-60C3-4FF5-9348-AE35F3868E0D}"/>
              </a:ext>
            </a:extLst>
          </p:cNvPr>
          <p:cNvSpPr>
            <a:spLocks xmlns:a="http://schemas.openxmlformats.org/drawingml/2006/main" noGrp="1"/>
          </p:cNvSpPr>
          <p:nvPr/>
        </p:nvSpPr>
        <p:spPr>
          <a:xfrm xmlns:a="http://schemas.openxmlformats.org/drawingml/2006/main">
            <a:off x="5657850" y="4210050"/>
            <a:ext cx="128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084878"/>
                </a:solidFill>
                <a:latin typeface="Geist Mono"/>
                <a:ea typeface="Geist Mono"/>
                <a:cs typeface="Geist Mono"/>
              </a:defRPr>
            </a:pPr>
            <a:r>
              <a:rPr sz="1200" b="0">
                <a:solidFill>
                  <a:srgbClr val="084878"/>
                </a:solidFill>
                <a:latin typeface="Geist Mono"/>
                <a:ea typeface="Geist Mono"/>
                <a:cs typeface="Geist Mono"/>
              </a:rPr>
              <a:t>0,7  |  1,0</a:t>
            </a:r>
          </a:p>
        </p:txBody>
      </p:sp>
      <p:sp>
        <p:nvSpPr>
          <p:cNvPr id="24" name="">
            <a:extLst xmlns:a="http://schemas.openxmlformats.org/drawingml/2006/main">
              <a:ext uri="{FF2B5EF4-FFF2-40B4-BE49-F238E27FC236}">
                <a16:creationId xmlns:a16="http://schemas.microsoft.com/office/drawing/2014/main" id="{CB6A94A1-6457-4314-8B96-60BFC0D9A352}"/>
              </a:ext>
            </a:extLst>
          </p:cNvPr>
          <p:cNvSpPr>
            <a:spLocks xmlns:a="http://schemas.openxmlformats.org/drawingml/2006/main" noGrp="1"/>
          </p:cNvSpPr>
          <p:nvPr/>
        </p:nvSpPr>
        <p:spPr>
          <a:xfrm xmlns:a="http://schemas.openxmlformats.org/drawingml/2006/main">
            <a:off x="4171950" y="4591050"/>
            <a:ext cx="2762250" cy="0"/>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25" name="">
            <a:extLst xmlns:a="http://schemas.openxmlformats.org/drawingml/2006/main">
              <a:ext uri="{FF2B5EF4-FFF2-40B4-BE49-F238E27FC236}">
                <a16:creationId xmlns:a16="http://schemas.microsoft.com/office/drawing/2014/main" id="{C7AF42FE-446B-48AB-8BBA-F7DE749381AD}"/>
              </a:ext>
            </a:extLst>
          </p:cNvPr>
          <p:cNvSpPr>
            <a:spLocks xmlns:a="http://schemas.openxmlformats.org/drawingml/2006/main" noGrp="1"/>
          </p:cNvSpPr>
          <p:nvPr/>
        </p:nvSpPr>
        <p:spPr>
          <a:xfrm xmlns:a="http://schemas.openxmlformats.org/drawingml/2006/main">
            <a:off x="7572375" y="1952625"/>
            <a:ext cx="4000500" cy="2019300"/>
          </a:xfrm>
          <a:prstGeom xmlns:a="http://schemas.openxmlformats.org/drawingml/2006/main" prst="roundRect">
            <a:avLst>
              <a:gd name="adj" fmla="val 6604"/>
            </a:avLst>
          </a:prstGeom>
          <a:solidFill xmlns:a="http://schemas.openxmlformats.org/drawingml/2006/main">
            <a:srgbClr val="0D274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BD7F0FA-8156-4EF5-8529-D6E3309BACEC}"/>
              </a:ext>
            </a:extLst>
          </p:cNvPr>
          <p:cNvSpPr>
            <a:spLocks xmlns:a="http://schemas.openxmlformats.org/drawingml/2006/main" noGrp="1"/>
          </p:cNvSpPr>
          <p:nvPr/>
        </p:nvSpPr>
        <p:spPr>
          <a:xfrm xmlns:a="http://schemas.openxmlformats.org/drawingml/2006/main">
            <a:off x="7858125" y="2324100"/>
            <a:ext cx="342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600" b="1">
                <a:solidFill>
                  <a:srgbClr val="FFFFFF"/>
                </a:solidFill>
                <a:latin typeface="Geist Mono"/>
                <a:ea typeface="Geist Mono"/>
                <a:cs typeface="Geist Mono"/>
              </a:defRPr>
            </a:pPr>
            <a:r>
              <a:rPr sz="3600" b="1">
                <a:solidFill>
                  <a:srgbClr val="FFFFFF"/>
                </a:solidFill>
                <a:latin typeface="Geist Mono"/>
                <a:ea typeface="Geist Mono"/>
                <a:cs typeface="Geist Mono"/>
              </a:rPr>
              <a:t>8 × 3 = 24</a:t>
            </a:r>
          </a:p>
        </p:txBody>
      </p:sp>
      <p:sp>
        <p:nvSpPr>
          <p:cNvPr id="27" name="">
            <a:extLst xmlns:a="http://schemas.openxmlformats.org/drawingml/2006/main">
              <a:ext uri="{FF2B5EF4-FFF2-40B4-BE49-F238E27FC236}">
                <a16:creationId xmlns:a16="http://schemas.microsoft.com/office/drawing/2014/main" id="{4ACF2B59-E817-4FA2-908E-8D06E3BD56EC}"/>
              </a:ext>
            </a:extLst>
          </p:cNvPr>
          <p:cNvSpPr>
            <a:spLocks xmlns:a="http://schemas.openxmlformats.org/drawingml/2006/main" noGrp="1"/>
          </p:cNvSpPr>
          <p:nvPr/>
        </p:nvSpPr>
        <p:spPr>
          <a:xfrm xmlns:a="http://schemas.openxmlformats.org/drawingml/2006/main">
            <a:off x="7858125" y="309562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CBE8F5"/>
                </a:solidFill>
                <a:latin typeface="IBM Plex Sans"/>
                <a:ea typeface="IBM Plex Sans"/>
                <a:cs typeface="IBM Plex Sans"/>
              </a:defRPr>
            </a:pPr>
            <a:r>
              <a:rPr sz="1275" b="0">
                <a:solidFill>
                  <a:srgbClr val="CBE8F5"/>
                </a:solidFill>
                <a:latin typeface="IBM Plex Sans"/>
                <a:ea typeface="IBM Plex Sans"/>
                <a:cs typeface="IBM Plex Sans"/>
              </a:rPr>
              <a:t>Kombinationen × Zeit-Folds = Fits</a:t>
            </a:r>
          </a:p>
        </p:txBody>
      </p:sp>
      <p:sp>
        <p:nvSpPr>
          <p:cNvPr id="28" name="">
            <a:extLst xmlns:a="http://schemas.openxmlformats.org/drawingml/2006/main">
              <a:ext uri="{FF2B5EF4-FFF2-40B4-BE49-F238E27FC236}">
                <a16:creationId xmlns:a16="http://schemas.microsoft.com/office/drawing/2014/main" id="{19E7EC66-139F-47A7-A07D-4FDF15CE4D64}"/>
              </a:ext>
            </a:extLst>
          </p:cNvPr>
          <p:cNvSpPr>
            <a:spLocks xmlns:a="http://schemas.openxmlformats.org/drawingml/2006/main" noGrp="1"/>
          </p:cNvSpPr>
          <p:nvPr/>
        </p:nvSpPr>
        <p:spPr>
          <a:xfrm xmlns:a="http://schemas.openxmlformats.org/drawingml/2006/main">
            <a:off x="7572375" y="4171950"/>
            <a:ext cx="4000500" cy="1247775"/>
          </a:xfrm>
          <a:prstGeom xmlns:a="http://schemas.openxmlformats.org/drawingml/2006/main" prst="roundRect">
            <a:avLst>
              <a:gd name="adj" fmla="val 10687"/>
            </a:avLst>
          </a:prstGeom>
          <a:solidFill xmlns:a="http://schemas.openxmlformats.org/drawingml/2006/main">
            <a:srgbClr val="FFF2D8"/>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9" name="">
            <a:extLst xmlns:a="http://schemas.openxmlformats.org/drawingml/2006/main">
              <a:ext uri="{FF2B5EF4-FFF2-40B4-BE49-F238E27FC236}">
                <a16:creationId xmlns:a16="http://schemas.microsoft.com/office/drawing/2014/main" id="{3E24C92F-08B2-4477-88B4-C54F26814DAE}"/>
              </a:ext>
            </a:extLst>
          </p:cNvPr>
          <p:cNvSpPr>
            <a:spLocks xmlns:a="http://schemas.openxmlformats.org/drawingml/2006/main" noGrp="1"/>
          </p:cNvSpPr>
          <p:nvPr/>
        </p:nvSpPr>
        <p:spPr>
          <a:xfrm xmlns:a="http://schemas.openxmlformats.org/drawingml/2006/main">
            <a:off x="7572375" y="4171950"/>
            <a:ext cx="57150" cy="1247775"/>
          </a:xfrm>
          <a:prstGeom xmlns:a="http://schemas.openxmlformats.org/drawingml/2006/main" prst="rect">
            <a:avLst/>
          </a:prstGeom>
          <a:solidFill xmlns:a="http://schemas.openxmlformats.org/drawingml/2006/main">
            <a:srgbClr val="A86505"/>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3741E3C6-2AA7-4D35-AA8F-58F8848F70E0}"/>
              </a:ext>
            </a:extLst>
          </p:cNvPr>
          <p:cNvSpPr>
            <a:spLocks xmlns:a="http://schemas.openxmlformats.org/drawingml/2006/main" noGrp="1"/>
          </p:cNvSpPr>
          <p:nvPr/>
        </p:nvSpPr>
        <p:spPr>
          <a:xfrm xmlns:a="http://schemas.openxmlformats.org/drawingml/2006/main">
            <a:off x="7762875" y="4314825"/>
            <a:ext cx="3638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A86505"/>
                </a:solidFill>
                <a:latin typeface="IBM Plex Sans"/>
                <a:ea typeface="IBM Plex Sans"/>
                <a:cs typeface="IBM Plex Sans"/>
              </a:defRPr>
            </a:pPr>
            <a:r>
              <a:rPr sz="825" b="1">
                <a:solidFill>
                  <a:srgbClr val="A86505"/>
                </a:solidFill>
                <a:latin typeface="IBM Plex Sans"/>
                <a:ea typeface="IBM Plex Sans"/>
                <a:cs typeface="IBM Plex Sans"/>
              </a:rPr>
              <a:t>GEWINNER</a:t>
            </a:r>
          </a:p>
        </p:txBody>
      </p:sp>
      <p:sp>
        <p:nvSpPr>
          <p:cNvPr id="31" name="">
            <a:extLst xmlns:a="http://schemas.openxmlformats.org/drawingml/2006/main">
              <a:ext uri="{FF2B5EF4-FFF2-40B4-BE49-F238E27FC236}">
                <a16:creationId xmlns:a16="http://schemas.microsoft.com/office/drawing/2014/main" id="{4DB37F9A-AD98-4878-BB52-3241CBB22F9E}"/>
              </a:ext>
            </a:extLst>
          </p:cNvPr>
          <p:cNvSpPr>
            <a:spLocks xmlns:a="http://schemas.openxmlformats.org/drawingml/2006/main" noGrp="1"/>
          </p:cNvSpPr>
          <p:nvPr/>
        </p:nvSpPr>
        <p:spPr>
          <a:xfrm xmlns:a="http://schemas.openxmlformats.org/drawingml/2006/main">
            <a:off x="7762875" y="4572000"/>
            <a:ext cx="3638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084878"/>
                </a:solidFill>
                <a:latin typeface="Geist Mono"/>
                <a:ea typeface="Geist Mono"/>
                <a:cs typeface="Geist Mono"/>
              </a:defRPr>
            </a:pPr>
            <a:r>
              <a:rPr sz="1500" b="1">
                <a:solidFill>
                  <a:srgbClr val="084878"/>
                </a:solidFill>
                <a:latin typeface="Geist Mono"/>
                <a:ea typeface="Geist Mono"/>
                <a:cs typeface="Geist Mono"/>
              </a:rPr>
              <a:t>Tiefe 8 · Blatt 5 · Features 0,7</a:t>
            </a:r>
          </a:p>
        </p:txBody>
      </p:sp>
      <p:sp>
        <p:nvSpPr>
          <p:cNvPr id="32" name="">
            <a:extLst xmlns:a="http://schemas.openxmlformats.org/drawingml/2006/main">
              <a:ext uri="{FF2B5EF4-FFF2-40B4-BE49-F238E27FC236}">
                <a16:creationId xmlns:a16="http://schemas.microsoft.com/office/drawing/2014/main" id="{BFC1659E-857A-42A9-83D7-880D9612B60E}"/>
              </a:ext>
            </a:extLst>
          </p:cNvPr>
          <p:cNvSpPr>
            <a:spLocks xmlns:a="http://schemas.openxmlformats.org/drawingml/2006/main" noGrp="1"/>
          </p:cNvSpPr>
          <p:nvPr/>
        </p:nvSpPr>
        <p:spPr>
          <a:xfrm xmlns:a="http://schemas.openxmlformats.org/drawingml/2006/main">
            <a:off x="7762875" y="5010150"/>
            <a:ext cx="3638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a:solidFill>
                  <a:srgbClr val="56657A"/>
                </a:solidFill>
                <a:latin typeface="IBM Plex Sans"/>
                <a:ea typeface="IBM Plex Sans"/>
                <a:cs typeface="IBM Plex Sans"/>
              </a:defRPr>
            </a:pPr>
            <a:r>
              <a:rPr sz="1125" b="0">
                <a:solidFill>
                  <a:srgbClr val="56657A"/>
                </a:solidFill>
                <a:latin typeface="IBM Plex Sans"/>
                <a:ea typeface="IBM Plex Sans"/>
                <a:cs typeface="IBM Plex Sans"/>
              </a:rPr>
              <a:t>Auswahlregel: niedrigster mittlerer CV-RMSE.</a:t>
            </a:r>
          </a:p>
        </p:txBody>
      </p:sp>
      <p:sp>
        <p:nvSpPr>
          <p:cNvPr id="33" name="">
            <a:extLst xmlns:a="http://schemas.openxmlformats.org/drawingml/2006/main">
              <a:ext uri="{FF2B5EF4-FFF2-40B4-BE49-F238E27FC236}">
                <a16:creationId xmlns:a16="http://schemas.microsoft.com/office/drawing/2014/main" id="{A31B9A72-99E0-4FED-859A-1CC52DF3B7E8}"/>
              </a:ext>
            </a:extLst>
          </p:cNvPr>
          <p:cNvSpPr>
            <a:spLocks xmlns:a="http://schemas.openxmlformats.org/drawingml/2006/main" noGrp="1"/>
          </p:cNvSpPr>
          <p:nvPr/>
        </p:nvSpPr>
        <p:spPr>
          <a:xfrm xmlns:a="http://schemas.openxmlformats.org/drawingml/2006/main">
            <a:off x="533400" y="6229350"/>
            <a:ext cx="11106150" cy="0"/>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34" name="">
            <a:extLst xmlns:a="http://schemas.openxmlformats.org/drawingml/2006/main">
              <a:ext uri="{FF2B5EF4-FFF2-40B4-BE49-F238E27FC236}">
                <a16:creationId xmlns:a16="http://schemas.microsoft.com/office/drawing/2014/main" id="{1F5CB388-3AC3-46DE-9855-D15A1FCAC8DB}"/>
              </a:ext>
            </a:extLst>
          </p:cNvPr>
          <p:cNvSpPr>
            <a:spLocks xmlns:a="http://schemas.openxmlformats.org/drawingml/2006/main" noGrp="1"/>
          </p:cNvSpPr>
          <p:nvPr/>
        </p:nvSpPr>
        <p:spPr>
          <a:xfrm xmlns:a="http://schemas.openxmlformats.org/drawingml/2006/main">
            <a:off x="533400" y="6229350"/>
            <a:ext cx="895350" cy="0"/>
          </a:xfrm>
          <a:prstGeom xmlns:a="http://schemas.openxmlformats.org/drawingml/2006/main" prst="line">
            <a:avLst/>
          </a:prstGeom>
          <a:noFill xmlns:a="http://schemas.openxmlformats.org/drawingml/2006/main"/>
          <a:ln xmlns:a="http://schemas.openxmlformats.org/drawingml/2006/main" w="38100">
            <a:solidFill>
              <a:srgbClr val="084878"/>
            </a:solidFill>
            <a:prstDash val="solid"/>
          </a:ln>
        </p:spPr>
      </p:sp>
      <p:sp>
        <p:nvSpPr>
          <p:cNvPr id="35" name="">
            <a:extLst xmlns:a="http://schemas.openxmlformats.org/drawingml/2006/main">
              <a:ext uri="{FF2B5EF4-FFF2-40B4-BE49-F238E27FC236}">
                <a16:creationId xmlns:a16="http://schemas.microsoft.com/office/drawing/2014/main" id="{785868B1-58C9-432D-B55E-9CB11873F300}"/>
              </a:ext>
            </a:extLst>
          </p:cNvPr>
          <p:cNvSpPr>
            <a:spLocks xmlns:a="http://schemas.openxmlformats.org/drawingml/2006/main" noGrp="1"/>
          </p:cNvSpPr>
          <p:nvPr/>
        </p:nvSpPr>
        <p:spPr>
          <a:xfrm xmlns:a="http://schemas.openxmlformats.org/drawingml/2006/main">
            <a:off x="533400" y="635317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13" b="0">
                <a:solidFill>
                  <a:srgbClr val="56657A"/>
                </a:solidFill>
                <a:latin typeface="IBM Plex Sans"/>
                <a:ea typeface="IBM Plex Sans"/>
                <a:cs typeface="IBM Plex Sans"/>
              </a:defRPr>
            </a:pPr>
            <a:r>
              <a:rPr sz="713" b="0">
                <a:solidFill>
                  <a:srgbClr val="56657A"/>
                </a:solidFill>
                <a:latin typeface="IBM Plex Sans"/>
                <a:ea typeface="IBM Plex Sans"/>
                <a:cs typeface="IBM Plex Sans"/>
              </a:rPr>
              <a:t>Quelle: notebooks/13_modellierung_von_grund_auf_verstehen.ipynb</a:t>
            </a:r>
          </a:p>
        </p:txBody>
      </p:sp>
      <p:sp>
        <p:nvSpPr>
          <p:cNvPr id="36" name="">
            <a:extLst xmlns:a="http://schemas.openxmlformats.org/drawingml/2006/main">
              <a:ext uri="{FF2B5EF4-FFF2-40B4-BE49-F238E27FC236}">
                <a16:creationId xmlns:a16="http://schemas.microsoft.com/office/drawing/2014/main" id="{CFD3F429-C0C1-4E46-89E0-C5F52CCF592C}"/>
              </a:ext>
            </a:extLst>
          </p:cNvPr>
          <p:cNvSpPr>
            <a:spLocks xmlns:a="http://schemas.openxmlformats.org/drawingml/2006/main" noGrp="1"/>
          </p:cNvSpPr>
          <p:nvPr/>
        </p:nvSpPr>
        <p:spPr>
          <a:xfrm xmlns:a="http://schemas.openxmlformats.org/drawingml/2006/main">
            <a:off x="10477500" y="63817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56657A"/>
                </a:solidFill>
                <a:latin typeface="Geist Mono"/>
                <a:ea typeface="Geist Mono"/>
                <a:cs typeface="Geist Mono"/>
              </a:defRPr>
            </a:pPr>
            <a:r>
              <a:rPr sz="825" b="0">
                <a:solidFill>
                  <a:srgbClr val="56657A"/>
                </a:solidFill>
                <a:latin typeface="Geist Mono"/>
                <a:ea typeface="Geist Mono"/>
                <a:cs typeface="Geist Mono"/>
              </a:rPr>
              <a:t>05</a:t>
            </a:r>
          </a:p>
        </p:txBody>
      </p:sp>
      <p:pic>
        <p:nvPicPr>
          <p:cNvPr id="74" name=""/>
          <p:cNvPicPr>
            <a:picLocks xmlns:a="http://schemas.openxmlformats.org/drawingml/2006/main" noChangeAspect="1"/>
          </p:cNvPicPr>
          <p:nvPr/>
        </p:nvPicPr>
        <p:blipFill>
          <a:blip xmlns:r="http://schemas.openxmlformats.org/officeDocument/2006/relationships" xmlns:a="http://schemas.openxmlformats.org/drawingml/2006/main" r:embed="Rb222c44d3d7e47d2"/>
          <a:stretch xmlns:a="http://schemas.openxmlformats.org/drawingml/2006/main"/>
        </p:blipFill>
        <p:spPr>
          <a:xfrm xmlns:a="http://schemas.openxmlformats.org/drawingml/2006/main">
            <a:off x="11058812" y="6296025"/>
            <a:ext cx="513776" cy="438150"/>
          </a:xfrm>
          <a:prstGeom xmlns:a="http://schemas.openxmlformats.org/drawingml/2006/main" prst="rect">
            <a:avLst/>
          </a:prstGeom>
        </p:spPr>
      </p:pic>
    </p:spTree>
    <p:extLst>
      <p:ext uri="{BB962C8B-B14F-4D97-AF65-F5344CB8AC3E}">
        <p14:creationId xmlns:p14="http://schemas.microsoft.com/office/powerpoint/2010/main" val="60906270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27ED8A9-3584-4945-829F-C560C2CA0594}"/>
              </a:ext>
            </a:extLst>
          </p:cNvPr>
          <p:cNvSpPr>
            <a:spLocks xmlns:a="http://schemas.openxmlformats.org/drawingml/2006/main" noGrp="1"/>
          </p:cNvSpPr>
          <p:nvPr/>
        </p:nvSpPr>
        <p:spPr>
          <a:xfrm xmlns:a="http://schemas.openxmlformats.org/drawingml/2006/main">
            <a:off x="533400" y="3048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80A0"/>
                </a:solidFill>
                <a:latin typeface="IBM Plex Sans"/>
                <a:ea typeface="IBM Plex Sans"/>
                <a:cs typeface="IBM Plex Sans"/>
              </a:defRPr>
            </a:pPr>
            <a:r>
              <a:rPr sz="825" b="1">
                <a:solidFill>
                  <a:srgbClr val="0080A0"/>
                </a:solidFill>
                <a:latin typeface="IBM Plex Sans"/>
                <a:ea typeface="IBM Plex Sans"/>
                <a:cs typeface="IBM Plex Sans"/>
              </a:rPr>
              <a:t>SWW / ENERGIEANALYSE  ·  03 · ERGEBNIS</a:t>
            </a:r>
          </a:p>
        </p:txBody>
      </p:sp>
      <p:sp>
        <p:nvSpPr>
          <p:cNvPr id="2" name="">
            <a:extLst xmlns:a="http://schemas.openxmlformats.org/drawingml/2006/main">
              <a:ext uri="{FF2B5EF4-FFF2-40B4-BE49-F238E27FC236}">
                <a16:creationId xmlns:a16="http://schemas.microsoft.com/office/drawing/2014/main" id="{0E6B401C-57F3-47EA-B082-98F428FBF501}"/>
              </a:ext>
            </a:extLst>
          </p:cNvPr>
          <p:cNvSpPr>
            <a:spLocks xmlns:a="http://schemas.openxmlformats.org/drawingml/2006/main" noGrp="1"/>
          </p:cNvSpPr>
          <p:nvPr/>
        </p:nvSpPr>
        <p:spPr>
          <a:xfrm xmlns:a="http://schemas.openxmlformats.org/drawingml/2006/main">
            <a:off x="533400" y="638175"/>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0D2742"/>
                </a:solidFill>
                <a:latin typeface="IBM Plex Sans"/>
                <a:ea typeface="IBM Plex Sans"/>
                <a:cs typeface="IBM Plex Sans"/>
              </a:defRPr>
            </a:pPr>
            <a:r>
              <a:rPr sz="2550" b="1">
                <a:solidFill>
                  <a:srgbClr val="0D2742"/>
                </a:solidFill>
                <a:latin typeface="IBM Plex Sans"/>
                <a:ea typeface="IBM Plex Sans"/>
                <a:cs typeface="IBM Plex Sans"/>
              </a:rPr>
              <a:t>Random Forest erzielt den niedrigsten Validierungsfehler</a:t>
            </a:r>
          </a:p>
        </p:txBody>
      </p:sp>
      <p:sp>
        <p:nvSpPr>
          <p:cNvPr id="3" name="">
            <a:extLst xmlns:a="http://schemas.openxmlformats.org/drawingml/2006/main">
              <a:ext uri="{FF2B5EF4-FFF2-40B4-BE49-F238E27FC236}">
                <a16:creationId xmlns:a16="http://schemas.microsoft.com/office/drawing/2014/main" id="{97C3D29A-92E0-4F03-A64B-393937EE7D19}"/>
              </a:ext>
            </a:extLst>
          </p:cNvPr>
          <p:cNvSpPr>
            <a:spLocks xmlns:a="http://schemas.openxmlformats.org/drawingml/2006/main" noGrp="1"/>
          </p:cNvSpPr>
          <p:nvPr/>
        </p:nvSpPr>
        <p:spPr>
          <a:xfrm xmlns:a="http://schemas.openxmlformats.org/drawingml/2006/main">
            <a:off x="533400" y="12668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6657A"/>
                </a:solidFill>
                <a:latin typeface="IBM Plex Sans"/>
                <a:ea typeface="IBM Plex Sans"/>
                <a:cs typeface="IBM Plex Sans"/>
              </a:defRPr>
            </a:pPr>
            <a:r>
              <a:rPr sz="1200" b="0">
                <a:solidFill>
                  <a:srgbClr val="56657A"/>
                </a:solidFill>
                <a:latin typeface="IBM Plex Sans"/>
                <a:ea typeface="IBM Plex Sans"/>
                <a:cs typeface="IBM Plex Sans"/>
              </a:rPr>
              <a:t>Balken = Fold-Mittel · Diamanten = einzelne Folds · Whisker = Standardabweichung</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d1cdd86eae0448f"/>
          <a:stretch xmlns:a="http://schemas.openxmlformats.org/drawingml/2006/main"/>
        </p:blipFill>
        <p:spPr>
          <a:xfrm xmlns:a="http://schemas.openxmlformats.org/drawingml/2006/main">
            <a:off x="1272702" y="1571625"/>
            <a:ext cx="9646596" cy="4048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97E3577-0128-4640-B7A2-0AF800C1DE6E}"/>
              </a:ext>
            </a:extLst>
          </p:cNvPr>
          <p:cNvSpPr>
            <a:spLocks xmlns:a="http://schemas.openxmlformats.org/drawingml/2006/main" noGrp="1"/>
          </p:cNvSpPr>
          <p:nvPr/>
        </p:nvSpPr>
        <p:spPr>
          <a:xfrm xmlns:a="http://schemas.openxmlformats.org/drawingml/2006/main">
            <a:off x="762000" y="5638800"/>
            <a:ext cx="10572750" cy="400050"/>
          </a:xfrm>
          <a:prstGeom xmlns:a="http://schemas.openxmlformats.org/drawingml/2006/main" prst="roundRect">
            <a:avLst>
              <a:gd name="adj" fmla="val 21429"/>
            </a:avLst>
          </a:prstGeom>
          <a:solidFill xmlns:a="http://schemas.openxmlformats.org/drawingml/2006/main">
            <a:srgbClr val="F5F8F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F33CA3A-7E92-4043-9827-A746271FF5D3}"/>
              </a:ext>
            </a:extLst>
          </p:cNvPr>
          <p:cNvSpPr>
            <a:spLocks xmlns:a="http://schemas.openxmlformats.org/drawingml/2006/main" noGrp="1"/>
          </p:cNvSpPr>
          <p:nvPr/>
        </p:nvSpPr>
        <p:spPr>
          <a:xfrm xmlns:a="http://schemas.openxmlformats.org/drawingml/2006/main">
            <a:off x="914400" y="5743575"/>
            <a:ext cx="10267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63" b="1">
                <a:solidFill>
                  <a:srgbClr val="084878"/>
                </a:solidFill>
                <a:latin typeface="IBM Plex Sans"/>
                <a:ea typeface="IBM Plex Sans"/>
                <a:cs typeface="IBM Plex Sans"/>
              </a:defRPr>
            </a:pPr>
            <a:r>
              <a:rPr sz="1163" b="1">
                <a:solidFill>
                  <a:srgbClr val="084878"/>
                </a:solidFill>
                <a:latin typeface="IBM Plex Sans"/>
                <a:ea typeface="IBM Plex Sans"/>
                <a:cs typeface="IBM Plex Sans"/>
              </a:rPr>
              <a:t>Knapper, aber konsistenter Sieg: Random Forest liegt 2,7 % vor der linearen Regression. Whisker sind keine Einzelprognose-Unsicherheit.</a:t>
            </a:r>
          </a:p>
        </p:txBody>
      </p:sp>
      <p:sp>
        <p:nvSpPr>
          <p:cNvPr id="7" name="">
            <a:extLst xmlns:a="http://schemas.openxmlformats.org/drawingml/2006/main">
              <a:ext uri="{FF2B5EF4-FFF2-40B4-BE49-F238E27FC236}">
                <a16:creationId xmlns:a16="http://schemas.microsoft.com/office/drawing/2014/main" id="{BA3EDBA4-1594-45A4-8D58-DC88BC35D7E5}"/>
              </a:ext>
            </a:extLst>
          </p:cNvPr>
          <p:cNvSpPr>
            <a:spLocks xmlns:a="http://schemas.openxmlformats.org/drawingml/2006/main" noGrp="1"/>
          </p:cNvSpPr>
          <p:nvPr/>
        </p:nvSpPr>
        <p:spPr>
          <a:xfrm xmlns:a="http://schemas.openxmlformats.org/drawingml/2006/main">
            <a:off x="533400" y="6229350"/>
            <a:ext cx="11106150" cy="0"/>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3C2DFF34-0E26-4E79-B97F-A176EE263109}"/>
              </a:ext>
            </a:extLst>
          </p:cNvPr>
          <p:cNvSpPr>
            <a:spLocks xmlns:a="http://schemas.openxmlformats.org/drawingml/2006/main" noGrp="1"/>
          </p:cNvSpPr>
          <p:nvPr/>
        </p:nvSpPr>
        <p:spPr>
          <a:xfrm xmlns:a="http://schemas.openxmlformats.org/drawingml/2006/main">
            <a:off x="533400" y="6229350"/>
            <a:ext cx="895350" cy="0"/>
          </a:xfrm>
          <a:prstGeom xmlns:a="http://schemas.openxmlformats.org/drawingml/2006/main" prst="line">
            <a:avLst/>
          </a:prstGeom>
          <a:noFill xmlns:a="http://schemas.openxmlformats.org/drawingml/2006/main"/>
          <a:ln xmlns:a="http://schemas.openxmlformats.org/drawingml/2006/main" w="38100">
            <a:solidFill>
              <a:srgbClr val="084878"/>
            </a:solidFill>
            <a:prstDash val="solid"/>
          </a:ln>
        </p:spPr>
      </p:sp>
      <p:sp>
        <p:nvSpPr>
          <p:cNvPr id="9" name="">
            <a:extLst xmlns:a="http://schemas.openxmlformats.org/drawingml/2006/main">
              <a:ext uri="{FF2B5EF4-FFF2-40B4-BE49-F238E27FC236}">
                <a16:creationId xmlns:a16="http://schemas.microsoft.com/office/drawing/2014/main" id="{8E228F66-7B7D-44D2-82A9-03D91942B4C5}"/>
              </a:ext>
            </a:extLst>
          </p:cNvPr>
          <p:cNvSpPr>
            <a:spLocks xmlns:a="http://schemas.openxmlformats.org/drawingml/2006/main" noGrp="1"/>
          </p:cNvSpPr>
          <p:nvPr/>
        </p:nvSpPr>
        <p:spPr>
          <a:xfrm xmlns:a="http://schemas.openxmlformats.org/drawingml/2006/main">
            <a:off x="533400" y="635317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13" b="0">
                <a:solidFill>
                  <a:srgbClr val="56657A"/>
                </a:solidFill>
                <a:latin typeface="IBM Plex Sans"/>
                <a:ea typeface="IBM Plex Sans"/>
                <a:cs typeface="IBM Plex Sans"/>
              </a:defRPr>
            </a:pPr>
            <a:r>
              <a:rPr sz="713" b="0">
                <a:solidFill>
                  <a:srgbClr val="56657A"/>
                </a:solidFill>
                <a:latin typeface="IBM Plex Sans"/>
                <a:ea typeface="IBM Plex Sans"/>
                <a:cs typeface="IBM Plex Sans"/>
              </a:rPr>
              <a:t>Quelle: notebooks/13_modellierung_von_grund_auf_verstehen.ipynb</a:t>
            </a:r>
          </a:p>
        </p:txBody>
      </p:sp>
      <p:sp>
        <p:nvSpPr>
          <p:cNvPr id="10" name="">
            <a:extLst xmlns:a="http://schemas.openxmlformats.org/drawingml/2006/main">
              <a:ext uri="{FF2B5EF4-FFF2-40B4-BE49-F238E27FC236}">
                <a16:creationId xmlns:a16="http://schemas.microsoft.com/office/drawing/2014/main" id="{FF91C821-DACB-4419-A1DD-0CED1E57A1E4}"/>
              </a:ext>
            </a:extLst>
          </p:cNvPr>
          <p:cNvSpPr>
            <a:spLocks xmlns:a="http://schemas.openxmlformats.org/drawingml/2006/main" noGrp="1"/>
          </p:cNvSpPr>
          <p:nvPr/>
        </p:nvSpPr>
        <p:spPr>
          <a:xfrm xmlns:a="http://schemas.openxmlformats.org/drawingml/2006/main">
            <a:off x="10477500" y="63817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56657A"/>
                </a:solidFill>
                <a:latin typeface="Geist Mono"/>
                <a:ea typeface="Geist Mono"/>
                <a:cs typeface="Geist Mono"/>
              </a:defRPr>
            </a:pPr>
            <a:r>
              <a:rPr sz="825" b="0">
                <a:solidFill>
                  <a:srgbClr val="56657A"/>
                </a:solidFill>
                <a:latin typeface="Geist Mono"/>
                <a:ea typeface="Geist Mono"/>
                <a:cs typeface="Geist Mono"/>
              </a:rPr>
              <a:t>06</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4d537138e48446fa"/>
          <a:stretch xmlns:a="http://schemas.openxmlformats.org/drawingml/2006/main"/>
        </p:blipFill>
        <p:spPr>
          <a:xfrm xmlns:a="http://schemas.openxmlformats.org/drawingml/2006/main">
            <a:off x="11058812" y="6296025"/>
            <a:ext cx="513776" cy="438150"/>
          </a:xfrm>
          <a:prstGeom xmlns:a="http://schemas.openxmlformats.org/drawingml/2006/main" prst="rect">
            <a:avLst/>
          </a:prstGeom>
        </p:spPr>
      </p:pic>
    </p:spTree>
    <p:extLst>
      <p:ext uri="{BB962C8B-B14F-4D97-AF65-F5344CB8AC3E}">
        <p14:creationId xmlns:p14="http://schemas.microsoft.com/office/powerpoint/2010/main" val="7829002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7AF501E-518F-4526-9AE1-0C398C3BA960}"/>
              </a:ext>
            </a:extLst>
          </p:cNvPr>
          <p:cNvSpPr>
            <a:spLocks xmlns:a="http://schemas.openxmlformats.org/drawingml/2006/main" noGrp="1"/>
          </p:cNvSpPr>
          <p:nvPr/>
        </p:nvSpPr>
        <p:spPr>
          <a:xfrm xmlns:a="http://schemas.openxmlformats.org/drawingml/2006/main">
            <a:off x="533400" y="3048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80A0"/>
                </a:solidFill>
                <a:latin typeface="IBM Plex Sans"/>
                <a:ea typeface="IBM Plex Sans"/>
                <a:cs typeface="IBM Plex Sans"/>
              </a:defRPr>
            </a:pPr>
            <a:r>
              <a:rPr sz="825" b="1">
                <a:solidFill>
                  <a:srgbClr val="0080A0"/>
                </a:solidFill>
                <a:latin typeface="IBM Plex Sans"/>
                <a:ea typeface="IBM Plex Sans"/>
                <a:cs typeface="IBM Plex Sans"/>
              </a:rPr>
              <a:t>SWW / ENERGIEANALYSE  ·  03 · BENCHMARK</a:t>
            </a:r>
          </a:p>
        </p:txBody>
      </p:sp>
      <p:sp>
        <p:nvSpPr>
          <p:cNvPr id="2" name="">
            <a:extLst xmlns:a="http://schemas.openxmlformats.org/drawingml/2006/main">
              <a:ext uri="{FF2B5EF4-FFF2-40B4-BE49-F238E27FC236}">
                <a16:creationId xmlns:a16="http://schemas.microsoft.com/office/drawing/2014/main" id="{A93D98FA-109C-498F-B6F4-1C90D2D530E2}"/>
              </a:ext>
            </a:extLst>
          </p:cNvPr>
          <p:cNvSpPr>
            <a:spLocks xmlns:a="http://schemas.openxmlformats.org/drawingml/2006/main" noGrp="1"/>
          </p:cNvSpPr>
          <p:nvPr/>
        </p:nvSpPr>
        <p:spPr>
          <a:xfrm xmlns:a="http://schemas.openxmlformats.org/drawingml/2006/main">
            <a:off x="533400" y="638175"/>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0D2742"/>
                </a:solidFill>
                <a:latin typeface="IBM Plex Sans"/>
                <a:ea typeface="IBM Plex Sans"/>
                <a:cs typeface="IBM Plex Sans"/>
              </a:defRPr>
            </a:pPr>
            <a:r>
              <a:rPr sz="2550" b="1">
                <a:solidFill>
                  <a:srgbClr val="0D2742"/>
                </a:solidFill>
                <a:latin typeface="IBM Plex Sans"/>
                <a:ea typeface="IBM Plex Sans"/>
                <a:cs typeface="IBM Plex Sans"/>
              </a:rPr>
              <a:t>Auch 2025 bleibt das Modell vor den Baselines</a:t>
            </a:r>
          </a:p>
        </p:txBody>
      </p:sp>
      <p:sp>
        <p:nvSpPr>
          <p:cNvPr id="3" name="">
            <a:extLst xmlns:a="http://schemas.openxmlformats.org/drawingml/2006/main">
              <a:ext uri="{FF2B5EF4-FFF2-40B4-BE49-F238E27FC236}">
                <a16:creationId xmlns:a16="http://schemas.microsoft.com/office/drawing/2014/main" id="{EB49C98C-62BB-44C6-A81E-3E9F11623ECB}"/>
              </a:ext>
            </a:extLst>
          </p:cNvPr>
          <p:cNvSpPr>
            <a:spLocks xmlns:a="http://schemas.openxmlformats.org/drawingml/2006/main" noGrp="1"/>
          </p:cNvSpPr>
          <p:nvPr/>
        </p:nvSpPr>
        <p:spPr>
          <a:xfrm xmlns:a="http://schemas.openxmlformats.org/drawingml/2006/main">
            <a:off x="533400" y="12668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6657A"/>
                </a:solidFill>
                <a:latin typeface="IBM Plex Sans"/>
                <a:ea typeface="IBM Plex Sans"/>
                <a:cs typeface="IBM Plex Sans"/>
              </a:defRPr>
            </a:pPr>
            <a:r>
              <a:rPr sz="1200" b="0">
                <a:solidFill>
                  <a:srgbClr val="56657A"/>
                </a:solidFill>
                <a:latin typeface="IBM Plex Sans"/>
                <a:ea typeface="IBM Plex Sans"/>
                <a:cs typeface="IBM Plex Sans"/>
              </a:rPr>
              <a:t>Retrospektiver One-Step-Ahead-Benchmark – monatlich vorhersagen, danach mit dem Istwert bewerten.</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ba0af0a53efc426c"/>
          <a:stretch xmlns:a="http://schemas.openxmlformats.org/drawingml/2006/main"/>
        </p:blipFill>
        <p:spPr>
          <a:xfrm xmlns:a="http://schemas.openxmlformats.org/drawingml/2006/main">
            <a:off x="457200" y="1919883"/>
            <a:ext cx="8048625" cy="301823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D84B74A-3C87-4005-9F5B-CEBA98E0D94D}"/>
              </a:ext>
            </a:extLst>
          </p:cNvPr>
          <p:cNvSpPr>
            <a:spLocks xmlns:a="http://schemas.openxmlformats.org/drawingml/2006/main" noGrp="1"/>
          </p:cNvSpPr>
          <p:nvPr/>
        </p:nvSpPr>
        <p:spPr>
          <a:xfrm xmlns:a="http://schemas.openxmlformats.org/drawingml/2006/main">
            <a:off x="8810625" y="1809750"/>
            <a:ext cx="2724150" cy="1257300"/>
          </a:xfrm>
          <a:prstGeom xmlns:a="http://schemas.openxmlformats.org/drawingml/2006/main" prst="roundRect">
            <a:avLst>
              <a:gd name="adj" fmla="val 10606"/>
            </a:avLst>
          </a:prstGeom>
          <a:solidFill xmlns:a="http://schemas.openxmlformats.org/drawingml/2006/main">
            <a:srgbClr val="FFFFFF"/>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1203D781-8568-4D37-ABDA-837ABF567205}"/>
              </a:ext>
            </a:extLst>
          </p:cNvPr>
          <p:cNvSpPr>
            <a:spLocks xmlns:a="http://schemas.openxmlformats.org/drawingml/2006/main" noGrp="1"/>
          </p:cNvSpPr>
          <p:nvPr/>
        </p:nvSpPr>
        <p:spPr>
          <a:xfrm xmlns:a="http://schemas.openxmlformats.org/drawingml/2006/main">
            <a:off x="8810625" y="1809750"/>
            <a:ext cx="57150" cy="1257300"/>
          </a:xfrm>
          <a:prstGeom xmlns:a="http://schemas.openxmlformats.org/drawingml/2006/main" prst="rect">
            <a:avLst/>
          </a:prstGeom>
          <a:solidFill xmlns:a="http://schemas.openxmlformats.org/drawingml/2006/main">
            <a:srgbClr val="0090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4F5D8D8-58D5-4A32-8FFB-6533CEE40947}"/>
              </a:ext>
            </a:extLst>
          </p:cNvPr>
          <p:cNvSpPr>
            <a:spLocks xmlns:a="http://schemas.openxmlformats.org/drawingml/2006/main" noGrp="1"/>
          </p:cNvSpPr>
          <p:nvPr/>
        </p:nvSpPr>
        <p:spPr>
          <a:xfrm xmlns:a="http://schemas.openxmlformats.org/drawingml/2006/main">
            <a:off x="9001125" y="1952625"/>
            <a:ext cx="2362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90C8"/>
                </a:solidFill>
                <a:latin typeface="IBM Plex Sans"/>
                <a:ea typeface="IBM Plex Sans"/>
                <a:cs typeface="IBM Plex Sans"/>
              </a:defRPr>
            </a:pPr>
            <a:r>
              <a:rPr sz="825" b="1">
                <a:solidFill>
                  <a:srgbClr val="0090C8"/>
                </a:solidFill>
                <a:latin typeface="IBM Plex Sans"/>
                <a:ea typeface="IBM Plex Sans"/>
                <a:cs typeface="IBM Plex Sans"/>
              </a:rPr>
              <a:t>RMSE</a:t>
            </a:r>
          </a:p>
        </p:txBody>
      </p:sp>
      <p:sp>
        <p:nvSpPr>
          <p:cNvPr id="8" name="">
            <a:extLst xmlns:a="http://schemas.openxmlformats.org/drawingml/2006/main">
              <a:ext uri="{FF2B5EF4-FFF2-40B4-BE49-F238E27FC236}">
                <a16:creationId xmlns:a16="http://schemas.microsoft.com/office/drawing/2014/main" id="{34E18678-84C5-446F-BDC1-FFA23AADC4C7}"/>
              </a:ext>
            </a:extLst>
          </p:cNvPr>
          <p:cNvSpPr>
            <a:spLocks xmlns:a="http://schemas.openxmlformats.org/drawingml/2006/main" noGrp="1"/>
          </p:cNvSpPr>
          <p:nvPr/>
        </p:nvSpPr>
        <p:spPr>
          <a:xfrm xmlns:a="http://schemas.openxmlformats.org/drawingml/2006/main">
            <a:off x="9001125" y="2209800"/>
            <a:ext cx="2362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084878"/>
                </a:solidFill>
                <a:latin typeface="Geist Mono"/>
                <a:ea typeface="Geist Mono"/>
                <a:cs typeface="Geist Mono"/>
              </a:defRPr>
            </a:pPr>
            <a:r>
              <a:rPr sz="2175" b="1">
                <a:solidFill>
                  <a:srgbClr val="084878"/>
                </a:solidFill>
                <a:latin typeface="Geist Mono"/>
                <a:ea typeface="Geist Mono"/>
                <a:cs typeface="Geist Mono"/>
              </a:rPr>
              <a:t>9.188 kWh</a:t>
            </a:r>
          </a:p>
        </p:txBody>
      </p:sp>
      <p:sp>
        <p:nvSpPr>
          <p:cNvPr id="9" name="">
            <a:extLst xmlns:a="http://schemas.openxmlformats.org/drawingml/2006/main">
              <a:ext uri="{FF2B5EF4-FFF2-40B4-BE49-F238E27FC236}">
                <a16:creationId xmlns:a16="http://schemas.microsoft.com/office/drawing/2014/main" id="{594AE710-D831-4CF2-9FC7-7739361AE19E}"/>
              </a:ext>
            </a:extLst>
          </p:cNvPr>
          <p:cNvSpPr>
            <a:spLocks xmlns:a="http://schemas.openxmlformats.org/drawingml/2006/main" noGrp="1"/>
          </p:cNvSpPr>
          <p:nvPr/>
        </p:nvSpPr>
        <p:spPr>
          <a:xfrm xmlns:a="http://schemas.openxmlformats.org/drawingml/2006/main">
            <a:off x="9001125" y="2647950"/>
            <a:ext cx="236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a:solidFill>
                  <a:srgbClr val="56657A"/>
                </a:solidFill>
                <a:latin typeface="IBM Plex Sans"/>
                <a:ea typeface="IBM Plex Sans"/>
                <a:cs typeface="IBM Plex Sans"/>
              </a:defRPr>
            </a:pPr>
            <a:r>
              <a:rPr sz="1125" b="0">
                <a:solidFill>
                  <a:srgbClr val="56657A"/>
                </a:solidFill>
                <a:latin typeface="IBM Plex Sans"/>
                <a:ea typeface="IBM Plex Sans"/>
                <a:cs typeface="IBM Plex Sans"/>
              </a:rPr>
              <a:t>Große Fehler zählen stärker.</a:t>
            </a:r>
          </a:p>
        </p:txBody>
      </p:sp>
      <p:sp>
        <p:nvSpPr>
          <p:cNvPr id="10" name="">
            <a:extLst xmlns:a="http://schemas.openxmlformats.org/drawingml/2006/main">
              <a:ext uri="{FF2B5EF4-FFF2-40B4-BE49-F238E27FC236}">
                <a16:creationId xmlns:a16="http://schemas.microsoft.com/office/drawing/2014/main" id="{0C26ED6A-5956-49A4-ACF2-20AF7C0AC5C0}"/>
              </a:ext>
            </a:extLst>
          </p:cNvPr>
          <p:cNvSpPr>
            <a:spLocks xmlns:a="http://schemas.openxmlformats.org/drawingml/2006/main" noGrp="1"/>
          </p:cNvSpPr>
          <p:nvPr/>
        </p:nvSpPr>
        <p:spPr>
          <a:xfrm xmlns:a="http://schemas.openxmlformats.org/drawingml/2006/main">
            <a:off x="8810625" y="3238500"/>
            <a:ext cx="2724150" cy="1257300"/>
          </a:xfrm>
          <a:prstGeom xmlns:a="http://schemas.openxmlformats.org/drawingml/2006/main" prst="roundRect">
            <a:avLst>
              <a:gd name="adj" fmla="val 10606"/>
            </a:avLst>
          </a:prstGeom>
          <a:solidFill xmlns:a="http://schemas.openxmlformats.org/drawingml/2006/main">
            <a:srgbClr val="FFFFFF"/>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28A4B5E8-3FA3-4A0C-8AFE-182ACE205770}"/>
              </a:ext>
            </a:extLst>
          </p:cNvPr>
          <p:cNvSpPr>
            <a:spLocks xmlns:a="http://schemas.openxmlformats.org/drawingml/2006/main" noGrp="1"/>
          </p:cNvSpPr>
          <p:nvPr/>
        </p:nvSpPr>
        <p:spPr>
          <a:xfrm xmlns:a="http://schemas.openxmlformats.org/drawingml/2006/main">
            <a:off x="8810625" y="3238500"/>
            <a:ext cx="57150" cy="12573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DF4205F-12B0-4120-B07E-17DD688CC119}"/>
              </a:ext>
            </a:extLst>
          </p:cNvPr>
          <p:cNvSpPr>
            <a:spLocks xmlns:a="http://schemas.openxmlformats.org/drawingml/2006/main" noGrp="1"/>
          </p:cNvSpPr>
          <p:nvPr/>
        </p:nvSpPr>
        <p:spPr>
          <a:xfrm xmlns:a="http://schemas.openxmlformats.org/drawingml/2006/main">
            <a:off x="9001125" y="3381375"/>
            <a:ext cx="2362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80A0"/>
                </a:solidFill>
                <a:latin typeface="IBM Plex Sans"/>
                <a:ea typeface="IBM Plex Sans"/>
                <a:cs typeface="IBM Plex Sans"/>
              </a:defRPr>
            </a:pPr>
            <a:r>
              <a:rPr sz="825" b="1">
                <a:solidFill>
                  <a:srgbClr val="0080A0"/>
                </a:solidFill>
                <a:latin typeface="IBM Plex Sans"/>
                <a:ea typeface="IBM Plex Sans"/>
                <a:cs typeface="IBM Plex Sans"/>
              </a:rPr>
              <a:t>MAE</a:t>
            </a:r>
          </a:p>
        </p:txBody>
      </p:sp>
      <p:sp>
        <p:nvSpPr>
          <p:cNvPr id="13" name="">
            <a:extLst xmlns:a="http://schemas.openxmlformats.org/drawingml/2006/main">
              <a:ext uri="{FF2B5EF4-FFF2-40B4-BE49-F238E27FC236}">
                <a16:creationId xmlns:a16="http://schemas.microsoft.com/office/drawing/2014/main" id="{97BF24E4-52B6-4BF3-BADD-DFE04B20B298}"/>
              </a:ext>
            </a:extLst>
          </p:cNvPr>
          <p:cNvSpPr>
            <a:spLocks xmlns:a="http://schemas.openxmlformats.org/drawingml/2006/main" noGrp="1"/>
          </p:cNvSpPr>
          <p:nvPr/>
        </p:nvSpPr>
        <p:spPr>
          <a:xfrm xmlns:a="http://schemas.openxmlformats.org/drawingml/2006/main">
            <a:off x="9001125" y="3638550"/>
            <a:ext cx="2362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084878"/>
                </a:solidFill>
                <a:latin typeface="Geist Mono"/>
                <a:ea typeface="Geist Mono"/>
                <a:cs typeface="Geist Mono"/>
              </a:defRPr>
            </a:pPr>
            <a:r>
              <a:rPr sz="2175" b="1">
                <a:solidFill>
                  <a:srgbClr val="084878"/>
                </a:solidFill>
                <a:latin typeface="Geist Mono"/>
                <a:ea typeface="Geist Mono"/>
                <a:cs typeface="Geist Mono"/>
              </a:rPr>
              <a:t>3.725 kWh</a:t>
            </a:r>
          </a:p>
        </p:txBody>
      </p:sp>
      <p:sp>
        <p:nvSpPr>
          <p:cNvPr id="14" name="">
            <a:extLst xmlns:a="http://schemas.openxmlformats.org/drawingml/2006/main">
              <a:ext uri="{FF2B5EF4-FFF2-40B4-BE49-F238E27FC236}">
                <a16:creationId xmlns:a16="http://schemas.microsoft.com/office/drawing/2014/main" id="{8A2B4CD4-665C-4D7A-B514-8F0172FB054A}"/>
              </a:ext>
            </a:extLst>
          </p:cNvPr>
          <p:cNvSpPr>
            <a:spLocks xmlns:a="http://schemas.openxmlformats.org/drawingml/2006/main" noGrp="1"/>
          </p:cNvSpPr>
          <p:nvPr/>
        </p:nvSpPr>
        <p:spPr>
          <a:xfrm xmlns:a="http://schemas.openxmlformats.org/drawingml/2006/main">
            <a:off x="9001125" y="4076700"/>
            <a:ext cx="236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a:solidFill>
                  <a:srgbClr val="56657A"/>
                </a:solidFill>
                <a:latin typeface="IBM Plex Sans"/>
                <a:ea typeface="IBM Plex Sans"/>
                <a:cs typeface="IBM Plex Sans"/>
              </a:defRPr>
            </a:pPr>
            <a:r>
              <a:rPr sz="1125" b="0">
                <a:solidFill>
                  <a:srgbClr val="56657A"/>
                </a:solidFill>
                <a:latin typeface="IBM Plex Sans"/>
                <a:ea typeface="IBM Plex Sans"/>
                <a:cs typeface="IBM Plex Sans"/>
              </a:rPr>
              <a:t>Mittlere absolute Abweichung.</a:t>
            </a:r>
          </a:p>
        </p:txBody>
      </p:sp>
      <p:sp>
        <p:nvSpPr>
          <p:cNvPr id="15" name="">
            <a:extLst xmlns:a="http://schemas.openxmlformats.org/drawingml/2006/main">
              <a:ext uri="{FF2B5EF4-FFF2-40B4-BE49-F238E27FC236}">
                <a16:creationId xmlns:a16="http://schemas.microsoft.com/office/drawing/2014/main" id="{13AF173E-1E41-406B-88FC-6929DABA80C9}"/>
              </a:ext>
            </a:extLst>
          </p:cNvPr>
          <p:cNvSpPr>
            <a:spLocks xmlns:a="http://schemas.openxmlformats.org/drawingml/2006/main" noGrp="1"/>
          </p:cNvSpPr>
          <p:nvPr/>
        </p:nvSpPr>
        <p:spPr>
          <a:xfrm xmlns:a="http://schemas.openxmlformats.org/drawingml/2006/main">
            <a:off x="8810625" y="4667250"/>
            <a:ext cx="2724150" cy="1104900"/>
          </a:xfrm>
          <a:prstGeom xmlns:a="http://schemas.openxmlformats.org/drawingml/2006/main" prst="roundRect">
            <a:avLst>
              <a:gd name="adj" fmla="val 12069"/>
            </a:avLst>
          </a:prstGeom>
          <a:solidFill xmlns:a="http://schemas.openxmlformats.org/drawingml/2006/main">
            <a:srgbClr val="FFF2D8"/>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BB2A55B1-D01D-42C5-8BD7-5471F29AF15C}"/>
              </a:ext>
            </a:extLst>
          </p:cNvPr>
          <p:cNvSpPr>
            <a:spLocks xmlns:a="http://schemas.openxmlformats.org/drawingml/2006/main" noGrp="1"/>
          </p:cNvSpPr>
          <p:nvPr/>
        </p:nvSpPr>
        <p:spPr>
          <a:xfrm xmlns:a="http://schemas.openxmlformats.org/drawingml/2006/main">
            <a:off x="8810625" y="4667250"/>
            <a:ext cx="57150" cy="1104900"/>
          </a:xfrm>
          <a:prstGeom xmlns:a="http://schemas.openxmlformats.org/drawingml/2006/main" prst="rect">
            <a:avLst/>
          </a:prstGeom>
          <a:solidFill xmlns:a="http://schemas.openxmlformats.org/drawingml/2006/main">
            <a:srgbClr val="A8650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749E63C-E7E3-4FA1-8E76-264261CC2C1D}"/>
              </a:ext>
            </a:extLst>
          </p:cNvPr>
          <p:cNvSpPr>
            <a:spLocks xmlns:a="http://schemas.openxmlformats.org/drawingml/2006/main" noGrp="1"/>
          </p:cNvSpPr>
          <p:nvPr/>
        </p:nvSpPr>
        <p:spPr>
          <a:xfrm xmlns:a="http://schemas.openxmlformats.org/drawingml/2006/main">
            <a:off x="9001125" y="4810125"/>
            <a:ext cx="2362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A86505"/>
                </a:solidFill>
                <a:latin typeface="IBM Plex Sans"/>
                <a:ea typeface="IBM Plex Sans"/>
                <a:cs typeface="IBM Plex Sans"/>
              </a:defRPr>
            </a:pPr>
            <a:r>
              <a:rPr sz="825" b="1">
                <a:solidFill>
                  <a:srgbClr val="A86505"/>
                </a:solidFill>
                <a:latin typeface="IBM Plex Sans"/>
                <a:ea typeface="IBM Plex Sans"/>
                <a:cs typeface="IBM Plex Sans"/>
              </a:rPr>
              <a:t>GEGEN 3-MONATS-MITTEL</a:t>
            </a:r>
          </a:p>
        </p:txBody>
      </p:sp>
      <p:sp>
        <p:nvSpPr>
          <p:cNvPr id="18" name="">
            <a:extLst xmlns:a="http://schemas.openxmlformats.org/drawingml/2006/main">
              <a:ext uri="{FF2B5EF4-FFF2-40B4-BE49-F238E27FC236}">
                <a16:creationId xmlns:a16="http://schemas.microsoft.com/office/drawing/2014/main" id="{ACFEECED-E0B8-434B-9B1C-58C594476049}"/>
              </a:ext>
            </a:extLst>
          </p:cNvPr>
          <p:cNvSpPr>
            <a:spLocks xmlns:a="http://schemas.openxmlformats.org/drawingml/2006/main" noGrp="1"/>
          </p:cNvSpPr>
          <p:nvPr/>
        </p:nvSpPr>
        <p:spPr>
          <a:xfrm xmlns:a="http://schemas.openxmlformats.org/drawingml/2006/main">
            <a:off x="9001125" y="5067300"/>
            <a:ext cx="2362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084878"/>
                </a:solidFill>
                <a:latin typeface="Geist Mono"/>
                <a:ea typeface="Geist Mono"/>
                <a:cs typeface="Geist Mono"/>
              </a:defRPr>
            </a:pPr>
            <a:r>
              <a:rPr sz="1875" b="1">
                <a:solidFill>
                  <a:srgbClr val="084878"/>
                </a:solidFill>
                <a:latin typeface="Geist Mono"/>
                <a:ea typeface="Geist Mono"/>
                <a:cs typeface="Geist Mono"/>
              </a:rPr>
              <a:t>15,9 % besser</a:t>
            </a:r>
          </a:p>
        </p:txBody>
      </p:sp>
      <p:sp>
        <p:nvSpPr>
          <p:cNvPr id="19" name="">
            <a:extLst xmlns:a="http://schemas.openxmlformats.org/drawingml/2006/main">
              <a:ext uri="{FF2B5EF4-FFF2-40B4-BE49-F238E27FC236}">
                <a16:creationId xmlns:a16="http://schemas.microsoft.com/office/drawing/2014/main" id="{DCF0A908-1C38-4767-8E38-4B3F33C41FE0}"/>
              </a:ext>
            </a:extLst>
          </p:cNvPr>
          <p:cNvSpPr>
            <a:spLocks xmlns:a="http://schemas.openxmlformats.org/drawingml/2006/main" noGrp="1"/>
          </p:cNvSpPr>
          <p:nvPr/>
        </p:nvSpPr>
        <p:spPr>
          <a:xfrm xmlns:a="http://schemas.openxmlformats.org/drawingml/2006/main">
            <a:off x="9001125" y="5505450"/>
            <a:ext cx="2362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2016"/>
          </a:bodyPr>
          <a:lstStyle xmlns:a="http://schemas.openxmlformats.org/drawingml/2006/main"/>
          <a:p xmlns:a="http://schemas.openxmlformats.org/drawingml/2006/main">
            <a:pPr algn="l">
              <a:lnSpc>
                <a:spcPct val="108000"/>
              </a:lnSpc>
              <a:buNone/>
              <a:defRPr sz="1125" b="0">
                <a:solidFill>
                  <a:srgbClr val="56657A"/>
                </a:solidFill>
                <a:latin typeface="IBM Plex Sans"/>
                <a:ea typeface="IBM Plex Sans"/>
                <a:cs typeface="IBM Plex Sans"/>
              </a:defRPr>
            </a:pPr>
            <a:r>
              <a:rPr sz="1125" b="0">
                <a:solidFill>
                  <a:srgbClr val="56657A"/>
                </a:solidFill>
                <a:latin typeface="IBM Plex Sans"/>
                <a:ea typeface="IBM Plex Sans"/>
                <a:cs typeface="IBM Plex Sans"/>
              </a:rPr>
              <a:t>Relativer RMSE-Vorteil.</a:t>
            </a:r>
          </a:p>
        </p:txBody>
      </p:sp>
      <p:sp>
        <p:nvSpPr>
          <p:cNvPr id="20" name="">
            <a:extLst xmlns:a="http://schemas.openxmlformats.org/drawingml/2006/main">
              <a:ext uri="{FF2B5EF4-FFF2-40B4-BE49-F238E27FC236}">
                <a16:creationId xmlns:a16="http://schemas.microsoft.com/office/drawing/2014/main" id="{26330B93-054D-4FD2-A60A-E7E2AE0597CC}"/>
              </a:ext>
            </a:extLst>
          </p:cNvPr>
          <p:cNvSpPr>
            <a:spLocks xmlns:a="http://schemas.openxmlformats.org/drawingml/2006/main" noGrp="1"/>
          </p:cNvSpPr>
          <p:nvPr/>
        </p:nvSpPr>
        <p:spPr>
          <a:xfrm xmlns:a="http://schemas.openxmlformats.org/drawingml/2006/main">
            <a:off x="685800" y="5495925"/>
            <a:ext cx="781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56657A"/>
                </a:solidFill>
                <a:latin typeface="IBM Plex Sans"/>
                <a:ea typeface="IBM Plex Sans"/>
                <a:cs typeface="IBM Plex Sans"/>
              </a:defRPr>
            </a:pPr>
            <a:r>
              <a:rPr sz="975" b="0">
                <a:solidFill>
                  <a:srgbClr val="56657A"/>
                </a:solidFill>
                <a:latin typeface="IBM Plex Sans"/>
                <a:ea typeface="IBM Plex Sans"/>
                <a:cs typeface="IBM Plex Sans"/>
              </a:rPr>
              <a:t>Fallzahlen: RF, linear und 3-Monats-Mittel n = 8.398 · Vormonat n = 8.388 (10 fehlende Vergleichswerte).</a:t>
            </a:r>
          </a:p>
        </p:txBody>
      </p:sp>
      <p:sp>
        <p:nvSpPr>
          <p:cNvPr id="21" name="">
            <a:extLst xmlns:a="http://schemas.openxmlformats.org/drawingml/2006/main">
              <a:ext uri="{FF2B5EF4-FFF2-40B4-BE49-F238E27FC236}">
                <a16:creationId xmlns:a16="http://schemas.microsoft.com/office/drawing/2014/main" id="{547FC2C3-671A-43AA-8806-3E4DDABD1FAC}"/>
              </a:ext>
            </a:extLst>
          </p:cNvPr>
          <p:cNvSpPr>
            <a:spLocks xmlns:a="http://schemas.openxmlformats.org/drawingml/2006/main" noGrp="1"/>
          </p:cNvSpPr>
          <p:nvPr/>
        </p:nvSpPr>
        <p:spPr>
          <a:xfrm xmlns:a="http://schemas.openxmlformats.org/drawingml/2006/main">
            <a:off x="533400" y="6229350"/>
            <a:ext cx="11106150" cy="0"/>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22" name="">
            <a:extLst xmlns:a="http://schemas.openxmlformats.org/drawingml/2006/main">
              <a:ext uri="{FF2B5EF4-FFF2-40B4-BE49-F238E27FC236}">
                <a16:creationId xmlns:a16="http://schemas.microsoft.com/office/drawing/2014/main" id="{B0835482-1EBA-4584-ACD4-971F35FD64F0}"/>
              </a:ext>
            </a:extLst>
          </p:cNvPr>
          <p:cNvSpPr>
            <a:spLocks xmlns:a="http://schemas.openxmlformats.org/drawingml/2006/main" noGrp="1"/>
          </p:cNvSpPr>
          <p:nvPr/>
        </p:nvSpPr>
        <p:spPr>
          <a:xfrm xmlns:a="http://schemas.openxmlformats.org/drawingml/2006/main">
            <a:off x="533400" y="6229350"/>
            <a:ext cx="895350" cy="0"/>
          </a:xfrm>
          <a:prstGeom xmlns:a="http://schemas.openxmlformats.org/drawingml/2006/main" prst="line">
            <a:avLst/>
          </a:prstGeom>
          <a:noFill xmlns:a="http://schemas.openxmlformats.org/drawingml/2006/main"/>
          <a:ln xmlns:a="http://schemas.openxmlformats.org/drawingml/2006/main" w="38100">
            <a:solidFill>
              <a:srgbClr val="084878"/>
            </a:solidFill>
            <a:prstDash val="solid"/>
          </a:ln>
        </p:spPr>
      </p:sp>
      <p:sp>
        <p:nvSpPr>
          <p:cNvPr id="23" name="">
            <a:extLst xmlns:a="http://schemas.openxmlformats.org/drawingml/2006/main">
              <a:ext uri="{FF2B5EF4-FFF2-40B4-BE49-F238E27FC236}">
                <a16:creationId xmlns:a16="http://schemas.microsoft.com/office/drawing/2014/main" id="{A54DDEE6-566D-4363-BB41-22DA149E7162}"/>
              </a:ext>
            </a:extLst>
          </p:cNvPr>
          <p:cNvSpPr>
            <a:spLocks xmlns:a="http://schemas.openxmlformats.org/drawingml/2006/main" noGrp="1"/>
          </p:cNvSpPr>
          <p:nvPr/>
        </p:nvSpPr>
        <p:spPr>
          <a:xfrm xmlns:a="http://schemas.openxmlformats.org/drawingml/2006/main">
            <a:off x="533400" y="635317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13" b="0">
                <a:solidFill>
                  <a:srgbClr val="56657A"/>
                </a:solidFill>
                <a:latin typeface="IBM Plex Sans"/>
                <a:ea typeface="IBM Plex Sans"/>
                <a:cs typeface="IBM Plex Sans"/>
              </a:defRPr>
            </a:pPr>
            <a:r>
              <a:rPr sz="713" b="0">
                <a:solidFill>
                  <a:srgbClr val="56657A"/>
                </a:solidFill>
                <a:latin typeface="IBM Plex Sans"/>
                <a:ea typeface="IBM Plex Sans"/>
                <a:cs typeface="IBM Plex Sans"/>
              </a:rPr>
              <a:t>Quelle: notebooks/13_modellierung_von_grund_auf_verstehen.ipynb</a:t>
            </a:r>
          </a:p>
        </p:txBody>
      </p:sp>
      <p:sp>
        <p:nvSpPr>
          <p:cNvPr id="24" name="">
            <a:extLst xmlns:a="http://schemas.openxmlformats.org/drawingml/2006/main">
              <a:ext uri="{FF2B5EF4-FFF2-40B4-BE49-F238E27FC236}">
                <a16:creationId xmlns:a16="http://schemas.microsoft.com/office/drawing/2014/main" id="{3442FAE5-F287-4984-83E1-81EEDF2448C1}"/>
              </a:ext>
            </a:extLst>
          </p:cNvPr>
          <p:cNvSpPr>
            <a:spLocks xmlns:a="http://schemas.openxmlformats.org/drawingml/2006/main" noGrp="1"/>
          </p:cNvSpPr>
          <p:nvPr/>
        </p:nvSpPr>
        <p:spPr>
          <a:xfrm xmlns:a="http://schemas.openxmlformats.org/drawingml/2006/main">
            <a:off x="10477500" y="63817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56657A"/>
                </a:solidFill>
                <a:latin typeface="Geist Mono"/>
                <a:ea typeface="Geist Mono"/>
                <a:cs typeface="Geist Mono"/>
              </a:defRPr>
            </a:pPr>
            <a:r>
              <a:rPr sz="825" b="0">
                <a:solidFill>
                  <a:srgbClr val="56657A"/>
                </a:solidFill>
                <a:latin typeface="Geist Mono"/>
                <a:ea typeface="Geist Mono"/>
                <a:cs typeface="Geist Mono"/>
              </a:rPr>
              <a:t>07</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f5b48f5813a24339"/>
          <a:stretch xmlns:a="http://schemas.openxmlformats.org/drawingml/2006/main"/>
        </p:blipFill>
        <p:spPr>
          <a:xfrm xmlns:a="http://schemas.openxmlformats.org/drawingml/2006/main">
            <a:off x="11058812" y="6296025"/>
            <a:ext cx="513776" cy="438150"/>
          </a:xfrm>
          <a:prstGeom xmlns:a="http://schemas.openxmlformats.org/drawingml/2006/main" prst="rect">
            <a:avLst/>
          </a:prstGeom>
        </p:spPr>
      </p:pic>
    </p:spTree>
    <p:extLst>
      <p:ext uri="{BB962C8B-B14F-4D97-AF65-F5344CB8AC3E}">
        <p14:creationId xmlns:p14="http://schemas.microsoft.com/office/powerpoint/2010/main" val="30798980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F75DA34-73AD-47CD-9C33-541215028FB8}"/>
              </a:ext>
            </a:extLst>
          </p:cNvPr>
          <p:cNvSpPr>
            <a:spLocks xmlns:a="http://schemas.openxmlformats.org/drawingml/2006/main" noGrp="1"/>
          </p:cNvSpPr>
          <p:nvPr/>
        </p:nvSpPr>
        <p:spPr>
          <a:xfrm xmlns:a="http://schemas.openxmlformats.org/drawingml/2006/main">
            <a:off x="533400" y="3048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80A0"/>
                </a:solidFill>
                <a:latin typeface="IBM Plex Sans"/>
                <a:ea typeface="IBM Plex Sans"/>
                <a:cs typeface="IBM Plex Sans"/>
              </a:defRPr>
            </a:pPr>
            <a:r>
              <a:rPr sz="825" b="1">
                <a:solidFill>
                  <a:srgbClr val="0080A0"/>
                </a:solidFill>
                <a:latin typeface="IBM Plex Sans"/>
                <a:ea typeface="IBM Plex Sans"/>
                <a:cs typeface="IBM Plex Sans"/>
              </a:rPr>
              <a:t>SWW / ENERGIEANALYSE  ·  03 · ERKLÄRBARKEIT</a:t>
            </a:r>
          </a:p>
        </p:txBody>
      </p:sp>
      <p:sp>
        <p:nvSpPr>
          <p:cNvPr id="2" name="">
            <a:extLst xmlns:a="http://schemas.openxmlformats.org/drawingml/2006/main">
              <a:ext uri="{FF2B5EF4-FFF2-40B4-BE49-F238E27FC236}">
                <a16:creationId xmlns:a16="http://schemas.microsoft.com/office/drawing/2014/main" id="{CE00F2C0-5A4B-40AB-8BDB-A1C66EC72341}"/>
              </a:ext>
            </a:extLst>
          </p:cNvPr>
          <p:cNvSpPr>
            <a:spLocks xmlns:a="http://schemas.openxmlformats.org/drawingml/2006/main" noGrp="1"/>
          </p:cNvSpPr>
          <p:nvPr/>
        </p:nvSpPr>
        <p:spPr>
          <a:xfrm xmlns:a="http://schemas.openxmlformats.org/drawingml/2006/main">
            <a:off x="533400" y="638175"/>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0D2742"/>
                </a:solidFill>
                <a:latin typeface="IBM Plex Sans"/>
                <a:ea typeface="IBM Plex Sans"/>
                <a:cs typeface="IBM Plex Sans"/>
              </a:defRPr>
            </a:pPr>
            <a:r>
              <a:rPr sz="2550" b="1">
                <a:solidFill>
                  <a:srgbClr val="0D2742"/>
                </a:solidFill>
                <a:latin typeface="IBM Plex Sans"/>
                <a:ea typeface="IBM Plex Sans"/>
                <a:cs typeface="IBM Plex Sans"/>
              </a:rPr>
              <a:t>Welche Informationsgruppen fehlen dem Modell am stärksten?</a:t>
            </a:r>
          </a:p>
        </p:txBody>
      </p:sp>
      <p:sp>
        <p:nvSpPr>
          <p:cNvPr id="3" name="">
            <a:extLst xmlns:a="http://schemas.openxmlformats.org/drawingml/2006/main">
              <a:ext uri="{FF2B5EF4-FFF2-40B4-BE49-F238E27FC236}">
                <a16:creationId xmlns:a16="http://schemas.microsoft.com/office/drawing/2014/main" id="{CDBABDB5-8D0F-4AC1-8766-2949C8FECBF7}"/>
              </a:ext>
            </a:extLst>
          </p:cNvPr>
          <p:cNvSpPr>
            <a:spLocks xmlns:a="http://schemas.openxmlformats.org/drawingml/2006/main" noGrp="1"/>
          </p:cNvSpPr>
          <p:nvPr/>
        </p:nvSpPr>
        <p:spPr>
          <a:xfrm xmlns:a="http://schemas.openxmlformats.org/drawingml/2006/main">
            <a:off x="533400" y="12668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6657A"/>
                </a:solidFill>
                <a:latin typeface="IBM Plex Sans"/>
                <a:ea typeface="IBM Plex Sans"/>
                <a:cs typeface="IBM Plex Sans"/>
              </a:defRPr>
            </a:pPr>
            <a:r>
              <a:rPr sz="1200" b="0">
                <a:solidFill>
                  <a:srgbClr val="56657A"/>
                </a:solidFill>
                <a:latin typeface="IBM Plex Sans"/>
                <a:ea typeface="IBM Plex Sans"/>
                <a:cs typeface="IBM Plex Sans"/>
              </a:rPr>
              <a:t>Gruppierte Permutation Importance auf dem retrospektiven Benchmarkjahr 2025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70f9923f6394848"/>
          <a:stretch xmlns:a="http://schemas.openxmlformats.org/drawingml/2006/main"/>
        </p:blipFill>
        <p:spPr>
          <a:xfrm xmlns:a="http://schemas.openxmlformats.org/drawingml/2006/main">
            <a:off x="1234374" y="1714500"/>
            <a:ext cx="9675628" cy="3714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8BBB127-116F-4841-8DAB-021E175EAF12}"/>
              </a:ext>
            </a:extLst>
          </p:cNvPr>
          <p:cNvSpPr>
            <a:spLocks xmlns:a="http://schemas.openxmlformats.org/drawingml/2006/main" noGrp="1"/>
          </p:cNvSpPr>
          <p:nvPr/>
        </p:nvSpPr>
        <p:spPr>
          <a:xfrm xmlns:a="http://schemas.openxmlformats.org/drawingml/2006/main">
            <a:off x="714375" y="5524500"/>
            <a:ext cx="10763250" cy="514350"/>
          </a:xfrm>
          <a:prstGeom xmlns:a="http://schemas.openxmlformats.org/drawingml/2006/main" prst="roundRect">
            <a:avLst>
              <a:gd name="adj" fmla="val 18519"/>
            </a:avLst>
          </a:prstGeom>
          <a:solidFill xmlns:a="http://schemas.openxmlformats.org/drawingml/2006/main">
            <a:srgbClr val="DFF4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AC859A8-DE70-4802-9101-BDCC385798F8}"/>
              </a:ext>
            </a:extLst>
          </p:cNvPr>
          <p:cNvSpPr>
            <a:spLocks xmlns:a="http://schemas.openxmlformats.org/drawingml/2006/main" noGrp="1"/>
          </p:cNvSpPr>
          <p:nvPr/>
        </p:nvSpPr>
        <p:spPr>
          <a:xfrm xmlns:a="http://schemas.openxmlformats.org/drawingml/2006/main">
            <a:off x="933450" y="5676900"/>
            <a:ext cx="10325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084878"/>
                </a:solidFill>
                <a:latin typeface="IBM Plex Sans"/>
                <a:ea typeface="IBM Plex Sans"/>
                <a:cs typeface="IBM Plex Sans"/>
              </a:defRPr>
            </a:pPr>
            <a:r>
              <a:rPr sz="1125" b="1">
                <a:solidFill>
                  <a:srgbClr val="084878"/>
                </a:solidFill>
                <a:latin typeface="IBM Plex Sans"/>
                <a:ea typeface="IBM Plex Sans"/>
                <a:cs typeface="IBM Plex Sans"/>
              </a:rPr>
              <a:t>Wichtig: Modellnutzen ≠ Kausalität. Vertragsleistung wird nicht permutiert, weil sie der feste Umrechnungsfaktor VLS → kWh ist.</a:t>
            </a:r>
          </a:p>
        </p:txBody>
      </p:sp>
      <p:sp>
        <p:nvSpPr>
          <p:cNvPr id="7" name="">
            <a:extLst xmlns:a="http://schemas.openxmlformats.org/drawingml/2006/main">
              <a:ext uri="{FF2B5EF4-FFF2-40B4-BE49-F238E27FC236}">
                <a16:creationId xmlns:a16="http://schemas.microsoft.com/office/drawing/2014/main" id="{296520D3-FFCD-42F7-845E-15C20D2BE6EA}"/>
              </a:ext>
            </a:extLst>
          </p:cNvPr>
          <p:cNvSpPr>
            <a:spLocks xmlns:a="http://schemas.openxmlformats.org/drawingml/2006/main" noGrp="1"/>
          </p:cNvSpPr>
          <p:nvPr/>
        </p:nvSpPr>
        <p:spPr>
          <a:xfrm xmlns:a="http://schemas.openxmlformats.org/drawingml/2006/main">
            <a:off x="533400" y="6229350"/>
            <a:ext cx="11106150" cy="0"/>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C71F1696-CCD5-4380-A305-2D89D800E6C6}"/>
              </a:ext>
            </a:extLst>
          </p:cNvPr>
          <p:cNvSpPr>
            <a:spLocks xmlns:a="http://schemas.openxmlformats.org/drawingml/2006/main" noGrp="1"/>
          </p:cNvSpPr>
          <p:nvPr/>
        </p:nvSpPr>
        <p:spPr>
          <a:xfrm xmlns:a="http://schemas.openxmlformats.org/drawingml/2006/main">
            <a:off x="533400" y="6229350"/>
            <a:ext cx="895350" cy="0"/>
          </a:xfrm>
          <a:prstGeom xmlns:a="http://schemas.openxmlformats.org/drawingml/2006/main" prst="line">
            <a:avLst/>
          </a:prstGeom>
          <a:noFill xmlns:a="http://schemas.openxmlformats.org/drawingml/2006/main"/>
          <a:ln xmlns:a="http://schemas.openxmlformats.org/drawingml/2006/main" w="38100">
            <a:solidFill>
              <a:srgbClr val="084878"/>
            </a:solidFill>
            <a:prstDash val="solid"/>
          </a:ln>
        </p:spPr>
      </p:sp>
      <p:sp>
        <p:nvSpPr>
          <p:cNvPr id="9" name="">
            <a:extLst xmlns:a="http://schemas.openxmlformats.org/drawingml/2006/main">
              <a:ext uri="{FF2B5EF4-FFF2-40B4-BE49-F238E27FC236}">
                <a16:creationId xmlns:a16="http://schemas.microsoft.com/office/drawing/2014/main" id="{9FDD352D-51DB-4DDB-99D3-BE815D50CFEF}"/>
              </a:ext>
            </a:extLst>
          </p:cNvPr>
          <p:cNvSpPr>
            <a:spLocks xmlns:a="http://schemas.openxmlformats.org/drawingml/2006/main" noGrp="1"/>
          </p:cNvSpPr>
          <p:nvPr/>
        </p:nvSpPr>
        <p:spPr>
          <a:xfrm xmlns:a="http://schemas.openxmlformats.org/drawingml/2006/main">
            <a:off x="533400" y="635317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13" b="0">
                <a:solidFill>
                  <a:srgbClr val="56657A"/>
                </a:solidFill>
                <a:latin typeface="IBM Plex Sans"/>
                <a:ea typeface="IBM Plex Sans"/>
                <a:cs typeface="IBM Plex Sans"/>
              </a:defRPr>
            </a:pPr>
            <a:r>
              <a:rPr sz="713" b="0">
                <a:solidFill>
                  <a:srgbClr val="56657A"/>
                </a:solidFill>
                <a:latin typeface="IBM Plex Sans"/>
                <a:ea typeface="IBM Plex Sans"/>
                <a:cs typeface="IBM Plex Sans"/>
              </a:rPr>
              <a:t>Quelle: notebooks/13_modellierung_von_grund_auf_verstehen.ipynb</a:t>
            </a:r>
          </a:p>
        </p:txBody>
      </p:sp>
      <p:sp>
        <p:nvSpPr>
          <p:cNvPr id="10" name="">
            <a:extLst xmlns:a="http://schemas.openxmlformats.org/drawingml/2006/main">
              <a:ext uri="{FF2B5EF4-FFF2-40B4-BE49-F238E27FC236}">
                <a16:creationId xmlns:a16="http://schemas.microsoft.com/office/drawing/2014/main" id="{30027819-93FF-4E93-8216-9B4A491A43AC}"/>
              </a:ext>
            </a:extLst>
          </p:cNvPr>
          <p:cNvSpPr>
            <a:spLocks xmlns:a="http://schemas.openxmlformats.org/drawingml/2006/main" noGrp="1"/>
          </p:cNvSpPr>
          <p:nvPr/>
        </p:nvSpPr>
        <p:spPr>
          <a:xfrm xmlns:a="http://schemas.openxmlformats.org/drawingml/2006/main">
            <a:off x="10477500" y="63817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56657A"/>
                </a:solidFill>
                <a:latin typeface="Geist Mono"/>
                <a:ea typeface="Geist Mono"/>
                <a:cs typeface="Geist Mono"/>
              </a:defRPr>
            </a:pPr>
            <a:r>
              <a:rPr sz="825" b="0">
                <a:solidFill>
                  <a:srgbClr val="56657A"/>
                </a:solidFill>
                <a:latin typeface="Geist Mono"/>
                <a:ea typeface="Geist Mono"/>
                <a:cs typeface="Geist Mono"/>
              </a:rPr>
              <a:t>08</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0b29e9593c72442f"/>
          <a:stretch xmlns:a="http://schemas.openxmlformats.org/drawingml/2006/main"/>
        </p:blipFill>
        <p:spPr>
          <a:xfrm xmlns:a="http://schemas.openxmlformats.org/drawingml/2006/main">
            <a:off x="11058812" y="6296025"/>
            <a:ext cx="513776" cy="438150"/>
          </a:xfrm>
          <a:prstGeom xmlns:a="http://schemas.openxmlformats.org/drawingml/2006/main" prst="rect">
            <a:avLst/>
          </a:prstGeom>
        </p:spPr>
      </p:pic>
    </p:spTree>
    <p:extLst>
      <p:ext uri="{BB962C8B-B14F-4D97-AF65-F5344CB8AC3E}">
        <p14:creationId xmlns:p14="http://schemas.microsoft.com/office/powerpoint/2010/main" val="13733987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C431075-5A3C-43BE-AB06-6116612D3304}"/>
              </a:ext>
            </a:extLst>
          </p:cNvPr>
          <p:cNvSpPr>
            <a:spLocks xmlns:a="http://schemas.openxmlformats.org/drawingml/2006/main" noGrp="1"/>
          </p:cNvSpPr>
          <p:nvPr/>
        </p:nvSpPr>
        <p:spPr>
          <a:xfrm xmlns:a="http://schemas.openxmlformats.org/drawingml/2006/main">
            <a:off x="533400" y="3048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80A0"/>
                </a:solidFill>
                <a:latin typeface="IBM Plex Sans"/>
                <a:ea typeface="IBM Plex Sans"/>
                <a:cs typeface="IBM Plex Sans"/>
              </a:defRPr>
            </a:pPr>
            <a:r>
              <a:rPr sz="825" b="1">
                <a:solidFill>
                  <a:srgbClr val="0080A0"/>
                </a:solidFill>
                <a:latin typeface="IBM Plex Sans"/>
                <a:ea typeface="IBM Plex Sans"/>
                <a:cs typeface="IBM Plex Sans"/>
              </a:rPr>
              <a:t>SWW / ENERGIEANALYSE  ·  04 · KALIBRIERUNG</a:t>
            </a:r>
          </a:p>
        </p:txBody>
      </p:sp>
      <p:sp>
        <p:nvSpPr>
          <p:cNvPr id="2" name="">
            <a:extLst xmlns:a="http://schemas.openxmlformats.org/drawingml/2006/main">
              <a:ext uri="{FF2B5EF4-FFF2-40B4-BE49-F238E27FC236}">
                <a16:creationId xmlns:a16="http://schemas.microsoft.com/office/drawing/2014/main" id="{6B05F015-F736-4D64-8683-D44F01BEA137}"/>
              </a:ext>
            </a:extLst>
          </p:cNvPr>
          <p:cNvSpPr>
            <a:spLocks xmlns:a="http://schemas.openxmlformats.org/drawingml/2006/main" noGrp="1"/>
          </p:cNvSpPr>
          <p:nvPr/>
        </p:nvSpPr>
        <p:spPr>
          <a:xfrm xmlns:a="http://schemas.openxmlformats.org/drawingml/2006/main">
            <a:off x="533400" y="638175"/>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0D2742"/>
                </a:solidFill>
                <a:latin typeface="IBM Plex Sans"/>
                <a:ea typeface="IBM Plex Sans"/>
                <a:cs typeface="IBM Plex Sans"/>
              </a:defRPr>
            </a:pPr>
            <a:r>
              <a:rPr sz="2550" b="1">
                <a:solidFill>
                  <a:srgbClr val="0D2742"/>
                </a:solidFill>
                <a:latin typeface="IBM Plex Sans"/>
                <a:ea typeface="IBM Plex Sans"/>
                <a:cs typeface="IBM Plex Sans"/>
              </a:rPr>
              <a:t>Die q99-Schwelle entsteht aus realen Prognosefehlern</a:t>
            </a:r>
          </a:p>
        </p:txBody>
      </p:sp>
      <p:sp>
        <p:nvSpPr>
          <p:cNvPr id="3" name="">
            <a:extLst xmlns:a="http://schemas.openxmlformats.org/drawingml/2006/main">
              <a:ext uri="{FF2B5EF4-FFF2-40B4-BE49-F238E27FC236}">
                <a16:creationId xmlns:a16="http://schemas.microsoft.com/office/drawing/2014/main" id="{E4B1B07C-7F9A-4C97-BA7D-136960FF8A08}"/>
              </a:ext>
            </a:extLst>
          </p:cNvPr>
          <p:cNvSpPr>
            <a:spLocks xmlns:a="http://schemas.openxmlformats.org/drawingml/2006/main" noGrp="1"/>
          </p:cNvSpPr>
          <p:nvPr/>
        </p:nvSpPr>
        <p:spPr>
          <a:xfrm xmlns:a="http://schemas.openxmlformats.org/drawingml/2006/main">
            <a:off x="533400" y="12668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6657A"/>
                </a:solidFill>
                <a:latin typeface="IBM Plex Sans"/>
                <a:ea typeface="IBM Plex Sans"/>
                <a:cs typeface="IBM Plex Sans"/>
              </a:defRPr>
            </a:pPr>
            <a:r>
              <a:rPr sz="1200" b="0">
                <a:solidFill>
                  <a:srgbClr val="56657A"/>
                </a:solidFill>
                <a:latin typeface="IBM Plex Sans"/>
                <a:ea typeface="IBM Plex Sans"/>
                <a:cs typeface="IBM Plex Sans"/>
              </a:rPr>
              <a:t>1.397 absolute Out-of-Fold-Fehler aus November und Dezember 2024</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52891265e17c4746"/>
          <a:stretch xmlns:a="http://schemas.openxmlformats.org/drawingml/2006/main"/>
        </p:blipFill>
        <p:spPr>
          <a:xfrm xmlns:a="http://schemas.openxmlformats.org/drawingml/2006/main">
            <a:off x="428625" y="2035203"/>
            <a:ext cx="7905750" cy="3035243"/>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245AD29-E626-4FA3-B098-E976141D5B1A}"/>
              </a:ext>
            </a:extLst>
          </p:cNvPr>
          <p:cNvSpPr>
            <a:spLocks xmlns:a="http://schemas.openxmlformats.org/drawingml/2006/main" noGrp="1"/>
          </p:cNvSpPr>
          <p:nvPr/>
        </p:nvSpPr>
        <p:spPr>
          <a:xfrm xmlns:a="http://schemas.openxmlformats.org/drawingml/2006/main">
            <a:off x="8572500" y="1809750"/>
            <a:ext cx="3000375" cy="1257300"/>
          </a:xfrm>
          <a:prstGeom xmlns:a="http://schemas.openxmlformats.org/drawingml/2006/main" prst="roundRect">
            <a:avLst>
              <a:gd name="adj" fmla="val 10606"/>
            </a:avLst>
          </a:prstGeom>
          <a:solidFill xmlns:a="http://schemas.openxmlformats.org/drawingml/2006/main">
            <a:srgbClr val="FFF2D8"/>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ED298411-CECC-4C70-91E5-B10827D181EF}"/>
              </a:ext>
            </a:extLst>
          </p:cNvPr>
          <p:cNvSpPr>
            <a:spLocks xmlns:a="http://schemas.openxmlformats.org/drawingml/2006/main" noGrp="1"/>
          </p:cNvSpPr>
          <p:nvPr/>
        </p:nvSpPr>
        <p:spPr>
          <a:xfrm xmlns:a="http://schemas.openxmlformats.org/drawingml/2006/main">
            <a:off x="8572500" y="1809750"/>
            <a:ext cx="57150" cy="1257300"/>
          </a:xfrm>
          <a:prstGeom xmlns:a="http://schemas.openxmlformats.org/drawingml/2006/main" prst="rect">
            <a:avLst/>
          </a:prstGeom>
          <a:solidFill xmlns:a="http://schemas.openxmlformats.org/drawingml/2006/main">
            <a:srgbClr val="A8650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372E1A0-67A4-4009-AB99-D7164F13F774}"/>
              </a:ext>
            </a:extLst>
          </p:cNvPr>
          <p:cNvSpPr>
            <a:spLocks xmlns:a="http://schemas.openxmlformats.org/drawingml/2006/main" noGrp="1"/>
          </p:cNvSpPr>
          <p:nvPr/>
        </p:nvSpPr>
        <p:spPr>
          <a:xfrm xmlns:a="http://schemas.openxmlformats.org/drawingml/2006/main">
            <a:off x="8763000" y="1952625"/>
            <a:ext cx="26384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A86505"/>
                </a:solidFill>
                <a:latin typeface="IBM Plex Sans"/>
                <a:ea typeface="IBM Plex Sans"/>
                <a:cs typeface="IBM Plex Sans"/>
              </a:defRPr>
            </a:pPr>
            <a:r>
              <a:rPr sz="825" b="1">
                <a:solidFill>
                  <a:srgbClr val="A86505"/>
                </a:solidFill>
                <a:latin typeface="IBM Plex Sans"/>
                <a:ea typeface="IBM Plex Sans"/>
                <a:cs typeface="IBM Plex Sans"/>
              </a:rPr>
              <a:t>99. PERZENTIL</a:t>
            </a:r>
          </a:p>
        </p:txBody>
      </p:sp>
      <p:sp>
        <p:nvSpPr>
          <p:cNvPr id="8" name="">
            <a:extLst xmlns:a="http://schemas.openxmlformats.org/drawingml/2006/main">
              <a:ext uri="{FF2B5EF4-FFF2-40B4-BE49-F238E27FC236}">
                <a16:creationId xmlns:a16="http://schemas.microsoft.com/office/drawing/2014/main" id="{62869A08-88C4-4C75-9A02-D082B29CF093}"/>
              </a:ext>
            </a:extLst>
          </p:cNvPr>
          <p:cNvSpPr>
            <a:spLocks xmlns:a="http://schemas.openxmlformats.org/drawingml/2006/main" noGrp="1"/>
          </p:cNvSpPr>
          <p:nvPr/>
        </p:nvSpPr>
        <p:spPr>
          <a:xfrm xmlns:a="http://schemas.openxmlformats.org/drawingml/2006/main">
            <a:off x="8763000" y="2209800"/>
            <a:ext cx="2638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084878"/>
                </a:solidFill>
                <a:latin typeface="Geist Mono"/>
                <a:ea typeface="Geist Mono"/>
                <a:cs typeface="Geist Mono"/>
              </a:defRPr>
            </a:pPr>
            <a:r>
              <a:rPr sz="2100" b="1">
                <a:solidFill>
                  <a:srgbClr val="084878"/>
                </a:solidFill>
                <a:latin typeface="Geist Mono"/>
                <a:ea typeface="Geist Mono"/>
                <a:cs typeface="Geist Mono"/>
              </a:rPr>
              <a:t>144,4 VLS-h</a:t>
            </a:r>
          </a:p>
        </p:txBody>
      </p:sp>
      <p:sp>
        <p:nvSpPr>
          <p:cNvPr id="9" name="">
            <a:extLst xmlns:a="http://schemas.openxmlformats.org/drawingml/2006/main">
              <a:ext uri="{FF2B5EF4-FFF2-40B4-BE49-F238E27FC236}">
                <a16:creationId xmlns:a16="http://schemas.microsoft.com/office/drawing/2014/main" id="{3836C8FE-0468-4C1E-9457-ED6CFDC39C7F}"/>
              </a:ext>
            </a:extLst>
          </p:cNvPr>
          <p:cNvSpPr>
            <a:spLocks xmlns:a="http://schemas.openxmlformats.org/drawingml/2006/main" noGrp="1"/>
          </p:cNvSpPr>
          <p:nvPr/>
        </p:nvSpPr>
        <p:spPr>
          <a:xfrm xmlns:a="http://schemas.openxmlformats.org/drawingml/2006/main">
            <a:off x="8763000" y="2647950"/>
            <a:ext cx="2638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257"/>
          </a:bodyPr>
          <a:lstStyle xmlns:a="http://schemas.openxmlformats.org/drawingml/2006/main"/>
          <a:p xmlns:a="http://schemas.openxmlformats.org/drawingml/2006/main">
            <a:pPr algn="l">
              <a:lnSpc>
                <a:spcPct val="108000"/>
              </a:lnSpc>
              <a:buNone/>
              <a:defRPr sz="1125" b="0">
                <a:solidFill>
                  <a:srgbClr val="56657A"/>
                </a:solidFill>
                <a:latin typeface="IBM Plex Sans"/>
                <a:ea typeface="IBM Plex Sans"/>
                <a:cs typeface="IBM Plex Sans"/>
              </a:defRPr>
            </a:pPr>
            <a:r>
              <a:rPr sz="1125" b="0">
                <a:solidFill>
                  <a:srgbClr val="56657A"/>
                </a:solidFill>
                <a:latin typeface="IBM Plex Sans"/>
                <a:ea typeface="IBM Plex Sans"/>
                <a:cs typeface="IBM Plex Sans"/>
              </a:rPr>
              <a:t>Konservative Pilotgrenze, keine Defektwahrscheinlichkeit.</a:t>
            </a:r>
          </a:p>
        </p:txBody>
      </p:sp>
      <p:sp>
        <p:nvSpPr>
          <p:cNvPr id="10" name="">
            <a:extLst xmlns:a="http://schemas.openxmlformats.org/drawingml/2006/main">
              <a:ext uri="{FF2B5EF4-FFF2-40B4-BE49-F238E27FC236}">
                <a16:creationId xmlns:a16="http://schemas.microsoft.com/office/drawing/2014/main" id="{245F68D2-3A26-46F2-BDB9-82307265D3E0}"/>
              </a:ext>
            </a:extLst>
          </p:cNvPr>
          <p:cNvSpPr>
            <a:spLocks xmlns:a="http://schemas.openxmlformats.org/drawingml/2006/main" noGrp="1"/>
          </p:cNvSpPr>
          <p:nvPr/>
        </p:nvSpPr>
        <p:spPr>
          <a:xfrm xmlns:a="http://schemas.openxmlformats.org/drawingml/2006/main">
            <a:off x="8572500" y="3257550"/>
            <a:ext cx="3000375" cy="10668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1B8B4CB2-B3F9-4463-90C1-FBA59F356045}"/>
              </a:ext>
            </a:extLst>
          </p:cNvPr>
          <p:cNvSpPr>
            <a:spLocks xmlns:a="http://schemas.openxmlformats.org/drawingml/2006/main" noGrp="1"/>
          </p:cNvSpPr>
          <p:nvPr/>
        </p:nvSpPr>
        <p:spPr>
          <a:xfrm xmlns:a="http://schemas.openxmlformats.org/drawingml/2006/main">
            <a:off x="8572500" y="3257550"/>
            <a:ext cx="57150" cy="10668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6649F66-2B20-4CD7-BD0B-EEB10AAA207A}"/>
              </a:ext>
            </a:extLst>
          </p:cNvPr>
          <p:cNvSpPr>
            <a:spLocks xmlns:a="http://schemas.openxmlformats.org/drawingml/2006/main" noGrp="1"/>
          </p:cNvSpPr>
          <p:nvPr/>
        </p:nvSpPr>
        <p:spPr>
          <a:xfrm xmlns:a="http://schemas.openxmlformats.org/drawingml/2006/main">
            <a:off x="8763000" y="3400425"/>
            <a:ext cx="26384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80A0"/>
                </a:solidFill>
                <a:latin typeface="IBM Plex Sans"/>
                <a:ea typeface="IBM Plex Sans"/>
                <a:cs typeface="IBM Plex Sans"/>
              </a:defRPr>
            </a:pPr>
            <a:r>
              <a:rPr sz="825" b="1">
                <a:solidFill>
                  <a:srgbClr val="0080A0"/>
                </a:solidFill>
                <a:latin typeface="IBM Plex Sans"/>
                <a:ea typeface="IBM Plex Sans"/>
                <a:cs typeface="IBM Plex Sans"/>
              </a:rPr>
              <a:t>BIS ZUR GRENZE</a:t>
            </a:r>
          </a:p>
        </p:txBody>
      </p:sp>
      <p:sp>
        <p:nvSpPr>
          <p:cNvPr id="13" name="">
            <a:extLst xmlns:a="http://schemas.openxmlformats.org/drawingml/2006/main">
              <a:ext uri="{FF2B5EF4-FFF2-40B4-BE49-F238E27FC236}">
                <a16:creationId xmlns:a16="http://schemas.microsoft.com/office/drawing/2014/main" id="{72539FE1-EE9A-49BF-A670-CD159A1174AE}"/>
              </a:ext>
            </a:extLst>
          </p:cNvPr>
          <p:cNvSpPr>
            <a:spLocks xmlns:a="http://schemas.openxmlformats.org/drawingml/2006/main" noGrp="1"/>
          </p:cNvSpPr>
          <p:nvPr/>
        </p:nvSpPr>
        <p:spPr>
          <a:xfrm xmlns:a="http://schemas.openxmlformats.org/drawingml/2006/main">
            <a:off x="8763000" y="3657600"/>
            <a:ext cx="2638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084878"/>
                </a:solidFill>
                <a:latin typeface="Geist Mono"/>
                <a:ea typeface="Geist Mono"/>
                <a:cs typeface="Geist Mono"/>
              </a:defRPr>
            </a:pPr>
            <a:r>
              <a:rPr sz="1950" b="1">
                <a:solidFill>
                  <a:srgbClr val="084878"/>
                </a:solidFill>
                <a:latin typeface="Geist Mono"/>
                <a:ea typeface="Geist Mono"/>
                <a:cs typeface="Geist Mono"/>
              </a:rPr>
              <a:t>1.383 Fehler</a:t>
            </a:r>
          </a:p>
        </p:txBody>
      </p:sp>
      <p:sp>
        <p:nvSpPr>
          <p:cNvPr id="14" name="">
            <a:extLst xmlns:a="http://schemas.openxmlformats.org/drawingml/2006/main">
              <a:ext uri="{FF2B5EF4-FFF2-40B4-BE49-F238E27FC236}">
                <a16:creationId xmlns:a16="http://schemas.microsoft.com/office/drawing/2014/main" id="{96AF3341-2E77-4C79-A8DA-7678E4B9802F}"/>
              </a:ext>
            </a:extLst>
          </p:cNvPr>
          <p:cNvSpPr>
            <a:spLocks xmlns:a="http://schemas.openxmlformats.org/drawingml/2006/main" noGrp="1"/>
          </p:cNvSpPr>
          <p:nvPr/>
        </p:nvSpPr>
        <p:spPr>
          <a:xfrm xmlns:a="http://schemas.openxmlformats.org/drawingml/2006/main">
            <a:off x="8763000" y="4095750"/>
            <a:ext cx="2638425"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51440"/>
          </a:bodyPr>
          <a:lstStyle xmlns:a="http://schemas.openxmlformats.org/drawingml/2006/main"/>
          <a:p xmlns:a="http://schemas.openxmlformats.org/drawingml/2006/main">
            <a:pPr algn="l">
              <a:lnSpc>
                <a:spcPct val="108000"/>
              </a:lnSpc>
              <a:buNone/>
              <a:defRPr sz="1125" b="0">
                <a:solidFill>
                  <a:srgbClr val="56657A"/>
                </a:solidFill>
                <a:latin typeface="IBM Plex Sans"/>
                <a:ea typeface="IBM Plex Sans"/>
                <a:cs typeface="IBM Plex Sans"/>
              </a:defRPr>
            </a:pPr>
            <a:r>
              <a:rPr sz="1125" b="0">
                <a:solidFill>
                  <a:srgbClr val="56657A"/>
                </a:solidFill>
                <a:latin typeface="IBM Plex Sans"/>
                <a:ea typeface="IBM Plex Sans"/>
                <a:cs typeface="IBM Plex Sans"/>
              </a:rPr>
              <a:t>14 Fehler liegen darüber.</a:t>
            </a:r>
          </a:p>
        </p:txBody>
      </p:sp>
      <p:sp>
        <p:nvSpPr>
          <p:cNvPr id="15" name="">
            <a:extLst xmlns:a="http://schemas.openxmlformats.org/drawingml/2006/main">
              <a:ext uri="{FF2B5EF4-FFF2-40B4-BE49-F238E27FC236}">
                <a16:creationId xmlns:a16="http://schemas.microsoft.com/office/drawing/2014/main" id="{6A60B578-84BD-421B-A12D-B56492BFD1ED}"/>
              </a:ext>
            </a:extLst>
          </p:cNvPr>
          <p:cNvSpPr>
            <a:spLocks xmlns:a="http://schemas.openxmlformats.org/drawingml/2006/main" noGrp="1"/>
          </p:cNvSpPr>
          <p:nvPr/>
        </p:nvSpPr>
        <p:spPr>
          <a:xfrm xmlns:a="http://schemas.openxmlformats.org/drawingml/2006/main">
            <a:off x="8572500" y="4514850"/>
            <a:ext cx="3000375" cy="1095375"/>
          </a:xfrm>
          <a:prstGeom xmlns:a="http://schemas.openxmlformats.org/drawingml/2006/main" prst="roundRect">
            <a:avLst>
              <a:gd name="adj" fmla="val 10435"/>
            </a:avLst>
          </a:prstGeom>
          <a:solidFill xmlns:a="http://schemas.openxmlformats.org/drawingml/2006/main">
            <a:srgbClr val="F5F8FB"/>
          </a:solidFill>
          <a:ln xmlns:a="http://schemas.openxmlformats.org/drawingml/2006/main" w="9525">
            <a:solidFill>
              <a:srgbClr val="D7E0EA"/>
            </a:solidFill>
            <a:prstDash val="solid"/>
          </a:ln>
        </p:spPr>
      </p:sp>
      <p:sp>
        <p:nvSpPr>
          <p:cNvPr id="16" name="">
            <a:extLst xmlns:a="http://schemas.openxmlformats.org/drawingml/2006/main">
              <a:ext uri="{FF2B5EF4-FFF2-40B4-BE49-F238E27FC236}">
                <a16:creationId xmlns:a16="http://schemas.microsoft.com/office/drawing/2014/main" id="{797DB536-4D7D-4F2C-8134-77DB844AC1D2}"/>
              </a:ext>
            </a:extLst>
          </p:cNvPr>
          <p:cNvSpPr>
            <a:spLocks xmlns:a="http://schemas.openxmlformats.org/drawingml/2006/main" noGrp="1"/>
          </p:cNvSpPr>
          <p:nvPr/>
        </p:nvSpPr>
        <p:spPr>
          <a:xfrm xmlns:a="http://schemas.openxmlformats.org/drawingml/2006/main">
            <a:off x="8743950" y="47053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084878"/>
                </a:solidFill>
                <a:latin typeface="Geist Mono"/>
                <a:ea typeface="Geist Mono"/>
                <a:cs typeface="Geist Mono"/>
              </a:defRPr>
            </a:pPr>
            <a:r>
              <a:rPr sz="1200" b="1">
                <a:solidFill>
                  <a:srgbClr val="084878"/>
                </a:solidFill>
                <a:latin typeface="Geist Mono"/>
                <a:ea typeface="Geist Mono"/>
                <a:cs typeface="Geist Mono"/>
              </a:rPr>
              <a:t>(1.397 − 1) × 0,99 = 1.382,04</a:t>
            </a:r>
          </a:p>
        </p:txBody>
      </p:sp>
      <p:sp>
        <p:nvSpPr>
          <p:cNvPr id="17" name="">
            <a:extLst xmlns:a="http://schemas.openxmlformats.org/drawingml/2006/main">
              <a:ext uri="{FF2B5EF4-FFF2-40B4-BE49-F238E27FC236}">
                <a16:creationId xmlns:a16="http://schemas.microsoft.com/office/drawing/2014/main" id="{A21F7D41-2855-40A0-B3AE-47867E32F57E}"/>
              </a:ext>
            </a:extLst>
          </p:cNvPr>
          <p:cNvSpPr>
            <a:spLocks xmlns:a="http://schemas.openxmlformats.org/drawingml/2006/main" noGrp="1"/>
          </p:cNvSpPr>
          <p:nvPr/>
        </p:nvSpPr>
        <p:spPr>
          <a:xfrm xmlns:a="http://schemas.openxmlformats.org/drawingml/2006/main">
            <a:off x="8763000" y="5067300"/>
            <a:ext cx="2628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56657A"/>
                </a:solidFill>
                <a:latin typeface="IBM Plex Sans"/>
                <a:ea typeface="IBM Plex Sans"/>
                <a:cs typeface="IBM Plex Sans"/>
              </a:defRPr>
            </a:pPr>
            <a:r>
              <a:rPr sz="1050" b="0">
                <a:solidFill>
                  <a:srgbClr val="56657A"/>
                </a:solidFill>
                <a:latin typeface="IBM Plex Sans"/>
                <a:ea typeface="IBM Plex Sans"/>
                <a:cs typeface="IBM Plex Sans"/>
              </a:rPr>
              <a:t>Interpolation zwischen Rang 1.383 und 1.384 ergibt 144,3547 VLS-h.</a:t>
            </a:r>
          </a:p>
        </p:txBody>
      </p:sp>
      <p:sp>
        <p:nvSpPr>
          <p:cNvPr id="18" name="">
            <a:extLst xmlns:a="http://schemas.openxmlformats.org/drawingml/2006/main">
              <a:ext uri="{FF2B5EF4-FFF2-40B4-BE49-F238E27FC236}">
                <a16:creationId xmlns:a16="http://schemas.microsoft.com/office/drawing/2014/main" id="{8988C6ED-6E27-4303-9938-5D3E643287C2}"/>
              </a:ext>
            </a:extLst>
          </p:cNvPr>
          <p:cNvSpPr>
            <a:spLocks xmlns:a="http://schemas.openxmlformats.org/drawingml/2006/main" noGrp="1"/>
          </p:cNvSpPr>
          <p:nvPr/>
        </p:nvSpPr>
        <p:spPr>
          <a:xfrm xmlns:a="http://schemas.openxmlformats.org/drawingml/2006/main">
            <a:off x="533400" y="6229350"/>
            <a:ext cx="11106150" cy="0"/>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9" name="">
            <a:extLst xmlns:a="http://schemas.openxmlformats.org/drawingml/2006/main">
              <a:ext uri="{FF2B5EF4-FFF2-40B4-BE49-F238E27FC236}">
                <a16:creationId xmlns:a16="http://schemas.microsoft.com/office/drawing/2014/main" id="{981D3574-9563-4F2C-B48D-229F6B5E30D3}"/>
              </a:ext>
            </a:extLst>
          </p:cNvPr>
          <p:cNvSpPr>
            <a:spLocks xmlns:a="http://schemas.openxmlformats.org/drawingml/2006/main" noGrp="1"/>
          </p:cNvSpPr>
          <p:nvPr/>
        </p:nvSpPr>
        <p:spPr>
          <a:xfrm xmlns:a="http://schemas.openxmlformats.org/drawingml/2006/main">
            <a:off x="533400" y="6229350"/>
            <a:ext cx="895350" cy="0"/>
          </a:xfrm>
          <a:prstGeom xmlns:a="http://schemas.openxmlformats.org/drawingml/2006/main" prst="line">
            <a:avLst/>
          </a:prstGeom>
          <a:noFill xmlns:a="http://schemas.openxmlformats.org/drawingml/2006/main"/>
          <a:ln xmlns:a="http://schemas.openxmlformats.org/drawingml/2006/main" w="38100">
            <a:solidFill>
              <a:srgbClr val="084878"/>
            </a:solidFill>
            <a:prstDash val="solid"/>
          </a:ln>
        </p:spPr>
      </p:sp>
      <p:sp>
        <p:nvSpPr>
          <p:cNvPr id="20" name="">
            <a:extLst xmlns:a="http://schemas.openxmlformats.org/drawingml/2006/main">
              <a:ext uri="{FF2B5EF4-FFF2-40B4-BE49-F238E27FC236}">
                <a16:creationId xmlns:a16="http://schemas.microsoft.com/office/drawing/2014/main" id="{6AA72B8E-663A-4C5F-AE3C-B1B9EDDD179E}"/>
              </a:ext>
            </a:extLst>
          </p:cNvPr>
          <p:cNvSpPr>
            <a:spLocks xmlns:a="http://schemas.openxmlformats.org/drawingml/2006/main" noGrp="1"/>
          </p:cNvSpPr>
          <p:nvPr/>
        </p:nvSpPr>
        <p:spPr>
          <a:xfrm xmlns:a="http://schemas.openxmlformats.org/drawingml/2006/main">
            <a:off x="533400" y="635317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13" b="0">
                <a:solidFill>
                  <a:srgbClr val="56657A"/>
                </a:solidFill>
                <a:latin typeface="IBM Plex Sans"/>
                <a:ea typeface="IBM Plex Sans"/>
                <a:cs typeface="IBM Plex Sans"/>
              </a:defRPr>
            </a:pPr>
            <a:r>
              <a:rPr sz="713" b="0">
                <a:solidFill>
                  <a:srgbClr val="56657A"/>
                </a:solidFill>
                <a:latin typeface="IBM Plex Sans"/>
                <a:ea typeface="IBM Plex Sans"/>
                <a:cs typeface="IBM Plex Sans"/>
              </a:rPr>
              <a:t>Quelle: notebooks/13_modellierung_von_grund_auf_verstehen.ipynb</a:t>
            </a:r>
          </a:p>
        </p:txBody>
      </p:sp>
      <p:sp>
        <p:nvSpPr>
          <p:cNvPr id="21" name="">
            <a:extLst xmlns:a="http://schemas.openxmlformats.org/drawingml/2006/main">
              <a:ext uri="{FF2B5EF4-FFF2-40B4-BE49-F238E27FC236}">
                <a16:creationId xmlns:a16="http://schemas.microsoft.com/office/drawing/2014/main" id="{BD561D19-3B22-40E1-81C3-198470184974}"/>
              </a:ext>
            </a:extLst>
          </p:cNvPr>
          <p:cNvSpPr>
            <a:spLocks xmlns:a="http://schemas.openxmlformats.org/drawingml/2006/main" noGrp="1"/>
          </p:cNvSpPr>
          <p:nvPr/>
        </p:nvSpPr>
        <p:spPr>
          <a:xfrm xmlns:a="http://schemas.openxmlformats.org/drawingml/2006/main">
            <a:off x="10477500" y="63817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56657A"/>
                </a:solidFill>
                <a:latin typeface="Geist Mono"/>
                <a:ea typeface="Geist Mono"/>
                <a:cs typeface="Geist Mono"/>
              </a:defRPr>
            </a:pPr>
            <a:r>
              <a:rPr sz="825" b="0">
                <a:solidFill>
                  <a:srgbClr val="56657A"/>
                </a:solidFill>
                <a:latin typeface="Geist Mono"/>
                <a:ea typeface="Geist Mono"/>
                <a:cs typeface="Geist Mono"/>
              </a:rPr>
              <a:t>09</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f9fdd14e175e43e3"/>
          <a:stretch xmlns:a="http://schemas.openxmlformats.org/drawingml/2006/main"/>
        </p:blipFill>
        <p:spPr>
          <a:xfrm xmlns:a="http://schemas.openxmlformats.org/drawingml/2006/main">
            <a:off x="11058812" y="6296025"/>
            <a:ext cx="513776" cy="438150"/>
          </a:xfrm>
          <a:prstGeom xmlns:a="http://schemas.openxmlformats.org/drawingml/2006/main" prst="rect">
            <a:avLst/>
          </a:prstGeom>
        </p:spPr>
      </p:pic>
    </p:spTree>
    <p:extLst>
      <p:ext uri="{BB962C8B-B14F-4D97-AF65-F5344CB8AC3E}">
        <p14:creationId xmlns:p14="http://schemas.microsoft.com/office/powerpoint/2010/main" val="134519069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2F141F8-E245-430A-9A72-AB5BB0DF8814}"/>
              </a:ext>
            </a:extLst>
          </p:cNvPr>
          <p:cNvSpPr>
            <a:spLocks xmlns:a="http://schemas.openxmlformats.org/drawingml/2006/main" noGrp="1"/>
          </p:cNvSpPr>
          <p:nvPr/>
        </p:nvSpPr>
        <p:spPr>
          <a:xfrm xmlns:a="http://schemas.openxmlformats.org/drawingml/2006/main">
            <a:off x="533400" y="3048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80A0"/>
                </a:solidFill>
                <a:latin typeface="IBM Plex Sans"/>
                <a:ea typeface="IBM Plex Sans"/>
                <a:cs typeface="IBM Plex Sans"/>
              </a:defRPr>
            </a:pPr>
            <a:r>
              <a:rPr sz="825" b="1">
                <a:solidFill>
                  <a:srgbClr val="0080A0"/>
                </a:solidFill>
                <a:latin typeface="IBM Plex Sans"/>
                <a:ea typeface="IBM Plex Sans"/>
                <a:cs typeface="IBM Plex Sans"/>
              </a:rPr>
              <a:t>SWW / ENERGIEANALYSE  ·  04 · PRÜFHINWEISE</a:t>
            </a:r>
          </a:p>
        </p:txBody>
      </p:sp>
      <p:sp>
        <p:nvSpPr>
          <p:cNvPr id="2" name="">
            <a:extLst xmlns:a="http://schemas.openxmlformats.org/drawingml/2006/main">
              <a:ext uri="{FF2B5EF4-FFF2-40B4-BE49-F238E27FC236}">
                <a16:creationId xmlns:a16="http://schemas.microsoft.com/office/drawing/2014/main" id="{E60213DB-B9C7-41A2-A524-F99C8FE8E336}"/>
              </a:ext>
            </a:extLst>
          </p:cNvPr>
          <p:cNvSpPr>
            <a:spLocks xmlns:a="http://schemas.openxmlformats.org/drawingml/2006/main" noGrp="1"/>
          </p:cNvSpPr>
          <p:nvPr/>
        </p:nvSpPr>
        <p:spPr>
          <a:xfrm xmlns:a="http://schemas.openxmlformats.org/drawingml/2006/main">
            <a:off x="533400" y="638175"/>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0D2742"/>
                </a:solidFill>
                <a:latin typeface="IBM Plex Sans"/>
                <a:ea typeface="IBM Plex Sans"/>
                <a:cs typeface="IBM Plex Sans"/>
              </a:defRPr>
            </a:pPr>
            <a:r>
              <a:rPr sz="2550" b="1">
                <a:solidFill>
                  <a:srgbClr val="0D2742"/>
                </a:solidFill>
                <a:latin typeface="IBM Plex Sans"/>
                <a:ea typeface="IBM Plex Sans"/>
                <a:cs typeface="IBM Plex Sans"/>
              </a:rPr>
              <a:t>q99 übersetzt Fehler in ein handhabbares Pilotvolumen</a:t>
            </a:r>
          </a:p>
        </p:txBody>
      </p:sp>
      <p:sp>
        <p:nvSpPr>
          <p:cNvPr id="3" name="">
            <a:extLst xmlns:a="http://schemas.openxmlformats.org/drawingml/2006/main">
              <a:ext uri="{FF2B5EF4-FFF2-40B4-BE49-F238E27FC236}">
                <a16:creationId xmlns:a16="http://schemas.microsoft.com/office/drawing/2014/main" id="{A533715A-20C2-40C9-B213-2256BA2861E6}"/>
              </a:ext>
            </a:extLst>
          </p:cNvPr>
          <p:cNvSpPr>
            <a:spLocks xmlns:a="http://schemas.openxmlformats.org/drawingml/2006/main" noGrp="1"/>
          </p:cNvSpPr>
          <p:nvPr/>
        </p:nvSpPr>
        <p:spPr>
          <a:xfrm xmlns:a="http://schemas.openxmlformats.org/drawingml/2006/main">
            <a:off x="533400" y="12668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6657A"/>
                </a:solidFill>
                <a:latin typeface="IBM Plex Sans"/>
                <a:ea typeface="IBM Plex Sans"/>
                <a:cs typeface="IBM Plex Sans"/>
              </a:defRPr>
            </a:pPr>
            <a:r>
              <a:rPr sz="1200" b="0">
                <a:solidFill>
                  <a:srgbClr val="56657A"/>
                </a:solidFill>
                <a:latin typeface="IBM Plex Sans"/>
                <a:ea typeface="IBM Plex Sans"/>
                <a:cs typeface="IBM Plex Sans"/>
              </a:rPr>
              <a:t>Die Ende 2024 kalibrierte Grenze wird 2025 unverändert angewandt.</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1bffb30751c449e4"/>
          <a:stretch xmlns:a="http://schemas.openxmlformats.org/drawingml/2006/main"/>
        </p:blipFill>
        <p:spPr>
          <a:xfrm xmlns:a="http://schemas.openxmlformats.org/drawingml/2006/main">
            <a:off x="457200" y="1964531"/>
            <a:ext cx="8001000" cy="321468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AFBA74F-BE79-4418-951B-B06D7301994F}"/>
              </a:ext>
            </a:extLst>
          </p:cNvPr>
          <p:cNvSpPr>
            <a:spLocks xmlns:a="http://schemas.openxmlformats.org/drawingml/2006/main" noGrp="1"/>
          </p:cNvSpPr>
          <p:nvPr/>
        </p:nvSpPr>
        <p:spPr>
          <a:xfrm xmlns:a="http://schemas.openxmlformats.org/drawingml/2006/main">
            <a:off x="8715375" y="1762125"/>
            <a:ext cx="2809875" cy="1123950"/>
          </a:xfrm>
          <a:prstGeom xmlns:a="http://schemas.openxmlformats.org/drawingml/2006/main" prst="roundRect">
            <a:avLst>
              <a:gd name="adj" fmla="val 11864"/>
            </a:avLst>
          </a:prstGeom>
          <a:solidFill xmlns:a="http://schemas.openxmlformats.org/drawingml/2006/main">
            <a:srgbClr val="FDE9E7"/>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F617750E-D836-4BDF-814A-945F1417CF1A}"/>
              </a:ext>
            </a:extLst>
          </p:cNvPr>
          <p:cNvSpPr>
            <a:spLocks xmlns:a="http://schemas.openxmlformats.org/drawingml/2006/main" noGrp="1"/>
          </p:cNvSpPr>
          <p:nvPr/>
        </p:nvSpPr>
        <p:spPr>
          <a:xfrm xmlns:a="http://schemas.openxmlformats.org/drawingml/2006/main">
            <a:off x="8715375" y="1762125"/>
            <a:ext cx="57150" cy="1123950"/>
          </a:xfrm>
          <a:prstGeom xmlns:a="http://schemas.openxmlformats.org/drawingml/2006/main" prst="rect">
            <a:avLst/>
          </a:prstGeom>
          <a:solidFill xmlns:a="http://schemas.openxmlformats.org/drawingml/2006/main">
            <a:srgbClr val="B3261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A0A6F01-EB87-4A0E-BF77-ABD4F223BB6B}"/>
              </a:ext>
            </a:extLst>
          </p:cNvPr>
          <p:cNvSpPr>
            <a:spLocks xmlns:a="http://schemas.openxmlformats.org/drawingml/2006/main" noGrp="1"/>
          </p:cNvSpPr>
          <p:nvPr/>
        </p:nvSpPr>
        <p:spPr>
          <a:xfrm xmlns:a="http://schemas.openxmlformats.org/drawingml/2006/main">
            <a:off x="8905875" y="1905000"/>
            <a:ext cx="24479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B3261E"/>
                </a:solidFill>
                <a:latin typeface="IBM Plex Sans"/>
                <a:ea typeface="IBM Plex Sans"/>
                <a:cs typeface="IBM Plex Sans"/>
              </a:defRPr>
            </a:pPr>
            <a:r>
              <a:rPr sz="825" b="1">
                <a:solidFill>
                  <a:srgbClr val="B3261E"/>
                </a:solidFill>
                <a:latin typeface="IBM Plex Sans"/>
                <a:ea typeface="IBM Plex Sans"/>
                <a:cs typeface="IBM Plex Sans"/>
              </a:rPr>
              <a:t>PRÜFHINWEISE 2025</a:t>
            </a:r>
          </a:p>
        </p:txBody>
      </p:sp>
      <p:sp>
        <p:nvSpPr>
          <p:cNvPr id="8" name="">
            <a:extLst xmlns:a="http://schemas.openxmlformats.org/drawingml/2006/main">
              <a:ext uri="{FF2B5EF4-FFF2-40B4-BE49-F238E27FC236}">
                <a16:creationId xmlns:a16="http://schemas.microsoft.com/office/drawing/2014/main" id="{975F3BCA-B9C0-4FFF-89F5-B7C3F902B8F3}"/>
              </a:ext>
            </a:extLst>
          </p:cNvPr>
          <p:cNvSpPr>
            <a:spLocks xmlns:a="http://schemas.openxmlformats.org/drawingml/2006/main" noGrp="1"/>
          </p:cNvSpPr>
          <p:nvPr/>
        </p:nvSpPr>
        <p:spPr>
          <a:xfrm xmlns:a="http://schemas.openxmlformats.org/drawingml/2006/main">
            <a:off x="8905875" y="2162175"/>
            <a:ext cx="2447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105"/>
          </a:bodyPr>
          <a:lstStyle xmlns:a="http://schemas.openxmlformats.org/drawingml/2006/main"/>
          <a:p xmlns:a="http://schemas.openxmlformats.org/drawingml/2006/main">
            <a:pPr algn="l">
              <a:defRPr sz="2850" b="1">
                <a:solidFill>
                  <a:srgbClr val="084878"/>
                </a:solidFill>
                <a:latin typeface="Geist Mono"/>
                <a:ea typeface="Geist Mono"/>
                <a:cs typeface="Geist Mono"/>
              </a:defRPr>
            </a:pPr>
            <a:r>
              <a:rPr sz="2850" b="1">
                <a:solidFill>
                  <a:srgbClr val="084878"/>
                </a:solidFill>
                <a:latin typeface="Geist Mono"/>
                <a:ea typeface="Geist Mono"/>
                <a:cs typeface="Geist Mono"/>
              </a:rPr>
              <a:t>114</a:t>
            </a:r>
          </a:p>
        </p:txBody>
      </p:sp>
      <p:sp>
        <p:nvSpPr>
          <p:cNvPr id="9" name="">
            <a:extLst xmlns:a="http://schemas.openxmlformats.org/drawingml/2006/main">
              <a:ext uri="{FF2B5EF4-FFF2-40B4-BE49-F238E27FC236}">
                <a16:creationId xmlns:a16="http://schemas.microsoft.com/office/drawing/2014/main" id="{00573FCC-5CCC-4810-A543-55E62120E4A8}"/>
              </a:ext>
            </a:extLst>
          </p:cNvPr>
          <p:cNvSpPr>
            <a:spLocks xmlns:a="http://schemas.openxmlformats.org/drawingml/2006/main" noGrp="1"/>
          </p:cNvSpPr>
          <p:nvPr/>
        </p:nvSpPr>
        <p:spPr>
          <a:xfrm xmlns:a="http://schemas.openxmlformats.org/drawingml/2006/main">
            <a:off x="8905875" y="2600325"/>
            <a:ext cx="24479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304"/>
          </a:bodyPr>
          <a:lstStyle xmlns:a="http://schemas.openxmlformats.org/drawingml/2006/main"/>
          <a:p xmlns:a="http://schemas.openxmlformats.org/drawingml/2006/main">
            <a:pPr algn="l">
              <a:lnSpc>
                <a:spcPct val="108000"/>
              </a:lnSpc>
              <a:buNone/>
              <a:defRPr sz="1125" b="0">
                <a:solidFill>
                  <a:srgbClr val="56657A"/>
                </a:solidFill>
                <a:latin typeface="IBM Plex Sans"/>
                <a:ea typeface="IBM Plex Sans"/>
                <a:cs typeface="IBM Plex Sans"/>
              </a:defRPr>
            </a:pPr>
            <a:r>
              <a:rPr sz="1125" b="0">
                <a:solidFill>
                  <a:srgbClr val="56657A"/>
                </a:solidFill>
                <a:latin typeface="IBM Plex Sans"/>
                <a:ea typeface="IBM Plex Sans"/>
                <a:cs typeface="IBM Plex Sans"/>
              </a:rPr>
              <a:t>von 8.398 Zähler-Monaten</a:t>
            </a:r>
          </a:p>
        </p:txBody>
      </p:sp>
      <p:sp>
        <p:nvSpPr>
          <p:cNvPr id="10" name="">
            <a:extLst xmlns:a="http://schemas.openxmlformats.org/drawingml/2006/main">
              <a:ext uri="{FF2B5EF4-FFF2-40B4-BE49-F238E27FC236}">
                <a16:creationId xmlns:a16="http://schemas.microsoft.com/office/drawing/2014/main" id="{CF536CF0-64F5-455C-B6EF-45F331EC0F38}"/>
              </a:ext>
            </a:extLst>
          </p:cNvPr>
          <p:cNvSpPr>
            <a:spLocks xmlns:a="http://schemas.openxmlformats.org/drawingml/2006/main" noGrp="1"/>
          </p:cNvSpPr>
          <p:nvPr/>
        </p:nvSpPr>
        <p:spPr>
          <a:xfrm xmlns:a="http://schemas.openxmlformats.org/drawingml/2006/main">
            <a:off x="8715375" y="3048000"/>
            <a:ext cx="2809875" cy="1123950"/>
          </a:xfrm>
          <a:prstGeom xmlns:a="http://schemas.openxmlformats.org/drawingml/2006/main" prst="roundRect">
            <a:avLst>
              <a:gd name="adj" fmla="val 11864"/>
            </a:avLst>
          </a:prstGeom>
          <a:solidFill xmlns:a="http://schemas.openxmlformats.org/drawingml/2006/main">
            <a:srgbClr val="FFFFFF"/>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40FBAD9A-A8EB-4931-86B6-DE334163B573}"/>
              </a:ext>
            </a:extLst>
          </p:cNvPr>
          <p:cNvSpPr>
            <a:spLocks xmlns:a="http://schemas.openxmlformats.org/drawingml/2006/main" noGrp="1"/>
          </p:cNvSpPr>
          <p:nvPr/>
        </p:nvSpPr>
        <p:spPr>
          <a:xfrm xmlns:a="http://schemas.openxmlformats.org/drawingml/2006/main">
            <a:off x="8715375" y="3048000"/>
            <a:ext cx="57150" cy="1123950"/>
          </a:xfrm>
          <a:prstGeom xmlns:a="http://schemas.openxmlformats.org/drawingml/2006/main" prst="rect">
            <a:avLst/>
          </a:prstGeom>
          <a:solidFill xmlns:a="http://schemas.openxmlformats.org/drawingml/2006/main">
            <a:srgbClr val="0090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D6ABB90-7B8D-4CF1-B095-A9EC719746B2}"/>
              </a:ext>
            </a:extLst>
          </p:cNvPr>
          <p:cNvSpPr>
            <a:spLocks xmlns:a="http://schemas.openxmlformats.org/drawingml/2006/main" noGrp="1"/>
          </p:cNvSpPr>
          <p:nvPr/>
        </p:nvSpPr>
        <p:spPr>
          <a:xfrm xmlns:a="http://schemas.openxmlformats.org/drawingml/2006/main">
            <a:off x="8905875" y="3190875"/>
            <a:ext cx="24479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90C8"/>
                </a:solidFill>
                <a:latin typeface="IBM Plex Sans"/>
                <a:ea typeface="IBM Plex Sans"/>
                <a:cs typeface="IBM Plex Sans"/>
              </a:defRPr>
            </a:pPr>
            <a:r>
              <a:rPr sz="825" b="1">
                <a:solidFill>
                  <a:srgbClr val="0090C8"/>
                </a:solidFill>
                <a:latin typeface="IBM Plex Sans"/>
                <a:ea typeface="IBM Plex Sans"/>
                <a:cs typeface="IBM Plex Sans"/>
              </a:rPr>
              <a:t>ANTEIL</a:t>
            </a:r>
          </a:p>
        </p:txBody>
      </p:sp>
      <p:sp>
        <p:nvSpPr>
          <p:cNvPr id="13" name="">
            <a:extLst xmlns:a="http://schemas.openxmlformats.org/drawingml/2006/main">
              <a:ext uri="{FF2B5EF4-FFF2-40B4-BE49-F238E27FC236}">
                <a16:creationId xmlns:a16="http://schemas.microsoft.com/office/drawing/2014/main" id="{780FEC41-61E0-461C-A50A-40FE17177309}"/>
              </a:ext>
            </a:extLst>
          </p:cNvPr>
          <p:cNvSpPr>
            <a:spLocks xmlns:a="http://schemas.openxmlformats.org/drawingml/2006/main" noGrp="1"/>
          </p:cNvSpPr>
          <p:nvPr/>
        </p:nvSpPr>
        <p:spPr>
          <a:xfrm xmlns:a="http://schemas.openxmlformats.org/drawingml/2006/main">
            <a:off x="8905875" y="3448050"/>
            <a:ext cx="2447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625" b="1">
                <a:solidFill>
                  <a:srgbClr val="084878"/>
                </a:solidFill>
                <a:latin typeface="Geist Mono"/>
                <a:ea typeface="Geist Mono"/>
                <a:cs typeface="Geist Mono"/>
              </a:defRPr>
            </a:pPr>
            <a:r>
              <a:rPr sz="2625" b="1">
                <a:solidFill>
                  <a:srgbClr val="084878"/>
                </a:solidFill>
                <a:latin typeface="Geist Mono"/>
                <a:ea typeface="Geist Mono"/>
                <a:cs typeface="Geist Mono"/>
              </a:rPr>
              <a:t>1,36 %</a:t>
            </a:r>
          </a:p>
        </p:txBody>
      </p:sp>
      <p:sp>
        <p:nvSpPr>
          <p:cNvPr id="14" name="">
            <a:extLst xmlns:a="http://schemas.openxmlformats.org/drawingml/2006/main">
              <a:ext uri="{FF2B5EF4-FFF2-40B4-BE49-F238E27FC236}">
                <a16:creationId xmlns:a16="http://schemas.microsoft.com/office/drawing/2014/main" id="{E0CA01FA-569E-4EB8-A803-8A59CAB67DA6}"/>
              </a:ext>
            </a:extLst>
          </p:cNvPr>
          <p:cNvSpPr>
            <a:spLocks xmlns:a="http://schemas.openxmlformats.org/drawingml/2006/main" noGrp="1"/>
          </p:cNvSpPr>
          <p:nvPr/>
        </p:nvSpPr>
        <p:spPr>
          <a:xfrm xmlns:a="http://schemas.openxmlformats.org/drawingml/2006/main">
            <a:off x="8905875" y="3886200"/>
            <a:ext cx="24479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304"/>
          </a:bodyPr>
          <a:lstStyle xmlns:a="http://schemas.openxmlformats.org/drawingml/2006/main"/>
          <a:p xmlns:a="http://schemas.openxmlformats.org/drawingml/2006/main">
            <a:pPr algn="l">
              <a:lnSpc>
                <a:spcPct val="108000"/>
              </a:lnSpc>
              <a:buNone/>
              <a:defRPr sz="1125" b="0">
                <a:solidFill>
                  <a:srgbClr val="56657A"/>
                </a:solidFill>
                <a:latin typeface="IBM Plex Sans"/>
                <a:ea typeface="IBM Plex Sans"/>
                <a:cs typeface="IBM Plex Sans"/>
              </a:defRPr>
            </a:pPr>
            <a:r>
              <a:rPr sz="1125" b="0">
                <a:solidFill>
                  <a:srgbClr val="56657A"/>
                </a:solidFill>
                <a:latin typeface="IBM Plex Sans"/>
                <a:ea typeface="IBM Plex Sans"/>
                <a:cs typeface="IBM Plex Sans"/>
              </a:rPr>
              <a:t>nicht exakt 1 %, weil 2025 anders verteilt ist</a:t>
            </a:r>
          </a:p>
        </p:txBody>
      </p:sp>
      <p:sp>
        <p:nvSpPr>
          <p:cNvPr id="15" name="">
            <a:extLst xmlns:a="http://schemas.openxmlformats.org/drawingml/2006/main">
              <a:ext uri="{FF2B5EF4-FFF2-40B4-BE49-F238E27FC236}">
                <a16:creationId xmlns:a16="http://schemas.microsoft.com/office/drawing/2014/main" id="{79545561-5B03-4C93-8FAC-BA80E7770750}"/>
              </a:ext>
            </a:extLst>
          </p:cNvPr>
          <p:cNvSpPr>
            <a:spLocks xmlns:a="http://schemas.openxmlformats.org/drawingml/2006/main" noGrp="1"/>
          </p:cNvSpPr>
          <p:nvPr/>
        </p:nvSpPr>
        <p:spPr>
          <a:xfrm xmlns:a="http://schemas.openxmlformats.org/drawingml/2006/main">
            <a:off x="8715375" y="4333875"/>
            <a:ext cx="2809875" cy="1123950"/>
          </a:xfrm>
          <a:prstGeom xmlns:a="http://schemas.openxmlformats.org/drawingml/2006/main" prst="roundRect">
            <a:avLst>
              <a:gd name="adj" fmla="val 11864"/>
            </a:avLst>
          </a:prstGeom>
          <a:solidFill xmlns:a="http://schemas.openxmlformats.org/drawingml/2006/main">
            <a:srgbClr val="FFFFFF"/>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313DF542-FC7A-450F-B125-59A4D77392C9}"/>
              </a:ext>
            </a:extLst>
          </p:cNvPr>
          <p:cNvSpPr>
            <a:spLocks xmlns:a="http://schemas.openxmlformats.org/drawingml/2006/main" noGrp="1"/>
          </p:cNvSpPr>
          <p:nvPr/>
        </p:nvSpPr>
        <p:spPr>
          <a:xfrm xmlns:a="http://schemas.openxmlformats.org/drawingml/2006/main">
            <a:off x="8715375" y="4333875"/>
            <a:ext cx="57150" cy="11239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867EDB4-195E-45BA-AB72-D17C72423F37}"/>
              </a:ext>
            </a:extLst>
          </p:cNvPr>
          <p:cNvSpPr>
            <a:spLocks xmlns:a="http://schemas.openxmlformats.org/drawingml/2006/main" noGrp="1"/>
          </p:cNvSpPr>
          <p:nvPr/>
        </p:nvSpPr>
        <p:spPr>
          <a:xfrm xmlns:a="http://schemas.openxmlformats.org/drawingml/2006/main">
            <a:off x="8905875" y="4476750"/>
            <a:ext cx="24479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80A0"/>
                </a:solidFill>
                <a:latin typeface="IBM Plex Sans"/>
                <a:ea typeface="IBM Plex Sans"/>
                <a:cs typeface="IBM Plex Sans"/>
              </a:defRPr>
            </a:pPr>
            <a:r>
              <a:rPr sz="825" b="1">
                <a:solidFill>
                  <a:srgbClr val="0080A0"/>
                </a:solidFill>
                <a:latin typeface="IBM Plex Sans"/>
                <a:ea typeface="IBM Plex Sans"/>
                <a:cs typeface="IBM Plex Sans"/>
              </a:rPr>
              <a:t>ARBEITSVOLUMEN</a:t>
            </a:r>
          </a:p>
        </p:txBody>
      </p:sp>
      <p:sp>
        <p:nvSpPr>
          <p:cNvPr id="18" name="">
            <a:extLst xmlns:a="http://schemas.openxmlformats.org/drawingml/2006/main">
              <a:ext uri="{FF2B5EF4-FFF2-40B4-BE49-F238E27FC236}">
                <a16:creationId xmlns:a16="http://schemas.microsoft.com/office/drawing/2014/main" id="{1ABD901B-317E-4C44-95BE-CC93D9EAB5D9}"/>
              </a:ext>
            </a:extLst>
          </p:cNvPr>
          <p:cNvSpPr>
            <a:spLocks xmlns:a="http://schemas.openxmlformats.org/drawingml/2006/main" noGrp="1"/>
          </p:cNvSpPr>
          <p:nvPr/>
        </p:nvSpPr>
        <p:spPr>
          <a:xfrm xmlns:a="http://schemas.openxmlformats.org/drawingml/2006/main">
            <a:off x="8905875" y="4733925"/>
            <a:ext cx="2447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084878"/>
                </a:solidFill>
                <a:latin typeface="Geist Mono"/>
                <a:ea typeface="Geist Mono"/>
                <a:cs typeface="Geist Mono"/>
              </a:defRPr>
            </a:pPr>
            <a:r>
              <a:rPr sz="2325" b="1">
                <a:solidFill>
                  <a:srgbClr val="084878"/>
                </a:solidFill>
                <a:latin typeface="Geist Mono"/>
                <a:ea typeface="Geist Mono"/>
                <a:cs typeface="Geist Mono"/>
              </a:rPr>
              <a:t>9,5 / Monat</a:t>
            </a:r>
          </a:p>
        </p:txBody>
      </p:sp>
      <p:sp>
        <p:nvSpPr>
          <p:cNvPr id="19" name="">
            <a:extLst xmlns:a="http://schemas.openxmlformats.org/drawingml/2006/main">
              <a:ext uri="{FF2B5EF4-FFF2-40B4-BE49-F238E27FC236}">
                <a16:creationId xmlns:a16="http://schemas.microsoft.com/office/drawing/2014/main" id="{3971CD7E-A765-4387-AAB0-82243AB09C18}"/>
              </a:ext>
            </a:extLst>
          </p:cNvPr>
          <p:cNvSpPr>
            <a:spLocks xmlns:a="http://schemas.openxmlformats.org/drawingml/2006/main" noGrp="1"/>
          </p:cNvSpPr>
          <p:nvPr/>
        </p:nvSpPr>
        <p:spPr>
          <a:xfrm xmlns:a="http://schemas.openxmlformats.org/drawingml/2006/main">
            <a:off x="8905875" y="5172075"/>
            <a:ext cx="24479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304"/>
          </a:bodyPr>
          <a:lstStyle xmlns:a="http://schemas.openxmlformats.org/drawingml/2006/main"/>
          <a:p xmlns:a="http://schemas.openxmlformats.org/drawingml/2006/main">
            <a:pPr algn="l">
              <a:lnSpc>
                <a:spcPct val="108000"/>
              </a:lnSpc>
              <a:buNone/>
              <a:defRPr sz="1125" b="0">
                <a:solidFill>
                  <a:srgbClr val="56657A"/>
                </a:solidFill>
                <a:latin typeface="IBM Plex Sans"/>
                <a:ea typeface="IBM Plex Sans"/>
                <a:cs typeface="IBM Plex Sans"/>
              </a:defRPr>
            </a:pPr>
            <a:r>
              <a:rPr sz="1125" b="0">
                <a:solidFill>
                  <a:srgbClr val="56657A"/>
                </a:solidFill>
                <a:latin typeface="IBM Plex Sans"/>
                <a:ea typeface="IBM Plex Sans"/>
                <a:cs typeface="IBM Plex Sans"/>
              </a:rPr>
              <a:t>107 unterschiedliche Zähler</a:t>
            </a:r>
          </a:p>
        </p:txBody>
      </p:sp>
      <p:sp>
        <p:nvSpPr>
          <p:cNvPr id="20" name="">
            <a:extLst xmlns:a="http://schemas.openxmlformats.org/drawingml/2006/main">
              <a:ext uri="{FF2B5EF4-FFF2-40B4-BE49-F238E27FC236}">
                <a16:creationId xmlns:a16="http://schemas.microsoft.com/office/drawing/2014/main" id="{92F0847D-0572-46AE-AC50-C22D4F1BC70B}"/>
              </a:ext>
            </a:extLst>
          </p:cNvPr>
          <p:cNvSpPr>
            <a:spLocks xmlns:a="http://schemas.openxmlformats.org/drawingml/2006/main" noGrp="1"/>
          </p:cNvSpPr>
          <p:nvPr/>
        </p:nvSpPr>
        <p:spPr>
          <a:xfrm xmlns:a="http://schemas.openxmlformats.org/drawingml/2006/main">
            <a:off x="781050" y="5591175"/>
            <a:ext cx="7667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084878"/>
                </a:solidFill>
                <a:latin typeface="IBM Plex Sans"/>
                <a:ea typeface="IBM Plex Sans"/>
                <a:cs typeface="IBM Plex Sans"/>
              </a:defRPr>
            </a:pPr>
            <a:r>
              <a:rPr sz="1125" b="1">
                <a:solidFill>
                  <a:srgbClr val="084878"/>
                </a:solidFill>
                <a:latin typeface="IBM Plex Sans"/>
                <a:ea typeface="IBM Plex Sans"/>
                <a:cs typeface="IBM Plex Sans"/>
              </a:rPr>
              <a:t>Außerhalb des Bandes = Prüfhinweis. Innerhalb = kein Hinweis. Beides ist noch keine fachliche Diagnose.</a:t>
            </a:r>
          </a:p>
        </p:txBody>
      </p:sp>
      <p:sp>
        <p:nvSpPr>
          <p:cNvPr id="21" name="">
            <a:extLst xmlns:a="http://schemas.openxmlformats.org/drawingml/2006/main">
              <a:ext uri="{FF2B5EF4-FFF2-40B4-BE49-F238E27FC236}">
                <a16:creationId xmlns:a16="http://schemas.microsoft.com/office/drawing/2014/main" id="{61FE8E69-DC8F-4CF2-89F1-14208844A74E}"/>
              </a:ext>
            </a:extLst>
          </p:cNvPr>
          <p:cNvSpPr>
            <a:spLocks xmlns:a="http://schemas.openxmlformats.org/drawingml/2006/main" noGrp="1"/>
          </p:cNvSpPr>
          <p:nvPr/>
        </p:nvSpPr>
        <p:spPr>
          <a:xfrm xmlns:a="http://schemas.openxmlformats.org/drawingml/2006/main">
            <a:off x="533400" y="6229350"/>
            <a:ext cx="11106150" cy="0"/>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22" name="">
            <a:extLst xmlns:a="http://schemas.openxmlformats.org/drawingml/2006/main">
              <a:ext uri="{FF2B5EF4-FFF2-40B4-BE49-F238E27FC236}">
                <a16:creationId xmlns:a16="http://schemas.microsoft.com/office/drawing/2014/main" id="{F82A536D-0890-4AB8-A9AF-4B86F8A25CCF}"/>
              </a:ext>
            </a:extLst>
          </p:cNvPr>
          <p:cNvSpPr>
            <a:spLocks xmlns:a="http://schemas.openxmlformats.org/drawingml/2006/main" noGrp="1"/>
          </p:cNvSpPr>
          <p:nvPr/>
        </p:nvSpPr>
        <p:spPr>
          <a:xfrm xmlns:a="http://schemas.openxmlformats.org/drawingml/2006/main">
            <a:off x="533400" y="6229350"/>
            <a:ext cx="895350" cy="0"/>
          </a:xfrm>
          <a:prstGeom xmlns:a="http://schemas.openxmlformats.org/drawingml/2006/main" prst="line">
            <a:avLst/>
          </a:prstGeom>
          <a:noFill xmlns:a="http://schemas.openxmlformats.org/drawingml/2006/main"/>
          <a:ln xmlns:a="http://schemas.openxmlformats.org/drawingml/2006/main" w="38100">
            <a:solidFill>
              <a:srgbClr val="084878"/>
            </a:solidFill>
            <a:prstDash val="solid"/>
          </a:ln>
        </p:spPr>
      </p:sp>
      <p:sp>
        <p:nvSpPr>
          <p:cNvPr id="23" name="">
            <a:extLst xmlns:a="http://schemas.openxmlformats.org/drawingml/2006/main">
              <a:ext uri="{FF2B5EF4-FFF2-40B4-BE49-F238E27FC236}">
                <a16:creationId xmlns:a16="http://schemas.microsoft.com/office/drawing/2014/main" id="{5EFBB748-58E7-41E4-A77D-1C16A67F8D35}"/>
              </a:ext>
            </a:extLst>
          </p:cNvPr>
          <p:cNvSpPr>
            <a:spLocks xmlns:a="http://schemas.openxmlformats.org/drawingml/2006/main" noGrp="1"/>
          </p:cNvSpPr>
          <p:nvPr/>
        </p:nvSpPr>
        <p:spPr>
          <a:xfrm xmlns:a="http://schemas.openxmlformats.org/drawingml/2006/main">
            <a:off x="533400" y="635317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13" b="0">
                <a:solidFill>
                  <a:srgbClr val="56657A"/>
                </a:solidFill>
                <a:latin typeface="IBM Plex Sans"/>
                <a:ea typeface="IBM Plex Sans"/>
                <a:cs typeface="IBM Plex Sans"/>
              </a:defRPr>
            </a:pPr>
            <a:r>
              <a:rPr sz="713" b="0">
                <a:solidFill>
                  <a:srgbClr val="56657A"/>
                </a:solidFill>
                <a:latin typeface="IBM Plex Sans"/>
                <a:ea typeface="IBM Plex Sans"/>
                <a:cs typeface="IBM Plex Sans"/>
              </a:rPr>
              <a:t>Quelle: notebooks/13_modellierung_von_grund_auf_verstehen.ipynb</a:t>
            </a:r>
          </a:p>
        </p:txBody>
      </p:sp>
      <p:sp>
        <p:nvSpPr>
          <p:cNvPr id="24" name="">
            <a:extLst xmlns:a="http://schemas.openxmlformats.org/drawingml/2006/main">
              <a:ext uri="{FF2B5EF4-FFF2-40B4-BE49-F238E27FC236}">
                <a16:creationId xmlns:a16="http://schemas.microsoft.com/office/drawing/2014/main" id="{80482FED-3E4F-48DA-BFDD-D8177696E5E4}"/>
              </a:ext>
            </a:extLst>
          </p:cNvPr>
          <p:cNvSpPr>
            <a:spLocks xmlns:a="http://schemas.openxmlformats.org/drawingml/2006/main" noGrp="1"/>
          </p:cNvSpPr>
          <p:nvPr/>
        </p:nvSpPr>
        <p:spPr>
          <a:xfrm xmlns:a="http://schemas.openxmlformats.org/drawingml/2006/main">
            <a:off x="10477500" y="63817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56657A"/>
                </a:solidFill>
                <a:latin typeface="Geist Mono"/>
                <a:ea typeface="Geist Mono"/>
                <a:cs typeface="Geist Mono"/>
              </a:defRPr>
            </a:pPr>
            <a:r>
              <a:rPr sz="825" b="0">
                <a:solidFill>
                  <a:srgbClr val="56657A"/>
                </a:solidFill>
                <a:latin typeface="Geist Mono"/>
                <a:ea typeface="Geist Mono"/>
                <a:cs typeface="Geist Mono"/>
              </a:rPr>
              <a:t>10</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b618be710be142b9"/>
          <a:stretch xmlns:a="http://schemas.openxmlformats.org/drawingml/2006/main"/>
        </p:blipFill>
        <p:spPr>
          <a:xfrm xmlns:a="http://schemas.openxmlformats.org/drawingml/2006/main">
            <a:off x="11058812" y="6296025"/>
            <a:ext cx="513776" cy="438150"/>
          </a:xfrm>
          <a:prstGeom xmlns:a="http://schemas.openxmlformats.org/drawingml/2006/main" prst="rect">
            <a:avLst/>
          </a:prstGeom>
        </p:spPr>
      </p:pic>
    </p:spTree>
    <p:extLst>
      <p:ext uri="{BB962C8B-B14F-4D97-AF65-F5344CB8AC3E}">
        <p14:creationId xmlns:p14="http://schemas.microsoft.com/office/powerpoint/2010/main" val="168975533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A777351-D92C-44AC-B3C7-735F25DB8282}"/>
              </a:ext>
            </a:extLst>
          </p:cNvPr>
          <p:cNvSpPr>
            <a:spLocks xmlns:a="http://schemas.openxmlformats.org/drawingml/2006/main" noGrp="1"/>
          </p:cNvSpPr>
          <p:nvPr/>
        </p:nvSpPr>
        <p:spPr>
          <a:xfrm xmlns:a="http://schemas.openxmlformats.org/drawingml/2006/main">
            <a:off x="533400" y="3048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80A0"/>
                </a:solidFill>
                <a:latin typeface="IBM Plex Sans"/>
                <a:ea typeface="IBM Plex Sans"/>
                <a:cs typeface="IBM Plex Sans"/>
              </a:defRPr>
            </a:pPr>
            <a:r>
              <a:rPr sz="825" b="1">
                <a:solidFill>
                  <a:srgbClr val="0080A0"/>
                </a:solidFill>
                <a:latin typeface="IBM Plex Sans"/>
                <a:ea typeface="IBM Plex Sans"/>
                <a:cs typeface="IBM Plex Sans"/>
              </a:rPr>
              <a:t>SWW / ENERGIEANALYSE  ·  05 · FALLBEISPIEL</a:t>
            </a:r>
          </a:p>
        </p:txBody>
      </p:sp>
      <p:sp>
        <p:nvSpPr>
          <p:cNvPr id="2" name="">
            <a:extLst xmlns:a="http://schemas.openxmlformats.org/drawingml/2006/main">
              <a:ext uri="{FF2B5EF4-FFF2-40B4-BE49-F238E27FC236}">
                <a16:creationId xmlns:a16="http://schemas.microsoft.com/office/drawing/2014/main" id="{C6E457AA-DD23-4D3E-BB58-E3DCFD042E57}"/>
              </a:ext>
            </a:extLst>
          </p:cNvPr>
          <p:cNvSpPr>
            <a:spLocks xmlns:a="http://schemas.openxmlformats.org/drawingml/2006/main" noGrp="1"/>
          </p:cNvSpPr>
          <p:nvPr/>
        </p:nvSpPr>
        <p:spPr>
          <a:xfrm xmlns:a="http://schemas.openxmlformats.org/drawingml/2006/main">
            <a:off x="533400" y="638175"/>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0D2742"/>
                </a:solidFill>
                <a:latin typeface="IBM Plex Sans"/>
                <a:ea typeface="IBM Plex Sans"/>
                <a:cs typeface="IBM Plex Sans"/>
              </a:defRPr>
            </a:pPr>
            <a:r>
              <a:rPr sz="2550" b="1">
                <a:solidFill>
                  <a:srgbClr val="0D2742"/>
                </a:solidFill>
                <a:latin typeface="IBM Plex Sans"/>
                <a:ea typeface="IBM Plex Sans"/>
                <a:cs typeface="IBM Plex Sans"/>
              </a:rPr>
              <a:t>Ein konkreter Fall macht die Entscheidung sichtbar</a:t>
            </a:r>
          </a:p>
        </p:txBody>
      </p:sp>
      <p:sp>
        <p:nvSpPr>
          <p:cNvPr id="3" name="">
            <a:extLst xmlns:a="http://schemas.openxmlformats.org/drawingml/2006/main">
              <a:ext uri="{FF2B5EF4-FFF2-40B4-BE49-F238E27FC236}">
                <a16:creationId xmlns:a16="http://schemas.microsoft.com/office/drawing/2014/main" id="{DC85FC73-7251-425A-B34F-83D032FC6C11}"/>
              </a:ext>
            </a:extLst>
          </p:cNvPr>
          <p:cNvSpPr>
            <a:spLocks xmlns:a="http://schemas.openxmlformats.org/drawingml/2006/main" noGrp="1"/>
          </p:cNvSpPr>
          <p:nvPr/>
        </p:nvSpPr>
        <p:spPr>
          <a:xfrm xmlns:a="http://schemas.openxmlformats.org/drawingml/2006/main">
            <a:off x="533400" y="12668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6657A"/>
                </a:solidFill>
                <a:latin typeface="IBM Plex Sans"/>
                <a:ea typeface="IBM Plex Sans"/>
                <a:cs typeface="IBM Plex Sans"/>
              </a:defRPr>
            </a:pPr>
            <a:r>
              <a:rPr sz="1200" b="0">
                <a:solidFill>
                  <a:srgbClr val="56657A"/>
                </a:solidFill>
                <a:latin typeface="IBM Plex Sans"/>
                <a:ea typeface="IBM Plex Sans"/>
                <a:cs typeface="IBM Plex Sans"/>
              </a:rPr>
              <a:t>ZL-00147 · Vertragsleistung 49 kW · q99-Grenze 7.073,4 kWh</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160ebe1c25894420"/>
          <a:stretch xmlns:a="http://schemas.openxmlformats.org/drawingml/2006/main"/>
        </p:blipFill>
        <p:spPr>
          <a:xfrm xmlns:a="http://schemas.openxmlformats.org/drawingml/2006/main">
            <a:off x="1128048" y="1619250"/>
            <a:ext cx="6078279" cy="2333625"/>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fa5c88aca5e44bb4"/>
          <a:stretch xmlns:a="http://schemas.openxmlformats.org/drawingml/2006/main"/>
        </p:blipFill>
        <p:spPr>
          <a:xfrm xmlns:a="http://schemas.openxmlformats.org/drawingml/2006/main">
            <a:off x="1624234" y="4000500"/>
            <a:ext cx="5085907" cy="19526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EE73288-8F11-4998-8E12-77DECA2CA949}"/>
              </a:ext>
            </a:extLst>
          </p:cNvPr>
          <p:cNvSpPr>
            <a:spLocks xmlns:a="http://schemas.openxmlformats.org/drawingml/2006/main" noGrp="1"/>
          </p:cNvSpPr>
          <p:nvPr/>
        </p:nvSpPr>
        <p:spPr>
          <a:xfrm xmlns:a="http://schemas.openxmlformats.org/drawingml/2006/main">
            <a:off x="8239125" y="1714500"/>
            <a:ext cx="3333750" cy="1866900"/>
          </a:xfrm>
          <a:prstGeom xmlns:a="http://schemas.openxmlformats.org/drawingml/2006/main" prst="roundRect">
            <a:avLst>
              <a:gd name="adj" fmla="val 7143"/>
            </a:avLst>
          </a:prstGeom>
          <a:solidFill xmlns:a="http://schemas.openxmlformats.org/drawingml/2006/main">
            <a:srgbClr val="FDE9E7"/>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76739A54-04B0-455D-AD58-8EDEE3B62072}"/>
              </a:ext>
            </a:extLst>
          </p:cNvPr>
          <p:cNvSpPr>
            <a:spLocks xmlns:a="http://schemas.openxmlformats.org/drawingml/2006/main" noGrp="1"/>
          </p:cNvSpPr>
          <p:nvPr/>
        </p:nvSpPr>
        <p:spPr>
          <a:xfrm xmlns:a="http://schemas.openxmlformats.org/drawingml/2006/main">
            <a:off x="8239125" y="1714500"/>
            <a:ext cx="57150" cy="1866900"/>
          </a:xfrm>
          <a:prstGeom xmlns:a="http://schemas.openxmlformats.org/drawingml/2006/main" prst="rect">
            <a:avLst/>
          </a:prstGeom>
          <a:solidFill xmlns:a="http://schemas.openxmlformats.org/drawingml/2006/main">
            <a:srgbClr val="B3261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37A86F2-ACFB-4F25-8346-95FED5F73ECB}"/>
              </a:ext>
            </a:extLst>
          </p:cNvPr>
          <p:cNvSpPr>
            <a:spLocks xmlns:a="http://schemas.openxmlformats.org/drawingml/2006/main" noGrp="1"/>
          </p:cNvSpPr>
          <p:nvPr/>
        </p:nvSpPr>
        <p:spPr>
          <a:xfrm xmlns:a="http://schemas.openxmlformats.org/drawingml/2006/main">
            <a:off x="8429625" y="1857375"/>
            <a:ext cx="297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B3261E"/>
                </a:solidFill>
                <a:latin typeface="IBM Plex Sans"/>
                <a:ea typeface="IBM Plex Sans"/>
                <a:cs typeface="IBM Plex Sans"/>
              </a:defRPr>
            </a:pPr>
            <a:r>
              <a:rPr sz="825" b="1">
                <a:solidFill>
                  <a:srgbClr val="B3261E"/>
                </a:solidFill>
                <a:latin typeface="IBM Plex Sans"/>
                <a:ea typeface="IBM Plex Sans"/>
                <a:cs typeface="IBM Plex Sans"/>
              </a:rPr>
              <a:t>08 / 2025 · PRÜFHINWEIS</a:t>
            </a:r>
          </a:p>
        </p:txBody>
      </p:sp>
      <p:sp>
        <p:nvSpPr>
          <p:cNvPr id="9" name="">
            <a:extLst xmlns:a="http://schemas.openxmlformats.org/drawingml/2006/main">
              <a:ext uri="{FF2B5EF4-FFF2-40B4-BE49-F238E27FC236}">
                <a16:creationId xmlns:a16="http://schemas.microsoft.com/office/drawing/2014/main" id="{EED8523A-BEFF-46BE-AFAB-850311D3BEE4}"/>
              </a:ext>
            </a:extLst>
          </p:cNvPr>
          <p:cNvSpPr>
            <a:spLocks xmlns:a="http://schemas.openxmlformats.org/drawingml/2006/main" noGrp="1"/>
          </p:cNvSpPr>
          <p:nvPr/>
        </p:nvSpPr>
        <p:spPr>
          <a:xfrm xmlns:a="http://schemas.openxmlformats.org/drawingml/2006/main">
            <a:off x="8429625" y="2114550"/>
            <a:ext cx="2971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defRPr sz="2700" b="1">
                <a:solidFill>
                  <a:srgbClr val="084878"/>
                </a:solidFill>
                <a:latin typeface="Geist Mono"/>
                <a:ea typeface="Geist Mono"/>
                <a:cs typeface="Geist Mono"/>
              </a:defRPr>
            </a:pPr>
            <a:r>
              <a:rPr sz="2700" b="1">
                <a:solidFill>
                  <a:srgbClr val="084878"/>
                </a:solidFill>
                <a:latin typeface="Geist Mono"/>
                <a:ea typeface="Geist Mono"/>
                <a:cs typeface="Geist Mono"/>
              </a:rPr>
              <a:t>+2,30</a:t>
            </a:r>
          </a:p>
        </p:txBody>
      </p:sp>
      <p:sp>
        <p:nvSpPr>
          <p:cNvPr id="10" name="">
            <a:extLst xmlns:a="http://schemas.openxmlformats.org/drawingml/2006/main">
              <a:ext uri="{FF2B5EF4-FFF2-40B4-BE49-F238E27FC236}">
                <a16:creationId xmlns:a16="http://schemas.microsoft.com/office/drawing/2014/main" id="{F4BAB256-E6E7-47CF-8C23-E7844A3C5C81}"/>
              </a:ext>
            </a:extLst>
          </p:cNvPr>
          <p:cNvSpPr>
            <a:spLocks xmlns:a="http://schemas.openxmlformats.org/drawingml/2006/main" noGrp="1"/>
          </p:cNvSpPr>
          <p:nvPr/>
        </p:nvSpPr>
        <p:spPr>
          <a:xfrm xmlns:a="http://schemas.openxmlformats.org/drawingml/2006/main">
            <a:off x="8429625" y="2552700"/>
            <a:ext cx="2971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a:solidFill>
                  <a:srgbClr val="56657A"/>
                </a:solidFill>
                <a:latin typeface="IBM Plex Sans"/>
                <a:ea typeface="IBM Plex Sans"/>
                <a:cs typeface="IBM Plex Sans"/>
              </a:defRPr>
            </a:pPr>
            <a:r>
              <a:rPr sz="1125" b="0">
                <a:solidFill>
                  <a:srgbClr val="56657A"/>
                </a:solidFill>
                <a:latin typeface="IBM Plex Sans"/>
                <a:ea typeface="IBM Plex Sans"/>
                <a:cs typeface="IBM Plex Sans"/>
              </a:rPr>
              <a:t>Ist 23.563,5 kWh</a:t>
            </a:r>
          </a:p>
          <a:p xmlns:a="http://schemas.openxmlformats.org/drawingml/2006/main">
            <a:pPr algn="l">
              <a:lnSpc>
                <a:spcPct val="108000"/>
              </a:lnSpc>
              <a:buNone/>
              <a:defRPr sz="1125" b="0">
                <a:solidFill>
                  <a:srgbClr val="56657A"/>
                </a:solidFill>
                <a:latin typeface="IBM Plex Sans"/>
                <a:ea typeface="IBM Plex Sans"/>
                <a:cs typeface="IBM Plex Sans"/>
              </a:defRPr>
            </a:pPr>
            <a:r>
              <a:rPr sz="1125" b="0">
                <a:solidFill>
                  <a:srgbClr val="56657A"/>
                </a:solidFill>
                <a:latin typeface="IBM Plex Sans"/>
                <a:ea typeface="IBM Plex Sans"/>
                <a:cs typeface="IBM Plex Sans"/>
              </a:rPr>
              <a:t>Prognose 7.303,9 kWh</a:t>
            </a:r>
          </a:p>
          <a:p xmlns:a="http://schemas.openxmlformats.org/drawingml/2006/main">
            <a:pPr algn="l">
              <a:lnSpc>
                <a:spcPct val="108000"/>
              </a:lnSpc>
              <a:buNone/>
              <a:defRPr sz="1125" b="0">
                <a:solidFill>
                  <a:srgbClr val="56657A"/>
                </a:solidFill>
                <a:latin typeface="IBM Plex Sans"/>
                <a:ea typeface="IBM Plex Sans"/>
                <a:cs typeface="IBM Plex Sans"/>
              </a:defRPr>
            </a:pPr>
            <a:r>
              <a:rPr sz="1125" b="0">
                <a:solidFill>
                  <a:srgbClr val="56657A"/>
                </a:solidFill>
                <a:latin typeface="IBM Plex Sans"/>
                <a:ea typeface="IBM Plex Sans"/>
                <a:cs typeface="IBM Plex Sans"/>
              </a:rPr>
              <a:t>Residuum +16.259,6 kWh = +331,8 VLS-h</a:t>
            </a:r>
          </a:p>
        </p:txBody>
      </p:sp>
      <p:sp>
        <p:nvSpPr>
          <p:cNvPr id="11" name="">
            <a:extLst xmlns:a="http://schemas.openxmlformats.org/drawingml/2006/main">
              <a:ext uri="{FF2B5EF4-FFF2-40B4-BE49-F238E27FC236}">
                <a16:creationId xmlns:a16="http://schemas.microsoft.com/office/drawing/2014/main" id="{C6D059D4-C868-4C92-99B6-082C02D4A91D}"/>
              </a:ext>
            </a:extLst>
          </p:cNvPr>
          <p:cNvSpPr>
            <a:spLocks xmlns:a="http://schemas.openxmlformats.org/drawingml/2006/main" noGrp="1"/>
          </p:cNvSpPr>
          <p:nvPr/>
        </p:nvSpPr>
        <p:spPr>
          <a:xfrm xmlns:a="http://schemas.openxmlformats.org/drawingml/2006/main">
            <a:off x="8239125" y="3819525"/>
            <a:ext cx="3333750" cy="1676400"/>
          </a:xfrm>
          <a:prstGeom xmlns:a="http://schemas.openxmlformats.org/drawingml/2006/main" prst="roundRect">
            <a:avLst>
              <a:gd name="adj" fmla="val 7955"/>
            </a:avLst>
          </a:prstGeom>
          <a:solidFill xmlns:a="http://schemas.openxmlformats.org/drawingml/2006/main">
            <a:srgbClr val="DFF4F8"/>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08F39FC9-1FE6-4984-A6AE-83A99A26BB2B}"/>
              </a:ext>
            </a:extLst>
          </p:cNvPr>
          <p:cNvSpPr>
            <a:spLocks xmlns:a="http://schemas.openxmlformats.org/drawingml/2006/main" noGrp="1"/>
          </p:cNvSpPr>
          <p:nvPr/>
        </p:nvSpPr>
        <p:spPr>
          <a:xfrm xmlns:a="http://schemas.openxmlformats.org/drawingml/2006/main">
            <a:off x="8239125" y="3819525"/>
            <a:ext cx="57150" cy="16764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550A1DC-8027-4AF5-A8B7-A6DC1F306681}"/>
              </a:ext>
            </a:extLst>
          </p:cNvPr>
          <p:cNvSpPr>
            <a:spLocks xmlns:a="http://schemas.openxmlformats.org/drawingml/2006/main" noGrp="1"/>
          </p:cNvSpPr>
          <p:nvPr/>
        </p:nvSpPr>
        <p:spPr>
          <a:xfrm xmlns:a="http://schemas.openxmlformats.org/drawingml/2006/main">
            <a:off x="8429625" y="3962400"/>
            <a:ext cx="297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80A0"/>
                </a:solidFill>
                <a:latin typeface="IBM Plex Sans"/>
                <a:ea typeface="IBM Plex Sans"/>
                <a:cs typeface="IBM Plex Sans"/>
              </a:defRPr>
            </a:pPr>
            <a:r>
              <a:rPr sz="825" b="1">
                <a:solidFill>
                  <a:srgbClr val="0080A0"/>
                </a:solidFill>
                <a:latin typeface="IBM Plex Sans"/>
                <a:ea typeface="IBM Plex Sans"/>
                <a:cs typeface="IBM Plex Sans"/>
              </a:rPr>
              <a:t>09 / 2025 · KEIN HINWEIS</a:t>
            </a:r>
          </a:p>
        </p:txBody>
      </p:sp>
      <p:sp>
        <p:nvSpPr>
          <p:cNvPr id="14" name="">
            <a:extLst xmlns:a="http://schemas.openxmlformats.org/drawingml/2006/main">
              <a:ext uri="{FF2B5EF4-FFF2-40B4-BE49-F238E27FC236}">
                <a16:creationId xmlns:a16="http://schemas.microsoft.com/office/drawing/2014/main" id="{98455C71-2C76-408A-8D91-4C1D3CA59C95}"/>
              </a:ext>
            </a:extLst>
          </p:cNvPr>
          <p:cNvSpPr>
            <a:spLocks xmlns:a="http://schemas.openxmlformats.org/drawingml/2006/main" noGrp="1"/>
          </p:cNvSpPr>
          <p:nvPr/>
        </p:nvSpPr>
        <p:spPr>
          <a:xfrm xmlns:a="http://schemas.openxmlformats.org/drawingml/2006/main">
            <a:off x="8429625" y="4219575"/>
            <a:ext cx="2971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defRPr sz="2700" b="1">
                <a:solidFill>
                  <a:srgbClr val="084878"/>
                </a:solidFill>
                <a:latin typeface="Geist Mono"/>
                <a:ea typeface="Geist Mono"/>
                <a:cs typeface="Geist Mono"/>
              </a:defRPr>
            </a:pPr>
            <a:r>
              <a:rPr sz="2700" b="1">
                <a:solidFill>
                  <a:srgbClr val="084878"/>
                </a:solidFill>
                <a:latin typeface="Geist Mono"/>
                <a:ea typeface="Geist Mono"/>
                <a:cs typeface="Geist Mono"/>
              </a:rPr>
              <a:t>−0,68</a:t>
            </a:r>
          </a:p>
        </p:txBody>
      </p:sp>
      <p:sp>
        <p:nvSpPr>
          <p:cNvPr id="15" name="">
            <a:extLst xmlns:a="http://schemas.openxmlformats.org/drawingml/2006/main">
              <a:ext uri="{FF2B5EF4-FFF2-40B4-BE49-F238E27FC236}">
                <a16:creationId xmlns:a16="http://schemas.microsoft.com/office/drawing/2014/main" id="{354C8642-736F-4BFF-BED8-5730CB18BC32}"/>
              </a:ext>
            </a:extLst>
          </p:cNvPr>
          <p:cNvSpPr>
            <a:spLocks xmlns:a="http://schemas.openxmlformats.org/drawingml/2006/main" noGrp="1"/>
          </p:cNvSpPr>
          <p:nvPr/>
        </p:nvSpPr>
        <p:spPr>
          <a:xfrm xmlns:a="http://schemas.openxmlformats.org/drawingml/2006/main">
            <a:off x="8429625" y="4657725"/>
            <a:ext cx="2971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a:solidFill>
                  <a:srgbClr val="56657A"/>
                </a:solidFill>
                <a:latin typeface="IBM Plex Sans"/>
                <a:ea typeface="IBM Plex Sans"/>
                <a:cs typeface="IBM Plex Sans"/>
              </a:defRPr>
            </a:pPr>
            <a:r>
              <a:rPr sz="1125" b="0">
                <a:solidFill>
                  <a:srgbClr val="56657A"/>
                </a:solidFill>
                <a:latin typeface="IBM Plex Sans"/>
                <a:ea typeface="IBM Plex Sans"/>
                <a:cs typeface="IBM Plex Sans"/>
              </a:rPr>
              <a:t>Ist 5.915,0 kWh</a:t>
            </a:r>
          </a:p>
          <a:p xmlns:a="http://schemas.openxmlformats.org/drawingml/2006/main">
            <a:pPr algn="l">
              <a:lnSpc>
                <a:spcPct val="108000"/>
              </a:lnSpc>
              <a:buNone/>
              <a:defRPr sz="1125" b="0">
                <a:solidFill>
                  <a:srgbClr val="56657A"/>
                </a:solidFill>
                <a:latin typeface="IBM Plex Sans"/>
                <a:ea typeface="IBM Plex Sans"/>
                <a:cs typeface="IBM Plex Sans"/>
              </a:defRPr>
            </a:pPr>
            <a:r>
              <a:rPr sz="1125" b="0">
                <a:solidFill>
                  <a:srgbClr val="56657A"/>
                </a:solidFill>
                <a:latin typeface="IBM Plex Sans"/>
                <a:ea typeface="IBM Plex Sans"/>
                <a:cs typeface="IBM Plex Sans"/>
              </a:rPr>
              <a:t>Prognose 10.739,7 kWh</a:t>
            </a:r>
          </a:p>
          <a:p xmlns:a="http://schemas.openxmlformats.org/drawingml/2006/main">
            <a:pPr algn="l">
              <a:lnSpc>
                <a:spcPct val="108000"/>
              </a:lnSpc>
              <a:buNone/>
              <a:defRPr sz="1125" b="0">
                <a:solidFill>
                  <a:srgbClr val="56657A"/>
                </a:solidFill>
                <a:latin typeface="IBM Plex Sans"/>
                <a:ea typeface="IBM Plex Sans"/>
                <a:cs typeface="IBM Plex Sans"/>
              </a:defRPr>
            </a:pPr>
            <a:r>
              <a:rPr sz="1125" b="0">
                <a:solidFill>
                  <a:srgbClr val="56657A"/>
                </a:solidFill>
                <a:latin typeface="IBM Plex Sans"/>
                <a:ea typeface="IBM Plex Sans"/>
                <a:cs typeface="IBM Plex Sans"/>
              </a:rPr>
              <a:t>Residuum −4.824,7 kWh = −98,5 VLS-h</a:t>
            </a:r>
          </a:p>
        </p:txBody>
      </p:sp>
      <p:sp>
        <p:nvSpPr>
          <p:cNvPr id="16" name="">
            <a:extLst xmlns:a="http://schemas.openxmlformats.org/drawingml/2006/main">
              <a:ext uri="{FF2B5EF4-FFF2-40B4-BE49-F238E27FC236}">
                <a16:creationId xmlns:a16="http://schemas.microsoft.com/office/drawing/2014/main" id="{2E11633B-82DE-428C-9AD7-3486735BC4A8}"/>
              </a:ext>
            </a:extLst>
          </p:cNvPr>
          <p:cNvSpPr>
            <a:spLocks xmlns:a="http://schemas.openxmlformats.org/drawingml/2006/main" noGrp="1"/>
          </p:cNvSpPr>
          <p:nvPr/>
        </p:nvSpPr>
        <p:spPr>
          <a:xfrm xmlns:a="http://schemas.openxmlformats.org/drawingml/2006/main">
            <a:off x="8162925" y="5667375"/>
            <a:ext cx="347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13" b="1">
                <a:solidFill>
                  <a:srgbClr val="084878"/>
                </a:solidFill>
                <a:latin typeface="IBM Plex Sans"/>
                <a:ea typeface="IBM Plex Sans"/>
                <a:cs typeface="IBM Plex Sans"/>
              </a:defRPr>
            </a:pPr>
            <a:r>
              <a:rPr sz="1013" b="1">
                <a:solidFill>
                  <a:srgbClr val="084878"/>
                </a:solidFill>
                <a:latin typeface="IBM Plex Sans"/>
                <a:ea typeface="IBM Plex Sans"/>
                <a:cs typeface="IBM Plex Sans"/>
              </a:rPr>
              <a:t>Faktor = VLS-Residuum ÷ 144,3547 · außerhalb von −1 bis +1 entsteht ein Prüfhinweis.</a:t>
            </a:r>
          </a:p>
        </p:txBody>
      </p:sp>
      <p:sp>
        <p:nvSpPr>
          <p:cNvPr id="17" name="">
            <a:extLst xmlns:a="http://schemas.openxmlformats.org/drawingml/2006/main">
              <a:ext uri="{FF2B5EF4-FFF2-40B4-BE49-F238E27FC236}">
                <a16:creationId xmlns:a16="http://schemas.microsoft.com/office/drawing/2014/main" id="{8A3AB18A-3501-49E7-9807-430BDD2CDB84}"/>
              </a:ext>
            </a:extLst>
          </p:cNvPr>
          <p:cNvSpPr>
            <a:spLocks xmlns:a="http://schemas.openxmlformats.org/drawingml/2006/main" noGrp="1"/>
          </p:cNvSpPr>
          <p:nvPr/>
        </p:nvSpPr>
        <p:spPr>
          <a:xfrm xmlns:a="http://schemas.openxmlformats.org/drawingml/2006/main">
            <a:off x="533400" y="6229350"/>
            <a:ext cx="11106150" cy="0"/>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8" name="">
            <a:extLst xmlns:a="http://schemas.openxmlformats.org/drawingml/2006/main">
              <a:ext uri="{FF2B5EF4-FFF2-40B4-BE49-F238E27FC236}">
                <a16:creationId xmlns:a16="http://schemas.microsoft.com/office/drawing/2014/main" id="{38AAEDD8-703D-4F26-8341-5E550FF35AC5}"/>
              </a:ext>
            </a:extLst>
          </p:cNvPr>
          <p:cNvSpPr>
            <a:spLocks xmlns:a="http://schemas.openxmlformats.org/drawingml/2006/main" noGrp="1"/>
          </p:cNvSpPr>
          <p:nvPr/>
        </p:nvSpPr>
        <p:spPr>
          <a:xfrm xmlns:a="http://schemas.openxmlformats.org/drawingml/2006/main">
            <a:off x="533400" y="6229350"/>
            <a:ext cx="895350" cy="0"/>
          </a:xfrm>
          <a:prstGeom xmlns:a="http://schemas.openxmlformats.org/drawingml/2006/main" prst="line">
            <a:avLst/>
          </a:prstGeom>
          <a:noFill xmlns:a="http://schemas.openxmlformats.org/drawingml/2006/main"/>
          <a:ln xmlns:a="http://schemas.openxmlformats.org/drawingml/2006/main" w="38100">
            <a:solidFill>
              <a:srgbClr val="084878"/>
            </a:solidFill>
            <a:prstDash val="solid"/>
          </a:ln>
        </p:spPr>
      </p:sp>
      <p:sp>
        <p:nvSpPr>
          <p:cNvPr id="19" name="">
            <a:extLst xmlns:a="http://schemas.openxmlformats.org/drawingml/2006/main">
              <a:ext uri="{FF2B5EF4-FFF2-40B4-BE49-F238E27FC236}">
                <a16:creationId xmlns:a16="http://schemas.microsoft.com/office/drawing/2014/main" id="{48343525-47DA-4213-B431-FA613899A12A}"/>
              </a:ext>
            </a:extLst>
          </p:cNvPr>
          <p:cNvSpPr>
            <a:spLocks xmlns:a="http://schemas.openxmlformats.org/drawingml/2006/main" noGrp="1"/>
          </p:cNvSpPr>
          <p:nvPr/>
        </p:nvSpPr>
        <p:spPr>
          <a:xfrm xmlns:a="http://schemas.openxmlformats.org/drawingml/2006/main">
            <a:off x="533400" y="635317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13" b="0">
                <a:solidFill>
                  <a:srgbClr val="56657A"/>
                </a:solidFill>
                <a:latin typeface="IBM Plex Sans"/>
                <a:ea typeface="IBM Plex Sans"/>
                <a:cs typeface="IBM Plex Sans"/>
              </a:defRPr>
            </a:pPr>
            <a:r>
              <a:rPr sz="713" b="0">
                <a:solidFill>
                  <a:srgbClr val="56657A"/>
                </a:solidFill>
                <a:latin typeface="IBM Plex Sans"/>
                <a:ea typeface="IBM Plex Sans"/>
                <a:cs typeface="IBM Plex Sans"/>
              </a:rPr>
              <a:t>Quelle: notebooks/13_modellierung_von_grund_auf_verstehen.ipynb</a:t>
            </a:r>
          </a:p>
        </p:txBody>
      </p:sp>
      <p:sp>
        <p:nvSpPr>
          <p:cNvPr id="20" name="">
            <a:extLst xmlns:a="http://schemas.openxmlformats.org/drawingml/2006/main">
              <a:ext uri="{FF2B5EF4-FFF2-40B4-BE49-F238E27FC236}">
                <a16:creationId xmlns:a16="http://schemas.microsoft.com/office/drawing/2014/main" id="{34F08CE6-1CD5-4996-B6BA-245A5BD0FFAB}"/>
              </a:ext>
            </a:extLst>
          </p:cNvPr>
          <p:cNvSpPr>
            <a:spLocks xmlns:a="http://schemas.openxmlformats.org/drawingml/2006/main" noGrp="1"/>
          </p:cNvSpPr>
          <p:nvPr/>
        </p:nvSpPr>
        <p:spPr>
          <a:xfrm xmlns:a="http://schemas.openxmlformats.org/drawingml/2006/main">
            <a:off x="10477500" y="63817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56657A"/>
                </a:solidFill>
                <a:latin typeface="Geist Mono"/>
                <a:ea typeface="Geist Mono"/>
                <a:cs typeface="Geist Mono"/>
              </a:defRPr>
            </a:pPr>
            <a:r>
              <a:rPr sz="825" b="0">
                <a:solidFill>
                  <a:srgbClr val="56657A"/>
                </a:solidFill>
                <a:latin typeface="Geist Mono"/>
                <a:ea typeface="Geist Mono"/>
                <a:cs typeface="Geist Mono"/>
              </a:rPr>
              <a:t>11</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384f80fc465c41e6"/>
          <a:stretch xmlns:a="http://schemas.openxmlformats.org/drawingml/2006/main"/>
        </p:blipFill>
        <p:spPr>
          <a:xfrm xmlns:a="http://schemas.openxmlformats.org/drawingml/2006/main">
            <a:off x="11058812" y="6296025"/>
            <a:ext cx="513776" cy="438150"/>
          </a:xfrm>
          <a:prstGeom xmlns:a="http://schemas.openxmlformats.org/drawingml/2006/main" prst="rect">
            <a:avLst/>
          </a:prstGeom>
        </p:spPr>
      </p:pic>
    </p:spTree>
    <p:extLst>
      <p:ext uri="{BB962C8B-B14F-4D97-AF65-F5344CB8AC3E}">
        <p14:creationId xmlns:p14="http://schemas.microsoft.com/office/powerpoint/2010/main" val="157376123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BC238AB-C773-4CC1-8BF3-9DE0392C5928}"/>
              </a:ext>
            </a:extLst>
          </p:cNvPr>
          <p:cNvSpPr>
            <a:spLocks xmlns:a="http://schemas.openxmlformats.org/drawingml/2006/main" noGrp="1"/>
          </p:cNvSpPr>
          <p:nvPr/>
        </p:nvSpPr>
        <p:spPr>
          <a:xfrm xmlns:a="http://schemas.openxmlformats.org/drawingml/2006/main">
            <a:off x="533400" y="3048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80A0"/>
                </a:solidFill>
                <a:latin typeface="IBM Plex Sans"/>
                <a:ea typeface="IBM Plex Sans"/>
                <a:cs typeface="IBM Plex Sans"/>
              </a:defRPr>
            </a:pPr>
            <a:r>
              <a:rPr sz="825" b="1">
                <a:solidFill>
                  <a:srgbClr val="0080A0"/>
                </a:solidFill>
                <a:latin typeface="IBM Plex Sans"/>
                <a:ea typeface="IBM Plex Sans"/>
                <a:cs typeface="IBM Plex Sans"/>
              </a:rPr>
              <a:t>SWW / ENERGIEANALYSE  ·  05 · LIVE-DEMO</a:t>
            </a:r>
          </a:p>
        </p:txBody>
      </p:sp>
      <p:sp>
        <p:nvSpPr>
          <p:cNvPr id="2" name="">
            <a:extLst xmlns:a="http://schemas.openxmlformats.org/drawingml/2006/main">
              <a:ext uri="{FF2B5EF4-FFF2-40B4-BE49-F238E27FC236}">
                <a16:creationId xmlns:a16="http://schemas.microsoft.com/office/drawing/2014/main" id="{2A53FCEE-6BBF-44BC-8630-52C1F2C4D8A4}"/>
              </a:ext>
            </a:extLst>
          </p:cNvPr>
          <p:cNvSpPr>
            <a:spLocks xmlns:a="http://schemas.openxmlformats.org/drawingml/2006/main" noGrp="1"/>
          </p:cNvSpPr>
          <p:nvPr/>
        </p:nvSpPr>
        <p:spPr>
          <a:xfrm xmlns:a="http://schemas.openxmlformats.org/drawingml/2006/main">
            <a:off x="533400" y="638175"/>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0D2742"/>
                </a:solidFill>
                <a:latin typeface="IBM Plex Sans"/>
                <a:ea typeface="IBM Plex Sans"/>
                <a:cs typeface="IBM Plex Sans"/>
              </a:defRPr>
            </a:pPr>
            <a:r>
              <a:rPr sz="2550" b="1">
                <a:solidFill>
                  <a:srgbClr val="0D2742"/>
                </a:solidFill>
                <a:latin typeface="IBM Plex Sans"/>
                <a:ea typeface="IBM Plex Sans"/>
                <a:cs typeface="IBM Plex Sans"/>
              </a:rPr>
              <a:t>Zwei Minuten vom Modellwert zum dokumentierten Fall</a:t>
            </a:r>
          </a:p>
        </p:txBody>
      </p:sp>
      <p:sp>
        <p:nvSpPr>
          <p:cNvPr id="3" name="">
            <a:extLst xmlns:a="http://schemas.openxmlformats.org/drawingml/2006/main">
              <a:ext uri="{FF2B5EF4-FFF2-40B4-BE49-F238E27FC236}">
                <a16:creationId xmlns:a16="http://schemas.microsoft.com/office/drawing/2014/main" id="{5BEAC717-64BE-4BD6-AAD2-D05C068DF077}"/>
              </a:ext>
            </a:extLst>
          </p:cNvPr>
          <p:cNvSpPr>
            <a:spLocks xmlns:a="http://schemas.openxmlformats.org/drawingml/2006/main" noGrp="1"/>
          </p:cNvSpPr>
          <p:nvPr/>
        </p:nvSpPr>
        <p:spPr>
          <a:xfrm xmlns:a="http://schemas.openxmlformats.org/drawingml/2006/main">
            <a:off x="533400" y="12668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6657A"/>
                </a:solidFill>
                <a:latin typeface="IBM Plex Sans"/>
                <a:ea typeface="IBM Plex Sans"/>
                <a:cs typeface="IBM Plex Sans"/>
              </a:defRPr>
            </a:pPr>
            <a:r>
              <a:rPr sz="1200" b="0">
                <a:solidFill>
                  <a:srgbClr val="56657A"/>
                </a:solidFill>
                <a:latin typeface="IBM Plex Sans"/>
                <a:ea typeface="IBM Plex Sans"/>
                <a:cs typeface="IBM Plex Sans"/>
              </a:rPr>
              <a:t>Die Demo zeigt einen möglichen Prüfworkflow – sie beweist keinen Defekt.</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c16691d55078473c"/>
          <a:srcRect xmlns:a="http://schemas.openxmlformats.org/drawingml/2006/main" l="0" t="6235" r="0" b="6235"/>
          <a:stretch xmlns:a="http://schemas.openxmlformats.org/drawingml/2006/main">
            <a:fillRect l="0" t="0" r="0" b="0"/>
          </a:stretch>
        </p:blipFill>
        <p:spPr>
          <a:xfrm xmlns:a="http://schemas.openxmlformats.org/drawingml/2006/main">
            <a:off x="457200" y="1619250"/>
            <a:ext cx="8096250" cy="4429125"/>
          </a:xfrm>
          <a:prstGeom xmlns:a="http://schemas.openxmlformats.org/drawingml/2006/main" prst="roundRect">
            <a:avLst>
              <a:gd name="adj" fmla="val 2581"/>
            </a:avLst>
          </a:prstGeom>
        </p:spPr>
      </p:pic>
      <p:sp>
        <p:nvSpPr>
          <p:cNvPr id="5" name="">
            <a:extLst xmlns:a="http://schemas.openxmlformats.org/drawingml/2006/main">
              <a:ext uri="{FF2B5EF4-FFF2-40B4-BE49-F238E27FC236}">
                <a16:creationId xmlns:a16="http://schemas.microsoft.com/office/drawing/2014/main" id="{14AE23B2-1E17-4B6A-B413-3346ED2D89F7}"/>
              </a:ext>
            </a:extLst>
          </p:cNvPr>
          <p:cNvSpPr>
            <a:spLocks xmlns:a="http://schemas.openxmlformats.org/drawingml/2006/main" noGrp="1"/>
          </p:cNvSpPr>
          <p:nvPr/>
        </p:nvSpPr>
        <p:spPr>
          <a:xfrm xmlns:a="http://schemas.openxmlformats.org/drawingml/2006/main">
            <a:off x="8839200" y="1619250"/>
            <a:ext cx="2762250" cy="3457575"/>
          </a:xfrm>
          <a:prstGeom xmlns:a="http://schemas.openxmlformats.org/drawingml/2006/main" prst="roundRect">
            <a:avLst>
              <a:gd name="adj" fmla="val 4828"/>
            </a:avLst>
          </a:prstGeom>
          <a:solidFill xmlns:a="http://schemas.openxmlformats.org/drawingml/2006/main">
            <a:srgbClr val="F5F8FB"/>
          </a:solidFill>
          <a:ln xmlns:a="http://schemas.openxmlformats.org/drawingml/2006/main" w="9525">
            <a:solidFill>
              <a:srgbClr val="D7E0EA"/>
            </a:solidFill>
            <a:prstDash val="solid"/>
          </a:ln>
        </p:spPr>
      </p:sp>
      <p:sp>
        <p:nvSpPr>
          <p:cNvPr id="6" name="">
            <a:extLst xmlns:a="http://schemas.openxmlformats.org/drawingml/2006/main">
              <a:ext uri="{FF2B5EF4-FFF2-40B4-BE49-F238E27FC236}">
                <a16:creationId xmlns:a16="http://schemas.microsoft.com/office/drawing/2014/main" id="{15A8E029-5190-4DAE-AE55-C3B0F2D97A67}"/>
              </a:ext>
            </a:extLst>
          </p:cNvPr>
          <p:cNvSpPr>
            <a:spLocks xmlns:a="http://schemas.openxmlformats.org/drawingml/2006/main" noGrp="1"/>
          </p:cNvSpPr>
          <p:nvPr/>
        </p:nvSpPr>
        <p:spPr>
          <a:xfrm xmlns:a="http://schemas.openxmlformats.org/drawingml/2006/main">
            <a:off x="9077325" y="1838325"/>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084878"/>
                </a:solidFill>
                <a:latin typeface="IBM Plex Sans"/>
                <a:ea typeface="IBM Plex Sans"/>
                <a:cs typeface="IBM Plex Sans"/>
              </a:defRPr>
            </a:pPr>
            <a:r>
              <a:rPr sz="1725" b="1">
                <a:solidFill>
                  <a:srgbClr val="084878"/>
                </a:solidFill>
                <a:latin typeface="IBM Plex Sans"/>
                <a:ea typeface="IBM Plex Sans"/>
                <a:cs typeface="IBM Plex Sans"/>
              </a:rPr>
              <a:t>Demo-Ablauf</a:t>
            </a:r>
          </a:p>
        </p:txBody>
      </p:sp>
      <p:sp>
        <p:nvSpPr>
          <p:cNvPr id="7" name="">
            <a:extLst xmlns:a="http://schemas.openxmlformats.org/drawingml/2006/main">
              <a:ext uri="{FF2B5EF4-FFF2-40B4-BE49-F238E27FC236}">
                <a16:creationId xmlns:a16="http://schemas.microsoft.com/office/drawing/2014/main" id="{FC8551DB-0AB6-4CA5-8C37-34BEF172B166}"/>
              </a:ext>
            </a:extLst>
          </p:cNvPr>
          <p:cNvSpPr>
            <a:spLocks xmlns:a="http://schemas.openxmlformats.org/drawingml/2006/main" noGrp="1"/>
          </p:cNvSpPr>
          <p:nvPr/>
        </p:nvSpPr>
        <p:spPr>
          <a:xfrm xmlns:a="http://schemas.openxmlformats.org/drawingml/2006/main">
            <a:off x="9077325" y="2324100"/>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0080A0"/>
                </a:solidFill>
                <a:latin typeface="Geist Mono"/>
                <a:ea typeface="Geist Mono"/>
                <a:cs typeface="Geist Mono"/>
              </a:defRPr>
            </a:pPr>
            <a:r>
              <a:rPr sz="900" b="1">
                <a:solidFill>
                  <a:srgbClr val="0080A0"/>
                </a:solidFill>
                <a:latin typeface="Geist Mono"/>
                <a:ea typeface="Geist Mono"/>
                <a:cs typeface="Geist Mono"/>
              </a:rPr>
              <a:t>00:00</a:t>
            </a:r>
          </a:p>
        </p:txBody>
      </p:sp>
      <p:sp>
        <p:nvSpPr>
          <p:cNvPr id="8" name="">
            <a:extLst xmlns:a="http://schemas.openxmlformats.org/drawingml/2006/main">
              <a:ext uri="{FF2B5EF4-FFF2-40B4-BE49-F238E27FC236}">
                <a16:creationId xmlns:a16="http://schemas.microsoft.com/office/drawing/2014/main" id="{6AB5E235-0DBB-4E98-A040-281B99AB3848}"/>
              </a:ext>
            </a:extLst>
          </p:cNvPr>
          <p:cNvSpPr>
            <a:spLocks xmlns:a="http://schemas.openxmlformats.org/drawingml/2006/main" noGrp="1"/>
          </p:cNvSpPr>
          <p:nvPr/>
        </p:nvSpPr>
        <p:spPr>
          <a:xfrm xmlns:a="http://schemas.openxmlformats.org/drawingml/2006/main">
            <a:off x="9677400" y="2295525"/>
            <a:ext cx="1695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41A21"/>
                </a:solidFill>
                <a:latin typeface="IBM Plex Sans"/>
                <a:ea typeface="IBM Plex Sans"/>
                <a:cs typeface="IBM Plex Sans"/>
              </a:defRPr>
            </a:pPr>
            <a:r>
              <a:rPr sz="1050" b="1">
                <a:solidFill>
                  <a:srgbClr val="141A21"/>
                </a:solidFill>
                <a:latin typeface="IBM Plex Sans"/>
                <a:ea typeface="IBM Plex Sans"/>
                <a:cs typeface="IBM Plex Sans"/>
              </a:rPr>
              <a:t>q99 &amp; Umfang</a:t>
            </a:r>
          </a:p>
        </p:txBody>
      </p:sp>
      <p:sp>
        <p:nvSpPr>
          <p:cNvPr id="9" name="">
            <a:extLst xmlns:a="http://schemas.openxmlformats.org/drawingml/2006/main">
              <a:ext uri="{FF2B5EF4-FFF2-40B4-BE49-F238E27FC236}">
                <a16:creationId xmlns:a16="http://schemas.microsoft.com/office/drawing/2014/main" id="{BA267C26-E8C1-439B-8649-6C958D0AE6CB}"/>
              </a:ext>
            </a:extLst>
          </p:cNvPr>
          <p:cNvSpPr>
            <a:spLocks xmlns:a="http://schemas.openxmlformats.org/drawingml/2006/main" noGrp="1"/>
          </p:cNvSpPr>
          <p:nvPr/>
        </p:nvSpPr>
        <p:spPr>
          <a:xfrm xmlns:a="http://schemas.openxmlformats.org/drawingml/2006/main">
            <a:off x="9077325" y="27336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0080A0"/>
                </a:solidFill>
                <a:latin typeface="Geist Mono"/>
                <a:ea typeface="Geist Mono"/>
                <a:cs typeface="Geist Mono"/>
              </a:defRPr>
            </a:pPr>
            <a:r>
              <a:rPr sz="900" b="1">
                <a:solidFill>
                  <a:srgbClr val="0080A0"/>
                </a:solidFill>
                <a:latin typeface="Geist Mono"/>
                <a:ea typeface="Geist Mono"/>
                <a:cs typeface="Geist Mono"/>
              </a:rPr>
              <a:t>00:20</a:t>
            </a:r>
          </a:p>
        </p:txBody>
      </p:sp>
      <p:sp>
        <p:nvSpPr>
          <p:cNvPr id="10" name="">
            <a:extLst xmlns:a="http://schemas.openxmlformats.org/drawingml/2006/main">
              <a:ext uri="{FF2B5EF4-FFF2-40B4-BE49-F238E27FC236}">
                <a16:creationId xmlns:a16="http://schemas.microsoft.com/office/drawing/2014/main" id="{31CC935B-2FDF-4CAD-96F4-647DABBFF68A}"/>
              </a:ext>
            </a:extLst>
          </p:cNvPr>
          <p:cNvSpPr>
            <a:spLocks xmlns:a="http://schemas.openxmlformats.org/drawingml/2006/main" noGrp="1"/>
          </p:cNvSpPr>
          <p:nvPr/>
        </p:nvSpPr>
        <p:spPr>
          <a:xfrm xmlns:a="http://schemas.openxmlformats.org/drawingml/2006/main">
            <a:off x="9677400" y="2705100"/>
            <a:ext cx="1695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41A21"/>
                </a:solidFill>
                <a:latin typeface="IBM Plex Sans"/>
                <a:ea typeface="IBM Plex Sans"/>
                <a:cs typeface="IBM Plex Sans"/>
              </a:defRPr>
            </a:pPr>
            <a:r>
              <a:rPr sz="1050" b="0">
                <a:solidFill>
                  <a:srgbClr val="141A21"/>
                </a:solidFill>
                <a:latin typeface="IBM Plex Sans"/>
                <a:ea typeface="IBM Plex Sans"/>
                <a:cs typeface="IBM Plex Sans"/>
              </a:rPr>
              <a:t>2 hohe + 2 niedrige Fälle</a:t>
            </a:r>
          </a:p>
        </p:txBody>
      </p:sp>
      <p:sp>
        <p:nvSpPr>
          <p:cNvPr id="11" name="">
            <a:extLst xmlns:a="http://schemas.openxmlformats.org/drawingml/2006/main">
              <a:ext uri="{FF2B5EF4-FFF2-40B4-BE49-F238E27FC236}">
                <a16:creationId xmlns:a16="http://schemas.microsoft.com/office/drawing/2014/main" id="{78530342-3534-4BE4-B3E2-A21A5C470924}"/>
              </a:ext>
            </a:extLst>
          </p:cNvPr>
          <p:cNvSpPr>
            <a:spLocks xmlns:a="http://schemas.openxmlformats.org/drawingml/2006/main" noGrp="1"/>
          </p:cNvSpPr>
          <p:nvPr/>
        </p:nvSpPr>
        <p:spPr>
          <a:xfrm xmlns:a="http://schemas.openxmlformats.org/drawingml/2006/main">
            <a:off x="9077325" y="3143250"/>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0080A0"/>
                </a:solidFill>
                <a:latin typeface="Geist Mono"/>
                <a:ea typeface="Geist Mono"/>
                <a:cs typeface="Geist Mono"/>
              </a:defRPr>
            </a:pPr>
            <a:r>
              <a:rPr sz="900" b="1">
                <a:solidFill>
                  <a:srgbClr val="0080A0"/>
                </a:solidFill>
                <a:latin typeface="Geist Mono"/>
                <a:ea typeface="Geist Mono"/>
                <a:cs typeface="Geist Mono"/>
              </a:rPr>
              <a:t>00:40</a:t>
            </a:r>
          </a:p>
        </p:txBody>
      </p:sp>
      <p:sp>
        <p:nvSpPr>
          <p:cNvPr id="12" name="">
            <a:extLst xmlns:a="http://schemas.openxmlformats.org/drawingml/2006/main">
              <a:ext uri="{FF2B5EF4-FFF2-40B4-BE49-F238E27FC236}">
                <a16:creationId xmlns:a16="http://schemas.microsoft.com/office/drawing/2014/main" id="{28016EB5-31A0-4576-8DF8-188B49BC5AAC}"/>
              </a:ext>
            </a:extLst>
          </p:cNvPr>
          <p:cNvSpPr>
            <a:spLocks xmlns:a="http://schemas.openxmlformats.org/drawingml/2006/main" noGrp="1"/>
          </p:cNvSpPr>
          <p:nvPr/>
        </p:nvSpPr>
        <p:spPr>
          <a:xfrm xmlns:a="http://schemas.openxmlformats.org/drawingml/2006/main">
            <a:off x="9677400" y="3114675"/>
            <a:ext cx="1695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41A21"/>
                </a:solidFill>
                <a:latin typeface="IBM Plex Sans"/>
                <a:ea typeface="IBM Plex Sans"/>
                <a:cs typeface="IBM Plex Sans"/>
              </a:defRPr>
            </a:pPr>
            <a:r>
              <a:rPr sz="1050" b="0">
                <a:solidFill>
                  <a:srgbClr val="141A21"/>
                </a:solidFill>
                <a:latin typeface="IBM Plex Sans"/>
                <a:ea typeface="IBM Plex Sans"/>
                <a:cs typeface="IBM Plex Sans"/>
              </a:rPr>
              <a:t>Fall öffnen</a:t>
            </a:r>
          </a:p>
        </p:txBody>
      </p:sp>
      <p:sp>
        <p:nvSpPr>
          <p:cNvPr id="13" name="">
            <a:extLst xmlns:a="http://schemas.openxmlformats.org/drawingml/2006/main">
              <a:ext uri="{FF2B5EF4-FFF2-40B4-BE49-F238E27FC236}">
                <a16:creationId xmlns:a16="http://schemas.microsoft.com/office/drawing/2014/main" id="{3511CE32-4A5D-49C3-B2A4-8BCDF7D169CE}"/>
              </a:ext>
            </a:extLst>
          </p:cNvPr>
          <p:cNvSpPr>
            <a:spLocks xmlns:a="http://schemas.openxmlformats.org/drawingml/2006/main" noGrp="1"/>
          </p:cNvSpPr>
          <p:nvPr/>
        </p:nvSpPr>
        <p:spPr>
          <a:xfrm xmlns:a="http://schemas.openxmlformats.org/drawingml/2006/main">
            <a:off x="9077325" y="35528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0080A0"/>
                </a:solidFill>
                <a:latin typeface="Geist Mono"/>
                <a:ea typeface="Geist Mono"/>
                <a:cs typeface="Geist Mono"/>
              </a:defRPr>
            </a:pPr>
            <a:r>
              <a:rPr sz="900" b="1">
                <a:solidFill>
                  <a:srgbClr val="0080A0"/>
                </a:solidFill>
                <a:latin typeface="Geist Mono"/>
                <a:ea typeface="Geist Mono"/>
                <a:cs typeface="Geist Mono"/>
              </a:rPr>
              <a:t>01:10</a:t>
            </a:r>
          </a:p>
        </p:txBody>
      </p:sp>
      <p:sp>
        <p:nvSpPr>
          <p:cNvPr id="14" name="">
            <a:extLst xmlns:a="http://schemas.openxmlformats.org/drawingml/2006/main">
              <a:ext uri="{FF2B5EF4-FFF2-40B4-BE49-F238E27FC236}">
                <a16:creationId xmlns:a16="http://schemas.microsoft.com/office/drawing/2014/main" id="{7A609BD9-56E7-4F1C-83C6-9896A68F75DB}"/>
              </a:ext>
            </a:extLst>
          </p:cNvPr>
          <p:cNvSpPr>
            <a:spLocks xmlns:a="http://schemas.openxmlformats.org/drawingml/2006/main" noGrp="1"/>
          </p:cNvSpPr>
          <p:nvPr/>
        </p:nvSpPr>
        <p:spPr>
          <a:xfrm xmlns:a="http://schemas.openxmlformats.org/drawingml/2006/main">
            <a:off x="9677400" y="3524250"/>
            <a:ext cx="1695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41A21"/>
                </a:solidFill>
                <a:latin typeface="IBM Plex Sans"/>
                <a:ea typeface="IBM Plex Sans"/>
                <a:cs typeface="IBM Plex Sans"/>
              </a:defRPr>
            </a:pPr>
            <a:r>
              <a:rPr sz="1050" b="0">
                <a:solidFill>
                  <a:srgbClr val="141A21"/>
                </a:solidFill>
                <a:latin typeface="IBM Plex Sans"/>
                <a:ea typeface="IBM Plex Sans"/>
                <a:cs typeface="IBM Plex Sans"/>
              </a:rPr>
              <a:t>Kontext prüfen</a:t>
            </a:r>
          </a:p>
        </p:txBody>
      </p:sp>
      <p:sp>
        <p:nvSpPr>
          <p:cNvPr id="15" name="">
            <a:extLst xmlns:a="http://schemas.openxmlformats.org/drawingml/2006/main">
              <a:ext uri="{FF2B5EF4-FFF2-40B4-BE49-F238E27FC236}">
                <a16:creationId xmlns:a16="http://schemas.microsoft.com/office/drawing/2014/main" id="{CA8BA75A-814F-4306-AA5F-6C656BE24C8F}"/>
              </a:ext>
            </a:extLst>
          </p:cNvPr>
          <p:cNvSpPr>
            <a:spLocks xmlns:a="http://schemas.openxmlformats.org/drawingml/2006/main" noGrp="1"/>
          </p:cNvSpPr>
          <p:nvPr/>
        </p:nvSpPr>
        <p:spPr>
          <a:xfrm xmlns:a="http://schemas.openxmlformats.org/drawingml/2006/main">
            <a:off x="9077325" y="3962400"/>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0080A0"/>
                </a:solidFill>
                <a:latin typeface="Geist Mono"/>
                <a:ea typeface="Geist Mono"/>
                <a:cs typeface="Geist Mono"/>
              </a:defRPr>
            </a:pPr>
            <a:r>
              <a:rPr sz="900" b="1">
                <a:solidFill>
                  <a:srgbClr val="0080A0"/>
                </a:solidFill>
                <a:latin typeface="Geist Mono"/>
                <a:ea typeface="Geist Mono"/>
                <a:cs typeface="Geist Mono"/>
              </a:rPr>
              <a:t>01:35</a:t>
            </a:r>
          </a:p>
        </p:txBody>
      </p:sp>
      <p:sp>
        <p:nvSpPr>
          <p:cNvPr id="16" name="">
            <a:extLst xmlns:a="http://schemas.openxmlformats.org/drawingml/2006/main">
              <a:ext uri="{FF2B5EF4-FFF2-40B4-BE49-F238E27FC236}">
                <a16:creationId xmlns:a16="http://schemas.microsoft.com/office/drawing/2014/main" id="{692CDD5A-7CD2-46EC-8BB5-0B7101392B6A}"/>
              </a:ext>
            </a:extLst>
          </p:cNvPr>
          <p:cNvSpPr>
            <a:spLocks xmlns:a="http://schemas.openxmlformats.org/drawingml/2006/main" noGrp="1"/>
          </p:cNvSpPr>
          <p:nvPr/>
        </p:nvSpPr>
        <p:spPr>
          <a:xfrm xmlns:a="http://schemas.openxmlformats.org/drawingml/2006/main">
            <a:off x="9677400" y="3933825"/>
            <a:ext cx="1695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41A21"/>
                </a:solidFill>
                <a:latin typeface="IBM Plex Sans"/>
                <a:ea typeface="IBM Plex Sans"/>
                <a:cs typeface="IBM Plex Sans"/>
              </a:defRPr>
            </a:pPr>
            <a:r>
              <a:rPr sz="1050" b="0">
                <a:solidFill>
                  <a:srgbClr val="141A21"/>
                </a:solidFill>
                <a:latin typeface="IBM Plex Sans"/>
                <a:ea typeface="IBM Plex Sans"/>
                <a:cs typeface="IBM Plex Sans"/>
              </a:rPr>
              <a:t>Entscheidung dokumentieren</a:t>
            </a:r>
          </a:p>
        </p:txBody>
      </p:sp>
      <p:sp>
        <p:nvSpPr>
          <p:cNvPr id="17" name="">
            <a:extLst xmlns:a="http://schemas.openxmlformats.org/drawingml/2006/main">
              <a:ext uri="{FF2B5EF4-FFF2-40B4-BE49-F238E27FC236}">
                <a16:creationId xmlns:a16="http://schemas.microsoft.com/office/drawing/2014/main" id="{2FAC4225-40F0-4643-B423-9C3A7FD52078}"/>
              </a:ext>
            </a:extLst>
          </p:cNvPr>
          <p:cNvSpPr>
            <a:spLocks xmlns:a="http://schemas.openxmlformats.org/drawingml/2006/main" noGrp="1"/>
          </p:cNvSpPr>
          <p:nvPr/>
        </p:nvSpPr>
        <p:spPr>
          <a:xfrm xmlns:a="http://schemas.openxmlformats.org/drawingml/2006/main">
            <a:off x="9077325" y="43719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0080A0"/>
                </a:solidFill>
                <a:latin typeface="Geist Mono"/>
                <a:ea typeface="Geist Mono"/>
                <a:cs typeface="Geist Mono"/>
              </a:defRPr>
            </a:pPr>
            <a:r>
              <a:rPr sz="900" b="1">
                <a:solidFill>
                  <a:srgbClr val="0080A0"/>
                </a:solidFill>
                <a:latin typeface="Geist Mono"/>
                <a:ea typeface="Geist Mono"/>
                <a:cs typeface="Geist Mono"/>
              </a:rPr>
              <a:t>01:55</a:t>
            </a:r>
          </a:p>
        </p:txBody>
      </p:sp>
      <p:sp>
        <p:nvSpPr>
          <p:cNvPr id="18" name="">
            <a:extLst xmlns:a="http://schemas.openxmlformats.org/drawingml/2006/main">
              <a:ext uri="{FF2B5EF4-FFF2-40B4-BE49-F238E27FC236}">
                <a16:creationId xmlns:a16="http://schemas.microsoft.com/office/drawing/2014/main" id="{6D6D0C67-66C5-4BF4-910B-7D29E68AC7D6}"/>
              </a:ext>
            </a:extLst>
          </p:cNvPr>
          <p:cNvSpPr>
            <a:spLocks xmlns:a="http://schemas.openxmlformats.org/drawingml/2006/main" noGrp="1"/>
          </p:cNvSpPr>
          <p:nvPr/>
        </p:nvSpPr>
        <p:spPr>
          <a:xfrm xmlns:a="http://schemas.openxmlformats.org/drawingml/2006/main">
            <a:off x="9677400" y="4343400"/>
            <a:ext cx="1695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41A21"/>
                </a:solidFill>
                <a:latin typeface="IBM Plex Sans"/>
                <a:ea typeface="IBM Plex Sans"/>
                <a:cs typeface="IBM Plex Sans"/>
              </a:defRPr>
            </a:pPr>
            <a:r>
              <a:rPr sz="1050" b="0">
                <a:solidFill>
                  <a:srgbClr val="141A21"/>
                </a:solidFill>
                <a:latin typeface="IBM Plex Sans"/>
                <a:ea typeface="IBM Plex Sans"/>
                <a:cs typeface="IBM Plex Sans"/>
              </a:rPr>
              <a:t>Label als Lernsignal</a:t>
            </a:r>
          </a:p>
        </p:txBody>
      </p:sp>
      <p:sp>
        <p:nvSpPr>
          <p:cNvPr id="19" name="">
            <a:extLst xmlns:a="http://schemas.openxmlformats.org/drawingml/2006/main">
              <a:ext uri="{FF2B5EF4-FFF2-40B4-BE49-F238E27FC236}">
                <a16:creationId xmlns:a16="http://schemas.microsoft.com/office/drawing/2014/main" id="{BEBF9374-CBE8-4E20-9A8E-D9BA70132C37}"/>
              </a:ext>
            </a:extLst>
          </p:cNvPr>
          <p:cNvSpPr>
            <a:spLocks xmlns:a="http://schemas.openxmlformats.org/drawingml/2006/main" noGrp="1"/>
          </p:cNvSpPr>
          <p:nvPr/>
        </p:nvSpPr>
        <p:spPr>
          <a:xfrm xmlns:a="http://schemas.openxmlformats.org/drawingml/2006/main">
            <a:off x="8839200" y="5286375"/>
            <a:ext cx="2762250" cy="552450"/>
          </a:xfrm>
          <a:prstGeom xmlns:a="http://schemas.openxmlformats.org/drawingml/2006/main" prst="roundRect">
            <a:avLst>
              <a:gd name="adj" fmla="val 17241"/>
            </a:avLst>
          </a:prstGeom>
          <a:solidFill xmlns:a="http://schemas.openxmlformats.org/drawingml/2006/main">
            <a:srgbClr val="084878"/>
          </a:solidFill>
          <a:ln xmlns:a="http://schemas.openxmlformats.org/drawingml/2006/main" w="0">
            <a:noFill/>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r>
              <a:rPr sz="1275" b="1">
                <a:solidFill>
                  <a:srgbClr val="FFFFFF"/>
                </a:solidFill>
                <a:latin typeface="IBM Plex Sans"/>
                <a:ea typeface="IBM Plex Sans"/>
                <a:cs typeface="IBM Plex Sans"/>
                <a:hlinkClick xmlns:r="http://schemas.openxmlformats.org/officeDocument/2006/relationships" r:id="R363b5e0d79e74906"/>
              </a:rPr>
              <a:t>Live-Demo im Browser öffnen</a:t>
            </a:r>
          </a:p>
        </p:txBody>
      </p:sp>
      <p:sp>
        <p:nvSpPr>
          <p:cNvPr id="20" name="">
            <a:extLst xmlns:a="http://schemas.openxmlformats.org/drawingml/2006/main">
              <a:ext uri="{FF2B5EF4-FFF2-40B4-BE49-F238E27FC236}">
                <a16:creationId xmlns:a16="http://schemas.microsoft.com/office/drawing/2014/main" id="{B6FA399C-CD42-4E8B-8687-F1640C56623B}"/>
              </a:ext>
            </a:extLst>
          </p:cNvPr>
          <p:cNvSpPr>
            <a:spLocks xmlns:a="http://schemas.openxmlformats.org/drawingml/2006/main" noGrp="1"/>
          </p:cNvSpPr>
          <p:nvPr/>
        </p:nvSpPr>
        <p:spPr>
          <a:xfrm xmlns:a="http://schemas.openxmlformats.org/drawingml/2006/main">
            <a:off x="533400" y="6229350"/>
            <a:ext cx="11106150" cy="0"/>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21" name="">
            <a:extLst xmlns:a="http://schemas.openxmlformats.org/drawingml/2006/main">
              <a:ext uri="{FF2B5EF4-FFF2-40B4-BE49-F238E27FC236}">
                <a16:creationId xmlns:a16="http://schemas.microsoft.com/office/drawing/2014/main" id="{F810F336-B03C-42E9-A3BB-28EE9B14A3B2}"/>
              </a:ext>
            </a:extLst>
          </p:cNvPr>
          <p:cNvSpPr>
            <a:spLocks xmlns:a="http://schemas.openxmlformats.org/drawingml/2006/main" noGrp="1"/>
          </p:cNvSpPr>
          <p:nvPr/>
        </p:nvSpPr>
        <p:spPr>
          <a:xfrm xmlns:a="http://schemas.openxmlformats.org/drawingml/2006/main">
            <a:off x="533400" y="6229350"/>
            <a:ext cx="895350" cy="0"/>
          </a:xfrm>
          <a:prstGeom xmlns:a="http://schemas.openxmlformats.org/drawingml/2006/main" prst="line">
            <a:avLst/>
          </a:prstGeom>
          <a:noFill xmlns:a="http://schemas.openxmlformats.org/drawingml/2006/main"/>
          <a:ln xmlns:a="http://schemas.openxmlformats.org/drawingml/2006/main" w="38100">
            <a:solidFill>
              <a:srgbClr val="084878"/>
            </a:solidFill>
            <a:prstDash val="solid"/>
          </a:ln>
        </p:spPr>
      </p:sp>
      <p:sp>
        <p:nvSpPr>
          <p:cNvPr id="22" name="">
            <a:extLst xmlns:a="http://schemas.openxmlformats.org/drawingml/2006/main">
              <a:ext uri="{FF2B5EF4-FFF2-40B4-BE49-F238E27FC236}">
                <a16:creationId xmlns:a16="http://schemas.microsoft.com/office/drawing/2014/main" id="{6DCBA9E9-BA82-4DA5-B3B1-45054AAFD9B7}"/>
              </a:ext>
            </a:extLst>
          </p:cNvPr>
          <p:cNvSpPr>
            <a:spLocks xmlns:a="http://schemas.openxmlformats.org/drawingml/2006/main" noGrp="1"/>
          </p:cNvSpPr>
          <p:nvPr/>
        </p:nvSpPr>
        <p:spPr>
          <a:xfrm xmlns:a="http://schemas.openxmlformats.org/drawingml/2006/main">
            <a:off x="533400" y="635317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13" b="0">
                <a:solidFill>
                  <a:srgbClr val="56657A"/>
                </a:solidFill>
                <a:latin typeface="IBM Plex Sans"/>
                <a:ea typeface="IBM Plex Sans"/>
                <a:cs typeface="IBM Plex Sans"/>
              </a:defRPr>
            </a:pPr>
            <a:r>
              <a:rPr sz="713" b="0">
                <a:solidFill>
                  <a:srgbClr val="56657A"/>
                </a:solidFill>
                <a:latin typeface="IBM Plex Sans"/>
                <a:ea typeface="IBM Plex Sans"/>
                <a:cs typeface="IBM Plex Sans"/>
              </a:rPr>
              <a:t>Quelle: brand/design-system/ui_kits/energie-cockpit · lokale Demo, keine Live-Anbindung</a:t>
            </a:r>
          </a:p>
        </p:txBody>
      </p:sp>
      <p:sp>
        <p:nvSpPr>
          <p:cNvPr id="23" name="">
            <a:extLst xmlns:a="http://schemas.openxmlformats.org/drawingml/2006/main">
              <a:ext uri="{FF2B5EF4-FFF2-40B4-BE49-F238E27FC236}">
                <a16:creationId xmlns:a16="http://schemas.microsoft.com/office/drawing/2014/main" id="{59543640-945A-46F2-8B8E-AA7B28F377C4}"/>
              </a:ext>
            </a:extLst>
          </p:cNvPr>
          <p:cNvSpPr>
            <a:spLocks xmlns:a="http://schemas.openxmlformats.org/drawingml/2006/main" noGrp="1"/>
          </p:cNvSpPr>
          <p:nvPr/>
        </p:nvSpPr>
        <p:spPr>
          <a:xfrm xmlns:a="http://schemas.openxmlformats.org/drawingml/2006/main">
            <a:off x="10477500" y="63817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56657A"/>
                </a:solidFill>
                <a:latin typeface="Geist Mono"/>
                <a:ea typeface="Geist Mono"/>
                <a:cs typeface="Geist Mono"/>
              </a:defRPr>
            </a:pPr>
            <a:r>
              <a:rPr sz="825" b="0">
                <a:solidFill>
                  <a:srgbClr val="56657A"/>
                </a:solidFill>
                <a:latin typeface="Geist Mono"/>
                <a:ea typeface="Geist Mono"/>
                <a:cs typeface="Geist Mono"/>
              </a:rPr>
              <a:t>12</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68ede33a5f424087"/>
          <a:stretch xmlns:a="http://schemas.openxmlformats.org/drawingml/2006/main"/>
        </p:blipFill>
        <p:spPr>
          <a:xfrm xmlns:a="http://schemas.openxmlformats.org/drawingml/2006/main">
            <a:off x="11058812" y="6296025"/>
            <a:ext cx="513776" cy="438150"/>
          </a:xfrm>
          <a:prstGeom xmlns:a="http://schemas.openxmlformats.org/drawingml/2006/main" prst="rect">
            <a:avLst/>
          </a:prstGeom>
        </p:spPr>
      </p:pic>
    </p:spTree>
    <p:extLst>
      <p:ext uri="{BB962C8B-B14F-4D97-AF65-F5344CB8AC3E}">
        <p14:creationId xmlns:p14="http://schemas.microsoft.com/office/powerpoint/2010/main" val="208563520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CA548CF4-D248-4431-8407-44C4FDAD6E51}"/>
              </a:ext>
            </a:extLst>
          </p:cNvPr>
          <p:cNvSpPr>
            <a:spLocks xmlns:a="http://schemas.openxmlformats.org/drawingml/2006/main" noGrp="1"/>
          </p:cNvSpPr>
          <p:nvPr/>
        </p:nvSpPr>
        <p:spPr>
          <a:xfrm xmlns:a="http://schemas.openxmlformats.org/drawingml/2006/main">
            <a:off x="533400" y="3048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80A0"/>
                </a:solidFill>
                <a:latin typeface="IBM Plex Sans"/>
                <a:ea typeface="IBM Plex Sans"/>
                <a:cs typeface="IBM Plex Sans"/>
              </a:defRPr>
            </a:pPr>
            <a:r>
              <a:rPr sz="825" b="1">
                <a:solidFill>
                  <a:srgbClr val="0080A0"/>
                </a:solidFill>
                <a:latin typeface="IBM Plex Sans"/>
                <a:ea typeface="IBM Plex Sans"/>
                <a:cs typeface="IBM Plex Sans"/>
              </a:rPr>
              <a:t>SWW / ENERGIEANALYSE  ·  06 · FAZIT</a:t>
            </a:r>
          </a:p>
        </p:txBody>
      </p:sp>
      <p:sp>
        <p:nvSpPr>
          <p:cNvPr id="2" name="">
            <a:extLst xmlns:a="http://schemas.openxmlformats.org/drawingml/2006/main">
              <a:ext uri="{FF2B5EF4-FFF2-40B4-BE49-F238E27FC236}">
                <a16:creationId xmlns:a16="http://schemas.microsoft.com/office/drawing/2014/main" id="{46462504-3ABC-4BA1-9DB3-1E666B7B53C9}"/>
              </a:ext>
            </a:extLst>
          </p:cNvPr>
          <p:cNvSpPr>
            <a:spLocks xmlns:a="http://schemas.openxmlformats.org/drawingml/2006/main" noGrp="1"/>
          </p:cNvSpPr>
          <p:nvPr/>
        </p:nvSpPr>
        <p:spPr>
          <a:xfrm xmlns:a="http://schemas.openxmlformats.org/drawingml/2006/main">
            <a:off x="533400" y="638175"/>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0D2742"/>
                </a:solidFill>
                <a:latin typeface="IBM Plex Sans"/>
                <a:ea typeface="IBM Plex Sans"/>
                <a:cs typeface="IBM Plex Sans"/>
              </a:defRPr>
            </a:pPr>
            <a:r>
              <a:rPr sz="2550" b="1">
                <a:solidFill>
                  <a:srgbClr val="0D2742"/>
                </a:solidFill>
                <a:latin typeface="IBM Plex Sans"/>
                <a:ea typeface="IBM Plex Sans"/>
                <a:cs typeface="IBM Plex Sans"/>
              </a:rPr>
              <a:t>Belastbares Ergebnis und klarer nächster Schritt</a:t>
            </a:r>
          </a:p>
        </p:txBody>
      </p:sp>
      <p:sp>
        <p:nvSpPr>
          <p:cNvPr id="3" name="">
            <a:extLst xmlns:a="http://schemas.openxmlformats.org/drawingml/2006/main">
              <a:ext uri="{FF2B5EF4-FFF2-40B4-BE49-F238E27FC236}">
                <a16:creationId xmlns:a16="http://schemas.microsoft.com/office/drawing/2014/main" id="{51B57DD1-C071-4B0F-BDD8-3C269E2ABD4D}"/>
              </a:ext>
            </a:extLst>
          </p:cNvPr>
          <p:cNvSpPr>
            <a:spLocks xmlns:a="http://schemas.openxmlformats.org/drawingml/2006/main" noGrp="1"/>
          </p:cNvSpPr>
          <p:nvPr/>
        </p:nvSpPr>
        <p:spPr>
          <a:xfrm xmlns:a="http://schemas.openxmlformats.org/drawingml/2006/main">
            <a:off x="533400" y="12668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6657A"/>
                </a:solidFill>
                <a:latin typeface="IBM Plex Sans"/>
                <a:ea typeface="IBM Plex Sans"/>
                <a:cs typeface="IBM Plex Sans"/>
              </a:defRPr>
            </a:pPr>
            <a:r>
              <a:rPr sz="1200" b="0">
                <a:solidFill>
                  <a:srgbClr val="56657A"/>
                </a:solidFill>
                <a:latin typeface="IBM Plex Sans"/>
                <a:ea typeface="IBM Plex Sans"/>
                <a:cs typeface="IBM Plex Sans"/>
              </a:rPr>
              <a:t>Heute priorisieren wir Modellabweichungen; morgen können bestätigte Labels eine zweite Lernaufgabe ermöglichen.</a:t>
            </a:r>
          </a:p>
        </p:txBody>
      </p:sp>
      <p:sp>
        <p:nvSpPr>
          <p:cNvPr id="4" name="">
            <a:extLst xmlns:a="http://schemas.openxmlformats.org/drawingml/2006/main">
              <a:ext uri="{FF2B5EF4-FFF2-40B4-BE49-F238E27FC236}">
                <a16:creationId xmlns:a16="http://schemas.microsoft.com/office/drawing/2014/main" id="{8A567C7D-AD61-4755-A689-10877561CC5D}"/>
              </a:ext>
            </a:extLst>
          </p:cNvPr>
          <p:cNvSpPr>
            <a:spLocks xmlns:a="http://schemas.openxmlformats.org/drawingml/2006/main" noGrp="1"/>
          </p:cNvSpPr>
          <p:nvPr/>
        </p:nvSpPr>
        <p:spPr>
          <a:xfrm xmlns:a="http://schemas.openxmlformats.org/drawingml/2006/main">
            <a:off x="666750" y="180975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0080A0"/>
                </a:solidFill>
                <a:latin typeface="IBM Plex Sans"/>
                <a:ea typeface="IBM Plex Sans"/>
                <a:cs typeface="IBM Plex Sans"/>
              </a:defRPr>
            </a:pPr>
            <a:r>
              <a:rPr sz="1350" b="1">
                <a:solidFill>
                  <a:srgbClr val="0080A0"/>
                </a:solidFill>
                <a:latin typeface="IBM Plex Sans"/>
                <a:ea typeface="IBM Plex Sans"/>
                <a:cs typeface="IBM Plex Sans"/>
              </a:rPr>
              <a:t>HEUTE · Regression</a:t>
            </a:r>
          </a:p>
        </p:txBody>
      </p:sp>
      <p:sp>
        <p:nvSpPr>
          <p:cNvPr id="5" name="">
            <a:extLst xmlns:a="http://schemas.openxmlformats.org/drawingml/2006/main">
              <a:ext uri="{FF2B5EF4-FFF2-40B4-BE49-F238E27FC236}">
                <a16:creationId xmlns:a16="http://schemas.microsoft.com/office/drawing/2014/main" id="{76EED91F-888B-4E17-8F1E-62765D0BC4DA}"/>
              </a:ext>
            </a:extLst>
          </p:cNvPr>
          <p:cNvSpPr>
            <a:spLocks xmlns:a="http://schemas.openxmlformats.org/drawingml/2006/main" noGrp="1"/>
          </p:cNvSpPr>
          <p:nvPr/>
        </p:nvSpPr>
        <p:spPr>
          <a:xfrm xmlns:a="http://schemas.openxmlformats.org/drawingml/2006/main">
            <a:off x="666750" y="2333625"/>
            <a:ext cx="1600200" cy="1428750"/>
          </a:xfrm>
          <a:prstGeom xmlns:a="http://schemas.openxmlformats.org/drawingml/2006/main" prst="roundRect">
            <a:avLst>
              <a:gd name="adj" fmla="val 9333"/>
            </a:avLst>
          </a:prstGeom>
          <a:solidFill xmlns:a="http://schemas.openxmlformats.org/drawingml/2006/main">
            <a:srgbClr val="FFFFFF"/>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3381C082-03FB-40D0-B693-E69E6EA5E69D}"/>
              </a:ext>
            </a:extLst>
          </p:cNvPr>
          <p:cNvSpPr>
            <a:spLocks xmlns:a="http://schemas.openxmlformats.org/drawingml/2006/main" noGrp="1"/>
          </p:cNvSpPr>
          <p:nvPr/>
        </p:nvSpPr>
        <p:spPr>
          <a:xfrm xmlns:a="http://schemas.openxmlformats.org/drawingml/2006/main">
            <a:off x="838200" y="2495550"/>
            <a:ext cx="323850" cy="323850"/>
          </a:xfrm>
          <a:prstGeom xmlns:a="http://schemas.openxmlformats.org/drawingml/2006/main" prst="ellipse">
            <a:avLst/>
          </a:prstGeom>
          <a:solidFill xmlns:a="http://schemas.openxmlformats.org/drawingml/2006/main">
            <a:srgbClr val="0080A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1B6DAFE-9092-411D-9DB5-2BFEAF88E62B}"/>
              </a:ext>
            </a:extLst>
          </p:cNvPr>
          <p:cNvSpPr>
            <a:spLocks xmlns:a="http://schemas.openxmlformats.org/drawingml/2006/main" noGrp="1"/>
          </p:cNvSpPr>
          <p:nvPr/>
        </p:nvSpPr>
        <p:spPr>
          <a:xfrm xmlns:a="http://schemas.openxmlformats.org/drawingml/2006/main">
            <a:off x="838200" y="25336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Geist Mono"/>
                <a:ea typeface="Geist Mono"/>
                <a:cs typeface="Geist Mono"/>
              </a:defRPr>
            </a:pPr>
            <a:r>
              <a:rPr sz="1200" b="1">
                <a:solidFill>
                  <a:srgbClr val="FFFFFF"/>
                </a:solidFill>
                <a:latin typeface="Geist Mono"/>
                <a:ea typeface="Geist Mono"/>
                <a:cs typeface="Geist Mono"/>
              </a:rPr>
              <a:t>1</a:t>
            </a:r>
          </a:p>
        </p:txBody>
      </p:sp>
      <p:sp>
        <p:nvSpPr>
          <p:cNvPr id="8" name="">
            <a:extLst xmlns:a="http://schemas.openxmlformats.org/drawingml/2006/main">
              <a:ext uri="{FF2B5EF4-FFF2-40B4-BE49-F238E27FC236}">
                <a16:creationId xmlns:a16="http://schemas.microsoft.com/office/drawing/2014/main" id="{D3A8D8C7-2374-48A4-BF5D-68E626B35BF2}"/>
              </a:ext>
            </a:extLst>
          </p:cNvPr>
          <p:cNvSpPr>
            <a:spLocks xmlns:a="http://schemas.openxmlformats.org/drawingml/2006/main" noGrp="1"/>
          </p:cNvSpPr>
          <p:nvPr/>
        </p:nvSpPr>
        <p:spPr>
          <a:xfrm xmlns:a="http://schemas.openxmlformats.org/drawingml/2006/main">
            <a:off x="838200" y="2924175"/>
            <a:ext cx="1257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0307"/>
          </a:bodyPr>
          <a:lstStyle xmlns:a="http://schemas.openxmlformats.org/drawingml/2006/main"/>
          <a:p xmlns:a="http://schemas.openxmlformats.org/drawingml/2006/main">
            <a:pPr algn="l">
              <a:defRPr sz="1500" b="1">
                <a:solidFill>
                  <a:srgbClr val="084878"/>
                </a:solidFill>
                <a:latin typeface="IBM Plex Sans"/>
                <a:ea typeface="IBM Plex Sans"/>
                <a:cs typeface="IBM Plex Sans"/>
              </a:defRPr>
            </a:pPr>
            <a:r>
              <a:rPr sz="1500" b="1">
                <a:solidFill>
                  <a:srgbClr val="084878"/>
                </a:solidFill>
                <a:latin typeface="IBM Plex Sans"/>
                <a:ea typeface="IBM Plex Sans"/>
                <a:cs typeface="IBM Plex Sans"/>
              </a:rPr>
              <a:t>VLS prognostizieren</a:t>
            </a:r>
          </a:p>
        </p:txBody>
      </p:sp>
      <p:sp>
        <p:nvSpPr>
          <p:cNvPr id="9" name="">
            <a:extLst xmlns:a="http://schemas.openxmlformats.org/drawingml/2006/main">
              <a:ext uri="{FF2B5EF4-FFF2-40B4-BE49-F238E27FC236}">
                <a16:creationId xmlns:a16="http://schemas.microsoft.com/office/drawing/2014/main" id="{1E2CF3A9-C752-4FE7-804F-62C3FF5785D6}"/>
              </a:ext>
            </a:extLst>
          </p:cNvPr>
          <p:cNvSpPr>
            <a:spLocks xmlns:a="http://schemas.openxmlformats.org/drawingml/2006/main" noGrp="1"/>
          </p:cNvSpPr>
          <p:nvPr/>
        </p:nvSpPr>
        <p:spPr>
          <a:xfrm xmlns:a="http://schemas.openxmlformats.org/drawingml/2006/main">
            <a:off x="838200" y="3248025"/>
            <a:ext cx="1257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365"/>
          </a:bodyPr>
          <a:lstStyle xmlns:a="http://schemas.openxmlformats.org/drawingml/2006/main"/>
          <a:p xmlns:a="http://schemas.openxmlformats.org/drawingml/2006/main">
            <a:pPr algn="l">
              <a:lnSpc>
                <a:spcPct val="105000"/>
              </a:lnSpc>
              <a:buNone/>
              <a:defRPr sz="1050" b="0">
                <a:solidFill>
                  <a:srgbClr val="56657A"/>
                </a:solidFill>
                <a:latin typeface="IBM Plex Sans"/>
                <a:ea typeface="IBM Plex Sans"/>
                <a:cs typeface="IBM Plex Sans"/>
              </a:defRPr>
            </a:pPr>
            <a:r>
              <a:rPr sz="1050" b="0">
                <a:solidFill>
                  <a:srgbClr val="56657A"/>
                </a:solidFill>
                <a:latin typeface="IBM Plex Sans"/>
                <a:ea typeface="IBM Plex Sans"/>
                <a:cs typeface="IBM Plex Sans"/>
              </a:rPr>
              <a:t>Erwarteten Folgemonatsverbrauch schätzen.</a:t>
            </a:r>
          </a:p>
        </p:txBody>
      </p:sp>
      <p:sp>
        <p:nvSpPr>
          <p:cNvPr id="10" name="">
            <a:extLst xmlns:a="http://schemas.openxmlformats.org/drawingml/2006/main">
              <a:ext uri="{FF2B5EF4-FFF2-40B4-BE49-F238E27FC236}">
                <a16:creationId xmlns:a16="http://schemas.microsoft.com/office/drawing/2014/main" id="{F4A8E518-DEB3-4F25-A491-FDC6B3C913E4}"/>
              </a:ext>
            </a:extLst>
          </p:cNvPr>
          <p:cNvSpPr>
            <a:spLocks xmlns:a="http://schemas.openxmlformats.org/drawingml/2006/main" noGrp="1"/>
          </p:cNvSpPr>
          <p:nvPr/>
        </p:nvSpPr>
        <p:spPr>
          <a:xfrm xmlns:a="http://schemas.openxmlformats.org/drawingml/2006/main">
            <a:off x="2295525" y="2876550"/>
            <a:ext cx="209550" cy="190500"/>
          </a:xfrm>
          <a:prstGeom xmlns:a="http://schemas.openxmlformats.org/drawingml/2006/main" prst="rightArrow">
            <a:avLst/>
          </a:prstGeom>
          <a:solidFill xmlns:a="http://schemas.openxmlformats.org/drawingml/2006/main">
            <a:srgbClr val="0080A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E4E88D8-B46D-41CC-B87F-C49C0CC4CEF0}"/>
              </a:ext>
            </a:extLst>
          </p:cNvPr>
          <p:cNvSpPr>
            <a:spLocks xmlns:a="http://schemas.openxmlformats.org/drawingml/2006/main" noGrp="1"/>
          </p:cNvSpPr>
          <p:nvPr/>
        </p:nvSpPr>
        <p:spPr>
          <a:xfrm xmlns:a="http://schemas.openxmlformats.org/drawingml/2006/main">
            <a:off x="2447925" y="2333625"/>
            <a:ext cx="1600200" cy="1428750"/>
          </a:xfrm>
          <a:prstGeom xmlns:a="http://schemas.openxmlformats.org/drawingml/2006/main" prst="roundRect">
            <a:avLst>
              <a:gd name="adj" fmla="val 9333"/>
            </a:avLst>
          </a:prstGeom>
          <a:solidFill xmlns:a="http://schemas.openxmlformats.org/drawingml/2006/main">
            <a:srgbClr val="FFFFFF"/>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B9C3FE90-5720-454B-8A66-FA66FD14493C}"/>
              </a:ext>
            </a:extLst>
          </p:cNvPr>
          <p:cNvSpPr>
            <a:spLocks xmlns:a="http://schemas.openxmlformats.org/drawingml/2006/main" noGrp="1"/>
          </p:cNvSpPr>
          <p:nvPr/>
        </p:nvSpPr>
        <p:spPr>
          <a:xfrm xmlns:a="http://schemas.openxmlformats.org/drawingml/2006/main">
            <a:off x="2619375" y="2495550"/>
            <a:ext cx="323850" cy="323850"/>
          </a:xfrm>
          <a:prstGeom xmlns:a="http://schemas.openxmlformats.org/drawingml/2006/main" prst="ellipse">
            <a:avLst/>
          </a:prstGeom>
          <a:solidFill xmlns:a="http://schemas.openxmlformats.org/drawingml/2006/main">
            <a:srgbClr val="0080A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9C9FBBA-F26C-47EF-A04A-C120D718FE1E}"/>
              </a:ext>
            </a:extLst>
          </p:cNvPr>
          <p:cNvSpPr>
            <a:spLocks xmlns:a="http://schemas.openxmlformats.org/drawingml/2006/main" noGrp="1"/>
          </p:cNvSpPr>
          <p:nvPr/>
        </p:nvSpPr>
        <p:spPr>
          <a:xfrm xmlns:a="http://schemas.openxmlformats.org/drawingml/2006/main">
            <a:off x="2619375" y="25336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Geist Mono"/>
                <a:ea typeface="Geist Mono"/>
                <a:cs typeface="Geist Mono"/>
              </a:defRPr>
            </a:pPr>
            <a:r>
              <a:rPr sz="1200" b="1">
                <a:solidFill>
                  <a:srgbClr val="FFFFFF"/>
                </a:solidFill>
                <a:latin typeface="Geist Mono"/>
                <a:ea typeface="Geist Mono"/>
                <a:cs typeface="Geist Mono"/>
              </a:rPr>
              <a:t>2</a:t>
            </a:r>
          </a:p>
        </p:txBody>
      </p:sp>
      <p:sp>
        <p:nvSpPr>
          <p:cNvPr id="14" name="">
            <a:extLst xmlns:a="http://schemas.openxmlformats.org/drawingml/2006/main">
              <a:ext uri="{FF2B5EF4-FFF2-40B4-BE49-F238E27FC236}">
                <a16:creationId xmlns:a16="http://schemas.microsoft.com/office/drawing/2014/main" id="{EAF5547B-FD52-46BE-82EE-D32F813667CD}"/>
              </a:ext>
            </a:extLst>
          </p:cNvPr>
          <p:cNvSpPr>
            <a:spLocks xmlns:a="http://schemas.openxmlformats.org/drawingml/2006/main" noGrp="1"/>
          </p:cNvSpPr>
          <p:nvPr/>
        </p:nvSpPr>
        <p:spPr>
          <a:xfrm xmlns:a="http://schemas.openxmlformats.org/drawingml/2006/main">
            <a:off x="2619375" y="2924175"/>
            <a:ext cx="1257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617"/>
          </a:bodyPr>
          <a:lstStyle xmlns:a="http://schemas.openxmlformats.org/drawingml/2006/main"/>
          <a:p xmlns:a="http://schemas.openxmlformats.org/drawingml/2006/main">
            <a:pPr algn="l">
              <a:defRPr sz="1500" b="1">
                <a:solidFill>
                  <a:srgbClr val="084878"/>
                </a:solidFill>
                <a:latin typeface="IBM Plex Sans"/>
                <a:ea typeface="IBM Plex Sans"/>
                <a:cs typeface="IBM Plex Sans"/>
              </a:defRPr>
            </a:pPr>
            <a:r>
              <a:rPr sz="1500" b="1">
                <a:solidFill>
                  <a:srgbClr val="084878"/>
                </a:solidFill>
                <a:latin typeface="IBM Plex Sans"/>
                <a:ea typeface="IBM Plex Sans"/>
                <a:cs typeface="IBM Plex Sans"/>
              </a:rPr>
              <a:t>Residuum bewerten</a:t>
            </a:r>
          </a:p>
        </p:txBody>
      </p:sp>
      <p:sp>
        <p:nvSpPr>
          <p:cNvPr id="15" name="">
            <a:extLst xmlns:a="http://schemas.openxmlformats.org/drawingml/2006/main">
              <a:ext uri="{FF2B5EF4-FFF2-40B4-BE49-F238E27FC236}">
                <a16:creationId xmlns:a16="http://schemas.microsoft.com/office/drawing/2014/main" id="{D8509002-520A-4E5E-A057-9C6540C59DAC}"/>
              </a:ext>
            </a:extLst>
          </p:cNvPr>
          <p:cNvSpPr>
            <a:spLocks xmlns:a="http://schemas.openxmlformats.org/drawingml/2006/main" noGrp="1"/>
          </p:cNvSpPr>
          <p:nvPr/>
        </p:nvSpPr>
        <p:spPr>
          <a:xfrm xmlns:a="http://schemas.openxmlformats.org/drawingml/2006/main">
            <a:off x="2619375" y="3248025"/>
            <a:ext cx="1257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0454"/>
          </a:bodyPr>
          <a:lstStyle xmlns:a="http://schemas.openxmlformats.org/drawingml/2006/main"/>
          <a:p xmlns:a="http://schemas.openxmlformats.org/drawingml/2006/main">
            <a:pPr algn="l">
              <a:lnSpc>
                <a:spcPct val="105000"/>
              </a:lnSpc>
              <a:buNone/>
              <a:defRPr sz="1050" b="0">
                <a:solidFill>
                  <a:srgbClr val="56657A"/>
                </a:solidFill>
                <a:latin typeface="IBM Plex Sans"/>
                <a:ea typeface="IBM Plex Sans"/>
                <a:cs typeface="IBM Plex Sans"/>
              </a:defRPr>
            </a:pPr>
            <a:r>
              <a:rPr sz="1050" b="0">
                <a:solidFill>
                  <a:srgbClr val="56657A"/>
                </a:solidFill>
                <a:latin typeface="IBM Plex Sans"/>
                <a:ea typeface="IBM Plex Sans"/>
                <a:cs typeface="IBM Plex Sans"/>
              </a:rPr>
              <a:t>q99 übersetzt die Abweichung in Prüfaufwand.</a:t>
            </a:r>
          </a:p>
        </p:txBody>
      </p:sp>
      <p:sp>
        <p:nvSpPr>
          <p:cNvPr id="16" name="">
            <a:extLst xmlns:a="http://schemas.openxmlformats.org/drawingml/2006/main">
              <a:ext uri="{FF2B5EF4-FFF2-40B4-BE49-F238E27FC236}">
                <a16:creationId xmlns:a16="http://schemas.microsoft.com/office/drawing/2014/main" id="{C1D0CDB1-B7CC-445B-AAE5-0DAE6FDC4F11}"/>
              </a:ext>
            </a:extLst>
          </p:cNvPr>
          <p:cNvSpPr>
            <a:spLocks xmlns:a="http://schemas.openxmlformats.org/drawingml/2006/main" noGrp="1"/>
          </p:cNvSpPr>
          <p:nvPr/>
        </p:nvSpPr>
        <p:spPr>
          <a:xfrm xmlns:a="http://schemas.openxmlformats.org/drawingml/2006/main">
            <a:off x="4076700" y="2876550"/>
            <a:ext cx="209550" cy="190500"/>
          </a:xfrm>
          <a:prstGeom xmlns:a="http://schemas.openxmlformats.org/drawingml/2006/main" prst="rightArrow">
            <a:avLst/>
          </a:prstGeom>
          <a:solidFill xmlns:a="http://schemas.openxmlformats.org/drawingml/2006/main">
            <a:srgbClr val="0080A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C7F6BFD-8417-4606-8EC6-9C1475E1693C}"/>
              </a:ext>
            </a:extLst>
          </p:cNvPr>
          <p:cNvSpPr>
            <a:spLocks xmlns:a="http://schemas.openxmlformats.org/drawingml/2006/main" noGrp="1"/>
          </p:cNvSpPr>
          <p:nvPr/>
        </p:nvSpPr>
        <p:spPr>
          <a:xfrm xmlns:a="http://schemas.openxmlformats.org/drawingml/2006/main">
            <a:off x="4229100" y="2333625"/>
            <a:ext cx="1600200" cy="1428750"/>
          </a:xfrm>
          <a:prstGeom xmlns:a="http://schemas.openxmlformats.org/drawingml/2006/main" prst="roundRect">
            <a:avLst>
              <a:gd name="adj" fmla="val 9333"/>
            </a:avLst>
          </a:prstGeom>
          <a:solidFill xmlns:a="http://schemas.openxmlformats.org/drawingml/2006/main">
            <a:srgbClr val="FFFFFF"/>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0FAC9F05-971C-44CD-858A-8B272FA0B044}"/>
              </a:ext>
            </a:extLst>
          </p:cNvPr>
          <p:cNvSpPr>
            <a:spLocks xmlns:a="http://schemas.openxmlformats.org/drawingml/2006/main" noGrp="1"/>
          </p:cNvSpPr>
          <p:nvPr/>
        </p:nvSpPr>
        <p:spPr>
          <a:xfrm xmlns:a="http://schemas.openxmlformats.org/drawingml/2006/main">
            <a:off x="4400550" y="2495550"/>
            <a:ext cx="323850" cy="323850"/>
          </a:xfrm>
          <a:prstGeom xmlns:a="http://schemas.openxmlformats.org/drawingml/2006/main" prst="ellipse">
            <a:avLst/>
          </a:prstGeom>
          <a:solidFill xmlns:a="http://schemas.openxmlformats.org/drawingml/2006/main">
            <a:srgbClr val="A8650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C115566-52CE-4DB1-BD41-46A33842D92D}"/>
              </a:ext>
            </a:extLst>
          </p:cNvPr>
          <p:cNvSpPr>
            <a:spLocks xmlns:a="http://schemas.openxmlformats.org/drawingml/2006/main" noGrp="1"/>
          </p:cNvSpPr>
          <p:nvPr/>
        </p:nvSpPr>
        <p:spPr>
          <a:xfrm xmlns:a="http://schemas.openxmlformats.org/drawingml/2006/main">
            <a:off x="4400550" y="25336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Geist Mono"/>
                <a:ea typeface="Geist Mono"/>
                <a:cs typeface="Geist Mono"/>
              </a:defRPr>
            </a:pPr>
            <a:r>
              <a:rPr sz="1200" b="1">
                <a:solidFill>
                  <a:srgbClr val="FFFFFF"/>
                </a:solidFill>
                <a:latin typeface="Geist Mono"/>
                <a:ea typeface="Geist Mono"/>
                <a:cs typeface="Geist Mono"/>
              </a:rPr>
              <a:t>3</a:t>
            </a:r>
          </a:p>
        </p:txBody>
      </p:sp>
      <p:sp>
        <p:nvSpPr>
          <p:cNvPr id="20" name="">
            <a:extLst xmlns:a="http://schemas.openxmlformats.org/drawingml/2006/main">
              <a:ext uri="{FF2B5EF4-FFF2-40B4-BE49-F238E27FC236}">
                <a16:creationId xmlns:a16="http://schemas.microsoft.com/office/drawing/2014/main" id="{62039140-E53C-4F69-8A5C-809F7D08ADCF}"/>
              </a:ext>
            </a:extLst>
          </p:cNvPr>
          <p:cNvSpPr>
            <a:spLocks xmlns:a="http://schemas.openxmlformats.org/drawingml/2006/main" noGrp="1"/>
          </p:cNvSpPr>
          <p:nvPr/>
        </p:nvSpPr>
        <p:spPr>
          <a:xfrm xmlns:a="http://schemas.openxmlformats.org/drawingml/2006/main">
            <a:off x="4400550" y="2924175"/>
            <a:ext cx="1257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084878"/>
                </a:solidFill>
                <a:latin typeface="IBM Plex Sans"/>
                <a:ea typeface="IBM Plex Sans"/>
                <a:cs typeface="IBM Plex Sans"/>
              </a:defRPr>
            </a:pPr>
            <a:r>
              <a:rPr sz="1500" b="1">
                <a:solidFill>
                  <a:srgbClr val="084878"/>
                </a:solidFill>
                <a:latin typeface="IBM Plex Sans"/>
                <a:ea typeface="IBM Plex Sans"/>
                <a:cs typeface="IBM Plex Sans"/>
              </a:rPr>
              <a:t>Mensch prüft</a:t>
            </a:r>
          </a:p>
        </p:txBody>
      </p:sp>
      <p:sp>
        <p:nvSpPr>
          <p:cNvPr id="21" name="">
            <a:extLst xmlns:a="http://schemas.openxmlformats.org/drawingml/2006/main">
              <a:ext uri="{FF2B5EF4-FFF2-40B4-BE49-F238E27FC236}">
                <a16:creationId xmlns:a16="http://schemas.microsoft.com/office/drawing/2014/main" id="{5F604647-5AA6-45B0-B0DA-55D152A53F78}"/>
              </a:ext>
            </a:extLst>
          </p:cNvPr>
          <p:cNvSpPr>
            <a:spLocks xmlns:a="http://schemas.openxmlformats.org/drawingml/2006/main" noGrp="1"/>
          </p:cNvSpPr>
          <p:nvPr/>
        </p:nvSpPr>
        <p:spPr>
          <a:xfrm xmlns:a="http://schemas.openxmlformats.org/drawingml/2006/main">
            <a:off x="4400550" y="3248025"/>
            <a:ext cx="1257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56657A"/>
                </a:solidFill>
                <a:latin typeface="IBM Plex Sans"/>
                <a:ea typeface="IBM Plex Sans"/>
                <a:cs typeface="IBM Plex Sans"/>
              </a:defRPr>
            </a:pPr>
            <a:r>
              <a:rPr sz="1050" b="0">
                <a:solidFill>
                  <a:srgbClr val="56657A"/>
                </a:solidFill>
                <a:latin typeface="IBM Plex Sans"/>
                <a:ea typeface="IBM Plex Sans"/>
                <a:cs typeface="IBM Plex Sans"/>
              </a:rPr>
              <a:t>Ursache und Relevanz werden dokumentiert.</a:t>
            </a:r>
          </a:p>
        </p:txBody>
      </p:sp>
      <p:sp>
        <p:nvSpPr>
          <p:cNvPr id="22" name="">
            <a:extLst xmlns:a="http://schemas.openxmlformats.org/drawingml/2006/main">
              <a:ext uri="{FF2B5EF4-FFF2-40B4-BE49-F238E27FC236}">
                <a16:creationId xmlns:a16="http://schemas.microsoft.com/office/drawing/2014/main" id="{49E3FBFD-0DFB-4E68-80A9-2E4E497DAC79}"/>
              </a:ext>
            </a:extLst>
          </p:cNvPr>
          <p:cNvSpPr>
            <a:spLocks xmlns:a="http://schemas.openxmlformats.org/drawingml/2006/main" noGrp="1"/>
          </p:cNvSpPr>
          <p:nvPr/>
        </p:nvSpPr>
        <p:spPr>
          <a:xfrm xmlns:a="http://schemas.openxmlformats.org/drawingml/2006/main">
            <a:off x="5715000" y="2695575"/>
            <a:ext cx="762000" cy="533400"/>
          </a:xfrm>
          <a:prstGeom xmlns:a="http://schemas.openxmlformats.org/drawingml/2006/main" prst="rightArrow">
            <a:avLst/>
          </a:prstGeom>
          <a:solidFill xmlns:a="http://schemas.openxmlformats.org/drawingml/2006/main">
            <a:srgbClr val="A8650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ABEF7CF-2AAE-4301-A58A-E5E3CA500921}"/>
              </a:ext>
            </a:extLst>
          </p:cNvPr>
          <p:cNvSpPr>
            <a:spLocks xmlns:a="http://schemas.openxmlformats.org/drawingml/2006/main" noGrp="1"/>
          </p:cNvSpPr>
          <p:nvPr/>
        </p:nvSpPr>
        <p:spPr>
          <a:xfrm xmlns:a="http://schemas.openxmlformats.org/drawingml/2006/main">
            <a:off x="5676900" y="3352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A86505"/>
                </a:solidFill>
                <a:latin typeface="IBM Plex Sans"/>
                <a:ea typeface="IBM Plex Sans"/>
                <a:cs typeface="IBM Plex Sans"/>
              </a:defRPr>
            </a:pPr>
            <a:r>
              <a:rPr sz="975" b="1">
                <a:solidFill>
                  <a:srgbClr val="A86505"/>
                </a:solidFill>
                <a:latin typeface="IBM Plex Sans"/>
                <a:ea typeface="IBM Plex Sans"/>
                <a:cs typeface="IBM Plex Sans"/>
              </a:rPr>
              <a:t>Feedback</a:t>
            </a:r>
          </a:p>
        </p:txBody>
      </p:sp>
      <p:sp>
        <p:nvSpPr>
          <p:cNvPr id="24" name="">
            <a:extLst xmlns:a="http://schemas.openxmlformats.org/drawingml/2006/main">
              <a:ext uri="{FF2B5EF4-FFF2-40B4-BE49-F238E27FC236}">
                <a16:creationId xmlns:a16="http://schemas.microsoft.com/office/drawing/2014/main" id="{36BBF283-E819-484A-BDC5-31CC2A55B5E8}"/>
              </a:ext>
            </a:extLst>
          </p:cNvPr>
          <p:cNvSpPr>
            <a:spLocks xmlns:a="http://schemas.openxmlformats.org/drawingml/2006/main" noGrp="1"/>
          </p:cNvSpPr>
          <p:nvPr/>
        </p:nvSpPr>
        <p:spPr>
          <a:xfrm xmlns:a="http://schemas.openxmlformats.org/drawingml/2006/main">
            <a:off x="6858000" y="180975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0090C8"/>
                </a:solidFill>
                <a:latin typeface="IBM Plex Sans"/>
                <a:ea typeface="IBM Plex Sans"/>
                <a:cs typeface="IBM Plex Sans"/>
              </a:defRPr>
            </a:pPr>
            <a:r>
              <a:rPr sz="1350" b="1">
                <a:solidFill>
                  <a:srgbClr val="0090C8"/>
                </a:solidFill>
                <a:latin typeface="IBM Plex Sans"/>
                <a:ea typeface="IBM Plex Sans"/>
                <a:cs typeface="IBM Plex Sans"/>
              </a:rPr>
              <a:t>AUSBLICK · Klassifikation</a:t>
            </a:r>
          </a:p>
        </p:txBody>
      </p:sp>
      <p:sp>
        <p:nvSpPr>
          <p:cNvPr id="25" name="">
            <a:extLst xmlns:a="http://schemas.openxmlformats.org/drawingml/2006/main">
              <a:ext uri="{FF2B5EF4-FFF2-40B4-BE49-F238E27FC236}">
                <a16:creationId xmlns:a16="http://schemas.microsoft.com/office/drawing/2014/main" id="{A1576A97-2B68-4EDB-B4B6-DB804777390E}"/>
              </a:ext>
            </a:extLst>
          </p:cNvPr>
          <p:cNvSpPr>
            <a:spLocks xmlns:a="http://schemas.openxmlformats.org/drawingml/2006/main" noGrp="1"/>
          </p:cNvSpPr>
          <p:nvPr/>
        </p:nvSpPr>
        <p:spPr>
          <a:xfrm xmlns:a="http://schemas.openxmlformats.org/drawingml/2006/main">
            <a:off x="6858000" y="2333625"/>
            <a:ext cx="4476750" cy="1428750"/>
          </a:xfrm>
          <a:prstGeom xmlns:a="http://schemas.openxmlformats.org/drawingml/2006/main" prst="roundRect">
            <a:avLst>
              <a:gd name="adj" fmla="val 9333"/>
            </a:avLst>
          </a:prstGeom>
          <a:solidFill xmlns:a="http://schemas.openxmlformats.org/drawingml/2006/main">
            <a:srgbClr val="DFF4F8"/>
          </a:solidFill>
          <a:ln xmlns:a="http://schemas.openxmlformats.org/drawingml/2006/main" w="9525">
            <a:solidFill>
              <a:srgbClr val="9FD8E4"/>
            </a:solidFill>
            <a:prstDash val="solid"/>
          </a:ln>
        </p:spPr>
      </p:sp>
      <p:sp>
        <p:nvSpPr>
          <p:cNvPr id="26" name="">
            <a:extLst xmlns:a="http://schemas.openxmlformats.org/drawingml/2006/main">
              <a:ext uri="{FF2B5EF4-FFF2-40B4-BE49-F238E27FC236}">
                <a16:creationId xmlns:a16="http://schemas.microsoft.com/office/drawing/2014/main" id="{4B166F2C-FCCF-4D38-834D-807ADBE2B3FD}"/>
              </a:ext>
            </a:extLst>
          </p:cNvPr>
          <p:cNvSpPr>
            <a:spLocks xmlns:a="http://schemas.openxmlformats.org/drawingml/2006/main" noGrp="1"/>
          </p:cNvSpPr>
          <p:nvPr/>
        </p:nvSpPr>
        <p:spPr>
          <a:xfrm xmlns:a="http://schemas.openxmlformats.org/drawingml/2006/main">
            <a:off x="7143750" y="2600325"/>
            <a:ext cx="3905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084878"/>
                </a:solidFill>
                <a:latin typeface="IBM Plex Sans"/>
                <a:ea typeface="IBM Plex Sans"/>
                <a:cs typeface="IBM Plex Sans"/>
              </a:defRPr>
            </a:pPr>
            <a:r>
              <a:rPr sz="1650" b="1">
                <a:solidFill>
                  <a:srgbClr val="084878"/>
                </a:solidFill>
                <a:latin typeface="IBM Plex Sans"/>
                <a:ea typeface="IBM Plex Sans"/>
                <a:cs typeface="IBM Plex Sans"/>
              </a:rPr>
              <a:t>Bestätigtes Label → relevant / nicht relevant</a:t>
            </a:r>
          </a:p>
        </p:txBody>
      </p:sp>
      <p:sp>
        <p:nvSpPr>
          <p:cNvPr id="27" name="">
            <a:extLst xmlns:a="http://schemas.openxmlformats.org/drawingml/2006/main">
              <a:ext uri="{FF2B5EF4-FFF2-40B4-BE49-F238E27FC236}">
                <a16:creationId xmlns:a16="http://schemas.microsoft.com/office/drawing/2014/main" id="{769B56A7-94EF-4BF7-8312-558C85C38F05}"/>
              </a:ext>
            </a:extLst>
          </p:cNvPr>
          <p:cNvSpPr>
            <a:spLocks xmlns:a="http://schemas.openxmlformats.org/drawingml/2006/main" noGrp="1"/>
          </p:cNvSpPr>
          <p:nvPr/>
        </p:nvSpPr>
        <p:spPr>
          <a:xfrm xmlns:a="http://schemas.openxmlformats.org/drawingml/2006/main">
            <a:off x="7191375" y="3105150"/>
            <a:ext cx="381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296"/>
          </a:bodyPr>
          <a:lstStyle xmlns:a="http://schemas.openxmlformats.org/drawingml/2006/main"/>
          <a:p xmlns:a="http://schemas.openxmlformats.org/drawingml/2006/main">
            <a:pPr algn="ctr">
              <a:defRPr sz="1125" b="0">
                <a:solidFill>
                  <a:srgbClr val="56657A"/>
                </a:solidFill>
                <a:latin typeface="IBM Plex Sans"/>
                <a:ea typeface="IBM Plex Sans"/>
                <a:cs typeface="IBM Plex Sans"/>
              </a:defRPr>
            </a:pPr>
            <a:r>
              <a:rPr sz="1125" b="0">
                <a:solidFill>
                  <a:srgbClr val="56657A"/>
                </a:solidFill>
                <a:latin typeface="IBM Plex Sans"/>
                <a:ea typeface="IBM Plex Sans"/>
                <a:cs typeface="IBM Plex Sans"/>
              </a:rPr>
              <a:t>Ein zweites überwacht gelerntes Klassifikationsmodell kann später die Priorisierung verbessern. Das ist kein weiteres Regressionstuning.</a:t>
            </a:r>
          </a:p>
        </p:txBody>
      </p:sp>
      <p:sp>
        <p:nvSpPr>
          <p:cNvPr id="28" name="">
            <a:extLst xmlns:a="http://schemas.openxmlformats.org/drawingml/2006/main">
              <a:ext uri="{FF2B5EF4-FFF2-40B4-BE49-F238E27FC236}">
                <a16:creationId xmlns:a16="http://schemas.microsoft.com/office/drawing/2014/main" id="{00D1122D-EA77-47CC-AB0E-1A0D4F69F783}"/>
              </a:ext>
            </a:extLst>
          </p:cNvPr>
          <p:cNvSpPr>
            <a:spLocks xmlns:a="http://schemas.openxmlformats.org/drawingml/2006/main" noGrp="1"/>
          </p:cNvSpPr>
          <p:nvPr/>
        </p:nvSpPr>
        <p:spPr>
          <a:xfrm xmlns:a="http://schemas.openxmlformats.org/drawingml/2006/main">
            <a:off x="1123950" y="4476750"/>
            <a:ext cx="3143250" cy="1066800"/>
          </a:xfrm>
          <a:prstGeom xmlns:a="http://schemas.openxmlformats.org/drawingml/2006/main" prst="roundRect">
            <a:avLst>
              <a:gd name="adj" fmla="val 12500"/>
            </a:avLst>
          </a:prstGeom>
          <a:solidFill xmlns:a="http://schemas.openxmlformats.org/drawingml/2006/main">
            <a:srgbClr val="E8F4E9"/>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9" name="">
            <a:extLst xmlns:a="http://schemas.openxmlformats.org/drawingml/2006/main">
              <a:ext uri="{FF2B5EF4-FFF2-40B4-BE49-F238E27FC236}">
                <a16:creationId xmlns:a16="http://schemas.microsoft.com/office/drawing/2014/main" id="{3B76242D-E1AF-4D31-8252-1632C6B36B88}"/>
              </a:ext>
            </a:extLst>
          </p:cNvPr>
          <p:cNvSpPr>
            <a:spLocks xmlns:a="http://schemas.openxmlformats.org/drawingml/2006/main" noGrp="1"/>
          </p:cNvSpPr>
          <p:nvPr/>
        </p:nvSpPr>
        <p:spPr>
          <a:xfrm xmlns:a="http://schemas.openxmlformats.org/drawingml/2006/main">
            <a:off x="1123950" y="4476750"/>
            <a:ext cx="57150" cy="1066800"/>
          </a:xfrm>
          <a:prstGeom xmlns:a="http://schemas.openxmlformats.org/drawingml/2006/main" prst="rect">
            <a:avLst/>
          </a:prstGeom>
          <a:solidFill xmlns:a="http://schemas.openxmlformats.org/drawingml/2006/main">
            <a:srgbClr val="397A42"/>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96B60C20-9F48-4090-86A4-B83EACD407FD}"/>
              </a:ext>
            </a:extLst>
          </p:cNvPr>
          <p:cNvSpPr>
            <a:spLocks xmlns:a="http://schemas.openxmlformats.org/drawingml/2006/main" noGrp="1"/>
          </p:cNvSpPr>
          <p:nvPr/>
        </p:nvSpPr>
        <p:spPr>
          <a:xfrm xmlns:a="http://schemas.openxmlformats.org/drawingml/2006/main">
            <a:off x="1314450" y="4619625"/>
            <a:ext cx="2781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397A42"/>
                </a:solidFill>
                <a:latin typeface="IBM Plex Sans"/>
                <a:ea typeface="IBM Plex Sans"/>
                <a:cs typeface="IBM Plex Sans"/>
              </a:defRPr>
            </a:pPr>
            <a:r>
              <a:rPr sz="825" b="1">
                <a:solidFill>
                  <a:srgbClr val="397A42"/>
                </a:solidFill>
                <a:latin typeface="IBM Plex Sans"/>
                <a:ea typeface="IBM Plex Sans"/>
                <a:cs typeface="IBM Plex Sans"/>
              </a:rPr>
              <a:t>BELASTBAR</a:t>
            </a:r>
          </a:p>
        </p:txBody>
      </p:sp>
      <p:sp>
        <p:nvSpPr>
          <p:cNvPr id="31" name="">
            <a:extLst xmlns:a="http://schemas.openxmlformats.org/drawingml/2006/main">
              <a:ext uri="{FF2B5EF4-FFF2-40B4-BE49-F238E27FC236}">
                <a16:creationId xmlns:a16="http://schemas.microsoft.com/office/drawing/2014/main" id="{3BC5E0FA-EF88-4DF6-BA84-1F44FDFA6D24}"/>
              </a:ext>
            </a:extLst>
          </p:cNvPr>
          <p:cNvSpPr>
            <a:spLocks xmlns:a="http://schemas.openxmlformats.org/drawingml/2006/main" noGrp="1"/>
          </p:cNvSpPr>
          <p:nvPr/>
        </p:nvSpPr>
        <p:spPr>
          <a:xfrm xmlns:a="http://schemas.openxmlformats.org/drawingml/2006/main">
            <a:off x="1314450" y="4876800"/>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084878"/>
                </a:solidFill>
                <a:latin typeface="Geist Mono"/>
                <a:ea typeface="Geist Mono"/>
                <a:cs typeface="Geist Mono"/>
              </a:defRPr>
            </a:pPr>
            <a:r>
              <a:rPr sz="2325" b="1">
                <a:solidFill>
                  <a:srgbClr val="084878"/>
                </a:solidFill>
                <a:latin typeface="Geist Mono"/>
                <a:ea typeface="Geist Mono"/>
                <a:cs typeface="Geist Mono"/>
              </a:rPr>
              <a:t>15,9 %</a:t>
            </a:r>
          </a:p>
        </p:txBody>
      </p:sp>
      <p:sp>
        <p:nvSpPr>
          <p:cNvPr id="32" name="">
            <a:extLst xmlns:a="http://schemas.openxmlformats.org/drawingml/2006/main">
              <a:ext uri="{FF2B5EF4-FFF2-40B4-BE49-F238E27FC236}">
                <a16:creationId xmlns:a16="http://schemas.microsoft.com/office/drawing/2014/main" id="{37FB8ECF-786A-4AB6-94BB-0C4E9DA6FF72}"/>
              </a:ext>
            </a:extLst>
          </p:cNvPr>
          <p:cNvSpPr>
            <a:spLocks xmlns:a="http://schemas.openxmlformats.org/drawingml/2006/main" noGrp="1"/>
          </p:cNvSpPr>
          <p:nvPr/>
        </p:nvSpPr>
        <p:spPr>
          <a:xfrm xmlns:a="http://schemas.openxmlformats.org/drawingml/2006/main">
            <a:off x="1314450" y="5314950"/>
            <a:ext cx="278130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51440"/>
          </a:bodyPr>
          <a:lstStyle xmlns:a="http://schemas.openxmlformats.org/drawingml/2006/main"/>
          <a:p xmlns:a="http://schemas.openxmlformats.org/drawingml/2006/main">
            <a:pPr algn="l">
              <a:lnSpc>
                <a:spcPct val="108000"/>
              </a:lnSpc>
              <a:buNone/>
              <a:defRPr sz="1125" b="0">
                <a:solidFill>
                  <a:srgbClr val="56657A"/>
                </a:solidFill>
                <a:latin typeface="IBM Plex Sans"/>
                <a:ea typeface="IBM Plex Sans"/>
                <a:cs typeface="IBM Plex Sans"/>
              </a:defRPr>
            </a:pPr>
            <a:r>
              <a:rPr sz="1125" b="0">
                <a:solidFill>
                  <a:srgbClr val="56657A"/>
                </a:solidFill>
                <a:latin typeface="IBM Plex Sans"/>
                <a:ea typeface="IBM Plex Sans"/>
                <a:cs typeface="IBM Plex Sans"/>
              </a:rPr>
              <a:t>weniger RMSE als beste einfache Baseline</a:t>
            </a:r>
          </a:p>
        </p:txBody>
      </p:sp>
      <p:sp>
        <p:nvSpPr>
          <p:cNvPr id="33" name="">
            <a:extLst xmlns:a="http://schemas.openxmlformats.org/drawingml/2006/main">
              <a:ext uri="{FF2B5EF4-FFF2-40B4-BE49-F238E27FC236}">
                <a16:creationId xmlns:a16="http://schemas.microsoft.com/office/drawing/2014/main" id="{B06B7DC4-4747-4B7A-B30A-763F42A9CF3F}"/>
              </a:ext>
            </a:extLst>
          </p:cNvPr>
          <p:cNvSpPr>
            <a:spLocks xmlns:a="http://schemas.openxmlformats.org/drawingml/2006/main" noGrp="1"/>
          </p:cNvSpPr>
          <p:nvPr/>
        </p:nvSpPr>
        <p:spPr>
          <a:xfrm xmlns:a="http://schemas.openxmlformats.org/drawingml/2006/main">
            <a:off x="4524375" y="4476750"/>
            <a:ext cx="3143250" cy="10668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4" name="">
            <a:extLst xmlns:a="http://schemas.openxmlformats.org/drawingml/2006/main">
              <a:ext uri="{FF2B5EF4-FFF2-40B4-BE49-F238E27FC236}">
                <a16:creationId xmlns:a16="http://schemas.microsoft.com/office/drawing/2014/main" id="{1739D1DA-05E2-4E6D-93A5-1301C7ACB2AC}"/>
              </a:ext>
            </a:extLst>
          </p:cNvPr>
          <p:cNvSpPr>
            <a:spLocks xmlns:a="http://schemas.openxmlformats.org/drawingml/2006/main" noGrp="1"/>
          </p:cNvSpPr>
          <p:nvPr/>
        </p:nvSpPr>
        <p:spPr>
          <a:xfrm xmlns:a="http://schemas.openxmlformats.org/drawingml/2006/main">
            <a:off x="4524375" y="4476750"/>
            <a:ext cx="57150" cy="10668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B6F1F14C-636B-40B7-98D2-9F36A548546A}"/>
              </a:ext>
            </a:extLst>
          </p:cNvPr>
          <p:cNvSpPr>
            <a:spLocks xmlns:a="http://schemas.openxmlformats.org/drawingml/2006/main" noGrp="1"/>
          </p:cNvSpPr>
          <p:nvPr/>
        </p:nvSpPr>
        <p:spPr>
          <a:xfrm xmlns:a="http://schemas.openxmlformats.org/drawingml/2006/main">
            <a:off x="4714875" y="4619625"/>
            <a:ext cx="2781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80A0"/>
                </a:solidFill>
                <a:latin typeface="IBM Plex Sans"/>
                <a:ea typeface="IBM Plex Sans"/>
                <a:cs typeface="IBM Plex Sans"/>
              </a:defRPr>
            </a:pPr>
            <a:r>
              <a:rPr sz="825" b="1">
                <a:solidFill>
                  <a:srgbClr val="0080A0"/>
                </a:solidFill>
                <a:latin typeface="IBM Plex Sans"/>
                <a:ea typeface="IBM Plex Sans"/>
                <a:cs typeface="IBM Plex Sans"/>
              </a:rPr>
              <a:t>BETRIEBLICH</a:t>
            </a:r>
          </a:p>
        </p:txBody>
      </p:sp>
      <p:sp>
        <p:nvSpPr>
          <p:cNvPr id="36" name="">
            <a:extLst xmlns:a="http://schemas.openxmlformats.org/drawingml/2006/main">
              <a:ext uri="{FF2B5EF4-FFF2-40B4-BE49-F238E27FC236}">
                <a16:creationId xmlns:a16="http://schemas.microsoft.com/office/drawing/2014/main" id="{A474E3A0-D499-46BF-9448-938C7D6769DE}"/>
              </a:ext>
            </a:extLst>
          </p:cNvPr>
          <p:cNvSpPr>
            <a:spLocks xmlns:a="http://schemas.openxmlformats.org/drawingml/2006/main" noGrp="1"/>
          </p:cNvSpPr>
          <p:nvPr/>
        </p:nvSpPr>
        <p:spPr>
          <a:xfrm xmlns:a="http://schemas.openxmlformats.org/drawingml/2006/main">
            <a:off x="4714875" y="4876800"/>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084878"/>
                </a:solidFill>
                <a:latin typeface="Geist Mono"/>
                <a:ea typeface="Geist Mono"/>
                <a:cs typeface="Geist Mono"/>
              </a:defRPr>
            </a:pPr>
            <a:r>
              <a:rPr sz="2325" b="1">
                <a:solidFill>
                  <a:srgbClr val="084878"/>
                </a:solidFill>
                <a:latin typeface="Geist Mono"/>
                <a:ea typeface="Geist Mono"/>
                <a:cs typeface="Geist Mono"/>
              </a:rPr>
              <a:t>9,5 / Monat</a:t>
            </a:r>
          </a:p>
        </p:txBody>
      </p:sp>
      <p:sp>
        <p:nvSpPr>
          <p:cNvPr id="37" name="">
            <a:extLst xmlns:a="http://schemas.openxmlformats.org/drawingml/2006/main">
              <a:ext uri="{FF2B5EF4-FFF2-40B4-BE49-F238E27FC236}">
                <a16:creationId xmlns:a16="http://schemas.microsoft.com/office/drawing/2014/main" id="{2D3A5A5A-FF36-4EFF-83CE-E33ECEE65E44}"/>
              </a:ext>
            </a:extLst>
          </p:cNvPr>
          <p:cNvSpPr>
            <a:spLocks xmlns:a="http://schemas.openxmlformats.org/drawingml/2006/main" noGrp="1"/>
          </p:cNvSpPr>
          <p:nvPr/>
        </p:nvSpPr>
        <p:spPr>
          <a:xfrm xmlns:a="http://schemas.openxmlformats.org/drawingml/2006/main">
            <a:off x="4714875" y="5314950"/>
            <a:ext cx="278130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51440"/>
          </a:bodyPr>
          <a:lstStyle xmlns:a="http://schemas.openxmlformats.org/drawingml/2006/main"/>
          <a:p xmlns:a="http://schemas.openxmlformats.org/drawingml/2006/main">
            <a:pPr algn="l">
              <a:lnSpc>
                <a:spcPct val="108000"/>
              </a:lnSpc>
              <a:buNone/>
              <a:defRPr sz="1125" b="0">
                <a:solidFill>
                  <a:srgbClr val="56657A"/>
                </a:solidFill>
                <a:latin typeface="IBM Plex Sans"/>
                <a:ea typeface="IBM Plex Sans"/>
                <a:cs typeface="IBM Plex Sans"/>
              </a:defRPr>
            </a:pPr>
            <a:r>
              <a:rPr sz="1125" b="0">
                <a:solidFill>
                  <a:srgbClr val="56657A"/>
                </a:solidFill>
                <a:latin typeface="IBM Plex Sans"/>
                <a:ea typeface="IBM Plex Sans"/>
                <a:cs typeface="IBM Plex Sans"/>
              </a:rPr>
              <a:t>q99-Pilotvolumen statt automatische Diagnose</a:t>
            </a:r>
          </a:p>
        </p:txBody>
      </p:sp>
      <p:sp>
        <p:nvSpPr>
          <p:cNvPr id="38" name="">
            <a:extLst xmlns:a="http://schemas.openxmlformats.org/drawingml/2006/main">
              <a:ext uri="{FF2B5EF4-FFF2-40B4-BE49-F238E27FC236}">
                <a16:creationId xmlns:a16="http://schemas.microsoft.com/office/drawing/2014/main" id="{D79A087E-05C7-41F9-85C3-44A731EEADA6}"/>
              </a:ext>
            </a:extLst>
          </p:cNvPr>
          <p:cNvSpPr>
            <a:spLocks xmlns:a="http://schemas.openxmlformats.org/drawingml/2006/main" noGrp="1"/>
          </p:cNvSpPr>
          <p:nvPr/>
        </p:nvSpPr>
        <p:spPr>
          <a:xfrm xmlns:a="http://schemas.openxmlformats.org/drawingml/2006/main">
            <a:off x="7924800" y="4476750"/>
            <a:ext cx="3143250" cy="1066800"/>
          </a:xfrm>
          <a:prstGeom xmlns:a="http://schemas.openxmlformats.org/drawingml/2006/main" prst="roundRect">
            <a:avLst>
              <a:gd name="adj" fmla="val 12500"/>
            </a:avLst>
          </a:prstGeom>
          <a:solidFill xmlns:a="http://schemas.openxmlformats.org/drawingml/2006/main">
            <a:srgbClr val="FFF2D8"/>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9" name="">
            <a:extLst xmlns:a="http://schemas.openxmlformats.org/drawingml/2006/main">
              <a:ext uri="{FF2B5EF4-FFF2-40B4-BE49-F238E27FC236}">
                <a16:creationId xmlns:a16="http://schemas.microsoft.com/office/drawing/2014/main" id="{E775DBF9-89F8-4F9C-B7C5-6B68DD0BF5D0}"/>
              </a:ext>
            </a:extLst>
          </p:cNvPr>
          <p:cNvSpPr>
            <a:spLocks xmlns:a="http://schemas.openxmlformats.org/drawingml/2006/main" noGrp="1"/>
          </p:cNvSpPr>
          <p:nvPr/>
        </p:nvSpPr>
        <p:spPr>
          <a:xfrm xmlns:a="http://schemas.openxmlformats.org/drawingml/2006/main">
            <a:off x="7924800" y="4476750"/>
            <a:ext cx="57150" cy="1066800"/>
          </a:xfrm>
          <a:prstGeom xmlns:a="http://schemas.openxmlformats.org/drawingml/2006/main" prst="rect">
            <a:avLst/>
          </a:prstGeom>
          <a:solidFill xmlns:a="http://schemas.openxmlformats.org/drawingml/2006/main">
            <a:srgbClr val="A86505"/>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58A94867-A061-4E0A-811E-6CFC67EFCEF8}"/>
              </a:ext>
            </a:extLst>
          </p:cNvPr>
          <p:cNvSpPr>
            <a:spLocks xmlns:a="http://schemas.openxmlformats.org/drawingml/2006/main" noGrp="1"/>
          </p:cNvSpPr>
          <p:nvPr/>
        </p:nvSpPr>
        <p:spPr>
          <a:xfrm xmlns:a="http://schemas.openxmlformats.org/drawingml/2006/main">
            <a:off x="8115300" y="4619625"/>
            <a:ext cx="2781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A86505"/>
                </a:solidFill>
                <a:latin typeface="IBM Plex Sans"/>
                <a:ea typeface="IBM Plex Sans"/>
                <a:cs typeface="IBM Plex Sans"/>
              </a:defRPr>
            </a:pPr>
            <a:r>
              <a:rPr sz="825" b="1">
                <a:solidFill>
                  <a:srgbClr val="A86505"/>
                </a:solidFill>
                <a:latin typeface="IBM Plex Sans"/>
                <a:ea typeface="IBM Plex Sans"/>
                <a:cs typeface="IBM Plex Sans"/>
              </a:rPr>
              <a:t>OFFEN</a:t>
            </a:r>
          </a:p>
        </p:txBody>
      </p:sp>
      <p:sp>
        <p:nvSpPr>
          <p:cNvPr id="41" name="">
            <a:extLst xmlns:a="http://schemas.openxmlformats.org/drawingml/2006/main">
              <a:ext uri="{FF2B5EF4-FFF2-40B4-BE49-F238E27FC236}">
                <a16:creationId xmlns:a16="http://schemas.microsoft.com/office/drawing/2014/main" id="{37488D1C-7DD1-450A-8929-19B0370780BF}"/>
              </a:ext>
            </a:extLst>
          </p:cNvPr>
          <p:cNvSpPr>
            <a:spLocks xmlns:a="http://schemas.openxmlformats.org/drawingml/2006/main" noGrp="1"/>
          </p:cNvSpPr>
          <p:nvPr/>
        </p:nvSpPr>
        <p:spPr>
          <a:xfrm xmlns:a="http://schemas.openxmlformats.org/drawingml/2006/main">
            <a:off x="8115300" y="4876800"/>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084878"/>
                </a:solidFill>
                <a:latin typeface="IBM Plex Sans"/>
                <a:ea typeface="IBM Plex Sans"/>
                <a:cs typeface="IBM Plex Sans"/>
              </a:defRPr>
            </a:pPr>
            <a:r>
              <a:rPr sz="1800" b="1">
                <a:solidFill>
                  <a:srgbClr val="084878"/>
                </a:solidFill>
                <a:latin typeface="IBM Plex Sans"/>
                <a:ea typeface="IBM Plex Sans"/>
                <a:cs typeface="IBM Plex Sans"/>
              </a:rPr>
              <a:t>Labels fehlen</a:t>
            </a:r>
          </a:p>
        </p:txBody>
      </p:sp>
      <p:sp>
        <p:nvSpPr>
          <p:cNvPr id="42" name="">
            <a:extLst xmlns:a="http://schemas.openxmlformats.org/drawingml/2006/main">
              <a:ext uri="{FF2B5EF4-FFF2-40B4-BE49-F238E27FC236}">
                <a16:creationId xmlns:a16="http://schemas.microsoft.com/office/drawing/2014/main" id="{3070285D-F1DC-4883-98E8-F2D9365A7557}"/>
              </a:ext>
            </a:extLst>
          </p:cNvPr>
          <p:cNvSpPr>
            <a:spLocks xmlns:a="http://schemas.openxmlformats.org/drawingml/2006/main" noGrp="1"/>
          </p:cNvSpPr>
          <p:nvPr/>
        </p:nvSpPr>
        <p:spPr>
          <a:xfrm xmlns:a="http://schemas.openxmlformats.org/drawingml/2006/main">
            <a:off x="8115300" y="5314950"/>
            <a:ext cx="278130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51440"/>
          </a:bodyPr>
          <a:lstStyle xmlns:a="http://schemas.openxmlformats.org/drawingml/2006/main"/>
          <a:p xmlns:a="http://schemas.openxmlformats.org/drawingml/2006/main">
            <a:pPr algn="l">
              <a:lnSpc>
                <a:spcPct val="108000"/>
              </a:lnSpc>
              <a:buNone/>
              <a:defRPr sz="1125" b="0">
                <a:solidFill>
                  <a:srgbClr val="56657A"/>
                </a:solidFill>
                <a:latin typeface="IBM Plex Sans"/>
                <a:ea typeface="IBM Plex Sans"/>
                <a:cs typeface="IBM Plex Sans"/>
              </a:defRPr>
            </a:pPr>
            <a:r>
              <a:rPr sz="1125" b="0">
                <a:solidFill>
                  <a:srgbClr val="56657A"/>
                </a:solidFill>
                <a:latin typeface="IBM Plex Sans"/>
                <a:ea typeface="IBM Plex Sans"/>
                <a:cs typeface="IBM Plex Sans"/>
              </a:rPr>
              <a:t>erst dann sind Precision und Recall belastbar</a:t>
            </a:r>
          </a:p>
        </p:txBody>
      </p:sp>
      <p:sp>
        <p:nvSpPr>
          <p:cNvPr id="43" name="">
            <a:extLst xmlns:a="http://schemas.openxmlformats.org/drawingml/2006/main">
              <a:ext uri="{FF2B5EF4-FFF2-40B4-BE49-F238E27FC236}">
                <a16:creationId xmlns:a16="http://schemas.microsoft.com/office/drawing/2014/main" id="{B029B86E-2401-40C1-B1B1-58C9AB13297E}"/>
              </a:ext>
            </a:extLst>
          </p:cNvPr>
          <p:cNvSpPr>
            <a:spLocks xmlns:a="http://schemas.openxmlformats.org/drawingml/2006/main" noGrp="1"/>
          </p:cNvSpPr>
          <p:nvPr/>
        </p:nvSpPr>
        <p:spPr>
          <a:xfrm xmlns:a="http://schemas.openxmlformats.org/drawingml/2006/main">
            <a:off x="533400" y="6229350"/>
            <a:ext cx="11106150" cy="0"/>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44" name="">
            <a:extLst xmlns:a="http://schemas.openxmlformats.org/drawingml/2006/main">
              <a:ext uri="{FF2B5EF4-FFF2-40B4-BE49-F238E27FC236}">
                <a16:creationId xmlns:a16="http://schemas.microsoft.com/office/drawing/2014/main" id="{A1C4D8C8-71AB-4E1D-A42A-5109F5CC7C57}"/>
              </a:ext>
            </a:extLst>
          </p:cNvPr>
          <p:cNvSpPr>
            <a:spLocks xmlns:a="http://schemas.openxmlformats.org/drawingml/2006/main" noGrp="1"/>
          </p:cNvSpPr>
          <p:nvPr/>
        </p:nvSpPr>
        <p:spPr>
          <a:xfrm xmlns:a="http://schemas.openxmlformats.org/drawingml/2006/main">
            <a:off x="533400" y="6229350"/>
            <a:ext cx="895350" cy="0"/>
          </a:xfrm>
          <a:prstGeom xmlns:a="http://schemas.openxmlformats.org/drawingml/2006/main" prst="line">
            <a:avLst/>
          </a:prstGeom>
          <a:noFill xmlns:a="http://schemas.openxmlformats.org/drawingml/2006/main"/>
          <a:ln xmlns:a="http://schemas.openxmlformats.org/drawingml/2006/main" w="38100">
            <a:solidFill>
              <a:srgbClr val="084878"/>
            </a:solidFill>
            <a:prstDash val="solid"/>
          </a:ln>
        </p:spPr>
      </p:sp>
      <p:sp>
        <p:nvSpPr>
          <p:cNvPr id="45" name="">
            <a:extLst xmlns:a="http://schemas.openxmlformats.org/drawingml/2006/main">
              <a:ext uri="{FF2B5EF4-FFF2-40B4-BE49-F238E27FC236}">
                <a16:creationId xmlns:a16="http://schemas.microsoft.com/office/drawing/2014/main" id="{A436813A-3B80-450D-BEC8-2845B8832C2B}"/>
              </a:ext>
            </a:extLst>
          </p:cNvPr>
          <p:cNvSpPr>
            <a:spLocks xmlns:a="http://schemas.openxmlformats.org/drawingml/2006/main" noGrp="1"/>
          </p:cNvSpPr>
          <p:nvPr/>
        </p:nvSpPr>
        <p:spPr>
          <a:xfrm xmlns:a="http://schemas.openxmlformats.org/drawingml/2006/main">
            <a:off x="533400" y="635317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13" b="0">
                <a:solidFill>
                  <a:srgbClr val="56657A"/>
                </a:solidFill>
                <a:latin typeface="IBM Plex Sans"/>
                <a:ea typeface="IBM Plex Sans"/>
                <a:cs typeface="IBM Plex Sans"/>
              </a:defRPr>
            </a:pPr>
            <a:r>
              <a:rPr sz="713" b="0">
                <a:solidFill>
                  <a:srgbClr val="56657A"/>
                </a:solidFill>
                <a:latin typeface="IBM Plex Sans"/>
                <a:ea typeface="IBM Plex Sans"/>
                <a:cs typeface="IBM Plex Sans"/>
              </a:rPr>
              <a:t>Quelle: notebooks/13_modellierung_von_grund_auf_verstehen.ipynb</a:t>
            </a:r>
          </a:p>
        </p:txBody>
      </p:sp>
      <p:sp>
        <p:nvSpPr>
          <p:cNvPr id="46" name="">
            <a:extLst xmlns:a="http://schemas.openxmlformats.org/drawingml/2006/main">
              <a:ext uri="{FF2B5EF4-FFF2-40B4-BE49-F238E27FC236}">
                <a16:creationId xmlns:a16="http://schemas.microsoft.com/office/drawing/2014/main" id="{FE20BF5F-104A-43A1-A980-5ED3CC3C1A1D}"/>
              </a:ext>
            </a:extLst>
          </p:cNvPr>
          <p:cNvSpPr>
            <a:spLocks xmlns:a="http://schemas.openxmlformats.org/drawingml/2006/main" noGrp="1"/>
          </p:cNvSpPr>
          <p:nvPr/>
        </p:nvSpPr>
        <p:spPr>
          <a:xfrm xmlns:a="http://schemas.openxmlformats.org/drawingml/2006/main">
            <a:off x="10477500" y="63817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56657A"/>
                </a:solidFill>
                <a:latin typeface="Geist Mono"/>
                <a:ea typeface="Geist Mono"/>
                <a:cs typeface="Geist Mono"/>
              </a:defRPr>
            </a:pPr>
            <a:r>
              <a:rPr sz="825" b="0">
                <a:solidFill>
                  <a:srgbClr val="56657A"/>
                </a:solidFill>
                <a:latin typeface="Geist Mono"/>
                <a:ea typeface="Geist Mono"/>
                <a:cs typeface="Geist Mono"/>
              </a:rPr>
              <a:t>13</a:t>
            </a:r>
          </a:p>
        </p:txBody>
      </p:sp>
      <p:pic>
        <p:nvPicPr>
          <p:cNvPr id="94" name=""/>
          <p:cNvPicPr>
            <a:picLocks xmlns:a="http://schemas.openxmlformats.org/drawingml/2006/main" noChangeAspect="1"/>
          </p:cNvPicPr>
          <p:nvPr/>
        </p:nvPicPr>
        <p:blipFill>
          <a:blip xmlns:r="http://schemas.openxmlformats.org/officeDocument/2006/relationships" xmlns:a="http://schemas.openxmlformats.org/drawingml/2006/main" r:embed="R042baa2a8f0f4405"/>
          <a:stretch xmlns:a="http://schemas.openxmlformats.org/drawingml/2006/main"/>
        </p:blipFill>
        <p:spPr>
          <a:xfrm xmlns:a="http://schemas.openxmlformats.org/drawingml/2006/main">
            <a:off x="11058812" y="6296025"/>
            <a:ext cx="513776" cy="438150"/>
          </a:xfrm>
          <a:prstGeom xmlns:a="http://schemas.openxmlformats.org/drawingml/2006/main" prst="rect">
            <a:avLst/>
          </a:prstGeom>
        </p:spPr>
      </p:pic>
    </p:spTree>
    <p:extLst>
      <p:ext uri="{BB962C8B-B14F-4D97-AF65-F5344CB8AC3E}">
        <p14:creationId xmlns:p14="http://schemas.microsoft.com/office/powerpoint/2010/main" val="66575335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0B6C0DD-49F5-4DE5-9954-F6882E0A9D66}"/>
              </a:ext>
            </a:extLst>
          </p:cNvPr>
          <p:cNvSpPr>
            <a:spLocks xmlns:a="http://schemas.openxmlformats.org/drawingml/2006/main" noGrp="1"/>
          </p:cNvSpPr>
          <p:nvPr/>
        </p:nvSpPr>
        <p:spPr>
          <a:xfrm xmlns:a="http://schemas.openxmlformats.org/drawingml/2006/main">
            <a:off x="533400" y="3048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80A0"/>
                </a:solidFill>
                <a:latin typeface="IBM Plex Sans"/>
                <a:ea typeface="IBM Plex Sans"/>
                <a:cs typeface="IBM Plex Sans"/>
              </a:defRPr>
            </a:pPr>
            <a:r>
              <a:rPr sz="825" b="1">
                <a:solidFill>
                  <a:srgbClr val="0080A0"/>
                </a:solidFill>
                <a:latin typeface="IBM Plex Sans"/>
                <a:ea typeface="IBM Plex Sans"/>
                <a:cs typeface="IBM Plex Sans"/>
              </a:rPr>
              <a:t>SWW / ENERGIEANALYSE · BACKUP  ·  ANHANG A</a:t>
            </a:r>
          </a:p>
        </p:txBody>
      </p:sp>
      <p:sp>
        <p:nvSpPr>
          <p:cNvPr id="2" name="">
            <a:extLst xmlns:a="http://schemas.openxmlformats.org/drawingml/2006/main">
              <a:ext uri="{FF2B5EF4-FFF2-40B4-BE49-F238E27FC236}">
                <a16:creationId xmlns:a16="http://schemas.microsoft.com/office/drawing/2014/main" id="{F0040B0A-0297-4472-8D75-26305441C331}"/>
              </a:ext>
            </a:extLst>
          </p:cNvPr>
          <p:cNvSpPr>
            <a:spLocks xmlns:a="http://schemas.openxmlformats.org/drawingml/2006/main" noGrp="1"/>
          </p:cNvSpPr>
          <p:nvPr/>
        </p:nvSpPr>
        <p:spPr>
          <a:xfrm xmlns:a="http://schemas.openxmlformats.org/drawingml/2006/main">
            <a:off x="533400" y="638175"/>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0D2742"/>
                </a:solidFill>
                <a:latin typeface="IBM Plex Sans"/>
                <a:ea typeface="IBM Plex Sans"/>
                <a:cs typeface="IBM Plex Sans"/>
              </a:defRPr>
            </a:pPr>
            <a:r>
              <a:rPr sz="2550" b="1">
                <a:solidFill>
                  <a:srgbClr val="0D2742"/>
                </a:solidFill>
                <a:latin typeface="IBM Plex Sans"/>
                <a:ea typeface="IBM Plex Sans"/>
                <a:cs typeface="IBM Plex Sans"/>
              </a:rPr>
              <a:t>Warum RMSE Hauptmetrik und MAE Ergänzung sind</a:t>
            </a:r>
          </a:p>
        </p:txBody>
      </p:sp>
      <p:sp>
        <p:nvSpPr>
          <p:cNvPr id="3" name="">
            <a:extLst xmlns:a="http://schemas.openxmlformats.org/drawingml/2006/main">
              <a:ext uri="{FF2B5EF4-FFF2-40B4-BE49-F238E27FC236}">
                <a16:creationId xmlns:a16="http://schemas.microsoft.com/office/drawing/2014/main" id="{2A29F9EC-C50E-4767-B7AA-2ED670B70D36}"/>
              </a:ext>
            </a:extLst>
          </p:cNvPr>
          <p:cNvSpPr>
            <a:spLocks xmlns:a="http://schemas.openxmlformats.org/drawingml/2006/main" noGrp="1"/>
          </p:cNvSpPr>
          <p:nvPr/>
        </p:nvSpPr>
        <p:spPr>
          <a:xfrm xmlns:a="http://schemas.openxmlformats.org/drawingml/2006/main">
            <a:off x="533400" y="12668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6657A"/>
                </a:solidFill>
                <a:latin typeface="IBM Plex Sans"/>
                <a:ea typeface="IBM Plex Sans"/>
                <a:cs typeface="IBM Plex Sans"/>
              </a:defRPr>
            </a:pPr>
            <a:r>
              <a:rPr sz="1200" b="0">
                <a:solidFill>
                  <a:srgbClr val="56657A"/>
                </a:solidFill>
                <a:latin typeface="IBM Plex Sans"/>
                <a:ea typeface="IBM Plex Sans"/>
                <a:cs typeface="IBM Plex Sans"/>
              </a:rPr>
              <a:t>Ein didaktisches Beispiel – kein Ergebnis des Projektmodells.</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ce9d9e5cabc47e1"/>
          <a:stretch xmlns:a="http://schemas.openxmlformats.org/drawingml/2006/main"/>
        </p:blipFill>
        <p:spPr>
          <a:xfrm xmlns:a="http://schemas.openxmlformats.org/drawingml/2006/main">
            <a:off x="523875" y="1832527"/>
            <a:ext cx="7239000" cy="3383446"/>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33EA1D6-8DF8-44A8-8B0A-720468DCD59A}"/>
              </a:ext>
            </a:extLst>
          </p:cNvPr>
          <p:cNvSpPr>
            <a:spLocks xmlns:a="http://schemas.openxmlformats.org/drawingml/2006/main" noGrp="1"/>
          </p:cNvSpPr>
          <p:nvPr/>
        </p:nvSpPr>
        <p:spPr>
          <a:xfrm xmlns:a="http://schemas.openxmlformats.org/drawingml/2006/main">
            <a:off x="8143875" y="1857375"/>
            <a:ext cx="3286125" cy="1476375"/>
          </a:xfrm>
          <a:prstGeom xmlns:a="http://schemas.openxmlformats.org/drawingml/2006/main" prst="roundRect">
            <a:avLst>
              <a:gd name="adj" fmla="val 9032"/>
            </a:avLst>
          </a:prstGeom>
          <a:solidFill xmlns:a="http://schemas.openxmlformats.org/drawingml/2006/main">
            <a:srgbClr val="FFFFFF"/>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637B9C23-CA33-4E5C-9657-97820FB76ED8}"/>
              </a:ext>
            </a:extLst>
          </p:cNvPr>
          <p:cNvSpPr>
            <a:spLocks xmlns:a="http://schemas.openxmlformats.org/drawingml/2006/main" noGrp="1"/>
          </p:cNvSpPr>
          <p:nvPr/>
        </p:nvSpPr>
        <p:spPr>
          <a:xfrm xmlns:a="http://schemas.openxmlformats.org/drawingml/2006/main">
            <a:off x="8143875" y="1857375"/>
            <a:ext cx="57150" cy="1476375"/>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A790426-D199-4418-BA7A-BAB0CEFEF7B1}"/>
              </a:ext>
            </a:extLst>
          </p:cNvPr>
          <p:cNvSpPr>
            <a:spLocks xmlns:a="http://schemas.openxmlformats.org/drawingml/2006/main" noGrp="1"/>
          </p:cNvSpPr>
          <p:nvPr/>
        </p:nvSpPr>
        <p:spPr>
          <a:xfrm xmlns:a="http://schemas.openxmlformats.org/drawingml/2006/main">
            <a:off x="8334375" y="2000250"/>
            <a:ext cx="29241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80A0"/>
                </a:solidFill>
                <a:latin typeface="IBM Plex Sans"/>
                <a:ea typeface="IBM Plex Sans"/>
                <a:cs typeface="IBM Plex Sans"/>
              </a:defRPr>
            </a:pPr>
            <a:r>
              <a:rPr sz="825" b="1">
                <a:solidFill>
                  <a:srgbClr val="0080A0"/>
                </a:solidFill>
                <a:latin typeface="IBM Plex Sans"/>
                <a:ea typeface="IBM Plex Sans"/>
                <a:cs typeface="IBM Plex Sans"/>
              </a:rPr>
              <a:t>MAE</a:t>
            </a:r>
          </a:p>
        </p:txBody>
      </p:sp>
      <p:sp>
        <p:nvSpPr>
          <p:cNvPr id="8" name="">
            <a:extLst xmlns:a="http://schemas.openxmlformats.org/drawingml/2006/main">
              <a:ext uri="{FF2B5EF4-FFF2-40B4-BE49-F238E27FC236}">
                <a16:creationId xmlns:a16="http://schemas.microsoft.com/office/drawing/2014/main" id="{784D4164-60A8-4677-8D76-4BDD37D92F53}"/>
              </a:ext>
            </a:extLst>
          </p:cNvPr>
          <p:cNvSpPr>
            <a:spLocks xmlns:a="http://schemas.openxmlformats.org/drawingml/2006/main" noGrp="1"/>
          </p:cNvSpPr>
          <p:nvPr/>
        </p:nvSpPr>
        <p:spPr>
          <a:xfrm xmlns:a="http://schemas.openxmlformats.org/drawingml/2006/main">
            <a:off x="8334375" y="2257425"/>
            <a:ext cx="2924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084878"/>
                </a:solidFill>
                <a:latin typeface="IBM Plex Sans"/>
                <a:ea typeface="IBM Plex Sans"/>
                <a:cs typeface="IBM Plex Sans"/>
              </a:defRPr>
            </a:pPr>
            <a:r>
              <a:rPr sz="1875" b="1">
                <a:solidFill>
                  <a:srgbClr val="084878"/>
                </a:solidFill>
                <a:latin typeface="IBM Plex Sans"/>
                <a:ea typeface="IBM Plex Sans"/>
                <a:cs typeface="IBM Plex Sans"/>
              </a:rPr>
              <a:t>Ø Fehlerbetrag</a:t>
            </a:r>
          </a:p>
        </p:txBody>
      </p:sp>
      <p:sp>
        <p:nvSpPr>
          <p:cNvPr id="9" name="">
            <a:extLst xmlns:a="http://schemas.openxmlformats.org/drawingml/2006/main">
              <a:ext uri="{FF2B5EF4-FFF2-40B4-BE49-F238E27FC236}">
                <a16:creationId xmlns:a16="http://schemas.microsoft.com/office/drawing/2014/main" id="{BB0B542B-92F1-48C5-B4C9-379158990C3B}"/>
              </a:ext>
            </a:extLst>
          </p:cNvPr>
          <p:cNvSpPr>
            <a:spLocks xmlns:a="http://schemas.openxmlformats.org/drawingml/2006/main" noGrp="1"/>
          </p:cNvSpPr>
          <p:nvPr/>
        </p:nvSpPr>
        <p:spPr>
          <a:xfrm xmlns:a="http://schemas.openxmlformats.org/drawingml/2006/main">
            <a:off x="8334375" y="2695575"/>
            <a:ext cx="29241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a:solidFill>
                  <a:srgbClr val="56657A"/>
                </a:solidFill>
                <a:latin typeface="IBM Plex Sans"/>
                <a:ea typeface="IBM Plex Sans"/>
                <a:cs typeface="IBM Plex Sans"/>
              </a:defRPr>
            </a:pPr>
            <a:r>
              <a:rPr sz="1125" b="0">
                <a:solidFill>
                  <a:srgbClr val="56657A"/>
                </a:solidFill>
                <a:latin typeface="IBM Plex Sans"/>
                <a:ea typeface="IBM Plex Sans"/>
                <a:cs typeface="IBM Plex Sans"/>
              </a:rPr>
              <a:t>Alle absoluten Fehler gehen gleichgewichtet in den Mittelwert ein.</a:t>
            </a:r>
          </a:p>
        </p:txBody>
      </p:sp>
      <p:sp>
        <p:nvSpPr>
          <p:cNvPr id="10" name="">
            <a:extLst xmlns:a="http://schemas.openxmlformats.org/drawingml/2006/main">
              <a:ext uri="{FF2B5EF4-FFF2-40B4-BE49-F238E27FC236}">
                <a16:creationId xmlns:a16="http://schemas.microsoft.com/office/drawing/2014/main" id="{45E3EF5D-5AFC-4D01-9C2B-A932801C3DC9}"/>
              </a:ext>
            </a:extLst>
          </p:cNvPr>
          <p:cNvSpPr>
            <a:spLocks xmlns:a="http://schemas.openxmlformats.org/drawingml/2006/main" noGrp="1"/>
          </p:cNvSpPr>
          <p:nvPr/>
        </p:nvSpPr>
        <p:spPr>
          <a:xfrm xmlns:a="http://schemas.openxmlformats.org/drawingml/2006/main">
            <a:off x="8143875" y="3571875"/>
            <a:ext cx="3286125" cy="1666875"/>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DB1A7389-21B3-4E1D-B88B-53C09F4E1F8E}"/>
              </a:ext>
            </a:extLst>
          </p:cNvPr>
          <p:cNvSpPr>
            <a:spLocks xmlns:a="http://schemas.openxmlformats.org/drawingml/2006/main" noGrp="1"/>
          </p:cNvSpPr>
          <p:nvPr/>
        </p:nvSpPr>
        <p:spPr>
          <a:xfrm xmlns:a="http://schemas.openxmlformats.org/drawingml/2006/main">
            <a:off x="8143875" y="3571875"/>
            <a:ext cx="57150" cy="1666875"/>
          </a:xfrm>
          <a:prstGeom xmlns:a="http://schemas.openxmlformats.org/drawingml/2006/main" prst="rect">
            <a:avLst/>
          </a:prstGeom>
          <a:solidFill xmlns:a="http://schemas.openxmlformats.org/drawingml/2006/main">
            <a:srgbClr val="0090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E22E25F-5641-4013-A623-0F6A6A26A0C6}"/>
              </a:ext>
            </a:extLst>
          </p:cNvPr>
          <p:cNvSpPr>
            <a:spLocks xmlns:a="http://schemas.openxmlformats.org/drawingml/2006/main" noGrp="1"/>
          </p:cNvSpPr>
          <p:nvPr/>
        </p:nvSpPr>
        <p:spPr>
          <a:xfrm xmlns:a="http://schemas.openxmlformats.org/drawingml/2006/main">
            <a:off x="8334375" y="3714750"/>
            <a:ext cx="29241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90C8"/>
                </a:solidFill>
                <a:latin typeface="IBM Plex Sans"/>
                <a:ea typeface="IBM Plex Sans"/>
                <a:cs typeface="IBM Plex Sans"/>
              </a:defRPr>
            </a:pPr>
            <a:r>
              <a:rPr sz="825" b="1">
                <a:solidFill>
                  <a:srgbClr val="0090C8"/>
                </a:solidFill>
                <a:latin typeface="IBM Plex Sans"/>
                <a:ea typeface="IBM Plex Sans"/>
                <a:cs typeface="IBM Plex Sans"/>
              </a:rPr>
              <a:t>RMSE</a:t>
            </a:r>
          </a:p>
        </p:txBody>
      </p:sp>
      <p:sp>
        <p:nvSpPr>
          <p:cNvPr id="13" name="">
            <a:extLst xmlns:a="http://schemas.openxmlformats.org/drawingml/2006/main">
              <a:ext uri="{FF2B5EF4-FFF2-40B4-BE49-F238E27FC236}">
                <a16:creationId xmlns:a16="http://schemas.microsoft.com/office/drawing/2014/main" id="{5055035F-6748-4B39-9A63-29CFE6DCB5AC}"/>
              </a:ext>
            </a:extLst>
          </p:cNvPr>
          <p:cNvSpPr>
            <a:spLocks xmlns:a="http://schemas.openxmlformats.org/drawingml/2006/main" noGrp="1"/>
          </p:cNvSpPr>
          <p:nvPr/>
        </p:nvSpPr>
        <p:spPr>
          <a:xfrm xmlns:a="http://schemas.openxmlformats.org/drawingml/2006/main">
            <a:off x="8334375" y="3971925"/>
            <a:ext cx="2924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084878"/>
                </a:solidFill>
                <a:latin typeface="IBM Plex Sans"/>
                <a:ea typeface="IBM Plex Sans"/>
                <a:cs typeface="IBM Plex Sans"/>
              </a:defRPr>
            </a:pPr>
            <a:r>
              <a:rPr sz="1725" b="1">
                <a:solidFill>
                  <a:srgbClr val="084878"/>
                </a:solidFill>
                <a:latin typeface="IBM Plex Sans"/>
                <a:ea typeface="IBM Plex Sans"/>
                <a:cs typeface="IBM Plex Sans"/>
              </a:rPr>
              <a:t>große Fehler stärker</a:t>
            </a:r>
          </a:p>
        </p:txBody>
      </p:sp>
      <p:sp>
        <p:nvSpPr>
          <p:cNvPr id="14" name="">
            <a:extLst xmlns:a="http://schemas.openxmlformats.org/drawingml/2006/main">
              <a:ext uri="{FF2B5EF4-FFF2-40B4-BE49-F238E27FC236}">
                <a16:creationId xmlns:a16="http://schemas.microsoft.com/office/drawing/2014/main" id="{B43773E0-DD01-4A6D-AE65-5CDF4B8C903B}"/>
              </a:ext>
            </a:extLst>
          </p:cNvPr>
          <p:cNvSpPr>
            <a:spLocks xmlns:a="http://schemas.openxmlformats.org/drawingml/2006/main" noGrp="1"/>
          </p:cNvSpPr>
          <p:nvPr/>
        </p:nvSpPr>
        <p:spPr>
          <a:xfrm xmlns:a="http://schemas.openxmlformats.org/drawingml/2006/main">
            <a:off x="8334375" y="4410075"/>
            <a:ext cx="29241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a:solidFill>
                  <a:srgbClr val="56657A"/>
                </a:solidFill>
                <a:latin typeface="IBM Plex Sans"/>
                <a:ea typeface="IBM Plex Sans"/>
                <a:cs typeface="IBM Plex Sans"/>
              </a:defRPr>
            </a:pPr>
            <a:r>
              <a:rPr sz="1125" b="0">
                <a:solidFill>
                  <a:srgbClr val="56657A"/>
                </a:solidFill>
                <a:latin typeface="IBM Plex Sans"/>
                <a:ea typeface="IBM Plex Sans"/>
                <a:cs typeface="IBM Plex Sans"/>
              </a:rPr>
              <a:t>Fehler werden quadriert, gemittelt und anschließend wird die Wurzel gezogen. Deshalb Hauptmetrik der Modellwahl.</a:t>
            </a:r>
          </a:p>
        </p:txBody>
      </p:sp>
      <p:sp>
        <p:nvSpPr>
          <p:cNvPr id="15" name="">
            <a:extLst xmlns:a="http://schemas.openxmlformats.org/drawingml/2006/main">
              <a:ext uri="{FF2B5EF4-FFF2-40B4-BE49-F238E27FC236}">
                <a16:creationId xmlns:a16="http://schemas.microsoft.com/office/drawing/2014/main" id="{FC2BF330-5F6A-4652-A2BE-FB5051D047C8}"/>
              </a:ext>
            </a:extLst>
          </p:cNvPr>
          <p:cNvSpPr>
            <a:spLocks xmlns:a="http://schemas.openxmlformats.org/drawingml/2006/main" noGrp="1"/>
          </p:cNvSpPr>
          <p:nvPr/>
        </p:nvSpPr>
        <p:spPr>
          <a:xfrm xmlns:a="http://schemas.openxmlformats.org/drawingml/2006/main">
            <a:off x="904875" y="5572125"/>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084878"/>
                </a:solidFill>
                <a:latin typeface="IBM Plex Sans"/>
                <a:ea typeface="IBM Plex Sans"/>
                <a:cs typeface="IBM Plex Sans"/>
              </a:defRPr>
            </a:pPr>
            <a:r>
              <a:rPr sz="1200" b="1">
                <a:solidFill>
                  <a:srgbClr val="084878"/>
                </a:solidFill>
                <a:latin typeface="IBM Plex Sans"/>
                <a:ea typeface="IBM Plex Sans"/>
                <a:cs typeface="IBM Plex Sans"/>
              </a:rPr>
              <a:t>R² ist bewusst nicht Teil dieser Erklärung: Für die Prüfung reichen RMSE und MAE als verständliche Fehlermaße.</a:t>
            </a:r>
          </a:p>
        </p:txBody>
      </p:sp>
      <p:sp>
        <p:nvSpPr>
          <p:cNvPr id="16" name="">
            <a:extLst xmlns:a="http://schemas.openxmlformats.org/drawingml/2006/main">
              <a:ext uri="{FF2B5EF4-FFF2-40B4-BE49-F238E27FC236}">
                <a16:creationId xmlns:a16="http://schemas.microsoft.com/office/drawing/2014/main" id="{2943A537-751C-42AA-AE70-1175F1764B05}"/>
              </a:ext>
            </a:extLst>
          </p:cNvPr>
          <p:cNvSpPr>
            <a:spLocks xmlns:a="http://schemas.openxmlformats.org/drawingml/2006/main" noGrp="1"/>
          </p:cNvSpPr>
          <p:nvPr/>
        </p:nvSpPr>
        <p:spPr>
          <a:xfrm xmlns:a="http://schemas.openxmlformats.org/drawingml/2006/main">
            <a:off x="533400" y="6229350"/>
            <a:ext cx="11106150" cy="0"/>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7" name="">
            <a:extLst xmlns:a="http://schemas.openxmlformats.org/drawingml/2006/main">
              <a:ext uri="{FF2B5EF4-FFF2-40B4-BE49-F238E27FC236}">
                <a16:creationId xmlns:a16="http://schemas.microsoft.com/office/drawing/2014/main" id="{561A939D-498B-4C79-B138-188BBC5686D0}"/>
              </a:ext>
            </a:extLst>
          </p:cNvPr>
          <p:cNvSpPr>
            <a:spLocks xmlns:a="http://schemas.openxmlformats.org/drawingml/2006/main" noGrp="1"/>
          </p:cNvSpPr>
          <p:nvPr/>
        </p:nvSpPr>
        <p:spPr>
          <a:xfrm xmlns:a="http://schemas.openxmlformats.org/drawingml/2006/main">
            <a:off x="533400" y="6229350"/>
            <a:ext cx="895350" cy="0"/>
          </a:xfrm>
          <a:prstGeom xmlns:a="http://schemas.openxmlformats.org/drawingml/2006/main" prst="line">
            <a:avLst/>
          </a:prstGeom>
          <a:noFill xmlns:a="http://schemas.openxmlformats.org/drawingml/2006/main"/>
          <a:ln xmlns:a="http://schemas.openxmlformats.org/drawingml/2006/main" w="38100">
            <a:solidFill>
              <a:srgbClr val="084878"/>
            </a:solidFill>
            <a:prstDash val="solid"/>
          </a:ln>
        </p:spPr>
      </p:sp>
      <p:sp>
        <p:nvSpPr>
          <p:cNvPr id="18" name="">
            <a:extLst xmlns:a="http://schemas.openxmlformats.org/drawingml/2006/main">
              <a:ext uri="{FF2B5EF4-FFF2-40B4-BE49-F238E27FC236}">
                <a16:creationId xmlns:a16="http://schemas.microsoft.com/office/drawing/2014/main" id="{3E2B9EDA-95F2-42A1-BDDF-1997E49ABA87}"/>
              </a:ext>
            </a:extLst>
          </p:cNvPr>
          <p:cNvSpPr>
            <a:spLocks xmlns:a="http://schemas.openxmlformats.org/drawingml/2006/main" noGrp="1"/>
          </p:cNvSpPr>
          <p:nvPr/>
        </p:nvSpPr>
        <p:spPr>
          <a:xfrm xmlns:a="http://schemas.openxmlformats.org/drawingml/2006/main">
            <a:off x="533400" y="635317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13" b="0">
                <a:solidFill>
                  <a:srgbClr val="56657A"/>
                </a:solidFill>
                <a:latin typeface="IBM Plex Sans"/>
                <a:ea typeface="IBM Plex Sans"/>
                <a:cs typeface="IBM Plex Sans"/>
              </a:defRPr>
            </a:pPr>
            <a:r>
              <a:rPr sz="713" b="0">
                <a:solidFill>
                  <a:srgbClr val="56657A"/>
                </a:solidFill>
                <a:latin typeface="IBM Plex Sans"/>
                <a:ea typeface="IBM Plex Sans"/>
                <a:cs typeface="IBM Plex Sans"/>
              </a:rPr>
              <a:t>Quelle: notebooks/13_modellierung_von_grund_auf_verstehen.ipynb</a:t>
            </a:r>
          </a:p>
        </p:txBody>
      </p:sp>
      <p:sp>
        <p:nvSpPr>
          <p:cNvPr id="19" name="">
            <a:extLst xmlns:a="http://schemas.openxmlformats.org/drawingml/2006/main">
              <a:ext uri="{FF2B5EF4-FFF2-40B4-BE49-F238E27FC236}">
                <a16:creationId xmlns:a16="http://schemas.microsoft.com/office/drawing/2014/main" id="{C4B6A426-8C12-440F-B34D-712C26734E86}"/>
              </a:ext>
            </a:extLst>
          </p:cNvPr>
          <p:cNvSpPr>
            <a:spLocks xmlns:a="http://schemas.openxmlformats.org/drawingml/2006/main" noGrp="1"/>
          </p:cNvSpPr>
          <p:nvPr/>
        </p:nvSpPr>
        <p:spPr>
          <a:xfrm xmlns:a="http://schemas.openxmlformats.org/drawingml/2006/main">
            <a:off x="10477500" y="63817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56657A"/>
                </a:solidFill>
                <a:latin typeface="Geist Mono"/>
                <a:ea typeface="Geist Mono"/>
                <a:cs typeface="Geist Mono"/>
              </a:defRPr>
            </a:pPr>
            <a:r>
              <a:rPr sz="825" b="0">
                <a:solidFill>
                  <a:srgbClr val="56657A"/>
                </a:solidFill>
                <a:latin typeface="Geist Mono"/>
                <a:ea typeface="Geist Mono"/>
                <a:cs typeface="Geist Mono"/>
              </a:rPr>
              <a:t>14</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3f61b945e6ef4799"/>
          <a:stretch xmlns:a="http://schemas.openxmlformats.org/drawingml/2006/main"/>
        </p:blipFill>
        <p:spPr>
          <a:xfrm xmlns:a="http://schemas.openxmlformats.org/drawingml/2006/main">
            <a:off x="11058812" y="6296025"/>
            <a:ext cx="513776" cy="438150"/>
          </a:xfrm>
          <a:prstGeom xmlns:a="http://schemas.openxmlformats.org/drawingml/2006/main" prst="rect">
            <a:avLst/>
          </a:prstGeom>
        </p:spPr>
      </p:pic>
    </p:spTree>
    <p:extLst>
      <p:ext uri="{BB962C8B-B14F-4D97-AF65-F5344CB8AC3E}">
        <p14:creationId xmlns:p14="http://schemas.microsoft.com/office/powerpoint/2010/main" val="149384934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2E0B49A-44F0-4C20-81F7-3D9D953152A7}"/>
              </a:ext>
            </a:extLst>
          </p:cNvPr>
          <p:cNvSpPr>
            <a:spLocks xmlns:a="http://schemas.openxmlformats.org/drawingml/2006/main" noGrp="1"/>
          </p:cNvSpPr>
          <p:nvPr/>
        </p:nvSpPr>
        <p:spPr>
          <a:xfrm xmlns:a="http://schemas.openxmlformats.org/drawingml/2006/main">
            <a:off x="533400" y="3048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80A0"/>
                </a:solidFill>
                <a:latin typeface="IBM Plex Sans"/>
                <a:ea typeface="IBM Plex Sans"/>
                <a:cs typeface="IBM Plex Sans"/>
              </a:defRPr>
            </a:pPr>
            <a:r>
              <a:rPr sz="825" b="1">
                <a:solidFill>
                  <a:srgbClr val="0080A0"/>
                </a:solidFill>
                <a:latin typeface="IBM Plex Sans"/>
                <a:ea typeface="IBM Plex Sans"/>
                <a:cs typeface="IBM Plex Sans"/>
              </a:rPr>
              <a:t>SWW / ENERGIEANALYSE · BACKUP  ·  ANHANG B</a:t>
            </a:r>
          </a:p>
        </p:txBody>
      </p:sp>
      <p:sp>
        <p:nvSpPr>
          <p:cNvPr id="2" name="">
            <a:extLst xmlns:a="http://schemas.openxmlformats.org/drawingml/2006/main">
              <a:ext uri="{FF2B5EF4-FFF2-40B4-BE49-F238E27FC236}">
                <a16:creationId xmlns:a16="http://schemas.microsoft.com/office/drawing/2014/main" id="{D338239A-8578-43F4-B087-7865283EF758}"/>
              </a:ext>
            </a:extLst>
          </p:cNvPr>
          <p:cNvSpPr>
            <a:spLocks xmlns:a="http://schemas.openxmlformats.org/drawingml/2006/main" noGrp="1"/>
          </p:cNvSpPr>
          <p:nvPr/>
        </p:nvSpPr>
        <p:spPr>
          <a:xfrm xmlns:a="http://schemas.openxmlformats.org/drawingml/2006/main">
            <a:off x="533400" y="638175"/>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0D2742"/>
                </a:solidFill>
                <a:latin typeface="IBM Plex Sans"/>
                <a:ea typeface="IBM Plex Sans"/>
                <a:cs typeface="IBM Plex Sans"/>
              </a:defRPr>
            </a:pPr>
            <a:r>
              <a:rPr sz="2550" b="1">
                <a:solidFill>
                  <a:srgbClr val="0D2742"/>
                </a:solidFill>
                <a:latin typeface="IBM Plex Sans"/>
                <a:ea typeface="IBM Plex Sans"/>
                <a:cs typeface="IBM Plex Sans"/>
              </a:rPr>
              <a:t>VLS verbessert diesen konkreten Modellvergleich</a:t>
            </a:r>
          </a:p>
        </p:txBody>
      </p:sp>
      <p:sp>
        <p:nvSpPr>
          <p:cNvPr id="3" name="">
            <a:extLst xmlns:a="http://schemas.openxmlformats.org/drawingml/2006/main">
              <a:ext uri="{FF2B5EF4-FFF2-40B4-BE49-F238E27FC236}">
                <a16:creationId xmlns:a16="http://schemas.microsoft.com/office/drawing/2014/main" id="{9E211179-A8C3-403E-B5A0-8D04F2303568}"/>
              </a:ext>
            </a:extLst>
          </p:cNvPr>
          <p:cNvSpPr>
            <a:spLocks xmlns:a="http://schemas.openxmlformats.org/drawingml/2006/main" noGrp="1"/>
          </p:cNvSpPr>
          <p:nvPr/>
        </p:nvSpPr>
        <p:spPr>
          <a:xfrm xmlns:a="http://schemas.openxmlformats.org/drawingml/2006/main">
            <a:off x="533400" y="12668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6657A"/>
                </a:solidFill>
                <a:latin typeface="IBM Plex Sans"/>
                <a:ea typeface="IBM Plex Sans"/>
                <a:cs typeface="IBM Plex Sans"/>
              </a:defRPr>
            </a:pPr>
            <a:r>
              <a:rPr sz="1200" b="0">
                <a:solidFill>
                  <a:srgbClr val="56657A"/>
                </a:solidFill>
                <a:latin typeface="IBM Plex Sans"/>
                <a:ea typeface="IBM Plex Sans"/>
                <a:cs typeface="IBM Plex Sans"/>
              </a:rPr>
              <a:t>Gleicher Modelltyp · gleiche Bewertungseinheit kWh · gleicher Benchmark 2025</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cb68a05ecc848ca"/>
          <a:stretch xmlns:a="http://schemas.openxmlformats.org/drawingml/2006/main"/>
        </p:blipFill>
        <p:spPr>
          <a:xfrm xmlns:a="http://schemas.openxmlformats.org/drawingml/2006/main">
            <a:off x="1107558" y="1857375"/>
            <a:ext cx="6357384" cy="3333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C458D40-3DD0-481A-A743-06BB74649971}"/>
              </a:ext>
            </a:extLst>
          </p:cNvPr>
          <p:cNvSpPr>
            <a:spLocks xmlns:a="http://schemas.openxmlformats.org/drawingml/2006/main" noGrp="1"/>
          </p:cNvSpPr>
          <p:nvPr/>
        </p:nvSpPr>
        <p:spPr>
          <a:xfrm xmlns:a="http://schemas.openxmlformats.org/drawingml/2006/main">
            <a:off x="8239125" y="2047875"/>
            <a:ext cx="3048000" cy="2190750"/>
          </a:xfrm>
          <a:prstGeom xmlns:a="http://schemas.openxmlformats.org/drawingml/2006/main" prst="roundRect">
            <a:avLst>
              <a:gd name="adj" fmla="val 6957"/>
            </a:avLst>
          </a:prstGeom>
          <a:solidFill xmlns:a="http://schemas.openxmlformats.org/drawingml/2006/main">
            <a:srgbClr val="0D274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CF5ADA3-D5B8-4A55-9CE2-A308287170F0}"/>
              </a:ext>
            </a:extLst>
          </p:cNvPr>
          <p:cNvSpPr>
            <a:spLocks xmlns:a="http://schemas.openxmlformats.org/drawingml/2006/main" noGrp="1"/>
          </p:cNvSpPr>
          <p:nvPr/>
        </p:nvSpPr>
        <p:spPr>
          <a:xfrm xmlns:a="http://schemas.openxmlformats.org/drawingml/2006/main">
            <a:off x="8572500" y="2428875"/>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900" b="1">
                <a:solidFill>
                  <a:srgbClr val="FFFFFF"/>
                </a:solidFill>
                <a:latin typeface="Geist Mono"/>
                <a:ea typeface="Geist Mono"/>
                <a:cs typeface="Geist Mono"/>
              </a:defRPr>
            </a:pPr>
            <a:r>
              <a:rPr sz="3900" b="1">
                <a:solidFill>
                  <a:srgbClr val="FFFFFF"/>
                </a:solidFill>
                <a:latin typeface="Geist Mono"/>
                <a:ea typeface="Geist Mono"/>
                <a:cs typeface="Geist Mono"/>
              </a:rPr>
              <a:t>6,2 %</a:t>
            </a:r>
          </a:p>
        </p:txBody>
      </p:sp>
      <p:sp>
        <p:nvSpPr>
          <p:cNvPr id="7" name="">
            <a:extLst xmlns:a="http://schemas.openxmlformats.org/drawingml/2006/main">
              <a:ext uri="{FF2B5EF4-FFF2-40B4-BE49-F238E27FC236}">
                <a16:creationId xmlns:a16="http://schemas.microsoft.com/office/drawing/2014/main" id="{17A6055F-837D-43B6-99FD-9ECE497A8C25}"/>
              </a:ext>
            </a:extLst>
          </p:cNvPr>
          <p:cNvSpPr>
            <a:spLocks xmlns:a="http://schemas.openxmlformats.org/drawingml/2006/main" noGrp="1"/>
          </p:cNvSpPr>
          <p:nvPr/>
        </p:nvSpPr>
        <p:spPr>
          <a:xfrm xmlns:a="http://schemas.openxmlformats.org/drawingml/2006/main">
            <a:off x="8572500" y="31432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CBE8F5"/>
                </a:solidFill>
                <a:latin typeface="IBM Plex Sans"/>
                <a:ea typeface="IBM Plex Sans"/>
                <a:cs typeface="IBM Plex Sans"/>
              </a:defRPr>
            </a:pPr>
            <a:r>
              <a:rPr sz="1425" b="1">
                <a:solidFill>
                  <a:srgbClr val="CBE8F5"/>
                </a:solidFill>
                <a:latin typeface="IBM Plex Sans"/>
                <a:ea typeface="IBM Plex Sans"/>
                <a:cs typeface="IBM Plex Sans"/>
              </a:rPr>
              <a:t>niedrigerer RMSE</a:t>
            </a:r>
          </a:p>
        </p:txBody>
      </p:sp>
      <p:sp>
        <p:nvSpPr>
          <p:cNvPr id="8" name="">
            <a:extLst xmlns:a="http://schemas.openxmlformats.org/drawingml/2006/main">
              <a:ext uri="{FF2B5EF4-FFF2-40B4-BE49-F238E27FC236}">
                <a16:creationId xmlns:a16="http://schemas.microsoft.com/office/drawing/2014/main" id="{7054F039-155A-42F3-8536-891E28833E6D}"/>
              </a:ext>
            </a:extLst>
          </p:cNvPr>
          <p:cNvSpPr>
            <a:spLocks xmlns:a="http://schemas.openxmlformats.org/drawingml/2006/main" noGrp="1"/>
          </p:cNvSpPr>
          <p:nvPr/>
        </p:nvSpPr>
        <p:spPr>
          <a:xfrm xmlns:a="http://schemas.openxmlformats.org/drawingml/2006/main">
            <a:off x="8572500" y="36004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FFFFFF"/>
                </a:solidFill>
                <a:latin typeface="Geist Mono"/>
                <a:ea typeface="Geist Mono"/>
                <a:cs typeface="Geist Mono"/>
              </a:defRPr>
            </a:pPr>
            <a:r>
              <a:rPr sz="1275" b="0">
                <a:solidFill>
                  <a:srgbClr val="FFFFFF"/>
                </a:solidFill>
                <a:latin typeface="Geist Mono"/>
                <a:ea typeface="Geist Mono"/>
                <a:cs typeface="Geist Mono"/>
              </a:rPr>
              <a:t>9.800 → 9.188 kWh</a:t>
            </a:r>
          </a:p>
        </p:txBody>
      </p:sp>
      <p:sp>
        <p:nvSpPr>
          <p:cNvPr id="9" name="">
            <a:extLst xmlns:a="http://schemas.openxmlformats.org/drawingml/2006/main">
              <a:ext uri="{FF2B5EF4-FFF2-40B4-BE49-F238E27FC236}">
                <a16:creationId xmlns:a16="http://schemas.microsoft.com/office/drawing/2014/main" id="{B8C6461D-D9B7-4890-AF89-3EAB50C2779A}"/>
              </a:ext>
            </a:extLst>
          </p:cNvPr>
          <p:cNvSpPr>
            <a:spLocks xmlns:a="http://schemas.openxmlformats.org/drawingml/2006/main" noGrp="1"/>
          </p:cNvSpPr>
          <p:nvPr/>
        </p:nvSpPr>
        <p:spPr>
          <a:xfrm xmlns:a="http://schemas.openxmlformats.org/drawingml/2006/main">
            <a:off x="8239125" y="4524375"/>
            <a:ext cx="3048000" cy="857250"/>
          </a:xfrm>
          <a:prstGeom xmlns:a="http://schemas.openxmlformats.org/drawingml/2006/main" prst="roundRect">
            <a:avLst>
              <a:gd name="adj" fmla="val 13333"/>
            </a:avLst>
          </a:prstGeom>
          <a:solidFill xmlns:a="http://schemas.openxmlformats.org/drawingml/2006/main">
            <a:srgbClr val="FFF2D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6D7612A-85F0-4082-96D9-58FD909D39CF}"/>
              </a:ext>
            </a:extLst>
          </p:cNvPr>
          <p:cNvSpPr>
            <a:spLocks xmlns:a="http://schemas.openxmlformats.org/drawingml/2006/main" noGrp="1"/>
          </p:cNvSpPr>
          <p:nvPr/>
        </p:nvSpPr>
        <p:spPr>
          <a:xfrm xmlns:a="http://schemas.openxmlformats.org/drawingml/2006/main">
            <a:off x="8477250" y="4686300"/>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A86505"/>
                </a:solidFill>
                <a:latin typeface="IBM Plex Sans"/>
                <a:ea typeface="IBM Plex Sans"/>
                <a:cs typeface="IBM Plex Sans"/>
              </a:defRPr>
            </a:pPr>
            <a:r>
              <a:rPr sz="975" b="1">
                <a:solidFill>
                  <a:srgbClr val="A86505"/>
                </a:solidFill>
                <a:latin typeface="IBM Plex Sans"/>
                <a:ea typeface="IBM Plex Sans"/>
                <a:cs typeface="IBM Plex Sans"/>
              </a:rPr>
              <a:t>Saubere Grenze</a:t>
            </a:r>
          </a:p>
        </p:txBody>
      </p:sp>
      <p:sp>
        <p:nvSpPr>
          <p:cNvPr id="11" name="">
            <a:extLst xmlns:a="http://schemas.openxmlformats.org/drawingml/2006/main">
              <a:ext uri="{FF2B5EF4-FFF2-40B4-BE49-F238E27FC236}">
                <a16:creationId xmlns:a16="http://schemas.microsoft.com/office/drawing/2014/main" id="{184F753B-E962-4847-A3BC-B3C2D76BC4C0}"/>
              </a:ext>
            </a:extLst>
          </p:cNvPr>
          <p:cNvSpPr>
            <a:spLocks xmlns:a="http://schemas.openxmlformats.org/drawingml/2006/main" noGrp="1"/>
          </p:cNvSpPr>
          <p:nvPr/>
        </p:nvSpPr>
        <p:spPr>
          <a:xfrm xmlns:a="http://schemas.openxmlformats.org/drawingml/2006/main">
            <a:off x="8458200" y="4972050"/>
            <a:ext cx="260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262"/>
          </a:bodyPr>
          <a:lstStyle xmlns:a="http://schemas.openxmlformats.org/drawingml/2006/main"/>
          <a:p xmlns:a="http://schemas.openxmlformats.org/drawingml/2006/main">
            <a:pPr algn="ctr">
              <a:defRPr sz="1050" b="0">
                <a:solidFill>
                  <a:srgbClr val="56657A"/>
                </a:solidFill>
                <a:latin typeface="IBM Plex Sans"/>
                <a:ea typeface="IBM Plex Sans"/>
                <a:cs typeface="IBM Plex Sans"/>
              </a:defRPr>
            </a:pPr>
            <a:r>
              <a:rPr sz="1050" b="0">
                <a:solidFill>
                  <a:srgbClr val="56657A"/>
                </a:solidFill>
                <a:latin typeface="IBM Plex Sans"/>
                <a:ea typeface="IBM Plex Sans"/>
                <a:cs typeface="IBM Plex Sans"/>
              </a:rPr>
              <a:t>Datensatzspezifischer Befund – keine allgemeine Überlegenheit von VLS.</a:t>
            </a:r>
          </a:p>
        </p:txBody>
      </p:sp>
      <p:sp>
        <p:nvSpPr>
          <p:cNvPr id="12" name="">
            <a:extLst xmlns:a="http://schemas.openxmlformats.org/drawingml/2006/main">
              <a:ext uri="{FF2B5EF4-FFF2-40B4-BE49-F238E27FC236}">
                <a16:creationId xmlns:a16="http://schemas.microsoft.com/office/drawing/2014/main" id="{5CEED5CC-B71C-48EB-9291-F079046A0B9D}"/>
              </a:ext>
            </a:extLst>
          </p:cNvPr>
          <p:cNvSpPr>
            <a:spLocks xmlns:a="http://schemas.openxmlformats.org/drawingml/2006/main" noGrp="1"/>
          </p:cNvSpPr>
          <p:nvPr/>
        </p:nvSpPr>
        <p:spPr>
          <a:xfrm xmlns:a="http://schemas.openxmlformats.org/drawingml/2006/main">
            <a:off x="533400" y="6229350"/>
            <a:ext cx="11106150" cy="0"/>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3" name="">
            <a:extLst xmlns:a="http://schemas.openxmlformats.org/drawingml/2006/main">
              <a:ext uri="{FF2B5EF4-FFF2-40B4-BE49-F238E27FC236}">
                <a16:creationId xmlns:a16="http://schemas.microsoft.com/office/drawing/2014/main" id="{2809BAC3-B87E-438F-9D25-422D8D5278A9}"/>
              </a:ext>
            </a:extLst>
          </p:cNvPr>
          <p:cNvSpPr>
            <a:spLocks xmlns:a="http://schemas.openxmlformats.org/drawingml/2006/main" noGrp="1"/>
          </p:cNvSpPr>
          <p:nvPr/>
        </p:nvSpPr>
        <p:spPr>
          <a:xfrm xmlns:a="http://schemas.openxmlformats.org/drawingml/2006/main">
            <a:off x="533400" y="6229350"/>
            <a:ext cx="895350" cy="0"/>
          </a:xfrm>
          <a:prstGeom xmlns:a="http://schemas.openxmlformats.org/drawingml/2006/main" prst="line">
            <a:avLst/>
          </a:prstGeom>
          <a:noFill xmlns:a="http://schemas.openxmlformats.org/drawingml/2006/main"/>
          <a:ln xmlns:a="http://schemas.openxmlformats.org/drawingml/2006/main" w="38100">
            <a:solidFill>
              <a:srgbClr val="084878"/>
            </a:solidFill>
            <a:prstDash val="solid"/>
          </a:ln>
        </p:spPr>
      </p:sp>
      <p:sp>
        <p:nvSpPr>
          <p:cNvPr id="14" name="">
            <a:extLst xmlns:a="http://schemas.openxmlformats.org/drawingml/2006/main">
              <a:ext uri="{FF2B5EF4-FFF2-40B4-BE49-F238E27FC236}">
                <a16:creationId xmlns:a16="http://schemas.microsoft.com/office/drawing/2014/main" id="{AE72547F-5036-493A-87FF-CE4185D232A3}"/>
              </a:ext>
            </a:extLst>
          </p:cNvPr>
          <p:cNvSpPr>
            <a:spLocks xmlns:a="http://schemas.openxmlformats.org/drawingml/2006/main" noGrp="1"/>
          </p:cNvSpPr>
          <p:nvPr/>
        </p:nvSpPr>
        <p:spPr>
          <a:xfrm xmlns:a="http://schemas.openxmlformats.org/drawingml/2006/main">
            <a:off x="533400" y="635317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13" b="0">
                <a:solidFill>
                  <a:srgbClr val="56657A"/>
                </a:solidFill>
                <a:latin typeface="IBM Plex Sans"/>
                <a:ea typeface="IBM Plex Sans"/>
                <a:cs typeface="IBM Plex Sans"/>
              </a:defRPr>
            </a:pPr>
            <a:r>
              <a:rPr sz="713" b="0">
                <a:solidFill>
                  <a:srgbClr val="56657A"/>
                </a:solidFill>
                <a:latin typeface="IBM Plex Sans"/>
                <a:ea typeface="IBM Plex Sans"/>
                <a:cs typeface="IBM Plex Sans"/>
              </a:rPr>
              <a:t>Quelle: notebooks/13_modellierung_von_grund_auf_verstehen.ipynb</a:t>
            </a:r>
          </a:p>
        </p:txBody>
      </p:sp>
      <p:sp>
        <p:nvSpPr>
          <p:cNvPr id="15" name="">
            <a:extLst xmlns:a="http://schemas.openxmlformats.org/drawingml/2006/main">
              <a:ext uri="{FF2B5EF4-FFF2-40B4-BE49-F238E27FC236}">
                <a16:creationId xmlns:a16="http://schemas.microsoft.com/office/drawing/2014/main" id="{0EB403A0-D048-41F8-8848-342FD2030F5E}"/>
              </a:ext>
            </a:extLst>
          </p:cNvPr>
          <p:cNvSpPr>
            <a:spLocks xmlns:a="http://schemas.openxmlformats.org/drawingml/2006/main" noGrp="1"/>
          </p:cNvSpPr>
          <p:nvPr/>
        </p:nvSpPr>
        <p:spPr>
          <a:xfrm xmlns:a="http://schemas.openxmlformats.org/drawingml/2006/main">
            <a:off x="10477500" y="63817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56657A"/>
                </a:solidFill>
                <a:latin typeface="Geist Mono"/>
                <a:ea typeface="Geist Mono"/>
                <a:cs typeface="Geist Mono"/>
              </a:defRPr>
            </a:pPr>
            <a:r>
              <a:rPr sz="825" b="0">
                <a:solidFill>
                  <a:srgbClr val="56657A"/>
                </a:solidFill>
                <a:latin typeface="Geist Mono"/>
                <a:ea typeface="Geist Mono"/>
                <a:cs typeface="Geist Mono"/>
              </a:rPr>
              <a:t>15</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937be623bde14355"/>
          <a:stretch xmlns:a="http://schemas.openxmlformats.org/drawingml/2006/main"/>
        </p:blipFill>
        <p:spPr>
          <a:xfrm xmlns:a="http://schemas.openxmlformats.org/drawingml/2006/main">
            <a:off x="11058812" y="6296025"/>
            <a:ext cx="513776" cy="438150"/>
          </a:xfrm>
          <a:prstGeom xmlns:a="http://schemas.openxmlformats.org/drawingml/2006/main" prst="rect">
            <a:avLst/>
          </a:prstGeom>
        </p:spPr>
      </p:pic>
    </p:spTree>
    <p:extLst>
      <p:ext uri="{BB962C8B-B14F-4D97-AF65-F5344CB8AC3E}">
        <p14:creationId xmlns:p14="http://schemas.microsoft.com/office/powerpoint/2010/main" val="117925387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4012727B-FADB-43EC-B947-3F58CE1690B3}"/>
              </a:ext>
            </a:extLst>
          </p:cNvPr>
          <p:cNvSpPr>
            <a:spLocks xmlns:a="http://schemas.openxmlformats.org/drawingml/2006/main" noGrp="1"/>
          </p:cNvSpPr>
          <p:nvPr/>
        </p:nvSpPr>
        <p:spPr>
          <a:xfrm xmlns:a="http://schemas.openxmlformats.org/drawingml/2006/main">
            <a:off x="533400" y="3048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80A0"/>
                </a:solidFill>
                <a:latin typeface="IBM Plex Sans"/>
                <a:ea typeface="IBM Plex Sans"/>
                <a:cs typeface="IBM Plex Sans"/>
              </a:defRPr>
            </a:pPr>
            <a:r>
              <a:rPr sz="825" b="1">
                <a:solidFill>
                  <a:srgbClr val="0080A0"/>
                </a:solidFill>
                <a:latin typeface="IBM Plex Sans"/>
                <a:ea typeface="IBM Plex Sans"/>
                <a:cs typeface="IBM Plex Sans"/>
              </a:rPr>
              <a:t>SWW / ENERGIEANALYSE · BACKUP  ·  ANHANG C</a:t>
            </a:r>
          </a:p>
        </p:txBody>
      </p:sp>
      <p:sp>
        <p:nvSpPr>
          <p:cNvPr id="2" name="">
            <a:extLst xmlns:a="http://schemas.openxmlformats.org/drawingml/2006/main">
              <a:ext uri="{FF2B5EF4-FFF2-40B4-BE49-F238E27FC236}">
                <a16:creationId xmlns:a16="http://schemas.microsoft.com/office/drawing/2014/main" id="{27E3786D-40C9-4F47-A312-428445BF8E45}"/>
              </a:ext>
            </a:extLst>
          </p:cNvPr>
          <p:cNvSpPr>
            <a:spLocks xmlns:a="http://schemas.openxmlformats.org/drawingml/2006/main" noGrp="1"/>
          </p:cNvSpPr>
          <p:nvPr/>
        </p:nvSpPr>
        <p:spPr>
          <a:xfrm xmlns:a="http://schemas.openxmlformats.org/drawingml/2006/main">
            <a:off x="533400" y="638175"/>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0D2742"/>
                </a:solidFill>
                <a:latin typeface="IBM Plex Sans"/>
                <a:ea typeface="IBM Plex Sans"/>
                <a:cs typeface="IBM Plex Sans"/>
              </a:defRPr>
            </a:pPr>
            <a:r>
              <a:rPr sz="2550" b="1">
                <a:solidFill>
                  <a:srgbClr val="0D2742"/>
                </a:solidFill>
                <a:latin typeface="IBM Plex Sans"/>
                <a:ea typeface="IBM Plex Sans"/>
                <a:cs typeface="IBM Plex Sans"/>
              </a:rPr>
              <a:t>Das Perzentil steuert direkt den Prüfaufwand</a:t>
            </a:r>
          </a:p>
        </p:txBody>
      </p:sp>
      <p:sp>
        <p:nvSpPr>
          <p:cNvPr id="3" name="">
            <a:extLst xmlns:a="http://schemas.openxmlformats.org/drawingml/2006/main">
              <a:ext uri="{FF2B5EF4-FFF2-40B4-BE49-F238E27FC236}">
                <a16:creationId xmlns:a16="http://schemas.microsoft.com/office/drawing/2014/main" id="{0EBC93C9-2B5A-47CA-8452-3130D0F508D5}"/>
              </a:ext>
            </a:extLst>
          </p:cNvPr>
          <p:cNvSpPr>
            <a:spLocks xmlns:a="http://schemas.openxmlformats.org/drawingml/2006/main" noGrp="1"/>
          </p:cNvSpPr>
          <p:nvPr/>
        </p:nvSpPr>
        <p:spPr>
          <a:xfrm xmlns:a="http://schemas.openxmlformats.org/drawingml/2006/main">
            <a:off x="533400" y="12668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6657A"/>
                </a:solidFill>
                <a:latin typeface="IBM Plex Sans"/>
                <a:ea typeface="IBM Plex Sans"/>
                <a:cs typeface="IBM Plex Sans"/>
              </a:defRPr>
            </a:pPr>
            <a:r>
              <a:rPr sz="1200" b="0">
                <a:solidFill>
                  <a:srgbClr val="56657A"/>
                </a:solidFill>
                <a:latin typeface="IBM Plex Sans"/>
                <a:ea typeface="IBM Plex Sans"/>
                <a:cs typeface="IBM Plex Sans"/>
              </a:rPr>
              <a:t>Sensitivitätsanalyse: gleiche Prognosen, andere Entscheidungsgrenze – kein Retraining.</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5cccf8faa6504dd6"/>
          <a:stretch xmlns:a="http://schemas.openxmlformats.org/drawingml/2006/main"/>
        </p:blipFill>
        <p:spPr>
          <a:xfrm xmlns:a="http://schemas.openxmlformats.org/drawingml/2006/main">
            <a:off x="523875" y="1840551"/>
            <a:ext cx="7000875" cy="327214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2CDEDB2-3C0F-4B7E-AC1B-FED7272E2A0B}"/>
              </a:ext>
            </a:extLst>
          </p:cNvPr>
          <p:cNvSpPr>
            <a:spLocks xmlns:a="http://schemas.openxmlformats.org/drawingml/2006/main" noGrp="1"/>
          </p:cNvSpPr>
          <p:nvPr/>
        </p:nvSpPr>
        <p:spPr>
          <a:xfrm xmlns:a="http://schemas.openxmlformats.org/drawingml/2006/main">
            <a:off x="7953375" y="1857375"/>
            <a:ext cx="3476625" cy="3000375"/>
          </a:xfrm>
          <a:prstGeom xmlns:a="http://schemas.openxmlformats.org/drawingml/2006/main" prst="roundRect">
            <a:avLst>
              <a:gd name="adj" fmla="val 4444"/>
            </a:avLst>
          </a:prstGeom>
          <a:solidFill xmlns:a="http://schemas.openxmlformats.org/drawingml/2006/main">
            <a:srgbClr val="F5F8FB"/>
          </a:solidFill>
          <a:ln xmlns:a="http://schemas.openxmlformats.org/drawingml/2006/main" w="9525">
            <a:solidFill>
              <a:srgbClr val="D7E0EA"/>
            </a:solidFill>
            <a:prstDash val="solid"/>
          </a:ln>
        </p:spPr>
      </p:sp>
      <p:sp>
        <p:nvSpPr>
          <p:cNvPr id="6" name="">
            <a:extLst xmlns:a="http://schemas.openxmlformats.org/drawingml/2006/main">
              <a:ext uri="{FF2B5EF4-FFF2-40B4-BE49-F238E27FC236}">
                <a16:creationId xmlns:a16="http://schemas.microsoft.com/office/drawing/2014/main" id="{B929E174-08C5-43EB-BC0C-B57314F06B48}"/>
              </a:ext>
            </a:extLst>
          </p:cNvPr>
          <p:cNvSpPr>
            <a:spLocks xmlns:a="http://schemas.openxmlformats.org/drawingml/2006/main" noGrp="1"/>
          </p:cNvSpPr>
          <p:nvPr/>
        </p:nvSpPr>
        <p:spPr>
          <a:xfrm xmlns:a="http://schemas.openxmlformats.org/drawingml/2006/main">
            <a:off x="8191500" y="2076450"/>
            <a:ext cx="3000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084878"/>
                </a:solidFill>
                <a:latin typeface="Geist Mono"/>
                <a:ea typeface="Geist Mono"/>
                <a:cs typeface="Geist Mono"/>
              </a:defRPr>
            </a:pPr>
            <a:r>
              <a:rPr sz="1050" b="1">
                <a:solidFill>
                  <a:srgbClr val="084878"/>
                </a:solidFill>
                <a:latin typeface="Geist Mono"/>
                <a:ea typeface="Geist Mono"/>
                <a:cs typeface="Geist Mono"/>
              </a:rPr>
              <a:t>Perzentil      Schwelle      Hinweise</a:t>
            </a:r>
          </a:p>
        </p:txBody>
      </p:sp>
      <p:sp>
        <p:nvSpPr>
          <p:cNvPr id="7" name="">
            <a:extLst xmlns:a="http://schemas.openxmlformats.org/drawingml/2006/main">
              <a:ext uri="{FF2B5EF4-FFF2-40B4-BE49-F238E27FC236}">
                <a16:creationId xmlns:a16="http://schemas.microsoft.com/office/drawing/2014/main" id="{81ACBB3B-BBBD-40C3-92D3-FCA1C01F5F96}"/>
              </a:ext>
            </a:extLst>
          </p:cNvPr>
          <p:cNvSpPr>
            <a:spLocks xmlns:a="http://schemas.openxmlformats.org/drawingml/2006/main" noGrp="1"/>
          </p:cNvSpPr>
          <p:nvPr/>
        </p:nvSpPr>
        <p:spPr>
          <a:xfrm xmlns:a="http://schemas.openxmlformats.org/drawingml/2006/main">
            <a:off x="8239125" y="252412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6657A"/>
                </a:solidFill>
                <a:latin typeface="Geist Mono"/>
                <a:ea typeface="Geist Mono"/>
                <a:cs typeface="Geist Mono"/>
              </a:defRPr>
            </a:pPr>
            <a:r>
              <a:rPr sz="1125" b="0">
                <a:solidFill>
                  <a:srgbClr val="56657A"/>
                </a:solidFill>
                <a:latin typeface="Geist Mono"/>
                <a:ea typeface="Geist Mono"/>
                <a:cs typeface="Geist Mono"/>
              </a:rPr>
              <a:t>q95</a:t>
            </a:r>
          </a:p>
        </p:txBody>
      </p:sp>
      <p:sp>
        <p:nvSpPr>
          <p:cNvPr id="8" name="">
            <a:extLst xmlns:a="http://schemas.openxmlformats.org/drawingml/2006/main">
              <a:ext uri="{FF2B5EF4-FFF2-40B4-BE49-F238E27FC236}">
                <a16:creationId xmlns:a16="http://schemas.microsoft.com/office/drawing/2014/main" id="{BC234A96-24AA-44DB-B08E-F00CEEC96DD4}"/>
              </a:ext>
            </a:extLst>
          </p:cNvPr>
          <p:cNvSpPr>
            <a:spLocks xmlns:a="http://schemas.openxmlformats.org/drawingml/2006/main" noGrp="1"/>
          </p:cNvSpPr>
          <p:nvPr/>
        </p:nvSpPr>
        <p:spPr>
          <a:xfrm xmlns:a="http://schemas.openxmlformats.org/drawingml/2006/main">
            <a:off x="9001125" y="252412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0">
                <a:solidFill>
                  <a:srgbClr val="141A21"/>
                </a:solidFill>
                <a:latin typeface="Geist Mono"/>
                <a:ea typeface="Geist Mono"/>
                <a:cs typeface="Geist Mono"/>
              </a:defRPr>
            </a:pPr>
            <a:r>
              <a:rPr sz="1125" b="0">
                <a:solidFill>
                  <a:srgbClr val="141A21"/>
                </a:solidFill>
                <a:latin typeface="Geist Mono"/>
                <a:ea typeface="Geist Mono"/>
                <a:cs typeface="Geist Mono"/>
              </a:rPr>
              <a:t>68,0 h</a:t>
            </a:r>
          </a:p>
        </p:txBody>
      </p:sp>
      <p:sp>
        <p:nvSpPr>
          <p:cNvPr id="9" name="">
            <a:extLst xmlns:a="http://schemas.openxmlformats.org/drawingml/2006/main">
              <a:ext uri="{FF2B5EF4-FFF2-40B4-BE49-F238E27FC236}">
                <a16:creationId xmlns:a16="http://schemas.microsoft.com/office/drawing/2014/main" id="{78E32663-F2B0-4C26-A7A3-97CD1E04A887}"/>
              </a:ext>
            </a:extLst>
          </p:cNvPr>
          <p:cNvSpPr>
            <a:spLocks xmlns:a="http://schemas.openxmlformats.org/drawingml/2006/main" noGrp="1"/>
          </p:cNvSpPr>
          <p:nvPr/>
        </p:nvSpPr>
        <p:spPr>
          <a:xfrm xmlns:a="http://schemas.openxmlformats.org/drawingml/2006/main">
            <a:off x="10048875" y="2524125"/>
            <a:ext cx="1095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0">
                <a:solidFill>
                  <a:srgbClr val="141A21"/>
                </a:solidFill>
                <a:latin typeface="Geist Mono"/>
                <a:ea typeface="Geist Mono"/>
                <a:cs typeface="Geist Mono"/>
              </a:defRPr>
            </a:pPr>
            <a:r>
              <a:rPr sz="1125" b="0">
                <a:solidFill>
                  <a:srgbClr val="141A21"/>
                </a:solidFill>
                <a:latin typeface="Geist Mono"/>
                <a:ea typeface="Geist Mono"/>
                <a:cs typeface="Geist Mono"/>
              </a:rPr>
              <a:t>33,3 / Monat</a:t>
            </a:r>
          </a:p>
        </p:txBody>
      </p:sp>
      <p:sp>
        <p:nvSpPr>
          <p:cNvPr id="10" name="">
            <a:extLst xmlns:a="http://schemas.openxmlformats.org/drawingml/2006/main">
              <a:ext uri="{FF2B5EF4-FFF2-40B4-BE49-F238E27FC236}">
                <a16:creationId xmlns:a16="http://schemas.microsoft.com/office/drawing/2014/main" id="{7DDB7D08-6D7F-4F17-8AAE-387B1E8DF293}"/>
              </a:ext>
            </a:extLst>
          </p:cNvPr>
          <p:cNvSpPr>
            <a:spLocks xmlns:a="http://schemas.openxmlformats.org/drawingml/2006/main" noGrp="1"/>
          </p:cNvSpPr>
          <p:nvPr/>
        </p:nvSpPr>
        <p:spPr>
          <a:xfrm xmlns:a="http://schemas.openxmlformats.org/drawingml/2006/main">
            <a:off x="8239125" y="30384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6657A"/>
                </a:solidFill>
                <a:latin typeface="Geist Mono"/>
                <a:ea typeface="Geist Mono"/>
                <a:cs typeface="Geist Mono"/>
              </a:defRPr>
            </a:pPr>
            <a:r>
              <a:rPr sz="1125" b="0">
                <a:solidFill>
                  <a:srgbClr val="56657A"/>
                </a:solidFill>
                <a:latin typeface="Geist Mono"/>
                <a:ea typeface="Geist Mono"/>
                <a:cs typeface="Geist Mono"/>
              </a:rPr>
              <a:t>q97,5</a:t>
            </a:r>
          </a:p>
        </p:txBody>
      </p:sp>
      <p:sp>
        <p:nvSpPr>
          <p:cNvPr id="11" name="">
            <a:extLst xmlns:a="http://schemas.openxmlformats.org/drawingml/2006/main">
              <a:ext uri="{FF2B5EF4-FFF2-40B4-BE49-F238E27FC236}">
                <a16:creationId xmlns:a16="http://schemas.microsoft.com/office/drawing/2014/main" id="{F63E216C-8AAB-4259-A3E0-486A790F0067}"/>
              </a:ext>
            </a:extLst>
          </p:cNvPr>
          <p:cNvSpPr>
            <a:spLocks xmlns:a="http://schemas.openxmlformats.org/drawingml/2006/main" noGrp="1"/>
          </p:cNvSpPr>
          <p:nvPr/>
        </p:nvSpPr>
        <p:spPr>
          <a:xfrm xmlns:a="http://schemas.openxmlformats.org/drawingml/2006/main">
            <a:off x="9001125" y="30384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0">
                <a:solidFill>
                  <a:srgbClr val="141A21"/>
                </a:solidFill>
                <a:latin typeface="Geist Mono"/>
                <a:ea typeface="Geist Mono"/>
                <a:cs typeface="Geist Mono"/>
              </a:defRPr>
            </a:pPr>
            <a:r>
              <a:rPr sz="1125" b="0">
                <a:solidFill>
                  <a:srgbClr val="141A21"/>
                </a:solidFill>
                <a:latin typeface="Geist Mono"/>
                <a:ea typeface="Geist Mono"/>
                <a:cs typeface="Geist Mono"/>
              </a:rPr>
              <a:t>82,4 h</a:t>
            </a:r>
          </a:p>
        </p:txBody>
      </p:sp>
      <p:sp>
        <p:nvSpPr>
          <p:cNvPr id="12" name="">
            <a:extLst xmlns:a="http://schemas.openxmlformats.org/drawingml/2006/main">
              <a:ext uri="{FF2B5EF4-FFF2-40B4-BE49-F238E27FC236}">
                <a16:creationId xmlns:a16="http://schemas.microsoft.com/office/drawing/2014/main" id="{D5D40B4D-56EE-4D17-8F08-B940045369CF}"/>
              </a:ext>
            </a:extLst>
          </p:cNvPr>
          <p:cNvSpPr>
            <a:spLocks xmlns:a="http://schemas.openxmlformats.org/drawingml/2006/main" noGrp="1"/>
          </p:cNvSpPr>
          <p:nvPr/>
        </p:nvSpPr>
        <p:spPr>
          <a:xfrm xmlns:a="http://schemas.openxmlformats.org/drawingml/2006/main">
            <a:off x="10048875" y="3038475"/>
            <a:ext cx="1095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0">
                <a:solidFill>
                  <a:srgbClr val="141A21"/>
                </a:solidFill>
                <a:latin typeface="Geist Mono"/>
                <a:ea typeface="Geist Mono"/>
                <a:cs typeface="Geist Mono"/>
              </a:defRPr>
            </a:pPr>
            <a:r>
              <a:rPr sz="1125" b="0">
                <a:solidFill>
                  <a:srgbClr val="141A21"/>
                </a:solidFill>
                <a:latin typeface="Geist Mono"/>
                <a:ea typeface="Geist Mono"/>
                <a:cs typeface="Geist Mono"/>
              </a:rPr>
              <a:t>21,3 / Monat</a:t>
            </a:r>
          </a:p>
        </p:txBody>
      </p:sp>
      <p:sp>
        <p:nvSpPr>
          <p:cNvPr id="13" name="">
            <a:extLst xmlns:a="http://schemas.openxmlformats.org/drawingml/2006/main">
              <a:ext uri="{FF2B5EF4-FFF2-40B4-BE49-F238E27FC236}">
                <a16:creationId xmlns:a16="http://schemas.microsoft.com/office/drawing/2014/main" id="{D392B745-6510-4FCE-B5C7-5805B16D1616}"/>
              </a:ext>
            </a:extLst>
          </p:cNvPr>
          <p:cNvSpPr>
            <a:spLocks xmlns:a="http://schemas.openxmlformats.org/drawingml/2006/main" noGrp="1"/>
          </p:cNvSpPr>
          <p:nvPr/>
        </p:nvSpPr>
        <p:spPr>
          <a:xfrm xmlns:a="http://schemas.openxmlformats.org/drawingml/2006/main">
            <a:off x="8096250" y="3476625"/>
            <a:ext cx="3190875" cy="409575"/>
          </a:xfrm>
          <a:prstGeom xmlns:a="http://schemas.openxmlformats.org/drawingml/2006/main" prst="roundRect">
            <a:avLst>
              <a:gd name="adj" fmla="val 18605"/>
            </a:avLst>
          </a:prstGeom>
          <a:solidFill xmlns:a="http://schemas.openxmlformats.org/drawingml/2006/main">
            <a:srgbClr val="FFF2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61E092F-5A3B-4255-8445-D7B5D5AE8027}"/>
              </a:ext>
            </a:extLst>
          </p:cNvPr>
          <p:cNvSpPr>
            <a:spLocks xmlns:a="http://schemas.openxmlformats.org/drawingml/2006/main" noGrp="1"/>
          </p:cNvSpPr>
          <p:nvPr/>
        </p:nvSpPr>
        <p:spPr>
          <a:xfrm xmlns:a="http://schemas.openxmlformats.org/drawingml/2006/main">
            <a:off x="8239125" y="355282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86505"/>
                </a:solidFill>
                <a:latin typeface="Geist Mono"/>
                <a:ea typeface="Geist Mono"/>
                <a:cs typeface="Geist Mono"/>
              </a:defRPr>
            </a:pPr>
            <a:r>
              <a:rPr sz="1125" b="1">
                <a:solidFill>
                  <a:srgbClr val="A86505"/>
                </a:solidFill>
                <a:latin typeface="Geist Mono"/>
                <a:ea typeface="Geist Mono"/>
                <a:cs typeface="Geist Mono"/>
              </a:rPr>
              <a:t>q99</a:t>
            </a:r>
          </a:p>
        </p:txBody>
      </p:sp>
      <p:sp>
        <p:nvSpPr>
          <p:cNvPr id="15" name="">
            <a:extLst xmlns:a="http://schemas.openxmlformats.org/drawingml/2006/main">
              <a:ext uri="{FF2B5EF4-FFF2-40B4-BE49-F238E27FC236}">
                <a16:creationId xmlns:a16="http://schemas.microsoft.com/office/drawing/2014/main" id="{53CEFAEB-324B-4654-9B33-FE6DE56A2E6F}"/>
              </a:ext>
            </a:extLst>
          </p:cNvPr>
          <p:cNvSpPr>
            <a:spLocks xmlns:a="http://schemas.openxmlformats.org/drawingml/2006/main" noGrp="1"/>
          </p:cNvSpPr>
          <p:nvPr/>
        </p:nvSpPr>
        <p:spPr>
          <a:xfrm xmlns:a="http://schemas.openxmlformats.org/drawingml/2006/main">
            <a:off x="9001125" y="355282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141A21"/>
                </a:solidFill>
                <a:latin typeface="Geist Mono"/>
                <a:ea typeface="Geist Mono"/>
                <a:cs typeface="Geist Mono"/>
              </a:defRPr>
            </a:pPr>
            <a:r>
              <a:rPr sz="1125" b="1">
                <a:solidFill>
                  <a:srgbClr val="141A21"/>
                </a:solidFill>
                <a:latin typeface="Geist Mono"/>
                <a:ea typeface="Geist Mono"/>
                <a:cs typeface="Geist Mono"/>
              </a:rPr>
              <a:t>144,4 h</a:t>
            </a:r>
          </a:p>
        </p:txBody>
      </p:sp>
      <p:sp>
        <p:nvSpPr>
          <p:cNvPr id="16" name="">
            <a:extLst xmlns:a="http://schemas.openxmlformats.org/drawingml/2006/main">
              <a:ext uri="{FF2B5EF4-FFF2-40B4-BE49-F238E27FC236}">
                <a16:creationId xmlns:a16="http://schemas.microsoft.com/office/drawing/2014/main" id="{315CAB1E-E526-4B7D-A387-ACC56FD98BF7}"/>
              </a:ext>
            </a:extLst>
          </p:cNvPr>
          <p:cNvSpPr>
            <a:spLocks xmlns:a="http://schemas.openxmlformats.org/drawingml/2006/main" noGrp="1"/>
          </p:cNvSpPr>
          <p:nvPr/>
        </p:nvSpPr>
        <p:spPr>
          <a:xfrm xmlns:a="http://schemas.openxmlformats.org/drawingml/2006/main">
            <a:off x="10048875" y="3552825"/>
            <a:ext cx="1095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141A21"/>
                </a:solidFill>
                <a:latin typeface="Geist Mono"/>
                <a:ea typeface="Geist Mono"/>
                <a:cs typeface="Geist Mono"/>
              </a:defRPr>
            </a:pPr>
            <a:r>
              <a:rPr sz="1125" b="1">
                <a:solidFill>
                  <a:srgbClr val="141A21"/>
                </a:solidFill>
                <a:latin typeface="Geist Mono"/>
                <a:ea typeface="Geist Mono"/>
                <a:cs typeface="Geist Mono"/>
              </a:rPr>
              <a:t>9,5 / Monat</a:t>
            </a:r>
          </a:p>
        </p:txBody>
      </p:sp>
      <p:sp>
        <p:nvSpPr>
          <p:cNvPr id="17" name="">
            <a:extLst xmlns:a="http://schemas.openxmlformats.org/drawingml/2006/main">
              <a:ext uri="{FF2B5EF4-FFF2-40B4-BE49-F238E27FC236}">
                <a16:creationId xmlns:a16="http://schemas.microsoft.com/office/drawing/2014/main" id="{507CCA5D-A182-4974-825E-3920D42E1032}"/>
              </a:ext>
            </a:extLst>
          </p:cNvPr>
          <p:cNvSpPr>
            <a:spLocks xmlns:a="http://schemas.openxmlformats.org/drawingml/2006/main" noGrp="1"/>
          </p:cNvSpPr>
          <p:nvPr/>
        </p:nvSpPr>
        <p:spPr>
          <a:xfrm xmlns:a="http://schemas.openxmlformats.org/drawingml/2006/main">
            <a:off x="8239125" y="40671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6657A"/>
                </a:solidFill>
                <a:latin typeface="Geist Mono"/>
                <a:ea typeface="Geist Mono"/>
                <a:cs typeface="Geist Mono"/>
              </a:defRPr>
            </a:pPr>
            <a:r>
              <a:rPr sz="1125" b="0">
                <a:solidFill>
                  <a:srgbClr val="56657A"/>
                </a:solidFill>
                <a:latin typeface="Geist Mono"/>
                <a:ea typeface="Geist Mono"/>
                <a:cs typeface="Geist Mono"/>
              </a:rPr>
              <a:t>q99,5</a:t>
            </a:r>
          </a:p>
        </p:txBody>
      </p:sp>
      <p:sp>
        <p:nvSpPr>
          <p:cNvPr id="18" name="">
            <a:extLst xmlns:a="http://schemas.openxmlformats.org/drawingml/2006/main">
              <a:ext uri="{FF2B5EF4-FFF2-40B4-BE49-F238E27FC236}">
                <a16:creationId xmlns:a16="http://schemas.microsoft.com/office/drawing/2014/main" id="{C8D5C2BC-8400-412F-8A29-1F2A29B5EAD3}"/>
              </a:ext>
            </a:extLst>
          </p:cNvPr>
          <p:cNvSpPr>
            <a:spLocks xmlns:a="http://schemas.openxmlformats.org/drawingml/2006/main" noGrp="1"/>
          </p:cNvSpPr>
          <p:nvPr/>
        </p:nvSpPr>
        <p:spPr>
          <a:xfrm xmlns:a="http://schemas.openxmlformats.org/drawingml/2006/main">
            <a:off x="9001125" y="4067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0">
                <a:solidFill>
                  <a:srgbClr val="141A21"/>
                </a:solidFill>
                <a:latin typeface="Geist Mono"/>
                <a:ea typeface="Geist Mono"/>
                <a:cs typeface="Geist Mono"/>
              </a:defRPr>
            </a:pPr>
            <a:r>
              <a:rPr sz="1125" b="0">
                <a:solidFill>
                  <a:srgbClr val="141A21"/>
                </a:solidFill>
                <a:latin typeface="Geist Mono"/>
                <a:ea typeface="Geist Mono"/>
                <a:cs typeface="Geist Mono"/>
              </a:rPr>
              <a:t>196,3 h</a:t>
            </a:r>
          </a:p>
        </p:txBody>
      </p:sp>
      <p:sp>
        <p:nvSpPr>
          <p:cNvPr id="19" name="">
            <a:extLst xmlns:a="http://schemas.openxmlformats.org/drawingml/2006/main">
              <a:ext uri="{FF2B5EF4-FFF2-40B4-BE49-F238E27FC236}">
                <a16:creationId xmlns:a16="http://schemas.microsoft.com/office/drawing/2014/main" id="{8A444513-E6FA-4583-A292-9D1E573639F8}"/>
              </a:ext>
            </a:extLst>
          </p:cNvPr>
          <p:cNvSpPr>
            <a:spLocks xmlns:a="http://schemas.openxmlformats.org/drawingml/2006/main" noGrp="1"/>
          </p:cNvSpPr>
          <p:nvPr/>
        </p:nvSpPr>
        <p:spPr>
          <a:xfrm xmlns:a="http://schemas.openxmlformats.org/drawingml/2006/main">
            <a:off x="10048875" y="4067175"/>
            <a:ext cx="1095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0">
                <a:solidFill>
                  <a:srgbClr val="141A21"/>
                </a:solidFill>
                <a:latin typeface="Geist Mono"/>
                <a:ea typeface="Geist Mono"/>
                <a:cs typeface="Geist Mono"/>
              </a:defRPr>
            </a:pPr>
            <a:r>
              <a:rPr sz="1125" b="0">
                <a:solidFill>
                  <a:srgbClr val="141A21"/>
                </a:solidFill>
                <a:latin typeface="Geist Mono"/>
                <a:ea typeface="Geist Mono"/>
                <a:cs typeface="Geist Mono"/>
              </a:rPr>
              <a:t>5,8 / Monat</a:t>
            </a:r>
          </a:p>
        </p:txBody>
      </p:sp>
      <p:sp>
        <p:nvSpPr>
          <p:cNvPr id="20" name="">
            <a:extLst xmlns:a="http://schemas.openxmlformats.org/drawingml/2006/main">
              <a:ext uri="{FF2B5EF4-FFF2-40B4-BE49-F238E27FC236}">
                <a16:creationId xmlns:a16="http://schemas.microsoft.com/office/drawing/2014/main" id="{F5DC4F04-7B46-4CC7-901B-AB622EE7DE27}"/>
              </a:ext>
            </a:extLst>
          </p:cNvPr>
          <p:cNvSpPr>
            <a:spLocks xmlns:a="http://schemas.openxmlformats.org/drawingml/2006/main" noGrp="1"/>
          </p:cNvSpPr>
          <p:nvPr/>
        </p:nvSpPr>
        <p:spPr>
          <a:xfrm xmlns:a="http://schemas.openxmlformats.org/drawingml/2006/main">
            <a:off x="1238250" y="5476875"/>
            <a:ext cx="9715500" cy="457200"/>
          </a:xfrm>
          <a:prstGeom xmlns:a="http://schemas.openxmlformats.org/drawingml/2006/main" prst="roundRect">
            <a:avLst>
              <a:gd name="adj" fmla="val 20833"/>
            </a:avLst>
          </a:prstGeom>
          <a:solidFill xmlns:a="http://schemas.openxmlformats.org/drawingml/2006/main">
            <a:srgbClr val="DFF4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36008E0-5CE5-4BDC-963F-9250842ACEB8}"/>
              </a:ext>
            </a:extLst>
          </p:cNvPr>
          <p:cNvSpPr>
            <a:spLocks xmlns:a="http://schemas.openxmlformats.org/drawingml/2006/main" noGrp="1"/>
          </p:cNvSpPr>
          <p:nvPr/>
        </p:nvSpPr>
        <p:spPr>
          <a:xfrm xmlns:a="http://schemas.openxmlformats.org/drawingml/2006/main">
            <a:off x="1476375" y="5610225"/>
            <a:ext cx="923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63" b="1">
                <a:solidFill>
                  <a:srgbClr val="084878"/>
                </a:solidFill>
                <a:latin typeface="IBM Plex Sans"/>
                <a:ea typeface="IBM Plex Sans"/>
                <a:cs typeface="IBM Plex Sans"/>
              </a:defRPr>
            </a:pPr>
            <a:r>
              <a:rPr sz="1163" b="1">
                <a:solidFill>
                  <a:srgbClr val="084878"/>
                </a:solidFill>
                <a:latin typeface="IBM Plex Sans"/>
                <a:ea typeface="IBM Plex Sans"/>
                <a:cs typeface="IBM Plex Sans"/>
              </a:rPr>
              <a:t>q99 ist eine dokumentierte Pilotannahme – der spätere Sweet Spot benötigt Prüfkapazität und bestätigte Labels.</a:t>
            </a:r>
          </a:p>
        </p:txBody>
      </p:sp>
      <p:sp>
        <p:nvSpPr>
          <p:cNvPr id="22" name="">
            <a:extLst xmlns:a="http://schemas.openxmlformats.org/drawingml/2006/main">
              <a:ext uri="{FF2B5EF4-FFF2-40B4-BE49-F238E27FC236}">
                <a16:creationId xmlns:a16="http://schemas.microsoft.com/office/drawing/2014/main" id="{2B7F4F97-C2BD-43BE-A333-B3A199EE2AD5}"/>
              </a:ext>
            </a:extLst>
          </p:cNvPr>
          <p:cNvSpPr>
            <a:spLocks xmlns:a="http://schemas.openxmlformats.org/drawingml/2006/main" noGrp="1"/>
          </p:cNvSpPr>
          <p:nvPr/>
        </p:nvSpPr>
        <p:spPr>
          <a:xfrm xmlns:a="http://schemas.openxmlformats.org/drawingml/2006/main">
            <a:off x="533400" y="6229350"/>
            <a:ext cx="11106150" cy="0"/>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23" name="">
            <a:extLst xmlns:a="http://schemas.openxmlformats.org/drawingml/2006/main">
              <a:ext uri="{FF2B5EF4-FFF2-40B4-BE49-F238E27FC236}">
                <a16:creationId xmlns:a16="http://schemas.microsoft.com/office/drawing/2014/main" id="{8555AC23-DF8D-4A83-902D-E330864B9941}"/>
              </a:ext>
            </a:extLst>
          </p:cNvPr>
          <p:cNvSpPr>
            <a:spLocks xmlns:a="http://schemas.openxmlformats.org/drawingml/2006/main" noGrp="1"/>
          </p:cNvSpPr>
          <p:nvPr/>
        </p:nvSpPr>
        <p:spPr>
          <a:xfrm xmlns:a="http://schemas.openxmlformats.org/drawingml/2006/main">
            <a:off x="533400" y="6229350"/>
            <a:ext cx="895350" cy="0"/>
          </a:xfrm>
          <a:prstGeom xmlns:a="http://schemas.openxmlformats.org/drawingml/2006/main" prst="line">
            <a:avLst/>
          </a:prstGeom>
          <a:noFill xmlns:a="http://schemas.openxmlformats.org/drawingml/2006/main"/>
          <a:ln xmlns:a="http://schemas.openxmlformats.org/drawingml/2006/main" w="38100">
            <a:solidFill>
              <a:srgbClr val="084878"/>
            </a:solidFill>
            <a:prstDash val="solid"/>
          </a:ln>
        </p:spPr>
      </p:sp>
      <p:sp>
        <p:nvSpPr>
          <p:cNvPr id="24" name="">
            <a:extLst xmlns:a="http://schemas.openxmlformats.org/drawingml/2006/main">
              <a:ext uri="{FF2B5EF4-FFF2-40B4-BE49-F238E27FC236}">
                <a16:creationId xmlns:a16="http://schemas.microsoft.com/office/drawing/2014/main" id="{59A9380D-BE77-448A-B423-246A4AAC15BE}"/>
              </a:ext>
            </a:extLst>
          </p:cNvPr>
          <p:cNvSpPr>
            <a:spLocks xmlns:a="http://schemas.openxmlformats.org/drawingml/2006/main" noGrp="1"/>
          </p:cNvSpPr>
          <p:nvPr/>
        </p:nvSpPr>
        <p:spPr>
          <a:xfrm xmlns:a="http://schemas.openxmlformats.org/drawingml/2006/main">
            <a:off x="533400" y="635317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13" b="0">
                <a:solidFill>
                  <a:srgbClr val="56657A"/>
                </a:solidFill>
                <a:latin typeface="IBM Plex Sans"/>
                <a:ea typeface="IBM Plex Sans"/>
                <a:cs typeface="IBM Plex Sans"/>
              </a:defRPr>
            </a:pPr>
            <a:r>
              <a:rPr sz="713" b="0">
                <a:solidFill>
                  <a:srgbClr val="56657A"/>
                </a:solidFill>
                <a:latin typeface="IBM Plex Sans"/>
                <a:ea typeface="IBM Plex Sans"/>
                <a:cs typeface="IBM Plex Sans"/>
              </a:rPr>
              <a:t>Quelle: notebooks/13_modellierung_von_grund_auf_verstehen.ipynb</a:t>
            </a:r>
          </a:p>
        </p:txBody>
      </p:sp>
      <p:sp>
        <p:nvSpPr>
          <p:cNvPr id="25" name="">
            <a:extLst xmlns:a="http://schemas.openxmlformats.org/drawingml/2006/main">
              <a:ext uri="{FF2B5EF4-FFF2-40B4-BE49-F238E27FC236}">
                <a16:creationId xmlns:a16="http://schemas.microsoft.com/office/drawing/2014/main" id="{EAB43FEC-E6AC-4CBF-8883-1ABD4478660A}"/>
              </a:ext>
            </a:extLst>
          </p:cNvPr>
          <p:cNvSpPr>
            <a:spLocks xmlns:a="http://schemas.openxmlformats.org/drawingml/2006/main" noGrp="1"/>
          </p:cNvSpPr>
          <p:nvPr/>
        </p:nvSpPr>
        <p:spPr>
          <a:xfrm xmlns:a="http://schemas.openxmlformats.org/drawingml/2006/main">
            <a:off x="10477500" y="63817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56657A"/>
                </a:solidFill>
                <a:latin typeface="Geist Mono"/>
                <a:ea typeface="Geist Mono"/>
                <a:cs typeface="Geist Mono"/>
              </a:defRPr>
            </a:pPr>
            <a:r>
              <a:rPr sz="825" b="0">
                <a:solidFill>
                  <a:srgbClr val="56657A"/>
                </a:solidFill>
                <a:latin typeface="Geist Mono"/>
                <a:ea typeface="Geist Mono"/>
                <a:cs typeface="Geist Mono"/>
              </a:rPr>
              <a:t>16</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729020c01c8c4e8d"/>
          <a:stretch xmlns:a="http://schemas.openxmlformats.org/drawingml/2006/main"/>
        </p:blipFill>
        <p:spPr>
          <a:xfrm xmlns:a="http://schemas.openxmlformats.org/drawingml/2006/main">
            <a:off x="11058812" y="6296025"/>
            <a:ext cx="513776" cy="438150"/>
          </a:xfrm>
          <a:prstGeom xmlns:a="http://schemas.openxmlformats.org/drawingml/2006/main" prst="rect">
            <a:avLst/>
          </a:prstGeom>
        </p:spPr>
      </p:pic>
    </p:spTree>
    <p:extLst>
      <p:ext uri="{BB962C8B-B14F-4D97-AF65-F5344CB8AC3E}">
        <p14:creationId xmlns:p14="http://schemas.microsoft.com/office/powerpoint/2010/main" val="161414828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FB8042C4-4795-4557-818E-A532F473C713}"/>
              </a:ext>
            </a:extLst>
          </p:cNvPr>
          <p:cNvSpPr>
            <a:spLocks xmlns:a="http://schemas.openxmlformats.org/drawingml/2006/main" noGrp="1"/>
          </p:cNvSpPr>
          <p:nvPr/>
        </p:nvSpPr>
        <p:spPr>
          <a:xfrm xmlns:a="http://schemas.openxmlformats.org/drawingml/2006/main">
            <a:off x="533400" y="3048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80A0"/>
                </a:solidFill>
                <a:latin typeface="IBM Plex Sans"/>
                <a:ea typeface="IBM Plex Sans"/>
                <a:cs typeface="IBM Plex Sans"/>
              </a:defRPr>
            </a:pPr>
            <a:r>
              <a:rPr sz="825" b="1">
                <a:solidFill>
                  <a:srgbClr val="0080A0"/>
                </a:solidFill>
                <a:latin typeface="IBM Plex Sans"/>
                <a:ea typeface="IBM Plex Sans"/>
                <a:cs typeface="IBM Plex Sans"/>
              </a:rPr>
              <a:t>SWW / ENERGIEANALYSE · BACKUP  ·  ANHANG D</a:t>
            </a:r>
          </a:p>
        </p:txBody>
      </p:sp>
      <p:sp>
        <p:nvSpPr>
          <p:cNvPr id="2" name="">
            <a:extLst xmlns:a="http://schemas.openxmlformats.org/drawingml/2006/main">
              <a:ext uri="{FF2B5EF4-FFF2-40B4-BE49-F238E27FC236}">
                <a16:creationId xmlns:a16="http://schemas.microsoft.com/office/drawing/2014/main" id="{9D3E9196-BE3D-4E4F-AA53-D489E5733741}"/>
              </a:ext>
            </a:extLst>
          </p:cNvPr>
          <p:cNvSpPr>
            <a:spLocks xmlns:a="http://schemas.openxmlformats.org/drawingml/2006/main" noGrp="1"/>
          </p:cNvSpPr>
          <p:nvPr/>
        </p:nvSpPr>
        <p:spPr>
          <a:xfrm xmlns:a="http://schemas.openxmlformats.org/drawingml/2006/main">
            <a:off x="533400" y="638175"/>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0D2742"/>
                </a:solidFill>
                <a:latin typeface="IBM Plex Sans"/>
                <a:ea typeface="IBM Plex Sans"/>
                <a:cs typeface="IBM Plex Sans"/>
              </a:defRPr>
            </a:pPr>
            <a:r>
              <a:rPr sz="2550" b="1">
                <a:solidFill>
                  <a:srgbClr val="0D2742"/>
                </a:solidFill>
                <a:latin typeface="IBM Plex Sans"/>
                <a:ea typeface="IBM Plex Sans"/>
                <a:cs typeface="IBM Plex Sans"/>
              </a:rPr>
              <a:t>Fold-Ergebnisse und gewählte Random-Forest-Einstellung</a:t>
            </a:r>
          </a:p>
        </p:txBody>
      </p:sp>
      <p:sp>
        <p:nvSpPr>
          <p:cNvPr id="3" name="">
            <a:extLst xmlns:a="http://schemas.openxmlformats.org/drawingml/2006/main">
              <a:ext uri="{FF2B5EF4-FFF2-40B4-BE49-F238E27FC236}">
                <a16:creationId xmlns:a16="http://schemas.microsoft.com/office/drawing/2014/main" id="{3B61D6EE-FB21-4F50-909A-7F498F240976}"/>
              </a:ext>
            </a:extLst>
          </p:cNvPr>
          <p:cNvSpPr>
            <a:spLocks xmlns:a="http://schemas.openxmlformats.org/drawingml/2006/main" noGrp="1"/>
          </p:cNvSpPr>
          <p:nvPr/>
        </p:nvSpPr>
        <p:spPr>
          <a:xfrm xmlns:a="http://schemas.openxmlformats.org/drawingml/2006/main">
            <a:off x="533400" y="12668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6657A"/>
                </a:solidFill>
                <a:latin typeface="IBM Plex Sans"/>
                <a:ea typeface="IBM Plex Sans"/>
                <a:cs typeface="IBM Plex Sans"/>
              </a:defRPr>
            </a:pPr>
            <a:r>
              <a:rPr sz="1200" b="0">
                <a:solidFill>
                  <a:srgbClr val="56657A"/>
                </a:solidFill>
                <a:latin typeface="IBM Plex Sans"/>
                <a:ea typeface="IBM Plex Sans"/>
                <a:cs typeface="IBM Plex Sans"/>
              </a:rPr>
              <a:t>Mehr Trainingsmonate bedeuten nicht automatisch einen leichteren Bewertungszeitraum.</a:t>
            </a:r>
          </a:p>
        </p:txBody>
      </p:sp>
      <p:sp>
        <p:nvSpPr>
          <p:cNvPr id="4" name="">
            <a:extLst xmlns:a="http://schemas.openxmlformats.org/drawingml/2006/main">
              <a:ext uri="{FF2B5EF4-FFF2-40B4-BE49-F238E27FC236}">
                <a16:creationId xmlns:a16="http://schemas.microsoft.com/office/drawing/2014/main" id="{0425FC87-6A15-4AF7-B6E1-2E596024A7E6}"/>
              </a:ext>
            </a:extLst>
          </p:cNvPr>
          <p:cNvSpPr>
            <a:spLocks xmlns:a="http://schemas.openxmlformats.org/drawingml/2006/main" noGrp="1"/>
          </p:cNvSpPr>
          <p:nvPr/>
        </p:nvSpPr>
        <p:spPr>
          <a:xfrm xmlns:a="http://schemas.openxmlformats.org/drawingml/2006/main">
            <a:off x="619125" y="1857375"/>
            <a:ext cx="6286500" cy="3143250"/>
          </a:xfrm>
          <a:prstGeom xmlns:a="http://schemas.openxmlformats.org/drawingml/2006/main" prst="roundRect">
            <a:avLst>
              <a:gd name="adj" fmla="val 4242"/>
            </a:avLst>
          </a:prstGeom>
          <a:solidFill xmlns:a="http://schemas.openxmlformats.org/drawingml/2006/main">
            <a:srgbClr val="F5F8FB"/>
          </a:solidFill>
          <a:ln xmlns:a="http://schemas.openxmlformats.org/drawingml/2006/main" w="9525">
            <a:solidFill>
              <a:srgbClr val="D7E0EA"/>
            </a:solidFill>
            <a:prstDash val="solid"/>
          </a:ln>
        </p:spPr>
      </p:sp>
      <p:sp>
        <p:nvSpPr>
          <p:cNvPr id="5" name="">
            <a:extLst xmlns:a="http://schemas.openxmlformats.org/drawingml/2006/main">
              <a:ext uri="{FF2B5EF4-FFF2-40B4-BE49-F238E27FC236}">
                <a16:creationId xmlns:a16="http://schemas.microsoft.com/office/drawing/2014/main" id="{4FD9B43E-43C1-4E68-84AB-CAB9849CC80A}"/>
              </a:ext>
            </a:extLst>
          </p:cNvPr>
          <p:cNvSpPr>
            <a:spLocks xmlns:a="http://schemas.openxmlformats.org/drawingml/2006/main" noGrp="1"/>
          </p:cNvSpPr>
          <p:nvPr/>
        </p:nvSpPr>
        <p:spPr>
          <a:xfrm xmlns:a="http://schemas.openxmlformats.org/drawingml/2006/main">
            <a:off x="876300" y="21145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084878"/>
                </a:solidFill>
                <a:latin typeface="IBM Plex Sans"/>
                <a:ea typeface="IBM Plex Sans"/>
                <a:cs typeface="IBM Plex Sans"/>
              </a:defRPr>
            </a:pPr>
            <a:r>
              <a:rPr sz="1650" b="1">
                <a:solidFill>
                  <a:srgbClr val="084878"/>
                </a:solidFill>
                <a:latin typeface="IBM Plex Sans"/>
                <a:ea typeface="IBM Plex Sans"/>
                <a:cs typeface="IBM Plex Sans"/>
              </a:rPr>
              <a:t>Random-Forest-RMSE je Fold</a:t>
            </a:r>
          </a:p>
        </p:txBody>
      </p:sp>
      <p:sp>
        <p:nvSpPr>
          <p:cNvPr id="6" name="">
            <a:extLst xmlns:a="http://schemas.openxmlformats.org/drawingml/2006/main">
              <a:ext uri="{FF2B5EF4-FFF2-40B4-BE49-F238E27FC236}">
                <a16:creationId xmlns:a16="http://schemas.microsoft.com/office/drawing/2014/main" id="{C71A82D7-8DEE-4111-A838-6FAF6A2CB840}"/>
              </a:ext>
            </a:extLst>
          </p:cNvPr>
          <p:cNvSpPr>
            <a:spLocks xmlns:a="http://schemas.openxmlformats.org/drawingml/2006/main" noGrp="1"/>
          </p:cNvSpPr>
          <p:nvPr/>
        </p:nvSpPr>
        <p:spPr>
          <a:xfrm xmlns:a="http://schemas.openxmlformats.org/drawingml/2006/main">
            <a:off x="904875" y="2743200"/>
            <a:ext cx="762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6657A"/>
                </a:solidFill>
                <a:latin typeface="IBM Plex Sans"/>
                <a:ea typeface="IBM Plex Sans"/>
                <a:cs typeface="IBM Plex Sans"/>
              </a:defRPr>
            </a:pPr>
            <a:r>
              <a:rPr sz="1200" b="1">
                <a:solidFill>
                  <a:srgbClr val="56657A"/>
                </a:solidFill>
                <a:latin typeface="IBM Plex Sans"/>
                <a:ea typeface="IBM Plex Sans"/>
                <a:cs typeface="IBM Plex Sans"/>
              </a:rPr>
              <a:t>Fold 1</a:t>
            </a:r>
          </a:p>
        </p:txBody>
      </p:sp>
      <p:sp>
        <p:nvSpPr>
          <p:cNvPr id="7" name="">
            <a:extLst xmlns:a="http://schemas.openxmlformats.org/drawingml/2006/main">
              <a:ext uri="{FF2B5EF4-FFF2-40B4-BE49-F238E27FC236}">
                <a16:creationId xmlns:a16="http://schemas.microsoft.com/office/drawing/2014/main" id="{0CA99C19-3CE0-49CC-A18D-C8052EA483F2}"/>
              </a:ext>
            </a:extLst>
          </p:cNvPr>
          <p:cNvSpPr>
            <a:spLocks xmlns:a="http://schemas.openxmlformats.org/drawingml/2006/main" noGrp="1"/>
          </p:cNvSpPr>
          <p:nvPr/>
        </p:nvSpPr>
        <p:spPr>
          <a:xfrm xmlns:a="http://schemas.openxmlformats.org/drawingml/2006/main">
            <a:off x="1762125" y="2762250"/>
            <a:ext cx="4176236" cy="257175"/>
          </a:xfrm>
          <a:prstGeom xmlns:a="http://schemas.openxmlformats.org/drawingml/2006/main" prst="roundRect">
            <a:avLst>
              <a:gd name="adj" fmla="val 22222"/>
            </a:avLst>
          </a:prstGeom>
          <a:solidFill xmlns:a="http://schemas.openxmlformats.org/drawingml/2006/main">
            <a:srgbClr val="0848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79AAFEF-7E69-496D-9FD7-6DC0A1F7115B}"/>
              </a:ext>
            </a:extLst>
          </p:cNvPr>
          <p:cNvSpPr>
            <a:spLocks xmlns:a="http://schemas.openxmlformats.org/drawingml/2006/main" noGrp="1"/>
          </p:cNvSpPr>
          <p:nvPr/>
        </p:nvSpPr>
        <p:spPr>
          <a:xfrm xmlns:a="http://schemas.openxmlformats.org/drawingml/2006/main">
            <a:off x="5762625" y="2743200"/>
            <a:ext cx="876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141A21"/>
                </a:solidFill>
                <a:latin typeface="Geist Mono"/>
                <a:ea typeface="Geist Mono"/>
                <a:cs typeface="Geist Mono"/>
              </a:defRPr>
            </a:pPr>
            <a:r>
              <a:rPr sz="1050" b="1">
                <a:solidFill>
                  <a:srgbClr val="141A21"/>
                </a:solidFill>
                <a:latin typeface="Geist Mono"/>
                <a:ea typeface="Geist Mono"/>
                <a:cs typeface="Geist Mono"/>
              </a:rPr>
              <a:t>17.538 kWh</a:t>
            </a:r>
          </a:p>
        </p:txBody>
      </p:sp>
      <p:sp>
        <p:nvSpPr>
          <p:cNvPr id="9" name="">
            <a:extLst xmlns:a="http://schemas.openxmlformats.org/drawingml/2006/main">
              <a:ext uri="{FF2B5EF4-FFF2-40B4-BE49-F238E27FC236}">
                <a16:creationId xmlns:a16="http://schemas.microsoft.com/office/drawing/2014/main" id="{D5AE7E60-AF56-4E7D-97D1-0B9DFB80F651}"/>
              </a:ext>
            </a:extLst>
          </p:cNvPr>
          <p:cNvSpPr>
            <a:spLocks xmlns:a="http://schemas.openxmlformats.org/drawingml/2006/main" noGrp="1"/>
          </p:cNvSpPr>
          <p:nvPr/>
        </p:nvSpPr>
        <p:spPr>
          <a:xfrm xmlns:a="http://schemas.openxmlformats.org/drawingml/2006/main">
            <a:off x="904875" y="3409950"/>
            <a:ext cx="762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6657A"/>
                </a:solidFill>
                <a:latin typeface="IBM Plex Sans"/>
                <a:ea typeface="IBM Plex Sans"/>
                <a:cs typeface="IBM Plex Sans"/>
              </a:defRPr>
            </a:pPr>
            <a:r>
              <a:rPr sz="1200" b="1">
                <a:solidFill>
                  <a:srgbClr val="56657A"/>
                </a:solidFill>
                <a:latin typeface="IBM Plex Sans"/>
                <a:ea typeface="IBM Plex Sans"/>
                <a:cs typeface="IBM Plex Sans"/>
              </a:rPr>
              <a:t>Fold 2</a:t>
            </a:r>
          </a:p>
        </p:txBody>
      </p:sp>
      <p:sp>
        <p:nvSpPr>
          <p:cNvPr id="10" name="">
            <a:extLst xmlns:a="http://schemas.openxmlformats.org/drawingml/2006/main">
              <a:ext uri="{FF2B5EF4-FFF2-40B4-BE49-F238E27FC236}">
                <a16:creationId xmlns:a16="http://schemas.microsoft.com/office/drawing/2014/main" id="{30AD89DD-8F3A-45FA-B9A0-0F5694DA4CF3}"/>
              </a:ext>
            </a:extLst>
          </p:cNvPr>
          <p:cNvSpPr>
            <a:spLocks xmlns:a="http://schemas.openxmlformats.org/drawingml/2006/main" noGrp="1"/>
          </p:cNvSpPr>
          <p:nvPr/>
        </p:nvSpPr>
        <p:spPr>
          <a:xfrm xmlns:a="http://schemas.openxmlformats.org/drawingml/2006/main">
            <a:off x="1762125" y="3429000"/>
            <a:ext cx="1958340" cy="257175"/>
          </a:xfrm>
          <a:prstGeom xmlns:a="http://schemas.openxmlformats.org/drawingml/2006/main" prst="roundRect">
            <a:avLst>
              <a:gd name="adj" fmla="val 22222"/>
            </a:avLst>
          </a:prstGeom>
          <a:solidFill xmlns:a="http://schemas.openxmlformats.org/drawingml/2006/main">
            <a:srgbClr val="397A4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F258C09-1E65-45C1-9805-273C441EAEBB}"/>
              </a:ext>
            </a:extLst>
          </p:cNvPr>
          <p:cNvSpPr>
            <a:spLocks xmlns:a="http://schemas.openxmlformats.org/drawingml/2006/main" noGrp="1"/>
          </p:cNvSpPr>
          <p:nvPr/>
        </p:nvSpPr>
        <p:spPr>
          <a:xfrm xmlns:a="http://schemas.openxmlformats.org/drawingml/2006/main">
            <a:off x="5762625" y="3409950"/>
            <a:ext cx="876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141A21"/>
                </a:solidFill>
                <a:latin typeface="Geist Mono"/>
                <a:ea typeface="Geist Mono"/>
                <a:cs typeface="Geist Mono"/>
              </a:defRPr>
            </a:pPr>
            <a:r>
              <a:rPr sz="1050" b="1">
                <a:solidFill>
                  <a:srgbClr val="141A21"/>
                </a:solidFill>
                <a:latin typeface="Geist Mono"/>
                <a:ea typeface="Geist Mono"/>
                <a:cs typeface="Geist Mono"/>
              </a:rPr>
              <a:t>8.224 kWh</a:t>
            </a:r>
          </a:p>
        </p:txBody>
      </p:sp>
      <p:sp>
        <p:nvSpPr>
          <p:cNvPr id="12" name="">
            <a:extLst xmlns:a="http://schemas.openxmlformats.org/drawingml/2006/main">
              <a:ext uri="{FF2B5EF4-FFF2-40B4-BE49-F238E27FC236}">
                <a16:creationId xmlns:a16="http://schemas.microsoft.com/office/drawing/2014/main" id="{F084E4F8-C7F5-408A-B90D-BF18EF8D7944}"/>
              </a:ext>
            </a:extLst>
          </p:cNvPr>
          <p:cNvSpPr>
            <a:spLocks xmlns:a="http://schemas.openxmlformats.org/drawingml/2006/main" noGrp="1"/>
          </p:cNvSpPr>
          <p:nvPr/>
        </p:nvSpPr>
        <p:spPr>
          <a:xfrm xmlns:a="http://schemas.openxmlformats.org/drawingml/2006/main">
            <a:off x="904875" y="4076700"/>
            <a:ext cx="762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6657A"/>
                </a:solidFill>
                <a:latin typeface="IBM Plex Sans"/>
                <a:ea typeface="IBM Plex Sans"/>
                <a:cs typeface="IBM Plex Sans"/>
              </a:defRPr>
            </a:pPr>
            <a:r>
              <a:rPr sz="1200" b="1">
                <a:solidFill>
                  <a:srgbClr val="56657A"/>
                </a:solidFill>
                <a:latin typeface="IBM Plex Sans"/>
                <a:ea typeface="IBM Plex Sans"/>
                <a:cs typeface="IBM Plex Sans"/>
              </a:rPr>
              <a:t>Fold 3</a:t>
            </a:r>
          </a:p>
        </p:txBody>
      </p:sp>
      <p:sp>
        <p:nvSpPr>
          <p:cNvPr id="13" name="">
            <a:extLst xmlns:a="http://schemas.openxmlformats.org/drawingml/2006/main">
              <a:ext uri="{FF2B5EF4-FFF2-40B4-BE49-F238E27FC236}">
                <a16:creationId xmlns:a16="http://schemas.microsoft.com/office/drawing/2014/main" id="{A1D16126-F1B0-4B70-96C8-78AE215DA3FC}"/>
              </a:ext>
            </a:extLst>
          </p:cNvPr>
          <p:cNvSpPr>
            <a:spLocks xmlns:a="http://schemas.openxmlformats.org/drawingml/2006/main" noGrp="1"/>
          </p:cNvSpPr>
          <p:nvPr/>
        </p:nvSpPr>
        <p:spPr>
          <a:xfrm xmlns:a="http://schemas.openxmlformats.org/drawingml/2006/main">
            <a:off x="1762125" y="4095750"/>
            <a:ext cx="3347085" cy="257175"/>
          </a:xfrm>
          <a:prstGeom xmlns:a="http://schemas.openxmlformats.org/drawingml/2006/main" prst="roundRect">
            <a:avLst>
              <a:gd name="adj" fmla="val 22222"/>
            </a:avLst>
          </a:prstGeom>
          <a:solidFill xmlns:a="http://schemas.openxmlformats.org/drawingml/2006/main">
            <a:srgbClr val="0090C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28E0D99-FBC5-49AD-A167-81920F4BFB3A}"/>
              </a:ext>
            </a:extLst>
          </p:cNvPr>
          <p:cNvSpPr>
            <a:spLocks xmlns:a="http://schemas.openxmlformats.org/drawingml/2006/main" noGrp="1"/>
          </p:cNvSpPr>
          <p:nvPr/>
        </p:nvSpPr>
        <p:spPr>
          <a:xfrm xmlns:a="http://schemas.openxmlformats.org/drawingml/2006/main">
            <a:off x="5762625" y="4076700"/>
            <a:ext cx="876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141A21"/>
                </a:solidFill>
                <a:latin typeface="Geist Mono"/>
                <a:ea typeface="Geist Mono"/>
                <a:cs typeface="Geist Mono"/>
              </a:defRPr>
            </a:pPr>
            <a:r>
              <a:rPr sz="1050" b="1">
                <a:solidFill>
                  <a:srgbClr val="141A21"/>
                </a:solidFill>
                <a:latin typeface="Geist Mono"/>
                <a:ea typeface="Geist Mono"/>
                <a:cs typeface="Geist Mono"/>
              </a:rPr>
              <a:t>14.056 kWh</a:t>
            </a:r>
          </a:p>
        </p:txBody>
      </p:sp>
      <p:sp>
        <p:nvSpPr>
          <p:cNvPr id="15" name="">
            <a:extLst xmlns:a="http://schemas.openxmlformats.org/drawingml/2006/main">
              <a:ext uri="{FF2B5EF4-FFF2-40B4-BE49-F238E27FC236}">
                <a16:creationId xmlns:a16="http://schemas.microsoft.com/office/drawing/2014/main" id="{740FC1B7-E082-42A0-B2FD-5AC54F394503}"/>
              </a:ext>
            </a:extLst>
          </p:cNvPr>
          <p:cNvSpPr>
            <a:spLocks xmlns:a="http://schemas.openxmlformats.org/drawingml/2006/main" noGrp="1"/>
          </p:cNvSpPr>
          <p:nvPr/>
        </p:nvSpPr>
        <p:spPr>
          <a:xfrm xmlns:a="http://schemas.openxmlformats.org/drawingml/2006/main">
            <a:off x="895350" y="45148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084878"/>
                </a:solidFill>
                <a:latin typeface="Geist Mono"/>
                <a:ea typeface="Geist Mono"/>
                <a:cs typeface="Geist Mono"/>
              </a:defRPr>
            </a:pPr>
            <a:r>
              <a:rPr sz="1125" b="1">
                <a:solidFill>
                  <a:srgbClr val="084878"/>
                </a:solidFill>
                <a:latin typeface="Geist Mono"/>
                <a:ea typeface="Geist Mono"/>
                <a:cs typeface="Geist Mono"/>
              </a:rPr>
              <a:t>Mittel: 13.272 kWh · Standardabweichung: 3.843 kWh</a:t>
            </a:r>
          </a:p>
        </p:txBody>
      </p:sp>
      <p:sp>
        <p:nvSpPr>
          <p:cNvPr id="16" name="">
            <a:extLst xmlns:a="http://schemas.openxmlformats.org/drawingml/2006/main">
              <a:ext uri="{FF2B5EF4-FFF2-40B4-BE49-F238E27FC236}">
                <a16:creationId xmlns:a16="http://schemas.microsoft.com/office/drawing/2014/main" id="{8D95804C-B106-4246-8B15-199862BF46E5}"/>
              </a:ext>
            </a:extLst>
          </p:cNvPr>
          <p:cNvSpPr>
            <a:spLocks xmlns:a="http://schemas.openxmlformats.org/drawingml/2006/main" noGrp="1"/>
          </p:cNvSpPr>
          <p:nvPr/>
        </p:nvSpPr>
        <p:spPr>
          <a:xfrm xmlns:a="http://schemas.openxmlformats.org/drawingml/2006/main">
            <a:off x="7334250" y="1857375"/>
            <a:ext cx="4191000" cy="3143250"/>
          </a:xfrm>
          <a:prstGeom xmlns:a="http://schemas.openxmlformats.org/drawingml/2006/main" prst="roundRect">
            <a:avLst>
              <a:gd name="adj" fmla="val 4242"/>
            </a:avLst>
          </a:prstGeom>
          <a:solidFill xmlns:a="http://schemas.openxmlformats.org/drawingml/2006/main">
            <a:srgbClr val="FFFFFF"/>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0798D515-588E-4404-9428-028D1291A7EB}"/>
              </a:ext>
            </a:extLst>
          </p:cNvPr>
          <p:cNvSpPr>
            <a:spLocks xmlns:a="http://schemas.openxmlformats.org/drawingml/2006/main" noGrp="1"/>
          </p:cNvSpPr>
          <p:nvPr/>
        </p:nvSpPr>
        <p:spPr>
          <a:xfrm xmlns:a="http://schemas.openxmlformats.org/drawingml/2006/main">
            <a:off x="7639050" y="2114550"/>
            <a:ext cx="3571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084878"/>
                </a:solidFill>
                <a:latin typeface="IBM Plex Sans"/>
                <a:ea typeface="IBM Plex Sans"/>
                <a:cs typeface="IBM Plex Sans"/>
              </a:defRPr>
            </a:pPr>
            <a:r>
              <a:rPr sz="1650" b="1">
                <a:solidFill>
                  <a:srgbClr val="084878"/>
                </a:solidFill>
                <a:latin typeface="IBM Plex Sans"/>
                <a:ea typeface="IBM Plex Sans"/>
                <a:cs typeface="IBM Plex Sans"/>
              </a:rPr>
              <a:t>Gewählte Konfiguration</a:t>
            </a:r>
          </a:p>
        </p:txBody>
      </p:sp>
      <p:sp>
        <p:nvSpPr>
          <p:cNvPr id="18" name="">
            <a:extLst xmlns:a="http://schemas.openxmlformats.org/drawingml/2006/main">
              <a:ext uri="{FF2B5EF4-FFF2-40B4-BE49-F238E27FC236}">
                <a16:creationId xmlns:a16="http://schemas.microsoft.com/office/drawing/2014/main" id="{447BEE31-ABAE-4EA6-827F-577A30470D8B}"/>
              </a:ext>
            </a:extLst>
          </p:cNvPr>
          <p:cNvSpPr>
            <a:spLocks xmlns:a="http://schemas.openxmlformats.org/drawingml/2006/main" noGrp="1"/>
          </p:cNvSpPr>
          <p:nvPr/>
        </p:nvSpPr>
        <p:spPr>
          <a:xfrm xmlns:a="http://schemas.openxmlformats.org/drawingml/2006/main">
            <a:off x="7658100" y="2647950"/>
            <a:ext cx="140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0080A0"/>
                </a:solidFill>
                <a:latin typeface="Geist Mono"/>
                <a:ea typeface="Geist Mono"/>
                <a:cs typeface="Geist Mono"/>
              </a:defRPr>
            </a:pPr>
            <a:r>
              <a:rPr sz="975" b="1">
                <a:solidFill>
                  <a:srgbClr val="0080A0"/>
                </a:solidFill>
                <a:latin typeface="Geist Mono"/>
                <a:ea typeface="Geist Mono"/>
                <a:cs typeface="Geist Mono"/>
              </a:rPr>
              <a:t>max_depth</a:t>
            </a:r>
          </a:p>
        </p:txBody>
      </p:sp>
      <p:sp>
        <p:nvSpPr>
          <p:cNvPr id="19" name="">
            <a:extLst xmlns:a="http://schemas.openxmlformats.org/drawingml/2006/main">
              <a:ext uri="{FF2B5EF4-FFF2-40B4-BE49-F238E27FC236}">
                <a16:creationId xmlns:a16="http://schemas.microsoft.com/office/drawing/2014/main" id="{478428FE-B65A-4C3A-B66F-FF2E23FD097B}"/>
              </a:ext>
            </a:extLst>
          </p:cNvPr>
          <p:cNvSpPr>
            <a:spLocks xmlns:a="http://schemas.openxmlformats.org/drawingml/2006/main" noGrp="1"/>
          </p:cNvSpPr>
          <p:nvPr/>
        </p:nvSpPr>
        <p:spPr>
          <a:xfrm xmlns:a="http://schemas.openxmlformats.org/drawingml/2006/main">
            <a:off x="9124950" y="264795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141A21"/>
                </a:solidFill>
                <a:latin typeface="Geist Mono"/>
                <a:ea typeface="Geist Mono"/>
                <a:cs typeface="Geist Mono"/>
              </a:defRPr>
            </a:pPr>
            <a:r>
              <a:rPr sz="1050" b="1">
                <a:solidFill>
                  <a:srgbClr val="141A21"/>
                </a:solidFill>
                <a:latin typeface="Geist Mono"/>
                <a:ea typeface="Geist Mono"/>
                <a:cs typeface="Geist Mono"/>
              </a:rPr>
              <a:t>8</a:t>
            </a:r>
          </a:p>
        </p:txBody>
      </p:sp>
      <p:sp>
        <p:nvSpPr>
          <p:cNvPr id="20" name="">
            <a:extLst xmlns:a="http://schemas.openxmlformats.org/drawingml/2006/main">
              <a:ext uri="{FF2B5EF4-FFF2-40B4-BE49-F238E27FC236}">
                <a16:creationId xmlns:a16="http://schemas.microsoft.com/office/drawing/2014/main" id="{474DD21D-5F2C-4AAA-8CE2-0CC3D3ADC13C}"/>
              </a:ext>
            </a:extLst>
          </p:cNvPr>
          <p:cNvSpPr>
            <a:spLocks xmlns:a="http://schemas.openxmlformats.org/drawingml/2006/main" noGrp="1"/>
          </p:cNvSpPr>
          <p:nvPr/>
        </p:nvSpPr>
        <p:spPr>
          <a:xfrm xmlns:a="http://schemas.openxmlformats.org/drawingml/2006/main">
            <a:off x="9791700" y="2647950"/>
            <a:ext cx="147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38" b="0">
                <a:solidFill>
                  <a:srgbClr val="56657A"/>
                </a:solidFill>
                <a:latin typeface="IBM Plex Sans"/>
                <a:ea typeface="IBM Plex Sans"/>
                <a:cs typeface="IBM Plex Sans"/>
              </a:defRPr>
            </a:pPr>
            <a:r>
              <a:rPr sz="938" b="0">
                <a:solidFill>
                  <a:srgbClr val="56657A"/>
                </a:solidFill>
                <a:latin typeface="IBM Plex Sans"/>
                <a:ea typeface="IBM Plex Sans"/>
                <a:cs typeface="IBM Plex Sans"/>
              </a:rPr>
              <a:t>begrenzt sehr spezielle Regeln</a:t>
            </a:r>
          </a:p>
        </p:txBody>
      </p:sp>
      <p:sp>
        <p:nvSpPr>
          <p:cNvPr id="21" name="">
            <a:extLst xmlns:a="http://schemas.openxmlformats.org/drawingml/2006/main">
              <a:ext uri="{FF2B5EF4-FFF2-40B4-BE49-F238E27FC236}">
                <a16:creationId xmlns:a16="http://schemas.microsoft.com/office/drawing/2014/main" id="{F0D72B9C-C353-4BA9-AE49-F494B7147B17}"/>
              </a:ext>
            </a:extLst>
          </p:cNvPr>
          <p:cNvSpPr>
            <a:spLocks xmlns:a="http://schemas.openxmlformats.org/drawingml/2006/main" noGrp="1"/>
          </p:cNvSpPr>
          <p:nvPr/>
        </p:nvSpPr>
        <p:spPr>
          <a:xfrm xmlns:a="http://schemas.openxmlformats.org/drawingml/2006/main">
            <a:off x="7658100" y="3105150"/>
            <a:ext cx="140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0080A0"/>
                </a:solidFill>
                <a:latin typeface="Geist Mono"/>
                <a:ea typeface="Geist Mono"/>
                <a:cs typeface="Geist Mono"/>
              </a:defRPr>
            </a:pPr>
            <a:r>
              <a:rPr sz="975" b="1">
                <a:solidFill>
                  <a:srgbClr val="0080A0"/>
                </a:solidFill>
                <a:latin typeface="Geist Mono"/>
                <a:ea typeface="Geist Mono"/>
                <a:cs typeface="Geist Mono"/>
              </a:rPr>
              <a:t>min_samples_leaf</a:t>
            </a:r>
          </a:p>
        </p:txBody>
      </p:sp>
      <p:sp>
        <p:nvSpPr>
          <p:cNvPr id="22" name="">
            <a:extLst xmlns:a="http://schemas.openxmlformats.org/drawingml/2006/main">
              <a:ext uri="{FF2B5EF4-FFF2-40B4-BE49-F238E27FC236}">
                <a16:creationId xmlns:a16="http://schemas.microsoft.com/office/drawing/2014/main" id="{9EF5C079-3D1B-42D0-AC6F-592B91EBCE54}"/>
              </a:ext>
            </a:extLst>
          </p:cNvPr>
          <p:cNvSpPr>
            <a:spLocks xmlns:a="http://schemas.openxmlformats.org/drawingml/2006/main" noGrp="1"/>
          </p:cNvSpPr>
          <p:nvPr/>
        </p:nvSpPr>
        <p:spPr>
          <a:xfrm xmlns:a="http://schemas.openxmlformats.org/drawingml/2006/main">
            <a:off x="9124950" y="310515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141A21"/>
                </a:solidFill>
                <a:latin typeface="Geist Mono"/>
                <a:ea typeface="Geist Mono"/>
                <a:cs typeface="Geist Mono"/>
              </a:defRPr>
            </a:pPr>
            <a:r>
              <a:rPr sz="1050" b="1">
                <a:solidFill>
                  <a:srgbClr val="141A21"/>
                </a:solidFill>
                <a:latin typeface="Geist Mono"/>
                <a:ea typeface="Geist Mono"/>
                <a:cs typeface="Geist Mono"/>
              </a:rPr>
              <a:t>5</a:t>
            </a:r>
          </a:p>
        </p:txBody>
      </p:sp>
      <p:sp>
        <p:nvSpPr>
          <p:cNvPr id="23" name="">
            <a:extLst xmlns:a="http://schemas.openxmlformats.org/drawingml/2006/main">
              <a:ext uri="{FF2B5EF4-FFF2-40B4-BE49-F238E27FC236}">
                <a16:creationId xmlns:a16="http://schemas.microsoft.com/office/drawing/2014/main" id="{7D8BC651-6A57-418C-A190-149AF4DB46F5}"/>
              </a:ext>
            </a:extLst>
          </p:cNvPr>
          <p:cNvSpPr>
            <a:spLocks xmlns:a="http://schemas.openxmlformats.org/drawingml/2006/main" noGrp="1"/>
          </p:cNvSpPr>
          <p:nvPr/>
        </p:nvSpPr>
        <p:spPr>
          <a:xfrm xmlns:a="http://schemas.openxmlformats.org/drawingml/2006/main">
            <a:off x="9791700" y="3105150"/>
            <a:ext cx="147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38" b="0">
                <a:solidFill>
                  <a:srgbClr val="56657A"/>
                </a:solidFill>
                <a:latin typeface="IBM Plex Sans"/>
                <a:ea typeface="IBM Plex Sans"/>
                <a:cs typeface="IBM Plex Sans"/>
              </a:defRPr>
            </a:pPr>
            <a:r>
              <a:rPr sz="938" b="0">
                <a:solidFill>
                  <a:srgbClr val="56657A"/>
                </a:solidFill>
                <a:latin typeface="IBM Plex Sans"/>
                <a:ea typeface="IBM Plex Sans"/>
                <a:cs typeface="IBM Plex Sans"/>
              </a:rPr>
              <a:t>mindestens fünf Fälle je Blatt</a:t>
            </a:r>
          </a:p>
        </p:txBody>
      </p:sp>
      <p:sp>
        <p:nvSpPr>
          <p:cNvPr id="24" name="">
            <a:extLst xmlns:a="http://schemas.openxmlformats.org/drawingml/2006/main">
              <a:ext uri="{FF2B5EF4-FFF2-40B4-BE49-F238E27FC236}">
                <a16:creationId xmlns:a16="http://schemas.microsoft.com/office/drawing/2014/main" id="{8BF571C1-E568-4693-9EBC-A69DDD80010E}"/>
              </a:ext>
            </a:extLst>
          </p:cNvPr>
          <p:cNvSpPr>
            <a:spLocks xmlns:a="http://schemas.openxmlformats.org/drawingml/2006/main" noGrp="1"/>
          </p:cNvSpPr>
          <p:nvPr/>
        </p:nvSpPr>
        <p:spPr>
          <a:xfrm xmlns:a="http://schemas.openxmlformats.org/drawingml/2006/main">
            <a:off x="7658100" y="3562350"/>
            <a:ext cx="140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0080A0"/>
                </a:solidFill>
                <a:latin typeface="Geist Mono"/>
                <a:ea typeface="Geist Mono"/>
                <a:cs typeface="Geist Mono"/>
              </a:defRPr>
            </a:pPr>
            <a:r>
              <a:rPr sz="975" b="1">
                <a:solidFill>
                  <a:srgbClr val="0080A0"/>
                </a:solidFill>
                <a:latin typeface="Geist Mono"/>
                <a:ea typeface="Geist Mono"/>
                <a:cs typeface="Geist Mono"/>
              </a:rPr>
              <a:t>max_features</a:t>
            </a:r>
          </a:p>
        </p:txBody>
      </p:sp>
      <p:sp>
        <p:nvSpPr>
          <p:cNvPr id="25" name="">
            <a:extLst xmlns:a="http://schemas.openxmlformats.org/drawingml/2006/main">
              <a:ext uri="{FF2B5EF4-FFF2-40B4-BE49-F238E27FC236}">
                <a16:creationId xmlns:a16="http://schemas.microsoft.com/office/drawing/2014/main" id="{A2E098BC-6E52-4468-AD70-99E8A729877C}"/>
              </a:ext>
            </a:extLst>
          </p:cNvPr>
          <p:cNvSpPr>
            <a:spLocks xmlns:a="http://schemas.openxmlformats.org/drawingml/2006/main" noGrp="1"/>
          </p:cNvSpPr>
          <p:nvPr/>
        </p:nvSpPr>
        <p:spPr>
          <a:xfrm xmlns:a="http://schemas.openxmlformats.org/drawingml/2006/main">
            <a:off x="9124950" y="356235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141A21"/>
                </a:solidFill>
                <a:latin typeface="Geist Mono"/>
                <a:ea typeface="Geist Mono"/>
                <a:cs typeface="Geist Mono"/>
              </a:defRPr>
            </a:pPr>
            <a:r>
              <a:rPr sz="1050" b="1">
                <a:solidFill>
                  <a:srgbClr val="141A21"/>
                </a:solidFill>
                <a:latin typeface="Geist Mono"/>
                <a:ea typeface="Geist Mono"/>
                <a:cs typeface="Geist Mono"/>
              </a:rPr>
              <a:t>0,7</a:t>
            </a:r>
          </a:p>
        </p:txBody>
      </p:sp>
      <p:sp>
        <p:nvSpPr>
          <p:cNvPr id="26" name="">
            <a:extLst xmlns:a="http://schemas.openxmlformats.org/drawingml/2006/main">
              <a:ext uri="{FF2B5EF4-FFF2-40B4-BE49-F238E27FC236}">
                <a16:creationId xmlns:a16="http://schemas.microsoft.com/office/drawing/2014/main" id="{12487055-457B-4CE2-AA36-03BA85E87280}"/>
              </a:ext>
            </a:extLst>
          </p:cNvPr>
          <p:cNvSpPr>
            <a:spLocks xmlns:a="http://schemas.openxmlformats.org/drawingml/2006/main" noGrp="1"/>
          </p:cNvSpPr>
          <p:nvPr/>
        </p:nvSpPr>
        <p:spPr>
          <a:xfrm xmlns:a="http://schemas.openxmlformats.org/drawingml/2006/main">
            <a:off x="9791700" y="3562350"/>
            <a:ext cx="147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947"/>
          </a:bodyPr>
          <a:lstStyle xmlns:a="http://schemas.openxmlformats.org/drawingml/2006/main"/>
          <a:p xmlns:a="http://schemas.openxmlformats.org/drawingml/2006/main">
            <a:pPr algn="l">
              <a:defRPr sz="938" b="0">
                <a:solidFill>
                  <a:srgbClr val="56657A"/>
                </a:solidFill>
                <a:latin typeface="IBM Plex Sans"/>
                <a:ea typeface="IBM Plex Sans"/>
                <a:cs typeface="IBM Plex Sans"/>
              </a:defRPr>
            </a:pPr>
            <a:r>
              <a:rPr sz="938" b="0">
                <a:solidFill>
                  <a:srgbClr val="56657A"/>
                </a:solidFill>
                <a:latin typeface="IBM Plex Sans"/>
                <a:ea typeface="IBM Plex Sans"/>
                <a:cs typeface="IBM Plex Sans"/>
              </a:rPr>
              <a:t>Bäume sehen unterschiedliche Merkmale</a:t>
            </a:r>
          </a:p>
        </p:txBody>
      </p:sp>
      <p:sp>
        <p:nvSpPr>
          <p:cNvPr id="27" name="">
            <a:extLst xmlns:a="http://schemas.openxmlformats.org/drawingml/2006/main">
              <a:ext uri="{FF2B5EF4-FFF2-40B4-BE49-F238E27FC236}">
                <a16:creationId xmlns:a16="http://schemas.microsoft.com/office/drawing/2014/main" id="{53A686F0-4B3B-4C07-95E6-BD1ECB6EAF27}"/>
              </a:ext>
            </a:extLst>
          </p:cNvPr>
          <p:cNvSpPr>
            <a:spLocks xmlns:a="http://schemas.openxmlformats.org/drawingml/2006/main" noGrp="1"/>
          </p:cNvSpPr>
          <p:nvPr/>
        </p:nvSpPr>
        <p:spPr>
          <a:xfrm xmlns:a="http://schemas.openxmlformats.org/drawingml/2006/main">
            <a:off x="7658100" y="4019550"/>
            <a:ext cx="140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0080A0"/>
                </a:solidFill>
                <a:latin typeface="Geist Mono"/>
                <a:ea typeface="Geist Mono"/>
                <a:cs typeface="Geist Mono"/>
              </a:defRPr>
            </a:pPr>
            <a:r>
              <a:rPr sz="975" b="1">
                <a:solidFill>
                  <a:srgbClr val="0080A0"/>
                </a:solidFill>
                <a:latin typeface="Geist Mono"/>
                <a:ea typeface="Geist Mono"/>
                <a:cs typeface="Geist Mono"/>
              </a:rPr>
              <a:t>n_estimators</a:t>
            </a:r>
          </a:p>
        </p:txBody>
      </p:sp>
      <p:sp>
        <p:nvSpPr>
          <p:cNvPr id="28" name="">
            <a:extLst xmlns:a="http://schemas.openxmlformats.org/drawingml/2006/main">
              <a:ext uri="{FF2B5EF4-FFF2-40B4-BE49-F238E27FC236}">
                <a16:creationId xmlns:a16="http://schemas.microsoft.com/office/drawing/2014/main" id="{46AECE0D-69B6-4FE2-BDBD-493DDB516FEE}"/>
              </a:ext>
            </a:extLst>
          </p:cNvPr>
          <p:cNvSpPr>
            <a:spLocks xmlns:a="http://schemas.openxmlformats.org/drawingml/2006/main" noGrp="1"/>
          </p:cNvSpPr>
          <p:nvPr/>
        </p:nvSpPr>
        <p:spPr>
          <a:xfrm xmlns:a="http://schemas.openxmlformats.org/drawingml/2006/main">
            <a:off x="9124950" y="401955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141A21"/>
                </a:solidFill>
                <a:latin typeface="Geist Mono"/>
                <a:ea typeface="Geist Mono"/>
                <a:cs typeface="Geist Mono"/>
              </a:defRPr>
            </a:pPr>
            <a:r>
              <a:rPr sz="1050" b="1">
                <a:solidFill>
                  <a:srgbClr val="141A21"/>
                </a:solidFill>
                <a:latin typeface="Geist Mono"/>
                <a:ea typeface="Geist Mono"/>
                <a:cs typeface="Geist Mono"/>
              </a:rPr>
              <a:t>300</a:t>
            </a:r>
          </a:p>
        </p:txBody>
      </p:sp>
      <p:sp>
        <p:nvSpPr>
          <p:cNvPr id="29" name="">
            <a:extLst xmlns:a="http://schemas.openxmlformats.org/drawingml/2006/main">
              <a:ext uri="{FF2B5EF4-FFF2-40B4-BE49-F238E27FC236}">
                <a16:creationId xmlns:a16="http://schemas.microsoft.com/office/drawing/2014/main" id="{D2AA2A92-2252-45A6-87B7-73DA4034B173}"/>
              </a:ext>
            </a:extLst>
          </p:cNvPr>
          <p:cNvSpPr>
            <a:spLocks xmlns:a="http://schemas.openxmlformats.org/drawingml/2006/main" noGrp="1"/>
          </p:cNvSpPr>
          <p:nvPr/>
        </p:nvSpPr>
        <p:spPr>
          <a:xfrm xmlns:a="http://schemas.openxmlformats.org/drawingml/2006/main">
            <a:off x="9791700" y="4019550"/>
            <a:ext cx="147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38" b="0">
                <a:solidFill>
                  <a:srgbClr val="56657A"/>
                </a:solidFill>
                <a:latin typeface="IBM Plex Sans"/>
                <a:ea typeface="IBM Plex Sans"/>
                <a:cs typeface="IBM Plex Sans"/>
              </a:defRPr>
            </a:pPr>
            <a:r>
              <a:rPr sz="938" b="0">
                <a:solidFill>
                  <a:srgbClr val="56657A"/>
                </a:solidFill>
                <a:latin typeface="IBM Plex Sans"/>
                <a:ea typeface="IBM Plex Sans"/>
                <a:cs typeface="IBM Plex Sans"/>
              </a:rPr>
              <a:t>stabilisiert das Ensemble</a:t>
            </a:r>
          </a:p>
        </p:txBody>
      </p:sp>
      <p:sp>
        <p:nvSpPr>
          <p:cNvPr id="30" name="">
            <a:extLst xmlns:a="http://schemas.openxmlformats.org/drawingml/2006/main">
              <a:ext uri="{FF2B5EF4-FFF2-40B4-BE49-F238E27FC236}">
                <a16:creationId xmlns:a16="http://schemas.microsoft.com/office/drawing/2014/main" id="{74DCEAEC-13B5-4636-8B3B-5784C37FE4D4}"/>
              </a:ext>
            </a:extLst>
          </p:cNvPr>
          <p:cNvSpPr>
            <a:spLocks xmlns:a="http://schemas.openxmlformats.org/drawingml/2006/main" noGrp="1"/>
          </p:cNvSpPr>
          <p:nvPr/>
        </p:nvSpPr>
        <p:spPr>
          <a:xfrm xmlns:a="http://schemas.openxmlformats.org/drawingml/2006/main">
            <a:off x="7658100" y="4476750"/>
            <a:ext cx="140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0080A0"/>
                </a:solidFill>
                <a:latin typeface="Geist Mono"/>
                <a:ea typeface="Geist Mono"/>
                <a:cs typeface="Geist Mono"/>
              </a:defRPr>
            </a:pPr>
            <a:r>
              <a:rPr sz="975" b="1">
                <a:solidFill>
                  <a:srgbClr val="0080A0"/>
                </a:solidFill>
                <a:latin typeface="Geist Mono"/>
                <a:ea typeface="Geist Mono"/>
                <a:cs typeface="Geist Mono"/>
              </a:rPr>
              <a:t>random_state</a:t>
            </a:r>
          </a:p>
        </p:txBody>
      </p:sp>
      <p:sp>
        <p:nvSpPr>
          <p:cNvPr id="31" name="">
            <a:extLst xmlns:a="http://schemas.openxmlformats.org/drawingml/2006/main">
              <a:ext uri="{FF2B5EF4-FFF2-40B4-BE49-F238E27FC236}">
                <a16:creationId xmlns:a16="http://schemas.microsoft.com/office/drawing/2014/main" id="{531803CC-7E1A-444C-808A-5C50D7D742C6}"/>
              </a:ext>
            </a:extLst>
          </p:cNvPr>
          <p:cNvSpPr>
            <a:spLocks xmlns:a="http://schemas.openxmlformats.org/drawingml/2006/main" noGrp="1"/>
          </p:cNvSpPr>
          <p:nvPr/>
        </p:nvSpPr>
        <p:spPr>
          <a:xfrm xmlns:a="http://schemas.openxmlformats.org/drawingml/2006/main">
            <a:off x="9124950" y="447675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141A21"/>
                </a:solidFill>
                <a:latin typeface="Geist Mono"/>
                <a:ea typeface="Geist Mono"/>
                <a:cs typeface="Geist Mono"/>
              </a:defRPr>
            </a:pPr>
            <a:r>
              <a:rPr sz="1050" b="1">
                <a:solidFill>
                  <a:srgbClr val="141A21"/>
                </a:solidFill>
                <a:latin typeface="Geist Mono"/>
                <a:ea typeface="Geist Mono"/>
                <a:cs typeface="Geist Mono"/>
              </a:rPr>
              <a:t>42</a:t>
            </a:r>
          </a:p>
        </p:txBody>
      </p:sp>
      <p:sp>
        <p:nvSpPr>
          <p:cNvPr id="32" name="">
            <a:extLst xmlns:a="http://schemas.openxmlformats.org/drawingml/2006/main">
              <a:ext uri="{FF2B5EF4-FFF2-40B4-BE49-F238E27FC236}">
                <a16:creationId xmlns:a16="http://schemas.microsoft.com/office/drawing/2014/main" id="{70C14045-A53E-46CA-A889-E5FA9BCB9BFA}"/>
              </a:ext>
            </a:extLst>
          </p:cNvPr>
          <p:cNvSpPr>
            <a:spLocks xmlns:a="http://schemas.openxmlformats.org/drawingml/2006/main" noGrp="1"/>
          </p:cNvSpPr>
          <p:nvPr/>
        </p:nvSpPr>
        <p:spPr>
          <a:xfrm xmlns:a="http://schemas.openxmlformats.org/drawingml/2006/main">
            <a:off x="9791700" y="4476750"/>
            <a:ext cx="147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38" b="0">
                <a:solidFill>
                  <a:srgbClr val="56657A"/>
                </a:solidFill>
                <a:latin typeface="IBM Plex Sans"/>
                <a:ea typeface="IBM Plex Sans"/>
                <a:cs typeface="IBM Plex Sans"/>
              </a:defRPr>
            </a:pPr>
            <a:r>
              <a:rPr sz="938" b="0">
                <a:solidFill>
                  <a:srgbClr val="56657A"/>
                </a:solidFill>
                <a:latin typeface="IBM Plex Sans"/>
                <a:ea typeface="IBM Plex Sans"/>
                <a:cs typeface="IBM Plex Sans"/>
              </a:rPr>
              <a:t>reproduzierbarer Vergleich</a:t>
            </a:r>
          </a:p>
        </p:txBody>
      </p:sp>
      <p:sp>
        <p:nvSpPr>
          <p:cNvPr id="33" name="">
            <a:extLst xmlns:a="http://schemas.openxmlformats.org/drawingml/2006/main">
              <a:ext uri="{FF2B5EF4-FFF2-40B4-BE49-F238E27FC236}">
                <a16:creationId xmlns:a16="http://schemas.microsoft.com/office/drawing/2014/main" id="{F000E73C-CAE1-4B63-AAA3-C07E991F9047}"/>
              </a:ext>
            </a:extLst>
          </p:cNvPr>
          <p:cNvSpPr>
            <a:spLocks xmlns:a="http://schemas.openxmlformats.org/drawingml/2006/main" noGrp="1"/>
          </p:cNvSpPr>
          <p:nvPr/>
        </p:nvSpPr>
        <p:spPr>
          <a:xfrm xmlns:a="http://schemas.openxmlformats.org/drawingml/2006/main">
            <a:off x="1238250" y="5391150"/>
            <a:ext cx="9715500" cy="533400"/>
          </a:xfrm>
          <a:prstGeom xmlns:a="http://schemas.openxmlformats.org/drawingml/2006/main" prst="roundRect">
            <a:avLst>
              <a:gd name="adj" fmla="val 17857"/>
            </a:avLst>
          </a:prstGeom>
          <a:solidFill xmlns:a="http://schemas.openxmlformats.org/drawingml/2006/main">
            <a:srgbClr val="FFF2D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7B84643A-5748-435A-A354-5DC8B2911EEA}"/>
              </a:ext>
            </a:extLst>
          </p:cNvPr>
          <p:cNvSpPr>
            <a:spLocks xmlns:a="http://schemas.openxmlformats.org/drawingml/2006/main" noGrp="1"/>
          </p:cNvSpPr>
          <p:nvPr/>
        </p:nvSpPr>
        <p:spPr>
          <a:xfrm xmlns:a="http://schemas.openxmlformats.org/drawingml/2006/main">
            <a:off x="1504950" y="5543550"/>
            <a:ext cx="918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A86505"/>
                </a:solidFill>
                <a:latin typeface="IBM Plex Sans"/>
                <a:ea typeface="IBM Plex Sans"/>
                <a:cs typeface="IBM Plex Sans"/>
              </a:defRPr>
            </a:pPr>
            <a:r>
              <a:rPr sz="1125" b="1">
                <a:solidFill>
                  <a:srgbClr val="A86505"/>
                </a:solidFill>
                <a:latin typeface="IBM Plex Sans"/>
                <a:ea typeface="IBM Plex Sans"/>
                <a:cs typeface="IBM Plex Sans"/>
              </a:rPr>
              <a:t>Fold 2 ist am besten – aber nicht zwingend wegen mehr Training. Jeder Fold bewertet einen anderen Zeitraum mit eigener Schwierigkeit.</a:t>
            </a:r>
          </a:p>
        </p:txBody>
      </p:sp>
      <p:sp>
        <p:nvSpPr>
          <p:cNvPr id="35" name="">
            <a:extLst xmlns:a="http://schemas.openxmlformats.org/drawingml/2006/main">
              <a:ext uri="{FF2B5EF4-FFF2-40B4-BE49-F238E27FC236}">
                <a16:creationId xmlns:a16="http://schemas.microsoft.com/office/drawing/2014/main" id="{27A684C6-BD36-4C0E-B996-18836F0958C4}"/>
              </a:ext>
            </a:extLst>
          </p:cNvPr>
          <p:cNvSpPr>
            <a:spLocks xmlns:a="http://schemas.openxmlformats.org/drawingml/2006/main" noGrp="1"/>
          </p:cNvSpPr>
          <p:nvPr/>
        </p:nvSpPr>
        <p:spPr>
          <a:xfrm xmlns:a="http://schemas.openxmlformats.org/drawingml/2006/main">
            <a:off x="533400" y="6229350"/>
            <a:ext cx="11106150" cy="0"/>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36" name="">
            <a:extLst xmlns:a="http://schemas.openxmlformats.org/drawingml/2006/main">
              <a:ext uri="{FF2B5EF4-FFF2-40B4-BE49-F238E27FC236}">
                <a16:creationId xmlns:a16="http://schemas.microsoft.com/office/drawing/2014/main" id="{944C06F2-9932-449E-9134-4FB21360D98C}"/>
              </a:ext>
            </a:extLst>
          </p:cNvPr>
          <p:cNvSpPr>
            <a:spLocks xmlns:a="http://schemas.openxmlformats.org/drawingml/2006/main" noGrp="1"/>
          </p:cNvSpPr>
          <p:nvPr/>
        </p:nvSpPr>
        <p:spPr>
          <a:xfrm xmlns:a="http://schemas.openxmlformats.org/drawingml/2006/main">
            <a:off x="533400" y="6229350"/>
            <a:ext cx="895350" cy="0"/>
          </a:xfrm>
          <a:prstGeom xmlns:a="http://schemas.openxmlformats.org/drawingml/2006/main" prst="line">
            <a:avLst/>
          </a:prstGeom>
          <a:noFill xmlns:a="http://schemas.openxmlformats.org/drawingml/2006/main"/>
          <a:ln xmlns:a="http://schemas.openxmlformats.org/drawingml/2006/main" w="38100">
            <a:solidFill>
              <a:srgbClr val="084878"/>
            </a:solidFill>
            <a:prstDash val="solid"/>
          </a:ln>
        </p:spPr>
      </p:sp>
      <p:sp>
        <p:nvSpPr>
          <p:cNvPr id="37" name="">
            <a:extLst xmlns:a="http://schemas.openxmlformats.org/drawingml/2006/main">
              <a:ext uri="{FF2B5EF4-FFF2-40B4-BE49-F238E27FC236}">
                <a16:creationId xmlns:a16="http://schemas.microsoft.com/office/drawing/2014/main" id="{D0D00995-8054-4BC8-BCAC-9D69E7D947C0}"/>
              </a:ext>
            </a:extLst>
          </p:cNvPr>
          <p:cNvSpPr>
            <a:spLocks xmlns:a="http://schemas.openxmlformats.org/drawingml/2006/main" noGrp="1"/>
          </p:cNvSpPr>
          <p:nvPr/>
        </p:nvSpPr>
        <p:spPr>
          <a:xfrm xmlns:a="http://schemas.openxmlformats.org/drawingml/2006/main">
            <a:off x="533400" y="635317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13" b="0">
                <a:solidFill>
                  <a:srgbClr val="56657A"/>
                </a:solidFill>
                <a:latin typeface="IBM Plex Sans"/>
                <a:ea typeface="IBM Plex Sans"/>
                <a:cs typeface="IBM Plex Sans"/>
              </a:defRPr>
            </a:pPr>
            <a:r>
              <a:rPr sz="713" b="0">
                <a:solidFill>
                  <a:srgbClr val="56657A"/>
                </a:solidFill>
                <a:latin typeface="IBM Plex Sans"/>
                <a:ea typeface="IBM Plex Sans"/>
                <a:cs typeface="IBM Plex Sans"/>
              </a:rPr>
              <a:t>Quelle: notebooks/13_modellierung_von_grund_auf_verstehen.ipynb</a:t>
            </a:r>
          </a:p>
        </p:txBody>
      </p:sp>
      <p:sp>
        <p:nvSpPr>
          <p:cNvPr id="38" name="">
            <a:extLst xmlns:a="http://schemas.openxmlformats.org/drawingml/2006/main">
              <a:ext uri="{FF2B5EF4-FFF2-40B4-BE49-F238E27FC236}">
                <a16:creationId xmlns:a16="http://schemas.microsoft.com/office/drawing/2014/main" id="{AE47B2E4-7BF5-43F8-A4A4-87001CBF5220}"/>
              </a:ext>
            </a:extLst>
          </p:cNvPr>
          <p:cNvSpPr>
            <a:spLocks xmlns:a="http://schemas.openxmlformats.org/drawingml/2006/main" noGrp="1"/>
          </p:cNvSpPr>
          <p:nvPr/>
        </p:nvSpPr>
        <p:spPr>
          <a:xfrm xmlns:a="http://schemas.openxmlformats.org/drawingml/2006/main">
            <a:off x="10477500" y="63817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56657A"/>
                </a:solidFill>
                <a:latin typeface="Geist Mono"/>
                <a:ea typeface="Geist Mono"/>
                <a:cs typeface="Geist Mono"/>
              </a:defRPr>
            </a:pPr>
            <a:r>
              <a:rPr sz="825" b="0">
                <a:solidFill>
                  <a:srgbClr val="56657A"/>
                </a:solidFill>
                <a:latin typeface="Geist Mono"/>
                <a:ea typeface="Geist Mono"/>
                <a:cs typeface="Geist Mono"/>
              </a:rPr>
              <a:t>17</a:t>
            </a:r>
          </a:p>
        </p:txBody>
      </p:sp>
      <p:pic>
        <p:nvPicPr>
          <p:cNvPr id="78" name=""/>
          <p:cNvPicPr>
            <a:picLocks xmlns:a="http://schemas.openxmlformats.org/drawingml/2006/main" noChangeAspect="1"/>
          </p:cNvPicPr>
          <p:nvPr/>
        </p:nvPicPr>
        <p:blipFill>
          <a:blip xmlns:r="http://schemas.openxmlformats.org/officeDocument/2006/relationships" xmlns:a="http://schemas.openxmlformats.org/drawingml/2006/main" r:embed="R761b18d348e44604"/>
          <a:stretch xmlns:a="http://schemas.openxmlformats.org/drawingml/2006/main"/>
        </p:blipFill>
        <p:spPr>
          <a:xfrm xmlns:a="http://schemas.openxmlformats.org/drawingml/2006/main">
            <a:off x="11058812" y="6296025"/>
            <a:ext cx="513776" cy="438150"/>
          </a:xfrm>
          <a:prstGeom xmlns:a="http://schemas.openxmlformats.org/drawingml/2006/main" prst="rect">
            <a:avLst/>
          </a:prstGeom>
        </p:spPr>
      </p:pic>
    </p:spTree>
    <p:extLst>
      <p:ext uri="{BB962C8B-B14F-4D97-AF65-F5344CB8AC3E}">
        <p14:creationId xmlns:p14="http://schemas.microsoft.com/office/powerpoint/2010/main" val="83639223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5AA3799F-117A-4A7B-A16B-EFBBE041D4B6}"/>
              </a:ext>
            </a:extLst>
          </p:cNvPr>
          <p:cNvSpPr>
            <a:spLocks xmlns:a="http://schemas.openxmlformats.org/drawingml/2006/main" noGrp="1"/>
          </p:cNvSpPr>
          <p:nvPr/>
        </p:nvSpPr>
        <p:spPr>
          <a:xfrm xmlns:a="http://schemas.openxmlformats.org/drawingml/2006/main">
            <a:off x="533400" y="3048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80A0"/>
                </a:solidFill>
                <a:latin typeface="IBM Plex Sans"/>
                <a:ea typeface="IBM Plex Sans"/>
                <a:cs typeface="IBM Plex Sans"/>
              </a:defRPr>
            </a:pPr>
            <a:r>
              <a:rPr sz="825" b="1">
                <a:solidFill>
                  <a:srgbClr val="0080A0"/>
                </a:solidFill>
                <a:latin typeface="IBM Plex Sans"/>
                <a:ea typeface="IBM Plex Sans"/>
                <a:cs typeface="IBM Plex Sans"/>
              </a:rPr>
              <a:t>SWW / ENERGIEANALYSE · BACKUP  ·  ANHANG E</a:t>
            </a:r>
          </a:p>
        </p:txBody>
      </p:sp>
      <p:sp>
        <p:nvSpPr>
          <p:cNvPr id="2" name="">
            <a:extLst xmlns:a="http://schemas.openxmlformats.org/drawingml/2006/main">
              <a:ext uri="{FF2B5EF4-FFF2-40B4-BE49-F238E27FC236}">
                <a16:creationId xmlns:a16="http://schemas.microsoft.com/office/drawing/2014/main" id="{5E02A4DF-D5A9-4725-A166-00EECC0870BC}"/>
              </a:ext>
            </a:extLst>
          </p:cNvPr>
          <p:cNvSpPr>
            <a:spLocks xmlns:a="http://schemas.openxmlformats.org/drawingml/2006/main" noGrp="1"/>
          </p:cNvSpPr>
          <p:nvPr/>
        </p:nvSpPr>
        <p:spPr>
          <a:xfrm xmlns:a="http://schemas.openxmlformats.org/drawingml/2006/main">
            <a:off x="533400" y="638175"/>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0D2742"/>
                </a:solidFill>
                <a:latin typeface="IBM Plex Sans"/>
                <a:ea typeface="IBM Plex Sans"/>
                <a:cs typeface="IBM Plex Sans"/>
              </a:defRPr>
            </a:pPr>
            <a:r>
              <a:rPr sz="2550" b="1">
                <a:solidFill>
                  <a:srgbClr val="0D2742"/>
                </a:solidFill>
                <a:latin typeface="IBM Plex Sans"/>
                <a:ea typeface="IBM Plex Sans"/>
                <a:cs typeface="IBM Plex Sans"/>
              </a:rPr>
              <a:t>Vier Begriffe – vier unterschiedliche Aussagen</a:t>
            </a:r>
          </a:p>
        </p:txBody>
      </p:sp>
      <p:sp>
        <p:nvSpPr>
          <p:cNvPr id="3" name="">
            <a:extLst xmlns:a="http://schemas.openxmlformats.org/drawingml/2006/main">
              <a:ext uri="{FF2B5EF4-FFF2-40B4-BE49-F238E27FC236}">
                <a16:creationId xmlns:a16="http://schemas.microsoft.com/office/drawing/2014/main" id="{D8006112-9D7E-4FD2-848B-A63DBB4016E8}"/>
              </a:ext>
            </a:extLst>
          </p:cNvPr>
          <p:cNvSpPr>
            <a:spLocks xmlns:a="http://schemas.openxmlformats.org/drawingml/2006/main" noGrp="1"/>
          </p:cNvSpPr>
          <p:nvPr/>
        </p:nvSpPr>
        <p:spPr>
          <a:xfrm xmlns:a="http://schemas.openxmlformats.org/drawingml/2006/main">
            <a:off x="533400" y="12668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6657A"/>
                </a:solidFill>
                <a:latin typeface="IBM Plex Sans"/>
                <a:ea typeface="IBM Plex Sans"/>
                <a:cs typeface="IBM Plex Sans"/>
              </a:defRPr>
            </a:pPr>
            <a:r>
              <a:rPr sz="1200" b="0">
                <a:solidFill>
                  <a:srgbClr val="56657A"/>
                </a:solidFill>
                <a:latin typeface="IBM Plex Sans"/>
                <a:ea typeface="IBM Plex Sans"/>
                <a:cs typeface="IBM Plex Sans"/>
              </a:rPr>
              <a:t>Prüfhinweis und bestätigte Anomalie dürfen nicht gleichgesetzt werden.</a:t>
            </a:r>
          </a:p>
        </p:txBody>
      </p:sp>
      <p:sp>
        <p:nvSpPr>
          <p:cNvPr id="4" name="">
            <a:extLst xmlns:a="http://schemas.openxmlformats.org/drawingml/2006/main">
              <a:ext uri="{FF2B5EF4-FFF2-40B4-BE49-F238E27FC236}">
                <a16:creationId xmlns:a16="http://schemas.microsoft.com/office/drawing/2014/main" id="{F562FD10-295D-4DA5-B678-3C784E24F041}"/>
              </a:ext>
            </a:extLst>
          </p:cNvPr>
          <p:cNvSpPr>
            <a:spLocks xmlns:a="http://schemas.openxmlformats.org/drawingml/2006/main" noGrp="1"/>
          </p:cNvSpPr>
          <p:nvPr/>
        </p:nvSpPr>
        <p:spPr>
          <a:xfrm xmlns:a="http://schemas.openxmlformats.org/drawingml/2006/main">
            <a:off x="523875" y="2238375"/>
            <a:ext cx="2571750" cy="1428750"/>
          </a:xfrm>
          <a:prstGeom xmlns:a="http://schemas.openxmlformats.org/drawingml/2006/main" prst="roundRect">
            <a:avLst>
              <a:gd name="adj" fmla="val 9333"/>
            </a:avLst>
          </a:prstGeom>
          <a:solidFill xmlns:a="http://schemas.openxmlformats.org/drawingml/2006/main">
            <a:srgbClr val="FFFFFF"/>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60AD9F56-A86B-497E-8F71-5CCC2E12122D}"/>
              </a:ext>
            </a:extLst>
          </p:cNvPr>
          <p:cNvSpPr>
            <a:spLocks xmlns:a="http://schemas.openxmlformats.org/drawingml/2006/main" noGrp="1"/>
          </p:cNvSpPr>
          <p:nvPr/>
        </p:nvSpPr>
        <p:spPr>
          <a:xfrm xmlns:a="http://schemas.openxmlformats.org/drawingml/2006/main">
            <a:off x="695325" y="2400300"/>
            <a:ext cx="323850" cy="323850"/>
          </a:xfrm>
          <a:prstGeom xmlns:a="http://schemas.openxmlformats.org/drawingml/2006/main" prst="ellipse">
            <a:avLst/>
          </a:prstGeom>
          <a:solidFill xmlns:a="http://schemas.openxmlformats.org/drawingml/2006/main">
            <a:srgbClr val="94A0A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B7AEEA7-A19A-4BDF-ABF5-4DFA6A8F25F2}"/>
              </a:ext>
            </a:extLst>
          </p:cNvPr>
          <p:cNvSpPr>
            <a:spLocks xmlns:a="http://schemas.openxmlformats.org/drawingml/2006/main" noGrp="1"/>
          </p:cNvSpPr>
          <p:nvPr/>
        </p:nvSpPr>
        <p:spPr>
          <a:xfrm xmlns:a="http://schemas.openxmlformats.org/drawingml/2006/main">
            <a:off x="695325" y="24384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Geist Mono"/>
                <a:ea typeface="Geist Mono"/>
                <a:cs typeface="Geist Mono"/>
              </a:defRPr>
            </a:pPr>
            <a:r>
              <a:rPr sz="1200" b="1">
                <a:solidFill>
                  <a:srgbClr val="FFFFFF"/>
                </a:solidFill>
                <a:latin typeface="Geist Mono"/>
                <a:ea typeface="Geist Mono"/>
                <a:cs typeface="Geist Mono"/>
              </a:rPr>
              <a:t>1</a:t>
            </a:r>
          </a:p>
        </p:txBody>
      </p:sp>
      <p:sp>
        <p:nvSpPr>
          <p:cNvPr id="7" name="">
            <a:extLst xmlns:a="http://schemas.openxmlformats.org/drawingml/2006/main">
              <a:ext uri="{FF2B5EF4-FFF2-40B4-BE49-F238E27FC236}">
                <a16:creationId xmlns:a16="http://schemas.microsoft.com/office/drawing/2014/main" id="{1C820238-07A4-48F6-904A-25D2ACA8753D}"/>
              </a:ext>
            </a:extLst>
          </p:cNvPr>
          <p:cNvSpPr>
            <a:spLocks xmlns:a="http://schemas.openxmlformats.org/drawingml/2006/main" noGrp="1"/>
          </p:cNvSpPr>
          <p:nvPr/>
        </p:nvSpPr>
        <p:spPr>
          <a:xfrm xmlns:a="http://schemas.openxmlformats.org/drawingml/2006/main">
            <a:off x="695325" y="2828925"/>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084878"/>
                </a:solidFill>
                <a:latin typeface="IBM Plex Sans"/>
                <a:ea typeface="IBM Plex Sans"/>
                <a:cs typeface="IBM Plex Sans"/>
              </a:defRPr>
            </a:pPr>
            <a:r>
              <a:rPr sz="1500" b="1">
                <a:solidFill>
                  <a:srgbClr val="084878"/>
                </a:solidFill>
                <a:latin typeface="IBM Plex Sans"/>
                <a:ea typeface="IBM Plex Sans"/>
                <a:cs typeface="IBM Plex Sans"/>
              </a:rPr>
              <a:t>Statistischer Ausreißer</a:t>
            </a:r>
          </a:p>
        </p:txBody>
      </p:sp>
      <p:sp>
        <p:nvSpPr>
          <p:cNvPr id="8" name="">
            <a:extLst xmlns:a="http://schemas.openxmlformats.org/drawingml/2006/main">
              <a:ext uri="{FF2B5EF4-FFF2-40B4-BE49-F238E27FC236}">
                <a16:creationId xmlns:a16="http://schemas.microsoft.com/office/drawing/2014/main" id="{B4CEB202-E0CE-48D4-9244-838CBD3CF466}"/>
              </a:ext>
            </a:extLst>
          </p:cNvPr>
          <p:cNvSpPr>
            <a:spLocks xmlns:a="http://schemas.openxmlformats.org/drawingml/2006/main" noGrp="1"/>
          </p:cNvSpPr>
          <p:nvPr/>
        </p:nvSpPr>
        <p:spPr>
          <a:xfrm xmlns:a="http://schemas.openxmlformats.org/drawingml/2006/main">
            <a:off x="695325" y="3152775"/>
            <a:ext cx="2228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56657A"/>
                </a:solidFill>
                <a:latin typeface="IBM Plex Sans"/>
                <a:ea typeface="IBM Plex Sans"/>
                <a:cs typeface="IBM Plex Sans"/>
              </a:defRPr>
            </a:pPr>
            <a:r>
              <a:rPr sz="1050" b="0">
                <a:solidFill>
                  <a:srgbClr val="56657A"/>
                </a:solidFill>
                <a:latin typeface="IBM Plex Sans"/>
                <a:ea typeface="IBM Plex Sans"/>
                <a:cs typeface="IBM Plex Sans"/>
              </a:rPr>
              <a:t>Ungewöhnlich gegenüber einer Vergleichsverteilung.</a:t>
            </a:r>
          </a:p>
        </p:txBody>
      </p:sp>
      <p:sp>
        <p:nvSpPr>
          <p:cNvPr id="9" name="">
            <a:extLst xmlns:a="http://schemas.openxmlformats.org/drawingml/2006/main">
              <a:ext uri="{FF2B5EF4-FFF2-40B4-BE49-F238E27FC236}">
                <a16:creationId xmlns:a16="http://schemas.microsoft.com/office/drawing/2014/main" id="{9BE3EC67-DCBB-4022-9E7E-1564014637DC}"/>
              </a:ext>
            </a:extLst>
          </p:cNvPr>
          <p:cNvSpPr>
            <a:spLocks xmlns:a="http://schemas.openxmlformats.org/drawingml/2006/main" noGrp="1"/>
          </p:cNvSpPr>
          <p:nvPr/>
        </p:nvSpPr>
        <p:spPr>
          <a:xfrm xmlns:a="http://schemas.openxmlformats.org/drawingml/2006/main">
            <a:off x="3143250" y="2781300"/>
            <a:ext cx="238125" cy="209550"/>
          </a:xfrm>
          <a:prstGeom xmlns:a="http://schemas.openxmlformats.org/drawingml/2006/main" prst="rightArrow">
            <a:avLst/>
          </a:prstGeom>
          <a:solidFill xmlns:a="http://schemas.openxmlformats.org/drawingml/2006/main">
            <a:srgbClr val="0080A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6AA12D1-1B8A-4631-A923-4AC4F0B4B1F6}"/>
              </a:ext>
            </a:extLst>
          </p:cNvPr>
          <p:cNvSpPr>
            <a:spLocks xmlns:a="http://schemas.openxmlformats.org/drawingml/2006/main" noGrp="1"/>
          </p:cNvSpPr>
          <p:nvPr/>
        </p:nvSpPr>
        <p:spPr>
          <a:xfrm xmlns:a="http://schemas.openxmlformats.org/drawingml/2006/main">
            <a:off x="3400425" y="2238375"/>
            <a:ext cx="2571750" cy="1428750"/>
          </a:xfrm>
          <a:prstGeom xmlns:a="http://schemas.openxmlformats.org/drawingml/2006/main" prst="roundRect">
            <a:avLst>
              <a:gd name="adj" fmla="val 9333"/>
            </a:avLst>
          </a:prstGeom>
          <a:solidFill xmlns:a="http://schemas.openxmlformats.org/drawingml/2006/main">
            <a:srgbClr val="FFFFFF"/>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E67A9E3D-E0CA-43B3-A6A1-35A2388C07F0}"/>
              </a:ext>
            </a:extLst>
          </p:cNvPr>
          <p:cNvSpPr>
            <a:spLocks xmlns:a="http://schemas.openxmlformats.org/drawingml/2006/main" noGrp="1"/>
          </p:cNvSpPr>
          <p:nvPr/>
        </p:nvSpPr>
        <p:spPr>
          <a:xfrm xmlns:a="http://schemas.openxmlformats.org/drawingml/2006/main">
            <a:off x="3571875" y="2400300"/>
            <a:ext cx="323850" cy="323850"/>
          </a:xfrm>
          <a:prstGeom xmlns:a="http://schemas.openxmlformats.org/drawingml/2006/main" prst="ellipse">
            <a:avLst/>
          </a:prstGeom>
          <a:solidFill xmlns:a="http://schemas.openxmlformats.org/drawingml/2006/main">
            <a:srgbClr val="0090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CA186E8-4308-476A-BF8F-E1CE1974196B}"/>
              </a:ext>
            </a:extLst>
          </p:cNvPr>
          <p:cNvSpPr>
            <a:spLocks xmlns:a="http://schemas.openxmlformats.org/drawingml/2006/main" noGrp="1"/>
          </p:cNvSpPr>
          <p:nvPr/>
        </p:nvSpPr>
        <p:spPr>
          <a:xfrm xmlns:a="http://schemas.openxmlformats.org/drawingml/2006/main">
            <a:off x="3571875" y="24384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Geist Mono"/>
                <a:ea typeface="Geist Mono"/>
                <a:cs typeface="Geist Mono"/>
              </a:defRPr>
            </a:pPr>
            <a:r>
              <a:rPr sz="1200" b="1">
                <a:solidFill>
                  <a:srgbClr val="FFFFFF"/>
                </a:solidFill>
                <a:latin typeface="Geist Mono"/>
                <a:ea typeface="Geist Mono"/>
                <a:cs typeface="Geist Mono"/>
              </a:rPr>
              <a:t>2</a:t>
            </a:r>
          </a:p>
        </p:txBody>
      </p:sp>
      <p:sp>
        <p:nvSpPr>
          <p:cNvPr id="13" name="">
            <a:extLst xmlns:a="http://schemas.openxmlformats.org/drawingml/2006/main">
              <a:ext uri="{FF2B5EF4-FFF2-40B4-BE49-F238E27FC236}">
                <a16:creationId xmlns:a16="http://schemas.microsoft.com/office/drawing/2014/main" id="{4D68AA5C-3DF1-4688-B987-CEF5838DA1E2}"/>
              </a:ext>
            </a:extLst>
          </p:cNvPr>
          <p:cNvSpPr>
            <a:spLocks xmlns:a="http://schemas.openxmlformats.org/drawingml/2006/main" noGrp="1"/>
          </p:cNvSpPr>
          <p:nvPr/>
        </p:nvSpPr>
        <p:spPr>
          <a:xfrm xmlns:a="http://schemas.openxmlformats.org/drawingml/2006/main">
            <a:off x="3571875" y="2828925"/>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084878"/>
                </a:solidFill>
                <a:latin typeface="IBM Plex Sans"/>
                <a:ea typeface="IBM Plex Sans"/>
                <a:cs typeface="IBM Plex Sans"/>
              </a:defRPr>
            </a:pPr>
            <a:r>
              <a:rPr sz="1500" b="1">
                <a:solidFill>
                  <a:srgbClr val="084878"/>
                </a:solidFill>
                <a:latin typeface="IBM Plex Sans"/>
                <a:ea typeface="IBM Plex Sans"/>
                <a:cs typeface="IBM Plex Sans"/>
              </a:rPr>
              <a:t>Modellabweichung</a:t>
            </a:r>
          </a:p>
        </p:txBody>
      </p:sp>
      <p:sp>
        <p:nvSpPr>
          <p:cNvPr id="14" name="">
            <a:extLst xmlns:a="http://schemas.openxmlformats.org/drawingml/2006/main">
              <a:ext uri="{FF2B5EF4-FFF2-40B4-BE49-F238E27FC236}">
                <a16:creationId xmlns:a16="http://schemas.microsoft.com/office/drawing/2014/main" id="{4D34C01F-D25B-47A7-ABA2-1B589B50F244}"/>
              </a:ext>
            </a:extLst>
          </p:cNvPr>
          <p:cNvSpPr>
            <a:spLocks xmlns:a="http://schemas.openxmlformats.org/drawingml/2006/main" noGrp="1"/>
          </p:cNvSpPr>
          <p:nvPr/>
        </p:nvSpPr>
        <p:spPr>
          <a:xfrm xmlns:a="http://schemas.openxmlformats.org/drawingml/2006/main">
            <a:off x="3571875" y="3152775"/>
            <a:ext cx="2228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56657A"/>
                </a:solidFill>
                <a:latin typeface="IBM Plex Sans"/>
                <a:ea typeface="IBM Plex Sans"/>
                <a:cs typeface="IBM Plex Sans"/>
              </a:defRPr>
            </a:pPr>
            <a:r>
              <a:rPr sz="1050" b="0">
                <a:solidFill>
                  <a:srgbClr val="56657A"/>
                </a:solidFill>
                <a:latin typeface="IBM Plex Sans"/>
                <a:ea typeface="IBM Plex Sans"/>
                <a:cs typeface="IBM Plex Sans"/>
              </a:rPr>
              <a:t>Ist und individuelle Prognose liegen ungewöhnlich weit auseinander.</a:t>
            </a:r>
          </a:p>
        </p:txBody>
      </p:sp>
      <p:sp>
        <p:nvSpPr>
          <p:cNvPr id="15" name="">
            <a:extLst xmlns:a="http://schemas.openxmlformats.org/drawingml/2006/main">
              <a:ext uri="{FF2B5EF4-FFF2-40B4-BE49-F238E27FC236}">
                <a16:creationId xmlns:a16="http://schemas.microsoft.com/office/drawing/2014/main" id="{6C1D16EE-EAB3-433B-B1FE-C8C2AB2DA847}"/>
              </a:ext>
            </a:extLst>
          </p:cNvPr>
          <p:cNvSpPr>
            <a:spLocks xmlns:a="http://schemas.openxmlformats.org/drawingml/2006/main" noGrp="1"/>
          </p:cNvSpPr>
          <p:nvPr/>
        </p:nvSpPr>
        <p:spPr>
          <a:xfrm xmlns:a="http://schemas.openxmlformats.org/drawingml/2006/main">
            <a:off x="6019800" y="2781300"/>
            <a:ext cx="238125" cy="209550"/>
          </a:xfrm>
          <a:prstGeom xmlns:a="http://schemas.openxmlformats.org/drawingml/2006/main" prst="rightArrow">
            <a:avLst/>
          </a:prstGeom>
          <a:solidFill xmlns:a="http://schemas.openxmlformats.org/drawingml/2006/main">
            <a:srgbClr val="0080A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FB3F0CE-00E6-4716-9E14-65A1BA79B53D}"/>
              </a:ext>
            </a:extLst>
          </p:cNvPr>
          <p:cNvSpPr>
            <a:spLocks xmlns:a="http://schemas.openxmlformats.org/drawingml/2006/main" noGrp="1"/>
          </p:cNvSpPr>
          <p:nvPr/>
        </p:nvSpPr>
        <p:spPr>
          <a:xfrm xmlns:a="http://schemas.openxmlformats.org/drawingml/2006/main">
            <a:off x="6276975" y="2238375"/>
            <a:ext cx="2571750" cy="1428750"/>
          </a:xfrm>
          <a:prstGeom xmlns:a="http://schemas.openxmlformats.org/drawingml/2006/main" prst="roundRect">
            <a:avLst>
              <a:gd name="adj" fmla="val 9333"/>
            </a:avLst>
          </a:prstGeom>
          <a:solidFill xmlns:a="http://schemas.openxmlformats.org/drawingml/2006/main">
            <a:srgbClr val="FFFFFF"/>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7CF1020F-F41F-4D5F-AFF1-01E850EC4997}"/>
              </a:ext>
            </a:extLst>
          </p:cNvPr>
          <p:cNvSpPr>
            <a:spLocks xmlns:a="http://schemas.openxmlformats.org/drawingml/2006/main" noGrp="1"/>
          </p:cNvSpPr>
          <p:nvPr/>
        </p:nvSpPr>
        <p:spPr>
          <a:xfrm xmlns:a="http://schemas.openxmlformats.org/drawingml/2006/main">
            <a:off x="6448425" y="2400300"/>
            <a:ext cx="323850" cy="323850"/>
          </a:xfrm>
          <a:prstGeom xmlns:a="http://schemas.openxmlformats.org/drawingml/2006/main" prst="ellipse">
            <a:avLst/>
          </a:prstGeom>
          <a:solidFill xmlns:a="http://schemas.openxmlformats.org/drawingml/2006/main">
            <a:srgbClr val="A8650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83F31B3-8D34-47EC-BEFC-714B818DA8BD}"/>
              </a:ext>
            </a:extLst>
          </p:cNvPr>
          <p:cNvSpPr>
            <a:spLocks xmlns:a="http://schemas.openxmlformats.org/drawingml/2006/main" noGrp="1"/>
          </p:cNvSpPr>
          <p:nvPr/>
        </p:nvSpPr>
        <p:spPr>
          <a:xfrm xmlns:a="http://schemas.openxmlformats.org/drawingml/2006/main">
            <a:off x="6448425" y="24384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Geist Mono"/>
                <a:ea typeface="Geist Mono"/>
                <a:cs typeface="Geist Mono"/>
              </a:defRPr>
            </a:pPr>
            <a:r>
              <a:rPr sz="1200" b="1">
                <a:solidFill>
                  <a:srgbClr val="FFFFFF"/>
                </a:solidFill>
                <a:latin typeface="Geist Mono"/>
                <a:ea typeface="Geist Mono"/>
                <a:cs typeface="Geist Mono"/>
              </a:rPr>
              <a:t>3</a:t>
            </a:r>
          </a:p>
        </p:txBody>
      </p:sp>
      <p:sp>
        <p:nvSpPr>
          <p:cNvPr id="19" name="">
            <a:extLst xmlns:a="http://schemas.openxmlformats.org/drawingml/2006/main">
              <a:ext uri="{FF2B5EF4-FFF2-40B4-BE49-F238E27FC236}">
                <a16:creationId xmlns:a16="http://schemas.microsoft.com/office/drawing/2014/main" id="{78492242-9526-4D5A-9D05-F2E0E3CF19DB}"/>
              </a:ext>
            </a:extLst>
          </p:cNvPr>
          <p:cNvSpPr>
            <a:spLocks xmlns:a="http://schemas.openxmlformats.org/drawingml/2006/main" noGrp="1"/>
          </p:cNvSpPr>
          <p:nvPr/>
        </p:nvSpPr>
        <p:spPr>
          <a:xfrm xmlns:a="http://schemas.openxmlformats.org/drawingml/2006/main">
            <a:off x="6448425" y="2828925"/>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084878"/>
                </a:solidFill>
                <a:latin typeface="IBM Plex Sans"/>
                <a:ea typeface="IBM Plex Sans"/>
                <a:cs typeface="IBM Plex Sans"/>
              </a:defRPr>
            </a:pPr>
            <a:r>
              <a:rPr sz="1500" b="1">
                <a:solidFill>
                  <a:srgbClr val="084878"/>
                </a:solidFill>
                <a:latin typeface="IBM Plex Sans"/>
                <a:ea typeface="IBM Plex Sans"/>
                <a:cs typeface="IBM Plex Sans"/>
              </a:rPr>
              <a:t>Prüfhinweis</a:t>
            </a:r>
          </a:p>
        </p:txBody>
      </p:sp>
      <p:sp>
        <p:nvSpPr>
          <p:cNvPr id="20" name="">
            <a:extLst xmlns:a="http://schemas.openxmlformats.org/drawingml/2006/main">
              <a:ext uri="{FF2B5EF4-FFF2-40B4-BE49-F238E27FC236}">
                <a16:creationId xmlns:a16="http://schemas.microsoft.com/office/drawing/2014/main" id="{0BBCAB48-E352-4B3E-9922-E45031FCF219}"/>
              </a:ext>
            </a:extLst>
          </p:cNvPr>
          <p:cNvSpPr>
            <a:spLocks xmlns:a="http://schemas.openxmlformats.org/drawingml/2006/main" noGrp="1"/>
          </p:cNvSpPr>
          <p:nvPr/>
        </p:nvSpPr>
        <p:spPr>
          <a:xfrm xmlns:a="http://schemas.openxmlformats.org/drawingml/2006/main">
            <a:off x="6448425" y="3152775"/>
            <a:ext cx="2228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56657A"/>
                </a:solidFill>
                <a:latin typeface="IBM Plex Sans"/>
                <a:ea typeface="IBM Plex Sans"/>
                <a:cs typeface="IBM Plex Sans"/>
              </a:defRPr>
            </a:pPr>
            <a:r>
              <a:rPr sz="1050" b="0">
                <a:solidFill>
                  <a:srgbClr val="56657A"/>
                </a:solidFill>
                <a:latin typeface="IBM Plex Sans"/>
                <a:ea typeface="IBM Plex Sans"/>
                <a:cs typeface="IBM Plex Sans"/>
              </a:rPr>
              <a:t>q99-Grenze überschritten – ein Arbeitsauftrag entsteht.</a:t>
            </a:r>
          </a:p>
        </p:txBody>
      </p:sp>
      <p:sp>
        <p:nvSpPr>
          <p:cNvPr id="21" name="">
            <a:extLst xmlns:a="http://schemas.openxmlformats.org/drawingml/2006/main">
              <a:ext uri="{FF2B5EF4-FFF2-40B4-BE49-F238E27FC236}">
                <a16:creationId xmlns:a16="http://schemas.microsoft.com/office/drawing/2014/main" id="{5F22917F-D880-4B91-8DD2-8CBA2D2C1E51}"/>
              </a:ext>
            </a:extLst>
          </p:cNvPr>
          <p:cNvSpPr>
            <a:spLocks xmlns:a="http://schemas.openxmlformats.org/drawingml/2006/main" noGrp="1"/>
          </p:cNvSpPr>
          <p:nvPr/>
        </p:nvSpPr>
        <p:spPr>
          <a:xfrm xmlns:a="http://schemas.openxmlformats.org/drawingml/2006/main">
            <a:off x="8896350" y="2781300"/>
            <a:ext cx="238125" cy="209550"/>
          </a:xfrm>
          <a:prstGeom xmlns:a="http://schemas.openxmlformats.org/drawingml/2006/main" prst="rightArrow">
            <a:avLst/>
          </a:prstGeom>
          <a:solidFill xmlns:a="http://schemas.openxmlformats.org/drawingml/2006/main">
            <a:srgbClr val="0080A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D56FE2D-54BA-4A99-88D3-74B9075D56CE}"/>
              </a:ext>
            </a:extLst>
          </p:cNvPr>
          <p:cNvSpPr>
            <a:spLocks xmlns:a="http://schemas.openxmlformats.org/drawingml/2006/main" noGrp="1"/>
          </p:cNvSpPr>
          <p:nvPr/>
        </p:nvSpPr>
        <p:spPr>
          <a:xfrm xmlns:a="http://schemas.openxmlformats.org/drawingml/2006/main">
            <a:off x="9153525" y="2238375"/>
            <a:ext cx="2571750" cy="1428750"/>
          </a:xfrm>
          <a:prstGeom xmlns:a="http://schemas.openxmlformats.org/drawingml/2006/main" prst="roundRect">
            <a:avLst>
              <a:gd name="adj" fmla="val 9333"/>
            </a:avLst>
          </a:prstGeom>
          <a:solidFill xmlns:a="http://schemas.openxmlformats.org/drawingml/2006/main">
            <a:srgbClr val="FFFFFF"/>
          </a:solidFill>
          <a:ln xmlns:a="http://schemas.openxmlformats.org/drawingml/2006/main" w="9525">
            <a:solidFill>
              <a:srgbClr val="D7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AA8395FB-67DC-402A-8CBD-7874441EA4E9}"/>
              </a:ext>
            </a:extLst>
          </p:cNvPr>
          <p:cNvSpPr>
            <a:spLocks xmlns:a="http://schemas.openxmlformats.org/drawingml/2006/main" noGrp="1"/>
          </p:cNvSpPr>
          <p:nvPr/>
        </p:nvSpPr>
        <p:spPr>
          <a:xfrm xmlns:a="http://schemas.openxmlformats.org/drawingml/2006/main">
            <a:off x="9324975" y="2400300"/>
            <a:ext cx="323850" cy="323850"/>
          </a:xfrm>
          <a:prstGeom xmlns:a="http://schemas.openxmlformats.org/drawingml/2006/main" prst="ellipse">
            <a:avLst/>
          </a:prstGeom>
          <a:solidFill xmlns:a="http://schemas.openxmlformats.org/drawingml/2006/main">
            <a:srgbClr val="397A42"/>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6FCEBD6-6B77-4415-8FC7-4359B6C3F8E1}"/>
              </a:ext>
            </a:extLst>
          </p:cNvPr>
          <p:cNvSpPr>
            <a:spLocks xmlns:a="http://schemas.openxmlformats.org/drawingml/2006/main" noGrp="1"/>
          </p:cNvSpPr>
          <p:nvPr/>
        </p:nvSpPr>
        <p:spPr>
          <a:xfrm xmlns:a="http://schemas.openxmlformats.org/drawingml/2006/main">
            <a:off x="9324975" y="24384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Geist Mono"/>
                <a:ea typeface="Geist Mono"/>
                <a:cs typeface="Geist Mono"/>
              </a:defRPr>
            </a:pPr>
            <a:r>
              <a:rPr sz="1200" b="1">
                <a:solidFill>
                  <a:srgbClr val="FFFFFF"/>
                </a:solidFill>
                <a:latin typeface="Geist Mono"/>
                <a:ea typeface="Geist Mono"/>
                <a:cs typeface="Geist Mono"/>
              </a:rPr>
              <a:t>4</a:t>
            </a:r>
          </a:p>
        </p:txBody>
      </p:sp>
      <p:sp>
        <p:nvSpPr>
          <p:cNvPr id="25" name="">
            <a:extLst xmlns:a="http://schemas.openxmlformats.org/drawingml/2006/main">
              <a:ext uri="{FF2B5EF4-FFF2-40B4-BE49-F238E27FC236}">
                <a16:creationId xmlns:a16="http://schemas.microsoft.com/office/drawing/2014/main" id="{4AFB9575-C914-4056-976F-130F61C13112}"/>
              </a:ext>
            </a:extLst>
          </p:cNvPr>
          <p:cNvSpPr>
            <a:spLocks xmlns:a="http://schemas.openxmlformats.org/drawingml/2006/main" noGrp="1"/>
          </p:cNvSpPr>
          <p:nvPr/>
        </p:nvSpPr>
        <p:spPr>
          <a:xfrm xmlns:a="http://schemas.openxmlformats.org/drawingml/2006/main">
            <a:off x="9324975" y="2828925"/>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084878"/>
                </a:solidFill>
                <a:latin typeface="IBM Plex Sans"/>
                <a:ea typeface="IBM Plex Sans"/>
                <a:cs typeface="IBM Plex Sans"/>
              </a:defRPr>
            </a:pPr>
            <a:r>
              <a:rPr sz="1500" b="1">
                <a:solidFill>
                  <a:srgbClr val="084878"/>
                </a:solidFill>
                <a:latin typeface="IBM Plex Sans"/>
                <a:ea typeface="IBM Plex Sans"/>
                <a:cs typeface="IBM Plex Sans"/>
              </a:rPr>
              <a:t>Bestätigte Anomalie</a:t>
            </a:r>
          </a:p>
        </p:txBody>
      </p:sp>
      <p:sp>
        <p:nvSpPr>
          <p:cNvPr id="26" name="">
            <a:extLst xmlns:a="http://schemas.openxmlformats.org/drawingml/2006/main">
              <a:ext uri="{FF2B5EF4-FFF2-40B4-BE49-F238E27FC236}">
                <a16:creationId xmlns:a16="http://schemas.microsoft.com/office/drawing/2014/main" id="{4763AFD5-392A-41ED-B38B-DE09F62C7C06}"/>
              </a:ext>
            </a:extLst>
          </p:cNvPr>
          <p:cNvSpPr>
            <a:spLocks xmlns:a="http://schemas.openxmlformats.org/drawingml/2006/main" noGrp="1"/>
          </p:cNvSpPr>
          <p:nvPr/>
        </p:nvSpPr>
        <p:spPr>
          <a:xfrm xmlns:a="http://schemas.openxmlformats.org/drawingml/2006/main">
            <a:off x="9324975" y="3152775"/>
            <a:ext cx="2228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56657A"/>
                </a:solidFill>
                <a:latin typeface="IBM Plex Sans"/>
                <a:ea typeface="IBM Plex Sans"/>
                <a:cs typeface="IBM Plex Sans"/>
              </a:defRPr>
            </a:pPr>
            <a:r>
              <a:rPr sz="1050" b="0">
                <a:solidFill>
                  <a:srgbClr val="56657A"/>
                </a:solidFill>
                <a:latin typeface="IBM Plex Sans"/>
                <a:ea typeface="IBM Plex Sans"/>
                <a:cs typeface="IBM Plex Sans"/>
              </a:rPr>
              <a:t>Erst die fachliche Untersuchung liefert das Label.</a:t>
            </a:r>
          </a:p>
        </p:txBody>
      </p:sp>
      <p:sp>
        <p:nvSpPr>
          <p:cNvPr id="27" name="">
            <a:extLst xmlns:a="http://schemas.openxmlformats.org/drawingml/2006/main">
              <a:ext uri="{FF2B5EF4-FFF2-40B4-BE49-F238E27FC236}">
                <a16:creationId xmlns:a16="http://schemas.microsoft.com/office/drawing/2014/main" id="{84A06EF4-5098-4D86-A727-A4C4113A5E1B}"/>
              </a:ext>
            </a:extLst>
          </p:cNvPr>
          <p:cNvSpPr>
            <a:spLocks xmlns:a="http://schemas.openxmlformats.org/drawingml/2006/main" noGrp="1"/>
          </p:cNvSpPr>
          <p:nvPr/>
        </p:nvSpPr>
        <p:spPr>
          <a:xfrm xmlns:a="http://schemas.openxmlformats.org/drawingml/2006/main">
            <a:off x="1238250" y="4400550"/>
            <a:ext cx="9715500" cy="1123950"/>
          </a:xfrm>
          <a:prstGeom xmlns:a="http://schemas.openxmlformats.org/drawingml/2006/main" prst="roundRect">
            <a:avLst>
              <a:gd name="adj" fmla="val 11864"/>
            </a:avLst>
          </a:prstGeom>
          <a:solidFill xmlns:a="http://schemas.openxmlformats.org/drawingml/2006/main">
            <a:srgbClr val="F5F8FB"/>
          </a:solidFill>
          <a:ln xmlns:a="http://schemas.openxmlformats.org/drawingml/2006/main" w="9525">
            <a:solidFill>
              <a:srgbClr val="D7E0EA"/>
            </a:solidFill>
            <a:prstDash val="solid"/>
          </a:ln>
        </p:spPr>
      </p:sp>
      <p:sp>
        <p:nvSpPr>
          <p:cNvPr id="28" name="">
            <a:extLst xmlns:a="http://schemas.openxmlformats.org/drawingml/2006/main">
              <a:ext uri="{FF2B5EF4-FFF2-40B4-BE49-F238E27FC236}">
                <a16:creationId xmlns:a16="http://schemas.microsoft.com/office/drawing/2014/main" id="{E1426A97-8E78-481B-B375-8D78E9130831}"/>
              </a:ext>
            </a:extLst>
          </p:cNvPr>
          <p:cNvSpPr>
            <a:spLocks xmlns:a="http://schemas.openxmlformats.org/drawingml/2006/main" noGrp="1"/>
          </p:cNvSpPr>
          <p:nvPr/>
        </p:nvSpPr>
        <p:spPr>
          <a:xfrm xmlns:a="http://schemas.openxmlformats.org/drawingml/2006/main">
            <a:off x="1571625" y="4619625"/>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084878"/>
                </a:solidFill>
                <a:latin typeface="IBM Plex Sans"/>
                <a:ea typeface="IBM Plex Sans"/>
                <a:cs typeface="IBM Plex Sans"/>
              </a:defRPr>
            </a:pPr>
            <a:r>
              <a:rPr sz="1650" b="1">
                <a:solidFill>
                  <a:srgbClr val="084878"/>
                </a:solidFill>
                <a:latin typeface="IBM Plex Sans"/>
                <a:ea typeface="IBM Plex Sans"/>
                <a:cs typeface="IBM Plex Sans"/>
              </a:rPr>
              <a:t>Warum noch keine Precision und Recall?</a:t>
            </a:r>
          </a:p>
        </p:txBody>
      </p:sp>
      <p:sp>
        <p:nvSpPr>
          <p:cNvPr id="29" name="">
            <a:extLst xmlns:a="http://schemas.openxmlformats.org/drawingml/2006/main">
              <a:ext uri="{FF2B5EF4-FFF2-40B4-BE49-F238E27FC236}">
                <a16:creationId xmlns:a16="http://schemas.microsoft.com/office/drawing/2014/main" id="{3F775EBA-CA75-4700-A313-2C9DC49102EA}"/>
              </a:ext>
            </a:extLst>
          </p:cNvPr>
          <p:cNvSpPr>
            <a:spLocks xmlns:a="http://schemas.openxmlformats.org/drawingml/2006/main" noGrp="1"/>
          </p:cNvSpPr>
          <p:nvPr/>
        </p:nvSpPr>
        <p:spPr>
          <a:xfrm xmlns:a="http://schemas.openxmlformats.org/drawingml/2006/main">
            <a:off x="1666875" y="5029200"/>
            <a:ext cx="885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56657A"/>
                </a:solidFill>
                <a:latin typeface="IBM Plex Sans"/>
                <a:ea typeface="IBM Plex Sans"/>
                <a:cs typeface="IBM Plex Sans"/>
              </a:defRPr>
            </a:pPr>
            <a:r>
              <a:rPr sz="1125" b="0">
                <a:solidFill>
                  <a:srgbClr val="56657A"/>
                </a:solidFill>
                <a:latin typeface="IBM Plex Sans"/>
                <a:ea typeface="IBM Plex Sans"/>
                <a:cs typeface="IBM Plex Sans"/>
              </a:rPr>
              <a:t>Ohne Ground-Truth-Labels wären Treffer- und Fehlalarmquote erfunden. Zusätzlich müssen zufällig ausgewählte Nicht-Hinweise geprüft werden, um übersehene Fälle abschätzen zu können.</a:t>
            </a:r>
          </a:p>
        </p:txBody>
      </p:sp>
      <p:sp>
        <p:nvSpPr>
          <p:cNvPr id="30" name="">
            <a:extLst xmlns:a="http://schemas.openxmlformats.org/drawingml/2006/main">
              <a:ext uri="{FF2B5EF4-FFF2-40B4-BE49-F238E27FC236}">
                <a16:creationId xmlns:a16="http://schemas.microsoft.com/office/drawing/2014/main" id="{6FCADAA0-AAA3-4034-AB99-D2D7E01E85B2}"/>
              </a:ext>
            </a:extLst>
          </p:cNvPr>
          <p:cNvSpPr>
            <a:spLocks xmlns:a="http://schemas.openxmlformats.org/drawingml/2006/main" noGrp="1"/>
          </p:cNvSpPr>
          <p:nvPr/>
        </p:nvSpPr>
        <p:spPr>
          <a:xfrm xmlns:a="http://schemas.openxmlformats.org/drawingml/2006/main">
            <a:off x="533400" y="6229350"/>
            <a:ext cx="11106150" cy="0"/>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31" name="">
            <a:extLst xmlns:a="http://schemas.openxmlformats.org/drawingml/2006/main">
              <a:ext uri="{FF2B5EF4-FFF2-40B4-BE49-F238E27FC236}">
                <a16:creationId xmlns:a16="http://schemas.microsoft.com/office/drawing/2014/main" id="{05A111D4-1DA2-46E2-9ACD-C8C3CBDE0942}"/>
              </a:ext>
            </a:extLst>
          </p:cNvPr>
          <p:cNvSpPr>
            <a:spLocks xmlns:a="http://schemas.openxmlformats.org/drawingml/2006/main" noGrp="1"/>
          </p:cNvSpPr>
          <p:nvPr/>
        </p:nvSpPr>
        <p:spPr>
          <a:xfrm xmlns:a="http://schemas.openxmlformats.org/drawingml/2006/main">
            <a:off x="533400" y="6229350"/>
            <a:ext cx="895350" cy="0"/>
          </a:xfrm>
          <a:prstGeom xmlns:a="http://schemas.openxmlformats.org/drawingml/2006/main" prst="line">
            <a:avLst/>
          </a:prstGeom>
          <a:noFill xmlns:a="http://schemas.openxmlformats.org/drawingml/2006/main"/>
          <a:ln xmlns:a="http://schemas.openxmlformats.org/drawingml/2006/main" w="38100">
            <a:solidFill>
              <a:srgbClr val="084878"/>
            </a:solidFill>
            <a:prstDash val="solid"/>
          </a:ln>
        </p:spPr>
      </p:sp>
      <p:sp>
        <p:nvSpPr>
          <p:cNvPr id="32" name="">
            <a:extLst xmlns:a="http://schemas.openxmlformats.org/drawingml/2006/main">
              <a:ext uri="{FF2B5EF4-FFF2-40B4-BE49-F238E27FC236}">
                <a16:creationId xmlns:a16="http://schemas.microsoft.com/office/drawing/2014/main" id="{21372CC7-7769-4F54-8914-E6CBE473C569}"/>
              </a:ext>
            </a:extLst>
          </p:cNvPr>
          <p:cNvSpPr>
            <a:spLocks xmlns:a="http://schemas.openxmlformats.org/drawingml/2006/main" noGrp="1"/>
          </p:cNvSpPr>
          <p:nvPr/>
        </p:nvSpPr>
        <p:spPr>
          <a:xfrm xmlns:a="http://schemas.openxmlformats.org/drawingml/2006/main">
            <a:off x="533400" y="635317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13" b="0">
                <a:solidFill>
                  <a:srgbClr val="56657A"/>
                </a:solidFill>
                <a:latin typeface="IBM Plex Sans"/>
                <a:ea typeface="IBM Plex Sans"/>
                <a:cs typeface="IBM Plex Sans"/>
              </a:defRPr>
            </a:pPr>
            <a:r>
              <a:rPr sz="713" b="0">
                <a:solidFill>
                  <a:srgbClr val="56657A"/>
                </a:solidFill>
                <a:latin typeface="IBM Plex Sans"/>
                <a:ea typeface="IBM Plex Sans"/>
                <a:cs typeface="IBM Plex Sans"/>
              </a:rPr>
              <a:t>Quelle: notebooks/13_modellierung_von_grund_auf_verstehen.ipynb</a:t>
            </a:r>
          </a:p>
        </p:txBody>
      </p:sp>
      <p:sp>
        <p:nvSpPr>
          <p:cNvPr id="33" name="">
            <a:extLst xmlns:a="http://schemas.openxmlformats.org/drawingml/2006/main">
              <a:ext uri="{FF2B5EF4-FFF2-40B4-BE49-F238E27FC236}">
                <a16:creationId xmlns:a16="http://schemas.microsoft.com/office/drawing/2014/main" id="{8F8D8CE1-67A3-4884-B619-1DEDDD512257}"/>
              </a:ext>
            </a:extLst>
          </p:cNvPr>
          <p:cNvSpPr>
            <a:spLocks xmlns:a="http://schemas.openxmlformats.org/drawingml/2006/main" noGrp="1"/>
          </p:cNvSpPr>
          <p:nvPr/>
        </p:nvSpPr>
        <p:spPr>
          <a:xfrm xmlns:a="http://schemas.openxmlformats.org/drawingml/2006/main">
            <a:off x="10477500" y="63817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56657A"/>
                </a:solidFill>
                <a:latin typeface="Geist Mono"/>
                <a:ea typeface="Geist Mono"/>
                <a:cs typeface="Geist Mono"/>
              </a:defRPr>
            </a:pPr>
            <a:r>
              <a:rPr sz="825" b="0">
                <a:solidFill>
                  <a:srgbClr val="56657A"/>
                </a:solidFill>
                <a:latin typeface="Geist Mono"/>
                <a:ea typeface="Geist Mono"/>
                <a:cs typeface="Geist Mono"/>
              </a:rPr>
              <a:t>18</a:t>
            </a:r>
          </a:p>
        </p:txBody>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7eda3f27c48a4185"/>
          <a:stretch xmlns:a="http://schemas.openxmlformats.org/drawingml/2006/main"/>
        </p:blipFill>
        <p:spPr>
          <a:xfrm xmlns:a="http://schemas.openxmlformats.org/drawingml/2006/main">
            <a:off x="11058812" y="6296025"/>
            <a:ext cx="513776" cy="438150"/>
          </a:xfrm>
          <a:prstGeom xmlns:a="http://schemas.openxmlformats.org/drawingml/2006/main" prst="rect">
            <a:avLst/>
          </a:prstGeom>
        </p:spPr>
      </p:pic>
    </p:spTree>
    <p:extLst>
      <p:ext uri="{BB962C8B-B14F-4D97-AF65-F5344CB8AC3E}">
        <p14:creationId xmlns:p14="http://schemas.microsoft.com/office/powerpoint/2010/main" val="1657923429"/>
      </p:ext>
    </p:extLst>
  </p:cSld>
</p:sld>
</file>

<file path=ppt/theme/theme1.xml><?xml version="1.0" encoding="utf-8"?>
<a:theme xmlns:a="http://schemas.openxmlformats.org/drawingml/2006/main" name="ChatGPT">
  <a:themeElements>
    <a:clrScheme name="SWW Energy Analysis">
      <a:dk1>
        <a:srgbClr val="000000"/>
      </a:dk1>
      <a:lt1>
        <a:srgbClr val="FFFFFF"/>
      </a:lt1>
      <a:dk2>
        <a:srgbClr val="0D2742"/>
      </a:dk2>
      <a:lt2>
        <a:srgbClr val="D7E0EA"/>
      </a:lt2>
      <a:accent1>
        <a:srgbClr val="084878"/>
      </a:accent1>
      <a:accent2>
        <a:srgbClr val="0090C8"/>
      </a:accent2>
      <a:accent3>
        <a:srgbClr val="0080A0"/>
      </a:accent3>
      <a:accent4>
        <a:srgbClr val="A86505"/>
      </a:accent4>
      <a:accent5>
        <a:srgbClr val="B3261E"/>
      </a:accent5>
      <a:accent6>
        <a:srgbClr val="397A42"/>
      </a:accent6>
      <a:hlink>
        <a:srgbClr val="0090C8"/>
      </a:hlink>
      <a:folHlink>
        <a:srgbClr val="0080A0"/>
      </a:folHlink>
    </a:clrScheme>
    <a:fontScheme name="Office">
      <a:majorFont>
        <a:latin typeface="Calibri Light"/>
        <a:ea typeface="Calibri Light"/>
        <a:cs typeface="Calibri Light"/>
      </a:majorFont>
      <a:minorFont>
        <a:latin typeface="Calibri"/>
        <a:ea typeface="Calibri"/>
        <a:cs typeface="Calibri"/>
      </a:minorFont>
    </a:fontScheme>
    <a:fmtScheme name="SWW Energy Analysi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2026-09-24T14:24:10.3000000Z</dcterms:created>
  <dcterms:modified xsi:type="dcterms:W3CDTF">2026-09-24T14:24:10.3000000Z</dcterms:modified>
</coreProperties>
</file>