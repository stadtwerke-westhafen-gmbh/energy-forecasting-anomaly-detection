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Lst>
  <p:sldSz cy="6858000" cx="12192100"/>
  <p:notesSz cx="6858000" cy="9144000"/>
  <p:embeddedFontLst>
    <p:embeddedFont>
      <p:font typeface="IBM Plex Sans"/>
      <p:regular r:id="rId43"/>
      <p:bold r:id="rId44"/>
      <p:italic r:id="rId45"/>
      <p:boldItalic r:id="rId46"/>
    </p:embeddedFont>
    <p:embeddedFont>
      <p:font typeface="Geist Mono"/>
      <p:regular r:id="rId47"/>
      <p:bold r:id="rId48"/>
      <p:italic r:id="rId49"/>
      <p:boldItalic r:id="rId50"/>
    </p:embeddedFont>
    <p:embeddedFont>
      <p:font typeface="Roboto Mono"/>
      <p:regular r:id="rId51"/>
      <p:bold r:id="rId52"/>
      <p:italic r:id="rId53"/>
      <p:boldItalic r:id="rId5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5" roundtripDataSignature="AMtx7mg54p8IQnkv3wY+BmtLtSB5u2l1H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81028F4-D13A-40BA-8AC4-B97C08D46F45}">
  <a:tblStyle styleId="{D81028F4-D13A-40BA-8AC4-B97C08D46F45}"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1020491D-08E3-4181-921C-9FBC3C191FCD}" styleName="Table_1">
    <a:wholeTbl>
      <a:tcTxStyle b="off" i="off">
        <a:font>
          <a:latin typeface="IBM Plex Sans"/>
          <a:ea typeface="IBM Plex Sans"/>
          <a:cs typeface="IBM Plex Sans"/>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IBM Plex Sans"/>
          <a:ea typeface="IBM Plex Sans"/>
          <a:cs typeface="IBM Plex Sans"/>
        </a:font>
        <a:schemeClr val="lt1"/>
      </a:tcTxStyle>
      <a:tcStyle>
        <a:fill>
          <a:solidFill>
            <a:schemeClr val="accent1"/>
          </a:solidFill>
        </a:fill>
      </a:tcStyle>
    </a:lastCol>
    <a:firstCol>
      <a:tcTxStyle b="on" i="off">
        <a:font>
          <a:latin typeface="IBM Plex Sans"/>
          <a:ea typeface="IBM Plex Sans"/>
          <a:cs typeface="IBM Plex Sans"/>
        </a:font>
        <a:schemeClr val="lt1"/>
      </a:tcTxStyle>
      <a:tcStyle>
        <a:fill>
          <a:solidFill>
            <a:schemeClr val="accent1"/>
          </a:solidFill>
        </a:fill>
      </a:tcStyle>
    </a:firstCol>
    <a:lastRow>
      <a:tcTxStyle b="on" i="off">
        <a:font>
          <a:latin typeface="IBM Plex Sans"/>
          <a:ea typeface="IBM Plex Sans"/>
          <a:cs typeface="IBM Plex Sans"/>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IBM Plex Sans"/>
          <a:ea typeface="IBM Plex Sans"/>
          <a:cs typeface="IBM Plex Sans"/>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font" Target="fonts/IBMPlexSans-bold.fntdata"/><Relationship Id="rId43" Type="http://schemas.openxmlformats.org/officeDocument/2006/relationships/font" Target="fonts/IBMPlexSans-regular.fntdata"/><Relationship Id="rId46" Type="http://schemas.openxmlformats.org/officeDocument/2006/relationships/font" Target="fonts/IBMPlexSans-boldItalic.fntdata"/><Relationship Id="rId45" Type="http://schemas.openxmlformats.org/officeDocument/2006/relationships/font" Target="fonts/IBMPlexSans-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GeistMono-bold.fntdata"/><Relationship Id="rId47" Type="http://schemas.openxmlformats.org/officeDocument/2006/relationships/font" Target="fonts/GeistMono-regular.fntdata"/><Relationship Id="rId49" Type="http://schemas.openxmlformats.org/officeDocument/2006/relationships/font" Target="fonts/GeistMon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RobotoMono-regular.fntdata"/><Relationship Id="rId50" Type="http://schemas.openxmlformats.org/officeDocument/2006/relationships/font" Target="fonts/GeistMono-boldItalic.fntdata"/><Relationship Id="rId53" Type="http://schemas.openxmlformats.org/officeDocument/2006/relationships/font" Target="fonts/RobotoMono-italic.fntdata"/><Relationship Id="rId52" Type="http://schemas.openxmlformats.org/officeDocument/2006/relationships/font" Target="fonts/RobotoMono-bold.fntdata"/><Relationship Id="rId11" Type="http://schemas.openxmlformats.org/officeDocument/2006/relationships/slide" Target="slides/slide6.xml"/><Relationship Id="rId55" Type="http://customschemas.google.com/relationships/presentationmetadata" Target="metadata"/><Relationship Id="rId10" Type="http://schemas.openxmlformats.org/officeDocument/2006/relationships/slide" Target="slides/slide5.xml"/><Relationship Id="rId54" Type="http://schemas.openxmlformats.org/officeDocument/2006/relationships/font" Target="fonts/RobotoMono-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Begruessen Sie die Pruefungskommission und stellen Sie die Gruppe vor (10–15 Sekunden). Nennen Sie kurz das Thema und die Organisation. Dann direkt weiter zur Agenda.</a:t>
            </a:r>
            <a:endParaRP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 name="Google Shape;91;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Geben Sie der Kommission einen klaren Fahrplan: erst 30 min Konzept (alle drei sprechen), dann 15 min Live-Demo, dann je 15 min Fachgespraech pro Person. Zeit: maximal 30 Sekunden.</a:t>
            </a:r>
            <a:endParaRPr/>
          </a:p>
        </p:txBody>
      </p:sp>
      <p:sp>
        <p:nvSpPr>
          <p:cNvPr id="92" name="Google Shape;92;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9" name="Google Shape;99;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Ankern Sie die Geschichte in der Organisation. Nennen Sie Branche, Groesse, das konkrete Problem und warum es jetzt geloest werden muss. Vermeiden Sie generische Branchen-Einfuehrungen. 2–3 Minuten.</a:t>
            </a:r>
            <a:endParaRPr/>
          </a:p>
        </p:txBody>
      </p:sp>
      <p:sp>
        <p:nvSpPr>
          <p:cNvPr id="100" name="Google Shape;100;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f8dcff49c5_0_5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f8dcff49c5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fb93177103_0_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4" name="Google Shape;114;g3fb93177103_0_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Erklaeren Sie die Datenlage in konkreten Zahlen: Wie viele Zeilen, welcher Zeitraum, welche Qualitaetsprobleme. Zeigen Sie, dass Sie die Daten verstanden haben. Die Pruefungskommission moechte fuehlen, dass Sie die Datei aufgemacht haben. Zeit: 3–4 min.</a:t>
            </a:r>
            <a:endParaRPr/>
          </a:p>
        </p:txBody>
      </p:sp>
      <p:sp>
        <p:nvSpPr>
          <p:cNvPr id="115" name="Google Shape;115;g3fb93177103_0_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h45f2655967f9aec0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h45f2655967f9aec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h45f2655967f9aec0_0_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h45f2655967f9aec0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h45f2655967f9aec0_0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h45f2655967f9aec0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h510714b4cc47d3b6_0_0:notes"/>
          <p:cNvSpPr/>
          <p:nvPr>
            <p:ph idx="2" type="sldImg"/>
          </p:nvPr>
        </p:nvSpPr>
        <p:spPr>
          <a:xfrm>
            <a:off x="-12"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6" name="Google Shape;136;h510714b4cc47d3b6_0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800"/>
              <a:t>STICHWORTE</a:t>
            </a:r>
            <a:endParaRPr/>
          </a:p>
          <a:p>
            <a:pPr indent="0" lvl="0" marL="0" rtl="0" algn="l">
              <a:spcBef>
                <a:spcPts val="0"/>
              </a:spcBef>
              <a:spcAft>
                <a:spcPts val="0"/>
              </a:spcAft>
              <a:buNone/>
            </a:pPr>
            <a:r>
              <a:rPr b="0" lang="en-US" sz="1800"/>
              <a:t>• Danke an Iana</a:t>
            </a:r>
            <a:endParaRPr/>
          </a:p>
          <a:p>
            <a:pPr indent="0" lvl="0" marL="0" rtl="0" algn="l">
              <a:spcBef>
                <a:spcPts val="0"/>
              </a:spcBef>
              <a:spcAft>
                <a:spcPts val="0"/>
              </a:spcAft>
              <a:buNone/>
            </a:pPr>
            <a:r>
              <a:rPr b="0" lang="en-US" sz="1800"/>
              <a:t>• drei Fragen = drei Farben</a:t>
            </a:r>
            <a:endParaRPr/>
          </a:p>
          <a:p>
            <a:pPr indent="0" lvl="0" marL="0" rtl="0" algn="l">
              <a:spcBef>
                <a:spcPts val="0"/>
              </a:spcBef>
              <a:spcAft>
                <a:spcPts val="0"/>
              </a:spcAft>
              <a:buNone/>
            </a:pPr>
            <a:r>
              <a:rPr b="0" lang="en-US" sz="1800"/>
              <a:t>• am Ende: mein nächster Schritt</a:t>
            </a:r>
            <a:endParaRPr/>
          </a:p>
          <a:p>
            <a:pPr indent="0" lvl="0" marL="0" rtl="0" algn="l">
              <a:spcBef>
                <a:spcPts val="0"/>
              </a:spcBef>
              <a:spcAft>
                <a:spcPts val="0"/>
              </a:spcAft>
              <a:buNone/>
            </a:pPr>
            <a:r>
              <a:t/>
            </a:r>
            <a:endParaRPr b="0" sz="1800"/>
          </a:p>
          <a:p>
            <a:pPr indent="0" lvl="0" marL="0" rtl="0" algn="l">
              <a:spcBef>
                <a:spcPts val="0"/>
              </a:spcBef>
              <a:spcAft>
                <a:spcPts val="0"/>
              </a:spcAft>
              <a:buNone/>
            </a:pPr>
            <a:r>
              <a:rPr b="1" lang="en-US" sz="1800"/>
              <a:t>SPRECHTEXT</a:t>
            </a:r>
            <a:endParaRPr/>
          </a:p>
          <a:p>
            <a:pPr indent="0" lvl="0" marL="0" rtl="0" algn="l">
              <a:spcBef>
                <a:spcPts val="0"/>
              </a:spcBef>
              <a:spcAft>
                <a:spcPts val="0"/>
              </a:spcAft>
              <a:buNone/>
            </a:pPr>
            <a:r>
              <a:rPr b="0" lang="en-US" sz="1800"/>
              <a:t>Danke, Iana. Ich zeige jetzt den Machine-Learning-Teil. Drei Fragen führen durch: Was sagt unser Modell vorher, und womit? Woran messen wir, ob es gut ist? Und ab wann wird aus einer Abweichung ein Prüfhinweis? Am Ende sage ich, was ich als Nächstes vorhabe.</a:t>
            </a:r>
            <a:endParaRPr/>
          </a:p>
          <a:p>
            <a:pPr indent="0" lvl="0" marL="0" rtl="0" algn="l">
              <a:spcBef>
                <a:spcPts val="0"/>
              </a:spcBef>
              <a:spcAft>
                <a:spcPts val="0"/>
              </a:spcAft>
              <a:buNone/>
            </a:pPr>
            <a:r>
              <a:t/>
            </a:r>
            <a:endParaRPr b="0" sz="1800"/>
          </a:p>
          <a:p>
            <a:pPr indent="0" lvl="0" marL="0" rtl="0" algn="l">
              <a:spcBef>
                <a:spcPts val="0"/>
              </a:spcBef>
              <a:spcAft>
                <a:spcPts val="0"/>
              </a:spcAft>
              <a:buNone/>
            </a:pPr>
            <a:r>
              <a:rPr b="1" lang="en-US" sz="1800"/>
              <a:t>SO VERSTEHST DU ES</a:t>
            </a:r>
            <a:endParaRPr/>
          </a:p>
          <a:p>
            <a:pPr indent="0" lvl="0" marL="0" rtl="0" algn="l">
              <a:spcBef>
                <a:spcPts val="0"/>
              </a:spcBef>
              <a:spcAft>
                <a:spcPts val="0"/>
              </a:spcAft>
              <a:buNone/>
            </a:pPr>
            <a:r>
              <a:rPr b="0" lang="en-US" sz="1800"/>
              <a:t>• Die Folie ist die Landkarte für deine neun Minuten. Die drei Farben kommen wieder: Navy steht für die Vorhersage (Folie 2–4), Teal für das Messen (Folie 5–6), Amber für den Prüfhinweis (Folie 7–8).</a:t>
            </a:r>
            <a:endParaRPr/>
          </a:p>
        </p:txBody>
      </p:sp>
      <p:sp>
        <p:nvSpPr>
          <p:cNvPr id="137" name="Google Shape;137;h510714b4cc47d3b6_0_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h510714b4cc47d3b6_0_104:notes"/>
          <p:cNvSpPr/>
          <p:nvPr>
            <p:ph idx="2" type="sldImg"/>
          </p:nvPr>
        </p:nvSpPr>
        <p:spPr>
          <a:xfrm>
            <a:off x="-12"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6" name="Google Shape;166;h510714b4cc47d3b6_0_10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800"/>
              <a:t>STICHWORTE</a:t>
            </a:r>
            <a:endParaRPr/>
          </a:p>
          <a:p>
            <a:pPr indent="0" lvl="0" marL="0" rtl="0" algn="l">
              <a:spcBef>
                <a:spcPts val="0"/>
              </a:spcBef>
              <a:spcAft>
                <a:spcPts val="0"/>
              </a:spcAft>
              <a:buNone/>
            </a:pPr>
            <a:r>
              <a:rPr b="0" lang="en-US" sz="1800"/>
              <a:t>• Canvas = Steckbrief mit zehn Feldern</a:t>
            </a:r>
            <a:endParaRPr/>
          </a:p>
          <a:p>
            <a:pPr indent="0" lvl="0" marL="0" rtl="0" algn="l">
              <a:spcBef>
                <a:spcPts val="0"/>
              </a:spcBef>
              <a:spcAft>
                <a:spcPts val="0"/>
              </a:spcAft>
              <a:buNone/>
            </a:pPr>
            <a:r>
              <a:rPr b="0" lang="en-US" sz="1800"/>
              <a:t>• Iana: Mehrwert, Daten · Patrick: Impact, Monitoring</a:t>
            </a:r>
            <a:endParaRPr/>
          </a:p>
          <a:p>
            <a:pPr indent="0" lvl="0" marL="0" rtl="0" algn="l">
              <a:spcBef>
                <a:spcPts val="0"/>
              </a:spcBef>
              <a:spcAft>
                <a:spcPts val="0"/>
              </a:spcAft>
              <a:buNone/>
            </a:pPr>
            <a:r>
              <a:rPr b="0" lang="en-US" sz="1800"/>
              <a:t>• sechs Karten als Kette lesen: was, womit, wie, woran, was dann, wann</a:t>
            </a:r>
            <a:endParaRPr/>
          </a:p>
          <a:p>
            <a:pPr indent="0" lvl="0" marL="0" rtl="0" algn="l">
              <a:spcBef>
                <a:spcPts val="0"/>
              </a:spcBef>
              <a:spcAft>
                <a:spcPts val="0"/>
              </a:spcAft>
              <a:buNone/>
            </a:pPr>
            <a:r>
              <a:t/>
            </a:r>
            <a:endParaRPr b="0" sz="1800"/>
          </a:p>
          <a:p>
            <a:pPr indent="0" lvl="0" marL="0" rtl="0" algn="l">
              <a:spcBef>
                <a:spcPts val="0"/>
              </a:spcBef>
              <a:spcAft>
                <a:spcPts val="0"/>
              </a:spcAft>
              <a:buNone/>
            </a:pPr>
            <a:r>
              <a:rPr b="1" lang="en-US" sz="1800"/>
              <a:t>SPRECHTEXT</a:t>
            </a:r>
            <a:endParaRPr/>
          </a:p>
          <a:p>
            <a:pPr indent="0" lvl="0" marL="0" rtl="0" algn="l">
              <a:spcBef>
                <a:spcPts val="0"/>
              </a:spcBef>
              <a:spcAft>
                <a:spcPts val="0"/>
              </a:spcAft>
              <a:buNone/>
            </a:pPr>
            <a:r>
              <a:rPr b="0" lang="en-US" sz="1800"/>
              <a:t>Der Machine Learning Canvas ist ein Steckbrief für ein ML-Projekt: zehn Felder, die zusammenpassen müssen. Mehrwert und Datenquellen hat Iana gezeigt, Impact und Monitoring kommen bei Patrick. Sechs Felder gehören zum Modell, die gehe ich kurz durch.</a:t>
            </a:r>
            <a:endParaRPr/>
          </a:p>
          <a:p>
            <a:pPr indent="0" lvl="0" marL="0" rtl="0" algn="l">
              <a:spcBef>
                <a:spcPts val="0"/>
              </a:spcBef>
              <a:spcAft>
                <a:spcPts val="0"/>
              </a:spcAft>
              <a:buNone/>
            </a:pPr>
            <a:r>
              <a:rPr b="0" lang="en-US" sz="1800"/>
              <a:t>Vorhersage: Wir sagen den Stromverbrauch jedes Zählers für den nächsten Monat vorher. Merkmale: Dafür nutzen wir nur, was vor Monatsbeginn feststeht, also den bisherigen Verbrauch, Kalender, Wetter, Produktionsplan, Wartung und Kundentyp. Lernansatz: Das Modell lernt aus Beispielen, bei denen das Ergebnis bekannt ist. Wir haben einen Random Forest gegen einfachere Verfahren antreten lassen.</a:t>
            </a:r>
            <a:endParaRPr/>
          </a:p>
          <a:p>
            <a:pPr indent="0" lvl="0" marL="0" rtl="0" algn="l">
              <a:spcBef>
                <a:spcPts val="0"/>
              </a:spcBef>
              <a:spcAft>
                <a:spcPts val="0"/>
              </a:spcAft>
              <a:buNone/>
            </a:pPr>
            <a:r>
              <a:rPr b="0" lang="en-US" sz="1800"/>
              <a:t>Evaluation: Wir messen mit dem RMSE in Kilowattstunden, und zwar nur auf Monaten, die das Modell beim Lernen nicht kannte. Entscheidung und Zeitpunkt: Vor Monatsbeginn geht die Prognose an die Beschaffung. Nach Monatsende prüfen wir, ob die Abweichung ungewöhnlich groß ist.</a:t>
            </a:r>
            <a:endParaRPr/>
          </a:p>
          <a:p>
            <a:pPr indent="0" lvl="0" marL="0" rtl="0" algn="l">
              <a:spcBef>
                <a:spcPts val="0"/>
              </a:spcBef>
              <a:spcAft>
                <a:spcPts val="0"/>
              </a:spcAft>
              <a:buNone/>
            </a:pPr>
            <a:r>
              <a:t/>
            </a:r>
            <a:endParaRPr b="0" sz="1800"/>
          </a:p>
          <a:p>
            <a:pPr indent="0" lvl="0" marL="0" rtl="0" algn="l">
              <a:spcBef>
                <a:spcPts val="0"/>
              </a:spcBef>
              <a:spcAft>
                <a:spcPts val="0"/>
              </a:spcAft>
              <a:buNone/>
            </a:pPr>
            <a:r>
              <a:rPr b="1" lang="en-US" sz="1800"/>
              <a:t>SO VERSTEHST DU ES</a:t>
            </a:r>
            <a:endParaRPr/>
          </a:p>
          <a:p>
            <a:pPr indent="0" lvl="0" marL="0" rtl="0" algn="l">
              <a:spcBef>
                <a:spcPts val="0"/>
              </a:spcBef>
              <a:spcAft>
                <a:spcPts val="0"/>
              </a:spcAft>
              <a:buNone/>
            </a:pPr>
            <a:r>
              <a:rPr b="0" lang="en-US" sz="1800"/>
              <a:t>• Lies die Karten von links oben nach rechts unten wie eine Kette: Was sagen wir vorher, womit, wie lernt das Modell, woran messen wir, was passiert mit dem Ergebnis, wann läuft es.</a:t>
            </a:r>
            <a:endParaRPr/>
          </a:p>
          <a:p>
            <a:pPr indent="0" lvl="0" marL="0" rtl="0" algn="l">
              <a:spcBef>
                <a:spcPts val="0"/>
              </a:spcBef>
              <a:spcAft>
                <a:spcPts val="0"/>
              </a:spcAft>
              <a:buNone/>
            </a:pPr>
            <a:r>
              <a:rPr b="0" lang="en-US" sz="1800"/>
              <a:t>• Regression heißt: Das Modell sagt eine Zahl vorher (kWh), keine Kategorie wie „Anomalie ja/nein“.</a:t>
            </a:r>
            <a:endParaRPr/>
          </a:p>
          <a:p>
            <a:pPr indent="0" lvl="0" marL="0" rtl="0" algn="l">
              <a:spcBef>
                <a:spcPts val="0"/>
              </a:spcBef>
              <a:spcAft>
                <a:spcPts val="0"/>
              </a:spcAft>
              <a:buNone/>
            </a:pPr>
            <a:r>
              <a:rPr b="0" lang="en-US" sz="1800"/>
              <a:t>• Überwachtes Lernen heißt: Beim Lernen kennt das Modell den richtigen Wert, hier den echten Verbrauch der Vergangenheit.</a:t>
            </a:r>
            <a:endParaRPr/>
          </a:p>
          <a:p>
            <a:pPr indent="0" lvl="0" marL="0" rtl="0" algn="l">
              <a:spcBef>
                <a:spcPts val="0"/>
              </a:spcBef>
              <a:spcAft>
                <a:spcPts val="0"/>
              </a:spcAft>
              <a:buNone/>
            </a:pPr>
            <a:r>
              <a:rPr b="0" lang="en-US" sz="1800"/>
              <a:t>• Random Forest: viele Entscheidungsbäume, jeder lernt auf einer etwas anderen Stichprobe; der Durchschnitt aller Bäume ist die Prognose. Das macht ihn robust gegen einzelne Ausreißer.</a:t>
            </a:r>
            <a:endParaRPr/>
          </a:p>
          <a:p>
            <a:pPr indent="0" lvl="0" marL="0" rtl="0" algn="l">
              <a:spcBef>
                <a:spcPts val="0"/>
              </a:spcBef>
              <a:spcAft>
                <a:spcPts val="0"/>
              </a:spcAft>
              <a:buNone/>
            </a:pPr>
            <a:r>
              <a:t/>
            </a:r>
            <a:endParaRPr b="0" sz="1800"/>
          </a:p>
          <a:p>
            <a:pPr indent="0" lvl="0" marL="0" rtl="0" algn="l">
              <a:spcBef>
                <a:spcPts val="0"/>
              </a:spcBef>
              <a:spcAft>
                <a:spcPts val="0"/>
              </a:spcAft>
              <a:buNone/>
            </a:pPr>
            <a:r>
              <a:rPr b="1" lang="en-US" sz="1800"/>
              <a:t>FALLS GEFRAGT WIRD</a:t>
            </a:r>
            <a:endParaRPr/>
          </a:p>
          <a:p>
            <a:pPr indent="0" lvl="0" marL="0" rtl="0" algn="l">
              <a:spcBef>
                <a:spcPts val="0"/>
              </a:spcBef>
              <a:spcAft>
                <a:spcPts val="0"/>
              </a:spcAft>
              <a:buNone/>
            </a:pPr>
            <a:r>
              <a:rPr b="1" lang="en-US" sz="1800"/>
              <a:t>Warum keine Klassifikation? </a:t>
            </a:r>
            <a:r>
              <a:rPr b="0" lang="en-US" sz="1800"/>
              <a:t>Es gibt keine bestätigten Anomalie-Labels. Die Spalte „anomalie“ ist nur ein geliefertes Kennzeichen, kein geprüftes Ergebnis. Deshalb sagen wir den Verbrauch vorher und werten die Abweichung aus.</a:t>
            </a:r>
            <a:endParaRPr/>
          </a:p>
          <a:p>
            <a:pPr indent="0" lvl="0" marL="0" rtl="0" algn="l">
              <a:spcBef>
                <a:spcPts val="0"/>
              </a:spcBef>
              <a:spcAft>
                <a:spcPts val="0"/>
              </a:spcAft>
              <a:buNone/>
            </a:pPr>
            <a:r>
              <a:rPr b="1" lang="en-US" sz="1800"/>
              <a:t>Welche Merkmale sind bewusst weggelassen? </a:t>
            </a:r>
            <a:r>
              <a:rPr b="0" lang="en-US" sz="1800"/>
              <a:t>Der Vorjahreswert (für 2024 fehlt die Historie aus 2023), die Temperatur (fast dasselbe wie die Heizgradtage), die Spalte „anomalie“ und die Vertragsleistung als Merkmal; sie dient nur der Umrechnung.</a:t>
            </a:r>
            <a:endParaRPr/>
          </a:p>
        </p:txBody>
      </p:sp>
      <p:sp>
        <p:nvSpPr>
          <p:cNvPr id="167" name="Google Shape;167;h510714b4cc47d3b6_0_10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h510714b4cc47d3b6_0_219:notes"/>
          <p:cNvSpPr/>
          <p:nvPr>
            <p:ph idx="2" type="sldImg"/>
          </p:nvPr>
        </p:nvSpPr>
        <p:spPr>
          <a:xfrm>
            <a:off x="-12"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7" name="Google Shape;207;h510714b4cc47d3b6_0_2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800"/>
              <a:t>STICHWORTE</a:t>
            </a:r>
            <a:endParaRPr/>
          </a:p>
          <a:p>
            <a:pPr indent="0" lvl="0" marL="0" rtl="0" algn="l">
              <a:spcBef>
                <a:spcPts val="0"/>
              </a:spcBef>
              <a:spcAft>
                <a:spcPts val="0"/>
              </a:spcAft>
              <a:buNone/>
            </a:pPr>
            <a:r>
              <a:rPr b="0" lang="en-US" sz="1800"/>
              <a:t>• nie aus der Zukunft lernen</a:t>
            </a:r>
            <a:endParaRPr/>
          </a:p>
          <a:p>
            <a:pPr indent="0" lvl="0" marL="0" rtl="0" algn="l">
              <a:spcBef>
                <a:spcPts val="0"/>
              </a:spcBef>
              <a:spcAft>
                <a:spcPts val="0"/>
              </a:spcAft>
              <a:buNone/>
            </a:pPr>
            <a:r>
              <a:rPr b="0" lang="en-US" sz="1800"/>
              <a:t>• drei Folds 2024: Modellwahl</a:t>
            </a:r>
            <a:endParaRPr/>
          </a:p>
          <a:p>
            <a:pPr indent="0" lvl="0" marL="0" rtl="0" algn="l">
              <a:spcBef>
                <a:spcPts val="0"/>
              </a:spcBef>
              <a:spcAft>
                <a:spcPts val="0"/>
              </a:spcAft>
              <a:buNone/>
            </a:pPr>
            <a:r>
              <a:rPr b="0" lang="en-US" sz="1800"/>
              <a:t>• Schwelle Nov–Dez 2024, dann eingefroren</a:t>
            </a:r>
            <a:endParaRPr/>
          </a:p>
          <a:p>
            <a:pPr indent="0" lvl="0" marL="0" rtl="0" algn="l">
              <a:spcBef>
                <a:spcPts val="0"/>
              </a:spcBef>
              <a:spcAft>
                <a:spcPts val="0"/>
              </a:spcAft>
              <a:buNone/>
            </a:pPr>
            <a:r>
              <a:rPr b="0" lang="en-US" sz="1800"/>
              <a:t>• 3-Monats-Mittel neu berechnet (Leakage)</a:t>
            </a:r>
            <a:endParaRPr/>
          </a:p>
          <a:p>
            <a:pPr indent="0" lvl="0" marL="0" rtl="0" algn="l">
              <a:spcBef>
                <a:spcPts val="0"/>
              </a:spcBef>
              <a:spcAft>
                <a:spcPts val="0"/>
              </a:spcAft>
              <a:buNone/>
            </a:pPr>
            <a:r>
              <a:t/>
            </a:r>
            <a:endParaRPr b="0" sz="1800"/>
          </a:p>
          <a:p>
            <a:pPr indent="0" lvl="0" marL="0" rtl="0" algn="l">
              <a:spcBef>
                <a:spcPts val="0"/>
              </a:spcBef>
              <a:spcAft>
                <a:spcPts val="0"/>
              </a:spcAft>
              <a:buNone/>
            </a:pPr>
            <a:r>
              <a:rPr b="1" lang="en-US" sz="1800"/>
              <a:t>SPRECHTEXT</a:t>
            </a:r>
            <a:endParaRPr/>
          </a:p>
          <a:p>
            <a:pPr indent="0" lvl="0" marL="0" rtl="0" algn="l">
              <a:spcBef>
                <a:spcPts val="0"/>
              </a:spcBef>
              <a:spcAft>
                <a:spcPts val="0"/>
              </a:spcAft>
              <a:buNone/>
            </a:pPr>
            <a:r>
              <a:rPr b="0" lang="en-US" sz="1800"/>
              <a:t>Das Wichtigste bei Zeitreihen: Ein Modell darf nie aus der Zukunft lernen. Deshalb teilen wir die Daten nicht zufällig auf, sondern nach der Zeit.</a:t>
            </a:r>
            <a:endParaRPr/>
          </a:p>
          <a:p>
            <a:pPr indent="0" lvl="0" marL="0" rtl="0" algn="l">
              <a:spcBef>
                <a:spcPts val="0"/>
              </a:spcBef>
              <a:spcAft>
                <a:spcPts val="0"/>
              </a:spcAft>
              <a:buNone/>
            </a:pPr>
            <a:r>
              <a:rPr b="0" lang="en-US" sz="1800"/>
              <a:t>In drei Durchgängen, den Folds, lernt das Modell auf den frühen Monaten 2024 und wird auf den zwei Monaten danach bewertet. Zum Beispiel: lernen Januar bis April, bewerten Mai und Juni. Damit entscheiden wir, welches Modell das beste ist.</a:t>
            </a:r>
            <a:endParaRPr/>
          </a:p>
          <a:p>
            <a:pPr indent="0" lvl="0" marL="0" rtl="0" algn="l">
              <a:spcBef>
                <a:spcPts val="0"/>
              </a:spcBef>
              <a:spcAft>
                <a:spcPts val="0"/>
              </a:spcAft>
              <a:buNone/>
            </a:pPr>
            <a:r>
              <a:rPr b="0" lang="en-US" sz="1800"/>
              <a:t>Die Schwelle für Prüfhinweise legen wir mit November und Dezember 2024 fest und frieren sie ein. Erst dann rechnet das finale Modell, gelernt auf ganz 2024, das Jahr 2025 durch. [Pause]</a:t>
            </a:r>
            <a:endParaRPr/>
          </a:p>
          <a:p>
            <a:pPr indent="0" lvl="0" marL="0" rtl="0" algn="l">
              <a:spcBef>
                <a:spcPts val="0"/>
              </a:spcBef>
              <a:spcAft>
                <a:spcPts val="0"/>
              </a:spcAft>
              <a:buNone/>
            </a:pPr>
            <a:r>
              <a:rPr b="0" lang="en-US" sz="1800"/>
              <a:t>Eine Falle haben wir dabei gefunden: Das gelieferte Drei-Monats-Mittel enthielt spätere Werte. Wir haben es für jeden Zähler nur aus abgeschlossenen Monaten neu berechnet.</a:t>
            </a:r>
            <a:endParaRPr/>
          </a:p>
          <a:p>
            <a:pPr indent="0" lvl="0" marL="0" rtl="0" algn="l">
              <a:spcBef>
                <a:spcPts val="0"/>
              </a:spcBef>
              <a:spcAft>
                <a:spcPts val="0"/>
              </a:spcAft>
              <a:buNone/>
            </a:pPr>
            <a:r>
              <a:t/>
            </a:r>
            <a:endParaRPr b="0" sz="1800"/>
          </a:p>
          <a:p>
            <a:pPr indent="0" lvl="0" marL="0" rtl="0" algn="l">
              <a:spcBef>
                <a:spcPts val="0"/>
              </a:spcBef>
              <a:spcAft>
                <a:spcPts val="0"/>
              </a:spcAft>
              <a:buNone/>
            </a:pPr>
            <a:r>
              <a:rPr b="1" lang="en-US" sz="1800"/>
              <a:t>SO VERSTEHST DU ES</a:t>
            </a:r>
            <a:endParaRPr/>
          </a:p>
          <a:p>
            <a:pPr indent="0" lvl="0" marL="0" rtl="0" algn="l">
              <a:spcBef>
                <a:spcPts val="0"/>
              </a:spcBef>
              <a:spcAft>
                <a:spcPts val="0"/>
              </a:spcAft>
              <a:buNone/>
            </a:pPr>
            <a:r>
              <a:rPr b="0" lang="en-US" sz="1800"/>
              <a:t>• Leakage heißt: Das Modell sieht beim Lernen Informationen, die es in der Wirklichkeit noch nicht hätte. Dann sieht der Fehler im Test besser aus, als er im Betrieb wäre.</a:t>
            </a:r>
            <a:endParaRPr/>
          </a:p>
          <a:p>
            <a:pPr indent="0" lvl="0" marL="0" rtl="0" algn="l">
              <a:spcBef>
                <a:spcPts val="0"/>
              </a:spcBef>
              <a:spcAft>
                <a:spcPts val="0"/>
              </a:spcAft>
              <a:buNone/>
            </a:pPr>
            <a:r>
              <a:rPr b="0" lang="en-US" sz="1800"/>
              <a:t>• Fold = ein Durchgang aus Lernen und Bewerten. Drei Folds zeigen, ob ein Modell nicht nur zufällig in einem Zeitraum gut ist.</a:t>
            </a:r>
            <a:endParaRPr/>
          </a:p>
          <a:p>
            <a:pPr indent="0" lvl="0" marL="0" rtl="0" algn="l">
              <a:spcBef>
                <a:spcPts val="0"/>
              </a:spcBef>
              <a:spcAft>
                <a:spcPts val="0"/>
              </a:spcAft>
              <a:buNone/>
            </a:pPr>
            <a:r>
              <a:rPr b="0" lang="en-US" sz="1800"/>
              <a:t>• Die Zeitleiste von oben nach unten: drei Folds für die Modellwahl, dann die Schwelle, dann das finale Modell. Die gestrichelte Linie ist der Jahreswechsel: Alles rechts davon wird nur noch angewendet.</a:t>
            </a:r>
            <a:endParaRPr/>
          </a:p>
          <a:p>
            <a:pPr indent="0" lvl="0" marL="0" rtl="0" algn="l">
              <a:spcBef>
                <a:spcPts val="0"/>
              </a:spcBef>
              <a:spcAft>
                <a:spcPts val="0"/>
              </a:spcAft>
              <a:buNone/>
            </a:pPr>
            <a:r>
              <a:t/>
            </a:r>
            <a:endParaRPr b="0" sz="1800"/>
          </a:p>
          <a:p>
            <a:pPr indent="0" lvl="0" marL="0" rtl="0" algn="l">
              <a:spcBef>
                <a:spcPts val="0"/>
              </a:spcBef>
              <a:spcAft>
                <a:spcPts val="0"/>
              </a:spcAft>
              <a:buNone/>
            </a:pPr>
            <a:r>
              <a:rPr b="1" lang="en-US" sz="1800"/>
              <a:t>FALLS GEFRAGT WIRD</a:t>
            </a:r>
            <a:endParaRPr/>
          </a:p>
          <a:p>
            <a:pPr indent="0" lvl="0" marL="0" rtl="0" algn="l">
              <a:spcBef>
                <a:spcPts val="0"/>
              </a:spcBef>
              <a:spcAft>
                <a:spcPts val="0"/>
              </a:spcAft>
              <a:buNone/>
            </a:pPr>
            <a:r>
              <a:rPr b="1" lang="en-US" sz="1800"/>
              <a:t>Warum kein zufälliger Split? </a:t>
            </a:r>
            <a:r>
              <a:rPr b="0" lang="en-US" sz="1800"/>
              <a:t>Er würde zum Beispiel Juli lernen und Mai testen. Das Modell kennt dann die Zukunft, und die Fehler wären zu optimistisch.</a:t>
            </a:r>
            <a:endParaRPr/>
          </a:p>
        </p:txBody>
      </p:sp>
      <p:sp>
        <p:nvSpPr>
          <p:cNvPr id="208" name="Google Shape;208;h510714b4cc47d3b6_0_21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h510714b4cc47d3b6_0_310:notes"/>
          <p:cNvSpPr/>
          <p:nvPr>
            <p:ph idx="2" type="sldImg"/>
          </p:nvPr>
        </p:nvSpPr>
        <p:spPr>
          <a:xfrm>
            <a:off x="-12"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4" name="Google Shape;224;h510714b4cc47d3b6_0_3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800"/>
              <a:t>STICHWORTE</a:t>
            </a:r>
            <a:endParaRPr/>
          </a:p>
          <a:p>
            <a:pPr indent="0" lvl="0" marL="0" rtl="0" algn="l">
              <a:spcBef>
                <a:spcPts val="0"/>
              </a:spcBef>
              <a:spcAft>
                <a:spcPts val="0"/>
              </a:spcAft>
              <a:buNone/>
            </a:pPr>
            <a:r>
              <a:rPr b="0" lang="en-US" sz="1800"/>
              <a:t>• Zähler sehr unterschiedlich groß (92 % Streuung zwischen Zählern)</a:t>
            </a:r>
            <a:endParaRPr/>
          </a:p>
          <a:p>
            <a:pPr indent="0" lvl="0" marL="0" rtl="0" algn="l">
              <a:spcBef>
                <a:spcPts val="0"/>
              </a:spcBef>
              <a:spcAft>
                <a:spcPts val="0"/>
              </a:spcAft>
              <a:buNone/>
            </a:pPr>
            <a:r>
              <a:rPr b="0" lang="en-US" sz="1800"/>
              <a:t>• VLS = Verbrauch ÷ Leistung</a:t>
            </a:r>
            <a:endParaRPr/>
          </a:p>
          <a:p>
            <a:pPr indent="0" lvl="0" marL="0" rtl="0" algn="l">
              <a:spcBef>
                <a:spcPts val="0"/>
              </a:spcBef>
              <a:spcAft>
                <a:spcPts val="0"/>
              </a:spcAft>
              <a:buNone/>
            </a:pPr>
            <a:r>
              <a:rPr b="0" lang="en-US" sz="1800"/>
              <a:t>• A und B: beide 200 VLS-h</a:t>
            </a:r>
            <a:endParaRPr/>
          </a:p>
          <a:p>
            <a:pPr indent="0" lvl="0" marL="0" rtl="0" algn="l">
              <a:spcBef>
                <a:spcPts val="0"/>
              </a:spcBef>
              <a:spcAft>
                <a:spcPts val="0"/>
              </a:spcAft>
              <a:buNone/>
            </a:pPr>
            <a:r>
              <a:rPr b="0" lang="en-US" sz="1800"/>
              <a:t>• zurück in kWh für die Planung</a:t>
            </a:r>
            <a:endParaRPr/>
          </a:p>
          <a:p>
            <a:pPr indent="0" lvl="0" marL="0" rtl="0" algn="l">
              <a:spcBef>
                <a:spcPts val="0"/>
              </a:spcBef>
              <a:spcAft>
                <a:spcPts val="0"/>
              </a:spcAft>
              <a:buNone/>
            </a:pPr>
            <a:r>
              <a:t/>
            </a:r>
            <a:endParaRPr b="0" sz="1800"/>
          </a:p>
          <a:p>
            <a:pPr indent="0" lvl="0" marL="0" rtl="0" algn="l">
              <a:spcBef>
                <a:spcPts val="0"/>
              </a:spcBef>
              <a:spcAft>
                <a:spcPts val="0"/>
              </a:spcAft>
              <a:buNone/>
            </a:pPr>
            <a:r>
              <a:rPr b="1" lang="en-US" sz="1800"/>
              <a:t>SPRECHTEXT</a:t>
            </a:r>
            <a:endParaRPr/>
          </a:p>
          <a:p>
            <a:pPr indent="0" lvl="0" marL="0" rtl="0" algn="l">
              <a:spcBef>
                <a:spcPts val="0"/>
              </a:spcBef>
              <a:spcAft>
                <a:spcPts val="0"/>
              </a:spcAft>
              <a:buNone/>
            </a:pPr>
            <a:r>
              <a:rPr b="0" lang="en-US" sz="1800"/>
              <a:t>Unsere Zähler sind sehr unterschiedlich groß. 92 Prozent der Streuung im Verbrauch liegen zwischen den Zählern, das hat Patricks Analyse gezeigt. Ein großer Industriekunde verbraucht einfach viel mehr als ein kleiner Betrieb.</a:t>
            </a:r>
            <a:endParaRPr/>
          </a:p>
          <a:p>
            <a:pPr indent="0" lvl="0" marL="0" rtl="0" algn="l">
              <a:spcBef>
                <a:spcPts val="0"/>
              </a:spcBef>
              <a:spcAft>
                <a:spcPts val="0"/>
              </a:spcAft>
              <a:buNone/>
            </a:pPr>
            <a:r>
              <a:rPr b="0" lang="en-US" sz="1800"/>
              <a:t>Deshalb lernt das Modell nicht direkt Kilowattstunden, sondern Vollaststunden: Verbrauch geteilt durch die vertraglich vereinbarte Leistung. Rechts sieht man es: Zähler A mit 10.000 Kilowattstunden bei 50 Kilowatt und Zähler B mit 40.000 bei 200 Kilowatt haben beide 200 Vollaststunden. Sie sind also gleich ausgelastet. [Pause]</a:t>
            </a:r>
            <a:endParaRPr/>
          </a:p>
          <a:p>
            <a:pPr indent="0" lvl="0" marL="0" rtl="0" algn="l">
              <a:spcBef>
                <a:spcPts val="0"/>
              </a:spcBef>
              <a:spcAft>
                <a:spcPts val="0"/>
              </a:spcAft>
              <a:buNone/>
            </a:pPr>
            <a:r>
              <a:rPr b="0" lang="en-US" sz="1800"/>
              <a:t>Für die Beschaffung rechnen wir die Prognose wieder in Kilowattstunden zurück, und in Kilowattstunden messen wir auch den Fehler.</a:t>
            </a:r>
            <a:endParaRPr/>
          </a:p>
          <a:p>
            <a:pPr indent="0" lvl="0" marL="0" rtl="0" algn="l">
              <a:spcBef>
                <a:spcPts val="0"/>
              </a:spcBef>
              <a:spcAft>
                <a:spcPts val="0"/>
              </a:spcAft>
              <a:buNone/>
            </a:pPr>
            <a:r>
              <a:t/>
            </a:r>
            <a:endParaRPr b="0" sz="1800"/>
          </a:p>
          <a:p>
            <a:pPr indent="0" lvl="0" marL="0" rtl="0" algn="l">
              <a:spcBef>
                <a:spcPts val="0"/>
              </a:spcBef>
              <a:spcAft>
                <a:spcPts val="0"/>
              </a:spcAft>
              <a:buNone/>
            </a:pPr>
            <a:r>
              <a:rPr b="1" lang="en-US" sz="1800"/>
              <a:t>SO VERSTEHST DU ES</a:t>
            </a:r>
            <a:endParaRPr/>
          </a:p>
          <a:p>
            <a:pPr indent="0" lvl="0" marL="0" rtl="0" algn="l">
              <a:spcBef>
                <a:spcPts val="0"/>
              </a:spcBef>
              <a:spcAft>
                <a:spcPts val="0"/>
              </a:spcAft>
              <a:buNone/>
            </a:pPr>
            <a:r>
              <a:rPr b="0" lang="en-US" sz="1800"/>
              <a:t>• Vollaststunden beantworten die Frage: Wie viele Stunden hätte der Anschluss mit voller Leistung laufen müssen, um diesen Verbrauch zu erreichen? Ein Monat hat rund 730 Stunden.</a:t>
            </a:r>
            <a:endParaRPr/>
          </a:p>
          <a:p>
            <a:pPr indent="0" lvl="0" marL="0" rtl="0" algn="l">
              <a:spcBef>
                <a:spcPts val="0"/>
              </a:spcBef>
              <a:spcAft>
                <a:spcPts val="0"/>
              </a:spcAft>
              <a:buNone/>
            </a:pPr>
            <a:r>
              <a:rPr b="0" lang="en-US" sz="1800"/>
              <a:t>• Der Vorteil: Das Modell lernt ein Muster für alle Zähler (Auslastung) statt 700 verschiedene Größenordnungen.</a:t>
            </a:r>
            <a:endParaRPr/>
          </a:p>
          <a:p>
            <a:pPr indent="0" lvl="0" marL="0" rtl="0" algn="l">
              <a:spcBef>
                <a:spcPts val="0"/>
              </a:spcBef>
              <a:spcAft>
                <a:spcPts val="0"/>
              </a:spcAft>
              <a:buNone/>
            </a:pPr>
            <a:r>
              <a:t/>
            </a:r>
            <a:endParaRPr b="0" sz="1800"/>
          </a:p>
          <a:p>
            <a:pPr indent="0" lvl="0" marL="0" rtl="0" algn="l">
              <a:spcBef>
                <a:spcPts val="0"/>
              </a:spcBef>
              <a:spcAft>
                <a:spcPts val="0"/>
              </a:spcAft>
              <a:buNone/>
            </a:pPr>
            <a:r>
              <a:rPr b="1" lang="en-US" sz="1800"/>
              <a:t>FALLS GEFRAGT WIRD</a:t>
            </a:r>
            <a:endParaRPr/>
          </a:p>
          <a:p>
            <a:pPr indent="0" lvl="0" marL="0" rtl="0" algn="l">
              <a:spcBef>
                <a:spcPts val="0"/>
              </a:spcBef>
              <a:spcAft>
                <a:spcPts val="0"/>
              </a:spcAft>
              <a:buNone/>
            </a:pPr>
            <a:r>
              <a:rPr b="1" lang="en-US" sz="1800"/>
              <a:t>Bringt VLS messbar etwas? </a:t>
            </a:r>
            <a:r>
              <a:rPr b="0" lang="en-US" sz="1800"/>
              <a:t>Ja, im Test liegt der Fehler niedriger als bei einer direkten kWh-Prognose; die Ergebnisse 2025 zeigt Patrick.</a:t>
            </a:r>
            <a:endParaRPr/>
          </a:p>
        </p:txBody>
      </p:sp>
      <p:sp>
        <p:nvSpPr>
          <p:cNvPr id="225" name="Google Shape;225;h510714b4cc47d3b6_0_31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h510714b4cc47d3b6_0_406:notes"/>
          <p:cNvSpPr/>
          <p:nvPr>
            <p:ph idx="2" type="sldImg"/>
          </p:nvPr>
        </p:nvSpPr>
        <p:spPr>
          <a:xfrm>
            <a:off x="-12"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6" name="Google Shape;246;h510714b4cc47d3b6_0_40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800"/>
              <a:t>STICHWORTE</a:t>
            </a:r>
            <a:endParaRPr/>
          </a:p>
          <a:p>
            <a:pPr indent="0" lvl="0" marL="0" rtl="0" algn="l">
              <a:spcBef>
                <a:spcPts val="0"/>
              </a:spcBef>
              <a:spcAft>
                <a:spcPts val="0"/>
              </a:spcAft>
              <a:buNone/>
            </a:pPr>
            <a:r>
              <a:rPr b="0" lang="en-US" sz="1800"/>
              <a:t>• gleiche Fehlersumme, gleicher MAE (10)</a:t>
            </a:r>
            <a:endParaRPr/>
          </a:p>
          <a:p>
            <a:pPr indent="0" lvl="0" marL="0" rtl="0" algn="l">
              <a:spcBef>
                <a:spcPts val="0"/>
              </a:spcBef>
              <a:spcAft>
                <a:spcPts val="0"/>
              </a:spcAft>
              <a:buNone/>
            </a:pPr>
            <a:r>
              <a:rPr b="0" lang="en-US" sz="1800"/>
              <a:t>• RMSE quadriert: 10 gegen 20 kWh</a:t>
            </a:r>
            <a:endParaRPr/>
          </a:p>
          <a:p>
            <a:pPr indent="0" lvl="0" marL="0" rtl="0" algn="l">
              <a:spcBef>
                <a:spcPts val="0"/>
              </a:spcBef>
              <a:spcAft>
                <a:spcPts val="0"/>
              </a:spcAft>
              <a:buNone/>
            </a:pPr>
            <a:r>
              <a:rPr b="0" lang="en-US" sz="1800"/>
              <a:t>• große Fehler teuer am Spotmarkt</a:t>
            </a:r>
            <a:endParaRPr/>
          </a:p>
          <a:p>
            <a:pPr indent="0" lvl="0" marL="0" rtl="0" algn="l">
              <a:spcBef>
                <a:spcPts val="0"/>
              </a:spcBef>
              <a:spcAft>
                <a:spcPts val="0"/>
              </a:spcAft>
              <a:buNone/>
            </a:pPr>
            <a:r>
              <a:rPr b="0" lang="en-US" sz="1800"/>
              <a:t>• Einheit kWh = Planungseinheit</a:t>
            </a:r>
            <a:endParaRPr/>
          </a:p>
          <a:p>
            <a:pPr indent="0" lvl="0" marL="0" rtl="0" algn="l">
              <a:spcBef>
                <a:spcPts val="0"/>
              </a:spcBef>
              <a:spcAft>
                <a:spcPts val="0"/>
              </a:spcAft>
              <a:buNone/>
            </a:pPr>
            <a:r>
              <a:t/>
            </a:r>
            <a:endParaRPr b="0" sz="1800"/>
          </a:p>
          <a:p>
            <a:pPr indent="0" lvl="0" marL="0" rtl="0" algn="l">
              <a:spcBef>
                <a:spcPts val="0"/>
              </a:spcBef>
              <a:spcAft>
                <a:spcPts val="0"/>
              </a:spcAft>
              <a:buNone/>
            </a:pPr>
            <a:r>
              <a:rPr b="1" lang="en-US" sz="1800"/>
              <a:t>SPRECHTEXT</a:t>
            </a:r>
            <a:endParaRPr/>
          </a:p>
          <a:p>
            <a:pPr indent="0" lvl="0" marL="0" rtl="0" algn="l">
              <a:spcBef>
                <a:spcPts val="0"/>
              </a:spcBef>
              <a:spcAft>
                <a:spcPts val="0"/>
              </a:spcAft>
              <a:buNone/>
            </a:pPr>
            <a:r>
              <a:rPr b="0" lang="en-US" sz="1800"/>
              <a:t>Woran messen wir, ob die Prognose gut ist? Unsere Hauptmetrik ist der RMSE, die Wurzel aus dem mittleren quadrierten Fehler.</a:t>
            </a:r>
            <a:endParaRPr/>
          </a:p>
          <a:p>
            <a:pPr indent="0" lvl="0" marL="0" rtl="0" algn="l">
              <a:spcBef>
                <a:spcPts val="0"/>
              </a:spcBef>
              <a:spcAft>
                <a:spcPts val="0"/>
              </a:spcAft>
              <a:buNone/>
            </a:pPr>
            <a:r>
              <a:rPr b="0" lang="en-US" sz="1800"/>
              <a:t>Das Beispiel links zeigt, warum. Beide Male liegen vier Prognosen zusammen 40 Kilowattstunden daneben. In A ist jeder Fehler 10, in B sind drei Fehler null und einer 40. Der durchschnittliche Fehler, der MAE, ist in beiden Fällen 10. Der RMSE quadriert die Fehler aber vor dem Mitteln. Deshalb zählt der eine große Fehler stärker, und der RMSE steigt in B auf 20. [Pause]</a:t>
            </a:r>
            <a:endParaRPr/>
          </a:p>
          <a:p>
            <a:pPr indent="0" lvl="0" marL="0" rtl="0" algn="l">
              <a:spcBef>
                <a:spcPts val="0"/>
              </a:spcBef>
              <a:spcAft>
                <a:spcPts val="0"/>
              </a:spcAft>
              <a:buNone/>
            </a:pPr>
            <a:r>
              <a:rPr b="0" lang="en-US" sz="1800"/>
              <a:t>Genau das wollen wir: Große Abweichungen muss die Beschaffung kurzfristig am Spotmarkt ausgleichen, und das ist teuer. Außerdem misst der RMSE in Kilowattstunden, also in der Einheit, in der geplant wird. MAE und R² schauen wir ergänzend an, entschieden wird mit dem RMSE.</a:t>
            </a:r>
            <a:endParaRPr/>
          </a:p>
          <a:p>
            <a:pPr indent="0" lvl="0" marL="0" rtl="0" algn="l">
              <a:spcBef>
                <a:spcPts val="0"/>
              </a:spcBef>
              <a:spcAft>
                <a:spcPts val="0"/>
              </a:spcAft>
              <a:buNone/>
            </a:pPr>
            <a:r>
              <a:t/>
            </a:r>
            <a:endParaRPr b="0" sz="1800"/>
          </a:p>
          <a:p>
            <a:pPr indent="0" lvl="0" marL="0" rtl="0" algn="l">
              <a:spcBef>
                <a:spcPts val="0"/>
              </a:spcBef>
              <a:spcAft>
                <a:spcPts val="0"/>
              </a:spcAft>
              <a:buNone/>
            </a:pPr>
            <a:r>
              <a:rPr b="1" lang="en-US" sz="1800"/>
              <a:t>SO VERSTEHST DU ES</a:t>
            </a:r>
            <a:endParaRPr/>
          </a:p>
          <a:p>
            <a:pPr indent="0" lvl="0" marL="0" rtl="0" algn="l">
              <a:spcBef>
                <a:spcPts val="0"/>
              </a:spcBef>
              <a:spcAft>
                <a:spcPts val="0"/>
              </a:spcAft>
              <a:buNone/>
            </a:pPr>
            <a:r>
              <a:rPr b="0" lang="en-US" sz="1800"/>
              <a:t>• Rechenweg für B: Fehler quadrieren (40² = 1.600, die Nullen bleiben 0), Mittelwert bilden (1.600 ÷ 4 = 400), Wurzel ziehen (√400 = 20). Die Wurzel bringt die Einheit zurück auf kWh.</a:t>
            </a:r>
            <a:endParaRPr/>
          </a:p>
          <a:p>
            <a:pPr indent="0" lvl="0" marL="0" rtl="0" algn="l">
              <a:spcBef>
                <a:spcPts val="0"/>
              </a:spcBef>
              <a:spcAft>
                <a:spcPts val="0"/>
              </a:spcAft>
              <a:buNone/>
            </a:pPr>
            <a:r>
              <a:rPr b="0" lang="en-US" sz="1800"/>
              <a:t>• MAE = Durchschnitt der Fehlerbeträge, also der typische Fehler. R² = Anteil der Streuung, den das Modell erklärt, zwischen 0 und 1, ohne Einheit.</a:t>
            </a:r>
            <a:endParaRPr/>
          </a:p>
          <a:p>
            <a:pPr indent="0" lvl="0" marL="0" rtl="0" algn="l">
              <a:spcBef>
                <a:spcPts val="0"/>
              </a:spcBef>
              <a:spcAft>
                <a:spcPts val="0"/>
              </a:spcAft>
              <a:buNone/>
            </a:pPr>
            <a:r>
              <a:rPr b="0" lang="en-US" sz="1800"/>
              <a:t>• Das Beispiel ist aus Notebook 13 und zeigt das Prinzip; es sind keine Projektwerte.</a:t>
            </a:r>
            <a:endParaRPr/>
          </a:p>
          <a:p>
            <a:pPr indent="0" lvl="0" marL="0" rtl="0" algn="l">
              <a:spcBef>
                <a:spcPts val="0"/>
              </a:spcBef>
              <a:spcAft>
                <a:spcPts val="0"/>
              </a:spcAft>
              <a:buNone/>
            </a:pPr>
            <a:r>
              <a:t/>
            </a:r>
            <a:endParaRPr b="0" sz="1800"/>
          </a:p>
          <a:p>
            <a:pPr indent="0" lvl="0" marL="0" rtl="0" algn="l">
              <a:spcBef>
                <a:spcPts val="0"/>
              </a:spcBef>
              <a:spcAft>
                <a:spcPts val="0"/>
              </a:spcAft>
              <a:buNone/>
            </a:pPr>
            <a:r>
              <a:rPr b="1" lang="en-US" sz="1800"/>
              <a:t>FALLS GEFRAGT WIRD</a:t>
            </a:r>
            <a:endParaRPr/>
          </a:p>
          <a:p>
            <a:pPr indent="0" lvl="0" marL="0" rtl="0" algn="l">
              <a:spcBef>
                <a:spcPts val="0"/>
              </a:spcBef>
              <a:spcAft>
                <a:spcPts val="0"/>
              </a:spcAft>
              <a:buNone/>
            </a:pPr>
            <a:r>
              <a:rPr b="1" lang="en-US" sz="1800"/>
              <a:t>Warum nicht MAPE, also Prozentfehler? </a:t>
            </a:r>
            <a:r>
              <a:rPr b="0" lang="en-US" sz="1800"/>
              <a:t>Bei kleinen Verbräuchen werden Prozentfehler riesig und gewichten kleine Zähler zu stark. Geplant wird in kWh.</a:t>
            </a:r>
            <a:endParaRPr/>
          </a:p>
          <a:p>
            <a:pPr indent="0" lvl="0" marL="0" rtl="0" algn="l">
              <a:spcBef>
                <a:spcPts val="0"/>
              </a:spcBef>
              <a:spcAft>
                <a:spcPts val="0"/>
              </a:spcAft>
              <a:buNone/>
            </a:pPr>
            <a:r>
              <a:rPr b="1" lang="en-US" sz="1800"/>
              <a:t>Warum nicht R² als Hauptmetrik? </a:t>
            </a:r>
            <a:r>
              <a:rPr b="0" lang="en-US" sz="1800"/>
              <a:t>R² hat keine Einheit und sagt nicht, wie viele kWh wir danebenliegen. Für die Beschaffung zählt die Menge.</a:t>
            </a:r>
            <a:endParaRPr/>
          </a:p>
        </p:txBody>
      </p:sp>
      <p:sp>
        <p:nvSpPr>
          <p:cNvPr id="247" name="Google Shape;247;h510714b4cc47d3b6_0_40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h510714b4cc47d3b6_0_521:notes"/>
          <p:cNvSpPr/>
          <p:nvPr>
            <p:ph idx="2" type="sldImg"/>
          </p:nvPr>
        </p:nvSpPr>
        <p:spPr>
          <a:xfrm>
            <a:off x="-12"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7" name="Google Shape;287;h510714b4cc47d3b6_0_5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800"/>
              <a:t>STICHWORTE</a:t>
            </a:r>
            <a:endParaRPr/>
          </a:p>
          <a:p>
            <a:pPr indent="0" lvl="0" marL="0" rtl="0" algn="l">
              <a:spcBef>
                <a:spcPts val="0"/>
              </a:spcBef>
              <a:spcAft>
                <a:spcPts val="0"/>
              </a:spcAft>
              <a:buNone/>
            </a:pPr>
            <a:r>
              <a:rPr b="0" lang="en-US" sz="1800"/>
              <a:t>• vier Kandidaten, drei Folds</a:t>
            </a:r>
            <a:endParaRPr/>
          </a:p>
          <a:p>
            <a:pPr indent="0" lvl="0" marL="0" rtl="0" algn="l">
              <a:spcBef>
                <a:spcPts val="0"/>
              </a:spcBef>
              <a:spcAft>
                <a:spcPts val="0"/>
              </a:spcAft>
              <a:buNone/>
            </a:pPr>
            <a:r>
              <a:rPr b="0" lang="en-US" sz="1800"/>
              <a:t>• Random Forest 13.272 vor linearer Regression 13.643</a:t>
            </a:r>
            <a:endParaRPr/>
          </a:p>
          <a:p>
            <a:pPr indent="0" lvl="0" marL="0" rtl="0" algn="l">
              <a:spcBef>
                <a:spcPts val="0"/>
              </a:spcBef>
              <a:spcAft>
                <a:spcPts val="0"/>
              </a:spcAft>
              <a:buNone/>
            </a:pPr>
            <a:r>
              <a:rPr b="0" lang="en-US" sz="1800"/>
              <a:t>• einfache Regeln klar dahinter</a:t>
            </a:r>
            <a:endParaRPr/>
          </a:p>
          <a:p>
            <a:pPr indent="0" lvl="0" marL="0" rtl="0" algn="l">
              <a:spcBef>
                <a:spcPts val="0"/>
              </a:spcBef>
              <a:spcAft>
                <a:spcPts val="0"/>
              </a:spcAft>
              <a:buNone/>
            </a:pPr>
            <a:r>
              <a:rPr b="0" lang="en-US" sz="1800"/>
              <a:t>• Fold 1 am schwersten</a:t>
            </a:r>
            <a:endParaRPr/>
          </a:p>
          <a:p>
            <a:pPr indent="0" lvl="0" marL="0" rtl="0" algn="l">
              <a:spcBef>
                <a:spcPts val="0"/>
              </a:spcBef>
              <a:spcAft>
                <a:spcPts val="0"/>
              </a:spcAft>
              <a:buNone/>
            </a:pPr>
            <a:r>
              <a:rPr b="0" lang="en-US" sz="1800"/>
              <a:t>• 2025 zeigt Patrick</a:t>
            </a:r>
            <a:endParaRPr/>
          </a:p>
          <a:p>
            <a:pPr indent="0" lvl="0" marL="0" rtl="0" algn="l">
              <a:spcBef>
                <a:spcPts val="0"/>
              </a:spcBef>
              <a:spcAft>
                <a:spcPts val="0"/>
              </a:spcAft>
              <a:buNone/>
            </a:pPr>
            <a:r>
              <a:t/>
            </a:r>
            <a:endParaRPr b="0" sz="1800"/>
          </a:p>
          <a:p>
            <a:pPr indent="0" lvl="0" marL="0" rtl="0" algn="l">
              <a:spcBef>
                <a:spcPts val="0"/>
              </a:spcBef>
              <a:spcAft>
                <a:spcPts val="0"/>
              </a:spcAft>
              <a:buNone/>
            </a:pPr>
            <a:r>
              <a:rPr b="1" lang="en-US" sz="1800"/>
              <a:t>SPRECHTEXT</a:t>
            </a:r>
            <a:endParaRPr/>
          </a:p>
          <a:p>
            <a:pPr indent="0" lvl="0" marL="0" rtl="0" algn="l">
              <a:spcBef>
                <a:spcPts val="0"/>
              </a:spcBef>
              <a:spcAft>
                <a:spcPts val="0"/>
              </a:spcAft>
              <a:buNone/>
            </a:pPr>
            <a:r>
              <a:rPr b="0" lang="en-US" sz="1800"/>
              <a:t>Mit dieser Metrik haben wir vier Kandidaten verglichen: einen Random Forest, eine lineare Regression und zwei einfache Regeln, nämlich „wie im Vormonat“ und „Mittel der letzten drei Monate“. Alle wurden in denselben drei Folds von 2024 bewertet. Die Rauten zeigen die einzelnen Folds.</a:t>
            </a:r>
            <a:endParaRPr/>
          </a:p>
          <a:p>
            <a:pPr indent="0" lvl="0" marL="0" rtl="0" algn="l">
              <a:spcBef>
                <a:spcPts val="0"/>
              </a:spcBef>
              <a:spcAft>
                <a:spcPts val="0"/>
              </a:spcAft>
              <a:buNone/>
            </a:pPr>
            <a:r>
              <a:rPr b="0" lang="en-US" sz="1800"/>
              <a:t>Der Random Forest liegt im Mittel bei 13.272 Kilowattstunden, knapp vor der linearen Regression mit 13.643. Die einfachen Regeln liegen klar dahinter. Auffällig ist Fold 1, Mai und Juni: Der ist für alle Modelle am schwersten und zieht jeden Mittelwert hoch. [Pause]</a:t>
            </a:r>
            <a:endParaRPr/>
          </a:p>
          <a:p>
            <a:pPr indent="0" lvl="0" marL="0" rtl="0" algn="l">
              <a:spcBef>
                <a:spcPts val="0"/>
              </a:spcBef>
              <a:spcAft>
                <a:spcPts val="0"/>
              </a:spcAft>
              <a:buNone/>
            </a:pPr>
            <a:r>
              <a:rPr b="0" lang="en-US" sz="1800"/>
              <a:t>Entschieden haben wir nur mit 2024. Wie gut das Modell dann im Testjahr 2025 war, zeigt gleich Patrick.</a:t>
            </a:r>
            <a:endParaRPr/>
          </a:p>
          <a:p>
            <a:pPr indent="0" lvl="0" marL="0" rtl="0" algn="l">
              <a:spcBef>
                <a:spcPts val="0"/>
              </a:spcBef>
              <a:spcAft>
                <a:spcPts val="0"/>
              </a:spcAft>
              <a:buNone/>
            </a:pPr>
            <a:r>
              <a:t/>
            </a:r>
            <a:endParaRPr b="0" sz="1800"/>
          </a:p>
          <a:p>
            <a:pPr indent="0" lvl="0" marL="0" rtl="0" algn="l">
              <a:spcBef>
                <a:spcPts val="0"/>
              </a:spcBef>
              <a:spcAft>
                <a:spcPts val="0"/>
              </a:spcAft>
              <a:buNone/>
            </a:pPr>
            <a:r>
              <a:rPr b="1" lang="en-US" sz="1800"/>
              <a:t>SO VERSTEHST DU ES</a:t>
            </a:r>
            <a:endParaRPr/>
          </a:p>
          <a:p>
            <a:pPr indent="0" lvl="0" marL="0" rtl="0" algn="l">
              <a:spcBef>
                <a:spcPts val="0"/>
              </a:spcBef>
              <a:spcAft>
                <a:spcPts val="0"/>
              </a:spcAft>
              <a:buNone/>
            </a:pPr>
            <a:r>
              <a:rPr b="0" lang="en-US" sz="1800"/>
              <a:t>• Einfache Regeln (Baselines) sind der Maßstab: Ein Modell lohnt sich nur, wenn es besser ist als „nimm einfach den Vormonat“.</a:t>
            </a:r>
            <a:endParaRPr/>
          </a:p>
          <a:p>
            <a:pPr indent="0" lvl="0" marL="0" rtl="0" algn="l">
              <a:spcBef>
                <a:spcPts val="0"/>
              </a:spcBef>
              <a:spcAft>
                <a:spcPts val="0"/>
              </a:spcAft>
              <a:buNone/>
            </a:pPr>
            <a:r>
              <a:rPr b="0" lang="en-US" sz="1800"/>
              <a:t>• Der Balken ist der Durchschnitt über die drei Folds, die Rauten sind die einzelnen Folds, der Strich zeigt die Streuung (±1 Standardabweichung).</a:t>
            </a:r>
            <a:endParaRPr/>
          </a:p>
          <a:p>
            <a:pPr indent="0" lvl="0" marL="0" rtl="0" algn="l">
              <a:spcBef>
                <a:spcPts val="0"/>
              </a:spcBef>
              <a:spcAft>
                <a:spcPts val="0"/>
              </a:spcAft>
              <a:buNone/>
            </a:pPr>
            <a:r>
              <a:rPr b="0" lang="en-US" sz="1800"/>
              <a:t>• Die lineare Regression ist fast gleich gut und bleibt deshalb die Rückfallebene im Pilot.</a:t>
            </a:r>
            <a:endParaRPr/>
          </a:p>
          <a:p>
            <a:pPr indent="0" lvl="0" marL="0" rtl="0" algn="l">
              <a:spcBef>
                <a:spcPts val="0"/>
              </a:spcBef>
              <a:spcAft>
                <a:spcPts val="0"/>
              </a:spcAft>
              <a:buNone/>
            </a:pPr>
            <a:r>
              <a:t/>
            </a:r>
            <a:endParaRPr b="0" sz="1800"/>
          </a:p>
          <a:p>
            <a:pPr indent="0" lvl="0" marL="0" rtl="0" algn="l">
              <a:spcBef>
                <a:spcPts val="0"/>
              </a:spcBef>
              <a:spcAft>
                <a:spcPts val="0"/>
              </a:spcAft>
              <a:buNone/>
            </a:pPr>
            <a:r>
              <a:rPr b="1" lang="en-US" sz="1800"/>
              <a:t>FALLS GEFRAGT WIRD</a:t>
            </a:r>
            <a:endParaRPr/>
          </a:p>
          <a:p>
            <a:pPr indent="0" lvl="0" marL="0" rtl="0" algn="l">
              <a:spcBef>
                <a:spcPts val="0"/>
              </a:spcBef>
              <a:spcAft>
                <a:spcPts val="0"/>
              </a:spcAft>
              <a:buNone/>
            </a:pPr>
            <a:r>
              <a:rPr b="1" lang="en-US" sz="1800"/>
              <a:t>Warum nicht die lineare Regression, wenn es so knapp ist? </a:t>
            </a:r>
            <a:r>
              <a:rPr b="0" lang="en-US" sz="1800"/>
              <a:t>Der Random Forest war im Mittel besser und erfasst nichtlineare Effekte; die lineare Regression bleibt die Rückfallebene.</a:t>
            </a:r>
            <a:endParaRPr/>
          </a:p>
          <a:p>
            <a:pPr indent="0" lvl="0" marL="0" rtl="0" algn="l">
              <a:spcBef>
                <a:spcPts val="0"/>
              </a:spcBef>
              <a:spcAft>
                <a:spcPts val="0"/>
              </a:spcAft>
              <a:buNone/>
            </a:pPr>
            <a:r>
              <a:rPr b="1" lang="en-US" sz="1800"/>
              <a:t>Welche Hyperparameter? </a:t>
            </a:r>
            <a:r>
              <a:rPr b="0" lang="en-US" sz="1800"/>
              <a:t>Acht Kombinationen, nur in 2024 verglichen: Backup B1.</a:t>
            </a:r>
            <a:endParaRPr/>
          </a:p>
        </p:txBody>
      </p:sp>
      <p:sp>
        <p:nvSpPr>
          <p:cNvPr id="288" name="Google Shape;288;h510714b4cc47d3b6_0_52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h510714b4cc47d3b6_0_619:notes"/>
          <p:cNvSpPr/>
          <p:nvPr>
            <p:ph idx="2" type="sldImg"/>
          </p:nvPr>
        </p:nvSpPr>
        <p:spPr>
          <a:xfrm>
            <a:off x="-12"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1" name="Google Shape;311;h510714b4cc47d3b6_0_6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800"/>
              <a:t>STICHWORTE</a:t>
            </a:r>
            <a:endParaRPr/>
          </a:p>
          <a:p>
            <a:pPr indent="0" lvl="0" marL="0" rtl="0" algn="l">
              <a:spcBef>
                <a:spcPts val="0"/>
              </a:spcBef>
              <a:spcAft>
                <a:spcPts val="0"/>
              </a:spcAft>
              <a:buNone/>
            </a:pPr>
            <a:r>
              <a:rPr b="0" lang="en-US" sz="1800"/>
              <a:t>• kleine Abweichungen sind normal</a:t>
            </a:r>
            <a:endParaRPr/>
          </a:p>
          <a:p>
            <a:pPr indent="0" lvl="0" marL="0" rtl="0" algn="l">
              <a:spcBef>
                <a:spcPts val="0"/>
              </a:spcBef>
              <a:spcAft>
                <a:spcPts val="0"/>
              </a:spcAft>
              <a:buNone/>
            </a:pPr>
            <a:r>
              <a:rPr b="0" lang="en-US" sz="1800"/>
              <a:t>• 1. messen · 2. normale Fehler sammeln · 3. Grenze ziehen</a:t>
            </a:r>
            <a:endParaRPr/>
          </a:p>
          <a:p>
            <a:pPr indent="0" lvl="0" marL="0" rtl="0" algn="l">
              <a:spcBef>
                <a:spcPts val="0"/>
              </a:spcBef>
              <a:spcAft>
                <a:spcPts val="0"/>
              </a:spcAft>
              <a:buNone/>
            </a:pPr>
            <a:r>
              <a:rPr b="0" lang="en-US" sz="1800"/>
              <a:t>• 99 von 100 darunter = 144,4 VLS-h, eingefroren</a:t>
            </a:r>
            <a:endParaRPr/>
          </a:p>
          <a:p>
            <a:pPr indent="0" lvl="0" marL="0" rtl="0" algn="l">
              <a:spcBef>
                <a:spcPts val="0"/>
              </a:spcBef>
              <a:spcAft>
                <a:spcPts val="0"/>
              </a:spcAft>
              <a:buNone/>
            </a:pPr>
            <a:r>
              <a:rPr b="0" lang="en-US" sz="1800"/>
              <a:t>• Faktor ≥ 1 → Prüfhinweis</a:t>
            </a:r>
            <a:endParaRPr/>
          </a:p>
          <a:p>
            <a:pPr indent="0" lvl="0" marL="0" rtl="0" algn="l">
              <a:spcBef>
                <a:spcPts val="0"/>
              </a:spcBef>
              <a:spcAft>
                <a:spcPts val="0"/>
              </a:spcAft>
              <a:buNone/>
            </a:pPr>
            <a:r>
              <a:rPr b="0" lang="en-US" sz="1800"/>
              <a:t>• 99 % = Startwert, Kapazität zeigt Patrick</a:t>
            </a:r>
            <a:endParaRPr/>
          </a:p>
          <a:p>
            <a:pPr indent="0" lvl="0" marL="0" rtl="0" algn="l">
              <a:spcBef>
                <a:spcPts val="0"/>
              </a:spcBef>
              <a:spcAft>
                <a:spcPts val="0"/>
              </a:spcAft>
              <a:buNone/>
            </a:pPr>
            <a:r>
              <a:t/>
            </a:r>
            <a:endParaRPr b="0" sz="1800"/>
          </a:p>
          <a:p>
            <a:pPr indent="0" lvl="0" marL="0" rtl="0" algn="l">
              <a:spcBef>
                <a:spcPts val="0"/>
              </a:spcBef>
              <a:spcAft>
                <a:spcPts val="0"/>
              </a:spcAft>
              <a:buNone/>
            </a:pPr>
            <a:r>
              <a:rPr b="1" lang="en-US" sz="1800"/>
              <a:t>SPRECHTEXT</a:t>
            </a:r>
            <a:endParaRPr/>
          </a:p>
          <a:p>
            <a:pPr indent="0" lvl="0" marL="0" rtl="0" algn="l">
              <a:spcBef>
                <a:spcPts val="0"/>
              </a:spcBef>
              <a:spcAft>
                <a:spcPts val="0"/>
              </a:spcAft>
              <a:buNone/>
            </a:pPr>
            <a:r>
              <a:rPr b="0" lang="en-US" sz="1800"/>
              <a:t>Jetzt die dritte Frage: Ab wann ist eine Abweichung ungewöhnlich? Kein Modell trifft genau, kleine Abweichungen sind also normal. Wir brauchen eine Grenze.</a:t>
            </a:r>
            <a:endParaRPr/>
          </a:p>
          <a:p>
            <a:pPr indent="0" lvl="0" marL="0" rtl="0" algn="l">
              <a:spcBef>
                <a:spcPts val="0"/>
              </a:spcBef>
              <a:spcAft>
                <a:spcPts val="0"/>
              </a:spcAft>
              <a:buNone/>
            </a:pPr>
            <a:r>
              <a:rPr b="0" lang="en-US" sz="1800"/>
              <a:t>Die haben wir in drei Schritten gezogen. Erstens messen wir nach Monatsende die Abweichung zwischen Ist und Prognose. Zweitens haben wir gesammelt, wie groß die normalen Fehler des Modells sind: 1.397 echte Vorhersagen für November und Dezember 2024. Rechts sind sie der Größe nach sortiert. Drittens ziehen wir die Grenze dort, wo 99 von 100 Fehlern darunter bleiben. Das sind 144,4 Vollaststunden, und diese Grenze frieren wir vor 2025 ein. [Pause]</a:t>
            </a:r>
            <a:endParaRPr/>
          </a:p>
          <a:p>
            <a:pPr indent="0" lvl="0" marL="0" rtl="0" algn="l">
              <a:spcBef>
                <a:spcPts val="0"/>
              </a:spcBef>
              <a:spcAft>
                <a:spcPts val="0"/>
              </a:spcAft>
              <a:buNone/>
            </a:pPr>
            <a:r>
              <a:rPr b="0" lang="en-US" sz="1800"/>
              <a:t>Wie weit ein Monat darüber liegt, sagt der Faktor: Abweichung geteilt durch die Grenze. Ab 1 gibt es einen Prüfhinweis.</a:t>
            </a:r>
            <a:endParaRPr/>
          </a:p>
          <a:p>
            <a:pPr indent="0" lvl="0" marL="0" rtl="0" algn="l">
              <a:spcBef>
                <a:spcPts val="0"/>
              </a:spcBef>
              <a:spcAft>
                <a:spcPts val="0"/>
              </a:spcAft>
              <a:buNone/>
            </a:pPr>
            <a:r>
              <a:rPr b="0" lang="en-US" sz="1800"/>
              <a:t>99 Prozent ist unser Startwert für den Pilot. Wie viele Hinweise das Team im Monat schafft und wie sich die Schwelle dafür verschieben lässt, zeigt Patrick im Dashboard.</a:t>
            </a:r>
            <a:endParaRPr/>
          </a:p>
          <a:p>
            <a:pPr indent="0" lvl="0" marL="0" rtl="0" algn="l">
              <a:spcBef>
                <a:spcPts val="0"/>
              </a:spcBef>
              <a:spcAft>
                <a:spcPts val="0"/>
              </a:spcAft>
              <a:buNone/>
            </a:pPr>
            <a:r>
              <a:t/>
            </a:r>
            <a:endParaRPr b="0" sz="1800"/>
          </a:p>
          <a:p>
            <a:pPr indent="0" lvl="0" marL="0" rtl="0" algn="l">
              <a:spcBef>
                <a:spcPts val="0"/>
              </a:spcBef>
              <a:spcAft>
                <a:spcPts val="0"/>
              </a:spcAft>
              <a:buNone/>
            </a:pPr>
            <a:r>
              <a:rPr b="1" lang="en-US" sz="1800"/>
              <a:t>SO VERSTEHST DU ES</a:t>
            </a:r>
            <a:endParaRPr/>
          </a:p>
          <a:p>
            <a:pPr indent="0" lvl="0" marL="0" rtl="0" algn="l">
              <a:spcBef>
                <a:spcPts val="0"/>
              </a:spcBef>
              <a:spcAft>
                <a:spcPts val="0"/>
              </a:spcAft>
              <a:buNone/>
            </a:pPr>
            <a:r>
              <a:rPr b="0" lang="en-US" sz="1800"/>
              <a:t>• Das Diagramm rechts: Jeder Punkt der Kurve ist ein Fehler, von klein (links) nach groß (rechts) sortiert. Fast alle Fehler sind klein; ganz rechts schießen 14 Fehler nach oben. Die gestrichelte Linie bei 144,4 trennt die 99 % normalen von dem 1 % auffälligen.</a:t>
            </a:r>
            <a:endParaRPr/>
          </a:p>
          <a:p>
            <a:pPr indent="0" lvl="0" marL="0" rtl="0" algn="l">
              <a:spcBef>
                <a:spcPts val="0"/>
              </a:spcBef>
              <a:spcAft>
                <a:spcPts val="0"/>
              </a:spcAft>
              <a:buNone/>
            </a:pPr>
            <a:r>
              <a:rPr b="0" lang="en-US" sz="1800"/>
              <a:t>• Perzentil = Rangplatz in der sortierten Liste. Das 99. Perzentil ist der Wert, unter dem 99 % der Fehler liegen.</a:t>
            </a:r>
            <a:endParaRPr/>
          </a:p>
          <a:p>
            <a:pPr indent="0" lvl="0" marL="0" rtl="0" algn="l">
              <a:spcBef>
                <a:spcPts val="0"/>
              </a:spcBef>
              <a:spcAft>
                <a:spcPts val="0"/>
              </a:spcAft>
              <a:buNone/>
            </a:pPr>
            <a:r>
              <a:rPr b="0" lang="en-US" sz="1800"/>
              <a:t>• Die Abwägung dahinter: Falsch-positiv heißt, ein normaler Monat wird gemeldet und umsonst geprüft. Falsch-negativ heißt, ein echtes Problem wird nicht gemeldet und fällt wie heute erst im Quartal auf. Eine niedrigere Grenze (etwa 95 %) meldet mehr Fälle, also mehr Arbeit und mehr Fehlalarme. Eine höhere Grenze meldet weniger, dafür rutscht eher etwas durch.</a:t>
            </a:r>
            <a:endParaRPr/>
          </a:p>
          <a:p>
            <a:pPr indent="0" lvl="0" marL="0" rtl="0" algn="l">
              <a:spcBef>
                <a:spcPts val="0"/>
              </a:spcBef>
              <a:spcAft>
                <a:spcPts val="0"/>
              </a:spcAft>
              <a:buNone/>
            </a:pPr>
            <a:r>
              <a:rPr b="0" lang="en-US" sz="1800"/>
              <a:t>• Warum 99 %: Die Prüfkapazität ist begrenzt, jede Meldung soll wirklich auffällig sein. Deshalb ein strenger Startwert, den der Fachbereich im Pilot anpassen kann.</a:t>
            </a:r>
            <a:endParaRPr/>
          </a:p>
          <a:p>
            <a:pPr indent="0" lvl="0" marL="0" rtl="0" algn="l">
              <a:spcBef>
                <a:spcPts val="0"/>
              </a:spcBef>
              <a:spcAft>
                <a:spcPts val="0"/>
              </a:spcAft>
              <a:buNone/>
            </a:pPr>
            <a:r>
              <a:rPr b="0" lang="en-US" sz="1800"/>
              <a:t>• Warum eingefroren: Würden wir die Grenze mit 2025 einstellen, wäre der Test geschönt (Leakage).</a:t>
            </a:r>
            <a:endParaRPr/>
          </a:p>
          <a:p>
            <a:pPr indent="0" lvl="0" marL="0" rtl="0" algn="l">
              <a:spcBef>
                <a:spcPts val="0"/>
              </a:spcBef>
              <a:spcAft>
                <a:spcPts val="0"/>
              </a:spcAft>
              <a:buNone/>
            </a:pPr>
            <a:r>
              <a:rPr b="0" lang="en-US" sz="1800"/>
              <a:t>• Faktor-Beispiel: ZL-00147 hat 331,8 VLS-h Abweichung. 331,8 ÷ 144,4 = 2,3. Das Vorzeichen sagt die Richtung: plus = mehr verbraucht als erwartet, minus = weniger.</a:t>
            </a:r>
            <a:endParaRPr/>
          </a:p>
          <a:p>
            <a:pPr indent="0" lvl="0" marL="0" rtl="0" algn="l">
              <a:spcBef>
                <a:spcPts val="0"/>
              </a:spcBef>
              <a:spcAft>
                <a:spcPts val="0"/>
              </a:spcAft>
              <a:buNone/>
            </a:pPr>
            <a:r>
              <a:t/>
            </a:r>
            <a:endParaRPr b="0" sz="1800"/>
          </a:p>
          <a:p>
            <a:pPr indent="0" lvl="0" marL="0" rtl="0" algn="l">
              <a:spcBef>
                <a:spcPts val="0"/>
              </a:spcBef>
              <a:spcAft>
                <a:spcPts val="0"/>
              </a:spcAft>
              <a:buNone/>
            </a:pPr>
            <a:r>
              <a:rPr b="1" lang="en-US" sz="1800"/>
              <a:t>FALLS GEFRAGT WIRD</a:t>
            </a:r>
            <a:endParaRPr/>
          </a:p>
          <a:p>
            <a:pPr indent="0" lvl="0" marL="0" rtl="0" algn="l">
              <a:spcBef>
                <a:spcPts val="0"/>
              </a:spcBef>
              <a:spcAft>
                <a:spcPts val="0"/>
              </a:spcAft>
              <a:buNone/>
            </a:pPr>
            <a:r>
              <a:rPr b="1" lang="en-US" sz="1800"/>
              <a:t>Warum 99 und nicht 95 Prozent? </a:t>
            </a:r>
            <a:r>
              <a:rPr b="0" lang="en-US" sz="1800"/>
              <a:t>Bei 95 % läge jeder 20. normale Fehler über der Grenze, das wären viele Fehlalarme. 99 % ist ein strenger Startwert; welche Grenze zur Prüfkapazität passt, entscheidet der Fachbereich im Pilot.</a:t>
            </a:r>
            <a:endParaRPr/>
          </a:p>
          <a:p>
            <a:pPr indent="0" lvl="0" marL="0" rtl="0" algn="l">
              <a:spcBef>
                <a:spcPts val="0"/>
              </a:spcBef>
              <a:spcAft>
                <a:spcPts val="0"/>
              </a:spcAft>
              <a:buNone/>
            </a:pPr>
            <a:r>
              <a:rPr b="1" lang="en-US" sz="1800"/>
              <a:t>Warum gerade November und Dezember 2024? </a:t>
            </a:r>
            <a:r>
              <a:rPr b="0" lang="en-US" sz="1800"/>
              <a:t>Das sind die jüngsten Monate vor dem Test, und sie wurden nicht für die Modellwahl gebraucht; die Folds enden im Oktober. Später ginge nur mit 2025 selbst. Backup B3.</a:t>
            </a:r>
            <a:endParaRPr/>
          </a:p>
          <a:p>
            <a:pPr indent="0" lvl="0" marL="0" rtl="0" algn="l">
              <a:spcBef>
                <a:spcPts val="0"/>
              </a:spcBef>
              <a:spcAft>
                <a:spcPts val="0"/>
              </a:spcAft>
              <a:buNone/>
            </a:pPr>
            <a:r>
              <a:rPr b="1" lang="en-US" sz="1800"/>
              <a:t>Ist die Schwelle 2025 eine andere? </a:t>
            </a:r>
            <a:r>
              <a:rPr b="0" lang="en-US" sz="1800"/>
              <a:t>Nachträglich aus 2025 berechnet läge sie bei rund 175 VLS-h. Das zu nutzen wäre Leakage. Der typische Fehler ist 2025 gleich groß, nur die Extreme sind größer.</a:t>
            </a:r>
            <a:endParaRPr/>
          </a:p>
        </p:txBody>
      </p:sp>
      <p:sp>
        <p:nvSpPr>
          <p:cNvPr id="312" name="Google Shape;312;h510714b4cc47d3b6_0_61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h510714b4cc47d3b6_0_727:notes"/>
          <p:cNvSpPr/>
          <p:nvPr>
            <p:ph idx="2" type="sldImg"/>
          </p:nvPr>
        </p:nvSpPr>
        <p:spPr>
          <a:xfrm>
            <a:off x="-12"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5" name="Google Shape;345;h510714b4cc47d3b6_0_7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800"/>
              <a:t>STICHWORTE</a:t>
            </a:r>
            <a:endParaRPr/>
          </a:p>
          <a:p>
            <a:pPr indent="0" lvl="0" marL="0" rtl="0" algn="l">
              <a:spcBef>
                <a:spcPts val="0"/>
              </a:spcBef>
              <a:spcAft>
                <a:spcPts val="0"/>
              </a:spcAft>
              <a:buNone/>
            </a:pPr>
            <a:r>
              <a:rPr b="0" lang="en-US" sz="1800"/>
              <a:t>• ZL-00147, 49 kW, August 2025</a:t>
            </a:r>
            <a:endParaRPr/>
          </a:p>
          <a:p>
            <a:pPr indent="0" lvl="0" marL="0" rtl="0" algn="l">
              <a:spcBef>
                <a:spcPts val="0"/>
              </a:spcBef>
              <a:spcAft>
                <a:spcPts val="0"/>
              </a:spcAft>
              <a:buNone/>
            </a:pPr>
            <a:r>
              <a:rPr b="0" lang="en-US" sz="1800"/>
              <a:t>• erwartet gut 7.300, gemessen über 23.500 kWh</a:t>
            </a:r>
            <a:endParaRPr/>
          </a:p>
          <a:p>
            <a:pPr indent="0" lvl="0" marL="0" rtl="0" algn="l">
              <a:spcBef>
                <a:spcPts val="0"/>
              </a:spcBef>
              <a:spcAft>
                <a:spcPts val="0"/>
              </a:spcAft>
              <a:buNone/>
            </a:pPr>
            <a:r>
              <a:rPr b="0" lang="en-US" sz="1800"/>
              <a:t>• 331,8 ÷ 144,4 = Faktor 2,3</a:t>
            </a:r>
            <a:endParaRPr/>
          </a:p>
          <a:p>
            <a:pPr indent="0" lvl="0" marL="0" rtl="0" algn="l">
              <a:spcBef>
                <a:spcPts val="0"/>
              </a:spcBef>
              <a:spcAft>
                <a:spcPts val="0"/>
              </a:spcAft>
              <a:buNone/>
            </a:pPr>
            <a:r>
              <a:rPr b="0" lang="en-US" sz="1800"/>
              <a:t>• Hinweis ≠ Anomalie</a:t>
            </a:r>
            <a:endParaRPr/>
          </a:p>
          <a:p>
            <a:pPr indent="0" lvl="0" marL="0" rtl="0" algn="l">
              <a:spcBef>
                <a:spcPts val="0"/>
              </a:spcBef>
              <a:spcAft>
                <a:spcPts val="0"/>
              </a:spcAft>
              <a:buNone/>
            </a:pPr>
            <a:r>
              <a:rPr b="0" lang="en-US" sz="1800"/>
              <a:t>• Bewertung wird Label</a:t>
            </a:r>
            <a:endParaRPr/>
          </a:p>
          <a:p>
            <a:pPr indent="0" lvl="0" marL="0" rtl="0" algn="l">
              <a:spcBef>
                <a:spcPts val="0"/>
              </a:spcBef>
              <a:spcAft>
                <a:spcPts val="0"/>
              </a:spcAft>
              <a:buNone/>
            </a:pPr>
            <a:r>
              <a:t/>
            </a:r>
            <a:endParaRPr b="0" sz="1800"/>
          </a:p>
          <a:p>
            <a:pPr indent="0" lvl="0" marL="0" rtl="0" algn="l">
              <a:spcBef>
                <a:spcPts val="0"/>
              </a:spcBef>
              <a:spcAft>
                <a:spcPts val="0"/>
              </a:spcAft>
              <a:buNone/>
            </a:pPr>
            <a:r>
              <a:rPr b="1" lang="en-US" sz="1800"/>
              <a:t>SPRECHTEXT</a:t>
            </a:r>
            <a:endParaRPr/>
          </a:p>
          <a:p>
            <a:pPr indent="0" lvl="0" marL="0" rtl="0" algn="l">
              <a:spcBef>
                <a:spcPts val="0"/>
              </a:spcBef>
              <a:spcAft>
                <a:spcPts val="0"/>
              </a:spcAft>
              <a:buNone/>
            </a:pPr>
            <a:r>
              <a:rPr b="0" lang="en-US" sz="1800"/>
              <a:t>So sieht ein Prüfhinweis konkret aus. Zähler ZL-00147, ein Anschluss mit 49 Kilowatt. Für August 2025 hat das Modell gut 7.300 Kilowattstunden erwartet, gemessen wurden über 23.500. In Vollaststunden ist die Abweichung 331,8, die Grenze liegt bei 144,4. Der Faktor ist also 2,3: Die Abweichung ist 2,3-mal so groß wie erlaubt, deshalb der Hinweis. [Pause]</a:t>
            </a:r>
            <a:endParaRPr/>
          </a:p>
          <a:p>
            <a:pPr indent="0" lvl="0" marL="0" rtl="0" algn="l">
              <a:spcBef>
                <a:spcPts val="0"/>
              </a:spcBef>
              <a:spcAft>
                <a:spcPts val="0"/>
              </a:spcAft>
              <a:buNone/>
            </a:pPr>
            <a:r>
              <a:rPr b="0" lang="en-US" sz="1800"/>
              <a:t>Ein Hinweis ist aber noch keine bestätigte Anomalie. Deshalb wird jeder Fall im Cockpit geprüft und bewertet: Ist der Messwert gültig? Ist die Abweichung erklärt? Was war die Ursache? Diese Antworten speichern wir, und genau sie sind die Grundlage für meinen nächsten Schritt.</a:t>
            </a:r>
            <a:endParaRPr/>
          </a:p>
          <a:p>
            <a:pPr indent="0" lvl="0" marL="0" rtl="0" algn="l">
              <a:spcBef>
                <a:spcPts val="0"/>
              </a:spcBef>
              <a:spcAft>
                <a:spcPts val="0"/>
              </a:spcAft>
              <a:buNone/>
            </a:pPr>
            <a:r>
              <a:t/>
            </a:r>
            <a:endParaRPr b="0" sz="1800"/>
          </a:p>
          <a:p>
            <a:pPr indent="0" lvl="0" marL="0" rtl="0" algn="l">
              <a:spcBef>
                <a:spcPts val="0"/>
              </a:spcBef>
              <a:spcAft>
                <a:spcPts val="0"/>
              </a:spcAft>
              <a:buNone/>
            </a:pPr>
            <a:r>
              <a:rPr b="1" lang="en-US" sz="1800"/>
              <a:t>SO VERSTEHST DU ES</a:t>
            </a:r>
            <a:endParaRPr/>
          </a:p>
          <a:p>
            <a:pPr indent="0" lvl="0" marL="0" rtl="0" algn="l">
              <a:spcBef>
                <a:spcPts val="0"/>
              </a:spcBef>
              <a:spcAft>
                <a:spcPts val="0"/>
              </a:spcAft>
              <a:buNone/>
            </a:pPr>
            <a:r>
              <a:rPr b="0" lang="en-US" sz="1800"/>
              <a:t>• Der Faktor macht Zähler vergleichbar: 2,3 heißt mehr als doppelt so weit draußen wie erlaubt, egal wie groß der Anschluss ist.</a:t>
            </a:r>
            <a:endParaRPr/>
          </a:p>
          <a:p>
            <a:pPr indent="0" lvl="0" marL="0" rtl="0" algn="l">
              <a:spcBef>
                <a:spcPts val="0"/>
              </a:spcBef>
              <a:spcAft>
                <a:spcPts val="0"/>
              </a:spcAft>
              <a:buNone/>
            </a:pPr>
            <a:r>
              <a:rPr b="0" lang="en-US" sz="1800"/>
              <a:t>• Im Diagramm: die durchgezogene Linie ist der gemessene Verbrauch, die gestrichelte die Prognose, die blaue Fläche der erlaubte Bereich. Nur der August liegt deutlich draußen.</a:t>
            </a:r>
            <a:endParaRPr/>
          </a:p>
          <a:p>
            <a:pPr indent="0" lvl="0" marL="0" rtl="0" algn="l">
              <a:spcBef>
                <a:spcPts val="0"/>
              </a:spcBef>
              <a:spcAft>
                <a:spcPts val="0"/>
              </a:spcAft>
              <a:buNone/>
            </a:pPr>
            <a:r>
              <a:rPr b="0" lang="en-US" sz="1800"/>
              <a:t>• Im September ist die Prognose erhöht, weil der hohe August als Vormonat in die Prognose einfließt; der Faktor liegt dort bei −0,68, also innerhalb der Grenze.</a:t>
            </a:r>
            <a:endParaRPr/>
          </a:p>
          <a:p>
            <a:pPr indent="0" lvl="0" marL="0" rtl="0" algn="l">
              <a:spcBef>
                <a:spcPts val="0"/>
              </a:spcBef>
              <a:spcAft>
                <a:spcPts val="0"/>
              </a:spcAft>
              <a:buNone/>
            </a:pPr>
            <a:r>
              <a:t/>
            </a:r>
            <a:endParaRPr b="0" sz="1800"/>
          </a:p>
          <a:p>
            <a:pPr indent="0" lvl="0" marL="0" rtl="0" algn="l">
              <a:spcBef>
                <a:spcPts val="0"/>
              </a:spcBef>
              <a:spcAft>
                <a:spcPts val="0"/>
              </a:spcAft>
              <a:buNone/>
            </a:pPr>
            <a:r>
              <a:rPr b="1" lang="en-US" sz="1800"/>
              <a:t>FALLS GEFRAGT WIRD</a:t>
            </a:r>
            <a:endParaRPr/>
          </a:p>
          <a:p>
            <a:pPr indent="0" lvl="0" marL="0" rtl="0" algn="l">
              <a:spcBef>
                <a:spcPts val="0"/>
              </a:spcBef>
              <a:spcAft>
                <a:spcPts val="0"/>
              </a:spcAft>
              <a:buNone/>
            </a:pPr>
            <a:r>
              <a:rPr b="1" lang="en-US" sz="1800"/>
              <a:t>Ist das eine bestätigte Anomalie? </a:t>
            </a:r>
            <a:r>
              <a:rPr b="0" lang="en-US" sz="1800"/>
              <a:t>Nein. Ein Prüfhinweis sagt nur: ungewöhnlich groß. Erst die Bewertung bestätigt oder verwirft den Verdacht.</a:t>
            </a:r>
            <a:endParaRPr/>
          </a:p>
        </p:txBody>
      </p:sp>
      <p:sp>
        <p:nvSpPr>
          <p:cNvPr id="346" name="Google Shape;346;h510714b4cc47d3b6_0_72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h510714b4cc47d3b6_0_1315:notes"/>
          <p:cNvSpPr/>
          <p:nvPr>
            <p:ph idx="2" type="sldImg"/>
          </p:nvPr>
        </p:nvSpPr>
        <p:spPr>
          <a:xfrm>
            <a:off x="-12"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8" name="Google Shape;378;h510714b4cc47d3b6_0_13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800"/>
              <a:t>STICHWORTE</a:t>
            </a:r>
            <a:endParaRPr/>
          </a:p>
          <a:p>
            <a:pPr indent="0" lvl="0" marL="0" rtl="0" algn="l">
              <a:spcBef>
                <a:spcPts val="0"/>
              </a:spcBef>
              <a:spcAft>
                <a:spcPts val="0"/>
              </a:spcAft>
              <a:buNone/>
            </a:pPr>
            <a:r>
              <a:rPr b="0" lang="en-US" sz="1800"/>
              <a:t>• Fallakte → Bewertung → Status</a:t>
            </a:r>
            <a:endParaRPr/>
          </a:p>
          <a:p>
            <a:pPr indent="0" lvl="0" marL="0" rtl="0" algn="l">
              <a:spcBef>
                <a:spcPts val="0"/>
              </a:spcBef>
              <a:spcAft>
                <a:spcPts val="0"/>
              </a:spcAft>
              <a:buNone/>
            </a:pPr>
            <a:r>
              <a:rPr b="0" lang="en-US" sz="1800"/>
              <a:t>• Label: gültig + nicht erklärt</a:t>
            </a:r>
            <a:endParaRPr/>
          </a:p>
          <a:p>
            <a:pPr indent="0" lvl="0" marL="0" rtl="0" algn="l">
              <a:spcBef>
                <a:spcPts val="0"/>
              </a:spcBef>
              <a:spcAft>
                <a:spcPts val="0"/>
              </a:spcAft>
              <a:buNone/>
            </a:pPr>
            <a:r>
              <a:rPr b="0" lang="en-US" sz="1800"/>
              <a:t>• Precision, Recall-Stichprobe, Klassifikation</a:t>
            </a:r>
            <a:endParaRPr/>
          </a:p>
          <a:p>
            <a:pPr indent="0" lvl="0" marL="0" rtl="0" algn="l">
              <a:spcBef>
                <a:spcPts val="0"/>
              </a:spcBef>
              <a:spcAft>
                <a:spcPts val="0"/>
              </a:spcAft>
              <a:buNone/>
            </a:pPr>
            <a:r>
              <a:rPr b="0" lang="en-US" sz="1800"/>
              <a:t>• Fazit + Übergabe Patrick</a:t>
            </a:r>
            <a:endParaRPr/>
          </a:p>
          <a:p>
            <a:pPr indent="0" lvl="0" marL="0" rtl="0" algn="l">
              <a:spcBef>
                <a:spcPts val="0"/>
              </a:spcBef>
              <a:spcAft>
                <a:spcPts val="0"/>
              </a:spcAft>
              <a:buNone/>
            </a:pPr>
            <a:r>
              <a:t/>
            </a:r>
            <a:endParaRPr b="0" sz="1800"/>
          </a:p>
          <a:p>
            <a:pPr indent="0" lvl="0" marL="0" rtl="0" algn="l">
              <a:spcBef>
                <a:spcPts val="0"/>
              </a:spcBef>
              <a:spcAft>
                <a:spcPts val="0"/>
              </a:spcAft>
              <a:buNone/>
            </a:pPr>
            <a:r>
              <a:rPr b="1" lang="en-US" sz="1800"/>
              <a:t>SPRECHTEXT</a:t>
            </a:r>
            <a:endParaRPr/>
          </a:p>
          <a:p>
            <a:pPr indent="0" lvl="0" marL="0" rtl="0" algn="l">
              <a:spcBef>
                <a:spcPts val="0"/>
              </a:spcBef>
              <a:spcAft>
                <a:spcPts val="0"/>
              </a:spcAft>
              <a:buNone/>
            </a:pPr>
            <a:r>
              <a:rPr b="0" lang="en-US" sz="1800"/>
              <a:t>So sieht der Fall in meinem Dashboard aus. Die Fallakte begründet in einem Satz, warum er markiert wurde. Dann dokumentiert die Fachabteilung ihre Bewertung; in der Demo habe ich beispielhaft eingetragen: Messwert gültig, Abweichung nicht erklärt.</a:t>
            </a:r>
            <a:endParaRPr/>
          </a:p>
          <a:p>
            <a:pPr indent="0" lvl="0" marL="0" rtl="0" algn="l">
              <a:spcBef>
                <a:spcPts val="0"/>
              </a:spcBef>
              <a:spcAft>
                <a:spcPts val="0"/>
              </a:spcAft>
              <a:buNone/>
            </a:pPr>
            <a:r>
              <a:rPr b="0" lang="en-US" sz="1800"/>
              <a:t>So entsteht, was uns heute fehlt: ein bestätigtes Beispiel. Daraus messen wir zuerst die Precision; für den Recall prüfen wir zusätzlich eine Stichprobe unauffälliger Monate. Mit genug Beispielen kann später ein Klassifikationsmodell die Prüfliste sortieren.</a:t>
            </a:r>
            <a:endParaRPr/>
          </a:p>
          <a:p>
            <a:pPr indent="0" lvl="0" marL="0" rtl="0" algn="l">
              <a:spcBef>
                <a:spcPts val="0"/>
              </a:spcBef>
              <a:spcAft>
                <a:spcPts val="0"/>
              </a:spcAft>
              <a:buNone/>
            </a:pPr>
            <a:r>
              <a:rPr b="0" lang="en-US" sz="1800"/>
              <a:t>ZL-00147 ist damit einer von 114 Hinweisen in einer sortierten Liste. [Pause] Mein Fazit: Bei Zeitreihen ist die Validierung wichtiger als das komplexeste Modell. Wie Beschaffung und Netzmanagement damit arbeiten, zeigt jetzt Patrick.</a:t>
            </a:r>
            <a:endParaRPr/>
          </a:p>
          <a:p>
            <a:pPr indent="0" lvl="0" marL="0" rtl="0" algn="l">
              <a:spcBef>
                <a:spcPts val="0"/>
              </a:spcBef>
              <a:spcAft>
                <a:spcPts val="0"/>
              </a:spcAft>
              <a:buNone/>
            </a:pPr>
            <a:r>
              <a:t/>
            </a:r>
            <a:endParaRPr b="0" sz="1800"/>
          </a:p>
          <a:p>
            <a:pPr indent="0" lvl="0" marL="0" rtl="0" algn="l">
              <a:spcBef>
                <a:spcPts val="0"/>
              </a:spcBef>
              <a:spcAft>
                <a:spcPts val="0"/>
              </a:spcAft>
              <a:buNone/>
            </a:pPr>
            <a:r>
              <a:rPr b="1" lang="en-US" sz="1800"/>
              <a:t>SO LIEST DU DIE FOLIE</a:t>
            </a:r>
            <a:endParaRPr/>
          </a:p>
          <a:p>
            <a:pPr indent="0" lvl="0" marL="0" rtl="0" algn="l">
              <a:spcBef>
                <a:spcPts val="0"/>
              </a:spcBef>
              <a:spcAft>
                <a:spcPts val="0"/>
              </a:spcAft>
              <a:buNone/>
            </a:pPr>
            <a:r>
              <a:rPr b="0" lang="en-US" sz="1800"/>
              <a:t>• Screenshots aus dem Energie-Cockpit, Fall ZL-00147 · 08/2025. Die Bewertung ist eine Beispieleingabe und wird nur lokal im Browser gespeichert; kein Ticket, kein Backend.</a:t>
            </a:r>
            <a:endParaRPr/>
          </a:p>
          <a:p>
            <a:pPr indent="0" lvl="0" marL="0" rtl="0" algn="l">
              <a:spcBef>
                <a:spcPts val="0"/>
              </a:spcBef>
              <a:spcAft>
                <a:spcPts val="0"/>
              </a:spcAft>
              <a:buNone/>
            </a:pPr>
            <a:r>
              <a:rPr b="0" lang="en-US" sz="1800"/>
              <a:t>• Unterschied zu Patricks Verbrauchs-Cockpit: Dort entsteht nach der Prüfung ein Ticket. Hier wird der Fall fachlich bewertet und damit gelabelt.</a:t>
            </a:r>
            <a:endParaRPr/>
          </a:p>
          <a:p>
            <a:pPr indent="0" lvl="0" marL="0" rtl="0" algn="l">
              <a:spcBef>
                <a:spcPts val="0"/>
              </a:spcBef>
              <a:spcAft>
                <a:spcPts val="0"/>
              </a:spcAft>
              <a:buNone/>
            </a:pPr>
            <a:r>
              <a:t/>
            </a:r>
            <a:endParaRPr b="0" sz="1800"/>
          </a:p>
          <a:p>
            <a:pPr indent="0" lvl="0" marL="0" rtl="0" algn="l">
              <a:spcBef>
                <a:spcPts val="0"/>
              </a:spcBef>
              <a:spcAft>
                <a:spcPts val="0"/>
              </a:spcAft>
              <a:buNone/>
            </a:pPr>
            <a:r>
              <a:rPr b="1" lang="en-US" sz="1800"/>
              <a:t>FALLS GEFRAGT WIRD</a:t>
            </a:r>
            <a:endParaRPr/>
          </a:p>
          <a:p>
            <a:pPr indent="0" lvl="0" marL="0" rtl="0" algn="l">
              <a:spcBef>
                <a:spcPts val="0"/>
              </a:spcBef>
              <a:spcAft>
                <a:spcPts val="0"/>
              </a:spcAft>
              <a:buNone/>
            </a:pPr>
            <a:r>
              <a:rPr b="1" lang="en-US" sz="1800"/>
              <a:t>• Wie viele Labels bräuchte ein Klassifikationsmodell? </a:t>
            </a:r>
            <a:r>
              <a:rPr b="0" lang="en-US" sz="1800"/>
              <a:t>Vorab nicht seriös bezifferbar. Bei rund 9,5 Hinweisen pro Monat kommen im Jahr etwa 110 bewertete Fälle zusammen. Das reicht für eine erste Precision. Für Recall und ein robustes Modell braucht es zusätzlich eine Zufallsstichprobe unauffälliger Fälle und mehrere Perioden.</a:t>
            </a:r>
            <a:endParaRPr/>
          </a:p>
          <a:p>
            <a:pPr indent="0" lvl="0" marL="0" rtl="0" algn="l">
              <a:spcBef>
                <a:spcPts val="0"/>
              </a:spcBef>
              <a:spcAft>
                <a:spcPts val="0"/>
              </a:spcAft>
              <a:buNone/>
            </a:pPr>
            <a:r>
              <a:rPr b="1" lang="en-US" sz="1800"/>
              <a:t>• Ersetzt die Klassifikation dann die Regression? </a:t>
            </a:r>
            <a:r>
              <a:rPr b="0" lang="en-US" sz="1800"/>
              <a:t>Nein. Die Regression liefert weiter den Erwartungswert für die Beschaffung. Die Klassifikation würde nur die Prüfliste besser priorisieren; eine Prozentangabe wäre erst nach eigener Validierung und Kalibrierung belastbar.</a:t>
            </a:r>
            <a:endParaRPr/>
          </a:p>
          <a:p>
            <a:pPr indent="0" lvl="0" marL="0" rtl="0" algn="l">
              <a:spcBef>
                <a:spcPts val="0"/>
              </a:spcBef>
              <a:spcAft>
                <a:spcPts val="0"/>
              </a:spcAft>
              <a:buNone/>
            </a:pPr>
            <a:r>
              <a:rPr b="1" lang="en-US" sz="1800"/>
              <a:t>• Was ist Precision, was ist Recall? </a:t>
            </a:r>
            <a:r>
              <a:rPr b="0" lang="en-US" sz="1800"/>
              <a:t>Precision: Anteil der Prüfhinweise, die sich fachlich bestätigen. Recall: Anteil aller echten Anomalien, die wir mit einem Hinweis gefunden haben.</a:t>
            </a:r>
            <a:endParaRPr/>
          </a:p>
        </p:txBody>
      </p:sp>
      <p:sp>
        <p:nvSpPr>
          <p:cNvPr id="379" name="Google Shape;379;h510714b4cc47d3b6_0_131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h510714b4cc47d3b6_0_834:notes"/>
          <p:cNvSpPr/>
          <p:nvPr>
            <p:ph idx="2" type="sldImg"/>
          </p:nvPr>
        </p:nvSpPr>
        <p:spPr>
          <a:xfrm>
            <a:off x="-12"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4" name="Google Shape;474;h510714b4cc47d3b6_0_83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800"/>
              <a:t>STICHWORTE</a:t>
            </a:r>
            <a:endParaRPr/>
          </a:p>
          <a:p>
            <a:pPr indent="0" lvl="0" marL="0" rtl="0" algn="l">
              <a:spcBef>
                <a:spcPts val="0"/>
              </a:spcBef>
              <a:spcAft>
                <a:spcPts val="0"/>
              </a:spcAft>
              <a:buNone/>
            </a:pPr>
            <a:r>
              <a:rPr b="0" lang="en-US" sz="1800"/>
              <a:t>• Bewertung = Label</a:t>
            </a:r>
            <a:endParaRPr/>
          </a:p>
          <a:p>
            <a:pPr indent="0" lvl="0" marL="0" rtl="0" algn="l">
              <a:spcBef>
                <a:spcPts val="0"/>
              </a:spcBef>
              <a:spcAft>
                <a:spcPts val="0"/>
              </a:spcAft>
              <a:buNone/>
            </a:pPr>
            <a:r>
              <a:rPr b="0" lang="en-US" sz="1800"/>
              <a:t>• zweites Modell: Klassifikation mit Wahrscheinlichkeit in %</a:t>
            </a:r>
            <a:endParaRPr/>
          </a:p>
          <a:p>
            <a:pPr indent="0" lvl="0" marL="0" rtl="0" algn="l">
              <a:spcBef>
                <a:spcPts val="0"/>
              </a:spcBef>
              <a:spcAft>
                <a:spcPts val="0"/>
              </a:spcAft>
              <a:buNone/>
            </a:pPr>
            <a:r>
              <a:rPr b="0" lang="en-US" sz="1800"/>
              <a:t>• automatisiert vorsortieren, Mensch entscheidet</a:t>
            </a:r>
            <a:endParaRPr/>
          </a:p>
          <a:p>
            <a:pPr indent="0" lvl="0" marL="0" rtl="0" algn="l">
              <a:spcBef>
                <a:spcPts val="0"/>
              </a:spcBef>
              <a:spcAft>
                <a:spcPts val="0"/>
              </a:spcAft>
              <a:buNone/>
            </a:pPr>
            <a:r>
              <a:rPr b="0" lang="en-US" sz="1800"/>
              <a:t>• Übergabe an Patrick</a:t>
            </a:r>
            <a:endParaRPr/>
          </a:p>
          <a:p>
            <a:pPr indent="0" lvl="0" marL="0" rtl="0" algn="l">
              <a:spcBef>
                <a:spcPts val="0"/>
              </a:spcBef>
              <a:spcAft>
                <a:spcPts val="0"/>
              </a:spcAft>
              <a:buNone/>
            </a:pPr>
            <a:r>
              <a:t/>
            </a:r>
            <a:endParaRPr b="0" sz="1800"/>
          </a:p>
          <a:p>
            <a:pPr indent="0" lvl="0" marL="0" rtl="0" algn="l">
              <a:spcBef>
                <a:spcPts val="0"/>
              </a:spcBef>
              <a:spcAft>
                <a:spcPts val="0"/>
              </a:spcAft>
              <a:buNone/>
            </a:pPr>
            <a:r>
              <a:rPr b="1" lang="en-US" sz="1800"/>
              <a:t>SPRECHTEXT</a:t>
            </a:r>
            <a:endParaRPr/>
          </a:p>
          <a:p>
            <a:pPr indent="0" lvl="0" marL="0" rtl="0" algn="l">
              <a:spcBef>
                <a:spcPts val="0"/>
              </a:spcBef>
              <a:spcAft>
                <a:spcPts val="0"/>
              </a:spcAft>
              <a:buNone/>
            </a:pPr>
            <a:r>
              <a:rPr b="0" lang="en-US" sz="1800"/>
              <a:t>Mein nächster Schritt baut auf diesen Bewertungen auf. Jede Bewertung ist ein Label: Hat sich der Hinweis bestätigt, ja oder nein, und warum.</a:t>
            </a:r>
            <a:endParaRPr/>
          </a:p>
          <a:p>
            <a:pPr indent="0" lvl="0" marL="0" rtl="0" algn="l">
              <a:spcBef>
                <a:spcPts val="0"/>
              </a:spcBef>
              <a:spcAft>
                <a:spcPts val="0"/>
              </a:spcAft>
              <a:buNone/>
            </a:pPr>
            <a:r>
              <a:rPr b="0" lang="en-US" sz="1800"/>
              <a:t>Sobald genug bestätigte Fälle vorliegen, trainiere ich darauf ein zweites Modell, ein Klassifikationsmodell. Die Regression sagt weiter den erwarteten Verbrauch vorher. Das Klassifikationsmodell schätzt dann für jeden Prüfhinweis, wie wahrscheinlich er sich bestätigt, zum Beispiel 80 Prozent. [Pause]</a:t>
            </a:r>
            <a:endParaRPr/>
          </a:p>
          <a:p>
            <a:pPr indent="0" lvl="0" marL="0" rtl="0" algn="l">
              <a:spcBef>
                <a:spcPts val="0"/>
              </a:spcBef>
              <a:spcAft>
                <a:spcPts val="0"/>
              </a:spcAft>
              <a:buNone/>
            </a:pPr>
            <a:r>
              <a:rPr b="0" lang="en-US" sz="1800"/>
              <a:t>Damit lassen sich die Hinweise automatisiert vorsortieren, die wahrscheinlichsten zuerst. Das spart Prüfzeit und erhöht die Treffsicherheit. Entscheiden bleibt beim Menschen: Das Modell ersetzt keine Abrechnungsentscheidung, es flaggt nur, was eine Prüfung wert ist.</a:t>
            </a:r>
            <a:endParaRPr/>
          </a:p>
          <a:p>
            <a:pPr indent="0" lvl="0" marL="0" rtl="0" algn="l">
              <a:spcBef>
                <a:spcPts val="0"/>
              </a:spcBef>
              <a:spcAft>
                <a:spcPts val="0"/>
              </a:spcAft>
              <a:buNone/>
            </a:pPr>
            <a:r>
              <a:rPr b="0" lang="en-US" sz="1800"/>
              <a:t>Wie das Modell 2025 abgeschnitten hat und wie bestätigte echte Zählerwerte das Retraining der Prognose verbessern können, zeigt jetzt Patrick.</a:t>
            </a:r>
            <a:endParaRPr/>
          </a:p>
          <a:p>
            <a:pPr indent="0" lvl="0" marL="0" rtl="0" algn="l">
              <a:spcBef>
                <a:spcPts val="0"/>
              </a:spcBef>
              <a:spcAft>
                <a:spcPts val="0"/>
              </a:spcAft>
              <a:buNone/>
            </a:pPr>
            <a:r>
              <a:t/>
            </a:r>
            <a:endParaRPr b="0" sz="1800"/>
          </a:p>
          <a:p>
            <a:pPr indent="0" lvl="0" marL="0" rtl="0" algn="l">
              <a:spcBef>
                <a:spcPts val="0"/>
              </a:spcBef>
              <a:spcAft>
                <a:spcPts val="0"/>
              </a:spcAft>
              <a:buNone/>
            </a:pPr>
            <a:r>
              <a:rPr b="1" lang="en-US" sz="1800"/>
              <a:t>SO VERSTEHST DU ES</a:t>
            </a:r>
            <a:endParaRPr/>
          </a:p>
          <a:p>
            <a:pPr indent="0" lvl="0" marL="0" rtl="0" algn="l">
              <a:spcBef>
                <a:spcPts val="0"/>
              </a:spcBef>
              <a:spcAft>
                <a:spcPts val="0"/>
              </a:spcAft>
              <a:buNone/>
            </a:pPr>
            <a:r>
              <a:rPr b="0" lang="en-US" sz="1800"/>
              <a:t>• Regression sagt eine Zahl vorher (kWh). Klassifikation sagt eine Klasse vorher (bestätigt ja/nein) und kann dazu eine Wahrscheinlichkeit angeben.</a:t>
            </a:r>
            <a:endParaRPr/>
          </a:p>
          <a:p>
            <a:pPr indent="0" lvl="0" marL="0" rtl="0" algn="l">
              <a:spcBef>
                <a:spcPts val="0"/>
              </a:spcBef>
              <a:spcAft>
                <a:spcPts val="0"/>
              </a:spcAft>
              <a:buNone/>
            </a:pPr>
            <a:r>
              <a:rPr b="0" lang="en-US" sz="1800"/>
              <a:t>• Heute fehlen dafür die Labels, deshalb erst sammeln, dann trainieren. Belastbar wird die Prozentzahl erst, wenn man sie auf neuen Fällen geprüft und kalibriert hat.</a:t>
            </a:r>
            <a:endParaRPr/>
          </a:p>
          <a:p>
            <a:pPr indent="0" lvl="0" marL="0" rtl="0" algn="l">
              <a:spcBef>
                <a:spcPts val="0"/>
              </a:spcBef>
              <a:spcAft>
                <a:spcPts val="0"/>
              </a:spcAft>
              <a:buNone/>
            </a:pPr>
            <a:r>
              <a:rPr b="0" lang="en-US" sz="1800"/>
              <a:t>• Arbeitsteilung mit Patrick: Du sprichst über das zweite Modell für die Hinweise, Patrick über das bessere Retraining der Verbrauchsprognose.</a:t>
            </a:r>
            <a:endParaRPr/>
          </a:p>
          <a:p>
            <a:pPr indent="0" lvl="0" marL="0" rtl="0" algn="l">
              <a:spcBef>
                <a:spcPts val="0"/>
              </a:spcBef>
              <a:spcAft>
                <a:spcPts val="0"/>
              </a:spcAft>
              <a:buNone/>
            </a:pPr>
            <a:r>
              <a:t/>
            </a:r>
            <a:endParaRPr b="0" sz="1800"/>
          </a:p>
          <a:p>
            <a:pPr indent="0" lvl="0" marL="0" rtl="0" algn="l">
              <a:spcBef>
                <a:spcPts val="0"/>
              </a:spcBef>
              <a:spcAft>
                <a:spcPts val="0"/>
              </a:spcAft>
              <a:buNone/>
            </a:pPr>
            <a:r>
              <a:rPr b="1" lang="en-US" sz="1800"/>
              <a:t>FALLS GEFRAGT WIRD</a:t>
            </a:r>
            <a:endParaRPr/>
          </a:p>
          <a:p>
            <a:pPr indent="0" lvl="0" marL="0" rtl="0" algn="l">
              <a:spcBef>
                <a:spcPts val="0"/>
              </a:spcBef>
              <a:spcAft>
                <a:spcPts val="0"/>
              </a:spcAft>
              <a:buNone/>
            </a:pPr>
            <a:r>
              <a:rPr b="1" lang="en-US" sz="1800"/>
              <a:t>Wie viele Labels braucht man? </a:t>
            </a:r>
            <a:r>
              <a:rPr b="0" lang="en-US" sz="1800"/>
              <a:t>Das legt der Pilot fest; wichtig sind genug bestätigte und verworfene Fälle, auch aus einer Stichprobe unauffälliger Monate.</a:t>
            </a:r>
            <a:endParaRPr/>
          </a:p>
          <a:p>
            <a:pPr indent="0" lvl="0" marL="0" rtl="0" algn="l">
              <a:spcBef>
                <a:spcPts val="0"/>
              </a:spcBef>
              <a:spcAft>
                <a:spcPts val="0"/>
              </a:spcAft>
              <a:buNone/>
            </a:pPr>
            <a:r>
              <a:rPr b="1" lang="en-US" sz="1800"/>
              <a:t>Was ist Precision@K? </a:t>
            </a:r>
            <a:r>
              <a:rPr b="0" lang="en-US" sz="1800"/>
              <a:t>Der Anteil bestätigter Fälle unter den K obersten Hinweisen der Prüfliste, also wie treffsicher die Liste ist.</a:t>
            </a:r>
            <a:endParaRPr/>
          </a:p>
        </p:txBody>
      </p:sp>
      <p:sp>
        <p:nvSpPr>
          <p:cNvPr id="475" name="Google Shape;475;h510714b4cc47d3b6_0_83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h3fbf580b30600811_1_0:notes"/>
          <p:cNvSpPr/>
          <p:nvPr>
            <p:ph idx="2" type="sldImg"/>
          </p:nvPr>
        </p:nvSpPr>
        <p:spPr>
          <a:xfrm>
            <a:off x="-15"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3" name="Google Shape;503;h3fbf580b30600811_1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STICHWORTE</a:t>
            </a:r>
            <a:endParaRPr/>
          </a:p>
          <a:p>
            <a:pPr indent="0" lvl="0" marL="0" rtl="0" algn="l">
              <a:spcBef>
                <a:spcPts val="0"/>
              </a:spcBef>
              <a:spcAft>
                <a:spcPts val="0"/>
              </a:spcAft>
              <a:buNone/>
            </a:pPr>
            <a:r>
              <a:rPr lang="en-US"/>
              <a:t>• Übergabe annehmen</a:t>
            </a:r>
            <a:endParaRPr/>
          </a:p>
          <a:p>
            <a:pPr indent="0" lvl="0" marL="0" rtl="0" algn="l">
              <a:spcBef>
                <a:spcPts val="0"/>
              </a:spcBef>
              <a:spcAft>
                <a:spcPts val="0"/>
              </a:spcAft>
              <a:buNone/>
            </a:pPr>
            <a:r>
              <a:rPr lang="en-US"/>
              <a:t>• drei Leitfragen</a:t>
            </a:r>
            <a:endParaRPr/>
          </a:p>
          <a:p>
            <a:pPr indent="0" lvl="0" marL="0" rtl="0" algn="l">
              <a:spcBef>
                <a:spcPts val="0"/>
              </a:spcBef>
              <a:spcAft>
                <a:spcPts val="0"/>
              </a:spcAft>
              <a:buNone/>
            </a:pPr>
            <a:r>
              <a:rPr lang="en-US"/>
              <a:t>• rund 10 Minuten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SPRECHTEXT</a:t>
            </a:r>
            <a:endParaRPr/>
          </a:p>
          <a:p>
            <a:pPr indent="0" lvl="0" marL="0" rtl="0" algn="l">
              <a:spcBef>
                <a:spcPts val="0"/>
              </a:spcBef>
              <a:spcAft>
                <a:spcPts val="0"/>
              </a:spcAft>
              <a:buNone/>
            </a:pPr>
            <a:r>
              <a:rPr lang="en-US"/>
              <a:t>Vielen Dank. Ich übernehme jetzt die Ergebnisse und unsere Empfehlungen.</a:t>
            </a:r>
            <a:endParaRPr/>
          </a:p>
          <a:p>
            <a:pPr indent="0" lvl="0" marL="0" rtl="0" algn="l">
              <a:spcBef>
                <a:spcPts val="0"/>
              </a:spcBef>
              <a:spcAft>
                <a:spcPts val="0"/>
              </a:spcAft>
              <a:buNone/>
            </a:pPr>
            <a:r>
              <a:rPr lang="en-US"/>
              <a:t>Ich beantworte drei Fragen: Wie gut ist die Prognose und warum funktioniert sie?</a:t>
            </a:r>
            <a:endParaRPr/>
          </a:p>
          <a:p>
            <a:pPr indent="0" lvl="0" marL="0" rtl="0" algn="l">
              <a:spcBef>
                <a:spcPts val="0"/>
              </a:spcBef>
              <a:spcAft>
                <a:spcPts val="0"/>
              </a:spcAft>
              <a:buNone/>
            </a:pPr>
            <a:r>
              <a:rPr lang="en-US"/>
              <a:t>Wie arbeiten Beschaffung und Netzmanagement konkret mit den Ergebnissen?</a:t>
            </a:r>
            <a:endParaRPr/>
          </a:p>
          <a:p>
            <a:pPr indent="0" lvl="0" marL="0" rtl="0" algn="l">
              <a:spcBef>
                <a:spcPts val="0"/>
              </a:spcBef>
              <a:spcAft>
                <a:spcPts val="0"/>
              </a:spcAft>
              <a:buNone/>
            </a:pPr>
            <a:r>
              <a:rPr lang="en-US"/>
              <a:t>Und was sollte die StadtWerke Westhafen als Nächstes tun?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QUELLE</a:t>
            </a:r>
            <a:endParaRPr/>
          </a:p>
          <a:p>
            <a:pPr indent="0" lvl="0" marL="0" rtl="0" algn="l">
              <a:spcBef>
                <a:spcPts val="0"/>
              </a:spcBef>
              <a:spcAft>
                <a:spcPts val="0"/>
              </a:spcAft>
              <a:buNone/>
            </a:pPr>
            <a:r>
              <a:rPr lang="en-US"/>
              <a:t>IHK-Präsentationsvorlage, Folie 9 und 10 (Kapitel Ergebnisse, Empfehlungen und Ausblick).</a:t>
            </a:r>
            <a:endParaRPr/>
          </a:p>
        </p:txBody>
      </p:sp>
      <p:sp>
        <p:nvSpPr>
          <p:cNvPr id="504" name="Google Shape;504;h3fbf580b30600811_1_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h3fbf580b30600811_1_19:notes"/>
          <p:cNvSpPr/>
          <p:nvPr>
            <p:ph idx="2" type="sldImg"/>
          </p:nvPr>
        </p:nvSpPr>
        <p:spPr>
          <a:xfrm>
            <a:off x="-15"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3" name="Google Shape;523;h3fbf580b30600811_1_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STICHWORTE</a:t>
            </a:r>
            <a:endParaRPr/>
          </a:p>
          <a:p>
            <a:pPr indent="0" lvl="0" marL="0" rtl="0" algn="l">
              <a:spcBef>
                <a:spcPts val="0"/>
              </a:spcBef>
              <a:spcAft>
                <a:spcPts val="0"/>
              </a:spcAft>
              <a:buNone/>
            </a:pPr>
            <a:r>
              <a:rPr lang="en-US"/>
              <a:t>• Hauptmetrik RMSE: 9.188 kWh</a:t>
            </a:r>
            <a:endParaRPr/>
          </a:p>
          <a:p>
            <a:pPr indent="0" lvl="0" marL="0" rtl="0" algn="l">
              <a:spcBef>
                <a:spcPts val="0"/>
              </a:spcBef>
              <a:spcAft>
                <a:spcPts val="0"/>
              </a:spcAft>
              <a:buNone/>
            </a:pPr>
            <a:r>
              <a:rPr lang="en-US"/>
              <a:t>• Baseline 10.922 → −15,9 %</a:t>
            </a:r>
            <a:endParaRPr/>
          </a:p>
          <a:p>
            <a:pPr indent="0" lvl="0" marL="0" rtl="0" algn="l">
              <a:spcBef>
                <a:spcPts val="0"/>
              </a:spcBef>
              <a:spcAft>
                <a:spcPts val="0"/>
              </a:spcAft>
              <a:buNone/>
            </a:pPr>
            <a:r>
              <a:rPr lang="en-US"/>
              <a:t>• MAE 3.725, R² 0,901</a:t>
            </a:r>
            <a:endParaRPr/>
          </a:p>
          <a:p>
            <a:pPr indent="0" lvl="0" marL="0" rtl="0" algn="l">
              <a:spcBef>
                <a:spcPts val="0"/>
              </a:spcBef>
              <a:spcAft>
                <a:spcPts val="0"/>
              </a:spcAft>
              <a:buNone/>
            </a:pPr>
            <a:r>
              <a:rPr lang="en-US"/>
              <a:t>• Pause nach der Kernzahl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SPRECHTEXT</a:t>
            </a:r>
            <a:endParaRPr/>
          </a:p>
          <a:p>
            <a:pPr indent="0" lvl="0" marL="0" rtl="0" algn="l">
              <a:spcBef>
                <a:spcPts val="0"/>
              </a:spcBef>
              <a:spcAft>
                <a:spcPts val="0"/>
              </a:spcAft>
              <a:buNone/>
            </a:pPr>
            <a:r>
              <a:rPr lang="en-US"/>
              <a:t>Zuerst die wichtigste Zahl. Unsere Hauptmetrik ist der RMSE, also der typische Prognosefehler je Zähler und Monat,</a:t>
            </a:r>
            <a:endParaRPr/>
          </a:p>
          <a:p>
            <a:pPr indent="0" lvl="0" marL="0" rtl="0" algn="l">
              <a:spcBef>
                <a:spcPts val="0"/>
              </a:spcBef>
              <a:spcAft>
                <a:spcPts val="0"/>
              </a:spcAft>
              <a:buNone/>
            </a:pPr>
            <a:r>
              <a:rPr lang="en-US"/>
              <a:t>bei dem große Fehler stärker zählen. Das ist gewollt: Große Abweichungen kosten die Beschaffung am meisten.</a:t>
            </a:r>
            <a:endParaRPr/>
          </a:p>
          <a:p>
            <a:pPr indent="0" lvl="0" marL="0" rtl="0" algn="l">
              <a:spcBef>
                <a:spcPts val="0"/>
              </a:spcBef>
              <a:spcAft>
                <a:spcPts val="0"/>
              </a:spcAft>
              <a:buNone/>
            </a:pPr>
            <a:r>
              <a:rPr lang="en-US"/>
              <a:t>Im Testjahr 2025 liegt der RMSE des Random Forest bei rund 9.200 Kilowattstunden. [Pause]</a:t>
            </a:r>
            <a:endParaRPr/>
          </a:p>
          <a:p>
            <a:pPr indent="0" lvl="0" marL="0" rtl="0" algn="l">
              <a:spcBef>
                <a:spcPts val="0"/>
              </a:spcBef>
              <a:spcAft>
                <a:spcPts val="0"/>
              </a:spcAft>
              <a:buNone/>
            </a:pPr>
            <a:r>
              <a:rPr lang="en-US"/>
              <a:t>Die beste einfache Regel, der Durchschnitt der letzten bis zu drei Monate, liegt bei rund 10.900.</a:t>
            </a:r>
            <a:endParaRPr/>
          </a:p>
          <a:p>
            <a:pPr indent="0" lvl="0" marL="0" rtl="0" algn="l">
              <a:spcBef>
                <a:spcPts val="0"/>
              </a:spcBef>
              <a:spcAft>
                <a:spcPts val="0"/>
              </a:spcAft>
              <a:buNone/>
            </a:pPr>
            <a:r>
              <a:rPr lang="en-US"/>
              <a:t>Das Modell ist also um 15,9 Prozent genauer. Die lineare Regression liegt knapp dahinter, der Vormonat deutlich zurück.</a:t>
            </a:r>
            <a:endParaRPr/>
          </a:p>
          <a:p>
            <a:pPr indent="0" lvl="0" marL="0" rtl="0" algn="l">
              <a:spcBef>
                <a:spcPts val="0"/>
              </a:spcBef>
              <a:spcAft>
                <a:spcPts val="0"/>
              </a:spcAft>
              <a:buNone/>
            </a:pPr>
            <a:r>
              <a:rPr lang="en-US"/>
              <a:t>Der MAE, also der mittlere absolute Fehler, sinkt von rund 4.900 auf 3.700 Kilowattstunden, und das Modell erklärt</a:t>
            </a:r>
            <a:endParaRPr/>
          </a:p>
          <a:p>
            <a:pPr indent="0" lvl="0" marL="0" rtl="0" algn="l">
              <a:spcBef>
                <a:spcPts val="0"/>
              </a:spcBef>
              <a:spcAft>
                <a:spcPts val="0"/>
              </a:spcAft>
              <a:buNone/>
            </a:pPr>
            <a:r>
              <a:rPr lang="en-US"/>
              <a:t>90 Prozent der Streuung im Testjahr.</a:t>
            </a:r>
            <a:endParaRPr/>
          </a:p>
          <a:p>
            <a:pPr indent="0" lvl="0" marL="0" rtl="0" algn="l">
              <a:spcBef>
                <a:spcPts val="0"/>
              </a:spcBef>
              <a:spcAft>
                <a:spcPts val="0"/>
              </a:spcAft>
              <a:buNone/>
            </a:pPr>
            <a:r>
              <a:rPr lang="en-US"/>
              <a:t>Wichtig für die Einordnung: Das Modell hat nur 2024 gesehen. 2025 war ein echtes Nachher-Jahr mit knapp 8.400 Zähler-Monaten.</a:t>
            </a:r>
            <a:endParaRPr/>
          </a:p>
          <a:p>
            <a:pPr indent="0" lvl="0" marL="0" rtl="0" algn="l">
              <a:spcBef>
                <a:spcPts val="0"/>
              </a:spcBef>
              <a:spcAft>
                <a:spcPts val="0"/>
              </a:spcAft>
              <a:buNone/>
            </a:pPr>
            <a:r>
              <a:rPr lang="en-US"/>
              <a:t>Warum vergleichen wir überhaupt mit so einfachen Regeln? Weil genau das heute bei SWW der Maßstab ist: Man schreibt die letzten Monate fort.</a:t>
            </a:r>
            <a:endParaRPr/>
          </a:p>
          <a:p>
            <a:pPr indent="0" lvl="0" marL="0" rtl="0" algn="l">
              <a:spcBef>
                <a:spcPts val="0"/>
              </a:spcBef>
              <a:spcAft>
                <a:spcPts val="0"/>
              </a:spcAft>
              <a:buNone/>
            </a:pPr>
            <a:r>
              <a:rPr lang="en-US"/>
              <a:t>Ein Modell lohnt sich nur, wenn es diese Fortschreibung schlägt, und zwar auf Daten, die es vorher nicht kannte. Das ist hier der Fall.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QUELLE</a:t>
            </a:r>
            <a:endParaRPr/>
          </a:p>
          <a:p>
            <a:pPr indent="0" lvl="0" marL="0" rtl="0" algn="l">
              <a:spcBef>
                <a:spcPts val="0"/>
              </a:spcBef>
              <a:spcAft>
                <a:spcPts val="0"/>
              </a:spcAft>
              <a:buNone/>
            </a:pPr>
            <a:r>
              <a:rPr lang="en-US"/>
              <a:t>forecast-data.json (Export aus notebooks/12_modeling_ihk_lernstory.ipynb): metrics; Bericht 4.3.3.</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FALLS GEFRAGT WIRD</a:t>
            </a:r>
            <a:endParaRPr/>
          </a:p>
          <a:p>
            <a:pPr indent="0" lvl="0" marL="0" rtl="0" algn="l">
              <a:spcBef>
                <a:spcPts val="0"/>
              </a:spcBef>
              <a:spcAft>
                <a:spcPts val="0"/>
              </a:spcAft>
              <a:buNone/>
            </a:pPr>
            <a:r>
              <a:rPr lang="en-US"/>
              <a:t>• Warum RMSE und nicht MAPE? MAPE explodiert bei kleinen Zählern; RMSE in kWh gewichtet große, teure Fehler.</a:t>
            </a:r>
            <a:endParaRPr/>
          </a:p>
          <a:p>
            <a:pPr indent="0" lvl="0" marL="0" rtl="0" algn="l">
              <a:spcBef>
                <a:spcPts val="0"/>
              </a:spcBef>
              <a:spcAft>
                <a:spcPts val="0"/>
              </a:spcAft>
              <a:buNone/>
            </a:pPr>
            <a:r>
              <a:rPr lang="en-US"/>
              <a:t>• R² 0,901 ist keine Trefferquote, sondern der erklärte Anteil der Streuung (Bericht 4.4.1).</a:t>
            </a:r>
            <a:endParaRPr/>
          </a:p>
          <a:p>
            <a:pPr indent="0" lvl="0" marL="0" rtl="0" algn="l">
              <a:spcBef>
                <a:spcPts val="0"/>
              </a:spcBef>
              <a:spcAft>
                <a:spcPts val="0"/>
              </a:spcAft>
              <a:buNone/>
            </a:pPr>
            <a:r>
              <a:rPr lang="en-US"/>
              <a:t>• Lineare Regression: RMSE 9.414 kWh, nur 2,4 % schlechter – gute, erklärbare Rückfallebene.</a:t>
            </a:r>
            <a:endParaRPr/>
          </a:p>
          <a:p>
            <a:pPr indent="0" lvl="0" marL="0" rtl="0" algn="l">
              <a:spcBef>
                <a:spcPts val="0"/>
              </a:spcBef>
              <a:spcAft>
                <a:spcPts val="0"/>
              </a:spcAft>
              <a:buNone/>
            </a:pPr>
            <a:r>
              <a:rPr lang="en-US"/>
              <a:t>• Overfitting? Baumtiefe auf 8 begrenzt, Vorsprung hält im späteren Jahr; wegen kurzer Zeitreihe nicht ganz auszuschließen.</a:t>
            </a:r>
            <a:endParaRPr/>
          </a:p>
        </p:txBody>
      </p:sp>
      <p:sp>
        <p:nvSpPr>
          <p:cNvPr id="524" name="Google Shape;524;h3fbf580b30600811_1_1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h3fbf580b30600811_1_44:notes"/>
          <p:cNvSpPr/>
          <p:nvPr>
            <p:ph idx="2" type="sldImg"/>
          </p:nvPr>
        </p:nvSpPr>
        <p:spPr>
          <a:xfrm>
            <a:off x="-15"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9" name="Google Shape;549;h3fbf580b30600811_1_4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STICHWORTE</a:t>
            </a:r>
            <a:endParaRPr/>
          </a:p>
          <a:p>
            <a:pPr indent="0" lvl="0" marL="0" rtl="0" algn="l">
              <a:spcBef>
                <a:spcPts val="0"/>
              </a:spcBef>
              <a:spcAft>
                <a:spcPts val="0"/>
              </a:spcAft>
              <a:buNone/>
            </a:pPr>
            <a:r>
              <a:rPr lang="en-US"/>
              <a:t>• Top 3: Historie, Produktionsplan, Wartung</a:t>
            </a:r>
            <a:endParaRPr/>
          </a:p>
          <a:p>
            <a:pPr indent="0" lvl="0" marL="0" rtl="0" algn="l">
              <a:spcBef>
                <a:spcPts val="0"/>
              </a:spcBef>
              <a:spcAft>
                <a:spcPts val="0"/>
              </a:spcAft>
              <a:buNone/>
            </a:pPr>
            <a:r>
              <a:rPr lang="en-US"/>
              <a:t>• EDA hat sie vorhergesagt</a:t>
            </a:r>
            <a:endParaRPr/>
          </a:p>
          <a:p>
            <a:pPr indent="0" lvl="0" marL="0" rtl="0" algn="l">
              <a:spcBef>
                <a:spcPts val="0"/>
              </a:spcBef>
              <a:spcAft>
                <a:spcPts val="0"/>
              </a:spcAft>
              <a:buNone/>
            </a:pPr>
            <a:r>
              <a:rPr lang="en-US"/>
              <a:t>• Wetter klein, Kundentyp ≈ 0</a:t>
            </a:r>
            <a:endParaRPr/>
          </a:p>
          <a:p>
            <a:pPr indent="0" lvl="0" marL="0" rtl="0" algn="l">
              <a:spcBef>
                <a:spcPts val="0"/>
              </a:spcBef>
              <a:spcAft>
                <a:spcPts val="0"/>
              </a:spcAft>
              <a:buNone/>
            </a:pPr>
            <a:r>
              <a:rPr lang="en-US"/>
              <a:t>• Wichtigkeit ≠ Kausalität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SPRECHTEXT</a:t>
            </a:r>
            <a:endParaRPr/>
          </a:p>
          <a:p>
            <a:pPr indent="0" lvl="0" marL="0" rtl="0" algn="l">
              <a:spcBef>
                <a:spcPts val="0"/>
              </a:spcBef>
              <a:spcAft>
                <a:spcPts val="0"/>
              </a:spcAft>
              <a:buNone/>
            </a:pPr>
            <a:r>
              <a:rPr lang="en-US"/>
              <a:t>Was trägt die Prognose? Wir haben jede Merkmalsgruppe zufällig vertauscht und gemessen, wie stark der Fehler steigt.</a:t>
            </a:r>
            <a:endParaRPr/>
          </a:p>
          <a:p>
            <a:pPr indent="0" lvl="0" marL="0" rtl="0" algn="l">
              <a:spcBef>
                <a:spcPts val="0"/>
              </a:spcBef>
              <a:spcAft>
                <a:spcPts val="0"/>
              </a:spcAft>
              <a:buNone/>
            </a:pPr>
            <a:r>
              <a:rPr lang="en-US"/>
              <a:t>Mit großem Abstand vorn liegt die Verbrauchshistorie, danach der Produktionsplan und die geplante Wartung.</a:t>
            </a:r>
            <a:endParaRPr/>
          </a:p>
          <a:p>
            <a:pPr indent="0" lvl="0" marL="0" rtl="0" algn="l">
              <a:spcBef>
                <a:spcPts val="0"/>
              </a:spcBef>
              <a:spcAft>
                <a:spcPts val="0"/>
              </a:spcAft>
              <a:buNone/>
            </a:pPr>
            <a:r>
              <a:rPr lang="en-US"/>
              <a:t>Ist das plausibel? Ja, und das ist für mich als Verantwortlicher der EDA der schönste Befund: Genau diese Treiber</a:t>
            </a:r>
            <a:endParaRPr/>
          </a:p>
          <a:p>
            <a:pPr indent="0" lvl="0" marL="0" rtl="0" algn="l">
              <a:spcBef>
                <a:spcPts val="0"/>
              </a:spcBef>
              <a:spcAft>
                <a:spcPts val="0"/>
              </a:spcAft>
              <a:buNone/>
            </a:pPr>
            <a:r>
              <a:rPr lang="en-US"/>
              <a:t>hatte die explorative Analyse vorhergesagt. Normiert je Zähler war der Produktionsplan der stärkste Einzeltreiber,</a:t>
            </a:r>
            <a:endParaRPr/>
          </a:p>
          <a:p>
            <a:pPr indent="0" lvl="0" marL="0" rtl="0" algn="l">
              <a:spcBef>
                <a:spcPts val="0"/>
              </a:spcBef>
              <a:spcAft>
                <a:spcPts val="0"/>
              </a:spcAft>
              <a:buNone/>
            </a:pPr>
            <a:r>
              <a:rPr lang="en-US"/>
              <a:t>und in Wartungsmonaten sinkt der Verbrauch im Median um 29 Prozent.</a:t>
            </a:r>
            <a:endParaRPr/>
          </a:p>
          <a:p>
            <a:pPr indent="0" lvl="0" marL="0" rtl="0" algn="l">
              <a:spcBef>
                <a:spcPts val="0"/>
              </a:spcBef>
              <a:spcAft>
                <a:spcPts val="0"/>
              </a:spcAft>
              <a:buNone/>
            </a:pPr>
            <a:r>
              <a:rPr lang="en-US"/>
              <a:t>Genauso wichtig ist, was klein bleibt: Das Wetter wirkt kaum, weil der scheinbare Heizeffekt großteils saisonale</a:t>
            </a:r>
            <a:endParaRPr/>
          </a:p>
          <a:p>
            <a:pPr indent="0" lvl="0" marL="0" rtl="0" algn="l">
              <a:spcBef>
                <a:spcPts val="0"/>
              </a:spcBef>
              <a:spcAft>
                <a:spcPts val="0"/>
              </a:spcAft>
              <a:buNone/>
            </a:pPr>
            <a:r>
              <a:rPr lang="en-US"/>
              <a:t>Produktion ist. Und der Kundentyp steckt nach der Normierung schon in der Historie.</a:t>
            </a:r>
            <a:endParaRPr/>
          </a:p>
          <a:p>
            <a:pPr indent="0" lvl="0" marL="0" rtl="0" algn="l">
              <a:spcBef>
                <a:spcPts val="0"/>
              </a:spcBef>
              <a:spcAft>
                <a:spcPts val="0"/>
              </a:spcAft>
              <a:buNone/>
            </a:pPr>
            <a:r>
              <a:rPr lang="en-US"/>
              <a:t>Eine Einschränkung: Wichtigkeit zeigt den Nutzen fürs Modell, nicht die Ursache.</a:t>
            </a:r>
            <a:endParaRPr/>
          </a:p>
          <a:p>
            <a:pPr indent="0" lvl="0" marL="0" rtl="0" algn="l">
              <a:spcBef>
                <a:spcPts val="0"/>
              </a:spcBef>
              <a:spcAft>
                <a:spcPts val="0"/>
              </a:spcAft>
              <a:buNone/>
            </a:pPr>
            <a:r>
              <a:rPr lang="en-US"/>
              <a:t>Für den Betrieb heißt das aber ganz praktisch: Produktionsplan und Wartungstermine sind keine Nebensache.</a:t>
            </a:r>
            <a:endParaRPr/>
          </a:p>
          <a:p>
            <a:pPr indent="0" lvl="0" marL="0" rtl="0" algn="l">
              <a:spcBef>
                <a:spcPts val="0"/>
              </a:spcBef>
              <a:spcAft>
                <a:spcPts val="0"/>
              </a:spcAft>
              <a:buNone/>
            </a:pPr>
            <a:r>
              <a:rPr lang="en-US"/>
              <a:t>Fehlen sie zum Prognosezeitpunkt, verliert das Modell einen Teil seiner Genauigkeit. Darauf komme ich bei den Empfehlungen zurück.</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QUELLE</a:t>
            </a:r>
            <a:endParaRPr/>
          </a:p>
          <a:p>
            <a:pPr indent="0" lvl="0" marL="0" rtl="0" algn="l">
              <a:spcBef>
                <a:spcPts val="0"/>
              </a:spcBef>
              <a:spcAft>
                <a:spcPts val="0"/>
              </a:spcAft>
              <a:buNone/>
            </a:pPr>
            <a:r>
              <a:rPr lang="en-US"/>
              <a:t>forecast-data.json: importance (Bericht 4.3.4, Tab. D1); ipynb/eda_ci.ipynb Abschnitte 4, 5.1, 5.3, 5.4.</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FALLS GEFRAGT WIRD</a:t>
            </a:r>
            <a:endParaRPr/>
          </a:p>
          <a:p>
            <a:pPr indent="0" lvl="0" marL="0" rtl="0" algn="l">
              <a:spcBef>
                <a:spcPts val="0"/>
              </a:spcBef>
              <a:spcAft>
                <a:spcPts val="0"/>
              </a:spcAft>
              <a:buNone/>
            </a:pPr>
            <a:r>
              <a:rPr lang="en-US"/>
              <a:t>• Werte: Historie +7.256, Produktionsplan +798, Wartung +591, Kalender +276, Wetter +154, Jahreszeit +121, Kundentyp +3 kWh.</a:t>
            </a:r>
            <a:endParaRPr/>
          </a:p>
          <a:p>
            <a:pPr indent="0" lvl="0" marL="0" rtl="0" algn="l">
              <a:spcBef>
                <a:spcPts val="0"/>
              </a:spcBef>
              <a:spcAft>
                <a:spcPts val="0"/>
              </a:spcAft>
              <a:buNone/>
            </a:pPr>
            <a:r>
              <a:rPr lang="en-US"/>
              <a:t>• Heizeffekt innerhalb gleicher Produktionsbänder nur 8–12 %, zwischen den Bändern 20–30 % (EDA 5.3).</a:t>
            </a:r>
            <a:endParaRPr/>
          </a:p>
          <a:p>
            <a:pPr indent="0" lvl="0" marL="0" rtl="0" algn="l">
              <a:spcBef>
                <a:spcPts val="0"/>
              </a:spcBef>
              <a:spcAft>
                <a:spcPts val="0"/>
              </a:spcAft>
              <a:buNone/>
            </a:pPr>
            <a:r>
              <a:rPr lang="en-US"/>
              <a:t>• Voraussetzung für den Betrieb: Produktionsplan und Wartung müssen vor Monatsbeginn vorliegen.</a:t>
            </a:r>
            <a:endParaRPr/>
          </a:p>
        </p:txBody>
      </p:sp>
      <p:sp>
        <p:nvSpPr>
          <p:cNvPr id="550" name="Google Shape;550;h3fbf580b30600811_1_4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h3fbf580b30600811_1_65:notes"/>
          <p:cNvSpPr/>
          <p:nvPr>
            <p:ph idx="2" type="sldImg"/>
          </p:nvPr>
        </p:nvSpPr>
        <p:spPr>
          <a:xfrm>
            <a:off x="-15"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1" name="Google Shape;571;h3fbf580b30600811_1_6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STICHWORTE</a:t>
            </a:r>
            <a:endParaRPr/>
          </a:p>
          <a:p>
            <a:pPr indent="0" lvl="0" marL="0" rtl="0" algn="l">
              <a:spcBef>
                <a:spcPts val="0"/>
              </a:spcBef>
              <a:spcAft>
                <a:spcPts val="0"/>
              </a:spcAft>
              <a:buNone/>
            </a:pPr>
            <a:r>
              <a:rPr lang="en-US"/>
              <a:t>• Cockpit = Ergebnis für Fachanwender</a:t>
            </a:r>
            <a:endParaRPr/>
          </a:p>
          <a:p>
            <a:pPr indent="0" lvl="0" marL="0" rtl="0" algn="l">
              <a:spcBef>
                <a:spcPts val="0"/>
              </a:spcBef>
              <a:spcAft>
                <a:spcPts val="0"/>
              </a:spcAft>
              <a:buNone/>
            </a:pPr>
            <a:r>
              <a:rPr lang="en-US"/>
              <a:t>• ① Menge + Spanne</a:t>
            </a:r>
            <a:endParaRPr/>
          </a:p>
          <a:p>
            <a:pPr indent="0" lvl="0" marL="0" rtl="0" algn="l">
              <a:spcBef>
                <a:spcPts val="0"/>
              </a:spcBef>
              <a:spcAft>
                <a:spcPts val="0"/>
              </a:spcAft>
              <a:buNone/>
            </a:pPr>
            <a:r>
              <a:rPr lang="en-US"/>
              <a:t>• ② Treffsicherheit ±3,8 %</a:t>
            </a:r>
            <a:endParaRPr/>
          </a:p>
          <a:p>
            <a:pPr indent="0" lvl="0" marL="0" rtl="0" algn="l">
              <a:spcBef>
                <a:spcPts val="0"/>
              </a:spcBef>
              <a:spcAft>
                <a:spcPts val="0"/>
              </a:spcAft>
              <a:buNone/>
            </a:pPr>
            <a:r>
              <a:rPr lang="en-US"/>
              <a:t>• ③ grün/orange</a:t>
            </a:r>
            <a:endParaRPr/>
          </a:p>
          <a:p>
            <a:pPr indent="0" lvl="0" marL="0" rtl="0" algn="l">
              <a:spcBef>
                <a:spcPts val="0"/>
              </a:spcBef>
              <a:spcAft>
                <a:spcPts val="0"/>
              </a:spcAft>
              <a:buNone/>
            </a:pPr>
            <a:r>
              <a:rPr lang="en-US"/>
              <a:t>• Link nur bei Bedarf</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SPRECHTEXT</a:t>
            </a:r>
            <a:endParaRPr/>
          </a:p>
          <a:p>
            <a:pPr indent="0" lvl="0" marL="0" rtl="0" algn="l">
              <a:spcBef>
                <a:spcPts val="0"/>
              </a:spcBef>
              <a:spcAft>
                <a:spcPts val="0"/>
              </a:spcAft>
              <a:buNone/>
            </a:pPr>
            <a:r>
              <a:rPr lang="en-US"/>
              <a:t>Ein Modell allein nützt der Fachabteilung wenig. Deshalb habe ich das Verbrauchs-Cockpit gebaut, geordnet nach den</a:t>
            </a:r>
            <a:endParaRPr/>
          </a:p>
          <a:p>
            <a:pPr indent="0" lvl="0" marL="0" rtl="0" algn="l">
              <a:spcBef>
                <a:spcPts val="0"/>
              </a:spcBef>
              <a:spcAft>
                <a:spcPts val="0"/>
              </a:spcAft>
              <a:buNone/>
            </a:pPr>
            <a:r>
              <a:rPr lang="en-US"/>
              <a:t>User Stories. Links wählt man die Rolle, hier die Beschaffung.</a:t>
            </a:r>
            <a:endParaRPr/>
          </a:p>
          <a:p>
            <a:pPr indent="0" lvl="0" marL="0" rtl="0" algn="l">
              <a:spcBef>
                <a:spcPts val="0"/>
              </a:spcBef>
              <a:spcAft>
                <a:spcPts val="0"/>
              </a:spcAft>
              <a:buNone/>
            </a:pPr>
            <a:r>
              <a:rPr lang="en-US"/>
              <a:t>Oben steht die Menge für den nächsten Monat, für Dezember 2025 rund 17,3 Millionen Kilowattstunden, mit einer Spanne.</a:t>
            </a:r>
            <a:endParaRPr/>
          </a:p>
          <a:p>
            <a:pPr indent="0" lvl="0" marL="0" rtl="0" algn="l">
              <a:spcBef>
                <a:spcPts val="0"/>
              </a:spcBef>
              <a:spcAft>
                <a:spcPts val="0"/>
              </a:spcAft>
              <a:buNone/>
            </a:pPr>
            <a:r>
              <a:rPr lang="en-US"/>
              <a:t>Daneben die bisherige Treffsicherheit: Im Gesamtportfolio lag die Prognose 2025 im Schnitt 3,8 Prozent neben dem Ist.</a:t>
            </a:r>
            <a:endParaRPr/>
          </a:p>
          <a:p>
            <a:pPr indent="0" lvl="0" marL="0" rtl="0" algn="l">
              <a:spcBef>
                <a:spcPts val="0"/>
              </a:spcBef>
              <a:spcAft>
                <a:spcPts val="0"/>
              </a:spcAft>
              <a:buNone/>
            </a:pPr>
            <a:r>
              <a:rPr lang="en-US"/>
              <a:t>Im Verlauf sieht man sofort, welche Monate getroffen wurden: grün heißt innerhalb von 5 Prozent, orange daneben.</a:t>
            </a:r>
            <a:endParaRPr/>
          </a:p>
          <a:p>
            <a:pPr indent="0" lvl="0" marL="0" rtl="0" algn="l">
              <a:spcBef>
                <a:spcPts val="0"/>
              </a:spcBef>
              <a:spcAft>
                <a:spcPts val="0"/>
              </a:spcAft>
              <a:buNone/>
            </a:pPr>
            <a:r>
              <a:rPr lang="en-US"/>
              <a:t>Darunter folgt der Beschaffungsplan je Branche mit dem Vergleich zu Vormonat und Vorjahr, also genau die Form, in der die Beschaffung plant.</a:t>
            </a:r>
            <a:endParaRPr/>
          </a:p>
          <a:p>
            <a:pPr indent="0" lvl="0" marL="0" rtl="0" algn="l">
              <a:spcBef>
                <a:spcPts val="0"/>
              </a:spcBef>
              <a:spcAft>
                <a:spcPts val="0"/>
              </a:spcAft>
              <a:buNone/>
            </a:pPr>
            <a:r>
              <a:rPr lang="en-US"/>
              <a:t>Das Cockpit rechnet nichts neu. Es zeigt die exportierten Modellergebnisse, also genau die Zahlen, die ich eben genannt habe.</a:t>
            </a:r>
            <a:endParaRPr/>
          </a:p>
          <a:p>
            <a:pPr indent="0" lvl="0" marL="0" rtl="0" algn="l">
              <a:spcBef>
                <a:spcPts val="0"/>
              </a:spcBef>
              <a:spcAft>
                <a:spcPts val="0"/>
              </a:spcAft>
              <a:buNone/>
            </a:pPr>
            <a:r>
              <a:rPr lang="en-US"/>
              <a:t>Wird das Modell neu trainiert, genügt ein neuer Export, und die Ansicht ist aktuell.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QUELLE</a:t>
            </a:r>
            <a:endParaRPr/>
          </a:p>
          <a:p>
            <a:pPr indent="0" lvl="0" marL="0" rtl="0" algn="l">
              <a:spcBef>
                <a:spcPts val="0"/>
              </a:spcBef>
              <a:spcAft>
                <a:spcPts val="0"/>
              </a:spcAft>
              <a:buNone/>
            </a:pPr>
            <a:r>
              <a:rPr lang="en-US"/>
              <a:t>Screenshot: brand/design-system/ui_kits/verbrauchs-cockpit/index.html (Ansicht Verbrauchsprognose, Monat 12/2025, Datenstand 31.12.2025).</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FALLS GEFRAGT WIRD</a:t>
            </a:r>
            <a:endParaRPr/>
          </a:p>
          <a:p>
            <a:pPr indent="0" lvl="0" marL="0" rtl="0" algn="l">
              <a:spcBef>
                <a:spcPts val="0"/>
              </a:spcBef>
              <a:spcAft>
                <a:spcPts val="0"/>
              </a:spcAft>
              <a:buNone/>
            </a:pPr>
            <a:r>
              <a:rPr lang="en-US"/>
              <a:t>• Link-Button öffnet die lokale index.html (Doppelklick genügt, kein Server nötig). Rückfall: Datei im Finder öffnen: brand/design-system/ui_kits/verbrauchs-cockpit/index.html.</a:t>
            </a:r>
            <a:endParaRPr/>
          </a:p>
          <a:p>
            <a:pPr indent="0" lvl="0" marL="0" rtl="0" algn="l">
              <a:spcBef>
                <a:spcPts val="0"/>
              </a:spcBef>
              <a:spcAft>
                <a:spcPts val="0"/>
              </a:spcAft>
              <a:buNone/>
            </a:pPr>
            <a:r>
              <a:rPr lang="en-US"/>
              <a:t>• Die Spanne ± 3,8 % ist die mittlere Monatsabweichung 01–11/2025 im Gesamtportfolio.</a:t>
            </a:r>
            <a:endParaRPr/>
          </a:p>
          <a:p>
            <a:pPr indent="0" lvl="0" marL="0" rtl="0" algn="l">
              <a:spcBef>
                <a:spcPts val="0"/>
              </a:spcBef>
              <a:spcAft>
                <a:spcPts val="0"/>
              </a:spcAft>
              <a:buNone/>
            </a:pPr>
            <a:r>
              <a:rPr lang="en-US"/>
              <a:t>• Retrospektiver Prototyp mit Projektdaten, keine produktive Anbindung; aus Datenschutzgründen nicht veröffentlicht.</a:t>
            </a:r>
            <a:endParaRPr/>
          </a:p>
        </p:txBody>
      </p:sp>
      <p:sp>
        <p:nvSpPr>
          <p:cNvPr id="572" name="Google Shape;572;h3fbf580b30600811_1_6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h3fbf580b30600811_1_86:notes"/>
          <p:cNvSpPr/>
          <p:nvPr>
            <p:ph idx="2" type="sldImg"/>
          </p:nvPr>
        </p:nvSpPr>
        <p:spPr>
          <a:xfrm>
            <a:off x="-15"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3" name="Google Shape;593;h3fbf580b30600811_1_8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STICHWORTE</a:t>
            </a:r>
            <a:endParaRPr/>
          </a:p>
          <a:p>
            <a:pPr indent="0" lvl="0" marL="0" rtl="0" algn="l">
              <a:spcBef>
                <a:spcPts val="0"/>
              </a:spcBef>
              <a:spcAft>
                <a:spcPts val="0"/>
              </a:spcAft>
              <a:buNone/>
            </a:pPr>
            <a:r>
              <a:rPr lang="en-US"/>
              <a:t>• Rolle Netzmanagement</a:t>
            </a:r>
            <a:endParaRPr/>
          </a:p>
          <a:p>
            <a:pPr indent="0" lvl="0" marL="0" rtl="0" algn="l">
              <a:spcBef>
                <a:spcPts val="0"/>
              </a:spcBef>
              <a:spcAft>
                <a:spcPts val="0"/>
              </a:spcAft>
              <a:buNone/>
            </a:pPr>
            <a:r>
              <a:rPr lang="en-US"/>
              <a:t>• ① 10 Fälle im Dezember, Ø 9,5/Monat</a:t>
            </a:r>
            <a:endParaRPr/>
          </a:p>
          <a:p>
            <a:pPr indent="0" lvl="0" marL="0" rtl="0" algn="l">
              <a:spcBef>
                <a:spcPts val="0"/>
              </a:spcBef>
              <a:spcAft>
                <a:spcPts val="0"/>
              </a:spcAft>
              <a:buNone/>
            </a:pPr>
            <a:r>
              <a:rPr lang="en-US"/>
              <a:t>• ② sortiert</a:t>
            </a:r>
            <a:endParaRPr/>
          </a:p>
          <a:p>
            <a:pPr indent="0" lvl="0" marL="0" rtl="0" algn="l">
              <a:spcBef>
                <a:spcPts val="0"/>
              </a:spcBef>
              <a:spcAft>
                <a:spcPts val="0"/>
              </a:spcAft>
              <a:buNone/>
            </a:pPr>
            <a:r>
              <a:rPr lang="en-US"/>
              <a:t>• ③ Einordnung</a:t>
            </a:r>
            <a:endParaRPr/>
          </a:p>
          <a:p>
            <a:pPr indent="0" lvl="0" marL="0" rtl="0" algn="l">
              <a:spcBef>
                <a:spcPts val="0"/>
              </a:spcBef>
              <a:spcAft>
                <a:spcPts val="0"/>
              </a:spcAft>
              <a:buNone/>
            </a:pPr>
            <a:r>
              <a:rPr lang="en-US"/>
              <a:t>• Prüfhinweis ≠ Defekt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SPRECHTEXT</a:t>
            </a:r>
            <a:endParaRPr/>
          </a:p>
          <a:p>
            <a:pPr indent="0" lvl="0" marL="0" rtl="0" algn="l">
              <a:spcBef>
                <a:spcPts val="0"/>
              </a:spcBef>
              <a:spcAft>
                <a:spcPts val="0"/>
              </a:spcAft>
              <a:buNone/>
            </a:pPr>
            <a:r>
              <a:rPr lang="en-US"/>
              <a:t>Wechseln wir die Rolle zum Netzmanagement. Nach jedem Monatsabschluss erscheint hier eine Prüfliste,</a:t>
            </a:r>
            <a:endParaRPr/>
          </a:p>
          <a:p>
            <a:pPr indent="0" lvl="0" marL="0" rtl="0" algn="l">
              <a:spcBef>
                <a:spcPts val="0"/>
              </a:spcBef>
              <a:spcAft>
                <a:spcPts val="0"/>
              </a:spcAft>
              <a:buNone/>
            </a:pPr>
            <a:r>
              <a:rPr lang="en-US"/>
              <a:t>im Dezember 2025 mit zehn Fällen. Über das ganze Jahr waren es 114 Hinweise, im Schnitt 9,5 pro Monat,</a:t>
            </a:r>
            <a:endParaRPr/>
          </a:p>
          <a:p>
            <a:pPr indent="0" lvl="0" marL="0" rtl="0" algn="l">
              <a:spcBef>
                <a:spcPts val="0"/>
              </a:spcBef>
              <a:spcAft>
                <a:spcPts val="0"/>
              </a:spcAft>
              <a:buNone/>
            </a:pPr>
            <a:r>
              <a:rPr lang="en-US"/>
              <a:t>also etwa zwei pro Woche. Das ist eine Menge, die ein Team tatsächlich abarbeiten kann.</a:t>
            </a:r>
            <a:endParaRPr/>
          </a:p>
          <a:p>
            <a:pPr indent="0" lvl="0" marL="0" rtl="0" algn="l">
              <a:spcBef>
                <a:spcPts val="0"/>
              </a:spcBef>
              <a:spcAft>
                <a:spcPts val="0"/>
              </a:spcAft>
              <a:buNone/>
            </a:pPr>
            <a:r>
              <a:rPr lang="en-US"/>
              <a:t>Die Liste ist nach Dringlichkeit sortiert und zeigt erwarteten und gemessenen Verbrauch nebeneinander.</a:t>
            </a:r>
            <a:endParaRPr/>
          </a:p>
          <a:p>
            <a:pPr indent="0" lvl="0" marL="0" rtl="0" algn="l">
              <a:spcBef>
                <a:spcPts val="0"/>
              </a:spcBef>
              <a:spcAft>
                <a:spcPts val="0"/>
              </a:spcAft>
              <a:buNone/>
            </a:pPr>
            <a:r>
              <a:rPr lang="en-US"/>
              <a:t>Rechts steht die Einordnung: mehr oder weniger Verbrauch als erwartet, und ob ein Zähler wiederholt auffällt.</a:t>
            </a:r>
            <a:endParaRPr/>
          </a:p>
          <a:p>
            <a:pPr indent="0" lvl="0" marL="0" rtl="0" algn="l">
              <a:spcBef>
                <a:spcPts val="0"/>
              </a:spcBef>
              <a:spcAft>
                <a:spcPts val="0"/>
              </a:spcAft>
              <a:buNone/>
            </a:pPr>
            <a:r>
              <a:rPr lang="en-US"/>
              <a:t>Mit einem Klick auf Prüfen öffnet sich der einzelne Fall mit Verlauf und Kontext.</a:t>
            </a:r>
            <a:endParaRPr/>
          </a:p>
          <a:p>
            <a:pPr indent="0" lvl="0" marL="0" rtl="0" algn="l">
              <a:spcBef>
                <a:spcPts val="0"/>
              </a:spcBef>
              <a:spcAft>
                <a:spcPts val="0"/>
              </a:spcAft>
              <a:buNone/>
            </a:pPr>
            <a:r>
              <a:rPr lang="en-US"/>
              <a:t>Wichtig: Ein Prüfhinweis ist kein bestätigter Defekt, sondern ein Grund, genauer hinzusehen.</a:t>
            </a:r>
            <a:endParaRPr/>
          </a:p>
          <a:p>
            <a:pPr indent="0" lvl="0" marL="0" rtl="0" algn="l">
              <a:spcBef>
                <a:spcPts val="0"/>
              </a:spcBef>
              <a:spcAft>
                <a:spcPts val="0"/>
              </a:spcAft>
              <a:buNone/>
            </a:pPr>
            <a:r>
              <a:rPr lang="en-US"/>
              <a:t>Die Ursache kann ein Messfehler sein, eine Produktionsänderung beim Kunden oder schlicht ein Fehler des Modells. Das klärt die Fachabteilung.</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QUELLE</a:t>
            </a:r>
            <a:endParaRPr/>
          </a:p>
          <a:p>
            <a:pPr indent="0" lvl="0" marL="0" rtl="0" algn="l">
              <a:spcBef>
                <a:spcPts val="0"/>
              </a:spcBef>
              <a:spcAft>
                <a:spcPts val="0"/>
              </a:spcAft>
              <a:buNone/>
            </a:pPr>
            <a:r>
              <a:rPr lang="en-US"/>
              <a:t>Screenshot: Verbrauchs-Cockpit, Ansicht Prüfhinweise, Monat 12/2025; forecast-data.json: rows (anomalie), threshold.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FALLS GEFRAGT WIRD</a:t>
            </a:r>
            <a:endParaRPr/>
          </a:p>
          <a:p>
            <a:pPr indent="0" lvl="0" marL="0" rtl="0" algn="l">
              <a:spcBef>
                <a:spcPts val="0"/>
              </a:spcBef>
              <a:spcAft>
                <a:spcPts val="0"/>
              </a:spcAft>
              <a:buNone/>
            </a:pPr>
            <a:r>
              <a:rPr lang="en-US"/>
              <a:t>• Schwelle: 99. Perzentil der Prognosefehler aus 11–12/2024 = 144,3 Vollaststunden, für 2025 eingefroren.</a:t>
            </a:r>
            <a:endParaRPr/>
          </a:p>
          <a:p>
            <a:pPr indent="0" lvl="0" marL="0" rtl="0" algn="l">
              <a:spcBef>
                <a:spcPts val="0"/>
              </a:spcBef>
              <a:spcAft>
                <a:spcPts val="0"/>
              </a:spcAft>
              <a:buNone/>
            </a:pPr>
            <a:r>
              <a:rPr lang="en-US"/>
              <a:t>• 114 Hinweise betreffen 107 Zähler von 700; 68 Mehr-, 46 Minderverbrauch.</a:t>
            </a:r>
            <a:endParaRPr/>
          </a:p>
          <a:p>
            <a:pPr indent="0" lvl="0" marL="0" rtl="0" algn="l">
              <a:spcBef>
                <a:spcPts val="0"/>
              </a:spcBef>
              <a:spcAft>
                <a:spcPts val="0"/>
              </a:spcAft>
              <a:buNone/>
            </a:pPr>
            <a:r>
              <a:rPr lang="en-US"/>
              <a:t>• Einzelfall zeigen: Backup B3 (Prüffall ZL-00337).</a:t>
            </a:r>
            <a:endParaRPr/>
          </a:p>
        </p:txBody>
      </p:sp>
      <p:sp>
        <p:nvSpPr>
          <p:cNvPr id="594" name="Google Shape;594;h3fbf580b30600811_1_8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h3fbf580b30600811_1_107:notes"/>
          <p:cNvSpPr/>
          <p:nvPr>
            <p:ph idx="2" type="sldImg"/>
          </p:nvPr>
        </p:nvSpPr>
        <p:spPr>
          <a:xfrm>
            <a:off x="-15"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5" name="Google Shape;615;h3fbf580b30600811_1_10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STICHWORTE</a:t>
            </a:r>
            <a:endParaRPr/>
          </a:p>
          <a:p>
            <a:pPr indent="0" lvl="0" marL="0" rtl="0" algn="l">
              <a:spcBef>
                <a:spcPts val="0"/>
              </a:spcBef>
              <a:spcAft>
                <a:spcPts val="0"/>
              </a:spcAft>
              <a:buNone/>
            </a:pPr>
            <a:r>
              <a:rPr lang="en-US"/>
              <a:t>• Portfolio ±4,2 % statt ±9,0 %</a:t>
            </a:r>
            <a:endParaRPr/>
          </a:p>
          <a:p>
            <a:pPr indent="0" lvl="0" marL="0" rtl="0" algn="l">
              <a:spcBef>
                <a:spcPts val="0"/>
              </a:spcBef>
              <a:spcAft>
                <a:spcPts val="0"/>
              </a:spcAft>
              <a:buNone/>
            </a:pPr>
            <a:r>
              <a:rPr lang="en-US"/>
              <a:t>• −24 % absolute Fehler</a:t>
            </a:r>
            <a:endParaRPr/>
          </a:p>
          <a:p>
            <a:pPr indent="0" lvl="0" marL="0" rtl="0" algn="l">
              <a:spcBef>
                <a:spcPts val="0"/>
              </a:spcBef>
              <a:spcAft>
                <a:spcPts val="0"/>
              </a:spcAft>
              <a:buNone/>
            </a:pPr>
            <a:r>
              <a:rPr lang="en-US"/>
              <a:t>• 9,5 Fälle/Monat statt Quartal</a:t>
            </a:r>
            <a:endParaRPr/>
          </a:p>
          <a:p>
            <a:pPr indent="0" lvl="0" marL="0" rtl="0" algn="l">
              <a:spcBef>
                <a:spcPts val="0"/>
              </a:spcBef>
              <a:spcAft>
                <a:spcPts val="0"/>
              </a:spcAft>
              <a:buNone/>
            </a:pPr>
            <a:r>
              <a:rPr lang="en-US"/>
              <a:t>• ehrlich: noch kein Euro</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SPRECHTEXT</a:t>
            </a:r>
            <a:endParaRPr/>
          </a:p>
          <a:p>
            <a:pPr indent="0" lvl="0" marL="0" rtl="0" algn="l">
              <a:spcBef>
                <a:spcPts val="0"/>
              </a:spcBef>
              <a:spcAft>
                <a:spcPts val="0"/>
              </a:spcAft>
              <a:buNone/>
            </a:pPr>
            <a:r>
              <a:rPr lang="en-US"/>
              <a:t>Was heißt das in Zahlen für SWW? Für die Beschaffung zählt die Summe über alle Zähler.</a:t>
            </a:r>
            <a:endParaRPr/>
          </a:p>
          <a:p>
            <a:pPr indent="0" lvl="0" marL="0" rtl="0" algn="l">
              <a:spcBef>
                <a:spcPts val="0"/>
              </a:spcBef>
              <a:spcAft>
                <a:spcPts val="0"/>
              </a:spcAft>
              <a:buNone/>
            </a:pPr>
            <a:r>
              <a:rPr lang="en-US"/>
              <a:t>Über das Gesamtportfolio lag die Prognose 2025 im Schnitt 4,2 Prozent neben dem Ist,</a:t>
            </a:r>
            <a:endParaRPr/>
          </a:p>
          <a:p>
            <a:pPr indent="0" lvl="0" marL="0" rtl="0" algn="l">
              <a:spcBef>
                <a:spcPts val="0"/>
              </a:spcBef>
              <a:spcAft>
                <a:spcPts val="0"/>
              </a:spcAft>
              <a:buNone/>
            </a:pPr>
            <a:r>
              <a:rPr lang="en-US"/>
              <a:t>die einfache Fortschreibung 9,0 Prozent. Die Abweichung hat sich also mehr als halbiert. [Pause]</a:t>
            </a:r>
            <a:endParaRPr/>
          </a:p>
          <a:p>
            <a:pPr indent="0" lvl="0" marL="0" rtl="0" algn="l">
              <a:spcBef>
                <a:spcPts val="0"/>
              </a:spcBef>
              <a:spcAft>
                <a:spcPts val="0"/>
              </a:spcAft>
              <a:buNone/>
            </a:pPr>
            <a:r>
              <a:rPr lang="en-US"/>
              <a:t>Je Zähler summiert sinken die absoluten Planungsfehler um rund ein Viertel, von 41,4 auf 31,3 Gigawattstunden.</a:t>
            </a:r>
            <a:endParaRPr/>
          </a:p>
          <a:p>
            <a:pPr indent="0" lvl="0" marL="0" rtl="0" algn="l">
              <a:spcBef>
                <a:spcPts val="0"/>
              </a:spcBef>
              <a:spcAft>
                <a:spcPts val="0"/>
              </a:spcAft>
              <a:buNone/>
            </a:pPr>
            <a:r>
              <a:rPr lang="en-US"/>
              <a:t>Für das Netzmanagement: Auffälligkeiten kommen jeden Monat, nicht erst im Quartal, bei einem Aufwand von 9,5 Fällen.</a:t>
            </a:r>
            <a:endParaRPr/>
          </a:p>
          <a:p>
            <a:pPr indent="0" lvl="0" marL="0" rtl="0" algn="l">
              <a:spcBef>
                <a:spcPts val="0"/>
              </a:spcBef>
              <a:spcAft>
                <a:spcPts val="0"/>
              </a:spcAft>
              <a:buNone/>
            </a:pPr>
            <a:r>
              <a:rPr lang="en-US"/>
              <a:t>Einen Euro-Betrag nennen wir bewusst nicht, weil Preise, Prüfkosten und bestätigte Befunde fehlen.</a:t>
            </a:r>
            <a:endParaRPr/>
          </a:p>
          <a:p>
            <a:pPr indent="0" lvl="0" marL="0" rtl="0" algn="l">
              <a:spcBef>
                <a:spcPts val="0"/>
              </a:spcBef>
              <a:spcAft>
                <a:spcPts val="0"/>
              </a:spcAft>
              <a:buNone/>
            </a:pPr>
            <a:r>
              <a:rPr lang="en-US"/>
              <a:t>Wir hätten eine Zahl schätzen können, aber sie wäre nicht belegt. Stattdessen zeigen wir, welche Daten man für eine seriöse Euro-Rechnung braucht,</a:t>
            </a:r>
            <a:endParaRPr/>
          </a:p>
          <a:p>
            <a:pPr indent="0" lvl="0" marL="0" rtl="0" algn="l">
              <a:spcBef>
                <a:spcPts val="0"/>
              </a:spcBef>
              <a:spcAft>
                <a:spcPts val="0"/>
              </a:spcAft>
              <a:buNone/>
            </a:pPr>
            <a:r>
              <a:rPr lang="en-US"/>
              <a:t>und genau die soll der nächste Schritt liefern.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QUELLE</a:t>
            </a:r>
            <a:endParaRPr/>
          </a:p>
          <a:p>
            <a:pPr indent="0" lvl="0" marL="0" rtl="0" algn="l">
              <a:spcBef>
                <a:spcPts val="0"/>
              </a:spcBef>
              <a:spcAft>
                <a:spcPts val="0"/>
              </a:spcAft>
              <a:buNone/>
            </a:pPr>
            <a:r>
              <a:rPr lang="en-US"/>
              <a:t>Eigene Auswertung von forecast-data.json (rows: verbrauch_kwh, prognose_kwh, rolling_3_kwh = Baseline Ø bis zu 3 Vormonate); Portfolio = Monatssummen über alle Zähler, Ø der absoluten Monatsabweichung 01–12/2025. MAE-Senkung 24,4 %.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FALLS GEFRAGT WIRD</a:t>
            </a:r>
            <a:endParaRPr/>
          </a:p>
          <a:p>
            <a:pPr indent="0" lvl="0" marL="0" rtl="0" algn="l">
              <a:spcBef>
                <a:spcPts val="0"/>
              </a:spcBef>
              <a:spcAft>
                <a:spcPts val="0"/>
              </a:spcAft>
              <a:buNone/>
            </a:pPr>
            <a:r>
              <a:rPr lang="en-US"/>
              <a:t>• Innerhalb ± 5 % im Portfolio: Modell 8 von 12 Monaten, Fortschreibung 6 von 12.</a:t>
            </a:r>
            <a:endParaRPr/>
          </a:p>
          <a:p>
            <a:pPr indent="0" lvl="0" marL="0" rtl="0" algn="l">
              <a:spcBef>
                <a:spcPts val="0"/>
              </a:spcBef>
              <a:spcAft>
                <a:spcPts val="0"/>
              </a:spcAft>
              <a:buNone/>
            </a:pPr>
            <a:r>
              <a:rPr lang="en-US"/>
              <a:t>• Warum nicht in Euro? Ohne Spotmarktpreise und Ausgleichsmengen wäre jede Euro-Zahl erfunden; der Parallelbetrieb soll genau diese Daten liefern.</a:t>
            </a:r>
            <a:endParaRPr/>
          </a:p>
          <a:p>
            <a:pPr indent="0" lvl="0" marL="0" rtl="0" algn="l">
              <a:spcBef>
                <a:spcPts val="0"/>
              </a:spcBef>
              <a:spcAft>
                <a:spcPts val="0"/>
              </a:spcAft>
              <a:buNone/>
            </a:pPr>
            <a:r>
              <a:rPr lang="en-US"/>
              <a:t>• Die Portfolio-Abweichung ist nicht gleich der Spotmarktmenge; sie zeigt die Richtung der Wirkung.</a:t>
            </a:r>
            <a:endParaRPr/>
          </a:p>
        </p:txBody>
      </p:sp>
      <p:sp>
        <p:nvSpPr>
          <p:cNvPr id="616" name="Google Shape;616;h3fbf580b30600811_1_10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h3fbf580b30600811_1_132:notes"/>
          <p:cNvSpPr/>
          <p:nvPr>
            <p:ph idx="2" type="sldImg"/>
          </p:nvPr>
        </p:nvSpPr>
        <p:spPr>
          <a:xfrm>
            <a:off x="-15"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1" name="Google Shape;641;h3fbf580b30600811_1_13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STICHWORTE</a:t>
            </a:r>
            <a:endParaRPr/>
          </a:p>
          <a:p>
            <a:pPr indent="0" lvl="0" marL="0" rtl="0" algn="l">
              <a:spcBef>
                <a:spcPts val="0"/>
              </a:spcBef>
              <a:spcAft>
                <a:spcPts val="0"/>
              </a:spcAft>
              <a:buNone/>
            </a:pPr>
            <a:r>
              <a:rPr lang="en-US"/>
              <a:t>• E1 Beschaffung: Industrie zuerst, −16 %</a:t>
            </a:r>
            <a:endParaRPr/>
          </a:p>
          <a:p>
            <a:pPr indent="0" lvl="0" marL="0" rtl="0" algn="l">
              <a:spcBef>
                <a:spcPts val="0"/>
              </a:spcBef>
              <a:spcAft>
                <a:spcPts val="0"/>
              </a:spcAft>
              <a:buNone/>
            </a:pPr>
            <a:r>
              <a:rPr lang="en-US"/>
              <a:t>• Voraussetzung Plandaten</a:t>
            </a:r>
            <a:endParaRPr/>
          </a:p>
          <a:p>
            <a:pPr indent="0" lvl="0" marL="0" rtl="0" algn="l">
              <a:spcBef>
                <a:spcPts val="0"/>
              </a:spcBef>
              <a:spcAft>
                <a:spcPts val="0"/>
              </a:spcAft>
              <a:buNone/>
            </a:pPr>
            <a:r>
              <a:rPr lang="en-US"/>
              <a:t>• E2 Netzmanagement: monatlich prüfen + dokumentieren</a:t>
            </a:r>
            <a:endParaRPr/>
          </a:p>
          <a:p>
            <a:pPr indent="0" lvl="0" marL="0" rtl="0" algn="l">
              <a:spcBef>
                <a:spcPts val="0"/>
              </a:spcBef>
              <a:spcAft>
                <a:spcPts val="0"/>
              </a:spcAft>
              <a:buNone/>
            </a:pPr>
            <a:r>
              <a:rPr lang="en-US"/>
              <a:t>• Mensch entscheidet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SPRECHTEXT</a:t>
            </a:r>
            <a:endParaRPr/>
          </a:p>
          <a:p>
            <a:pPr indent="0" lvl="0" marL="0" rtl="0" algn="l">
              <a:spcBef>
                <a:spcPts val="0"/>
              </a:spcBef>
              <a:spcAft>
                <a:spcPts val="0"/>
              </a:spcAft>
              <a:buNone/>
            </a:pPr>
            <a:r>
              <a:rPr lang="en-US"/>
              <a:t>Daraus leiten wir zwei Empfehlungen ab.</a:t>
            </a:r>
            <a:endParaRPr/>
          </a:p>
          <a:p>
            <a:pPr indent="0" lvl="0" marL="0" rtl="0" algn="l">
              <a:spcBef>
                <a:spcPts val="0"/>
              </a:spcBef>
              <a:spcAft>
                <a:spcPts val="0"/>
              </a:spcAft>
              <a:buNone/>
            </a:pPr>
            <a:r>
              <a:rPr lang="en-US"/>
              <a:t>Erstens: Die Prognose sollte monatlich in die Beschaffungsplanung übernommen werden, und zwar zuerst für die Industriekunden.</a:t>
            </a:r>
            <a:endParaRPr/>
          </a:p>
          <a:p>
            <a:pPr indent="0" lvl="0" marL="0" rtl="0" algn="l">
              <a:spcBef>
                <a:spcPts val="0"/>
              </a:spcBef>
              <a:spcAft>
                <a:spcPts val="0"/>
              </a:spcAft>
              <a:buNone/>
            </a:pPr>
            <a:r>
              <a:rPr lang="en-US"/>
              <a:t>Sie machen nur ein knappes Drittel der Zähler aus, verursachen aber 68 Prozent des Verbrauchs.</a:t>
            </a:r>
            <a:endParaRPr/>
          </a:p>
          <a:p>
            <a:pPr indent="0" lvl="0" marL="0" rtl="0" algn="l">
              <a:spcBef>
                <a:spcPts val="0"/>
              </a:spcBef>
              <a:spcAft>
                <a:spcPts val="0"/>
              </a:spcAft>
              <a:buNone/>
            </a:pPr>
            <a:r>
              <a:rPr lang="en-US"/>
              <a:t>Dort sinkt der Fehler je Zähler um rund 16 Prozent, und dort wirkt jede eingesparte Kilowattstunde Ausgleich am stärksten.</a:t>
            </a:r>
            <a:endParaRPr/>
          </a:p>
          <a:p>
            <a:pPr indent="0" lvl="0" marL="0" rtl="0" algn="l">
              <a:spcBef>
                <a:spcPts val="0"/>
              </a:spcBef>
              <a:spcAft>
                <a:spcPts val="0"/>
              </a:spcAft>
              <a:buNone/>
            </a:pPr>
            <a:r>
              <a:rPr lang="en-US"/>
              <a:t>Voraussetzung sind Produktionspläne und Wartungstermine vor Monatsbeginn, denn das sind unsere Treiber zwei und drei.</a:t>
            </a:r>
            <a:endParaRPr/>
          </a:p>
          <a:p>
            <a:pPr indent="0" lvl="0" marL="0" rtl="0" algn="l">
              <a:spcBef>
                <a:spcPts val="0"/>
              </a:spcBef>
              <a:spcAft>
                <a:spcPts val="0"/>
              </a:spcAft>
              <a:buNone/>
            </a:pPr>
            <a:r>
              <a:rPr lang="en-US"/>
              <a:t>Zweitens: Das Netzmanagement sollte die Prüfliste jeden Monat abarbeiten und jedes Ergebnis festhalten.</a:t>
            </a:r>
            <a:endParaRPr/>
          </a:p>
          <a:p>
            <a:pPr indent="0" lvl="0" marL="0" rtl="0" algn="l">
              <a:spcBef>
                <a:spcPts val="0"/>
              </a:spcBef>
              <a:spcAft>
                <a:spcPts val="0"/>
              </a:spcAft>
              <a:buNone/>
            </a:pPr>
            <a:r>
              <a:rPr lang="en-US"/>
              <a:t>Knapp zehn Fälle im Monat sind planbar. Auffälligkeiten werden nach einem statt nach bis zu drei Monaten sichtbar.</a:t>
            </a:r>
            <a:endParaRPr/>
          </a:p>
          <a:p>
            <a:pPr indent="0" lvl="0" marL="0" rtl="0" algn="l">
              <a:spcBef>
                <a:spcPts val="0"/>
              </a:spcBef>
              <a:spcAft>
                <a:spcPts val="0"/>
              </a:spcAft>
              <a:buNone/>
            </a:pPr>
            <a:r>
              <a:rPr lang="en-US"/>
              <a:t>Und weil jedes Ergebnis dokumentiert wird, können wir zum ersten Mal messen, wie oft ein Hinweis stimmt.</a:t>
            </a:r>
            <a:endParaRPr/>
          </a:p>
          <a:p>
            <a:pPr indent="0" lvl="0" marL="0" rtl="0" algn="l">
              <a:spcBef>
                <a:spcPts val="0"/>
              </a:spcBef>
              <a:spcAft>
                <a:spcPts val="0"/>
              </a:spcAft>
              <a:buNone/>
            </a:pPr>
            <a:r>
              <a:rPr lang="en-US"/>
              <a:t>Für beides gilt: Das Modell priorisiert, entscheiden tut die Fachabteilung.</a:t>
            </a:r>
            <a:endParaRPr/>
          </a:p>
          <a:p>
            <a:pPr indent="0" lvl="0" marL="0" rtl="0" algn="l">
              <a:spcBef>
                <a:spcPts val="0"/>
              </a:spcBef>
              <a:spcAft>
                <a:spcPts val="0"/>
              </a:spcAft>
              <a:buNone/>
            </a:pPr>
            <a:r>
              <a:rPr lang="en-US"/>
              <a:t>Beide Empfehlungen setzen dort an, wo heute der Schmerz liegt: teure Ausgleichsmengen in der Beschaffung und späte Befunde im Netzmanagement.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QUELLE</a:t>
            </a:r>
            <a:endParaRPr/>
          </a:p>
          <a:p>
            <a:pPr indent="0" lvl="0" marL="0" rtl="0" algn="l">
              <a:spcBef>
                <a:spcPts val="0"/>
              </a:spcBef>
              <a:spcAft>
                <a:spcPts val="0"/>
              </a:spcAft>
              <a:buNone/>
            </a:pPr>
            <a:r>
              <a:rPr lang="en-US"/>
              <a:t>Eigene Herleitung aus forecast-data.json (Anteile und RMSE je Kundentyp 2025), Bericht 1.2 (Quartalsauswertung), 4.4.2 (fehlende Labels), EDA 5.3/5.4.</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FALLS GEFRAGT WIRD</a:t>
            </a:r>
            <a:endParaRPr/>
          </a:p>
          <a:p>
            <a:pPr indent="0" lvl="0" marL="0" rtl="0" algn="l">
              <a:spcBef>
                <a:spcPts val="0"/>
              </a:spcBef>
              <a:spcAft>
                <a:spcPts val="0"/>
              </a:spcAft>
              <a:buNone/>
            </a:pPr>
            <a:r>
              <a:rPr lang="en-US"/>
              <a:t>• Industrie-RMSE 2025: Modell 15.305 kWh, Ø bis zu 3 Vormonate 18.278 kWh.</a:t>
            </a:r>
            <a:endParaRPr/>
          </a:p>
          <a:p>
            <a:pPr indent="0" lvl="0" marL="0" rtl="0" algn="l">
              <a:spcBef>
                <a:spcPts val="0"/>
              </a:spcBef>
              <a:spcAft>
                <a:spcPts val="0"/>
              </a:spcAft>
              <a:buNone/>
            </a:pPr>
            <a:r>
              <a:rPr lang="en-US"/>
              <a:t>• Warum nicht sofort alle Zähler? Die Industrie bringt den größten Hebel bei überschaubarer Zahl von Ansprechpartnern für Plandaten.</a:t>
            </a:r>
            <a:endParaRPr/>
          </a:p>
          <a:p>
            <a:pPr indent="0" lvl="0" marL="0" rtl="0" algn="l">
              <a:spcBef>
                <a:spcPts val="0"/>
              </a:spcBef>
              <a:spcAft>
                <a:spcPts val="0"/>
              </a:spcAft>
              <a:buNone/>
            </a:pPr>
            <a:r>
              <a:rPr lang="en-US"/>
              <a:t>• Schwelle q99 ist eine Pilotannahme für ein bearbeitbares Prüfvolumen; q95 hieße 33 Fälle je Monat.</a:t>
            </a:r>
            <a:endParaRPr/>
          </a:p>
        </p:txBody>
      </p:sp>
      <p:sp>
        <p:nvSpPr>
          <p:cNvPr id="642" name="Google Shape;642;h3fbf580b30600811_1_13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h3fbf580b30600811_1_152:notes"/>
          <p:cNvSpPr/>
          <p:nvPr>
            <p:ph idx="2" type="sldImg"/>
          </p:nvPr>
        </p:nvSpPr>
        <p:spPr>
          <a:xfrm>
            <a:off x="-15"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62" name="Google Shape;662;h3fbf580b30600811_1_15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STICHWORTE</a:t>
            </a:r>
            <a:endParaRPr/>
          </a:p>
          <a:p>
            <a:pPr indent="0" lvl="0" marL="0" rtl="0" algn="l">
              <a:spcBef>
                <a:spcPts val="0"/>
              </a:spcBef>
              <a:spcAft>
                <a:spcPts val="0"/>
              </a:spcAft>
              <a:buNone/>
            </a:pPr>
            <a:r>
              <a:rPr lang="en-US"/>
              <a:t>• 4 Schritte, je mit Verantwortlichen</a:t>
            </a:r>
            <a:endParaRPr/>
          </a:p>
          <a:p>
            <a:pPr indent="0" lvl="0" marL="0" rtl="0" algn="l">
              <a:spcBef>
                <a:spcPts val="0"/>
              </a:spcBef>
              <a:spcAft>
                <a:spcPts val="0"/>
              </a:spcAft>
              <a:buNone/>
            </a:pPr>
            <a:r>
              <a:rPr lang="en-US"/>
              <a:t>• Parallelbetrieb mit Kriterien</a:t>
            </a:r>
            <a:endParaRPr/>
          </a:p>
          <a:p>
            <a:pPr indent="0" lvl="0" marL="0" rtl="0" algn="l">
              <a:spcBef>
                <a:spcPts val="0"/>
              </a:spcBef>
              <a:spcAft>
                <a:spcPts val="0"/>
              </a:spcAft>
              <a:buNone/>
            </a:pPr>
            <a:r>
              <a:rPr lang="en-US"/>
              <a:t>• Ausblick: Klassifikation, Euro, Ausweitung</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SPRECHTEXT</a:t>
            </a:r>
            <a:endParaRPr/>
          </a:p>
          <a:p>
            <a:pPr indent="0" lvl="0" marL="0" rtl="0" algn="l">
              <a:spcBef>
                <a:spcPts val="0"/>
              </a:spcBef>
              <a:spcAft>
                <a:spcPts val="0"/>
              </a:spcAft>
              <a:buNone/>
            </a:pPr>
            <a:r>
              <a:rPr lang="en-US"/>
              <a:t>Wie kommen wir dahin? Wir schlagen vier Schritte vor.</a:t>
            </a:r>
            <a:endParaRPr/>
          </a:p>
          <a:p>
            <a:pPr indent="0" lvl="0" marL="0" rtl="0" algn="l">
              <a:spcBef>
                <a:spcPts val="0"/>
              </a:spcBef>
              <a:spcAft>
                <a:spcPts val="0"/>
              </a:spcAft>
              <a:buNone/>
            </a:pPr>
            <a:r>
              <a:rPr lang="en-US"/>
              <a:t>Erstens die Daten sichern: Die Bereinigung hat gezeigt, dass Einheiten und Datumsformate uneinheitlich geliefert werden.</a:t>
            </a:r>
            <a:endParaRPr/>
          </a:p>
          <a:p>
            <a:pPr indent="0" lvl="0" marL="0" rtl="0" algn="l">
              <a:spcBef>
                <a:spcPts val="0"/>
              </a:spcBef>
              <a:spcAft>
                <a:spcPts val="0"/>
              </a:spcAft>
              <a:buNone/>
            </a:pPr>
            <a:r>
              <a:rPr lang="en-US"/>
              <a:t>Das muss an der Quelle geregelt werden, und Produktionsplan und Wartung müssen vor Monatsbeginn vorliegen.</a:t>
            </a:r>
            <a:endParaRPr/>
          </a:p>
          <a:p>
            <a:pPr indent="0" lvl="0" marL="0" rtl="0" algn="l">
              <a:spcBef>
                <a:spcPts val="0"/>
              </a:spcBef>
              <a:spcAft>
                <a:spcPts val="0"/>
              </a:spcAft>
              <a:buNone/>
            </a:pPr>
            <a:r>
              <a:rPr lang="en-US"/>
              <a:t>Zweitens Rollen festlegen: Wer in Beschaffung und Netzmanagement ist verantwortlich, wie viel Prüfzeit steht pro Woche bereit,</a:t>
            </a:r>
            <a:endParaRPr/>
          </a:p>
          <a:p>
            <a:pPr indent="0" lvl="0" marL="0" rtl="0" algn="l">
              <a:spcBef>
                <a:spcPts val="0"/>
              </a:spcBef>
              <a:spcAft>
                <a:spcPts val="0"/>
              </a:spcAft>
              <a:buNone/>
            </a:pPr>
            <a:r>
              <a:rPr lang="en-US"/>
              <a:t>und wie wird das Cockpit datenschutzkonform betrieben?</a:t>
            </a:r>
            <a:endParaRPr/>
          </a:p>
          <a:p>
            <a:pPr indent="0" lvl="0" marL="0" rtl="0" algn="l">
              <a:spcBef>
                <a:spcPts val="0"/>
              </a:spcBef>
              <a:spcAft>
                <a:spcPts val="0"/>
              </a:spcAft>
              <a:buNone/>
            </a:pPr>
            <a:r>
              <a:rPr lang="en-US"/>
              <a:t>Drittens einige Monate parallel zur bisherigen Planung testen, mit Erfolgskriterien, die vorher feststehen:</a:t>
            </a:r>
            <a:endParaRPr/>
          </a:p>
          <a:p>
            <a:pPr indent="0" lvl="0" marL="0" rtl="0" algn="l">
              <a:spcBef>
                <a:spcPts val="0"/>
              </a:spcBef>
              <a:spcAft>
                <a:spcPts val="0"/>
              </a:spcAft>
              <a:buNone/>
            </a:pPr>
            <a:r>
              <a:rPr lang="en-US"/>
              <a:t>Fehler gegenüber der Fortschreibung, Anteil bestätigter Hinweise und Prüfzeit je Fall.</a:t>
            </a:r>
            <a:endParaRPr/>
          </a:p>
          <a:p>
            <a:pPr indent="0" lvl="0" marL="0" rtl="0" algn="l">
              <a:spcBef>
                <a:spcPts val="0"/>
              </a:spcBef>
              <a:spcAft>
                <a:spcPts val="0"/>
              </a:spcAft>
              <a:buNone/>
            </a:pPr>
            <a:r>
              <a:rPr lang="en-US"/>
              <a:t>Viertens übernehmen und überwachen: Fehler und Zahl der Hinweise werden monatlich beobachtet. Neu trainiert wird nur, wenn sich die Qualität</a:t>
            </a:r>
            <a:endParaRPr/>
          </a:p>
          <a:p>
            <a:pPr indent="0" lvl="0" marL="0" rtl="0" algn="l">
              <a:spcBef>
                <a:spcPts val="0"/>
              </a:spcBef>
              <a:spcAft>
                <a:spcPts val="0"/>
              </a:spcAft>
              <a:buNone/>
            </a:pPr>
            <a:r>
              <a:rPr lang="en-US"/>
              <a:t>nachweislich verschlechtert, damit das System stabil und nachvollziehbar bleibt.</a:t>
            </a:r>
            <a:endParaRPr/>
          </a:p>
          <a:p>
            <a:pPr indent="0" lvl="0" marL="0" rtl="0" algn="l">
              <a:spcBef>
                <a:spcPts val="0"/>
              </a:spcBef>
              <a:spcAft>
                <a:spcPts val="0"/>
              </a:spcAft>
              <a:buNone/>
            </a:pPr>
            <a:r>
              <a:rPr lang="en-US"/>
              <a:t>Und der Ausblick: Aus den dokumentierten Prüfergebnissen kann später eine Klassifikation entstehen, die Hinweise danach sortiert,</a:t>
            </a:r>
            <a:endParaRPr/>
          </a:p>
          <a:p>
            <a:pPr indent="0" lvl="0" marL="0" rtl="0" algn="l">
              <a:spcBef>
                <a:spcPts val="0"/>
              </a:spcBef>
              <a:spcAft>
                <a:spcPts val="0"/>
              </a:spcAft>
              <a:buNone/>
            </a:pPr>
            <a:r>
              <a:rPr lang="en-US"/>
              <a:t>wie wahrscheinlich sie sich bestätigen. Mit Preisen und Prüfkosten wird der Nutzen in Euro belegbar.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QUELLE</a:t>
            </a:r>
            <a:endParaRPr/>
          </a:p>
          <a:p>
            <a:pPr indent="0" lvl="0" marL="0" rtl="0" algn="l">
              <a:spcBef>
                <a:spcPts val="0"/>
              </a:spcBef>
              <a:spcAft>
                <a:spcPts val="0"/>
              </a:spcAft>
              <a:buNone/>
            </a:pPr>
            <a:r>
              <a:rPr lang="en-US"/>
              <a:t>Eigene Herleitung; Datenqualitätsbefunde aus Bericht 3.3.1 (672 MWh-Werte, 11.316 Monatsformate); Bericht 3.7 (Ausblick), 4.1.7 (Datenschutz), 4.4.2 (Labels).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FALLS GEFRAGT WIRD</a:t>
            </a:r>
            <a:endParaRPr/>
          </a:p>
          <a:p>
            <a:pPr indent="0" lvl="0" marL="0" rtl="0" algn="l">
              <a:spcBef>
                <a:spcPts val="0"/>
              </a:spcBef>
              <a:spcAft>
                <a:spcPts val="0"/>
              </a:spcAft>
              <a:buNone/>
            </a:pPr>
            <a:r>
              <a:rPr lang="en-US"/>
              <a:t>• Erfolgskriterien z. B.: Portfolio-Abweichung ≤ Fortschreibung in den meisten Monaten; Anteil bestätigter Hinweise; Prüfzeit je Fall.</a:t>
            </a:r>
            <a:endParaRPr/>
          </a:p>
          <a:p>
            <a:pPr indent="0" lvl="0" marL="0" rtl="0" algn="l">
              <a:spcBef>
                <a:spcPts val="0"/>
              </a:spcBef>
              <a:spcAft>
                <a:spcPts val="0"/>
              </a:spcAft>
              <a:buNone/>
            </a:pPr>
            <a:r>
              <a:rPr lang="en-US"/>
              <a:t>• Retraining nur bei dokumentiertem Bedarf, z. B. wenn der Fehler mehrere Monate über dem Pilotniveau liegt (Canvas-Feld Wartung).</a:t>
            </a:r>
            <a:endParaRPr/>
          </a:p>
        </p:txBody>
      </p:sp>
      <p:sp>
        <p:nvSpPr>
          <p:cNvPr id="663" name="Google Shape;663;h3fbf580b30600811_1_15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 name="Shape 693"/>
        <p:cNvGrpSpPr/>
        <p:nvPr/>
      </p:nvGrpSpPr>
      <p:grpSpPr>
        <a:xfrm>
          <a:off x="0" y="0"/>
          <a:ext cx="0" cy="0"/>
          <a:chOff x="0" y="0"/>
          <a:chExt cx="0" cy="0"/>
        </a:xfrm>
      </p:grpSpPr>
      <p:sp>
        <p:nvSpPr>
          <p:cNvPr id="694" name="Google Shape;694;h3fbf580b30600811_0_1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95" name="Google Shape;695;h3fbf580b30600811_0_1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US" sz="1100"/>
              <a:t>STICHWORTE</a:t>
            </a:r>
            <a:endParaRPr/>
          </a:p>
          <a:p>
            <a:pPr indent="-298450" lvl="0" marL="457200" rtl="0" algn="l">
              <a:lnSpc>
                <a:spcPct val="100000"/>
              </a:lnSpc>
              <a:spcBef>
                <a:spcPts val="0"/>
              </a:spcBef>
              <a:spcAft>
                <a:spcPts val="0"/>
              </a:spcAft>
              <a:buSzPts val="1100"/>
              <a:buChar char="●"/>
            </a:pPr>
            <a:r>
              <a:rPr lang="en-US" sz="1100"/>
              <a:t>• ein Satz Fazit</a:t>
            </a:r>
            <a:endParaRPr/>
          </a:p>
          <a:p>
            <a:pPr indent="-298450" lvl="0" marL="457200" rtl="0" algn="l">
              <a:lnSpc>
                <a:spcPct val="100000"/>
              </a:lnSpc>
              <a:spcBef>
                <a:spcPts val="0"/>
              </a:spcBef>
              <a:spcAft>
                <a:spcPts val="0"/>
              </a:spcAft>
              <a:buSzPts val="1100"/>
              <a:buChar char="●"/>
            </a:pPr>
            <a:r>
              <a:rPr lang="en-US" sz="1100"/>
              <a:t>• Antwort auf die Projektfrage</a:t>
            </a:r>
            <a:endParaRPr/>
          </a:p>
          <a:p>
            <a:pPr indent="-298450" lvl="0" marL="457200" rtl="0" algn="l">
              <a:lnSpc>
                <a:spcPct val="100000"/>
              </a:lnSpc>
              <a:spcBef>
                <a:spcPts val="0"/>
              </a:spcBef>
              <a:spcAft>
                <a:spcPts val="0"/>
              </a:spcAft>
              <a:buSzPts val="1100"/>
              <a:buChar char="●"/>
            </a:pPr>
            <a:r>
              <a:rPr lang="en-US" sz="1100"/>
              <a:t>• Dank</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US" sz="1100"/>
              <a:t>SPRECHTEXT</a:t>
            </a:r>
            <a:endParaRPr/>
          </a:p>
          <a:p>
            <a:pPr indent="-298450" lvl="0" marL="457200" rtl="0" algn="l">
              <a:lnSpc>
                <a:spcPct val="100000"/>
              </a:lnSpc>
              <a:spcBef>
                <a:spcPts val="0"/>
              </a:spcBef>
              <a:spcAft>
                <a:spcPts val="0"/>
              </a:spcAft>
              <a:buSzPts val="1100"/>
              <a:buChar char="●"/>
            </a:pPr>
            <a:r>
              <a:rPr lang="en-US" sz="1100"/>
              <a:t>Zum Schluss mein persönliches Fazit in einem Satz: Ein deutlicher Zusammenhang in der EDA beweist noch keinen Treiber,</a:t>
            </a:r>
            <a:endParaRPr/>
          </a:p>
          <a:p>
            <a:pPr indent="-298450" lvl="0" marL="457200" rtl="0" algn="l">
              <a:lnSpc>
                <a:spcPct val="100000"/>
              </a:lnSpc>
              <a:spcBef>
                <a:spcPts val="0"/>
              </a:spcBef>
              <a:spcAft>
                <a:spcPts val="0"/>
              </a:spcAft>
              <a:buSzPts val="1100"/>
              <a:buChar char="●"/>
            </a:pPr>
            <a:r>
              <a:rPr lang="en-US" sz="1100"/>
              <a:t>aber die EDA hat entschieden, was die Prognose tragen muss. Aus ihr kamen die Vollaststunden und die Treiber, die das Modell bestätigt hat.</a:t>
            </a:r>
            <a:endParaRPr/>
          </a:p>
          <a:p>
            <a:pPr indent="-298450" lvl="0" marL="457200" rtl="0" algn="l">
              <a:lnSpc>
                <a:spcPct val="100000"/>
              </a:lnSpc>
              <a:spcBef>
                <a:spcPts val="0"/>
              </a:spcBef>
              <a:spcAft>
                <a:spcPts val="0"/>
              </a:spcAft>
              <a:buSzPts val="1100"/>
              <a:buChar char="●"/>
            </a:pPr>
            <a:r>
              <a:rPr lang="en-US" sz="1100"/>
              <a:t>Damit beantworten wir die Projektfrage: Aus Historie und Plandaten entsteht vor jedem Monat eine Prognose je Zähler,</a:t>
            </a:r>
            <a:endParaRPr/>
          </a:p>
          <a:p>
            <a:pPr indent="-298450" lvl="0" marL="457200" rtl="0" algn="l">
              <a:lnSpc>
                <a:spcPct val="100000"/>
              </a:lnSpc>
              <a:spcBef>
                <a:spcPts val="0"/>
              </a:spcBef>
              <a:spcAft>
                <a:spcPts val="0"/>
              </a:spcAft>
              <a:buSzPts val="1100"/>
              <a:buChar char="●"/>
            </a:pPr>
            <a:r>
              <a:rPr lang="en-US" sz="1100"/>
              <a:t>15,9 Prozent genauer als die einfache Fortschreibung. Und große Abweichungen landen nach Monatsende auf einer Prüfliste, nicht erst im Quartal.</a:t>
            </a:r>
            <a:endParaRPr/>
          </a:p>
          <a:p>
            <a:pPr indent="-298450" lvl="0" marL="457200" rtl="0" algn="l">
              <a:lnSpc>
                <a:spcPct val="100000"/>
              </a:lnSpc>
              <a:spcBef>
                <a:spcPts val="0"/>
              </a:spcBef>
              <a:spcAft>
                <a:spcPts val="0"/>
              </a:spcAft>
              <a:buSzPts val="1100"/>
              <a:buChar char="●"/>
            </a:pPr>
            <a:r>
              <a:rPr lang="en-US" sz="1100"/>
              <a:t>Vielen Dank.</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en-US" sz="1100"/>
              <a:t>QUELLE</a:t>
            </a:r>
            <a:endParaRPr/>
          </a:p>
          <a:p>
            <a:pPr indent="-298450" lvl="0" marL="457200" rtl="0" algn="l">
              <a:lnSpc>
                <a:spcPct val="100000"/>
              </a:lnSpc>
              <a:spcBef>
                <a:spcPts val="0"/>
              </a:spcBef>
              <a:spcAft>
                <a:spcPts val="0"/>
              </a:spcAft>
              <a:buSzPts val="1100"/>
              <a:buChar char="●"/>
            </a:pPr>
            <a:r>
              <a:rPr lang="en-US" sz="1100"/>
              <a:t>Bericht 3.6 (persönliches Fazit Patrick, sinngemäß verkürzt); IHK-Vorlage Folie 1 (Projektfrage).</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02" name="Google Shape;702;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Bedanken Sie sich, signalisieren Sie Bereitschaft fuer das Fachgespraech. Kurz und ruhig. Zeit: 10–15 Sekunden.</a:t>
            </a:r>
            <a:endParaRPr/>
          </a:p>
        </p:txBody>
      </p:sp>
      <p:sp>
        <p:nvSpPr>
          <p:cNvPr id="703" name="Google Shape;703;p1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09" name="Google Shape;709;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Diese Folie zeigen Sie nur, wenn die Kommission tiefer einsteigt. Nicht aktiv praesentieren.</a:t>
            </a:r>
            <a:endParaRPr/>
          </a:p>
        </p:txBody>
      </p:sp>
      <p:sp>
        <p:nvSpPr>
          <p:cNvPr id="710" name="Google Shape;710;p1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g3f8dcff49c5_0_4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716" name="Google Shape;716;g3f8dcff49c5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h3fbf580b30600811_1_259:notes"/>
          <p:cNvSpPr/>
          <p:nvPr>
            <p:ph idx="2" type="sldImg"/>
          </p:nvPr>
        </p:nvSpPr>
        <p:spPr>
          <a:xfrm>
            <a:off x="-15"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21" name="Google Shape;721;h3fbf580b30600811_1_25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STICHWORTE</a:t>
            </a:r>
            <a:endParaRPr/>
          </a:p>
          <a:p>
            <a:pPr indent="0" lvl="0" marL="0" rtl="0" algn="l">
              <a:spcBef>
                <a:spcPts val="0"/>
              </a:spcBef>
              <a:spcAft>
                <a:spcPts val="0"/>
              </a:spcAft>
              <a:buNone/>
            </a:pPr>
            <a:r>
              <a:rPr lang="en-US"/>
              <a:t>• nur bei Rückfragen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SPRECHTEXT</a:t>
            </a:r>
            <a:endParaRPr/>
          </a:p>
          <a:p>
            <a:pPr indent="0" lvl="0" marL="0" rtl="0" algn="l">
              <a:spcBef>
                <a:spcPts val="0"/>
              </a:spcBef>
              <a:spcAft>
                <a:spcPts val="0"/>
              </a:spcAft>
              <a:buNone/>
            </a:pPr>
            <a:r>
              <a:rPr lang="en-US"/>
              <a:t>Nur bei Rückfragen zur Normierung oder zu den Treibern zeigen.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QUELLE</a:t>
            </a:r>
            <a:endParaRPr/>
          </a:p>
          <a:p>
            <a:pPr indent="0" lvl="0" marL="0" rtl="0" algn="l">
              <a:spcBef>
                <a:spcPts val="0"/>
              </a:spcBef>
              <a:spcAft>
                <a:spcPts val="0"/>
              </a:spcAft>
              <a:buNone/>
            </a:pPr>
            <a:r>
              <a:rPr lang="en-US"/>
              <a:t>ipynb/eda_ci.ipynb, Zelle 53 (Spearman roh vs. je Zähler normiert) und Abschnitt 4 (Varianzzerlegung).</a:t>
            </a:r>
            <a:endParaRPr/>
          </a:p>
        </p:txBody>
      </p:sp>
      <p:sp>
        <p:nvSpPr>
          <p:cNvPr id="722" name="Google Shape;722;h3fbf580b30600811_1_25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h3fbf580b30600811_1_272:notes"/>
          <p:cNvSpPr/>
          <p:nvPr>
            <p:ph idx="2" type="sldImg"/>
          </p:nvPr>
        </p:nvSpPr>
        <p:spPr>
          <a:xfrm>
            <a:off x="-15"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35" name="Google Shape;735;h3fbf580b30600811_1_27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STICHWORTE</a:t>
            </a:r>
            <a:endParaRPr/>
          </a:p>
          <a:p>
            <a:pPr indent="0" lvl="0" marL="0" rtl="0" algn="l">
              <a:spcBef>
                <a:spcPts val="0"/>
              </a:spcBef>
              <a:spcAft>
                <a:spcPts val="0"/>
              </a:spcAft>
              <a:buNone/>
            </a:pPr>
            <a:r>
              <a:rPr lang="en-US"/>
              <a:t>• nur bei Rückfragen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SPRECHTEXT</a:t>
            </a:r>
            <a:endParaRPr/>
          </a:p>
          <a:p>
            <a:pPr indent="0" lvl="0" marL="0" rtl="0" algn="l">
              <a:spcBef>
                <a:spcPts val="0"/>
              </a:spcBef>
              <a:spcAft>
                <a:spcPts val="0"/>
              </a:spcAft>
              <a:buNone/>
            </a:pPr>
            <a:r>
              <a:rPr lang="en-US"/>
              <a:t>Für Fragen nach Grenzen, Overfitting oder der Wahl der Schwelle.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QUELLE</a:t>
            </a:r>
            <a:endParaRPr/>
          </a:p>
          <a:p>
            <a:pPr indent="0" lvl="0" marL="0" rtl="0" algn="l">
              <a:spcBef>
                <a:spcPts val="0"/>
              </a:spcBef>
              <a:spcAft>
                <a:spcPts val="0"/>
              </a:spcAft>
              <a:buNone/>
            </a:pPr>
            <a:r>
              <a:rPr lang="en-US"/>
              <a:t>Bericht 4.3.2 (Fold-Standardabweichung), 4.4.1–4.4.2; forecast-data.json: sensitivity.</a:t>
            </a:r>
            <a:endParaRPr/>
          </a:p>
        </p:txBody>
      </p:sp>
      <p:sp>
        <p:nvSpPr>
          <p:cNvPr id="736" name="Google Shape;736;h3fbf580b30600811_1_27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h3fbf580b30600811_1_308:notes"/>
          <p:cNvSpPr/>
          <p:nvPr>
            <p:ph idx="2" type="sldImg"/>
          </p:nvPr>
        </p:nvSpPr>
        <p:spPr>
          <a:xfrm>
            <a:off x="-15"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72" name="Google Shape;772;h3fbf580b30600811_1_30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STICHWORTE</a:t>
            </a:r>
            <a:endParaRPr/>
          </a:p>
          <a:p>
            <a:pPr indent="0" lvl="0" marL="0" rtl="0" algn="l">
              <a:spcBef>
                <a:spcPts val="0"/>
              </a:spcBef>
              <a:spcAft>
                <a:spcPts val="0"/>
              </a:spcAft>
              <a:buNone/>
            </a:pPr>
            <a:r>
              <a:rPr lang="en-US"/>
              <a:t>• nur bei Rückfragen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SPRECHTEXT</a:t>
            </a:r>
            <a:endParaRPr/>
          </a:p>
          <a:p>
            <a:pPr indent="0" lvl="0" marL="0" rtl="0" algn="l">
              <a:spcBef>
                <a:spcPts val="0"/>
              </a:spcBef>
              <a:spcAft>
                <a:spcPts val="0"/>
              </a:spcAft>
              <a:buNone/>
            </a:pPr>
            <a:r>
              <a:rPr lang="en-US"/>
              <a:t>Zeigt, was hinter „Prüfen“ in der Prüfliste steht: Verlauf mit Korridor, Abweichung je Monat, Einordnung unter allen Zählern.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QUELLE</a:t>
            </a:r>
            <a:endParaRPr/>
          </a:p>
          <a:p>
            <a:pPr indent="0" lvl="0" marL="0" rtl="0" algn="l">
              <a:spcBef>
                <a:spcPts val="0"/>
              </a:spcBef>
              <a:spcAft>
                <a:spcPts val="0"/>
              </a:spcAft>
              <a:buNone/>
            </a:pPr>
            <a:r>
              <a:rPr lang="en-US"/>
              <a:t>Screenshot: Verbrauchs-Cockpit, Ansicht Prüffall, Fall 1 von 10 (12/2025).</a:t>
            </a:r>
            <a:endParaRPr/>
          </a:p>
        </p:txBody>
      </p:sp>
      <p:sp>
        <p:nvSpPr>
          <p:cNvPr id="773" name="Google Shape;773;h3fbf580b30600811_1_30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4" name="Shape 784"/>
        <p:cNvGrpSpPr/>
        <p:nvPr/>
      </p:nvGrpSpPr>
      <p:grpSpPr>
        <a:xfrm>
          <a:off x="0" y="0"/>
          <a:ext cx="0" cy="0"/>
          <a:chOff x="0" y="0"/>
          <a:chExt cx="0" cy="0"/>
        </a:xfrm>
      </p:grpSpPr>
      <p:sp>
        <p:nvSpPr>
          <p:cNvPr id="785" name="Google Shape;785;h510714b4cc47d3b6_0_937:notes"/>
          <p:cNvSpPr/>
          <p:nvPr>
            <p:ph idx="2" type="sldImg"/>
          </p:nvPr>
        </p:nvSpPr>
        <p:spPr>
          <a:xfrm>
            <a:off x="-12"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86" name="Google Shape;786;h510714b4cc47d3b6_0_93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800"/>
              <a:t>STICHWORTE</a:t>
            </a:r>
            <a:endParaRPr/>
          </a:p>
          <a:p>
            <a:pPr indent="0" lvl="0" marL="0" rtl="0" algn="l">
              <a:spcBef>
                <a:spcPts val="0"/>
              </a:spcBef>
              <a:spcAft>
                <a:spcPts val="0"/>
              </a:spcAft>
              <a:buNone/>
            </a:pPr>
            <a:r>
              <a:rPr b="0" lang="en-US" sz="1800"/>
              <a:t>• acht Kombinationen</a:t>
            </a:r>
            <a:endParaRPr/>
          </a:p>
          <a:p>
            <a:pPr indent="0" lvl="0" marL="0" rtl="0" algn="l">
              <a:spcBef>
                <a:spcPts val="0"/>
              </a:spcBef>
              <a:spcAft>
                <a:spcPts val="0"/>
              </a:spcAft>
              <a:buNone/>
            </a:pPr>
            <a:r>
              <a:rPr b="0" lang="en-US" sz="1800"/>
              <a:t>• nur 2024 entscheidet</a:t>
            </a:r>
            <a:endParaRPr/>
          </a:p>
          <a:p>
            <a:pPr indent="0" lvl="0" marL="0" rtl="0" algn="l">
              <a:spcBef>
                <a:spcPts val="0"/>
              </a:spcBef>
              <a:spcAft>
                <a:spcPts val="0"/>
              </a:spcAft>
              <a:buNone/>
            </a:pPr>
            <a:r>
              <a:t/>
            </a:r>
            <a:endParaRPr b="0" sz="1800"/>
          </a:p>
          <a:p>
            <a:pPr indent="0" lvl="0" marL="0" rtl="0" algn="l">
              <a:spcBef>
                <a:spcPts val="0"/>
              </a:spcBef>
              <a:spcAft>
                <a:spcPts val="0"/>
              </a:spcAft>
              <a:buNone/>
            </a:pPr>
            <a:r>
              <a:rPr b="1" lang="en-US" sz="1800"/>
              <a:t>SPRECHTEXT</a:t>
            </a:r>
            <a:endParaRPr/>
          </a:p>
          <a:p>
            <a:pPr indent="0" lvl="0" marL="0" rtl="0" algn="l">
              <a:spcBef>
                <a:spcPts val="0"/>
              </a:spcBef>
              <a:spcAft>
                <a:spcPts val="0"/>
              </a:spcAft>
              <a:buNone/>
            </a:pPr>
            <a:r>
              <a:rPr b="0" lang="en-US" sz="1800"/>
              <a:t>Baumtiefe, Merkmalsanteil und Mindestfälle je Blatt haben wir in acht Kombinationen verglichen, nur in den Folds 2024. Die Unterschiede sind klein.</a:t>
            </a:r>
            <a:endParaRPr/>
          </a:p>
        </p:txBody>
      </p:sp>
      <p:sp>
        <p:nvSpPr>
          <p:cNvPr id="787" name="Google Shape;787;h510714b4cc47d3b6_0_93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7" name="Shape 797"/>
        <p:cNvGrpSpPr/>
        <p:nvPr/>
      </p:nvGrpSpPr>
      <p:grpSpPr>
        <a:xfrm>
          <a:off x="0" y="0"/>
          <a:ext cx="0" cy="0"/>
          <a:chOff x="0" y="0"/>
          <a:chExt cx="0" cy="0"/>
        </a:xfrm>
      </p:grpSpPr>
      <p:sp>
        <p:nvSpPr>
          <p:cNvPr id="798" name="Google Shape;798;h510714b4cc47d3b6_0_1024:notes"/>
          <p:cNvSpPr/>
          <p:nvPr>
            <p:ph idx="2" type="sldImg"/>
          </p:nvPr>
        </p:nvSpPr>
        <p:spPr>
          <a:xfrm>
            <a:off x="-12"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99" name="Google Shape;799;h510714b4cc47d3b6_0_10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800"/>
              <a:t>STICHWORTE</a:t>
            </a:r>
            <a:endParaRPr/>
          </a:p>
          <a:p>
            <a:pPr indent="0" lvl="0" marL="0" rtl="0" algn="l">
              <a:spcBef>
                <a:spcPts val="0"/>
              </a:spcBef>
              <a:spcAft>
                <a:spcPts val="0"/>
              </a:spcAft>
              <a:buNone/>
            </a:pPr>
            <a:r>
              <a:rPr b="0" lang="en-US" sz="1800"/>
              <a:t>• shift(1): nur Vergangenheit</a:t>
            </a:r>
            <a:endParaRPr/>
          </a:p>
          <a:p>
            <a:pPr indent="0" lvl="0" marL="0" rtl="0" algn="l">
              <a:spcBef>
                <a:spcPts val="0"/>
              </a:spcBef>
              <a:spcAft>
                <a:spcPts val="0"/>
              </a:spcAft>
              <a:buNone/>
            </a:pPr>
            <a:r>
              <a:rPr b="0" lang="en-US" sz="1800"/>
              <a:t>• Kaltstart Januar</a:t>
            </a:r>
            <a:endParaRPr/>
          </a:p>
          <a:p>
            <a:pPr indent="0" lvl="0" marL="0" rtl="0" algn="l">
              <a:spcBef>
                <a:spcPts val="0"/>
              </a:spcBef>
              <a:spcAft>
                <a:spcPts val="0"/>
              </a:spcAft>
              <a:buNone/>
            </a:pPr>
            <a:r>
              <a:t/>
            </a:r>
            <a:endParaRPr b="0" sz="1800"/>
          </a:p>
          <a:p>
            <a:pPr indent="0" lvl="0" marL="0" rtl="0" algn="l">
              <a:spcBef>
                <a:spcPts val="0"/>
              </a:spcBef>
              <a:spcAft>
                <a:spcPts val="0"/>
              </a:spcAft>
              <a:buNone/>
            </a:pPr>
            <a:r>
              <a:rPr b="1" lang="en-US" sz="1800"/>
              <a:t>SPRECHTEXT</a:t>
            </a:r>
            <a:endParaRPr/>
          </a:p>
          <a:p>
            <a:pPr indent="0" lvl="0" marL="0" rtl="0" algn="l">
              <a:spcBef>
                <a:spcPts val="0"/>
              </a:spcBef>
              <a:spcAft>
                <a:spcPts val="0"/>
              </a:spcAft>
              <a:buNone/>
            </a:pPr>
            <a:r>
              <a:rPr b="0" lang="en-US" sz="1800"/>
              <a:t>Die Historien-Merkmale werden je Zähler um einen Monat verschoben, damit nur abgeschlossene Monate einfließen.</a:t>
            </a:r>
            <a:endParaRPr/>
          </a:p>
        </p:txBody>
      </p:sp>
      <p:sp>
        <p:nvSpPr>
          <p:cNvPr id="800" name="Google Shape;800;h510714b4cc47d3b6_0_102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0" name="Shape 820"/>
        <p:cNvGrpSpPr/>
        <p:nvPr/>
      </p:nvGrpSpPr>
      <p:grpSpPr>
        <a:xfrm>
          <a:off x="0" y="0"/>
          <a:ext cx="0" cy="0"/>
          <a:chOff x="0" y="0"/>
          <a:chExt cx="0" cy="0"/>
        </a:xfrm>
      </p:grpSpPr>
      <p:sp>
        <p:nvSpPr>
          <p:cNvPr id="821" name="Google Shape;821;h510714b4cc47d3b6_0_1121:notes"/>
          <p:cNvSpPr/>
          <p:nvPr>
            <p:ph idx="2" type="sldImg"/>
          </p:nvPr>
        </p:nvSpPr>
        <p:spPr>
          <a:xfrm>
            <a:off x="-12"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2" name="Google Shape;822;h510714b4cc47d3b6_0_11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800"/>
              <a:t>STICHWORTE</a:t>
            </a:r>
            <a:endParaRPr/>
          </a:p>
          <a:p>
            <a:pPr indent="0" lvl="0" marL="0" rtl="0" algn="l">
              <a:spcBef>
                <a:spcPts val="0"/>
              </a:spcBef>
              <a:spcAft>
                <a:spcPts val="0"/>
              </a:spcAft>
              <a:buNone/>
            </a:pPr>
            <a:r>
              <a:rPr b="0" lang="en-US" sz="1800"/>
              <a:t>• jüngste Monate vor dem Test</a:t>
            </a:r>
            <a:endParaRPr/>
          </a:p>
          <a:p>
            <a:pPr indent="0" lvl="0" marL="0" rtl="0" algn="l">
              <a:spcBef>
                <a:spcPts val="0"/>
              </a:spcBef>
              <a:spcAft>
                <a:spcPts val="0"/>
              </a:spcAft>
              <a:buNone/>
            </a:pPr>
            <a:r>
              <a:rPr b="0" lang="en-US" sz="1800"/>
              <a:t>• keine Überschneidung mit der Modellwahl</a:t>
            </a:r>
            <a:endParaRPr/>
          </a:p>
          <a:p>
            <a:pPr indent="0" lvl="0" marL="0" rtl="0" algn="l">
              <a:spcBef>
                <a:spcPts val="0"/>
              </a:spcBef>
              <a:spcAft>
                <a:spcPts val="0"/>
              </a:spcAft>
              <a:buNone/>
            </a:pPr>
            <a:r>
              <a:rPr b="0" lang="en-US" sz="1800"/>
              <a:t>• 2025-Wert nur Einordnung</a:t>
            </a:r>
            <a:endParaRPr/>
          </a:p>
          <a:p>
            <a:pPr indent="0" lvl="0" marL="0" rtl="0" algn="l">
              <a:spcBef>
                <a:spcPts val="0"/>
              </a:spcBef>
              <a:spcAft>
                <a:spcPts val="0"/>
              </a:spcAft>
              <a:buNone/>
            </a:pPr>
            <a:r>
              <a:t/>
            </a:r>
            <a:endParaRPr b="0" sz="1800"/>
          </a:p>
          <a:p>
            <a:pPr indent="0" lvl="0" marL="0" rtl="0" algn="l">
              <a:spcBef>
                <a:spcPts val="0"/>
              </a:spcBef>
              <a:spcAft>
                <a:spcPts val="0"/>
              </a:spcAft>
              <a:buNone/>
            </a:pPr>
            <a:r>
              <a:rPr b="1" lang="en-US" sz="1800"/>
              <a:t>SPRECHTEXT</a:t>
            </a:r>
            <a:endParaRPr/>
          </a:p>
          <a:p>
            <a:pPr indent="0" lvl="0" marL="0" rtl="0" algn="l">
              <a:spcBef>
                <a:spcPts val="0"/>
              </a:spcBef>
              <a:spcAft>
                <a:spcPts val="0"/>
              </a:spcAft>
              <a:buNone/>
            </a:pPr>
            <a:r>
              <a:rPr b="0" lang="en-US" sz="1800"/>
              <a:t>Die Schwelle muss vor 2025 feststehen. November und Dezember 2024 sind die letzten Monate davor und wurden nicht für die Modellwahl gebraucht.</a:t>
            </a:r>
            <a:endParaRPr/>
          </a:p>
          <a:p>
            <a:pPr indent="0" lvl="0" marL="0" rtl="0" algn="l">
              <a:spcBef>
                <a:spcPts val="0"/>
              </a:spcBef>
              <a:spcAft>
                <a:spcPts val="0"/>
              </a:spcAft>
              <a:buNone/>
            </a:pPr>
            <a:r>
              <a:rPr b="0" lang="en-US" sz="1800"/>
              <a:t>Im Nachhinein läge das 99. Perzentil 2025 bei 175 Vollaststunden. Der typische Fehler ist aber gleich groß; 2025 sind nur die Extreme größer.</a:t>
            </a:r>
            <a:endParaRPr/>
          </a:p>
        </p:txBody>
      </p:sp>
      <p:sp>
        <p:nvSpPr>
          <p:cNvPr id="823" name="Google Shape;823;h510714b4cc47d3b6_0_112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4" name="Shape 854"/>
        <p:cNvGrpSpPr/>
        <p:nvPr/>
      </p:nvGrpSpPr>
      <p:grpSpPr>
        <a:xfrm>
          <a:off x="0" y="0"/>
          <a:ext cx="0" cy="0"/>
          <a:chOff x="0" y="0"/>
          <a:chExt cx="0" cy="0"/>
        </a:xfrm>
      </p:grpSpPr>
      <p:sp>
        <p:nvSpPr>
          <p:cNvPr id="855" name="Google Shape;855;h510714b4cc47d3b6_0_1229:notes"/>
          <p:cNvSpPr/>
          <p:nvPr>
            <p:ph idx="2" type="sldImg"/>
          </p:nvPr>
        </p:nvSpPr>
        <p:spPr>
          <a:xfrm>
            <a:off x="-12"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56" name="Google Shape;856;h510714b4cc47d3b6_0_12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800"/>
              <a:t>STICHWORTE</a:t>
            </a:r>
            <a:endParaRPr/>
          </a:p>
          <a:p>
            <a:pPr indent="0" lvl="0" marL="0" rtl="0" algn="l">
              <a:spcBef>
                <a:spcPts val="0"/>
              </a:spcBef>
              <a:spcAft>
                <a:spcPts val="0"/>
              </a:spcAft>
              <a:buNone/>
            </a:pPr>
            <a:r>
              <a:rPr b="0" lang="en-US" sz="1800"/>
              <a:t>• Wortlaut wie im Bericht</a:t>
            </a:r>
            <a:endParaRPr/>
          </a:p>
          <a:p>
            <a:pPr indent="0" lvl="0" marL="0" rtl="0" algn="l">
              <a:spcBef>
                <a:spcPts val="0"/>
              </a:spcBef>
              <a:spcAft>
                <a:spcPts val="0"/>
              </a:spcAft>
              <a:buNone/>
            </a:pPr>
            <a:r>
              <a:rPr b="0" lang="en-US" sz="1800"/>
              <a:t>• ML-Felder hellteal</a:t>
            </a:r>
            <a:endParaRPr/>
          </a:p>
          <a:p>
            <a:pPr indent="0" lvl="0" marL="0" rtl="0" algn="l">
              <a:spcBef>
                <a:spcPts val="0"/>
              </a:spcBef>
              <a:spcAft>
                <a:spcPts val="0"/>
              </a:spcAft>
              <a:buNone/>
            </a:pPr>
            <a:r>
              <a:t/>
            </a:r>
            <a:endParaRPr b="0" sz="1800"/>
          </a:p>
          <a:p>
            <a:pPr indent="0" lvl="0" marL="0" rtl="0" algn="l">
              <a:spcBef>
                <a:spcPts val="0"/>
              </a:spcBef>
              <a:spcAft>
                <a:spcPts val="0"/>
              </a:spcAft>
              <a:buNone/>
            </a:pPr>
            <a:r>
              <a:rPr b="1" lang="en-US" sz="1800"/>
              <a:t>SPRECHTEXT</a:t>
            </a:r>
            <a:endParaRPr/>
          </a:p>
          <a:p>
            <a:pPr indent="0" lvl="0" marL="0" rtl="0" algn="l">
              <a:spcBef>
                <a:spcPts val="0"/>
              </a:spcBef>
              <a:spcAft>
                <a:spcPts val="0"/>
              </a:spcAft>
              <a:buNone/>
            </a:pPr>
            <a:r>
              <a:rPr b="0" lang="en-US" sz="1800"/>
              <a:t>Falls gefragt: Das ist der Canvas im Wortlaut des Berichts; die hervorgehobenen Zeilen sind meine Felder.</a:t>
            </a:r>
            <a:endParaRPr/>
          </a:p>
        </p:txBody>
      </p:sp>
      <p:sp>
        <p:nvSpPr>
          <p:cNvPr id="857" name="Google Shape;857;h510714b4cc47d3b6_0_122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8"/>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8"/>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0"/>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0"/>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1"/>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21"/>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2"/>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22"/>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22"/>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22"/>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4"/>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4"/>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24"/>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5"/>
          <p:cNvSpPr/>
          <p:nvPr>
            <p:ph idx="2" type="pic"/>
          </p:nvPr>
        </p:nvSpPr>
        <p:spPr>
          <a:xfrm>
            <a:off x="1792288" y="612775"/>
            <a:ext cx="5486400" cy="4114800"/>
          </a:xfrm>
          <a:prstGeom prst="rect">
            <a:avLst/>
          </a:prstGeom>
          <a:noFill/>
          <a:ln>
            <a:noFill/>
          </a:ln>
        </p:spPr>
      </p:sp>
      <p:sp>
        <p:nvSpPr>
          <p:cNvPr id="64" name="Google Shape;64;p2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6"/>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7"/>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7"/>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5.pn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8.pn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0.png"/><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1.png"/><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11" Type="http://schemas.openxmlformats.org/officeDocument/2006/relationships/image" Target="../media/image26.png"/><Relationship Id="rId10" Type="http://schemas.openxmlformats.org/officeDocument/2006/relationships/image" Target="../media/image27.png"/><Relationship Id="rId13" Type="http://schemas.openxmlformats.org/officeDocument/2006/relationships/image" Target="../media/image19.png"/><Relationship Id="rId12" Type="http://schemas.openxmlformats.org/officeDocument/2006/relationships/image" Target="../media/image14.png"/><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3.png"/><Relationship Id="rId4" Type="http://schemas.openxmlformats.org/officeDocument/2006/relationships/image" Target="../media/image22.png"/><Relationship Id="rId9" Type="http://schemas.openxmlformats.org/officeDocument/2006/relationships/image" Target="../media/image20.png"/><Relationship Id="rId15" Type="http://schemas.openxmlformats.org/officeDocument/2006/relationships/image" Target="../media/image25.png"/><Relationship Id="rId14" Type="http://schemas.openxmlformats.org/officeDocument/2006/relationships/image" Target="../media/image1.png"/><Relationship Id="rId17" Type="http://schemas.openxmlformats.org/officeDocument/2006/relationships/image" Target="../media/image28.png"/><Relationship Id="rId16" Type="http://schemas.openxmlformats.org/officeDocument/2006/relationships/image" Target="../media/image23.png"/><Relationship Id="rId5" Type="http://schemas.openxmlformats.org/officeDocument/2006/relationships/image" Target="../media/image21.png"/><Relationship Id="rId6" Type="http://schemas.openxmlformats.org/officeDocument/2006/relationships/image" Target="../media/image12.png"/><Relationship Id="rId7" Type="http://schemas.openxmlformats.org/officeDocument/2006/relationships/image" Target="../media/image16.png"/><Relationship Id="rId8" Type="http://schemas.openxmlformats.org/officeDocument/2006/relationships/image" Target="../media/image2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33.png"/><Relationship Id="rId4" Type="http://schemas.openxmlformats.org/officeDocument/2006/relationships/image" Target="../media/image2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33.png"/><Relationship Id="rId4" Type="http://schemas.openxmlformats.org/officeDocument/2006/relationships/image" Target="../media/image3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33.png"/><Relationship Id="rId4" Type="http://schemas.openxmlformats.org/officeDocument/2006/relationships/image" Target="../media/image30.png"/><Relationship Id="rId5" Type="http://schemas.openxmlformats.org/officeDocument/2006/relationships/hyperlink" Target="http://../../brand/design-system/ui_kits/verbrauchs-cockpit/index.html"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33.png"/><Relationship Id="rId4" Type="http://schemas.openxmlformats.org/officeDocument/2006/relationships/image" Target="../media/image32.png"/><Relationship Id="rId5" Type="http://schemas.openxmlformats.org/officeDocument/2006/relationships/hyperlink" Target="http://../../brand/design-system/ui_kits/verbrauchs-cockpit/index.html"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3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3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3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33.png"/><Relationship Id="rId4" Type="http://schemas.openxmlformats.org/officeDocument/2006/relationships/image" Target="../media/image3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3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33.png"/><Relationship Id="rId4" Type="http://schemas.openxmlformats.org/officeDocument/2006/relationships/image" Target="../media/image35.png"/><Relationship Id="rId5" Type="http://schemas.openxmlformats.org/officeDocument/2006/relationships/hyperlink" Target="http://../../brand/design-system/ui_kits/verbrauchs-cockpit/index.html"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36.png"/><Relationship Id="rId4"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
          <p:cNvSpPr txBox="1"/>
          <p:nvPr/>
        </p:nvSpPr>
        <p:spPr>
          <a:xfrm>
            <a:off x="540000" y="2023325"/>
            <a:ext cx="10800000" cy="2124000"/>
          </a:xfrm>
          <a:prstGeom prst="rect">
            <a:avLst/>
          </a:prstGeom>
          <a:noFill/>
          <a:ln>
            <a:noFill/>
          </a:ln>
        </p:spPr>
        <p:txBody>
          <a:bodyPr anchorCtr="0" anchor="t" bIns="45700" lIns="91425" spcFirstLastPara="1" rIns="91425" wrap="square" tIns="45700">
            <a:spAutoFit/>
          </a:bodyPr>
          <a:lstStyle/>
          <a:p>
            <a:pPr indent="0" lvl="0" marL="0" rtl="0" algn="ctr">
              <a:lnSpc>
                <a:spcPct val="100000"/>
              </a:lnSpc>
              <a:spcBef>
                <a:spcPts val="1200"/>
              </a:spcBef>
              <a:spcAft>
                <a:spcPts val="1200"/>
              </a:spcAft>
              <a:buClr>
                <a:schemeClr val="dk1"/>
              </a:buClr>
              <a:buSzPts val="1100"/>
              <a:buFont typeface="Arial"/>
              <a:buNone/>
            </a:pPr>
            <a:r>
              <a:rPr b="1" lang="en-US" sz="4400">
                <a:solidFill>
                  <a:schemeClr val="dk1"/>
                </a:solidFill>
              </a:rPr>
              <a:t>Prognose des monatlichen Energieverbrauchs und Erkennung von Anomalien</a:t>
            </a:r>
            <a:endParaRPr sz="4400"/>
          </a:p>
        </p:txBody>
      </p:sp>
      <p:sp>
        <p:nvSpPr>
          <p:cNvPr id="86" name="Google Shape;86;p1"/>
          <p:cNvSpPr txBox="1"/>
          <p:nvPr/>
        </p:nvSpPr>
        <p:spPr>
          <a:xfrm>
            <a:off x="540000" y="6039550"/>
            <a:ext cx="108000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rgbClr val="606060"/>
                </a:solidFill>
                <a:latin typeface="Arial"/>
                <a:ea typeface="Arial"/>
                <a:cs typeface="Arial"/>
                <a:sym typeface="Arial"/>
              </a:rPr>
              <a:t>Gruppe </a:t>
            </a:r>
            <a:r>
              <a:rPr lang="en-US">
                <a:solidFill>
                  <a:srgbClr val="606060"/>
                </a:solidFill>
              </a:rPr>
              <a:t>6</a:t>
            </a:r>
            <a:r>
              <a:rPr b="0" i="0" lang="en-US" sz="1400" u="none" cap="none" strike="noStrike">
                <a:solidFill>
                  <a:srgbClr val="606060"/>
                </a:solidFill>
                <a:latin typeface="Arial"/>
                <a:ea typeface="Arial"/>
                <a:cs typeface="Arial"/>
                <a:sym typeface="Arial"/>
              </a:rPr>
              <a:t> · </a:t>
            </a:r>
            <a:r>
              <a:rPr lang="en-US">
                <a:solidFill>
                  <a:srgbClr val="606060"/>
                </a:solidFill>
              </a:rPr>
              <a:t>Iana Kraievska</a:t>
            </a:r>
            <a:r>
              <a:rPr b="0" i="0" lang="en-US" sz="1400" u="none" cap="none" strike="noStrike">
                <a:solidFill>
                  <a:srgbClr val="606060"/>
                </a:solidFill>
                <a:latin typeface="Arial"/>
                <a:ea typeface="Arial"/>
                <a:cs typeface="Arial"/>
                <a:sym typeface="Arial"/>
              </a:rPr>
              <a:t>· </a:t>
            </a:r>
            <a:r>
              <a:rPr lang="en-US">
                <a:solidFill>
                  <a:srgbClr val="606060"/>
                </a:solidFill>
              </a:rPr>
              <a:t>Patrick Olmo Hederer</a:t>
            </a:r>
            <a:r>
              <a:rPr b="0" i="0" lang="en-US" sz="1400" u="none" cap="none" strike="noStrike">
                <a:solidFill>
                  <a:srgbClr val="606060"/>
                </a:solidFill>
                <a:latin typeface="Arial"/>
                <a:ea typeface="Arial"/>
                <a:cs typeface="Arial"/>
                <a:sym typeface="Arial"/>
              </a:rPr>
              <a:t> · </a:t>
            </a:r>
            <a:r>
              <a:rPr lang="en-US">
                <a:solidFill>
                  <a:srgbClr val="606060"/>
                </a:solidFill>
              </a:rPr>
              <a:t>Kiko Ramon Lukas</a:t>
            </a:r>
            <a:br>
              <a:rPr b="0" i="0" lang="en-US" sz="1400" u="none" cap="none" strike="noStrike">
                <a:solidFill>
                  <a:srgbClr val="606060"/>
                </a:solidFill>
                <a:latin typeface="Arial"/>
                <a:ea typeface="Arial"/>
                <a:cs typeface="Arial"/>
                <a:sym typeface="Arial"/>
              </a:rPr>
            </a:br>
            <a:r>
              <a:rPr b="0" i="0" lang="en-US" sz="1400" u="none" cap="none" strike="noStrike">
                <a:solidFill>
                  <a:srgbClr val="606060"/>
                </a:solidFill>
                <a:latin typeface="Arial"/>
                <a:ea typeface="Arial"/>
                <a:cs typeface="Arial"/>
                <a:sym typeface="Arial"/>
              </a:rPr>
              <a:t>IHK-Zertifizierung Data Analyst (IHK)  ·  0</a:t>
            </a:r>
            <a:r>
              <a:rPr lang="en-US">
                <a:solidFill>
                  <a:srgbClr val="606060"/>
                </a:solidFill>
              </a:rPr>
              <a:t>1.10.2024</a:t>
            </a:r>
            <a:endParaRPr/>
          </a:p>
        </p:txBody>
      </p:sp>
      <p:sp>
        <p:nvSpPr>
          <p:cNvPr id="87" name="Google Shape;87;p1"/>
          <p:cNvSpPr txBox="1"/>
          <p:nvPr/>
        </p:nvSpPr>
        <p:spPr>
          <a:xfrm>
            <a:off x="999650" y="4371675"/>
            <a:ext cx="10192800" cy="12006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i="1" lang="en-US" sz="2000">
                <a:solidFill>
                  <a:schemeClr val="dk1"/>
                </a:solidFill>
              </a:rPr>
              <a:t>Wie können historische Verbrauchsdaten und weitere Einflussfaktoren genutzt werden, um den monatlichen Energieverbrauch zuverlässig zu prognostizieren und auffällige Abweichungen frühzeitig zu erkennen?</a:t>
            </a:r>
            <a:endParaRPr i="1" sz="2000">
              <a:solidFill>
                <a:schemeClr val="dk1"/>
              </a:solidFill>
            </a:endParaRPr>
          </a:p>
        </p:txBody>
      </p:sp>
      <p:pic>
        <p:nvPicPr>
          <p:cNvPr id="88" name="Google Shape;88;p1" title="sww-logo.png"/>
          <p:cNvPicPr preferRelativeResize="0"/>
          <p:nvPr/>
        </p:nvPicPr>
        <p:blipFill>
          <a:blip r:embed="rId3">
            <a:alphaModFix/>
          </a:blip>
          <a:stretch>
            <a:fillRect/>
          </a:stretch>
        </p:blipFill>
        <p:spPr>
          <a:xfrm>
            <a:off x="0" y="106050"/>
            <a:ext cx="2297776" cy="229777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2"/>
          <p:cNvSpPr txBox="1"/>
          <p:nvPr/>
        </p:nvSpPr>
        <p:spPr>
          <a:xfrm>
            <a:off x="360000" y="288000"/>
            <a:ext cx="2880000" cy="288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2563EB"/>
                </a:solidFill>
                <a:latin typeface="Arial"/>
                <a:ea typeface="Arial"/>
                <a:cs typeface="Arial"/>
                <a:sym typeface="Arial"/>
              </a:rPr>
              <a:t>GESAMTABLAUF</a:t>
            </a:r>
            <a:endParaRPr/>
          </a:p>
        </p:txBody>
      </p:sp>
      <p:sp>
        <p:nvSpPr>
          <p:cNvPr id="95" name="Google Shape;95;p2"/>
          <p:cNvSpPr txBox="1"/>
          <p:nvPr/>
        </p:nvSpPr>
        <p:spPr>
          <a:xfrm>
            <a:off x="360000" y="540000"/>
            <a:ext cx="10800000" cy="540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u="none" cap="none" strike="noStrike">
                <a:solidFill>
                  <a:srgbClr val="1F2937"/>
                </a:solidFill>
                <a:latin typeface="Arial"/>
                <a:ea typeface="Arial"/>
                <a:cs typeface="Arial"/>
                <a:sym typeface="Arial"/>
              </a:rPr>
              <a:t>Agenda</a:t>
            </a:r>
            <a:endParaRPr/>
          </a:p>
        </p:txBody>
      </p:sp>
      <p:sp>
        <p:nvSpPr>
          <p:cNvPr id="96" name="Google Shape;96;p2"/>
          <p:cNvSpPr txBox="1"/>
          <p:nvPr/>
        </p:nvSpPr>
        <p:spPr>
          <a:xfrm>
            <a:off x="540000" y="1800000"/>
            <a:ext cx="10800000" cy="2165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rgbClr val="1F2937"/>
                </a:solidFill>
                <a:latin typeface="Arial"/>
                <a:ea typeface="Arial"/>
                <a:cs typeface="Arial"/>
                <a:sym typeface="Arial"/>
              </a:rPr>
              <a:t>• 1.  Ausgangssituation und Problem  </a:t>
            </a:r>
            <a:endParaRPr sz="1800">
              <a:solidFill>
                <a:srgbClr val="1F2937"/>
              </a:solidFill>
            </a:endParaRPr>
          </a:p>
          <a:p>
            <a:pPr indent="0" lvl="0" marL="0" marR="0" rtl="0" algn="l">
              <a:spcBef>
                <a:spcPts val="0"/>
              </a:spcBef>
              <a:spcAft>
                <a:spcPts val="0"/>
              </a:spcAft>
              <a:buNone/>
            </a:pPr>
            <a:r>
              <a:rPr b="0" i="0" lang="en-US" sz="1800" u="none" cap="none" strike="noStrike">
                <a:solidFill>
                  <a:srgbClr val="1F2937"/>
                </a:solidFill>
                <a:latin typeface="Arial"/>
                <a:ea typeface="Arial"/>
                <a:cs typeface="Arial"/>
                <a:sym typeface="Arial"/>
              </a:rPr>
              <a:t>• 2.  </a:t>
            </a:r>
            <a:r>
              <a:rPr lang="en-US" sz="1800">
                <a:solidFill>
                  <a:srgbClr val="1F2937"/>
                </a:solidFill>
              </a:rPr>
              <a:t>Daten und Datenqualität  </a:t>
            </a:r>
            <a:endParaRPr/>
          </a:p>
          <a:p>
            <a:pPr indent="0" lvl="0" marL="0" marR="0" rtl="0" algn="l">
              <a:spcBef>
                <a:spcPts val="800"/>
              </a:spcBef>
              <a:spcAft>
                <a:spcPts val="0"/>
              </a:spcAft>
              <a:buNone/>
            </a:pPr>
            <a:r>
              <a:rPr b="0" i="0" lang="en-US" sz="1800" u="none" cap="none" strike="noStrike">
                <a:solidFill>
                  <a:srgbClr val="1F2937"/>
                </a:solidFill>
                <a:latin typeface="Arial"/>
                <a:ea typeface="Arial"/>
                <a:cs typeface="Arial"/>
                <a:sym typeface="Arial"/>
              </a:rPr>
              <a:t>• 3.  </a:t>
            </a:r>
            <a:r>
              <a:rPr lang="en-US" sz="1800">
                <a:solidFill>
                  <a:srgbClr val="1F2937"/>
                </a:solidFill>
              </a:rPr>
              <a:t>ML Canvas — Überblick </a:t>
            </a:r>
            <a:endParaRPr/>
          </a:p>
          <a:p>
            <a:pPr indent="0" lvl="0" marL="0" marR="0" rtl="0" algn="l">
              <a:spcBef>
                <a:spcPts val="800"/>
              </a:spcBef>
              <a:spcAft>
                <a:spcPts val="0"/>
              </a:spcAft>
              <a:buNone/>
            </a:pPr>
            <a:r>
              <a:rPr b="0" i="0" lang="en-US" sz="1800" u="none" cap="none" strike="noStrike">
                <a:solidFill>
                  <a:srgbClr val="1F2937"/>
                </a:solidFill>
                <a:latin typeface="Arial"/>
                <a:ea typeface="Arial"/>
                <a:cs typeface="Arial"/>
                <a:sym typeface="Arial"/>
              </a:rPr>
              <a:t>• 4.  Methodik und Modell  </a:t>
            </a:r>
            <a:endParaRPr sz="1800">
              <a:solidFill>
                <a:srgbClr val="1F2937"/>
              </a:solidFill>
            </a:endParaRPr>
          </a:p>
          <a:p>
            <a:pPr indent="0" lvl="0" marL="0" marR="0" rtl="0" algn="l">
              <a:spcBef>
                <a:spcPts val="800"/>
              </a:spcBef>
              <a:spcAft>
                <a:spcPts val="0"/>
              </a:spcAft>
              <a:buNone/>
            </a:pPr>
            <a:r>
              <a:rPr b="0" i="0" lang="en-US" sz="1800" u="none" cap="none" strike="noStrike">
                <a:solidFill>
                  <a:srgbClr val="1F2937"/>
                </a:solidFill>
                <a:latin typeface="Arial"/>
                <a:ea typeface="Arial"/>
                <a:cs typeface="Arial"/>
                <a:sym typeface="Arial"/>
              </a:rPr>
              <a:t>• 5.  Ergebnisse  </a:t>
            </a:r>
            <a:endParaRPr sz="1800">
              <a:solidFill>
                <a:srgbClr val="1F2937"/>
              </a:solidFill>
            </a:endParaRPr>
          </a:p>
          <a:p>
            <a:pPr indent="0" lvl="0" marL="0" marR="0" rtl="0" algn="l">
              <a:spcBef>
                <a:spcPts val="800"/>
              </a:spcBef>
              <a:spcAft>
                <a:spcPts val="0"/>
              </a:spcAft>
              <a:buNone/>
            </a:pPr>
            <a:r>
              <a:rPr b="0" i="0" lang="en-US" sz="1800" u="none" cap="none" strike="noStrike">
                <a:solidFill>
                  <a:srgbClr val="1F2937"/>
                </a:solidFill>
                <a:latin typeface="Arial"/>
                <a:ea typeface="Arial"/>
                <a:cs typeface="Arial"/>
                <a:sym typeface="Arial"/>
              </a:rPr>
              <a:t>• 6.  Empfehlungen und Ausblick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3"/>
          <p:cNvSpPr txBox="1"/>
          <p:nvPr/>
        </p:nvSpPr>
        <p:spPr>
          <a:xfrm>
            <a:off x="360000" y="288000"/>
            <a:ext cx="2880000" cy="288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100" u="none" cap="none" strike="noStrike">
                <a:solidFill>
                  <a:srgbClr val="2563EB"/>
                </a:solidFill>
                <a:latin typeface="Arial"/>
                <a:ea typeface="Arial"/>
                <a:cs typeface="Arial"/>
                <a:sym typeface="Arial"/>
              </a:rPr>
              <a:t>BLOCK 1 · KAPITEL 1</a:t>
            </a:r>
            <a:endParaRPr/>
          </a:p>
        </p:txBody>
      </p:sp>
      <p:sp>
        <p:nvSpPr>
          <p:cNvPr id="103" name="Google Shape;103;p3"/>
          <p:cNvSpPr txBox="1"/>
          <p:nvPr/>
        </p:nvSpPr>
        <p:spPr>
          <a:xfrm>
            <a:off x="360000" y="540000"/>
            <a:ext cx="10800000" cy="540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u="none" cap="none" strike="noStrike">
                <a:solidFill>
                  <a:srgbClr val="1F2937"/>
                </a:solidFill>
                <a:latin typeface="Arial"/>
                <a:ea typeface="Arial"/>
                <a:cs typeface="Arial"/>
                <a:sym typeface="Arial"/>
              </a:rPr>
              <a:t>Ausgangssituation</a:t>
            </a:r>
            <a:endParaRPr/>
          </a:p>
        </p:txBody>
      </p:sp>
      <p:sp>
        <p:nvSpPr>
          <p:cNvPr id="104" name="Google Shape;104;p3"/>
          <p:cNvSpPr txBox="1"/>
          <p:nvPr/>
        </p:nvSpPr>
        <p:spPr>
          <a:xfrm>
            <a:off x="348216" y="1186200"/>
            <a:ext cx="10800000" cy="64542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i="0" lang="en-US" sz="2200" u="none" cap="none" strike="noStrike">
                <a:solidFill>
                  <a:srgbClr val="1F2937"/>
                </a:solidFill>
              </a:rPr>
              <a:t>•</a:t>
            </a:r>
            <a:r>
              <a:rPr b="1" lang="en-US" sz="2200">
                <a:solidFill>
                  <a:srgbClr val="1F2937"/>
                </a:solidFill>
              </a:rPr>
              <a:t> </a:t>
            </a:r>
            <a:r>
              <a:rPr b="1" i="0" lang="en-US" sz="2200" u="none" cap="none" strike="noStrike">
                <a:solidFill>
                  <a:srgbClr val="1F2937"/>
                </a:solidFill>
              </a:rPr>
              <a:t>Organisation:</a:t>
            </a:r>
            <a:r>
              <a:rPr b="0" i="0" lang="en-US" sz="2200" u="none" cap="none" strike="noStrike">
                <a:solidFill>
                  <a:srgbClr val="1F2937"/>
                </a:solidFill>
                <a:latin typeface="Arial"/>
                <a:ea typeface="Arial"/>
                <a:cs typeface="Arial"/>
                <a:sym typeface="Arial"/>
              </a:rPr>
              <a:t> </a:t>
            </a:r>
            <a:r>
              <a:rPr lang="en-US" sz="2200">
                <a:solidFill>
                  <a:srgbClr val="1F2937"/>
                </a:solidFill>
              </a:rPr>
              <a:t>StadtWerke Westhafen GmbH</a:t>
            </a:r>
            <a:endParaRPr sz="2200">
              <a:solidFill>
                <a:srgbClr val="1F2937"/>
              </a:solidFill>
            </a:endParaRPr>
          </a:p>
          <a:p>
            <a:pPr indent="0" lvl="0" marL="0" marR="0" rtl="0" algn="just">
              <a:lnSpc>
                <a:spcPct val="150000"/>
              </a:lnSpc>
              <a:spcBef>
                <a:spcPts val="0"/>
              </a:spcBef>
              <a:spcAft>
                <a:spcPts val="0"/>
              </a:spcAft>
              <a:buNone/>
            </a:pPr>
            <a:r>
              <a:rPr b="1" i="0" lang="en-US" sz="2200" u="none" cap="none" strike="noStrike">
                <a:solidFill>
                  <a:srgbClr val="1F2937"/>
                </a:solidFill>
              </a:rPr>
              <a:t>•Probleme:</a:t>
            </a:r>
            <a:r>
              <a:rPr b="0" i="0" lang="en-US" sz="2200" u="none" cap="none" strike="noStrike">
                <a:solidFill>
                  <a:srgbClr val="1F2937"/>
                </a:solidFill>
                <a:latin typeface="Arial"/>
                <a:ea typeface="Arial"/>
                <a:cs typeface="Arial"/>
                <a:sym typeface="Arial"/>
              </a:rPr>
              <a:t> </a:t>
            </a:r>
            <a:r>
              <a:rPr b="0" i="1" lang="en-US" sz="2200" u="none" cap="none" strike="noStrike">
                <a:solidFill>
                  <a:srgbClr val="1F2937"/>
                </a:solidFill>
                <a:latin typeface="Arial"/>
                <a:ea typeface="Arial"/>
                <a:cs typeface="Arial"/>
                <a:sym typeface="Arial"/>
              </a:rPr>
              <a:t>1. </a:t>
            </a:r>
            <a:r>
              <a:rPr i="1" lang="en-US" sz="2200">
                <a:solidFill>
                  <a:schemeClr val="dk1"/>
                </a:solidFill>
              </a:rPr>
              <a:t>Ungenaue Prognosen des Stromverbrauchs </a:t>
            </a:r>
            <a:endParaRPr i="1" sz="2200">
              <a:solidFill>
                <a:schemeClr val="dk1"/>
              </a:solidFill>
            </a:endParaRPr>
          </a:p>
          <a:p>
            <a:pPr indent="0" lvl="0" marL="0" marR="0" rtl="0" algn="just">
              <a:lnSpc>
                <a:spcPct val="150000"/>
              </a:lnSpc>
              <a:spcBef>
                <a:spcPts val="0"/>
              </a:spcBef>
              <a:spcAft>
                <a:spcPts val="0"/>
              </a:spcAft>
              <a:buNone/>
            </a:pPr>
            <a:r>
              <a:rPr lang="en-US" sz="2200">
                <a:solidFill>
                  <a:schemeClr val="dk1"/>
                </a:solidFill>
              </a:rPr>
              <a:t>                    </a:t>
            </a:r>
            <a:r>
              <a:rPr i="1" lang="en-US" sz="2200">
                <a:solidFill>
                  <a:schemeClr val="dk1"/>
                </a:solidFill>
              </a:rPr>
              <a:t>2. Verspätete Erkennung von Anomalien </a:t>
            </a:r>
            <a:endParaRPr i="1" sz="2200">
              <a:solidFill>
                <a:schemeClr val="dk1"/>
              </a:solidFill>
            </a:endParaRPr>
          </a:p>
          <a:p>
            <a:pPr indent="0" lvl="0" marL="0" rtl="0" algn="just">
              <a:lnSpc>
                <a:spcPct val="150000"/>
              </a:lnSpc>
              <a:spcBef>
                <a:spcPts val="0"/>
              </a:spcBef>
              <a:spcAft>
                <a:spcPts val="0"/>
              </a:spcAft>
              <a:buNone/>
            </a:pPr>
            <a:r>
              <a:rPr b="1" lang="en-US" sz="2200">
                <a:solidFill>
                  <a:srgbClr val="1F2937"/>
                </a:solidFill>
              </a:rPr>
              <a:t>• Folgen: </a:t>
            </a:r>
            <a:r>
              <a:rPr lang="en-US" sz="2200">
                <a:solidFill>
                  <a:srgbClr val="1F2937"/>
                </a:solidFill>
              </a:rPr>
              <a:t> </a:t>
            </a:r>
            <a:r>
              <a:rPr i="1" lang="en-US" sz="2200">
                <a:solidFill>
                  <a:srgbClr val="1F2937"/>
                </a:solidFill>
              </a:rPr>
              <a:t>1. Steigende Beschaffungskosten </a:t>
            </a:r>
            <a:endParaRPr i="1" sz="2200">
              <a:solidFill>
                <a:srgbClr val="1F2937"/>
              </a:solidFill>
            </a:endParaRPr>
          </a:p>
          <a:p>
            <a:pPr indent="0" lvl="0" marL="0" rtl="0" algn="just">
              <a:lnSpc>
                <a:spcPct val="150000"/>
              </a:lnSpc>
              <a:spcBef>
                <a:spcPts val="0"/>
              </a:spcBef>
              <a:spcAft>
                <a:spcPts val="0"/>
              </a:spcAft>
              <a:buNone/>
            </a:pPr>
            <a:r>
              <a:rPr i="1" lang="en-US" sz="2200">
                <a:solidFill>
                  <a:srgbClr val="1F2937"/>
                </a:solidFill>
              </a:rPr>
              <a:t>                  2. Verzögerungen bei der Erkennung technischer Probleme</a:t>
            </a:r>
            <a:endParaRPr b="1" sz="1100">
              <a:solidFill>
                <a:schemeClr val="dk1"/>
              </a:solidFill>
            </a:endParaRPr>
          </a:p>
          <a:p>
            <a:pPr indent="0" lvl="0" marL="0" rtl="0" algn="just">
              <a:lnSpc>
                <a:spcPct val="150000"/>
              </a:lnSpc>
              <a:spcBef>
                <a:spcPts val="0"/>
              </a:spcBef>
              <a:spcAft>
                <a:spcPts val="0"/>
              </a:spcAft>
              <a:buClr>
                <a:schemeClr val="dk1"/>
              </a:buClr>
              <a:buSzPts val="1100"/>
              <a:buFont typeface="Arial"/>
              <a:buNone/>
            </a:pPr>
            <a:r>
              <a:rPr b="1" lang="en-US" sz="2200">
                <a:solidFill>
                  <a:srgbClr val="1F2937"/>
                </a:solidFill>
              </a:rPr>
              <a:t>• Bisherige Analytics-Prozesse: </a:t>
            </a:r>
            <a:r>
              <a:rPr lang="en-US" sz="2200">
                <a:solidFill>
                  <a:srgbClr val="1F2937"/>
                </a:solidFill>
              </a:rPr>
              <a:t>Ein automatisiertes Prognosesystem ist nicht vorhanden. </a:t>
            </a:r>
            <a:endParaRPr sz="2200">
              <a:solidFill>
                <a:srgbClr val="1F2937"/>
              </a:solidFill>
            </a:endParaRPr>
          </a:p>
          <a:p>
            <a:pPr indent="0" lvl="0" marL="0" marR="0" rtl="0" algn="just">
              <a:lnSpc>
                <a:spcPct val="150000"/>
              </a:lnSpc>
              <a:spcBef>
                <a:spcPts val="0"/>
              </a:spcBef>
              <a:spcAft>
                <a:spcPts val="0"/>
              </a:spcAft>
              <a:buNone/>
            </a:pPr>
            <a:r>
              <a:rPr b="1" i="0" lang="en-US" sz="2200" u="none" cap="none" strike="noStrike">
                <a:solidFill>
                  <a:srgbClr val="1F2937"/>
                </a:solidFill>
              </a:rPr>
              <a:t>• Projektziel: </a:t>
            </a:r>
            <a:r>
              <a:rPr lang="en-US" sz="2200">
                <a:solidFill>
                  <a:srgbClr val="1F2937"/>
                </a:solidFill>
              </a:rPr>
              <a:t>ML-Modell für Verbrauchsprognose und Anomalieerkennung</a:t>
            </a:r>
            <a:endParaRPr sz="2200">
              <a:solidFill>
                <a:srgbClr val="1F2937"/>
              </a:solidFill>
            </a:endParaRPr>
          </a:p>
          <a:p>
            <a:pPr indent="0" lvl="0" marL="0" rtl="0" algn="just">
              <a:lnSpc>
                <a:spcPct val="150000"/>
              </a:lnSpc>
              <a:spcBef>
                <a:spcPts val="0"/>
              </a:spcBef>
              <a:spcAft>
                <a:spcPts val="0"/>
              </a:spcAft>
              <a:buNone/>
            </a:pPr>
            <a:r>
              <a:rPr b="1" lang="en-US" sz="2200">
                <a:solidFill>
                  <a:srgbClr val="1F2937"/>
                </a:solidFill>
              </a:rPr>
              <a:t>• Projektnutzen: </a:t>
            </a:r>
            <a:r>
              <a:rPr lang="en-US" sz="2200">
                <a:solidFill>
                  <a:schemeClr val="dk1"/>
                </a:solidFill>
              </a:rPr>
              <a:t>Datenbasierte Lösung der identifizierten Probleme.</a:t>
            </a:r>
            <a:endParaRPr sz="2200">
              <a:solidFill>
                <a:schemeClr val="dk1"/>
              </a:solidFill>
            </a:endParaRPr>
          </a:p>
          <a:p>
            <a:pPr indent="0" lvl="0" marL="0" rtl="0" algn="just">
              <a:lnSpc>
                <a:spcPct val="150000"/>
              </a:lnSpc>
              <a:spcBef>
                <a:spcPts val="0"/>
              </a:spcBef>
              <a:spcAft>
                <a:spcPts val="0"/>
              </a:spcAft>
              <a:buNone/>
            </a:pPr>
            <a:r>
              <a:t/>
            </a:r>
            <a:endParaRPr sz="22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b="1" sz="1100">
              <a:solidFill>
                <a:schemeClr val="dk1"/>
              </a:solidFill>
            </a:endParaRPr>
          </a:p>
          <a:p>
            <a:pPr indent="0" lvl="0" marL="0" rtl="0" algn="just">
              <a:spcBef>
                <a:spcPts val="1200"/>
              </a:spcBef>
              <a:spcAft>
                <a:spcPts val="0"/>
              </a:spcAft>
              <a:buClr>
                <a:schemeClr val="dk1"/>
              </a:buClr>
              <a:buFont typeface="Arial"/>
              <a:buNone/>
            </a:pPr>
            <a:r>
              <a:t/>
            </a:r>
            <a:endParaRPr sz="2200">
              <a:solidFill>
                <a:srgbClr val="1F2937"/>
              </a:solidFill>
            </a:endParaRPr>
          </a:p>
          <a:p>
            <a:pPr indent="0" lvl="0" marL="0" marR="0" rtl="0" algn="l">
              <a:spcBef>
                <a:spcPts val="800"/>
              </a:spcBef>
              <a:spcAft>
                <a:spcPts val="0"/>
              </a:spcAft>
              <a:buNone/>
            </a:pPr>
            <a:r>
              <a:t/>
            </a:r>
            <a:endParaRPr sz="2200">
              <a:solidFill>
                <a:srgbClr val="1F2937"/>
              </a:solidFill>
            </a:endParaRPr>
          </a:p>
        </p:txBody>
      </p:sp>
      <p:sp>
        <p:nvSpPr>
          <p:cNvPr id="105" name="Google Shape;105;p3"/>
          <p:cNvSpPr txBox="1"/>
          <p:nvPr/>
        </p:nvSpPr>
        <p:spPr>
          <a:xfrm>
            <a:off x="540000" y="6300000"/>
            <a:ext cx="10800000" cy="360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1200" u="none" cap="none" strike="noStrike">
                <a:solidFill>
                  <a:srgbClr val="606060"/>
                </a:solidFill>
                <a:latin typeface="Arial"/>
                <a:ea typeface="Arial"/>
                <a:cs typeface="Arial"/>
                <a:sym typeface="Arial"/>
              </a:rPr>
              <a:t>Tipp: Eine Folie reicht. Vermeiden Sie generische Branchen-Einführungen.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g3f8dcff49c5_0_59"/>
          <p:cNvSpPr txBox="1"/>
          <p:nvPr/>
        </p:nvSpPr>
        <p:spPr>
          <a:xfrm>
            <a:off x="237550" y="141375"/>
            <a:ext cx="108000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u="none" cap="none" strike="noStrike">
                <a:solidFill>
                  <a:srgbClr val="1F2937"/>
                </a:solidFill>
                <a:latin typeface="Arial"/>
                <a:ea typeface="Arial"/>
                <a:cs typeface="Arial"/>
                <a:sym typeface="Arial"/>
              </a:rPr>
              <a:t>Daten</a:t>
            </a:r>
            <a:r>
              <a:rPr b="1" lang="en-US" sz="2800">
                <a:solidFill>
                  <a:srgbClr val="1F2937"/>
                </a:solidFill>
              </a:rPr>
              <a:t>struktur</a:t>
            </a:r>
            <a:endParaRPr sz="2800"/>
          </a:p>
        </p:txBody>
      </p:sp>
      <p:graphicFrame>
        <p:nvGraphicFramePr>
          <p:cNvPr id="111" name="Google Shape;111;g3f8dcff49c5_0_59"/>
          <p:cNvGraphicFramePr/>
          <p:nvPr/>
        </p:nvGraphicFramePr>
        <p:xfrm>
          <a:off x="237538" y="854521"/>
          <a:ext cx="3000000" cy="3000000"/>
        </p:xfrm>
        <a:graphic>
          <a:graphicData uri="http://schemas.openxmlformats.org/drawingml/2006/table">
            <a:tbl>
              <a:tblPr>
                <a:noFill/>
                <a:tableStyleId>{D81028F4-D13A-40BA-8AC4-B97C08D46F45}</a:tableStyleId>
              </a:tblPr>
              <a:tblGrid>
                <a:gridCol w="3858200"/>
                <a:gridCol w="8225700"/>
              </a:tblGrid>
              <a:tr h="333375">
                <a:tc>
                  <a:txBody>
                    <a:bodyPr/>
                    <a:lstStyle/>
                    <a:p>
                      <a:pPr indent="0" lvl="0" marL="0" rtl="0" algn="ctr">
                        <a:lnSpc>
                          <a:spcPct val="100000"/>
                        </a:lnSpc>
                        <a:spcBef>
                          <a:spcPts val="0"/>
                        </a:spcBef>
                        <a:spcAft>
                          <a:spcPts val="0"/>
                        </a:spcAft>
                        <a:buNone/>
                      </a:pPr>
                      <a:r>
                        <a:rPr b="1" lang="en-US" sz="2200"/>
                        <a:t>Kategorie</a:t>
                      </a:r>
                      <a:endParaRPr b="1" sz="2200"/>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b="1" lang="en-US" sz="2200"/>
                        <a:t>Merkmale</a:t>
                      </a:r>
                      <a:endParaRPr b="1" sz="2200"/>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33375">
                <a:tc>
                  <a:txBody>
                    <a:bodyPr/>
                    <a:lstStyle/>
                    <a:p>
                      <a:pPr indent="0" lvl="0" marL="0" rtl="0" algn="l">
                        <a:lnSpc>
                          <a:spcPct val="115000"/>
                        </a:lnSpc>
                        <a:spcBef>
                          <a:spcPts val="1200"/>
                        </a:spcBef>
                        <a:spcAft>
                          <a:spcPts val="1200"/>
                        </a:spcAft>
                        <a:buNone/>
                      </a:pPr>
                      <a:r>
                        <a:rPr b="1" lang="en-US" sz="2200">
                          <a:solidFill>
                            <a:schemeClr val="dk1"/>
                          </a:solidFill>
                        </a:rPr>
                        <a:t>Identifikation</a:t>
                      </a:r>
                      <a:endParaRPr b="1" sz="2200"/>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US" sz="2200"/>
                        <a:t>Zähler-ID, Kunden-ID (700 </a:t>
                      </a:r>
                      <a:r>
                        <a:rPr lang="en-US" sz="2200">
                          <a:solidFill>
                            <a:schemeClr val="dk1"/>
                          </a:solidFill>
                        </a:rPr>
                        <a:t>eindeutige</a:t>
                      </a:r>
                      <a:r>
                        <a:rPr lang="en-US" sz="2200"/>
                        <a:t>)</a:t>
                      </a:r>
                      <a:endParaRPr sz="2200"/>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09575">
                <a:tc>
                  <a:txBody>
                    <a:bodyPr/>
                    <a:lstStyle/>
                    <a:p>
                      <a:pPr indent="0" lvl="0" marL="0" rtl="0" algn="l">
                        <a:spcBef>
                          <a:spcPts val="0"/>
                        </a:spcBef>
                        <a:spcAft>
                          <a:spcPts val="0"/>
                        </a:spcAft>
                        <a:buClr>
                          <a:schemeClr val="dk1"/>
                        </a:buClr>
                        <a:buSzPts val="1100"/>
                        <a:buFont typeface="Arial"/>
                        <a:buNone/>
                      </a:pPr>
                      <a:r>
                        <a:rPr b="1" lang="en-US" sz="2200">
                          <a:solidFill>
                            <a:schemeClr val="dk1"/>
                          </a:solidFill>
                        </a:rPr>
                        <a:t>Verbrauch</a:t>
                      </a:r>
                      <a:endParaRPr b="1" sz="2200"/>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2200"/>
                        <a:t>Verbrauch, Vormonat-, 3-Monats-Durchschnitt-, Vorjahresverbrauch</a:t>
                      </a:r>
                      <a:endParaRPr sz="2200"/>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09575">
                <a:tc>
                  <a:txBody>
                    <a:bodyPr/>
                    <a:lstStyle/>
                    <a:p>
                      <a:pPr indent="0" lvl="0" marL="0" rtl="0" algn="l">
                        <a:lnSpc>
                          <a:spcPct val="100000"/>
                        </a:lnSpc>
                        <a:spcBef>
                          <a:spcPts val="0"/>
                        </a:spcBef>
                        <a:spcAft>
                          <a:spcPts val="0"/>
                        </a:spcAft>
                        <a:buNone/>
                      </a:pPr>
                      <a:r>
                        <a:rPr b="1" lang="en-US" sz="2200"/>
                        <a:t>Wetter</a:t>
                      </a:r>
                      <a:endParaRPr b="1" sz="2200"/>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2200"/>
                        <a:t>Temperatur, Heiztage</a:t>
                      </a:r>
                      <a:endParaRPr sz="2200"/>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09575">
                <a:tc>
                  <a:txBody>
                    <a:bodyPr/>
                    <a:lstStyle/>
                    <a:p>
                      <a:pPr indent="0" lvl="0" marL="0" rtl="0" algn="l">
                        <a:lnSpc>
                          <a:spcPct val="115000"/>
                        </a:lnSpc>
                        <a:spcBef>
                          <a:spcPts val="1200"/>
                        </a:spcBef>
                        <a:spcAft>
                          <a:spcPts val="1200"/>
                        </a:spcAft>
                        <a:buNone/>
                      </a:pPr>
                      <a:r>
                        <a:rPr b="1" lang="en-US" sz="2200">
                          <a:solidFill>
                            <a:schemeClr val="dk1"/>
                          </a:solidFill>
                        </a:rPr>
                        <a:t>Kalender</a:t>
                      </a:r>
                      <a:endParaRPr b="1" sz="2200"/>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US" sz="2200"/>
                        <a:t>Monat/Jahr (24 </a:t>
                      </a:r>
                      <a:r>
                        <a:rPr lang="en-US" sz="2200">
                          <a:solidFill>
                            <a:schemeClr val="dk1"/>
                          </a:solidFill>
                        </a:rPr>
                        <a:t>eindeutige)</a:t>
                      </a:r>
                      <a:r>
                        <a:rPr lang="en-US" sz="2200"/>
                        <a:t>, Arbeitstage, Feiertage im Monat</a:t>
                      </a:r>
                      <a:endParaRPr sz="2200"/>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00000">
                <a:tc>
                  <a:txBody>
                    <a:bodyPr/>
                    <a:lstStyle/>
                    <a:p>
                      <a:pPr indent="0" lvl="0" marL="0" rtl="0" algn="l">
                        <a:lnSpc>
                          <a:spcPct val="115000"/>
                        </a:lnSpc>
                        <a:spcBef>
                          <a:spcPts val="1200"/>
                        </a:spcBef>
                        <a:spcAft>
                          <a:spcPts val="1200"/>
                        </a:spcAft>
                        <a:buNone/>
                      </a:pPr>
                      <a:r>
                        <a:rPr b="1" lang="en-US" sz="2200">
                          <a:solidFill>
                            <a:schemeClr val="dk1"/>
                          </a:solidFill>
                        </a:rPr>
                        <a:t>Produktion &amp; Betrieb</a:t>
                      </a:r>
                      <a:endParaRPr b="1" sz="2200"/>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2200"/>
                        <a:t>Produktionsplan index, Wartung</a:t>
                      </a:r>
                      <a:endParaRPr sz="2200"/>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09575">
                <a:tc>
                  <a:txBody>
                    <a:bodyPr/>
                    <a:lstStyle/>
                    <a:p>
                      <a:pPr indent="0" lvl="0" marL="0" rtl="0" algn="l">
                        <a:lnSpc>
                          <a:spcPct val="115000"/>
                        </a:lnSpc>
                        <a:spcBef>
                          <a:spcPts val="1200"/>
                        </a:spcBef>
                        <a:spcAft>
                          <a:spcPts val="1200"/>
                        </a:spcAft>
                        <a:buNone/>
                      </a:pPr>
                      <a:r>
                        <a:rPr b="1" lang="en-US" sz="2200">
                          <a:solidFill>
                            <a:schemeClr val="dk1"/>
                          </a:solidFill>
                        </a:rPr>
                        <a:t>Kunden &amp; Vertrag</a:t>
                      </a:r>
                      <a:endParaRPr b="1" sz="2200"/>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2200"/>
                        <a:t>Kundentyp, Vertragsleistung</a:t>
                      </a:r>
                      <a:endParaRPr sz="2200"/>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09575">
                <a:tc gridSpan="2" rowSpan="2">
                  <a:txBody>
                    <a:bodyPr/>
                    <a:lstStyle/>
                    <a:p>
                      <a:pPr indent="0" lvl="0" marL="0" rtl="0" algn="l">
                        <a:lnSpc>
                          <a:spcPct val="100000"/>
                        </a:lnSpc>
                        <a:spcBef>
                          <a:spcPts val="1000"/>
                        </a:spcBef>
                        <a:spcAft>
                          <a:spcPts val="0"/>
                        </a:spcAft>
                        <a:buNone/>
                      </a:pPr>
                      <a:r>
                        <a:rPr b="1" lang="en-US" sz="2000">
                          <a:solidFill>
                            <a:schemeClr val="dk1"/>
                          </a:solidFill>
                        </a:rPr>
                        <a:t>Datensatz vor der Bereinigung:</a:t>
                      </a:r>
                      <a:r>
                        <a:rPr lang="en-US" sz="2000">
                          <a:solidFill>
                            <a:schemeClr val="dk1"/>
                          </a:solidFill>
                        </a:rPr>
                        <a:t>16.830 Zeilen · 16 Spalten · 700 Zähler · 01.2024–12.2025 (24 monate)</a:t>
                      </a:r>
                      <a:endParaRPr b="1" sz="2000"/>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rowSpan="2" hMerge="1"/>
              </a:tr>
              <a:tr h="409575">
                <a:tc gridSpan="2" vMerge="1"/>
                <a:tc hMerge="1" vMerge="1"/>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g3fb93177103_0_5"/>
          <p:cNvSpPr txBox="1"/>
          <p:nvPr/>
        </p:nvSpPr>
        <p:spPr>
          <a:xfrm>
            <a:off x="237550" y="141375"/>
            <a:ext cx="108000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u="none" cap="none" strike="noStrike">
                <a:solidFill>
                  <a:srgbClr val="1F2937"/>
                </a:solidFill>
                <a:latin typeface="Arial"/>
                <a:ea typeface="Arial"/>
                <a:cs typeface="Arial"/>
                <a:sym typeface="Arial"/>
              </a:rPr>
              <a:t>Datenqualität</a:t>
            </a:r>
            <a:endParaRPr sz="2800"/>
          </a:p>
        </p:txBody>
      </p:sp>
      <p:graphicFrame>
        <p:nvGraphicFramePr>
          <p:cNvPr id="118" name="Google Shape;118;g3fb93177103_0_5"/>
          <p:cNvGraphicFramePr/>
          <p:nvPr/>
        </p:nvGraphicFramePr>
        <p:xfrm>
          <a:off x="85775" y="853208"/>
          <a:ext cx="3000000" cy="3000000"/>
        </p:xfrm>
        <a:graphic>
          <a:graphicData uri="http://schemas.openxmlformats.org/drawingml/2006/table">
            <a:tbl>
              <a:tblPr>
                <a:noFill/>
                <a:tableStyleId>{D81028F4-D13A-40BA-8AC4-B97C08D46F45}</a:tableStyleId>
              </a:tblPr>
              <a:tblGrid>
                <a:gridCol w="5453800"/>
                <a:gridCol w="2260750"/>
                <a:gridCol w="4306000"/>
              </a:tblGrid>
              <a:tr h="342900">
                <a:tc>
                  <a:txBody>
                    <a:bodyPr/>
                    <a:lstStyle/>
                    <a:p>
                      <a:pPr indent="0" lvl="0" marL="0" rtl="0" algn="ctr">
                        <a:lnSpc>
                          <a:spcPct val="115000"/>
                        </a:lnSpc>
                        <a:spcBef>
                          <a:spcPts val="0"/>
                        </a:spcBef>
                        <a:spcAft>
                          <a:spcPts val="1200"/>
                        </a:spcAft>
                        <a:buNone/>
                      </a:pPr>
                      <a:r>
                        <a:rPr b="1" lang="en-US" sz="2200"/>
                        <a:t>Problem</a:t>
                      </a:r>
                      <a:endParaRPr b="1" sz="2200"/>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1200"/>
                        </a:spcAft>
                        <a:buNone/>
                      </a:pPr>
                      <a:r>
                        <a:rPr b="1" lang="en-US" sz="2200"/>
                        <a:t>Umfang</a:t>
                      </a:r>
                      <a:endParaRPr b="1" sz="2200"/>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1200"/>
                        </a:spcAft>
                        <a:buNone/>
                      </a:pPr>
                      <a:r>
                        <a:rPr b="1" lang="en-US" sz="2200"/>
                        <a:t>Maßnahme</a:t>
                      </a:r>
                      <a:endParaRPr b="1" sz="2200"/>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42900">
                <a:tc>
                  <a:txBody>
                    <a:bodyPr/>
                    <a:lstStyle/>
                    <a:p>
                      <a:pPr indent="0" lvl="0" marL="0" rtl="0" algn="l">
                        <a:lnSpc>
                          <a:spcPct val="115000"/>
                        </a:lnSpc>
                        <a:spcBef>
                          <a:spcPts val="0"/>
                        </a:spcBef>
                        <a:spcAft>
                          <a:spcPts val="1000"/>
                        </a:spcAft>
                        <a:buClr>
                          <a:schemeClr val="dk1"/>
                        </a:buClr>
                        <a:buSzPts val="1100"/>
                        <a:buFont typeface="Arial"/>
                        <a:buNone/>
                      </a:pPr>
                      <a:r>
                        <a:rPr b="1" lang="en-US" sz="2200">
                          <a:solidFill>
                            <a:schemeClr val="dk1"/>
                          </a:solidFill>
                        </a:rPr>
                        <a:t>Duplikate</a:t>
                      </a:r>
                      <a:endParaRPr b="1" sz="2200"/>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1000"/>
                        </a:spcAft>
                        <a:buClr>
                          <a:schemeClr val="dk1"/>
                        </a:buClr>
                        <a:buSzPts val="1100"/>
                        <a:buFont typeface="Arial"/>
                        <a:buNone/>
                      </a:pPr>
                      <a:r>
                        <a:rPr lang="en-US" sz="2200">
                          <a:solidFill>
                            <a:schemeClr val="dk1"/>
                          </a:solidFill>
                        </a:rPr>
                        <a:t>30 (0,18 %)</a:t>
                      </a:r>
                      <a:endParaRPr b="1" sz="2200"/>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1000"/>
                        </a:spcAft>
                        <a:buClr>
                          <a:schemeClr val="dk1"/>
                        </a:buClr>
                        <a:buSzPts val="1100"/>
                        <a:buFont typeface="Arial"/>
                        <a:buNone/>
                      </a:pPr>
                      <a:r>
                        <a:rPr lang="en-US" sz="2200">
                          <a:solidFill>
                            <a:schemeClr val="dk1"/>
                          </a:solidFill>
                        </a:rPr>
                        <a:t>Entfernt</a:t>
                      </a:r>
                      <a:endParaRPr b="1" sz="2200"/>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42900">
                <a:tc>
                  <a:txBody>
                    <a:bodyPr/>
                    <a:lstStyle/>
                    <a:p>
                      <a:pPr indent="0" lvl="0" marL="0" rtl="0" algn="l">
                        <a:lnSpc>
                          <a:spcPct val="115000"/>
                        </a:lnSpc>
                        <a:spcBef>
                          <a:spcPts val="0"/>
                        </a:spcBef>
                        <a:spcAft>
                          <a:spcPts val="0"/>
                        </a:spcAft>
                        <a:buNone/>
                      </a:pPr>
                      <a:r>
                        <a:rPr b="1" lang="en-US" sz="2200">
                          <a:solidFill>
                            <a:srgbClr val="1F2937"/>
                          </a:solidFill>
                        </a:rPr>
                        <a:t>Fehlende Werte </a:t>
                      </a:r>
                      <a:r>
                        <a:rPr lang="en-US" sz="2200">
                          <a:solidFill>
                            <a:srgbClr val="188038"/>
                          </a:solidFill>
                          <a:latin typeface="Roboto Mono"/>
                          <a:ea typeface="Roboto Mono"/>
                          <a:cs typeface="Roboto Mono"/>
                          <a:sym typeface="Roboto Mono"/>
                        </a:rPr>
                        <a:t>vorjahr verbrauch_kwh</a:t>
                      </a:r>
                      <a:endParaRPr sz="2200">
                        <a:solidFill>
                          <a:srgbClr val="188038"/>
                        </a:solidFill>
                        <a:latin typeface="Roboto Mono"/>
                        <a:ea typeface="Roboto Mono"/>
                        <a:cs typeface="Roboto Mono"/>
                        <a:sym typeface="Roboto Mono"/>
                      </a:endParaRPr>
                    </a:p>
                    <a:p>
                      <a:pPr indent="0" lvl="0" marL="0" rtl="0" algn="l">
                        <a:lnSpc>
                          <a:spcPct val="115000"/>
                        </a:lnSpc>
                        <a:spcBef>
                          <a:spcPts val="1000"/>
                        </a:spcBef>
                        <a:spcAft>
                          <a:spcPts val="1000"/>
                        </a:spcAft>
                        <a:buClr>
                          <a:schemeClr val="dk1"/>
                        </a:buClr>
                        <a:buSzPts val="1100"/>
                        <a:buFont typeface="Arial"/>
                        <a:buNone/>
                      </a:pPr>
                      <a:r>
                        <a:rPr lang="en-US" sz="2200">
                          <a:solidFill>
                            <a:srgbClr val="188038"/>
                          </a:solidFill>
                          <a:latin typeface="Roboto Mono"/>
                          <a:ea typeface="Roboto Mono"/>
                          <a:cs typeface="Roboto Mono"/>
                          <a:sym typeface="Roboto Mono"/>
                        </a:rPr>
                        <a:t>vormonat_verbrauch_kwh</a:t>
                      </a:r>
                      <a:endParaRPr sz="2200">
                        <a:solidFill>
                          <a:srgbClr val="188038"/>
                        </a:solidFill>
                        <a:latin typeface="Roboto Mono"/>
                        <a:ea typeface="Roboto Mono"/>
                        <a:cs typeface="Roboto Mono"/>
                        <a:sym typeface="Roboto Mono"/>
                      </a:endParaRPr>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200"/>
                        <a:t>8.400 (50 %)</a:t>
                      </a:r>
                      <a:endParaRPr sz="2200"/>
                    </a:p>
                    <a:p>
                      <a:pPr indent="0" lvl="0" marL="0" rtl="0" algn="l">
                        <a:lnSpc>
                          <a:spcPct val="115000"/>
                        </a:lnSpc>
                        <a:spcBef>
                          <a:spcPts val="1000"/>
                        </a:spcBef>
                        <a:spcAft>
                          <a:spcPts val="1000"/>
                        </a:spcAft>
                        <a:buClr>
                          <a:schemeClr val="dk1"/>
                        </a:buClr>
                        <a:buSzPts val="1100"/>
                        <a:buFont typeface="Arial"/>
                        <a:buNone/>
                      </a:pPr>
                      <a:r>
                        <a:rPr lang="en-US" sz="2200">
                          <a:solidFill>
                            <a:schemeClr val="dk1"/>
                          </a:solidFill>
                        </a:rPr>
                        <a:t>700 (4 %)</a:t>
                      </a:r>
                      <a:endParaRPr sz="2200"/>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1000"/>
                        </a:spcAft>
                        <a:buNone/>
                      </a:pPr>
                      <a:r>
                        <a:rPr lang="en-US" sz="2200"/>
                        <a:t>Strukturell bedingt → nicht imputiert</a:t>
                      </a:r>
                      <a:endParaRPr sz="2200"/>
                    </a:p>
                  </a:txBody>
                  <a:tcPr marT="76200" marB="7315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42900">
                <a:tc>
                  <a:txBody>
                    <a:bodyPr/>
                    <a:lstStyle/>
                    <a:p>
                      <a:pPr indent="0" lvl="0" marL="0" rtl="0" algn="l">
                        <a:lnSpc>
                          <a:spcPct val="115000"/>
                        </a:lnSpc>
                        <a:spcBef>
                          <a:spcPts val="0"/>
                        </a:spcBef>
                        <a:spcAft>
                          <a:spcPts val="0"/>
                        </a:spcAft>
                        <a:buNone/>
                      </a:pPr>
                      <a:r>
                        <a:rPr b="1" lang="en-US" sz="2200"/>
                        <a:t>Inkonsistente Datumswerte </a:t>
                      </a:r>
                      <a:r>
                        <a:rPr lang="en-US" sz="2200">
                          <a:solidFill>
                            <a:srgbClr val="188038"/>
                          </a:solidFill>
                          <a:latin typeface="Roboto Mono"/>
                          <a:ea typeface="Roboto Mono"/>
                          <a:cs typeface="Roboto Mono"/>
                          <a:sym typeface="Roboto Mono"/>
                        </a:rPr>
                        <a:t>monat</a:t>
                      </a:r>
                      <a:endParaRPr b="1" sz="2200"/>
                    </a:p>
                    <a:p>
                      <a:pPr indent="0" lvl="0" marL="0" rtl="0" algn="l">
                        <a:lnSpc>
                          <a:spcPct val="115000"/>
                        </a:lnSpc>
                        <a:spcBef>
                          <a:spcPts val="1000"/>
                        </a:spcBef>
                        <a:spcAft>
                          <a:spcPts val="1000"/>
                        </a:spcAft>
                        <a:buClr>
                          <a:schemeClr val="dk1"/>
                        </a:buClr>
                        <a:buSzPts val="1100"/>
                        <a:buFont typeface="Arial"/>
                        <a:buNone/>
                      </a:pPr>
                      <a:r>
                        <a:rPr lang="en-US" sz="2200">
                          <a:solidFill>
                            <a:srgbClr val="188038"/>
                          </a:solidFill>
                          <a:latin typeface="Roboto Mono"/>
                          <a:ea typeface="Roboto Mono"/>
                          <a:cs typeface="Roboto Mono"/>
                          <a:sym typeface="Roboto Mono"/>
                        </a:rPr>
                        <a:t>kunden_typen</a:t>
                      </a:r>
                      <a:endParaRPr sz="2200">
                        <a:solidFill>
                          <a:srgbClr val="188038"/>
                        </a:solidFill>
                        <a:latin typeface="Roboto Mono"/>
                        <a:ea typeface="Roboto Mono"/>
                        <a:cs typeface="Roboto Mono"/>
                        <a:sym typeface="Roboto Mono"/>
                      </a:endParaRPr>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200"/>
                        <a:t>11.316 (67 %)</a:t>
                      </a:r>
                      <a:endParaRPr sz="2200"/>
                    </a:p>
                    <a:p>
                      <a:pPr indent="0" lvl="0" marL="0" rtl="0" algn="l">
                        <a:lnSpc>
                          <a:spcPct val="115000"/>
                        </a:lnSpc>
                        <a:spcBef>
                          <a:spcPts val="1000"/>
                        </a:spcBef>
                        <a:spcAft>
                          <a:spcPts val="1000"/>
                        </a:spcAft>
                        <a:buNone/>
                      </a:pPr>
                      <a:r>
                        <a:rPr lang="en-US" sz="2200"/>
                        <a:t>505 (3 %)</a:t>
                      </a:r>
                      <a:endParaRPr sz="2200"/>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dk1"/>
                        </a:buClr>
                        <a:buSzPts val="1100"/>
                        <a:buFont typeface="Arial"/>
                        <a:buNone/>
                      </a:pPr>
                      <a:r>
                        <a:rPr lang="en-US" sz="2200"/>
                        <a:t>Datumsformat und</a:t>
                      </a:r>
                      <a:endParaRPr sz="2200"/>
                    </a:p>
                    <a:p>
                      <a:pPr indent="0" lvl="0" marL="0" rtl="0" algn="l">
                        <a:lnSpc>
                          <a:spcPct val="115000"/>
                        </a:lnSpc>
                        <a:spcBef>
                          <a:spcPts val="1000"/>
                        </a:spcBef>
                        <a:spcAft>
                          <a:spcPts val="1000"/>
                        </a:spcAft>
                        <a:buNone/>
                      </a:pPr>
                      <a:r>
                        <a:rPr lang="en-US" sz="2200"/>
                        <a:t>Kategorien vereinheitlicht</a:t>
                      </a:r>
                      <a:endParaRPr sz="2200"/>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42900">
                <a:tc>
                  <a:txBody>
                    <a:bodyPr/>
                    <a:lstStyle/>
                    <a:p>
                      <a:pPr indent="0" lvl="0" marL="0" rtl="0" algn="l">
                        <a:lnSpc>
                          <a:spcPct val="115000"/>
                        </a:lnSpc>
                        <a:spcBef>
                          <a:spcPts val="0"/>
                        </a:spcBef>
                        <a:spcAft>
                          <a:spcPts val="1000"/>
                        </a:spcAft>
                        <a:buNone/>
                      </a:pPr>
                      <a:r>
                        <a:rPr b="1" lang="en-US" sz="2200"/>
                        <a:t>Ausreißer / fehlerhafte Werte </a:t>
                      </a:r>
                      <a:r>
                        <a:rPr lang="en-US" sz="2200">
                          <a:solidFill>
                            <a:srgbClr val="188038"/>
                          </a:solidFill>
                          <a:latin typeface="Roboto Mono"/>
                          <a:ea typeface="Roboto Mono"/>
                          <a:cs typeface="Roboto Mono"/>
                          <a:sym typeface="Roboto Mono"/>
                        </a:rPr>
                        <a:t>verbrauch_kwh</a:t>
                      </a:r>
                      <a:endParaRPr sz="2200">
                        <a:solidFill>
                          <a:srgbClr val="188038"/>
                        </a:solidFill>
                        <a:latin typeface="Roboto Mono"/>
                        <a:ea typeface="Roboto Mono"/>
                        <a:cs typeface="Roboto Mono"/>
                        <a:sym typeface="Roboto Mono"/>
                      </a:endParaRPr>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1000"/>
                        </a:spcAft>
                        <a:buNone/>
                      </a:pPr>
                      <a:r>
                        <a:rPr lang="en-US" sz="2200"/>
                        <a:t>20 (0,12 %)</a:t>
                      </a:r>
                      <a:endParaRPr sz="2200"/>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US" sz="2000">
                          <a:solidFill>
                            <a:schemeClr val="dk1"/>
                          </a:solidFill>
                        </a:rPr>
                        <a:t>Geprüft </a:t>
                      </a:r>
                      <a:endParaRPr sz="2200"/>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42900">
                <a:tc gridSpan="3">
                  <a:txBody>
                    <a:bodyPr/>
                    <a:lstStyle/>
                    <a:p>
                      <a:pPr indent="0" lvl="0" marL="0" rtl="0" algn="l">
                        <a:lnSpc>
                          <a:spcPct val="115000"/>
                        </a:lnSpc>
                        <a:spcBef>
                          <a:spcPts val="0"/>
                        </a:spcBef>
                        <a:spcAft>
                          <a:spcPts val="1000"/>
                        </a:spcAft>
                        <a:buNone/>
                      </a:pPr>
                      <a:r>
                        <a:rPr b="1" lang="en-US" sz="2000">
                          <a:solidFill>
                            <a:schemeClr val="dk1"/>
                          </a:solidFill>
                        </a:rPr>
                        <a:t>Datensatz nach der Bereinigung:</a:t>
                      </a:r>
                      <a:r>
                        <a:rPr lang="en-US" sz="1900">
                          <a:solidFill>
                            <a:schemeClr val="dk1"/>
                          </a:solidFill>
                        </a:rPr>
                        <a:t>16.800 Zeilen · 16 Spalten · 700 Zähler · 01.2024–12.2025 (24 monate)</a:t>
                      </a:r>
                      <a:endParaRPr b="1" sz="1900"/>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c hMerge="1"/>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pic>
        <p:nvPicPr>
          <p:cNvPr id="123" name="Google Shape;123;h45f2655967f9aec0_0_0" title="01_typischer_verbrauch.png"/>
          <p:cNvPicPr preferRelativeResize="0"/>
          <p:nvPr/>
        </p:nvPicPr>
        <p:blipFill>
          <a:blip r:embed="rId3">
            <a:alphaModFix/>
          </a:blip>
          <a:stretch>
            <a:fillRect/>
          </a:stretch>
        </p:blipFill>
        <p:spPr>
          <a:xfrm>
            <a:off x="1637125" y="81700"/>
            <a:ext cx="8451482" cy="65532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pic>
        <p:nvPicPr>
          <p:cNvPr id="128" name="Google Shape;128;h45f2655967f9aec0_0_4" title="02_hoechster_verbrauch.png"/>
          <p:cNvPicPr preferRelativeResize="0"/>
          <p:nvPr/>
        </p:nvPicPr>
        <p:blipFill>
          <a:blip r:embed="rId3">
            <a:alphaModFix/>
          </a:blip>
          <a:stretch>
            <a:fillRect/>
          </a:stretch>
        </p:blipFill>
        <p:spPr>
          <a:xfrm>
            <a:off x="1460375" y="152400"/>
            <a:ext cx="8456806" cy="655319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pic>
        <p:nvPicPr>
          <p:cNvPr id="133" name="Google Shape;133;h45f2655967f9aec0_0_8" title="03_relative_verbrauchsspitze_kundentyp.png"/>
          <p:cNvPicPr preferRelativeResize="0"/>
          <p:nvPr/>
        </p:nvPicPr>
        <p:blipFill>
          <a:blip r:embed="rId3">
            <a:alphaModFix/>
          </a:blip>
          <a:stretch>
            <a:fillRect/>
          </a:stretch>
        </p:blipFill>
        <p:spPr>
          <a:xfrm>
            <a:off x="1931700" y="58125"/>
            <a:ext cx="8193500" cy="6553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8" name="Shape 138"/>
        <p:cNvGrpSpPr/>
        <p:nvPr/>
      </p:nvGrpSpPr>
      <p:grpSpPr>
        <a:xfrm>
          <a:off x="0" y="0"/>
          <a:ext cx="0" cy="0"/>
          <a:chOff x="0" y="0"/>
          <a:chExt cx="0" cy="0"/>
        </a:xfrm>
      </p:grpSpPr>
      <p:sp>
        <p:nvSpPr>
          <p:cNvPr id="139" name="Google Shape;139;h510714b4cc47d3b6_0_0"/>
          <p:cNvSpPr/>
          <p:nvPr/>
        </p:nvSpPr>
        <p:spPr>
          <a:xfrm>
            <a:off x="0" y="0"/>
            <a:ext cx="5610300" cy="6858000"/>
          </a:xfrm>
          <a:prstGeom prst="rect">
            <a:avLst/>
          </a:prstGeom>
          <a:solidFill>
            <a:srgbClr val="06365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140" name="Google Shape;140;h510714b4cc47d3b6_0_0"/>
          <p:cNvSpPr/>
          <p:nvPr/>
        </p:nvSpPr>
        <p:spPr>
          <a:xfrm>
            <a:off x="3229001" y="0"/>
            <a:ext cx="2381250" cy="2667000"/>
          </a:xfrm>
          <a:custGeom>
            <a:rect b="b" l="l" r="r" t="t"/>
            <a:pathLst>
              <a:path extrusionOk="0" h="2667000" w="2381250">
                <a:moveTo>
                  <a:pt x="2381250" y="2667000"/>
                </a:moveTo>
                <a:lnTo>
                  <a:pt x="2381250" y="2667000"/>
                </a:lnTo>
                <a:lnTo>
                  <a:pt x="2360470" y="2666909"/>
                </a:lnTo>
                <a:lnTo>
                  <a:pt x="2339691" y="2666637"/>
                </a:lnTo>
                <a:lnTo>
                  <a:pt x="2318916" y="2666184"/>
                </a:lnTo>
                <a:lnTo>
                  <a:pt x="2298146" y="2665549"/>
                </a:lnTo>
                <a:lnTo>
                  <a:pt x="2277381" y="2664734"/>
                </a:lnTo>
                <a:lnTo>
                  <a:pt x="2256625" y="2663737"/>
                </a:lnTo>
                <a:lnTo>
                  <a:pt x="2235878" y="2662558"/>
                </a:lnTo>
                <a:lnTo>
                  <a:pt x="2215142" y="2661199"/>
                </a:lnTo>
                <a:lnTo>
                  <a:pt x="2194419" y="2659659"/>
                </a:lnTo>
                <a:lnTo>
                  <a:pt x="2173710" y="2657939"/>
                </a:lnTo>
                <a:lnTo>
                  <a:pt x="2153017" y="2656037"/>
                </a:lnTo>
                <a:lnTo>
                  <a:pt x="2132342" y="2653955"/>
                </a:lnTo>
                <a:lnTo>
                  <a:pt x="2111685" y="2651693"/>
                </a:lnTo>
                <a:lnTo>
                  <a:pt x="2091049" y="2649251"/>
                </a:lnTo>
                <a:lnTo>
                  <a:pt x="2070435" y="2646628"/>
                </a:lnTo>
                <a:lnTo>
                  <a:pt x="2049844" y="2643826"/>
                </a:lnTo>
                <a:lnTo>
                  <a:pt x="2029279" y="2640844"/>
                </a:lnTo>
                <a:lnTo>
                  <a:pt x="2008740" y="2637683"/>
                </a:lnTo>
                <a:lnTo>
                  <a:pt x="1988230" y="2634343"/>
                </a:lnTo>
                <a:lnTo>
                  <a:pt x="1967750" y="2630823"/>
                </a:lnTo>
                <a:lnTo>
                  <a:pt x="1947302" y="2627126"/>
                </a:lnTo>
                <a:lnTo>
                  <a:pt x="1926886" y="2623250"/>
                </a:lnTo>
                <a:lnTo>
                  <a:pt x="1906505" y="2619196"/>
                </a:lnTo>
                <a:lnTo>
                  <a:pt x="1886160" y="2614964"/>
                </a:lnTo>
                <a:lnTo>
                  <a:pt x="1865853" y="2610555"/>
                </a:lnTo>
                <a:lnTo>
                  <a:pt x="1845585" y="2605969"/>
                </a:lnTo>
                <a:lnTo>
                  <a:pt x="1825358" y="2601206"/>
                </a:lnTo>
                <a:lnTo>
                  <a:pt x="1805173" y="2596267"/>
                </a:lnTo>
                <a:lnTo>
                  <a:pt x="1785033" y="2591152"/>
                </a:lnTo>
                <a:lnTo>
                  <a:pt x="1764937" y="2585861"/>
                </a:lnTo>
                <a:lnTo>
                  <a:pt x="1744889" y="2580395"/>
                </a:lnTo>
                <a:lnTo>
                  <a:pt x="1724889" y="2574754"/>
                </a:lnTo>
                <a:lnTo>
                  <a:pt x="1704938" y="2568939"/>
                </a:lnTo>
                <a:lnTo>
                  <a:pt x="1685040" y="2562951"/>
                </a:lnTo>
                <a:lnTo>
                  <a:pt x="1665194" y="2556788"/>
                </a:lnTo>
                <a:lnTo>
                  <a:pt x="1645403" y="2550453"/>
                </a:lnTo>
                <a:lnTo>
                  <a:pt x="1625668" y="2543946"/>
                </a:lnTo>
                <a:lnTo>
                  <a:pt x="1605991" y="2537266"/>
                </a:lnTo>
                <a:lnTo>
                  <a:pt x="1586372" y="2530415"/>
                </a:lnTo>
                <a:lnTo>
                  <a:pt x="1566815" y="2523393"/>
                </a:lnTo>
                <a:lnTo>
                  <a:pt x="1547319" y="2516201"/>
                </a:lnTo>
                <a:lnTo>
                  <a:pt x="1527886" y="2508838"/>
                </a:lnTo>
                <a:lnTo>
                  <a:pt x="1508519" y="2501307"/>
                </a:lnTo>
                <a:lnTo>
                  <a:pt x="1489218" y="2493607"/>
                </a:lnTo>
                <a:lnTo>
                  <a:pt x="1469985" y="2485738"/>
                </a:lnTo>
                <a:lnTo>
                  <a:pt x="1450822" y="2477702"/>
                </a:lnTo>
                <a:lnTo>
                  <a:pt x="1431729" y="2469499"/>
                </a:lnTo>
                <a:lnTo>
                  <a:pt x="1412708" y="2461130"/>
                </a:lnTo>
                <a:lnTo>
                  <a:pt x="1393762" y="2452595"/>
                </a:lnTo>
                <a:lnTo>
                  <a:pt x="1374890" y="2443895"/>
                </a:lnTo>
                <a:lnTo>
                  <a:pt x="1356095" y="2435031"/>
                </a:lnTo>
                <a:lnTo>
                  <a:pt x="1337379" y="2426003"/>
                </a:lnTo>
                <a:lnTo>
                  <a:pt x="1318741" y="2416812"/>
                </a:lnTo>
                <a:lnTo>
                  <a:pt x="1300185" y="2407459"/>
                </a:lnTo>
                <a:lnTo>
                  <a:pt x="1281711" y="2397945"/>
                </a:lnTo>
                <a:lnTo>
                  <a:pt x="1263321" y="2388269"/>
                </a:lnTo>
                <a:lnTo>
                  <a:pt x="1245016" y="2378433"/>
                </a:lnTo>
                <a:lnTo>
                  <a:pt x="1226797" y="2368438"/>
                </a:lnTo>
                <a:lnTo>
                  <a:pt x="1208666" y="2358285"/>
                </a:lnTo>
                <a:lnTo>
                  <a:pt x="1190625" y="2347973"/>
                </a:lnTo>
                <a:lnTo>
                  <a:pt x="1172674" y="2337504"/>
                </a:lnTo>
                <a:lnTo>
                  <a:pt x="1154816" y="2326880"/>
                </a:lnTo>
                <a:lnTo>
                  <a:pt x="1137050" y="2316099"/>
                </a:lnTo>
                <a:lnTo>
                  <a:pt x="1119380" y="2305165"/>
                </a:lnTo>
                <a:lnTo>
                  <a:pt x="1101805" y="2294076"/>
                </a:lnTo>
                <a:lnTo>
                  <a:pt x="1084328" y="2282834"/>
                </a:lnTo>
                <a:lnTo>
                  <a:pt x="1066950" y="2271441"/>
                </a:lnTo>
                <a:lnTo>
                  <a:pt x="1049672" y="2259896"/>
                </a:lnTo>
                <a:lnTo>
                  <a:pt x="1032495" y="2248200"/>
                </a:lnTo>
                <a:lnTo>
                  <a:pt x="1015421" y="2236356"/>
                </a:lnTo>
                <a:lnTo>
                  <a:pt x="998451" y="2224363"/>
                </a:lnTo>
                <a:lnTo>
                  <a:pt x="981586" y="2212222"/>
                </a:lnTo>
                <a:lnTo>
                  <a:pt x="964828" y="2199934"/>
                </a:lnTo>
                <a:lnTo>
                  <a:pt x="948178" y="2187501"/>
                </a:lnTo>
                <a:lnTo>
                  <a:pt x="931637" y="2174923"/>
                </a:lnTo>
                <a:lnTo>
                  <a:pt x="915206" y="2162201"/>
                </a:lnTo>
                <a:lnTo>
                  <a:pt x="898887" y="2149336"/>
                </a:lnTo>
                <a:lnTo>
                  <a:pt x="882681" y="2136329"/>
                </a:lnTo>
                <a:lnTo>
                  <a:pt x="866589" y="2123181"/>
                </a:lnTo>
                <a:lnTo>
                  <a:pt x="850612" y="2109893"/>
                </a:lnTo>
                <a:lnTo>
                  <a:pt x="834752" y="2096467"/>
                </a:lnTo>
                <a:lnTo>
                  <a:pt x="819009" y="2082902"/>
                </a:lnTo>
                <a:lnTo>
                  <a:pt x="803386" y="2069201"/>
                </a:lnTo>
                <a:lnTo>
                  <a:pt x="787883" y="2055364"/>
                </a:lnTo>
                <a:lnTo>
                  <a:pt x="772501" y="2041392"/>
                </a:lnTo>
                <a:lnTo>
                  <a:pt x="757241" y="2027286"/>
                </a:lnTo>
                <a:lnTo>
                  <a:pt x="742106" y="2013048"/>
                </a:lnTo>
                <a:lnTo>
                  <a:pt x="727095" y="1998678"/>
                </a:lnTo>
                <a:lnTo>
                  <a:pt x="712210" y="1984178"/>
                </a:lnTo>
                <a:lnTo>
                  <a:pt x="697452" y="1969548"/>
                </a:lnTo>
                <a:lnTo>
                  <a:pt x="682822" y="1954790"/>
                </a:lnTo>
                <a:lnTo>
                  <a:pt x="668322" y="1939905"/>
                </a:lnTo>
                <a:lnTo>
                  <a:pt x="653952" y="1924894"/>
                </a:lnTo>
                <a:lnTo>
                  <a:pt x="639714" y="1909759"/>
                </a:lnTo>
                <a:lnTo>
                  <a:pt x="625608" y="1894499"/>
                </a:lnTo>
                <a:lnTo>
                  <a:pt x="611636" y="1879117"/>
                </a:lnTo>
                <a:lnTo>
                  <a:pt x="597799" y="1863614"/>
                </a:lnTo>
                <a:lnTo>
                  <a:pt x="584098" y="1847991"/>
                </a:lnTo>
                <a:lnTo>
                  <a:pt x="570533" y="1832248"/>
                </a:lnTo>
                <a:lnTo>
                  <a:pt x="557107" y="1816388"/>
                </a:lnTo>
                <a:lnTo>
                  <a:pt x="543819" y="1800411"/>
                </a:lnTo>
                <a:lnTo>
                  <a:pt x="530671" y="1784319"/>
                </a:lnTo>
                <a:lnTo>
                  <a:pt x="517664" y="1768113"/>
                </a:lnTo>
                <a:lnTo>
                  <a:pt x="504799" y="1751794"/>
                </a:lnTo>
                <a:lnTo>
                  <a:pt x="492077" y="1735363"/>
                </a:lnTo>
                <a:lnTo>
                  <a:pt x="479499" y="1718822"/>
                </a:lnTo>
                <a:lnTo>
                  <a:pt x="467066" y="1702172"/>
                </a:lnTo>
                <a:lnTo>
                  <a:pt x="454778" y="1685414"/>
                </a:lnTo>
                <a:lnTo>
                  <a:pt x="442637" y="1668549"/>
                </a:lnTo>
                <a:lnTo>
                  <a:pt x="430644" y="1651579"/>
                </a:lnTo>
                <a:lnTo>
                  <a:pt x="418800" y="1634505"/>
                </a:lnTo>
                <a:lnTo>
                  <a:pt x="407104" y="1617328"/>
                </a:lnTo>
                <a:lnTo>
                  <a:pt x="395559" y="1600050"/>
                </a:lnTo>
                <a:lnTo>
                  <a:pt x="384166" y="1582672"/>
                </a:lnTo>
                <a:lnTo>
                  <a:pt x="372924" y="1565195"/>
                </a:lnTo>
                <a:lnTo>
                  <a:pt x="361835" y="1547620"/>
                </a:lnTo>
                <a:lnTo>
                  <a:pt x="350901" y="1529950"/>
                </a:lnTo>
                <a:lnTo>
                  <a:pt x="340120" y="1512184"/>
                </a:lnTo>
                <a:lnTo>
                  <a:pt x="329496" y="1494326"/>
                </a:lnTo>
                <a:lnTo>
                  <a:pt x="319027" y="1476375"/>
                </a:lnTo>
                <a:lnTo>
                  <a:pt x="308715" y="1458334"/>
                </a:lnTo>
                <a:lnTo>
                  <a:pt x="298562" y="1440203"/>
                </a:lnTo>
                <a:lnTo>
                  <a:pt x="288567" y="1421984"/>
                </a:lnTo>
                <a:lnTo>
                  <a:pt x="278731" y="1403679"/>
                </a:lnTo>
                <a:lnTo>
                  <a:pt x="269055" y="1385289"/>
                </a:lnTo>
                <a:lnTo>
                  <a:pt x="259541" y="1366815"/>
                </a:lnTo>
                <a:lnTo>
                  <a:pt x="250188" y="1348259"/>
                </a:lnTo>
                <a:lnTo>
                  <a:pt x="240997" y="1329621"/>
                </a:lnTo>
                <a:lnTo>
                  <a:pt x="231969" y="1310905"/>
                </a:lnTo>
                <a:lnTo>
                  <a:pt x="223105" y="1292110"/>
                </a:lnTo>
                <a:lnTo>
                  <a:pt x="214405" y="1273238"/>
                </a:lnTo>
                <a:lnTo>
                  <a:pt x="205870" y="1254292"/>
                </a:lnTo>
                <a:lnTo>
                  <a:pt x="197501" y="1235271"/>
                </a:lnTo>
                <a:lnTo>
                  <a:pt x="189298" y="1216178"/>
                </a:lnTo>
                <a:lnTo>
                  <a:pt x="181262" y="1197015"/>
                </a:lnTo>
                <a:lnTo>
                  <a:pt x="173393" y="1177782"/>
                </a:lnTo>
                <a:lnTo>
                  <a:pt x="165693" y="1158481"/>
                </a:lnTo>
                <a:lnTo>
                  <a:pt x="158162" y="1139114"/>
                </a:lnTo>
                <a:lnTo>
                  <a:pt x="150799" y="1119681"/>
                </a:lnTo>
                <a:lnTo>
                  <a:pt x="143607" y="1100185"/>
                </a:lnTo>
                <a:lnTo>
                  <a:pt x="136585" y="1080628"/>
                </a:lnTo>
                <a:lnTo>
                  <a:pt x="129734" y="1061009"/>
                </a:lnTo>
                <a:lnTo>
                  <a:pt x="123054" y="1041332"/>
                </a:lnTo>
                <a:lnTo>
                  <a:pt x="116547" y="1021597"/>
                </a:lnTo>
                <a:lnTo>
                  <a:pt x="110212" y="1001806"/>
                </a:lnTo>
                <a:lnTo>
                  <a:pt x="104049" y="981960"/>
                </a:lnTo>
                <a:lnTo>
                  <a:pt x="98061" y="962062"/>
                </a:lnTo>
                <a:lnTo>
                  <a:pt x="92246" y="942111"/>
                </a:lnTo>
                <a:lnTo>
                  <a:pt x="86605" y="922111"/>
                </a:lnTo>
                <a:lnTo>
                  <a:pt x="81139" y="902063"/>
                </a:lnTo>
                <a:lnTo>
                  <a:pt x="75848" y="881967"/>
                </a:lnTo>
                <a:lnTo>
                  <a:pt x="70733" y="861827"/>
                </a:lnTo>
                <a:lnTo>
                  <a:pt x="65794" y="841642"/>
                </a:lnTo>
                <a:lnTo>
                  <a:pt x="61031" y="821415"/>
                </a:lnTo>
                <a:lnTo>
                  <a:pt x="56445" y="801147"/>
                </a:lnTo>
                <a:lnTo>
                  <a:pt x="52036" y="780840"/>
                </a:lnTo>
                <a:lnTo>
                  <a:pt x="47804" y="760495"/>
                </a:lnTo>
                <a:lnTo>
                  <a:pt x="43750" y="740114"/>
                </a:lnTo>
                <a:lnTo>
                  <a:pt x="39874" y="719698"/>
                </a:lnTo>
                <a:lnTo>
                  <a:pt x="36177" y="699250"/>
                </a:lnTo>
                <a:lnTo>
                  <a:pt x="32657" y="678770"/>
                </a:lnTo>
                <a:lnTo>
                  <a:pt x="29317" y="658260"/>
                </a:lnTo>
                <a:lnTo>
                  <a:pt x="26156" y="637721"/>
                </a:lnTo>
                <a:lnTo>
                  <a:pt x="23174" y="617156"/>
                </a:lnTo>
                <a:lnTo>
                  <a:pt x="20372" y="596565"/>
                </a:lnTo>
                <a:lnTo>
                  <a:pt x="17749" y="575951"/>
                </a:lnTo>
                <a:lnTo>
                  <a:pt x="15307" y="555315"/>
                </a:lnTo>
                <a:lnTo>
                  <a:pt x="13045" y="534658"/>
                </a:lnTo>
                <a:lnTo>
                  <a:pt x="10963" y="513983"/>
                </a:lnTo>
                <a:lnTo>
                  <a:pt x="9061" y="493290"/>
                </a:lnTo>
                <a:lnTo>
                  <a:pt x="7341" y="472581"/>
                </a:lnTo>
                <a:lnTo>
                  <a:pt x="5801" y="451858"/>
                </a:lnTo>
                <a:lnTo>
                  <a:pt x="4442" y="431122"/>
                </a:lnTo>
                <a:lnTo>
                  <a:pt x="3263" y="410375"/>
                </a:lnTo>
                <a:lnTo>
                  <a:pt x="2266" y="389619"/>
                </a:lnTo>
                <a:lnTo>
                  <a:pt x="1451" y="368854"/>
                </a:lnTo>
                <a:lnTo>
                  <a:pt x="816" y="348084"/>
                </a:lnTo>
                <a:lnTo>
                  <a:pt x="363" y="327309"/>
                </a:lnTo>
                <a:lnTo>
                  <a:pt x="91" y="306530"/>
                </a:lnTo>
                <a:lnTo>
                  <a:pt x="0" y="285750"/>
                </a:lnTo>
                <a:lnTo>
                  <a:pt x="91" y="264970"/>
                </a:lnTo>
                <a:lnTo>
                  <a:pt x="363" y="244191"/>
                </a:lnTo>
                <a:lnTo>
                  <a:pt x="816" y="223416"/>
                </a:lnTo>
                <a:lnTo>
                  <a:pt x="1451" y="202646"/>
                </a:lnTo>
                <a:lnTo>
                  <a:pt x="2266" y="181881"/>
                </a:lnTo>
                <a:lnTo>
                  <a:pt x="3263" y="161125"/>
                </a:lnTo>
                <a:lnTo>
                  <a:pt x="4442" y="140378"/>
                </a:lnTo>
                <a:lnTo>
                  <a:pt x="5801" y="119642"/>
                </a:lnTo>
                <a:lnTo>
                  <a:pt x="7341" y="98919"/>
                </a:lnTo>
                <a:lnTo>
                  <a:pt x="9061" y="78210"/>
                </a:lnTo>
                <a:lnTo>
                  <a:pt x="10963" y="57517"/>
                </a:lnTo>
                <a:lnTo>
                  <a:pt x="13045" y="36842"/>
                </a:lnTo>
                <a:lnTo>
                  <a:pt x="15307" y="16185"/>
                </a:lnTo>
                <a:lnTo>
                  <a:pt x="17207" y="0"/>
                </a:lnTo>
              </a:path>
            </a:pathLst>
          </a:custGeom>
          <a:noFill/>
          <a:ln cap="flat" cmpd="sng" w="19050">
            <a:solidFill>
              <a:srgbClr val="1A527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141" name="Google Shape;141;h510714b4cc47d3b6_0_0"/>
          <p:cNvSpPr/>
          <p:nvPr/>
        </p:nvSpPr>
        <p:spPr>
          <a:xfrm>
            <a:off x="3991008" y="0"/>
            <a:ext cx="1619250" cy="1905000"/>
          </a:xfrm>
          <a:custGeom>
            <a:rect b="b" l="l" r="r" t="t"/>
            <a:pathLst>
              <a:path extrusionOk="0" h="1905000" w="1619250">
                <a:moveTo>
                  <a:pt x="1619250" y="1902021"/>
                </a:moveTo>
                <a:lnTo>
                  <a:pt x="1617038" y="1902157"/>
                </a:lnTo>
                <a:lnTo>
                  <a:pt x="1603760" y="1902911"/>
                </a:lnTo>
                <a:lnTo>
                  <a:pt x="1590476" y="1903549"/>
                </a:lnTo>
                <a:lnTo>
                  <a:pt x="1577187" y="1904072"/>
                </a:lnTo>
                <a:lnTo>
                  <a:pt x="1563894" y="1904478"/>
                </a:lnTo>
                <a:lnTo>
                  <a:pt x="1550597" y="1904768"/>
                </a:lnTo>
                <a:lnTo>
                  <a:pt x="1537299" y="1904942"/>
                </a:lnTo>
                <a:lnTo>
                  <a:pt x="1524000" y="1905000"/>
                </a:lnTo>
                <a:lnTo>
                  <a:pt x="1510701" y="1904942"/>
                </a:lnTo>
                <a:lnTo>
                  <a:pt x="1497403" y="1904768"/>
                </a:lnTo>
                <a:lnTo>
                  <a:pt x="1484106" y="1904478"/>
                </a:lnTo>
                <a:lnTo>
                  <a:pt x="1470813" y="1904072"/>
                </a:lnTo>
                <a:lnTo>
                  <a:pt x="1457524" y="1903549"/>
                </a:lnTo>
                <a:lnTo>
                  <a:pt x="1444240" y="1902911"/>
                </a:lnTo>
                <a:lnTo>
                  <a:pt x="1430962" y="1902157"/>
                </a:lnTo>
                <a:lnTo>
                  <a:pt x="1417691" y="1901288"/>
                </a:lnTo>
                <a:lnTo>
                  <a:pt x="1404428" y="1900302"/>
                </a:lnTo>
                <a:lnTo>
                  <a:pt x="1391175" y="1899201"/>
                </a:lnTo>
                <a:lnTo>
                  <a:pt x="1377931" y="1897984"/>
                </a:lnTo>
                <a:lnTo>
                  <a:pt x="1364699" y="1896651"/>
                </a:lnTo>
                <a:lnTo>
                  <a:pt x="1351478" y="1895204"/>
                </a:lnTo>
                <a:lnTo>
                  <a:pt x="1338271" y="1893640"/>
                </a:lnTo>
                <a:lnTo>
                  <a:pt x="1325078" y="1891962"/>
                </a:lnTo>
                <a:lnTo>
                  <a:pt x="1311900" y="1890169"/>
                </a:lnTo>
                <a:lnTo>
                  <a:pt x="1298738" y="1888260"/>
                </a:lnTo>
                <a:lnTo>
                  <a:pt x="1285594" y="1886237"/>
                </a:lnTo>
                <a:lnTo>
                  <a:pt x="1272467" y="1884099"/>
                </a:lnTo>
                <a:lnTo>
                  <a:pt x="1259360" y="1881847"/>
                </a:lnTo>
                <a:lnTo>
                  <a:pt x="1246273" y="1879480"/>
                </a:lnTo>
                <a:lnTo>
                  <a:pt x="1233207" y="1877000"/>
                </a:lnTo>
                <a:lnTo>
                  <a:pt x="1220163" y="1874405"/>
                </a:lnTo>
                <a:lnTo>
                  <a:pt x="1207143" y="1871697"/>
                </a:lnTo>
                <a:lnTo>
                  <a:pt x="1194146" y="1868875"/>
                </a:lnTo>
                <a:lnTo>
                  <a:pt x="1181175" y="1865940"/>
                </a:lnTo>
                <a:lnTo>
                  <a:pt x="1168229" y="1862892"/>
                </a:lnTo>
                <a:lnTo>
                  <a:pt x="1155311" y="1859731"/>
                </a:lnTo>
                <a:lnTo>
                  <a:pt x="1142421" y="1856457"/>
                </a:lnTo>
                <a:lnTo>
                  <a:pt x="1129560" y="1853071"/>
                </a:lnTo>
                <a:lnTo>
                  <a:pt x="1116729" y="1849573"/>
                </a:lnTo>
                <a:lnTo>
                  <a:pt x="1103929" y="1845963"/>
                </a:lnTo>
                <a:lnTo>
                  <a:pt x="1091161" y="1842241"/>
                </a:lnTo>
                <a:lnTo>
                  <a:pt x="1078426" y="1838408"/>
                </a:lnTo>
                <a:lnTo>
                  <a:pt x="1065724" y="1834465"/>
                </a:lnTo>
                <a:lnTo>
                  <a:pt x="1053058" y="1830410"/>
                </a:lnTo>
                <a:lnTo>
                  <a:pt x="1040428" y="1826245"/>
                </a:lnTo>
                <a:lnTo>
                  <a:pt x="1027834" y="1821970"/>
                </a:lnTo>
                <a:lnTo>
                  <a:pt x="1015278" y="1817586"/>
                </a:lnTo>
                <a:lnTo>
                  <a:pt x="1002761" y="1813092"/>
                </a:lnTo>
                <a:lnTo>
                  <a:pt x="990284" y="1808488"/>
                </a:lnTo>
                <a:lnTo>
                  <a:pt x="977847" y="1803777"/>
                </a:lnTo>
                <a:lnTo>
                  <a:pt x="965452" y="1798956"/>
                </a:lnTo>
                <a:lnTo>
                  <a:pt x="953100" y="1794028"/>
                </a:lnTo>
                <a:lnTo>
                  <a:pt x="940790" y="1788992"/>
                </a:lnTo>
                <a:lnTo>
                  <a:pt x="928526" y="1783849"/>
                </a:lnTo>
                <a:lnTo>
                  <a:pt x="916306" y="1778600"/>
                </a:lnTo>
                <a:lnTo>
                  <a:pt x="904133" y="1773243"/>
                </a:lnTo>
                <a:lnTo>
                  <a:pt x="892007" y="1767781"/>
                </a:lnTo>
                <a:lnTo>
                  <a:pt x="879930" y="1762213"/>
                </a:lnTo>
                <a:lnTo>
                  <a:pt x="867901" y="1756540"/>
                </a:lnTo>
                <a:lnTo>
                  <a:pt x="855922" y="1750762"/>
                </a:lnTo>
                <a:lnTo>
                  <a:pt x="843995" y="1744880"/>
                </a:lnTo>
                <a:lnTo>
                  <a:pt x="832118" y="1738894"/>
                </a:lnTo>
                <a:lnTo>
                  <a:pt x="820295" y="1732805"/>
                </a:lnTo>
                <a:lnTo>
                  <a:pt x="808525" y="1726612"/>
                </a:lnTo>
                <a:lnTo>
                  <a:pt x="796810" y="1720317"/>
                </a:lnTo>
                <a:lnTo>
                  <a:pt x="785150" y="1713920"/>
                </a:lnTo>
                <a:lnTo>
                  <a:pt x="773546" y="1707422"/>
                </a:lnTo>
                <a:lnTo>
                  <a:pt x="762000" y="1700823"/>
                </a:lnTo>
                <a:lnTo>
                  <a:pt x="750512" y="1694123"/>
                </a:lnTo>
                <a:lnTo>
                  <a:pt x="739082" y="1687323"/>
                </a:lnTo>
                <a:lnTo>
                  <a:pt x="727712" y="1680424"/>
                </a:lnTo>
                <a:lnTo>
                  <a:pt x="716403" y="1673425"/>
                </a:lnTo>
                <a:lnTo>
                  <a:pt x="705155" y="1666329"/>
                </a:lnTo>
                <a:lnTo>
                  <a:pt x="693970" y="1659134"/>
                </a:lnTo>
                <a:lnTo>
                  <a:pt x="682848" y="1651842"/>
                </a:lnTo>
                <a:lnTo>
                  <a:pt x="671790" y="1644453"/>
                </a:lnTo>
                <a:lnTo>
                  <a:pt x="660797" y="1636968"/>
                </a:lnTo>
                <a:lnTo>
                  <a:pt x="649870" y="1629388"/>
                </a:lnTo>
                <a:lnTo>
                  <a:pt x="639009" y="1621712"/>
                </a:lnTo>
                <a:lnTo>
                  <a:pt x="628215" y="1613942"/>
                </a:lnTo>
                <a:lnTo>
                  <a:pt x="617490" y="1606078"/>
                </a:lnTo>
                <a:lnTo>
                  <a:pt x="606834" y="1598121"/>
                </a:lnTo>
                <a:lnTo>
                  <a:pt x="596248" y="1590070"/>
                </a:lnTo>
                <a:lnTo>
                  <a:pt x="585732" y="1581928"/>
                </a:lnTo>
                <a:lnTo>
                  <a:pt x="575288" y="1573695"/>
                </a:lnTo>
                <a:lnTo>
                  <a:pt x="564916" y="1565370"/>
                </a:lnTo>
                <a:lnTo>
                  <a:pt x="554617" y="1556956"/>
                </a:lnTo>
                <a:lnTo>
                  <a:pt x="544392" y="1548452"/>
                </a:lnTo>
                <a:lnTo>
                  <a:pt x="534241" y="1539859"/>
                </a:lnTo>
                <a:lnTo>
                  <a:pt x="524166" y="1531177"/>
                </a:lnTo>
                <a:lnTo>
                  <a:pt x="514167" y="1522409"/>
                </a:lnTo>
                <a:lnTo>
                  <a:pt x="504245" y="1513553"/>
                </a:lnTo>
                <a:lnTo>
                  <a:pt x="494401" y="1504611"/>
                </a:lnTo>
                <a:lnTo>
                  <a:pt x="484634" y="1495583"/>
                </a:lnTo>
                <a:lnTo>
                  <a:pt x="474948" y="1486471"/>
                </a:lnTo>
                <a:lnTo>
                  <a:pt x="465341" y="1477274"/>
                </a:lnTo>
                <a:lnTo>
                  <a:pt x="455814" y="1467994"/>
                </a:lnTo>
                <a:lnTo>
                  <a:pt x="446369" y="1458631"/>
                </a:lnTo>
                <a:lnTo>
                  <a:pt x="437006" y="1449186"/>
                </a:lnTo>
                <a:lnTo>
                  <a:pt x="427726" y="1439659"/>
                </a:lnTo>
                <a:lnTo>
                  <a:pt x="418529" y="1430052"/>
                </a:lnTo>
                <a:lnTo>
                  <a:pt x="409417" y="1420366"/>
                </a:lnTo>
                <a:lnTo>
                  <a:pt x="400389" y="1410599"/>
                </a:lnTo>
                <a:lnTo>
                  <a:pt x="391447" y="1400755"/>
                </a:lnTo>
                <a:lnTo>
                  <a:pt x="382591" y="1390833"/>
                </a:lnTo>
                <a:lnTo>
                  <a:pt x="373823" y="1380834"/>
                </a:lnTo>
                <a:lnTo>
                  <a:pt x="365141" y="1370759"/>
                </a:lnTo>
                <a:lnTo>
                  <a:pt x="356548" y="1360608"/>
                </a:lnTo>
                <a:lnTo>
                  <a:pt x="348044" y="1350383"/>
                </a:lnTo>
                <a:lnTo>
                  <a:pt x="339630" y="1340084"/>
                </a:lnTo>
                <a:lnTo>
                  <a:pt x="331305" y="1329712"/>
                </a:lnTo>
                <a:lnTo>
                  <a:pt x="323072" y="1319268"/>
                </a:lnTo>
                <a:lnTo>
                  <a:pt x="314930" y="1308752"/>
                </a:lnTo>
                <a:lnTo>
                  <a:pt x="306879" y="1298166"/>
                </a:lnTo>
                <a:lnTo>
                  <a:pt x="298922" y="1287510"/>
                </a:lnTo>
                <a:lnTo>
                  <a:pt x="291058" y="1276785"/>
                </a:lnTo>
                <a:lnTo>
                  <a:pt x="283288" y="1265991"/>
                </a:lnTo>
                <a:lnTo>
                  <a:pt x="275612" y="1255130"/>
                </a:lnTo>
                <a:lnTo>
                  <a:pt x="268032" y="1244203"/>
                </a:lnTo>
                <a:lnTo>
                  <a:pt x="260547" y="1233210"/>
                </a:lnTo>
                <a:lnTo>
                  <a:pt x="253158" y="1222152"/>
                </a:lnTo>
                <a:lnTo>
                  <a:pt x="245866" y="1211030"/>
                </a:lnTo>
                <a:lnTo>
                  <a:pt x="238671" y="1199845"/>
                </a:lnTo>
                <a:lnTo>
                  <a:pt x="231575" y="1188597"/>
                </a:lnTo>
                <a:lnTo>
                  <a:pt x="224576" y="1177288"/>
                </a:lnTo>
                <a:lnTo>
                  <a:pt x="217677" y="1165918"/>
                </a:lnTo>
                <a:lnTo>
                  <a:pt x="210877" y="1154488"/>
                </a:lnTo>
                <a:lnTo>
                  <a:pt x="204177" y="1143000"/>
                </a:lnTo>
                <a:lnTo>
                  <a:pt x="197578" y="1131454"/>
                </a:lnTo>
                <a:lnTo>
                  <a:pt x="191080" y="1119850"/>
                </a:lnTo>
                <a:lnTo>
                  <a:pt x="184683" y="1108190"/>
                </a:lnTo>
                <a:lnTo>
                  <a:pt x="178388" y="1096475"/>
                </a:lnTo>
                <a:lnTo>
                  <a:pt x="172195" y="1084705"/>
                </a:lnTo>
                <a:lnTo>
                  <a:pt x="166106" y="1072882"/>
                </a:lnTo>
                <a:lnTo>
                  <a:pt x="160120" y="1061005"/>
                </a:lnTo>
                <a:lnTo>
                  <a:pt x="154238" y="1049078"/>
                </a:lnTo>
                <a:lnTo>
                  <a:pt x="148460" y="1037099"/>
                </a:lnTo>
                <a:lnTo>
                  <a:pt x="142787" y="1025070"/>
                </a:lnTo>
                <a:lnTo>
                  <a:pt x="137219" y="1012993"/>
                </a:lnTo>
                <a:lnTo>
                  <a:pt x="131757" y="1000867"/>
                </a:lnTo>
                <a:lnTo>
                  <a:pt x="126400" y="988694"/>
                </a:lnTo>
                <a:lnTo>
                  <a:pt x="121151" y="976474"/>
                </a:lnTo>
                <a:lnTo>
                  <a:pt x="116008" y="964210"/>
                </a:lnTo>
                <a:lnTo>
                  <a:pt x="110972" y="951900"/>
                </a:lnTo>
                <a:lnTo>
                  <a:pt x="106044" y="939548"/>
                </a:lnTo>
                <a:lnTo>
                  <a:pt x="101223" y="927153"/>
                </a:lnTo>
                <a:lnTo>
                  <a:pt x="96512" y="914716"/>
                </a:lnTo>
                <a:lnTo>
                  <a:pt x="91908" y="902239"/>
                </a:lnTo>
                <a:lnTo>
                  <a:pt x="87414" y="889722"/>
                </a:lnTo>
                <a:lnTo>
                  <a:pt x="83030" y="877166"/>
                </a:lnTo>
                <a:lnTo>
                  <a:pt x="78755" y="864572"/>
                </a:lnTo>
                <a:lnTo>
                  <a:pt x="74590" y="851942"/>
                </a:lnTo>
                <a:lnTo>
                  <a:pt x="70535" y="839276"/>
                </a:lnTo>
                <a:lnTo>
                  <a:pt x="66592" y="826574"/>
                </a:lnTo>
                <a:lnTo>
                  <a:pt x="62759" y="813839"/>
                </a:lnTo>
                <a:lnTo>
                  <a:pt x="59037" y="801071"/>
                </a:lnTo>
                <a:lnTo>
                  <a:pt x="55427" y="788271"/>
                </a:lnTo>
                <a:lnTo>
                  <a:pt x="51929" y="775440"/>
                </a:lnTo>
                <a:lnTo>
                  <a:pt x="48543" y="762579"/>
                </a:lnTo>
                <a:lnTo>
                  <a:pt x="45269" y="749689"/>
                </a:lnTo>
                <a:lnTo>
                  <a:pt x="42108" y="736771"/>
                </a:lnTo>
                <a:lnTo>
                  <a:pt x="39060" y="723825"/>
                </a:lnTo>
                <a:lnTo>
                  <a:pt x="36125" y="710854"/>
                </a:lnTo>
                <a:lnTo>
                  <a:pt x="33303" y="697857"/>
                </a:lnTo>
                <a:lnTo>
                  <a:pt x="30595" y="684837"/>
                </a:lnTo>
                <a:lnTo>
                  <a:pt x="28000" y="671793"/>
                </a:lnTo>
                <a:lnTo>
                  <a:pt x="25520" y="658727"/>
                </a:lnTo>
                <a:lnTo>
                  <a:pt x="23153" y="645640"/>
                </a:lnTo>
                <a:lnTo>
                  <a:pt x="20901" y="632533"/>
                </a:lnTo>
                <a:lnTo>
                  <a:pt x="18763" y="619406"/>
                </a:lnTo>
                <a:lnTo>
                  <a:pt x="16740" y="606262"/>
                </a:lnTo>
                <a:lnTo>
                  <a:pt x="14831" y="593100"/>
                </a:lnTo>
                <a:lnTo>
                  <a:pt x="13038" y="579922"/>
                </a:lnTo>
                <a:lnTo>
                  <a:pt x="11360" y="566729"/>
                </a:lnTo>
                <a:lnTo>
                  <a:pt x="9796" y="553522"/>
                </a:lnTo>
                <a:lnTo>
                  <a:pt x="8349" y="540301"/>
                </a:lnTo>
                <a:lnTo>
                  <a:pt x="7016" y="527069"/>
                </a:lnTo>
                <a:lnTo>
                  <a:pt x="5799" y="513825"/>
                </a:lnTo>
                <a:lnTo>
                  <a:pt x="4698" y="500572"/>
                </a:lnTo>
                <a:lnTo>
                  <a:pt x="3712" y="487309"/>
                </a:lnTo>
                <a:lnTo>
                  <a:pt x="2843" y="474038"/>
                </a:lnTo>
                <a:lnTo>
                  <a:pt x="2089" y="460760"/>
                </a:lnTo>
                <a:lnTo>
                  <a:pt x="1451" y="447476"/>
                </a:lnTo>
                <a:lnTo>
                  <a:pt x="928" y="434187"/>
                </a:lnTo>
                <a:lnTo>
                  <a:pt x="522" y="420894"/>
                </a:lnTo>
                <a:lnTo>
                  <a:pt x="232" y="407597"/>
                </a:lnTo>
                <a:lnTo>
                  <a:pt x="58" y="394299"/>
                </a:lnTo>
                <a:lnTo>
                  <a:pt x="0" y="381000"/>
                </a:lnTo>
                <a:lnTo>
                  <a:pt x="58" y="367701"/>
                </a:lnTo>
                <a:lnTo>
                  <a:pt x="232" y="354403"/>
                </a:lnTo>
                <a:lnTo>
                  <a:pt x="522" y="341106"/>
                </a:lnTo>
                <a:lnTo>
                  <a:pt x="928" y="327813"/>
                </a:lnTo>
                <a:lnTo>
                  <a:pt x="1451" y="314524"/>
                </a:lnTo>
                <a:lnTo>
                  <a:pt x="2089" y="301240"/>
                </a:lnTo>
                <a:lnTo>
                  <a:pt x="2843" y="287962"/>
                </a:lnTo>
                <a:lnTo>
                  <a:pt x="3712" y="274691"/>
                </a:lnTo>
                <a:lnTo>
                  <a:pt x="4698" y="261428"/>
                </a:lnTo>
                <a:lnTo>
                  <a:pt x="5799" y="248175"/>
                </a:lnTo>
                <a:lnTo>
                  <a:pt x="7016" y="234931"/>
                </a:lnTo>
                <a:lnTo>
                  <a:pt x="8349" y="221699"/>
                </a:lnTo>
                <a:lnTo>
                  <a:pt x="9796" y="208478"/>
                </a:lnTo>
                <a:lnTo>
                  <a:pt x="11360" y="195271"/>
                </a:lnTo>
                <a:lnTo>
                  <a:pt x="13038" y="182078"/>
                </a:lnTo>
                <a:lnTo>
                  <a:pt x="14831" y="168900"/>
                </a:lnTo>
                <a:lnTo>
                  <a:pt x="16740" y="155738"/>
                </a:lnTo>
                <a:lnTo>
                  <a:pt x="18763" y="142594"/>
                </a:lnTo>
                <a:lnTo>
                  <a:pt x="20901" y="129467"/>
                </a:lnTo>
                <a:lnTo>
                  <a:pt x="23153" y="116360"/>
                </a:lnTo>
                <a:lnTo>
                  <a:pt x="25520" y="103273"/>
                </a:lnTo>
                <a:lnTo>
                  <a:pt x="28000" y="90207"/>
                </a:lnTo>
                <a:lnTo>
                  <a:pt x="30595" y="77163"/>
                </a:lnTo>
                <a:lnTo>
                  <a:pt x="33303" y="64143"/>
                </a:lnTo>
                <a:lnTo>
                  <a:pt x="36125" y="51146"/>
                </a:lnTo>
                <a:lnTo>
                  <a:pt x="39060" y="38175"/>
                </a:lnTo>
                <a:lnTo>
                  <a:pt x="42108" y="25229"/>
                </a:lnTo>
                <a:lnTo>
                  <a:pt x="45269" y="12311"/>
                </a:lnTo>
                <a:lnTo>
                  <a:pt x="48393" y="0"/>
                </a:lnTo>
              </a:path>
            </a:pathLst>
          </a:custGeom>
          <a:noFill/>
          <a:ln cap="flat" cmpd="sng" w="19050">
            <a:solidFill>
              <a:srgbClr val="12476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142" name="Google Shape;142;h510714b4cc47d3b6_0_0"/>
          <p:cNvSpPr txBox="1"/>
          <p:nvPr/>
        </p:nvSpPr>
        <p:spPr>
          <a:xfrm>
            <a:off x="533404" y="381000"/>
            <a:ext cx="5029200" cy="1905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None/>
            </a:pPr>
            <a:r>
              <a:rPr b="1" i="0" lang="en-US" sz="1200" u="none" cap="none" strike="noStrike">
                <a:solidFill>
                  <a:srgbClr val="6CC0D2"/>
                </a:solidFill>
                <a:latin typeface="IBM Plex Sans"/>
                <a:ea typeface="IBM Plex Sans"/>
                <a:cs typeface="IBM Plex Sans"/>
                <a:sym typeface="IBM Plex Sans"/>
              </a:rPr>
              <a:t>KAPITEL 3 UND 4 · KIKO</a:t>
            </a:r>
            <a:endParaRPr/>
          </a:p>
        </p:txBody>
      </p:sp>
      <p:sp>
        <p:nvSpPr>
          <p:cNvPr id="143" name="Google Shape;143;h510714b4cc47d3b6_0_0"/>
          <p:cNvSpPr txBox="1"/>
          <p:nvPr/>
        </p:nvSpPr>
        <p:spPr>
          <a:xfrm>
            <a:off x="533404" y="3886200"/>
            <a:ext cx="5029200" cy="11049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None/>
            </a:pPr>
            <a:r>
              <a:rPr b="1" i="0" lang="en-US" sz="9000" u="none" cap="none" strike="noStrike">
                <a:solidFill>
                  <a:srgbClr val="397B96"/>
                </a:solidFill>
                <a:latin typeface="Geist Mono"/>
                <a:ea typeface="Geist Mono"/>
                <a:cs typeface="Geist Mono"/>
                <a:sym typeface="Geist Mono"/>
              </a:rPr>
              <a:t>03/04</a:t>
            </a:r>
            <a:endParaRPr/>
          </a:p>
        </p:txBody>
      </p:sp>
      <p:sp>
        <p:nvSpPr>
          <p:cNvPr id="144" name="Google Shape;144;h510714b4cc47d3b6_0_0"/>
          <p:cNvSpPr txBox="1"/>
          <p:nvPr/>
        </p:nvSpPr>
        <p:spPr>
          <a:xfrm>
            <a:off x="533404" y="5143500"/>
            <a:ext cx="4572000" cy="952500"/>
          </a:xfrm>
          <a:prstGeom prst="rect">
            <a:avLst/>
          </a:prstGeom>
          <a:noFill/>
          <a:ln>
            <a:noFill/>
          </a:ln>
        </p:spPr>
        <p:txBody>
          <a:bodyPr anchorCtr="0" anchor="t" bIns="0" lIns="0" spcFirstLastPara="1" rIns="0" wrap="square" tIns="0">
            <a:noAutofit/>
          </a:bodyPr>
          <a:lstStyle/>
          <a:p>
            <a:pPr indent="0" lvl="0" marL="0" marR="0" rtl="0" algn="l">
              <a:lnSpc>
                <a:spcPct val="112500"/>
              </a:lnSpc>
              <a:spcBef>
                <a:spcPts val="0"/>
              </a:spcBef>
              <a:spcAft>
                <a:spcPts val="0"/>
              </a:spcAft>
              <a:buNone/>
            </a:pPr>
            <a:r>
              <a:rPr b="1" i="0" lang="en-US" sz="3000" u="none" cap="none" strike="noStrike">
                <a:solidFill>
                  <a:srgbClr val="FFFFFF"/>
                </a:solidFill>
                <a:latin typeface="IBM Plex Sans"/>
                <a:ea typeface="IBM Plex Sans"/>
                <a:cs typeface="IBM Plex Sans"/>
                <a:sym typeface="IBM Plex Sans"/>
              </a:rPr>
              <a:t>Machine Learning: vom Canvas zum Prüfhinweis</a:t>
            </a:r>
            <a:endParaRPr/>
          </a:p>
        </p:txBody>
      </p:sp>
      <p:sp>
        <p:nvSpPr>
          <p:cNvPr id="145" name="Google Shape;145;h510714b4cc47d3b6_0_0"/>
          <p:cNvSpPr/>
          <p:nvPr/>
        </p:nvSpPr>
        <p:spPr>
          <a:xfrm>
            <a:off x="6296077" y="1762125"/>
            <a:ext cx="609600" cy="38100"/>
          </a:xfrm>
          <a:prstGeom prst="roundRect">
            <a:avLst>
              <a:gd fmla="val 50000" name="adj"/>
            </a:avLst>
          </a:prstGeom>
          <a:solidFill>
            <a:srgbClr val="0080A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146" name="Google Shape;146;h510714b4cc47d3b6_0_0"/>
          <p:cNvSpPr txBox="1"/>
          <p:nvPr/>
        </p:nvSpPr>
        <p:spPr>
          <a:xfrm>
            <a:off x="6296077" y="2047875"/>
            <a:ext cx="5210100" cy="3048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None/>
            </a:pPr>
            <a:r>
              <a:rPr b="0" i="0" lang="en-US" sz="1800" u="none" cap="none" strike="noStrike">
                <a:solidFill>
                  <a:srgbClr val="141A21"/>
                </a:solidFill>
                <a:latin typeface="IBM Plex Sans"/>
                <a:ea typeface="IBM Plex Sans"/>
                <a:cs typeface="IBM Plex Sans"/>
                <a:sym typeface="IBM Plex Sans"/>
              </a:rPr>
              <a:t>Was in diesem Teil beantwortet wird</a:t>
            </a:r>
            <a:endParaRPr/>
          </a:p>
        </p:txBody>
      </p:sp>
      <p:grpSp>
        <p:nvGrpSpPr>
          <p:cNvPr id="147" name="Google Shape;147;h510714b4cc47d3b6_0_0"/>
          <p:cNvGrpSpPr/>
          <p:nvPr/>
        </p:nvGrpSpPr>
        <p:grpSpPr>
          <a:xfrm>
            <a:off x="6296025" y="2562225"/>
            <a:ext cx="419100" cy="419100"/>
            <a:chOff x="6296025" y="2562225"/>
            <a:chExt cx="419100" cy="419100"/>
          </a:xfrm>
        </p:grpSpPr>
        <p:sp>
          <p:nvSpPr>
            <p:cNvPr id="148" name="Google Shape;148;h510714b4cc47d3b6_0_0"/>
            <p:cNvSpPr/>
            <p:nvPr/>
          </p:nvSpPr>
          <p:spPr>
            <a:xfrm>
              <a:off x="6296025" y="2562225"/>
              <a:ext cx="419100" cy="419100"/>
            </a:xfrm>
            <a:prstGeom prst="ellipse">
              <a:avLst/>
            </a:prstGeom>
            <a:solidFill>
              <a:srgbClr val="08487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pic>
          <p:nvPicPr>
            <p:cNvPr descr="chart-spline__FFFFFF.png" id="149" name="Google Shape;149;h510714b4cc47d3b6_0_0"/>
            <p:cNvPicPr preferRelativeResize="0"/>
            <p:nvPr/>
          </p:nvPicPr>
          <p:blipFill rotWithShape="1">
            <a:blip r:embed="rId3">
              <a:alphaModFix/>
            </a:blip>
            <a:srcRect b="0" l="0" r="0" t="0"/>
            <a:stretch/>
          </p:blipFill>
          <p:spPr>
            <a:xfrm>
              <a:off x="6396609" y="2662809"/>
              <a:ext cx="217932" cy="217932"/>
            </a:xfrm>
            <a:prstGeom prst="rect">
              <a:avLst/>
            </a:prstGeom>
            <a:noFill/>
            <a:ln>
              <a:noFill/>
            </a:ln>
          </p:spPr>
        </p:pic>
      </p:grpSp>
      <p:sp>
        <p:nvSpPr>
          <p:cNvPr id="150" name="Google Shape;150;h510714b4cc47d3b6_0_0"/>
          <p:cNvSpPr txBox="1"/>
          <p:nvPr/>
        </p:nvSpPr>
        <p:spPr>
          <a:xfrm>
            <a:off x="6886631" y="2543175"/>
            <a:ext cx="4619700" cy="285900"/>
          </a:xfrm>
          <a:prstGeom prst="rect">
            <a:avLst/>
          </a:prstGeom>
          <a:noFill/>
          <a:ln>
            <a:noFill/>
          </a:ln>
        </p:spPr>
        <p:txBody>
          <a:bodyPr anchorCtr="0" anchor="t" bIns="0" lIns="0" spcFirstLastPara="1" rIns="0" wrap="square" tIns="0">
            <a:noAutofit/>
          </a:bodyPr>
          <a:lstStyle/>
          <a:p>
            <a:pPr indent="0" lvl="0" marL="0" marR="0" rtl="0" algn="l">
              <a:lnSpc>
                <a:spcPct val="131818"/>
              </a:lnSpc>
              <a:spcBef>
                <a:spcPts val="0"/>
              </a:spcBef>
              <a:spcAft>
                <a:spcPts val="0"/>
              </a:spcAft>
              <a:buNone/>
            </a:pPr>
            <a:r>
              <a:rPr b="1" i="0" lang="en-US" sz="1650" u="none" cap="none" strike="noStrike">
                <a:solidFill>
                  <a:srgbClr val="141A21"/>
                </a:solidFill>
                <a:latin typeface="IBM Plex Sans"/>
                <a:ea typeface="IBM Plex Sans"/>
                <a:cs typeface="IBM Plex Sans"/>
                <a:sym typeface="IBM Plex Sans"/>
              </a:rPr>
              <a:t>Was sagt das Modell vorher, und womit?</a:t>
            </a:r>
            <a:endParaRPr/>
          </a:p>
        </p:txBody>
      </p:sp>
      <p:sp>
        <p:nvSpPr>
          <p:cNvPr id="151" name="Google Shape;151;h510714b4cc47d3b6_0_0"/>
          <p:cNvSpPr txBox="1"/>
          <p:nvPr/>
        </p:nvSpPr>
        <p:spPr>
          <a:xfrm>
            <a:off x="6886631" y="2847975"/>
            <a:ext cx="4619700" cy="209700"/>
          </a:xfrm>
          <a:prstGeom prst="rect">
            <a:avLst/>
          </a:prstGeom>
          <a:noFill/>
          <a:ln>
            <a:noFill/>
          </a:ln>
        </p:spPr>
        <p:txBody>
          <a:bodyPr anchorCtr="0" anchor="t" bIns="0" lIns="0" spcFirstLastPara="1" rIns="0" wrap="square" tIns="0">
            <a:noAutofit/>
          </a:bodyPr>
          <a:lstStyle/>
          <a:p>
            <a:pPr indent="0" lvl="0" marL="0" marR="0" rtl="0" algn="l">
              <a:lnSpc>
                <a:spcPct val="137500"/>
              </a:lnSpc>
              <a:spcBef>
                <a:spcPts val="0"/>
              </a:spcBef>
              <a:spcAft>
                <a:spcPts val="0"/>
              </a:spcAft>
              <a:buNone/>
            </a:pPr>
            <a:r>
              <a:rPr b="0" i="0" lang="en-US" sz="1200" u="none" cap="none" strike="noStrike">
                <a:solidFill>
                  <a:srgbClr val="657383"/>
                </a:solidFill>
                <a:latin typeface="IBM Plex Sans"/>
                <a:ea typeface="IBM Plex Sans"/>
                <a:cs typeface="IBM Plex Sans"/>
                <a:sym typeface="IBM Plex Sans"/>
              </a:rPr>
              <a:t>Folie 2–4</a:t>
            </a:r>
            <a:endParaRPr/>
          </a:p>
        </p:txBody>
      </p:sp>
      <p:grpSp>
        <p:nvGrpSpPr>
          <p:cNvPr id="152" name="Google Shape;152;h510714b4cc47d3b6_0_0"/>
          <p:cNvGrpSpPr/>
          <p:nvPr/>
        </p:nvGrpSpPr>
        <p:grpSpPr>
          <a:xfrm>
            <a:off x="6296025" y="3476625"/>
            <a:ext cx="419100" cy="419100"/>
            <a:chOff x="6296025" y="3476625"/>
            <a:chExt cx="419100" cy="419100"/>
          </a:xfrm>
        </p:grpSpPr>
        <p:sp>
          <p:nvSpPr>
            <p:cNvPr id="153" name="Google Shape;153;h510714b4cc47d3b6_0_0"/>
            <p:cNvSpPr/>
            <p:nvPr/>
          </p:nvSpPr>
          <p:spPr>
            <a:xfrm>
              <a:off x="6296025" y="3476625"/>
              <a:ext cx="419100" cy="419100"/>
            </a:xfrm>
            <a:prstGeom prst="ellipse">
              <a:avLst/>
            </a:prstGeom>
            <a:solidFill>
              <a:srgbClr val="00718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pic>
          <p:nvPicPr>
            <p:cNvPr descr="ruler__FFFFFF.png" id="154" name="Google Shape;154;h510714b4cc47d3b6_0_0"/>
            <p:cNvPicPr preferRelativeResize="0"/>
            <p:nvPr/>
          </p:nvPicPr>
          <p:blipFill rotWithShape="1">
            <a:blip r:embed="rId4">
              <a:alphaModFix/>
            </a:blip>
            <a:srcRect b="0" l="0" r="0" t="0"/>
            <a:stretch/>
          </p:blipFill>
          <p:spPr>
            <a:xfrm>
              <a:off x="6396609" y="3577209"/>
              <a:ext cx="217932" cy="217932"/>
            </a:xfrm>
            <a:prstGeom prst="rect">
              <a:avLst/>
            </a:prstGeom>
            <a:noFill/>
            <a:ln>
              <a:noFill/>
            </a:ln>
          </p:spPr>
        </p:pic>
      </p:grpSp>
      <p:sp>
        <p:nvSpPr>
          <p:cNvPr id="155" name="Google Shape;155;h510714b4cc47d3b6_0_0"/>
          <p:cNvSpPr txBox="1"/>
          <p:nvPr/>
        </p:nvSpPr>
        <p:spPr>
          <a:xfrm>
            <a:off x="6886631" y="3457575"/>
            <a:ext cx="4619700" cy="285900"/>
          </a:xfrm>
          <a:prstGeom prst="rect">
            <a:avLst/>
          </a:prstGeom>
          <a:noFill/>
          <a:ln>
            <a:noFill/>
          </a:ln>
        </p:spPr>
        <p:txBody>
          <a:bodyPr anchorCtr="0" anchor="t" bIns="0" lIns="0" spcFirstLastPara="1" rIns="0" wrap="square" tIns="0">
            <a:noAutofit/>
          </a:bodyPr>
          <a:lstStyle/>
          <a:p>
            <a:pPr indent="0" lvl="0" marL="0" marR="0" rtl="0" algn="l">
              <a:lnSpc>
                <a:spcPct val="131818"/>
              </a:lnSpc>
              <a:spcBef>
                <a:spcPts val="0"/>
              </a:spcBef>
              <a:spcAft>
                <a:spcPts val="0"/>
              </a:spcAft>
              <a:buNone/>
            </a:pPr>
            <a:r>
              <a:rPr b="1" i="0" lang="en-US" sz="1650" u="none" cap="none" strike="noStrike">
                <a:solidFill>
                  <a:srgbClr val="141A21"/>
                </a:solidFill>
                <a:latin typeface="IBM Plex Sans"/>
                <a:ea typeface="IBM Plex Sans"/>
                <a:cs typeface="IBM Plex Sans"/>
                <a:sym typeface="IBM Plex Sans"/>
              </a:rPr>
              <a:t>Woran messen wir, ob es gut ist?</a:t>
            </a:r>
            <a:endParaRPr/>
          </a:p>
        </p:txBody>
      </p:sp>
      <p:sp>
        <p:nvSpPr>
          <p:cNvPr id="156" name="Google Shape;156;h510714b4cc47d3b6_0_0"/>
          <p:cNvSpPr txBox="1"/>
          <p:nvPr/>
        </p:nvSpPr>
        <p:spPr>
          <a:xfrm>
            <a:off x="6886631" y="3762375"/>
            <a:ext cx="4619700" cy="209700"/>
          </a:xfrm>
          <a:prstGeom prst="rect">
            <a:avLst/>
          </a:prstGeom>
          <a:noFill/>
          <a:ln>
            <a:noFill/>
          </a:ln>
        </p:spPr>
        <p:txBody>
          <a:bodyPr anchorCtr="0" anchor="t" bIns="0" lIns="0" spcFirstLastPara="1" rIns="0" wrap="square" tIns="0">
            <a:noAutofit/>
          </a:bodyPr>
          <a:lstStyle/>
          <a:p>
            <a:pPr indent="0" lvl="0" marL="0" marR="0" rtl="0" algn="l">
              <a:lnSpc>
                <a:spcPct val="137500"/>
              </a:lnSpc>
              <a:spcBef>
                <a:spcPts val="0"/>
              </a:spcBef>
              <a:spcAft>
                <a:spcPts val="0"/>
              </a:spcAft>
              <a:buNone/>
            </a:pPr>
            <a:r>
              <a:rPr b="0" i="0" lang="en-US" sz="1200" u="none" cap="none" strike="noStrike">
                <a:solidFill>
                  <a:srgbClr val="657383"/>
                </a:solidFill>
                <a:latin typeface="IBM Plex Sans"/>
                <a:ea typeface="IBM Plex Sans"/>
                <a:cs typeface="IBM Plex Sans"/>
                <a:sym typeface="IBM Plex Sans"/>
              </a:rPr>
              <a:t>Folie 5–6</a:t>
            </a:r>
            <a:endParaRPr/>
          </a:p>
        </p:txBody>
      </p:sp>
      <p:grpSp>
        <p:nvGrpSpPr>
          <p:cNvPr id="157" name="Google Shape;157;h510714b4cc47d3b6_0_0"/>
          <p:cNvGrpSpPr/>
          <p:nvPr/>
        </p:nvGrpSpPr>
        <p:grpSpPr>
          <a:xfrm>
            <a:off x="6296025" y="4391025"/>
            <a:ext cx="419100" cy="419100"/>
            <a:chOff x="6296025" y="4391025"/>
            <a:chExt cx="419100" cy="419100"/>
          </a:xfrm>
        </p:grpSpPr>
        <p:sp>
          <p:nvSpPr>
            <p:cNvPr id="158" name="Google Shape;158;h510714b4cc47d3b6_0_0"/>
            <p:cNvSpPr/>
            <p:nvPr/>
          </p:nvSpPr>
          <p:spPr>
            <a:xfrm>
              <a:off x="6296025" y="4391025"/>
              <a:ext cx="419100" cy="419100"/>
            </a:xfrm>
            <a:prstGeom prst="ellipse">
              <a:avLst/>
            </a:prstGeom>
            <a:solidFill>
              <a:srgbClr val="A8650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pic>
          <p:nvPicPr>
            <p:cNvPr descr="flag__FFFFFF.png" id="159" name="Google Shape;159;h510714b4cc47d3b6_0_0"/>
            <p:cNvPicPr preferRelativeResize="0"/>
            <p:nvPr/>
          </p:nvPicPr>
          <p:blipFill rotWithShape="1">
            <a:blip r:embed="rId5">
              <a:alphaModFix/>
            </a:blip>
            <a:srcRect b="0" l="0" r="0" t="0"/>
            <a:stretch/>
          </p:blipFill>
          <p:spPr>
            <a:xfrm>
              <a:off x="6396609" y="4491609"/>
              <a:ext cx="217932" cy="217932"/>
            </a:xfrm>
            <a:prstGeom prst="rect">
              <a:avLst/>
            </a:prstGeom>
            <a:noFill/>
            <a:ln>
              <a:noFill/>
            </a:ln>
          </p:spPr>
        </p:pic>
      </p:grpSp>
      <p:sp>
        <p:nvSpPr>
          <p:cNvPr id="160" name="Google Shape;160;h510714b4cc47d3b6_0_0"/>
          <p:cNvSpPr txBox="1"/>
          <p:nvPr/>
        </p:nvSpPr>
        <p:spPr>
          <a:xfrm>
            <a:off x="6886631" y="4371975"/>
            <a:ext cx="4619700" cy="285900"/>
          </a:xfrm>
          <a:prstGeom prst="rect">
            <a:avLst/>
          </a:prstGeom>
          <a:noFill/>
          <a:ln>
            <a:noFill/>
          </a:ln>
        </p:spPr>
        <p:txBody>
          <a:bodyPr anchorCtr="0" anchor="t" bIns="0" lIns="0" spcFirstLastPara="1" rIns="0" wrap="square" tIns="0">
            <a:noAutofit/>
          </a:bodyPr>
          <a:lstStyle/>
          <a:p>
            <a:pPr indent="0" lvl="0" marL="0" marR="0" rtl="0" algn="l">
              <a:lnSpc>
                <a:spcPct val="131818"/>
              </a:lnSpc>
              <a:spcBef>
                <a:spcPts val="0"/>
              </a:spcBef>
              <a:spcAft>
                <a:spcPts val="0"/>
              </a:spcAft>
              <a:buNone/>
            </a:pPr>
            <a:r>
              <a:rPr b="1" i="0" lang="en-US" sz="1650" u="none" cap="none" strike="noStrike">
                <a:solidFill>
                  <a:srgbClr val="141A21"/>
                </a:solidFill>
                <a:latin typeface="IBM Plex Sans"/>
                <a:ea typeface="IBM Plex Sans"/>
                <a:cs typeface="IBM Plex Sans"/>
                <a:sym typeface="IBM Plex Sans"/>
              </a:rPr>
              <a:t>Ab wann wird eine Abweichung geprüft?</a:t>
            </a:r>
            <a:endParaRPr/>
          </a:p>
        </p:txBody>
      </p:sp>
      <p:sp>
        <p:nvSpPr>
          <p:cNvPr id="161" name="Google Shape;161;h510714b4cc47d3b6_0_0"/>
          <p:cNvSpPr txBox="1"/>
          <p:nvPr/>
        </p:nvSpPr>
        <p:spPr>
          <a:xfrm>
            <a:off x="6886631" y="4676775"/>
            <a:ext cx="4619700" cy="209700"/>
          </a:xfrm>
          <a:prstGeom prst="rect">
            <a:avLst/>
          </a:prstGeom>
          <a:noFill/>
          <a:ln>
            <a:noFill/>
          </a:ln>
        </p:spPr>
        <p:txBody>
          <a:bodyPr anchorCtr="0" anchor="t" bIns="0" lIns="0" spcFirstLastPara="1" rIns="0" wrap="square" tIns="0">
            <a:noAutofit/>
          </a:bodyPr>
          <a:lstStyle/>
          <a:p>
            <a:pPr indent="0" lvl="0" marL="0" marR="0" rtl="0" algn="l">
              <a:lnSpc>
                <a:spcPct val="137500"/>
              </a:lnSpc>
              <a:spcBef>
                <a:spcPts val="0"/>
              </a:spcBef>
              <a:spcAft>
                <a:spcPts val="0"/>
              </a:spcAft>
              <a:buNone/>
            </a:pPr>
            <a:r>
              <a:rPr b="0" i="0" lang="en-US" sz="1200" u="none" cap="none" strike="noStrike">
                <a:solidFill>
                  <a:srgbClr val="657383"/>
                </a:solidFill>
                <a:latin typeface="IBM Plex Sans"/>
                <a:ea typeface="IBM Plex Sans"/>
                <a:cs typeface="IBM Plex Sans"/>
                <a:sym typeface="IBM Plex Sans"/>
              </a:rPr>
              <a:t>Folie 7–8</a:t>
            </a:r>
            <a:endParaRPr/>
          </a:p>
        </p:txBody>
      </p:sp>
      <p:sp>
        <p:nvSpPr>
          <p:cNvPr id="162" name="Google Shape;162;h510714b4cc47d3b6_0_0"/>
          <p:cNvSpPr txBox="1"/>
          <p:nvPr/>
        </p:nvSpPr>
        <p:spPr>
          <a:xfrm>
            <a:off x="6296077" y="5715000"/>
            <a:ext cx="5210100" cy="2286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None/>
            </a:pPr>
            <a:r>
              <a:rPr b="0" i="0" lang="en-US" sz="1350" u="none" cap="none" strike="noStrike">
                <a:solidFill>
                  <a:srgbClr val="657383"/>
                </a:solidFill>
                <a:latin typeface="IBM Plex Sans"/>
                <a:ea typeface="IBM Plex Sans"/>
                <a:cs typeface="IBM Plex Sans"/>
                <a:sym typeface="IBM Plex Sans"/>
              </a:rPr>
              <a:t>Kiko Ramon Lukas · Machine Learning und Evaluation</a:t>
            </a:r>
            <a:endParaRPr/>
          </a:p>
        </p:txBody>
      </p:sp>
      <p:sp>
        <p:nvSpPr>
          <p:cNvPr id="163" name="Google Shape;163;h510714b4cc47d3b6_0_0"/>
          <p:cNvSpPr txBox="1"/>
          <p:nvPr/>
        </p:nvSpPr>
        <p:spPr>
          <a:xfrm>
            <a:off x="10835729" y="6391275"/>
            <a:ext cx="670500" cy="190500"/>
          </a:xfrm>
          <a:prstGeom prst="rect">
            <a:avLst/>
          </a:prstGeom>
          <a:noFill/>
          <a:ln>
            <a:noFill/>
          </a:ln>
        </p:spPr>
        <p:txBody>
          <a:bodyPr anchorCtr="0" anchor="t" bIns="0" lIns="0" spcFirstLastPara="1" rIns="0" wrap="square" tIns="0">
            <a:noAutofit/>
          </a:bodyPr>
          <a:lstStyle/>
          <a:p>
            <a:pPr indent="0" lvl="0" marL="0" marR="0" rtl="0" algn="r">
              <a:lnSpc>
                <a:spcPct val="125000"/>
              </a:lnSpc>
              <a:spcBef>
                <a:spcPts val="0"/>
              </a:spcBef>
              <a:spcAft>
                <a:spcPts val="0"/>
              </a:spcAft>
              <a:buNone/>
            </a:pPr>
            <a:r>
              <a:rPr b="0" i="0" lang="en-US" sz="1200" u="none" cap="none" strike="noStrike">
                <a:solidFill>
                  <a:srgbClr val="4E5A68"/>
                </a:solidFill>
                <a:latin typeface="IBM Plex Sans"/>
                <a:ea typeface="IBM Plex Sans"/>
                <a:cs typeface="IBM Plex Sans"/>
                <a:sym typeface="IBM Plex Sans"/>
              </a:rPr>
              <a:t>1 / 9</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8" name="Shape 168"/>
        <p:cNvGrpSpPr/>
        <p:nvPr/>
      </p:nvGrpSpPr>
      <p:grpSpPr>
        <a:xfrm>
          <a:off x="0" y="0"/>
          <a:ext cx="0" cy="0"/>
          <a:chOff x="0" y="0"/>
          <a:chExt cx="0" cy="0"/>
        </a:xfrm>
      </p:grpSpPr>
      <p:sp>
        <p:nvSpPr>
          <p:cNvPr id="169" name="Google Shape;169;h510714b4cc47d3b6_0_104"/>
          <p:cNvSpPr txBox="1"/>
          <p:nvPr/>
        </p:nvSpPr>
        <p:spPr>
          <a:xfrm>
            <a:off x="685806" y="457200"/>
            <a:ext cx="8591400" cy="1905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None/>
            </a:pPr>
            <a:r>
              <a:rPr b="1" i="0" lang="en-US" sz="1200" u="none" cap="none" strike="noStrike">
                <a:solidFill>
                  <a:srgbClr val="00718E"/>
                </a:solidFill>
                <a:latin typeface="IBM Plex Sans"/>
                <a:ea typeface="IBM Plex Sans"/>
                <a:cs typeface="IBM Plex Sans"/>
                <a:sym typeface="IBM Plex Sans"/>
              </a:rPr>
              <a:t>KAPITEL 3 · ML CANVAS · KIKO</a:t>
            </a:r>
            <a:endParaRPr/>
          </a:p>
        </p:txBody>
      </p:sp>
      <p:sp>
        <p:nvSpPr>
          <p:cNvPr id="170" name="Google Shape;170;h510714b4cc47d3b6_0_104"/>
          <p:cNvSpPr txBox="1"/>
          <p:nvPr/>
        </p:nvSpPr>
        <p:spPr>
          <a:xfrm>
            <a:off x="685806" y="762000"/>
            <a:ext cx="10820400" cy="438300"/>
          </a:xfrm>
          <a:prstGeom prst="rect">
            <a:avLst/>
          </a:prstGeom>
          <a:noFill/>
          <a:ln>
            <a:noFill/>
          </a:ln>
        </p:spPr>
        <p:txBody>
          <a:bodyPr anchorCtr="0" anchor="t" bIns="0" lIns="0" spcFirstLastPara="1" rIns="0" wrap="square" tIns="0">
            <a:noAutofit/>
          </a:bodyPr>
          <a:lstStyle/>
          <a:p>
            <a:pPr indent="0" lvl="0" marL="0" marR="0" rtl="0" algn="l">
              <a:lnSpc>
                <a:spcPct val="112500"/>
              </a:lnSpc>
              <a:spcBef>
                <a:spcPts val="0"/>
              </a:spcBef>
              <a:spcAft>
                <a:spcPts val="0"/>
              </a:spcAft>
              <a:buNone/>
            </a:pPr>
            <a:r>
              <a:rPr b="1" i="0" lang="en-US" sz="3000" u="none" cap="none" strike="noStrike">
                <a:solidFill>
                  <a:srgbClr val="141A21"/>
                </a:solidFill>
                <a:latin typeface="IBM Plex Sans"/>
                <a:ea typeface="IBM Plex Sans"/>
                <a:cs typeface="IBM Plex Sans"/>
                <a:sym typeface="IBM Plex Sans"/>
              </a:rPr>
              <a:t>ML Canvas: sechs Felder gehören zum Modell</a:t>
            </a:r>
            <a:endParaRPr/>
          </a:p>
        </p:txBody>
      </p:sp>
      <p:sp>
        <p:nvSpPr>
          <p:cNvPr id="171" name="Google Shape;171;h510714b4cc47d3b6_0_104"/>
          <p:cNvSpPr/>
          <p:nvPr/>
        </p:nvSpPr>
        <p:spPr>
          <a:xfrm>
            <a:off x="685806" y="1524000"/>
            <a:ext cx="3486300" cy="1828800"/>
          </a:xfrm>
          <a:prstGeom prst="roundRect">
            <a:avLst>
              <a:gd fmla="val 5208" name="adj"/>
            </a:avLst>
          </a:prstGeom>
          <a:solidFill>
            <a:srgbClr val="FFFFFF"/>
          </a:solidFill>
          <a:ln cap="flat" cmpd="sng" w="9525">
            <a:solidFill>
              <a:srgbClr val="D2DA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172" name="Google Shape;172;h510714b4cc47d3b6_0_104"/>
          <p:cNvSpPr txBox="1"/>
          <p:nvPr/>
        </p:nvSpPr>
        <p:spPr>
          <a:xfrm>
            <a:off x="895357" y="1695450"/>
            <a:ext cx="3373800" cy="1980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b="1" i="0" lang="en-US" sz="1200" u="none" cap="none" strike="noStrike">
                <a:solidFill>
                  <a:srgbClr val="00718E"/>
                </a:solidFill>
                <a:latin typeface="IBM Plex Sans"/>
                <a:ea typeface="IBM Plex Sans"/>
                <a:cs typeface="IBM Plex Sans"/>
                <a:sym typeface="IBM Plex Sans"/>
              </a:rPr>
              <a:t>03 · VORHERSAGE</a:t>
            </a:r>
            <a:endParaRPr/>
          </a:p>
        </p:txBody>
      </p:sp>
      <p:sp>
        <p:nvSpPr>
          <p:cNvPr id="173" name="Google Shape;173;h510714b4cc47d3b6_0_104"/>
          <p:cNvSpPr txBox="1"/>
          <p:nvPr/>
        </p:nvSpPr>
        <p:spPr>
          <a:xfrm>
            <a:off x="895357" y="1962150"/>
            <a:ext cx="3067200" cy="247800"/>
          </a:xfrm>
          <a:prstGeom prst="rect">
            <a:avLst/>
          </a:prstGeom>
          <a:noFill/>
          <a:ln>
            <a:noFill/>
          </a:ln>
        </p:spPr>
        <p:txBody>
          <a:bodyPr anchorCtr="0" anchor="t" bIns="0" lIns="0" spcFirstLastPara="1" rIns="0" wrap="square" tIns="0">
            <a:noAutofit/>
          </a:bodyPr>
          <a:lstStyle/>
          <a:p>
            <a:pPr indent="0" lvl="0" marL="0" marR="0" rtl="0" algn="l">
              <a:lnSpc>
                <a:spcPct val="136842"/>
              </a:lnSpc>
              <a:spcBef>
                <a:spcPts val="0"/>
              </a:spcBef>
              <a:spcAft>
                <a:spcPts val="0"/>
              </a:spcAft>
              <a:buNone/>
            </a:pPr>
            <a:r>
              <a:rPr b="1" i="0" lang="en-US" sz="1425" u="none" cap="none" strike="noStrike">
                <a:solidFill>
                  <a:srgbClr val="141A21"/>
                </a:solidFill>
                <a:latin typeface="IBM Plex Sans"/>
                <a:ea typeface="IBM Plex Sans"/>
                <a:cs typeface="IBM Plex Sans"/>
                <a:sym typeface="IBM Plex Sans"/>
              </a:rPr>
              <a:t>Was sagt das Modell vorher?</a:t>
            </a:r>
            <a:endParaRPr/>
          </a:p>
        </p:txBody>
      </p:sp>
      <p:sp>
        <p:nvSpPr>
          <p:cNvPr id="174" name="Google Shape;174;h510714b4cc47d3b6_0_104"/>
          <p:cNvSpPr txBox="1"/>
          <p:nvPr/>
        </p:nvSpPr>
        <p:spPr>
          <a:xfrm>
            <a:off x="895357" y="2266950"/>
            <a:ext cx="3067200" cy="990600"/>
          </a:xfrm>
          <a:prstGeom prst="rect">
            <a:avLst/>
          </a:prstGeom>
          <a:noFill/>
          <a:ln>
            <a:noFill/>
          </a:ln>
        </p:spPr>
        <p:txBody>
          <a:bodyPr anchorCtr="0" anchor="t" bIns="0" lIns="0" spcFirstLastPara="1" rIns="0" wrap="square" tIns="0">
            <a:noAutofit/>
          </a:bodyPr>
          <a:lstStyle/>
          <a:p>
            <a:pPr indent="0" lvl="0" marL="0" marR="0" rtl="0" algn="l">
              <a:lnSpc>
                <a:spcPct val="138888"/>
              </a:lnSpc>
              <a:spcBef>
                <a:spcPts val="0"/>
              </a:spcBef>
              <a:spcAft>
                <a:spcPts val="0"/>
              </a:spcAft>
              <a:buNone/>
            </a:pPr>
            <a:r>
              <a:rPr b="0" i="0" lang="en-US" sz="1350" u="none" cap="none" strike="noStrike">
                <a:solidFill>
                  <a:srgbClr val="4E5A68"/>
                </a:solidFill>
                <a:latin typeface="IBM Plex Sans"/>
                <a:ea typeface="IBM Plex Sans"/>
                <a:cs typeface="IBM Plex Sans"/>
                <a:sym typeface="IBM Plex Sans"/>
              </a:rPr>
              <a:t>Den Stromverbrauch jedes Zählers im nächsten Monat, am Ende in kWh.</a:t>
            </a:r>
            <a:endParaRPr/>
          </a:p>
        </p:txBody>
      </p:sp>
      <p:sp>
        <p:nvSpPr>
          <p:cNvPr id="175" name="Google Shape;175;h510714b4cc47d3b6_0_104"/>
          <p:cNvSpPr/>
          <p:nvPr/>
        </p:nvSpPr>
        <p:spPr>
          <a:xfrm>
            <a:off x="4352961" y="1524000"/>
            <a:ext cx="3486300" cy="1828800"/>
          </a:xfrm>
          <a:prstGeom prst="roundRect">
            <a:avLst>
              <a:gd fmla="val 5208" name="adj"/>
            </a:avLst>
          </a:prstGeom>
          <a:solidFill>
            <a:srgbClr val="FFFFFF"/>
          </a:solidFill>
          <a:ln cap="flat" cmpd="sng" w="9525">
            <a:solidFill>
              <a:srgbClr val="D2DA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176" name="Google Shape;176;h510714b4cc47d3b6_0_104"/>
          <p:cNvSpPr txBox="1"/>
          <p:nvPr/>
        </p:nvSpPr>
        <p:spPr>
          <a:xfrm>
            <a:off x="4562512" y="1695450"/>
            <a:ext cx="3373800" cy="1980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b="1" i="0" lang="en-US" sz="1200" u="none" cap="none" strike="noStrike">
                <a:solidFill>
                  <a:srgbClr val="00718E"/>
                </a:solidFill>
                <a:latin typeface="IBM Plex Sans"/>
                <a:ea typeface="IBM Plex Sans"/>
                <a:cs typeface="IBM Plex Sans"/>
                <a:sym typeface="IBM Plex Sans"/>
              </a:rPr>
              <a:t>04 · MERKMALE</a:t>
            </a:r>
            <a:endParaRPr/>
          </a:p>
        </p:txBody>
      </p:sp>
      <p:sp>
        <p:nvSpPr>
          <p:cNvPr id="177" name="Google Shape;177;h510714b4cc47d3b6_0_104"/>
          <p:cNvSpPr txBox="1"/>
          <p:nvPr/>
        </p:nvSpPr>
        <p:spPr>
          <a:xfrm>
            <a:off x="4562512" y="1962150"/>
            <a:ext cx="3067200" cy="247800"/>
          </a:xfrm>
          <a:prstGeom prst="rect">
            <a:avLst/>
          </a:prstGeom>
          <a:noFill/>
          <a:ln>
            <a:noFill/>
          </a:ln>
        </p:spPr>
        <p:txBody>
          <a:bodyPr anchorCtr="0" anchor="t" bIns="0" lIns="0" spcFirstLastPara="1" rIns="0" wrap="square" tIns="0">
            <a:noAutofit/>
          </a:bodyPr>
          <a:lstStyle/>
          <a:p>
            <a:pPr indent="0" lvl="0" marL="0" marR="0" rtl="0" algn="l">
              <a:lnSpc>
                <a:spcPct val="136842"/>
              </a:lnSpc>
              <a:spcBef>
                <a:spcPts val="0"/>
              </a:spcBef>
              <a:spcAft>
                <a:spcPts val="0"/>
              </a:spcAft>
              <a:buNone/>
            </a:pPr>
            <a:r>
              <a:rPr b="1" i="0" lang="en-US" sz="1425" u="none" cap="none" strike="noStrike">
                <a:solidFill>
                  <a:srgbClr val="141A21"/>
                </a:solidFill>
                <a:latin typeface="IBM Plex Sans"/>
                <a:ea typeface="IBM Plex Sans"/>
                <a:cs typeface="IBM Plex Sans"/>
                <a:sym typeface="IBM Plex Sans"/>
              </a:rPr>
              <a:t>Womit rechnet es?</a:t>
            </a:r>
            <a:endParaRPr/>
          </a:p>
        </p:txBody>
      </p:sp>
      <p:sp>
        <p:nvSpPr>
          <p:cNvPr id="178" name="Google Shape;178;h510714b4cc47d3b6_0_104"/>
          <p:cNvSpPr txBox="1"/>
          <p:nvPr/>
        </p:nvSpPr>
        <p:spPr>
          <a:xfrm>
            <a:off x="4562512" y="2266950"/>
            <a:ext cx="3067200" cy="990600"/>
          </a:xfrm>
          <a:prstGeom prst="rect">
            <a:avLst/>
          </a:prstGeom>
          <a:noFill/>
          <a:ln>
            <a:noFill/>
          </a:ln>
        </p:spPr>
        <p:txBody>
          <a:bodyPr anchorCtr="0" anchor="t" bIns="0" lIns="0" spcFirstLastPara="1" rIns="0" wrap="square" tIns="0">
            <a:noAutofit/>
          </a:bodyPr>
          <a:lstStyle/>
          <a:p>
            <a:pPr indent="0" lvl="0" marL="0" marR="0" rtl="0" algn="l">
              <a:lnSpc>
                <a:spcPct val="138888"/>
              </a:lnSpc>
              <a:spcBef>
                <a:spcPts val="0"/>
              </a:spcBef>
              <a:spcAft>
                <a:spcPts val="0"/>
              </a:spcAft>
              <a:buNone/>
            </a:pPr>
            <a:r>
              <a:rPr b="0" i="0" lang="en-US" sz="1350" u="none" cap="none" strike="noStrike">
                <a:solidFill>
                  <a:srgbClr val="4E5A68"/>
                </a:solidFill>
                <a:latin typeface="IBM Plex Sans"/>
                <a:ea typeface="IBM Plex Sans"/>
                <a:cs typeface="IBM Plex Sans"/>
                <a:sym typeface="IBM Plex Sans"/>
              </a:rPr>
              <a:t>Nur mit Wissen vor Monatsbeginn: Verbrauchshistorie, Kalender, Wetter, Produktion, Wartung, Kundentyp.</a:t>
            </a:r>
            <a:endParaRPr/>
          </a:p>
        </p:txBody>
      </p:sp>
      <p:sp>
        <p:nvSpPr>
          <p:cNvPr id="179" name="Google Shape;179;h510714b4cc47d3b6_0_104"/>
          <p:cNvSpPr/>
          <p:nvPr/>
        </p:nvSpPr>
        <p:spPr>
          <a:xfrm>
            <a:off x="8020116" y="1524000"/>
            <a:ext cx="3486300" cy="1828800"/>
          </a:xfrm>
          <a:prstGeom prst="roundRect">
            <a:avLst>
              <a:gd fmla="val 5208" name="adj"/>
            </a:avLst>
          </a:prstGeom>
          <a:solidFill>
            <a:srgbClr val="FFFFFF"/>
          </a:solidFill>
          <a:ln cap="flat" cmpd="sng" w="9525">
            <a:solidFill>
              <a:srgbClr val="D2DA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180" name="Google Shape;180;h510714b4cc47d3b6_0_104"/>
          <p:cNvSpPr txBox="1"/>
          <p:nvPr/>
        </p:nvSpPr>
        <p:spPr>
          <a:xfrm>
            <a:off x="8229668" y="1695450"/>
            <a:ext cx="3373800" cy="1980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b="1" i="0" lang="en-US" sz="1200" u="none" cap="none" strike="noStrike">
                <a:solidFill>
                  <a:srgbClr val="00718E"/>
                </a:solidFill>
                <a:latin typeface="IBM Plex Sans"/>
                <a:ea typeface="IBM Plex Sans"/>
                <a:cs typeface="IBM Plex Sans"/>
                <a:sym typeface="IBM Plex Sans"/>
              </a:rPr>
              <a:t>05 · LERNANSATZ</a:t>
            </a:r>
            <a:endParaRPr/>
          </a:p>
        </p:txBody>
      </p:sp>
      <p:sp>
        <p:nvSpPr>
          <p:cNvPr id="181" name="Google Shape;181;h510714b4cc47d3b6_0_104"/>
          <p:cNvSpPr txBox="1"/>
          <p:nvPr/>
        </p:nvSpPr>
        <p:spPr>
          <a:xfrm>
            <a:off x="8229668" y="1962150"/>
            <a:ext cx="3067200" cy="247800"/>
          </a:xfrm>
          <a:prstGeom prst="rect">
            <a:avLst/>
          </a:prstGeom>
          <a:noFill/>
          <a:ln>
            <a:noFill/>
          </a:ln>
        </p:spPr>
        <p:txBody>
          <a:bodyPr anchorCtr="0" anchor="t" bIns="0" lIns="0" spcFirstLastPara="1" rIns="0" wrap="square" tIns="0">
            <a:noAutofit/>
          </a:bodyPr>
          <a:lstStyle/>
          <a:p>
            <a:pPr indent="0" lvl="0" marL="0" marR="0" rtl="0" algn="l">
              <a:lnSpc>
                <a:spcPct val="136842"/>
              </a:lnSpc>
              <a:spcBef>
                <a:spcPts val="0"/>
              </a:spcBef>
              <a:spcAft>
                <a:spcPts val="0"/>
              </a:spcAft>
              <a:buNone/>
            </a:pPr>
            <a:r>
              <a:rPr b="1" i="0" lang="en-US" sz="1425" u="none" cap="none" strike="noStrike">
                <a:solidFill>
                  <a:srgbClr val="141A21"/>
                </a:solidFill>
                <a:latin typeface="IBM Plex Sans"/>
                <a:ea typeface="IBM Plex Sans"/>
                <a:cs typeface="IBM Plex Sans"/>
                <a:sym typeface="IBM Plex Sans"/>
              </a:rPr>
              <a:t>Wie lernt es?</a:t>
            </a:r>
            <a:endParaRPr/>
          </a:p>
        </p:txBody>
      </p:sp>
      <p:sp>
        <p:nvSpPr>
          <p:cNvPr id="182" name="Google Shape;182;h510714b4cc47d3b6_0_104"/>
          <p:cNvSpPr txBox="1"/>
          <p:nvPr/>
        </p:nvSpPr>
        <p:spPr>
          <a:xfrm>
            <a:off x="8229668" y="2266950"/>
            <a:ext cx="3067200" cy="990600"/>
          </a:xfrm>
          <a:prstGeom prst="rect">
            <a:avLst/>
          </a:prstGeom>
          <a:noFill/>
          <a:ln>
            <a:noFill/>
          </a:ln>
        </p:spPr>
        <p:txBody>
          <a:bodyPr anchorCtr="0" anchor="t" bIns="0" lIns="0" spcFirstLastPara="1" rIns="0" wrap="square" tIns="0">
            <a:noAutofit/>
          </a:bodyPr>
          <a:lstStyle/>
          <a:p>
            <a:pPr indent="0" lvl="0" marL="0" marR="0" rtl="0" algn="l">
              <a:lnSpc>
                <a:spcPct val="138888"/>
              </a:lnSpc>
              <a:spcBef>
                <a:spcPts val="0"/>
              </a:spcBef>
              <a:spcAft>
                <a:spcPts val="0"/>
              </a:spcAft>
              <a:buNone/>
            </a:pPr>
            <a:r>
              <a:rPr b="0" i="0" lang="en-US" sz="1350" u="none" cap="none" strike="noStrike">
                <a:solidFill>
                  <a:srgbClr val="4E5A68"/>
                </a:solidFill>
                <a:latin typeface="IBM Plex Sans"/>
                <a:ea typeface="IBM Plex Sans"/>
                <a:cs typeface="IBM Plex Sans"/>
                <a:sym typeface="IBM Plex Sans"/>
              </a:rPr>
              <a:t>Aus Beispielen mit bekanntem Ergebnis: Random Forest gegen einfachere Verfahren.</a:t>
            </a:r>
            <a:endParaRPr/>
          </a:p>
        </p:txBody>
      </p:sp>
      <p:sp>
        <p:nvSpPr>
          <p:cNvPr id="183" name="Google Shape;183;h510714b4cc47d3b6_0_104"/>
          <p:cNvSpPr/>
          <p:nvPr/>
        </p:nvSpPr>
        <p:spPr>
          <a:xfrm>
            <a:off x="685806" y="3486150"/>
            <a:ext cx="3486300" cy="1828800"/>
          </a:xfrm>
          <a:prstGeom prst="roundRect">
            <a:avLst>
              <a:gd fmla="val 5208" name="adj"/>
            </a:avLst>
          </a:prstGeom>
          <a:solidFill>
            <a:srgbClr val="FFFFFF"/>
          </a:solidFill>
          <a:ln cap="flat" cmpd="sng" w="9525">
            <a:solidFill>
              <a:srgbClr val="D2DA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184" name="Google Shape;184;h510714b4cc47d3b6_0_104"/>
          <p:cNvSpPr txBox="1"/>
          <p:nvPr/>
        </p:nvSpPr>
        <p:spPr>
          <a:xfrm>
            <a:off x="895357" y="3657600"/>
            <a:ext cx="3373800" cy="1980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b="1" i="0" lang="en-US" sz="1200" u="none" cap="none" strike="noStrike">
                <a:solidFill>
                  <a:srgbClr val="00718E"/>
                </a:solidFill>
                <a:latin typeface="IBM Plex Sans"/>
                <a:ea typeface="IBM Plex Sans"/>
                <a:cs typeface="IBM Plex Sans"/>
                <a:sym typeface="IBM Plex Sans"/>
              </a:rPr>
              <a:t>06 · EVALUATION</a:t>
            </a:r>
            <a:endParaRPr/>
          </a:p>
        </p:txBody>
      </p:sp>
      <p:sp>
        <p:nvSpPr>
          <p:cNvPr id="185" name="Google Shape;185;h510714b4cc47d3b6_0_104"/>
          <p:cNvSpPr txBox="1"/>
          <p:nvPr/>
        </p:nvSpPr>
        <p:spPr>
          <a:xfrm>
            <a:off x="895357" y="3924300"/>
            <a:ext cx="3067200" cy="247800"/>
          </a:xfrm>
          <a:prstGeom prst="rect">
            <a:avLst/>
          </a:prstGeom>
          <a:noFill/>
          <a:ln>
            <a:noFill/>
          </a:ln>
        </p:spPr>
        <p:txBody>
          <a:bodyPr anchorCtr="0" anchor="t" bIns="0" lIns="0" spcFirstLastPara="1" rIns="0" wrap="square" tIns="0">
            <a:noAutofit/>
          </a:bodyPr>
          <a:lstStyle/>
          <a:p>
            <a:pPr indent="0" lvl="0" marL="0" marR="0" rtl="0" algn="l">
              <a:lnSpc>
                <a:spcPct val="136842"/>
              </a:lnSpc>
              <a:spcBef>
                <a:spcPts val="0"/>
              </a:spcBef>
              <a:spcAft>
                <a:spcPts val="0"/>
              </a:spcAft>
              <a:buNone/>
            </a:pPr>
            <a:r>
              <a:rPr b="1" i="0" lang="en-US" sz="1425" u="none" cap="none" strike="noStrike">
                <a:solidFill>
                  <a:srgbClr val="141A21"/>
                </a:solidFill>
                <a:latin typeface="IBM Plex Sans"/>
                <a:ea typeface="IBM Plex Sans"/>
                <a:cs typeface="IBM Plex Sans"/>
                <a:sym typeface="IBM Plex Sans"/>
              </a:rPr>
              <a:t>Woran messen wir es?</a:t>
            </a:r>
            <a:endParaRPr/>
          </a:p>
        </p:txBody>
      </p:sp>
      <p:sp>
        <p:nvSpPr>
          <p:cNvPr id="186" name="Google Shape;186;h510714b4cc47d3b6_0_104"/>
          <p:cNvSpPr txBox="1"/>
          <p:nvPr/>
        </p:nvSpPr>
        <p:spPr>
          <a:xfrm>
            <a:off x="895357" y="4229100"/>
            <a:ext cx="3067200" cy="990600"/>
          </a:xfrm>
          <a:prstGeom prst="rect">
            <a:avLst/>
          </a:prstGeom>
          <a:noFill/>
          <a:ln>
            <a:noFill/>
          </a:ln>
        </p:spPr>
        <p:txBody>
          <a:bodyPr anchorCtr="0" anchor="t" bIns="0" lIns="0" spcFirstLastPara="1" rIns="0" wrap="square" tIns="0">
            <a:noAutofit/>
          </a:bodyPr>
          <a:lstStyle/>
          <a:p>
            <a:pPr indent="0" lvl="0" marL="0" marR="0" rtl="0" algn="l">
              <a:lnSpc>
                <a:spcPct val="138888"/>
              </a:lnSpc>
              <a:spcBef>
                <a:spcPts val="0"/>
              </a:spcBef>
              <a:spcAft>
                <a:spcPts val="0"/>
              </a:spcAft>
              <a:buNone/>
            </a:pPr>
            <a:r>
              <a:rPr b="0" i="0" lang="en-US" sz="1350" u="none" cap="none" strike="noStrike">
                <a:solidFill>
                  <a:srgbClr val="4E5A68"/>
                </a:solidFill>
                <a:latin typeface="IBM Plex Sans"/>
                <a:ea typeface="IBM Plex Sans"/>
                <a:cs typeface="IBM Plex Sans"/>
                <a:sym typeface="IBM Plex Sans"/>
              </a:rPr>
              <a:t>Am RMSE in kWh, nur auf Monaten, die das Modell beim Lernen nicht kannte.</a:t>
            </a:r>
            <a:endParaRPr/>
          </a:p>
        </p:txBody>
      </p:sp>
      <p:sp>
        <p:nvSpPr>
          <p:cNvPr id="187" name="Google Shape;187;h510714b4cc47d3b6_0_104"/>
          <p:cNvSpPr/>
          <p:nvPr/>
        </p:nvSpPr>
        <p:spPr>
          <a:xfrm>
            <a:off x="4352961" y="3486150"/>
            <a:ext cx="3486300" cy="1828800"/>
          </a:xfrm>
          <a:prstGeom prst="roundRect">
            <a:avLst>
              <a:gd fmla="val 5208" name="adj"/>
            </a:avLst>
          </a:prstGeom>
          <a:solidFill>
            <a:srgbClr val="FFFFFF"/>
          </a:solidFill>
          <a:ln cap="flat" cmpd="sng" w="9525">
            <a:solidFill>
              <a:srgbClr val="D2DA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188" name="Google Shape;188;h510714b4cc47d3b6_0_104"/>
          <p:cNvSpPr txBox="1"/>
          <p:nvPr/>
        </p:nvSpPr>
        <p:spPr>
          <a:xfrm>
            <a:off x="4562512" y="3657600"/>
            <a:ext cx="3373800" cy="1980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b="1" i="0" lang="en-US" sz="1200" u="none" cap="none" strike="noStrike">
                <a:solidFill>
                  <a:srgbClr val="00718E"/>
                </a:solidFill>
                <a:latin typeface="IBM Plex Sans"/>
                <a:ea typeface="IBM Plex Sans"/>
                <a:cs typeface="IBM Plex Sans"/>
                <a:sym typeface="IBM Plex Sans"/>
              </a:rPr>
              <a:t>07 · ENTSCHEIDUNG</a:t>
            </a:r>
            <a:endParaRPr/>
          </a:p>
        </p:txBody>
      </p:sp>
      <p:sp>
        <p:nvSpPr>
          <p:cNvPr id="189" name="Google Shape;189;h510714b4cc47d3b6_0_104"/>
          <p:cNvSpPr txBox="1"/>
          <p:nvPr/>
        </p:nvSpPr>
        <p:spPr>
          <a:xfrm>
            <a:off x="4562512" y="3924300"/>
            <a:ext cx="3067200" cy="247800"/>
          </a:xfrm>
          <a:prstGeom prst="rect">
            <a:avLst/>
          </a:prstGeom>
          <a:noFill/>
          <a:ln>
            <a:noFill/>
          </a:ln>
        </p:spPr>
        <p:txBody>
          <a:bodyPr anchorCtr="0" anchor="t" bIns="0" lIns="0" spcFirstLastPara="1" rIns="0" wrap="square" tIns="0">
            <a:noAutofit/>
          </a:bodyPr>
          <a:lstStyle/>
          <a:p>
            <a:pPr indent="0" lvl="0" marL="0" marR="0" rtl="0" algn="l">
              <a:lnSpc>
                <a:spcPct val="136842"/>
              </a:lnSpc>
              <a:spcBef>
                <a:spcPts val="0"/>
              </a:spcBef>
              <a:spcAft>
                <a:spcPts val="0"/>
              </a:spcAft>
              <a:buNone/>
            </a:pPr>
            <a:r>
              <a:rPr b="1" i="0" lang="en-US" sz="1425" u="none" cap="none" strike="noStrike">
                <a:solidFill>
                  <a:srgbClr val="141A21"/>
                </a:solidFill>
                <a:latin typeface="IBM Plex Sans"/>
                <a:ea typeface="IBM Plex Sans"/>
                <a:cs typeface="IBM Plex Sans"/>
                <a:sym typeface="IBM Plex Sans"/>
              </a:rPr>
              <a:t>Was passiert mit dem Ergebnis?</a:t>
            </a:r>
            <a:endParaRPr/>
          </a:p>
        </p:txBody>
      </p:sp>
      <p:sp>
        <p:nvSpPr>
          <p:cNvPr id="190" name="Google Shape;190;h510714b4cc47d3b6_0_104"/>
          <p:cNvSpPr txBox="1"/>
          <p:nvPr/>
        </p:nvSpPr>
        <p:spPr>
          <a:xfrm>
            <a:off x="4562512" y="4229100"/>
            <a:ext cx="3067200" cy="990600"/>
          </a:xfrm>
          <a:prstGeom prst="rect">
            <a:avLst/>
          </a:prstGeom>
          <a:noFill/>
          <a:ln>
            <a:noFill/>
          </a:ln>
        </p:spPr>
        <p:txBody>
          <a:bodyPr anchorCtr="0" anchor="t" bIns="0" lIns="0" spcFirstLastPara="1" rIns="0" wrap="square" tIns="0">
            <a:noAutofit/>
          </a:bodyPr>
          <a:lstStyle/>
          <a:p>
            <a:pPr indent="0" lvl="0" marL="0" marR="0" rtl="0" algn="l">
              <a:lnSpc>
                <a:spcPct val="138888"/>
              </a:lnSpc>
              <a:spcBef>
                <a:spcPts val="0"/>
              </a:spcBef>
              <a:spcAft>
                <a:spcPts val="0"/>
              </a:spcAft>
              <a:buNone/>
            </a:pPr>
            <a:r>
              <a:rPr b="0" i="0" lang="en-US" sz="1350" u="none" cap="none" strike="noStrike">
                <a:solidFill>
                  <a:srgbClr val="4E5A68"/>
                </a:solidFill>
                <a:latin typeface="IBM Plex Sans"/>
                <a:ea typeface="IBM Plex Sans"/>
                <a:cs typeface="IBM Plex Sans"/>
                <a:sym typeface="IBM Plex Sans"/>
              </a:rPr>
              <a:t>Die Prognose geht in die Beschaffung; ungewöhnliche Abweichungen gehen zur Prüfung.</a:t>
            </a:r>
            <a:endParaRPr/>
          </a:p>
        </p:txBody>
      </p:sp>
      <p:sp>
        <p:nvSpPr>
          <p:cNvPr id="191" name="Google Shape;191;h510714b4cc47d3b6_0_104"/>
          <p:cNvSpPr/>
          <p:nvPr/>
        </p:nvSpPr>
        <p:spPr>
          <a:xfrm>
            <a:off x="8020116" y="3486150"/>
            <a:ext cx="3486300" cy="1828800"/>
          </a:xfrm>
          <a:prstGeom prst="roundRect">
            <a:avLst>
              <a:gd fmla="val 5208" name="adj"/>
            </a:avLst>
          </a:prstGeom>
          <a:solidFill>
            <a:srgbClr val="FFFFFF"/>
          </a:solidFill>
          <a:ln cap="flat" cmpd="sng" w="9525">
            <a:solidFill>
              <a:srgbClr val="D2DA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192" name="Google Shape;192;h510714b4cc47d3b6_0_104"/>
          <p:cNvSpPr txBox="1"/>
          <p:nvPr/>
        </p:nvSpPr>
        <p:spPr>
          <a:xfrm>
            <a:off x="8229668" y="3657600"/>
            <a:ext cx="3373800" cy="1980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b="1" i="0" lang="en-US" sz="1200" u="none" cap="none" strike="noStrike">
                <a:solidFill>
                  <a:srgbClr val="00718E"/>
                </a:solidFill>
                <a:latin typeface="IBM Plex Sans"/>
                <a:ea typeface="IBM Plex Sans"/>
                <a:cs typeface="IBM Plex Sans"/>
                <a:sym typeface="IBM Plex Sans"/>
              </a:rPr>
              <a:t>09 · ZEITPUNKT</a:t>
            </a:r>
            <a:endParaRPr/>
          </a:p>
        </p:txBody>
      </p:sp>
      <p:sp>
        <p:nvSpPr>
          <p:cNvPr id="193" name="Google Shape;193;h510714b4cc47d3b6_0_104"/>
          <p:cNvSpPr txBox="1"/>
          <p:nvPr/>
        </p:nvSpPr>
        <p:spPr>
          <a:xfrm>
            <a:off x="8229668" y="3924300"/>
            <a:ext cx="3067200" cy="247800"/>
          </a:xfrm>
          <a:prstGeom prst="rect">
            <a:avLst/>
          </a:prstGeom>
          <a:noFill/>
          <a:ln>
            <a:noFill/>
          </a:ln>
        </p:spPr>
        <p:txBody>
          <a:bodyPr anchorCtr="0" anchor="t" bIns="0" lIns="0" spcFirstLastPara="1" rIns="0" wrap="square" tIns="0">
            <a:noAutofit/>
          </a:bodyPr>
          <a:lstStyle/>
          <a:p>
            <a:pPr indent="0" lvl="0" marL="0" marR="0" rtl="0" algn="l">
              <a:lnSpc>
                <a:spcPct val="136842"/>
              </a:lnSpc>
              <a:spcBef>
                <a:spcPts val="0"/>
              </a:spcBef>
              <a:spcAft>
                <a:spcPts val="0"/>
              </a:spcAft>
              <a:buNone/>
            </a:pPr>
            <a:r>
              <a:rPr b="1" i="0" lang="en-US" sz="1425" u="none" cap="none" strike="noStrike">
                <a:solidFill>
                  <a:srgbClr val="141A21"/>
                </a:solidFill>
                <a:latin typeface="IBM Plex Sans"/>
                <a:ea typeface="IBM Plex Sans"/>
                <a:cs typeface="IBM Plex Sans"/>
                <a:sym typeface="IBM Plex Sans"/>
              </a:rPr>
              <a:t>Wann läuft es?</a:t>
            </a:r>
            <a:endParaRPr/>
          </a:p>
        </p:txBody>
      </p:sp>
      <p:sp>
        <p:nvSpPr>
          <p:cNvPr id="194" name="Google Shape;194;h510714b4cc47d3b6_0_104"/>
          <p:cNvSpPr txBox="1"/>
          <p:nvPr/>
        </p:nvSpPr>
        <p:spPr>
          <a:xfrm>
            <a:off x="8229668" y="4229100"/>
            <a:ext cx="3067200" cy="990600"/>
          </a:xfrm>
          <a:prstGeom prst="rect">
            <a:avLst/>
          </a:prstGeom>
          <a:noFill/>
          <a:ln>
            <a:noFill/>
          </a:ln>
        </p:spPr>
        <p:txBody>
          <a:bodyPr anchorCtr="0" anchor="t" bIns="0" lIns="0" spcFirstLastPara="1" rIns="0" wrap="square" tIns="0">
            <a:noAutofit/>
          </a:bodyPr>
          <a:lstStyle/>
          <a:p>
            <a:pPr indent="0" lvl="0" marL="0" marR="0" rtl="0" algn="l">
              <a:lnSpc>
                <a:spcPct val="138888"/>
              </a:lnSpc>
              <a:spcBef>
                <a:spcPts val="0"/>
              </a:spcBef>
              <a:spcAft>
                <a:spcPts val="0"/>
              </a:spcAft>
              <a:buNone/>
            </a:pPr>
            <a:r>
              <a:rPr b="0" i="0" lang="en-US" sz="1350" u="none" cap="none" strike="noStrike">
                <a:solidFill>
                  <a:srgbClr val="4E5A68"/>
                </a:solidFill>
                <a:latin typeface="IBM Plex Sans"/>
                <a:ea typeface="IBM Plex Sans"/>
                <a:cs typeface="IBM Plex Sans"/>
                <a:sym typeface="IBM Plex Sans"/>
              </a:rPr>
              <a:t>Zweimal im Monat: Prognose vor Monatsbeginn, Prüfung nach Monatsende.</a:t>
            </a:r>
            <a:endParaRPr/>
          </a:p>
        </p:txBody>
      </p:sp>
      <p:sp>
        <p:nvSpPr>
          <p:cNvPr id="195" name="Google Shape;195;h510714b4cc47d3b6_0_104"/>
          <p:cNvSpPr/>
          <p:nvPr/>
        </p:nvSpPr>
        <p:spPr>
          <a:xfrm>
            <a:off x="685806" y="5505450"/>
            <a:ext cx="5315100" cy="495300"/>
          </a:xfrm>
          <a:prstGeom prst="roundRect">
            <a:avLst>
              <a:gd fmla="val 19230" name="adj"/>
            </a:avLst>
          </a:prstGeom>
          <a:solidFill>
            <a:srgbClr val="F1F4F7"/>
          </a:solidFill>
          <a:ln cap="flat" cmpd="sng" w="9525">
            <a:solidFill>
              <a:srgbClr val="D2DA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196" name="Google Shape;196;h510714b4cc47d3b6_0_104"/>
          <p:cNvSpPr txBox="1"/>
          <p:nvPr/>
        </p:nvSpPr>
        <p:spPr>
          <a:xfrm>
            <a:off x="895357" y="5505450"/>
            <a:ext cx="3143400" cy="495300"/>
          </a:xfrm>
          <a:prstGeom prst="rect">
            <a:avLst/>
          </a:prstGeom>
          <a:noFill/>
          <a:ln>
            <a:noFill/>
          </a:ln>
        </p:spPr>
        <p:txBody>
          <a:bodyPr anchorCtr="0" anchor="ctr" bIns="0" lIns="0" spcFirstLastPara="1" rIns="0" wrap="square" tIns="0">
            <a:noAutofit/>
          </a:bodyPr>
          <a:lstStyle/>
          <a:p>
            <a:pPr indent="0" lvl="0" marL="0" marR="0" rtl="0" algn="l">
              <a:lnSpc>
                <a:spcPct val="129411"/>
              </a:lnSpc>
              <a:spcBef>
                <a:spcPts val="0"/>
              </a:spcBef>
              <a:spcAft>
                <a:spcPts val="0"/>
              </a:spcAft>
              <a:buNone/>
            </a:pPr>
            <a:r>
              <a:rPr b="1" i="0" lang="en-US" sz="1275" u="none" cap="none" strike="noStrike">
                <a:solidFill>
                  <a:srgbClr val="4E5A68"/>
                </a:solidFill>
                <a:latin typeface="IBM Plex Sans"/>
                <a:ea typeface="IBM Plex Sans"/>
                <a:cs typeface="IBM Plex Sans"/>
                <a:sym typeface="IBM Plex Sans"/>
              </a:rPr>
              <a:t>01 Mehrwert · 02 Datenquellen</a:t>
            </a:r>
            <a:endParaRPr/>
          </a:p>
        </p:txBody>
      </p:sp>
      <p:sp>
        <p:nvSpPr>
          <p:cNvPr id="197" name="Google Shape;197;h510714b4cc47d3b6_0_104"/>
          <p:cNvSpPr txBox="1"/>
          <p:nvPr/>
        </p:nvSpPr>
        <p:spPr>
          <a:xfrm>
            <a:off x="3924332" y="5505450"/>
            <a:ext cx="1866900" cy="495300"/>
          </a:xfrm>
          <a:prstGeom prst="rect">
            <a:avLst/>
          </a:prstGeom>
          <a:noFill/>
          <a:ln>
            <a:noFill/>
          </a:ln>
        </p:spPr>
        <p:txBody>
          <a:bodyPr anchorCtr="0" anchor="ctr" bIns="0" lIns="0" spcFirstLastPara="1" rIns="0" wrap="square" tIns="0">
            <a:noAutofit/>
          </a:bodyPr>
          <a:lstStyle/>
          <a:p>
            <a:pPr indent="0" lvl="0" marL="0" marR="0" rtl="0" algn="r">
              <a:lnSpc>
                <a:spcPct val="129411"/>
              </a:lnSpc>
              <a:spcBef>
                <a:spcPts val="0"/>
              </a:spcBef>
              <a:spcAft>
                <a:spcPts val="0"/>
              </a:spcAft>
              <a:buNone/>
            </a:pPr>
            <a:r>
              <a:rPr b="0" i="0" lang="en-US" sz="1275" u="none" cap="none" strike="noStrike">
                <a:solidFill>
                  <a:srgbClr val="657383"/>
                </a:solidFill>
                <a:latin typeface="IBM Plex Sans"/>
                <a:ea typeface="IBM Plex Sans"/>
                <a:cs typeface="IBM Plex Sans"/>
                <a:sym typeface="IBM Plex Sans"/>
              </a:rPr>
              <a:t>besprochen · Iana</a:t>
            </a:r>
            <a:endParaRPr/>
          </a:p>
        </p:txBody>
      </p:sp>
      <p:sp>
        <p:nvSpPr>
          <p:cNvPr id="198" name="Google Shape;198;h510714b4cc47d3b6_0_104"/>
          <p:cNvSpPr/>
          <p:nvPr/>
        </p:nvSpPr>
        <p:spPr>
          <a:xfrm>
            <a:off x="6191301" y="5505450"/>
            <a:ext cx="5315100" cy="495300"/>
          </a:xfrm>
          <a:prstGeom prst="roundRect">
            <a:avLst>
              <a:gd fmla="val 19230" name="adj"/>
            </a:avLst>
          </a:prstGeom>
          <a:solidFill>
            <a:srgbClr val="F1F4F7"/>
          </a:solidFill>
          <a:ln cap="flat" cmpd="sng" w="9525">
            <a:solidFill>
              <a:srgbClr val="D2DA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199" name="Google Shape;199;h510714b4cc47d3b6_0_104"/>
          <p:cNvSpPr txBox="1"/>
          <p:nvPr/>
        </p:nvSpPr>
        <p:spPr>
          <a:xfrm>
            <a:off x="6400853" y="5505450"/>
            <a:ext cx="3143400" cy="495300"/>
          </a:xfrm>
          <a:prstGeom prst="rect">
            <a:avLst/>
          </a:prstGeom>
          <a:noFill/>
          <a:ln>
            <a:noFill/>
          </a:ln>
        </p:spPr>
        <p:txBody>
          <a:bodyPr anchorCtr="0" anchor="ctr" bIns="0" lIns="0" spcFirstLastPara="1" rIns="0" wrap="square" tIns="0">
            <a:noAutofit/>
          </a:bodyPr>
          <a:lstStyle/>
          <a:p>
            <a:pPr indent="0" lvl="0" marL="0" marR="0" rtl="0" algn="l">
              <a:lnSpc>
                <a:spcPct val="129411"/>
              </a:lnSpc>
              <a:spcBef>
                <a:spcPts val="0"/>
              </a:spcBef>
              <a:spcAft>
                <a:spcPts val="0"/>
              </a:spcAft>
              <a:buNone/>
            </a:pPr>
            <a:r>
              <a:rPr b="1" i="0" lang="en-US" sz="1275" u="none" cap="none" strike="noStrike">
                <a:solidFill>
                  <a:srgbClr val="4E5A68"/>
                </a:solidFill>
                <a:latin typeface="IBM Plex Sans"/>
                <a:ea typeface="IBM Plex Sans"/>
                <a:cs typeface="IBM Plex Sans"/>
                <a:sym typeface="IBM Plex Sans"/>
              </a:rPr>
              <a:t>08 Impact · 10 Monitoring</a:t>
            </a:r>
            <a:endParaRPr/>
          </a:p>
        </p:txBody>
      </p:sp>
      <p:sp>
        <p:nvSpPr>
          <p:cNvPr id="200" name="Google Shape;200;h510714b4cc47d3b6_0_104"/>
          <p:cNvSpPr txBox="1"/>
          <p:nvPr/>
        </p:nvSpPr>
        <p:spPr>
          <a:xfrm>
            <a:off x="9429827" y="5505450"/>
            <a:ext cx="1866900" cy="495300"/>
          </a:xfrm>
          <a:prstGeom prst="rect">
            <a:avLst/>
          </a:prstGeom>
          <a:noFill/>
          <a:ln>
            <a:noFill/>
          </a:ln>
        </p:spPr>
        <p:txBody>
          <a:bodyPr anchorCtr="0" anchor="ctr" bIns="0" lIns="0" spcFirstLastPara="1" rIns="0" wrap="square" tIns="0">
            <a:noAutofit/>
          </a:bodyPr>
          <a:lstStyle/>
          <a:p>
            <a:pPr indent="0" lvl="0" marL="0" marR="0" rtl="0" algn="r">
              <a:lnSpc>
                <a:spcPct val="129411"/>
              </a:lnSpc>
              <a:spcBef>
                <a:spcPts val="0"/>
              </a:spcBef>
              <a:spcAft>
                <a:spcPts val="0"/>
              </a:spcAft>
              <a:buNone/>
            </a:pPr>
            <a:r>
              <a:rPr b="0" i="0" lang="en-US" sz="1275" u="none" cap="none" strike="noStrike">
                <a:solidFill>
                  <a:srgbClr val="657383"/>
                </a:solidFill>
                <a:latin typeface="IBM Plex Sans"/>
                <a:ea typeface="IBM Plex Sans"/>
                <a:cs typeface="IBM Plex Sans"/>
                <a:sym typeface="IBM Plex Sans"/>
              </a:rPr>
              <a:t>folgt · Patrick</a:t>
            </a:r>
            <a:endParaRPr/>
          </a:p>
        </p:txBody>
      </p:sp>
      <p:cxnSp>
        <p:nvCxnSpPr>
          <p:cNvPr id="201" name="Google Shape;201;h510714b4cc47d3b6_0_104"/>
          <p:cNvCxnSpPr/>
          <p:nvPr/>
        </p:nvCxnSpPr>
        <p:spPr>
          <a:xfrm>
            <a:off x="0" y="6153150"/>
            <a:ext cx="12192000" cy="0"/>
          </a:xfrm>
          <a:prstGeom prst="straightConnector1">
            <a:avLst/>
          </a:prstGeom>
          <a:noFill/>
          <a:ln cap="flat" cmpd="sng" w="9525">
            <a:solidFill>
              <a:srgbClr val="E4E9EF"/>
            </a:solidFill>
            <a:prstDash val="solid"/>
            <a:round/>
            <a:headEnd len="sm" w="sm" type="none"/>
            <a:tailEnd len="sm" w="sm" type="none"/>
          </a:ln>
          <a:effectLst>
            <a:outerShdw blurRad="40000" rotWithShape="0" dir="5400000" dist="20000">
              <a:srgbClr val="000000">
                <a:alpha val="38040"/>
              </a:srgbClr>
            </a:outerShdw>
          </a:effectLst>
        </p:spPr>
      </p:cxnSp>
      <p:pic>
        <p:nvPicPr>
          <p:cNvPr descr="image.png" id="202" name="Google Shape;202;h510714b4cc47d3b6_0_104"/>
          <p:cNvPicPr preferRelativeResize="0"/>
          <p:nvPr/>
        </p:nvPicPr>
        <p:blipFill rotWithShape="1">
          <a:blip r:embed="rId3">
            <a:alphaModFix/>
          </a:blip>
          <a:srcRect b="0" l="0" r="0" t="0"/>
          <a:stretch/>
        </p:blipFill>
        <p:spPr>
          <a:xfrm>
            <a:off x="685806" y="6362700"/>
            <a:ext cx="715863" cy="247650"/>
          </a:xfrm>
          <a:prstGeom prst="rect">
            <a:avLst/>
          </a:prstGeom>
          <a:noFill/>
          <a:ln>
            <a:noFill/>
          </a:ln>
        </p:spPr>
      </p:pic>
      <p:sp>
        <p:nvSpPr>
          <p:cNvPr id="203" name="Google Shape;203;h510714b4cc47d3b6_0_104"/>
          <p:cNvSpPr txBox="1"/>
          <p:nvPr/>
        </p:nvSpPr>
        <p:spPr>
          <a:xfrm>
            <a:off x="1562113" y="6391275"/>
            <a:ext cx="2891700" cy="1905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None/>
            </a:pPr>
            <a:r>
              <a:rPr b="0" i="0" lang="en-US" sz="1200" u="none" cap="none" strike="noStrike">
                <a:solidFill>
                  <a:srgbClr val="4E5A68"/>
                </a:solidFill>
                <a:latin typeface="IBM Plex Sans"/>
                <a:ea typeface="IBM Plex Sans"/>
                <a:cs typeface="IBM Plex Sans"/>
                <a:sym typeface="IBM Plex Sans"/>
              </a:rPr>
              <a:t>Verbrauchsprognose &amp; Frühwarnung</a:t>
            </a:r>
            <a:endParaRPr/>
          </a:p>
        </p:txBody>
      </p:sp>
      <p:sp>
        <p:nvSpPr>
          <p:cNvPr id="204" name="Google Shape;204;h510714b4cc47d3b6_0_104"/>
          <p:cNvSpPr txBox="1"/>
          <p:nvPr/>
        </p:nvSpPr>
        <p:spPr>
          <a:xfrm>
            <a:off x="10835729" y="6391275"/>
            <a:ext cx="670500" cy="190500"/>
          </a:xfrm>
          <a:prstGeom prst="rect">
            <a:avLst/>
          </a:prstGeom>
          <a:noFill/>
          <a:ln>
            <a:noFill/>
          </a:ln>
        </p:spPr>
        <p:txBody>
          <a:bodyPr anchorCtr="0" anchor="t" bIns="0" lIns="0" spcFirstLastPara="1" rIns="0" wrap="square" tIns="0">
            <a:noAutofit/>
          </a:bodyPr>
          <a:lstStyle/>
          <a:p>
            <a:pPr indent="0" lvl="0" marL="0" marR="0" rtl="0" algn="r">
              <a:lnSpc>
                <a:spcPct val="125000"/>
              </a:lnSpc>
              <a:spcBef>
                <a:spcPts val="0"/>
              </a:spcBef>
              <a:spcAft>
                <a:spcPts val="0"/>
              </a:spcAft>
              <a:buNone/>
            </a:pPr>
            <a:r>
              <a:rPr b="0" i="0" lang="en-US" sz="1200" u="none" cap="none" strike="noStrike">
                <a:solidFill>
                  <a:srgbClr val="4E5A68"/>
                </a:solidFill>
                <a:latin typeface="IBM Plex Sans"/>
                <a:ea typeface="IBM Plex Sans"/>
                <a:cs typeface="IBM Plex Sans"/>
                <a:sym typeface="IBM Plex Sans"/>
              </a:rPr>
              <a:t>2 / 9</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9" name="Shape 209"/>
        <p:cNvGrpSpPr/>
        <p:nvPr/>
      </p:nvGrpSpPr>
      <p:grpSpPr>
        <a:xfrm>
          <a:off x="0" y="0"/>
          <a:ext cx="0" cy="0"/>
          <a:chOff x="0" y="0"/>
          <a:chExt cx="0" cy="0"/>
        </a:xfrm>
      </p:grpSpPr>
      <p:sp>
        <p:nvSpPr>
          <p:cNvPr id="210" name="Google Shape;210;h510714b4cc47d3b6_0_219"/>
          <p:cNvSpPr txBox="1"/>
          <p:nvPr/>
        </p:nvSpPr>
        <p:spPr>
          <a:xfrm>
            <a:off x="685806" y="457200"/>
            <a:ext cx="8591400" cy="1905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None/>
            </a:pPr>
            <a:r>
              <a:rPr b="1" i="0" lang="en-US" sz="1200" u="none" cap="none" strike="noStrike">
                <a:solidFill>
                  <a:srgbClr val="00718E"/>
                </a:solidFill>
                <a:latin typeface="IBM Plex Sans"/>
                <a:ea typeface="IBM Plex Sans"/>
                <a:cs typeface="IBM Plex Sans"/>
                <a:sym typeface="IBM Plex Sans"/>
              </a:rPr>
              <a:t>KAPITEL 4 · METHODIK · KIKO</a:t>
            </a:r>
            <a:endParaRPr/>
          </a:p>
        </p:txBody>
      </p:sp>
      <p:sp>
        <p:nvSpPr>
          <p:cNvPr id="211" name="Google Shape;211;h510714b4cc47d3b6_0_219"/>
          <p:cNvSpPr txBox="1"/>
          <p:nvPr/>
        </p:nvSpPr>
        <p:spPr>
          <a:xfrm>
            <a:off x="685806" y="762000"/>
            <a:ext cx="10820400" cy="438300"/>
          </a:xfrm>
          <a:prstGeom prst="rect">
            <a:avLst/>
          </a:prstGeom>
          <a:noFill/>
          <a:ln>
            <a:noFill/>
          </a:ln>
        </p:spPr>
        <p:txBody>
          <a:bodyPr anchorCtr="0" anchor="t" bIns="0" lIns="0" spcFirstLastPara="1" rIns="0" wrap="square" tIns="0">
            <a:noAutofit/>
          </a:bodyPr>
          <a:lstStyle/>
          <a:p>
            <a:pPr indent="0" lvl="0" marL="0" marR="0" rtl="0" algn="l">
              <a:lnSpc>
                <a:spcPct val="112500"/>
              </a:lnSpc>
              <a:spcBef>
                <a:spcPts val="0"/>
              </a:spcBef>
              <a:spcAft>
                <a:spcPts val="0"/>
              </a:spcAft>
              <a:buNone/>
            </a:pPr>
            <a:r>
              <a:rPr b="1" i="0" lang="en-US" sz="3000" u="none" cap="none" strike="noStrike">
                <a:solidFill>
                  <a:srgbClr val="141A21"/>
                </a:solidFill>
                <a:latin typeface="IBM Plex Sans"/>
                <a:ea typeface="IBM Plex Sans"/>
                <a:cs typeface="IBM Plex Sans"/>
                <a:sym typeface="IBM Plex Sans"/>
              </a:rPr>
              <a:t>Vergangenheit erklärt Zukunft, niemals umgekehrt</a:t>
            </a:r>
            <a:endParaRPr/>
          </a:p>
        </p:txBody>
      </p:sp>
      <p:sp>
        <p:nvSpPr>
          <p:cNvPr id="212" name="Google Shape;212;h510714b4cc47d3b6_0_219"/>
          <p:cNvSpPr/>
          <p:nvPr/>
        </p:nvSpPr>
        <p:spPr>
          <a:xfrm>
            <a:off x="685806" y="1562100"/>
            <a:ext cx="10820400" cy="2707200"/>
          </a:xfrm>
          <a:prstGeom prst="roundRect">
            <a:avLst>
              <a:gd fmla="val 3518" name="adj"/>
            </a:avLst>
          </a:prstGeom>
          <a:solidFill>
            <a:srgbClr val="FFFFFF"/>
          </a:solidFill>
          <a:ln cap="flat" cmpd="sng" w="9525">
            <a:solidFill>
              <a:srgbClr val="D2DA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pic>
        <p:nvPicPr>
          <p:cNvPr descr="s04_svg07.png" id="213" name="Google Shape;213;h510714b4cc47d3b6_0_219"/>
          <p:cNvPicPr preferRelativeResize="0"/>
          <p:nvPr/>
        </p:nvPicPr>
        <p:blipFill rotWithShape="1">
          <a:blip r:embed="rId3">
            <a:alphaModFix/>
          </a:blip>
          <a:srcRect b="0" l="0" r="0" t="0"/>
          <a:stretch/>
        </p:blipFill>
        <p:spPr>
          <a:xfrm>
            <a:off x="800107" y="1676400"/>
            <a:ext cx="10591802" cy="2478520"/>
          </a:xfrm>
          <a:prstGeom prst="rect">
            <a:avLst/>
          </a:prstGeom>
          <a:noFill/>
          <a:ln>
            <a:noFill/>
          </a:ln>
        </p:spPr>
      </p:pic>
      <p:sp>
        <p:nvSpPr>
          <p:cNvPr id="214" name="Google Shape;214;h510714b4cc47d3b6_0_219"/>
          <p:cNvSpPr txBox="1"/>
          <p:nvPr/>
        </p:nvSpPr>
        <p:spPr>
          <a:xfrm>
            <a:off x="685806" y="4476750"/>
            <a:ext cx="6667500" cy="60960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None/>
            </a:pPr>
            <a:r>
              <a:rPr b="0" i="0" lang="en-US" sz="1500" u="none" cap="none" strike="noStrike">
                <a:solidFill>
                  <a:srgbClr val="4E5A68"/>
                </a:solidFill>
                <a:latin typeface="IBM Plex Sans"/>
                <a:ea typeface="IBM Plex Sans"/>
                <a:cs typeface="IBM Plex Sans"/>
                <a:sym typeface="IBM Plex Sans"/>
              </a:rPr>
              <a:t>Jede Bewertung nutzt nur Monate, die davor liegen. Modell und Schwelle stehen fest, bevor 2025 bewertet wird.</a:t>
            </a:r>
            <a:endParaRPr/>
          </a:p>
        </p:txBody>
      </p:sp>
      <p:sp>
        <p:nvSpPr>
          <p:cNvPr id="215" name="Google Shape;215;h510714b4cc47d3b6_0_219"/>
          <p:cNvSpPr/>
          <p:nvPr/>
        </p:nvSpPr>
        <p:spPr>
          <a:xfrm>
            <a:off x="7620063" y="4381500"/>
            <a:ext cx="3886200" cy="1428900"/>
          </a:xfrm>
          <a:prstGeom prst="roundRect">
            <a:avLst>
              <a:gd fmla="val 6666" name="adj"/>
            </a:avLst>
          </a:prstGeom>
          <a:solidFill>
            <a:srgbClr val="E3F3F7"/>
          </a:solidFill>
          <a:ln cap="flat" cmpd="sng" w="9525">
            <a:solidFill>
              <a:srgbClr val="B2DEE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216" name="Google Shape;216;h510714b4cc47d3b6_0_219"/>
          <p:cNvSpPr txBox="1"/>
          <p:nvPr/>
        </p:nvSpPr>
        <p:spPr>
          <a:xfrm>
            <a:off x="7848664" y="4591050"/>
            <a:ext cx="3429000" cy="2229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b="1" i="0" lang="en-US" sz="1350" u="none" cap="none" strike="noStrike">
                <a:solidFill>
                  <a:srgbClr val="005E77"/>
                </a:solidFill>
                <a:latin typeface="IBM Plex Sans"/>
                <a:ea typeface="IBM Plex Sans"/>
                <a:cs typeface="IBM Plex Sans"/>
                <a:sym typeface="IBM Plex Sans"/>
              </a:rPr>
              <a:t>Leakage vermieden</a:t>
            </a:r>
            <a:endParaRPr/>
          </a:p>
        </p:txBody>
      </p:sp>
      <p:sp>
        <p:nvSpPr>
          <p:cNvPr id="217" name="Google Shape;217;h510714b4cc47d3b6_0_219"/>
          <p:cNvSpPr txBox="1"/>
          <p:nvPr/>
        </p:nvSpPr>
        <p:spPr>
          <a:xfrm>
            <a:off x="7848664" y="4890135"/>
            <a:ext cx="3429000" cy="729600"/>
          </a:xfrm>
          <a:prstGeom prst="rect">
            <a:avLst/>
          </a:prstGeom>
          <a:noFill/>
          <a:ln>
            <a:noFill/>
          </a:ln>
        </p:spPr>
        <p:txBody>
          <a:bodyPr anchorCtr="0" anchor="t" bIns="0" lIns="0" spcFirstLastPara="1" rIns="0" wrap="square" tIns="0">
            <a:noAutofit/>
          </a:bodyPr>
          <a:lstStyle/>
          <a:p>
            <a:pPr indent="0" lvl="0" marL="0" marR="0" rtl="0" algn="l">
              <a:lnSpc>
                <a:spcPct val="144941"/>
              </a:lnSpc>
              <a:spcBef>
                <a:spcPts val="0"/>
              </a:spcBef>
              <a:spcAft>
                <a:spcPts val="0"/>
              </a:spcAft>
              <a:buNone/>
            </a:pPr>
            <a:r>
              <a:rPr b="0" i="0" lang="en-US" sz="1275" u="none" cap="none" strike="noStrike">
                <a:solidFill>
                  <a:srgbClr val="141A21"/>
                </a:solidFill>
                <a:latin typeface="IBM Plex Sans"/>
                <a:ea typeface="IBM Plex Sans"/>
                <a:cs typeface="IBM Plex Sans"/>
                <a:sym typeface="IBM Plex Sans"/>
              </a:rPr>
              <a:t>Das 3-Monats-Mittel wurde nur aus abgeschlossenen Monaten neu berechnet.</a:t>
            </a:r>
            <a:endParaRPr/>
          </a:p>
        </p:txBody>
      </p:sp>
      <p:cxnSp>
        <p:nvCxnSpPr>
          <p:cNvPr id="218" name="Google Shape;218;h510714b4cc47d3b6_0_219"/>
          <p:cNvCxnSpPr/>
          <p:nvPr/>
        </p:nvCxnSpPr>
        <p:spPr>
          <a:xfrm>
            <a:off x="0" y="6153150"/>
            <a:ext cx="12192000" cy="0"/>
          </a:xfrm>
          <a:prstGeom prst="straightConnector1">
            <a:avLst/>
          </a:prstGeom>
          <a:noFill/>
          <a:ln cap="flat" cmpd="sng" w="9525">
            <a:solidFill>
              <a:srgbClr val="E4E9EF"/>
            </a:solidFill>
            <a:prstDash val="solid"/>
            <a:round/>
            <a:headEnd len="sm" w="sm" type="none"/>
            <a:tailEnd len="sm" w="sm" type="none"/>
          </a:ln>
          <a:effectLst>
            <a:outerShdw blurRad="40000" rotWithShape="0" dir="5400000" dist="20000">
              <a:srgbClr val="000000">
                <a:alpha val="38040"/>
              </a:srgbClr>
            </a:outerShdw>
          </a:effectLst>
        </p:spPr>
      </p:cxnSp>
      <p:pic>
        <p:nvPicPr>
          <p:cNvPr descr="image.png" id="219" name="Google Shape;219;h510714b4cc47d3b6_0_219"/>
          <p:cNvPicPr preferRelativeResize="0"/>
          <p:nvPr/>
        </p:nvPicPr>
        <p:blipFill rotWithShape="1">
          <a:blip r:embed="rId4">
            <a:alphaModFix/>
          </a:blip>
          <a:srcRect b="0" l="0" r="0" t="0"/>
          <a:stretch/>
        </p:blipFill>
        <p:spPr>
          <a:xfrm>
            <a:off x="685806" y="6362700"/>
            <a:ext cx="715863" cy="247650"/>
          </a:xfrm>
          <a:prstGeom prst="rect">
            <a:avLst/>
          </a:prstGeom>
          <a:noFill/>
          <a:ln>
            <a:noFill/>
          </a:ln>
        </p:spPr>
      </p:pic>
      <p:sp>
        <p:nvSpPr>
          <p:cNvPr id="220" name="Google Shape;220;h510714b4cc47d3b6_0_219"/>
          <p:cNvSpPr txBox="1"/>
          <p:nvPr/>
        </p:nvSpPr>
        <p:spPr>
          <a:xfrm>
            <a:off x="1562113" y="6391275"/>
            <a:ext cx="2891700" cy="1905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None/>
            </a:pPr>
            <a:r>
              <a:rPr b="0" i="0" lang="en-US" sz="1200" u="none" cap="none" strike="noStrike">
                <a:solidFill>
                  <a:srgbClr val="4E5A68"/>
                </a:solidFill>
                <a:latin typeface="IBM Plex Sans"/>
                <a:ea typeface="IBM Plex Sans"/>
                <a:cs typeface="IBM Plex Sans"/>
                <a:sym typeface="IBM Plex Sans"/>
              </a:rPr>
              <a:t>Verbrauchsprognose &amp; Frühwarnung</a:t>
            </a:r>
            <a:endParaRPr/>
          </a:p>
        </p:txBody>
      </p:sp>
      <p:sp>
        <p:nvSpPr>
          <p:cNvPr id="221" name="Google Shape;221;h510714b4cc47d3b6_0_219"/>
          <p:cNvSpPr txBox="1"/>
          <p:nvPr/>
        </p:nvSpPr>
        <p:spPr>
          <a:xfrm>
            <a:off x="10835729" y="6391275"/>
            <a:ext cx="670500" cy="190500"/>
          </a:xfrm>
          <a:prstGeom prst="rect">
            <a:avLst/>
          </a:prstGeom>
          <a:noFill/>
          <a:ln>
            <a:noFill/>
          </a:ln>
        </p:spPr>
        <p:txBody>
          <a:bodyPr anchorCtr="0" anchor="t" bIns="0" lIns="0" spcFirstLastPara="1" rIns="0" wrap="square" tIns="0">
            <a:noAutofit/>
          </a:bodyPr>
          <a:lstStyle/>
          <a:p>
            <a:pPr indent="0" lvl="0" marL="0" marR="0" rtl="0" algn="r">
              <a:lnSpc>
                <a:spcPct val="125000"/>
              </a:lnSpc>
              <a:spcBef>
                <a:spcPts val="0"/>
              </a:spcBef>
              <a:spcAft>
                <a:spcPts val="0"/>
              </a:spcAft>
              <a:buNone/>
            </a:pPr>
            <a:r>
              <a:rPr b="0" i="0" lang="en-US" sz="1200" u="none" cap="none" strike="noStrike">
                <a:solidFill>
                  <a:srgbClr val="4E5A68"/>
                </a:solidFill>
                <a:latin typeface="IBM Plex Sans"/>
                <a:ea typeface="IBM Plex Sans"/>
                <a:cs typeface="IBM Plex Sans"/>
                <a:sym typeface="IBM Plex Sans"/>
              </a:rPr>
              <a:t>3 / 9</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6" name="Shape 226"/>
        <p:cNvGrpSpPr/>
        <p:nvPr/>
      </p:nvGrpSpPr>
      <p:grpSpPr>
        <a:xfrm>
          <a:off x="0" y="0"/>
          <a:ext cx="0" cy="0"/>
          <a:chOff x="0" y="0"/>
          <a:chExt cx="0" cy="0"/>
        </a:xfrm>
      </p:grpSpPr>
      <p:sp>
        <p:nvSpPr>
          <p:cNvPr id="227" name="Google Shape;227;h510714b4cc47d3b6_0_310"/>
          <p:cNvSpPr txBox="1"/>
          <p:nvPr/>
        </p:nvSpPr>
        <p:spPr>
          <a:xfrm>
            <a:off x="685806" y="457200"/>
            <a:ext cx="8591400" cy="1905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None/>
            </a:pPr>
            <a:r>
              <a:rPr b="1" i="0" lang="en-US" sz="1200" u="none" cap="none" strike="noStrike">
                <a:solidFill>
                  <a:srgbClr val="00718E"/>
                </a:solidFill>
                <a:latin typeface="IBM Plex Sans"/>
                <a:ea typeface="IBM Plex Sans"/>
                <a:cs typeface="IBM Plex Sans"/>
                <a:sym typeface="IBM Plex Sans"/>
              </a:rPr>
              <a:t>KAPITEL 4 · ZIELGRÖSSE · KIKO</a:t>
            </a:r>
            <a:endParaRPr/>
          </a:p>
        </p:txBody>
      </p:sp>
      <p:sp>
        <p:nvSpPr>
          <p:cNvPr id="228" name="Google Shape;228;h510714b4cc47d3b6_0_310"/>
          <p:cNvSpPr txBox="1"/>
          <p:nvPr/>
        </p:nvSpPr>
        <p:spPr>
          <a:xfrm>
            <a:off x="685806" y="762000"/>
            <a:ext cx="10820400" cy="438300"/>
          </a:xfrm>
          <a:prstGeom prst="rect">
            <a:avLst/>
          </a:prstGeom>
          <a:noFill/>
          <a:ln>
            <a:noFill/>
          </a:ln>
        </p:spPr>
        <p:txBody>
          <a:bodyPr anchorCtr="0" anchor="t" bIns="0" lIns="0" spcFirstLastPara="1" rIns="0" wrap="square" tIns="0">
            <a:noAutofit/>
          </a:bodyPr>
          <a:lstStyle/>
          <a:p>
            <a:pPr indent="0" lvl="0" marL="0" marR="0" rtl="0" algn="l">
              <a:lnSpc>
                <a:spcPct val="112500"/>
              </a:lnSpc>
              <a:spcBef>
                <a:spcPts val="0"/>
              </a:spcBef>
              <a:spcAft>
                <a:spcPts val="0"/>
              </a:spcAft>
              <a:buNone/>
            </a:pPr>
            <a:r>
              <a:rPr b="1" i="0" lang="en-US" sz="3000" u="none" cap="none" strike="noStrike">
                <a:solidFill>
                  <a:srgbClr val="141A21"/>
                </a:solidFill>
                <a:latin typeface="IBM Plex Sans"/>
                <a:ea typeface="IBM Plex Sans"/>
                <a:cs typeface="IBM Plex Sans"/>
                <a:sym typeface="IBM Plex Sans"/>
              </a:rPr>
              <a:t>Das Modell lernt Vollaststunden, geplant wird in kWh</a:t>
            </a:r>
            <a:endParaRPr/>
          </a:p>
        </p:txBody>
      </p:sp>
      <p:sp>
        <p:nvSpPr>
          <p:cNvPr id="229" name="Google Shape;229;h510714b4cc47d3b6_0_310"/>
          <p:cNvSpPr/>
          <p:nvPr/>
        </p:nvSpPr>
        <p:spPr>
          <a:xfrm>
            <a:off x="685806" y="1581150"/>
            <a:ext cx="5334000" cy="1028700"/>
          </a:xfrm>
          <a:prstGeom prst="roundRect">
            <a:avLst>
              <a:gd fmla="val 9259" name="adj"/>
            </a:avLst>
          </a:prstGeom>
          <a:solidFill>
            <a:srgbClr val="FFFFFF"/>
          </a:solidFill>
          <a:ln cap="flat" cmpd="sng" w="9525">
            <a:solidFill>
              <a:srgbClr val="D2DA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230" name="Google Shape;230;h510714b4cc47d3b6_0_310"/>
          <p:cNvSpPr txBox="1"/>
          <p:nvPr/>
        </p:nvSpPr>
        <p:spPr>
          <a:xfrm>
            <a:off x="914408" y="1752600"/>
            <a:ext cx="4191000" cy="1980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b="1" i="0" lang="en-US" sz="1200" u="none" cap="none" strike="noStrike">
                <a:solidFill>
                  <a:srgbClr val="00718E"/>
                </a:solidFill>
                <a:latin typeface="IBM Plex Sans"/>
                <a:ea typeface="IBM Plex Sans"/>
                <a:cs typeface="IBM Plex Sans"/>
                <a:sym typeface="IBM Plex Sans"/>
              </a:rPr>
              <a:t>NORMIEREN</a:t>
            </a:r>
            <a:endParaRPr/>
          </a:p>
        </p:txBody>
      </p:sp>
      <p:sp>
        <p:nvSpPr>
          <p:cNvPr id="231" name="Google Shape;231;h510714b4cc47d3b6_0_310"/>
          <p:cNvSpPr txBox="1"/>
          <p:nvPr/>
        </p:nvSpPr>
        <p:spPr>
          <a:xfrm>
            <a:off x="914407" y="2076450"/>
            <a:ext cx="5364600" cy="3048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None/>
            </a:pPr>
            <a:r>
              <a:rPr b="1" i="0" lang="en-US" sz="1575" u="none" cap="none" strike="noStrike">
                <a:solidFill>
                  <a:srgbClr val="141A21"/>
                </a:solidFill>
                <a:latin typeface="Geist Mono"/>
                <a:ea typeface="Geist Mono"/>
                <a:cs typeface="Geist Mono"/>
                <a:sym typeface="Geist Mono"/>
              </a:rPr>
              <a:t>VLS = Verbrauch [kWh] ÷ Leistung [kW]</a:t>
            </a:r>
            <a:endParaRPr/>
          </a:p>
        </p:txBody>
      </p:sp>
      <p:sp>
        <p:nvSpPr>
          <p:cNvPr id="232" name="Google Shape;232;h510714b4cc47d3b6_0_310"/>
          <p:cNvSpPr/>
          <p:nvPr/>
        </p:nvSpPr>
        <p:spPr>
          <a:xfrm>
            <a:off x="685806" y="2762250"/>
            <a:ext cx="5334000" cy="1028700"/>
          </a:xfrm>
          <a:prstGeom prst="roundRect">
            <a:avLst>
              <a:gd fmla="val 9259" name="adj"/>
            </a:avLst>
          </a:prstGeom>
          <a:solidFill>
            <a:srgbClr val="FFFFFF"/>
          </a:solidFill>
          <a:ln cap="flat" cmpd="sng" w="9525">
            <a:solidFill>
              <a:srgbClr val="D2DA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233" name="Google Shape;233;h510714b4cc47d3b6_0_310"/>
          <p:cNvSpPr txBox="1"/>
          <p:nvPr/>
        </p:nvSpPr>
        <p:spPr>
          <a:xfrm>
            <a:off x="914408" y="2933700"/>
            <a:ext cx="4191000" cy="1980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b="1" i="0" lang="en-US" sz="1200" u="none" cap="none" strike="noStrike">
                <a:solidFill>
                  <a:srgbClr val="00718E"/>
                </a:solidFill>
                <a:latin typeface="IBM Plex Sans"/>
                <a:ea typeface="IBM Plex Sans"/>
                <a:cs typeface="IBM Plex Sans"/>
                <a:sym typeface="IBM Plex Sans"/>
              </a:rPr>
              <a:t>ZURÜCKRECHNEN</a:t>
            </a:r>
            <a:endParaRPr/>
          </a:p>
        </p:txBody>
      </p:sp>
      <p:sp>
        <p:nvSpPr>
          <p:cNvPr id="234" name="Google Shape;234;h510714b4cc47d3b6_0_310"/>
          <p:cNvSpPr txBox="1"/>
          <p:nvPr/>
        </p:nvSpPr>
        <p:spPr>
          <a:xfrm>
            <a:off x="914407" y="3257550"/>
            <a:ext cx="5364600" cy="3048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None/>
            </a:pPr>
            <a:r>
              <a:rPr b="1" i="0" lang="en-US" sz="1575" u="none" cap="none" strike="noStrike">
                <a:solidFill>
                  <a:srgbClr val="141A21"/>
                </a:solidFill>
                <a:latin typeface="Geist Mono"/>
                <a:ea typeface="Geist Mono"/>
                <a:cs typeface="Geist Mono"/>
                <a:sym typeface="Geist Mono"/>
              </a:rPr>
              <a:t>Prognose [kWh] = VLS × Leistung [kW]</a:t>
            </a:r>
            <a:endParaRPr/>
          </a:p>
        </p:txBody>
      </p:sp>
      <p:sp>
        <p:nvSpPr>
          <p:cNvPr id="235" name="Google Shape;235;h510714b4cc47d3b6_0_310"/>
          <p:cNvSpPr/>
          <p:nvPr/>
        </p:nvSpPr>
        <p:spPr>
          <a:xfrm>
            <a:off x="685806" y="3943350"/>
            <a:ext cx="5334000" cy="1676400"/>
          </a:xfrm>
          <a:prstGeom prst="roundRect">
            <a:avLst>
              <a:gd fmla="val 5681" name="adj"/>
            </a:avLst>
          </a:prstGeom>
          <a:solidFill>
            <a:srgbClr val="E3F3F7"/>
          </a:solidFill>
          <a:ln cap="flat" cmpd="sng" w="9525">
            <a:solidFill>
              <a:srgbClr val="B2DEE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236" name="Google Shape;236;h510714b4cc47d3b6_0_310"/>
          <p:cNvSpPr txBox="1"/>
          <p:nvPr/>
        </p:nvSpPr>
        <p:spPr>
          <a:xfrm>
            <a:off x="914407" y="4152900"/>
            <a:ext cx="4876800" cy="2478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b="1" i="0" lang="en-US" sz="1500" u="none" cap="none" strike="noStrike">
                <a:solidFill>
                  <a:srgbClr val="005E77"/>
                </a:solidFill>
                <a:latin typeface="IBM Plex Sans"/>
                <a:ea typeface="IBM Plex Sans"/>
                <a:cs typeface="IBM Plex Sans"/>
                <a:sym typeface="IBM Plex Sans"/>
              </a:rPr>
              <a:t>Warum?</a:t>
            </a:r>
            <a:endParaRPr/>
          </a:p>
        </p:txBody>
      </p:sp>
      <p:sp>
        <p:nvSpPr>
          <p:cNvPr id="237" name="Google Shape;237;h510714b4cc47d3b6_0_310"/>
          <p:cNvSpPr txBox="1"/>
          <p:nvPr/>
        </p:nvSpPr>
        <p:spPr>
          <a:xfrm>
            <a:off x="914407" y="4476750"/>
            <a:ext cx="4876800" cy="952500"/>
          </a:xfrm>
          <a:prstGeom prst="rect">
            <a:avLst/>
          </a:prstGeom>
          <a:noFill/>
          <a:ln>
            <a:noFill/>
          </a:ln>
        </p:spPr>
        <p:txBody>
          <a:bodyPr anchorCtr="0" anchor="t" bIns="0" lIns="0" spcFirstLastPara="1" rIns="0" wrap="square" tIns="0">
            <a:noAutofit/>
          </a:bodyPr>
          <a:lstStyle/>
          <a:p>
            <a:pPr indent="0" lvl="0" marL="0" marR="0" rtl="0" algn="l">
              <a:lnSpc>
                <a:spcPct val="144982"/>
              </a:lnSpc>
              <a:spcBef>
                <a:spcPts val="0"/>
              </a:spcBef>
              <a:spcAft>
                <a:spcPts val="0"/>
              </a:spcAft>
              <a:buNone/>
            </a:pPr>
            <a:r>
              <a:rPr b="0" i="0" lang="en-US" sz="1425" u="none" cap="none" strike="noStrike">
                <a:solidFill>
                  <a:srgbClr val="141A21"/>
                </a:solidFill>
                <a:latin typeface="IBM Plex Sans"/>
                <a:ea typeface="IBM Plex Sans"/>
                <a:cs typeface="IBM Plex Sans"/>
                <a:sym typeface="IBM Plex Sans"/>
              </a:rPr>
              <a:t>92 % der Streuung im Rohverbrauch liegen zwischen den Zählern. In VLS werden große und kleine Anschlüsse vergleichbar.</a:t>
            </a:r>
            <a:endParaRPr/>
          </a:p>
        </p:txBody>
      </p:sp>
      <p:sp>
        <p:nvSpPr>
          <p:cNvPr id="238" name="Google Shape;238;h510714b4cc47d3b6_0_310"/>
          <p:cNvSpPr/>
          <p:nvPr/>
        </p:nvSpPr>
        <p:spPr>
          <a:xfrm>
            <a:off x="6324652" y="1581150"/>
            <a:ext cx="5181600" cy="3610500"/>
          </a:xfrm>
          <a:prstGeom prst="roundRect">
            <a:avLst>
              <a:gd fmla="val 2638" name="adj"/>
            </a:avLst>
          </a:prstGeom>
          <a:solidFill>
            <a:srgbClr val="FFFFFF"/>
          </a:solidFill>
          <a:ln cap="flat" cmpd="sng" w="9525">
            <a:solidFill>
              <a:srgbClr val="D2DA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pic>
        <p:nvPicPr>
          <p:cNvPr descr="s05_svg11.png" id="239" name="Google Shape;239;h510714b4cc47d3b6_0_310"/>
          <p:cNvPicPr preferRelativeResize="0"/>
          <p:nvPr/>
        </p:nvPicPr>
        <p:blipFill rotWithShape="1">
          <a:blip r:embed="rId3">
            <a:alphaModFix/>
          </a:blip>
          <a:srcRect b="0" l="0" r="0" t="0"/>
          <a:stretch/>
        </p:blipFill>
        <p:spPr>
          <a:xfrm>
            <a:off x="6438953" y="1695450"/>
            <a:ext cx="4953002" cy="3382003"/>
          </a:xfrm>
          <a:prstGeom prst="rect">
            <a:avLst/>
          </a:prstGeom>
          <a:noFill/>
          <a:ln>
            <a:noFill/>
          </a:ln>
        </p:spPr>
      </p:pic>
      <p:cxnSp>
        <p:nvCxnSpPr>
          <p:cNvPr id="240" name="Google Shape;240;h510714b4cc47d3b6_0_310"/>
          <p:cNvCxnSpPr/>
          <p:nvPr/>
        </p:nvCxnSpPr>
        <p:spPr>
          <a:xfrm>
            <a:off x="0" y="6153150"/>
            <a:ext cx="12192000" cy="0"/>
          </a:xfrm>
          <a:prstGeom prst="straightConnector1">
            <a:avLst/>
          </a:prstGeom>
          <a:noFill/>
          <a:ln cap="flat" cmpd="sng" w="9525">
            <a:solidFill>
              <a:srgbClr val="E4E9EF"/>
            </a:solidFill>
            <a:prstDash val="solid"/>
            <a:round/>
            <a:headEnd len="sm" w="sm" type="none"/>
            <a:tailEnd len="sm" w="sm" type="none"/>
          </a:ln>
          <a:effectLst>
            <a:outerShdw blurRad="40000" rotWithShape="0" dir="5400000" dist="20000">
              <a:srgbClr val="000000">
                <a:alpha val="38040"/>
              </a:srgbClr>
            </a:outerShdw>
          </a:effectLst>
        </p:spPr>
      </p:cxnSp>
      <p:pic>
        <p:nvPicPr>
          <p:cNvPr descr="image.png" id="241" name="Google Shape;241;h510714b4cc47d3b6_0_310"/>
          <p:cNvPicPr preferRelativeResize="0"/>
          <p:nvPr/>
        </p:nvPicPr>
        <p:blipFill rotWithShape="1">
          <a:blip r:embed="rId4">
            <a:alphaModFix/>
          </a:blip>
          <a:srcRect b="0" l="0" r="0" t="0"/>
          <a:stretch/>
        </p:blipFill>
        <p:spPr>
          <a:xfrm>
            <a:off x="685806" y="6362700"/>
            <a:ext cx="715863" cy="247650"/>
          </a:xfrm>
          <a:prstGeom prst="rect">
            <a:avLst/>
          </a:prstGeom>
          <a:noFill/>
          <a:ln>
            <a:noFill/>
          </a:ln>
        </p:spPr>
      </p:pic>
      <p:sp>
        <p:nvSpPr>
          <p:cNvPr id="242" name="Google Shape;242;h510714b4cc47d3b6_0_310"/>
          <p:cNvSpPr txBox="1"/>
          <p:nvPr/>
        </p:nvSpPr>
        <p:spPr>
          <a:xfrm>
            <a:off x="1562113" y="6391275"/>
            <a:ext cx="2891700" cy="1905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None/>
            </a:pPr>
            <a:r>
              <a:rPr b="0" i="0" lang="en-US" sz="1200" u="none" cap="none" strike="noStrike">
                <a:solidFill>
                  <a:srgbClr val="4E5A68"/>
                </a:solidFill>
                <a:latin typeface="IBM Plex Sans"/>
                <a:ea typeface="IBM Plex Sans"/>
                <a:cs typeface="IBM Plex Sans"/>
                <a:sym typeface="IBM Plex Sans"/>
              </a:rPr>
              <a:t>Verbrauchsprognose &amp; Frühwarnung</a:t>
            </a:r>
            <a:endParaRPr/>
          </a:p>
        </p:txBody>
      </p:sp>
      <p:sp>
        <p:nvSpPr>
          <p:cNvPr id="243" name="Google Shape;243;h510714b4cc47d3b6_0_310"/>
          <p:cNvSpPr txBox="1"/>
          <p:nvPr/>
        </p:nvSpPr>
        <p:spPr>
          <a:xfrm>
            <a:off x="10835729" y="6391275"/>
            <a:ext cx="670500" cy="190500"/>
          </a:xfrm>
          <a:prstGeom prst="rect">
            <a:avLst/>
          </a:prstGeom>
          <a:noFill/>
          <a:ln>
            <a:noFill/>
          </a:ln>
        </p:spPr>
        <p:txBody>
          <a:bodyPr anchorCtr="0" anchor="t" bIns="0" lIns="0" spcFirstLastPara="1" rIns="0" wrap="square" tIns="0">
            <a:noAutofit/>
          </a:bodyPr>
          <a:lstStyle/>
          <a:p>
            <a:pPr indent="0" lvl="0" marL="0" marR="0" rtl="0" algn="r">
              <a:lnSpc>
                <a:spcPct val="125000"/>
              </a:lnSpc>
              <a:spcBef>
                <a:spcPts val="0"/>
              </a:spcBef>
              <a:spcAft>
                <a:spcPts val="0"/>
              </a:spcAft>
              <a:buNone/>
            </a:pPr>
            <a:r>
              <a:rPr b="0" i="0" lang="en-US" sz="1200" u="none" cap="none" strike="noStrike">
                <a:solidFill>
                  <a:srgbClr val="4E5A68"/>
                </a:solidFill>
                <a:latin typeface="IBM Plex Sans"/>
                <a:ea typeface="IBM Plex Sans"/>
                <a:cs typeface="IBM Plex Sans"/>
                <a:sym typeface="IBM Plex Sans"/>
              </a:rPr>
              <a:t>4 / 9</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8" name="Shape 248"/>
        <p:cNvGrpSpPr/>
        <p:nvPr/>
      </p:nvGrpSpPr>
      <p:grpSpPr>
        <a:xfrm>
          <a:off x="0" y="0"/>
          <a:ext cx="0" cy="0"/>
          <a:chOff x="0" y="0"/>
          <a:chExt cx="0" cy="0"/>
        </a:xfrm>
      </p:grpSpPr>
      <p:sp>
        <p:nvSpPr>
          <p:cNvPr id="249" name="Google Shape;249;h510714b4cc47d3b6_0_406"/>
          <p:cNvSpPr txBox="1"/>
          <p:nvPr/>
        </p:nvSpPr>
        <p:spPr>
          <a:xfrm>
            <a:off x="685806" y="457200"/>
            <a:ext cx="8591400" cy="1905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None/>
            </a:pPr>
            <a:r>
              <a:rPr b="1" i="0" lang="en-US" sz="1200" u="none" cap="none" strike="noStrike">
                <a:solidFill>
                  <a:srgbClr val="00718E"/>
                </a:solidFill>
                <a:latin typeface="IBM Plex Sans"/>
                <a:ea typeface="IBM Plex Sans"/>
                <a:cs typeface="IBM Plex Sans"/>
                <a:sym typeface="IBM Plex Sans"/>
              </a:rPr>
              <a:t>KAPITEL 4 · HAUPTMETRIK · KIKO</a:t>
            </a:r>
            <a:endParaRPr/>
          </a:p>
        </p:txBody>
      </p:sp>
      <p:sp>
        <p:nvSpPr>
          <p:cNvPr id="250" name="Google Shape;250;h510714b4cc47d3b6_0_406"/>
          <p:cNvSpPr txBox="1"/>
          <p:nvPr/>
        </p:nvSpPr>
        <p:spPr>
          <a:xfrm>
            <a:off x="685806" y="762000"/>
            <a:ext cx="10820400" cy="438300"/>
          </a:xfrm>
          <a:prstGeom prst="rect">
            <a:avLst/>
          </a:prstGeom>
          <a:noFill/>
          <a:ln>
            <a:noFill/>
          </a:ln>
        </p:spPr>
        <p:txBody>
          <a:bodyPr anchorCtr="0" anchor="t" bIns="0" lIns="0" spcFirstLastPara="1" rIns="0" wrap="square" tIns="0">
            <a:noAutofit/>
          </a:bodyPr>
          <a:lstStyle/>
          <a:p>
            <a:pPr indent="0" lvl="0" marL="0" marR="0" rtl="0" algn="l">
              <a:lnSpc>
                <a:spcPct val="112500"/>
              </a:lnSpc>
              <a:spcBef>
                <a:spcPts val="0"/>
              </a:spcBef>
              <a:spcAft>
                <a:spcPts val="0"/>
              </a:spcAft>
              <a:buNone/>
            </a:pPr>
            <a:r>
              <a:rPr b="1" i="0" lang="en-US" sz="3000" u="none" cap="none" strike="noStrike">
                <a:solidFill>
                  <a:srgbClr val="141A21"/>
                </a:solidFill>
                <a:latin typeface="IBM Plex Sans"/>
                <a:ea typeface="IBM Plex Sans"/>
                <a:cs typeface="IBM Plex Sans"/>
                <a:sym typeface="IBM Plex Sans"/>
              </a:rPr>
              <a:t>Warum RMSE? Er gewichtet große Fehler stärker</a:t>
            </a:r>
            <a:endParaRPr/>
          </a:p>
        </p:txBody>
      </p:sp>
      <p:sp>
        <p:nvSpPr>
          <p:cNvPr id="251" name="Google Shape;251;h510714b4cc47d3b6_0_406"/>
          <p:cNvSpPr/>
          <p:nvPr/>
        </p:nvSpPr>
        <p:spPr>
          <a:xfrm>
            <a:off x="685806" y="1524000"/>
            <a:ext cx="5905500" cy="4476900"/>
          </a:xfrm>
          <a:prstGeom prst="roundRect">
            <a:avLst>
              <a:gd fmla="val 2127" name="adj"/>
            </a:avLst>
          </a:prstGeom>
          <a:solidFill>
            <a:srgbClr val="FFFFFF"/>
          </a:solidFill>
          <a:ln cap="flat" cmpd="sng" w="9525">
            <a:solidFill>
              <a:srgbClr val="D2DA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252" name="Google Shape;252;h510714b4cc47d3b6_0_406"/>
          <p:cNvSpPr/>
          <p:nvPr/>
        </p:nvSpPr>
        <p:spPr>
          <a:xfrm>
            <a:off x="914408" y="1771650"/>
            <a:ext cx="152400" cy="152400"/>
          </a:xfrm>
          <a:prstGeom prst="roundRect">
            <a:avLst>
              <a:gd fmla="val 18750" name="adj"/>
            </a:avLst>
          </a:prstGeom>
          <a:solidFill>
            <a:srgbClr val="8C99A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253" name="Google Shape;253;h510714b4cc47d3b6_0_406"/>
          <p:cNvSpPr txBox="1"/>
          <p:nvPr/>
        </p:nvSpPr>
        <p:spPr>
          <a:xfrm>
            <a:off x="1143009" y="1733550"/>
            <a:ext cx="1740000"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b="0" i="0" lang="en-US" sz="1200" u="none" cap="none" strike="noStrike">
                <a:solidFill>
                  <a:srgbClr val="4E5A68"/>
                </a:solidFill>
                <a:latin typeface="IBM Plex Sans"/>
                <a:ea typeface="IBM Plex Sans"/>
                <a:cs typeface="IBM Plex Sans"/>
                <a:sym typeface="IBM Plex Sans"/>
              </a:rPr>
              <a:t>MAE · mittlerer Fehler</a:t>
            </a:r>
            <a:endParaRPr/>
          </a:p>
        </p:txBody>
      </p:sp>
      <p:sp>
        <p:nvSpPr>
          <p:cNvPr id="254" name="Google Shape;254;h510714b4cc47d3b6_0_406"/>
          <p:cNvSpPr/>
          <p:nvPr/>
        </p:nvSpPr>
        <p:spPr>
          <a:xfrm>
            <a:off x="3054578" y="1771650"/>
            <a:ext cx="152400" cy="152400"/>
          </a:xfrm>
          <a:prstGeom prst="roundRect">
            <a:avLst>
              <a:gd fmla="val 18750" name="adj"/>
            </a:avLst>
          </a:prstGeom>
          <a:solidFill>
            <a:srgbClr val="0090C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255" name="Google Shape;255;h510714b4cc47d3b6_0_406"/>
          <p:cNvSpPr txBox="1"/>
          <p:nvPr/>
        </p:nvSpPr>
        <p:spPr>
          <a:xfrm>
            <a:off x="3283180" y="1733550"/>
            <a:ext cx="2979000" cy="228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b="0" i="0" lang="en-US" sz="1200" u="none" cap="none" strike="noStrike">
                <a:solidFill>
                  <a:srgbClr val="4E5A68"/>
                </a:solidFill>
                <a:latin typeface="IBM Plex Sans"/>
                <a:ea typeface="IBM Plex Sans"/>
                <a:cs typeface="IBM Plex Sans"/>
                <a:sym typeface="IBM Plex Sans"/>
              </a:rPr>
              <a:t>RMSE · große Fehler stärker gewichtet</a:t>
            </a:r>
            <a:endParaRPr/>
          </a:p>
        </p:txBody>
      </p:sp>
      <p:cxnSp>
        <p:nvCxnSpPr>
          <p:cNvPr id="256" name="Google Shape;256;h510714b4cc47d3b6_0_406"/>
          <p:cNvCxnSpPr/>
          <p:nvPr/>
        </p:nvCxnSpPr>
        <p:spPr>
          <a:xfrm>
            <a:off x="1352561" y="4953000"/>
            <a:ext cx="5010300" cy="0"/>
          </a:xfrm>
          <a:prstGeom prst="straightConnector1">
            <a:avLst/>
          </a:prstGeom>
          <a:noFill/>
          <a:ln cap="flat" cmpd="sng" w="9525">
            <a:solidFill>
              <a:srgbClr val="D2DAE2"/>
            </a:solidFill>
            <a:prstDash val="solid"/>
            <a:round/>
            <a:headEnd len="sm" w="sm" type="none"/>
            <a:tailEnd len="sm" w="sm" type="none"/>
          </a:ln>
          <a:effectLst>
            <a:outerShdw blurRad="40000" rotWithShape="0" dir="5400000" dist="20000">
              <a:srgbClr val="000000">
                <a:alpha val="38040"/>
              </a:srgbClr>
            </a:outerShdw>
          </a:effectLst>
        </p:spPr>
      </p:cxnSp>
      <p:sp>
        <p:nvSpPr>
          <p:cNvPr id="257" name="Google Shape;257;h510714b4cc47d3b6_0_406"/>
          <p:cNvSpPr txBox="1"/>
          <p:nvPr/>
        </p:nvSpPr>
        <p:spPr>
          <a:xfrm>
            <a:off x="838207" y="4848225"/>
            <a:ext cx="419100" cy="209700"/>
          </a:xfrm>
          <a:prstGeom prst="rect">
            <a:avLst/>
          </a:prstGeom>
          <a:noFill/>
          <a:ln>
            <a:noFill/>
          </a:ln>
        </p:spPr>
        <p:txBody>
          <a:bodyPr anchorCtr="0" anchor="t" bIns="0" lIns="0" spcFirstLastPara="1" rIns="0" wrap="square" tIns="0">
            <a:noAutofit/>
          </a:bodyPr>
          <a:lstStyle/>
          <a:p>
            <a:pPr indent="0" lvl="0" marL="0" marR="0" rtl="0" algn="r">
              <a:lnSpc>
                <a:spcPct val="137500"/>
              </a:lnSpc>
              <a:spcBef>
                <a:spcPts val="0"/>
              </a:spcBef>
              <a:spcAft>
                <a:spcPts val="0"/>
              </a:spcAft>
              <a:buNone/>
            </a:pPr>
            <a:r>
              <a:rPr b="0" i="0" lang="en-US" sz="1200" u="none" cap="none" strike="noStrike">
                <a:solidFill>
                  <a:srgbClr val="657383"/>
                </a:solidFill>
                <a:latin typeface="IBM Plex Sans"/>
                <a:ea typeface="IBM Plex Sans"/>
                <a:cs typeface="IBM Plex Sans"/>
                <a:sym typeface="IBM Plex Sans"/>
              </a:rPr>
              <a:t>0</a:t>
            </a:r>
            <a:endParaRPr/>
          </a:p>
        </p:txBody>
      </p:sp>
      <p:cxnSp>
        <p:nvCxnSpPr>
          <p:cNvPr id="258" name="Google Shape;258;h510714b4cc47d3b6_0_406"/>
          <p:cNvCxnSpPr/>
          <p:nvPr/>
        </p:nvCxnSpPr>
        <p:spPr>
          <a:xfrm>
            <a:off x="1352561" y="3865563"/>
            <a:ext cx="5010300" cy="0"/>
          </a:xfrm>
          <a:prstGeom prst="straightConnector1">
            <a:avLst/>
          </a:prstGeom>
          <a:noFill/>
          <a:ln cap="flat" cmpd="sng" w="9525">
            <a:solidFill>
              <a:srgbClr val="D2DAE2"/>
            </a:solidFill>
            <a:prstDash val="solid"/>
            <a:round/>
            <a:headEnd len="sm" w="sm" type="none"/>
            <a:tailEnd len="sm" w="sm" type="none"/>
          </a:ln>
          <a:effectLst>
            <a:outerShdw blurRad="40000" rotWithShape="0" dir="5400000" dist="20000">
              <a:srgbClr val="000000">
                <a:alpha val="38040"/>
              </a:srgbClr>
            </a:outerShdw>
          </a:effectLst>
        </p:spPr>
      </p:cxnSp>
      <p:sp>
        <p:nvSpPr>
          <p:cNvPr id="259" name="Google Shape;259;h510714b4cc47d3b6_0_406"/>
          <p:cNvSpPr txBox="1"/>
          <p:nvPr/>
        </p:nvSpPr>
        <p:spPr>
          <a:xfrm>
            <a:off x="838207" y="3760788"/>
            <a:ext cx="419100" cy="209700"/>
          </a:xfrm>
          <a:prstGeom prst="rect">
            <a:avLst/>
          </a:prstGeom>
          <a:noFill/>
          <a:ln>
            <a:noFill/>
          </a:ln>
        </p:spPr>
        <p:txBody>
          <a:bodyPr anchorCtr="0" anchor="t" bIns="0" lIns="0" spcFirstLastPara="1" rIns="0" wrap="square" tIns="0">
            <a:noAutofit/>
          </a:bodyPr>
          <a:lstStyle/>
          <a:p>
            <a:pPr indent="0" lvl="0" marL="0" marR="0" rtl="0" algn="r">
              <a:lnSpc>
                <a:spcPct val="137500"/>
              </a:lnSpc>
              <a:spcBef>
                <a:spcPts val="0"/>
              </a:spcBef>
              <a:spcAft>
                <a:spcPts val="0"/>
              </a:spcAft>
              <a:buNone/>
            </a:pPr>
            <a:r>
              <a:rPr b="0" i="0" lang="en-US" sz="1200" u="none" cap="none" strike="noStrike">
                <a:solidFill>
                  <a:srgbClr val="657383"/>
                </a:solidFill>
                <a:latin typeface="IBM Plex Sans"/>
                <a:ea typeface="IBM Plex Sans"/>
                <a:cs typeface="IBM Plex Sans"/>
                <a:sym typeface="IBM Plex Sans"/>
              </a:rPr>
              <a:t>10</a:t>
            </a:r>
            <a:endParaRPr/>
          </a:p>
        </p:txBody>
      </p:sp>
      <p:cxnSp>
        <p:nvCxnSpPr>
          <p:cNvPr id="260" name="Google Shape;260;h510714b4cc47d3b6_0_406"/>
          <p:cNvCxnSpPr/>
          <p:nvPr/>
        </p:nvCxnSpPr>
        <p:spPr>
          <a:xfrm>
            <a:off x="1352561" y="2778125"/>
            <a:ext cx="5010300" cy="0"/>
          </a:xfrm>
          <a:prstGeom prst="straightConnector1">
            <a:avLst/>
          </a:prstGeom>
          <a:noFill/>
          <a:ln cap="flat" cmpd="sng" w="9525">
            <a:solidFill>
              <a:srgbClr val="D2DAE2"/>
            </a:solidFill>
            <a:prstDash val="solid"/>
            <a:round/>
            <a:headEnd len="sm" w="sm" type="none"/>
            <a:tailEnd len="sm" w="sm" type="none"/>
          </a:ln>
          <a:effectLst>
            <a:outerShdw blurRad="40000" rotWithShape="0" dir="5400000" dist="20000">
              <a:srgbClr val="000000">
                <a:alpha val="38040"/>
              </a:srgbClr>
            </a:outerShdw>
          </a:effectLst>
        </p:spPr>
      </p:cxnSp>
      <p:sp>
        <p:nvSpPr>
          <p:cNvPr id="261" name="Google Shape;261;h510714b4cc47d3b6_0_406"/>
          <p:cNvSpPr txBox="1"/>
          <p:nvPr/>
        </p:nvSpPr>
        <p:spPr>
          <a:xfrm>
            <a:off x="838207" y="2673350"/>
            <a:ext cx="419100" cy="209700"/>
          </a:xfrm>
          <a:prstGeom prst="rect">
            <a:avLst/>
          </a:prstGeom>
          <a:noFill/>
          <a:ln>
            <a:noFill/>
          </a:ln>
        </p:spPr>
        <p:txBody>
          <a:bodyPr anchorCtr="0" anchor="t" bIns="0" lIns="0" spcFirstLastPara="1" rIns="0" wrap="square" tIns="0">
            <a:noAutofit/>
          </a:bodyPr>
          <a:lstStyle/>
          <a:p>
            <a:pPr indent="0" lvl="0" marL="0" marR="0" rtl="0" algn="r">
              <a:lnSpc>
                <a:spcPct val="137500"/>
              </a:lnSpc>
              <a:spcBef>
                <a:spcPts val="0"/>
              </a:spcBef>
              <a:spcAft>
                <a:spcPts val="0"/>
              </a:spcAft>
              <a:buNone/>
            </a:pPr>
            <a:r>
              <a:rPr b="0" i="0" lang="en-US" sz="1200" u="none" cap="none" strike="noStrike">
                <a:solidFill>
                  <a:srgbClr val="657383"/>
                </a:solidFill>
                <a:latin typeface="IBM Plex Sans"/>
                <a:ea typeface="IBM Plex Sans"/>
                <a:cs typeface="IBM Plex Sans"/>
                <a:sym typeface="IBM Plex Sans"/>
              </a:rPr>
              <a:t>20</a:t>
            </a:r>
            <a:endParaRPr/>
          </a:p>
        </p:txBody>
      </p:sp>
      <p:sp>
        <p:nvSpPr>
          <p:cNvPr id="262" name="Google Shape;262;h510714b4cc47d3b6_0_406"/>
          <p:cNvSpPr txBox="1"/>
          <p:nvPr/>
        </p:nvSpPr>
        <p:spPr>
          <a:xfrm>
            <a:off x="876307" y="2019300"/>
            <a:ext cx="1257300" cy="209700"/>
          </a:xfrm>
          <a:prstGeom prst="rect">
            <a:avLst/>
          </a:prstGeom>
          <a:noFill/>
          <a:ln>
            <a:noFill/>
          </a:ln>
        </p:spPr>
        <p:txBody>
          <a:bodyPr anchorCtr="0" anchor="t" bIns="0" lIns="0" spcFirstLastPara="1" rIns="0" wrap="square" tIns="0">
            <a:noAutofit/>
          </a:bodyPr>
          <a:lstStyle/>
          <a:p>
            <a:pPr indent="0" lvl="0" marL="0" marR="0" rtl="0" algn="l">
              <a:lnSpc>
                <a:spcPct val="137500"/>
              </a:lnSpc>
              <a:spcBef>
                <a:spcPts val="0"/>
              </a:spcBef>
              <a:spcAft>
                <a:spcPts val="0"/>
              </a:spcAft>
              <a:buNone/>
            </a:pPr>
            <a:r>
              <a:rPr b="0" i="0" lang="en-US" sz="1200" u="none" cap="none" strike="noStrike">
                <a:solidFill>
                  <a:srgbClr val="657383"/>
                </a:solidFill>
                <a:latin typeface="IBM Plex Sans"/>
                <a:ea typeface="IBM Plex Sans"/>
                <a:cs typeface="IBM Plex Sans"/>
                <a:sym typeface="IBM Plex Sans"/>
              </a:rPr>
              <a:t>kWh</a:t>
            </a:r>
            <a:endParaRPr/>
          </a:p>
        </p:txBody>
      </p:sp>
      <p:sp>
        <p:nvSpPr>
          <p:cNvPr id="263" name="Google Shape;263;h510714b4cc47d3b6_0_406"/>
          <p:cNvSpPr/>
          <p:nvPr/>
        </p:nvSpPr>
        <p:spPr>
          <a:xfrm>
            <a:off x="1862153" y="3865563"/>
            <a:ext cx="705000" cy="1087500"/>
          </a:xfrm>
          <a:prstGeom prst="rect">
            <a:avLst/>
          </a:prstGeom>
          <a:solidFill>
            <a:srgbClr val="8C99A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264" name="Google Shape;264;h510714b4cc47d3b6_0_406"/>
          <p:cNvSpPr txBox="1"/>
          <p:nvPr/>
        </p:nvSpPr>
        <p:spPr>
          <a:xfrm>
            <a:off x="1722134" y="3579813"/>
            <a:ext cx="984900" cy="228600"/>
          </a:xfrm>
          <a:prstGeom prst="rect">
            <a:avLst/>
          </a:prstGeom>
          <a:noFill/>
          <a:ln>
            <a:noFill/>
          </a:ln>
        </p:spPr>
        <p:txBody>
          <a:bodyPr anchorCtr="0" anchor="t" bIns="0" lIns="0" spcFirstLastPara="1" rIns="0" wrap="square" tIns="0">
            <a:noAutofit/>
          </a:bodyPr>
          <a:lstStyle/>
          <a:p>
            <a:pPr indent="0" lvl="0" marL="0" marR="0" rtl="0" algn="ctr">
              <a:lnSpc>
                <a:spcPct val="133333"/>
              </a:lnSpc>
              <a:spcBef>
                <a:spcPts val="0"/>
              </a:spcBef>
              <a:spcAft>
                <a:spcPts val="0"/>
              </a:spcAft>
              <a:buNone/>
            </a:pPr>
            <a:r>
              <a:rPr b="1" i="0" lang="en-US" sz="1350" u="none" cap="none" strike="noStrike">
                <a:solidFill>
                  <a:srgbClr val="141A21"/>
                </a:solidFill>
                <a:latin typeface="IBM Plex Sans"/>
                <a:ea typeface="IBM Plex Sans"/>
                <a:cs typeface="IBM Plex Sans"/>
                <a:sym typeface="IBM Plex Sans"/>
              </a:rPr>
              <a:t>10 kWh</a:t>
            </a:r>
            <a:endParaRPr/>
          </a:p>
        </p:txBody>
      </p:sp>
      <p:sp>
        <p:nvSpPr>
          <p:cNvPr id="265" name="Google Shape;265;h510714b4cc47d3b6_0_406"/>
          <p:cNvSpPr/>
          <p:nvPr/>
        </p:nvSpPr>
        <p:spPr>
          <a:xfrm>
            <a:off x="2643210" y="3865563"/>
            <a:ext cx="705000" cy="1087500"/>
          </a:xfrm>
          <a:prstGeom prst="rect">
            <a:avLst/>
          </a:prstGeom>
          <a:solidFill>
            <a:srgbClr val="0090C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266" name="Google Shape;266;h510714b4cc47d3b6_0_406"/>
          <p:cNvSpPr txBox="1"/>
          <p:nvPr/>
        </p:nvSpPr>
        <p:spPr>
          <a:xfrm>
            <a:off x="2503191" y="3579813"/>
            <a:ext cx="984900" cy="228600"/>
          </a:xfrm>
          <a:prstGeom prst="rect">
            <a:avLst/>
          </a:prstGeom>
          <a:noFill/>
          <a:ln>
            <a:noFill/>
          </a:ln>
        </p:spPr>
        <p:txBody>
          <a:bodyPr anchorCtr="0" anchor="t" bIns="0" lIns="0" spcFirstLastPara="1" rIns="0" wrap="square" tIns="0">
            <a:noAutofit/>
          </a:bodyPr>
          <a:lstStyle/>
          <a:p>
            <a:pPr indent="0" lvl="0" marL="0" marR="0" rtl="0" algn="ctr">
              <a:lnSpc>
                <a:spcPct val="133333"/>
              </a:lnSpc>
              <a:spcBef>
                <a:spcPts val="0"/>
              </a:spcBef>
              <a:spcAft>
                <a:spcPts val="0"/>
              </a:spcAft>
              <a:buNone/>
            </a:pPr>
            <a:r>
              <a:rPr b="1" i="0" lang="en-US" sz="1350" u="none" cap="none" strike="noStrike">
                <a:solidFill>
                  <a:srgbClr val="141A21"/>
                </a:solidFill>
                <a:latin typeface="IBM Plex Sans"/>
                <a:ea typeface="IBM Plex Sans"/>
                <a:cs typeface="IBM Plex Sans"/>
                <a:sym typeface="IBM Plex Sans"/>
              </a:rPr>
              <a:t>10 kWh</a:t>
            </a:r>
            <a:endParaRPr/>
          </a:p>
        </p:txBody>
      </p:sp>
      <p:sp>
        <p:nvSpPr>
          <p:cNvPr id="267" name="Google Shape;267;h510714b4cc47d3b6_0_406"/>
          <p:cNvSpPr txBox="1"/>
          <p:nvPr/>
        </p:nvSpPr>
        <p:spPr>
          <a:xfrm>
            <a:off x="1243022" y="5086350"/>
            <a:ext cx="2724300" cy="228600"/>
          </a:xfrm>
          <a:prstGeom prst="rect">
            <a:avLst/>
          </a:prstGeom>
          <a:noFill/>
          <a:ln>
            <a:noFill/>
          </a:ln>
        </p:spPr>
        <p:txBody>
          <a:bodyPr anchorCtr="0" anchor="t" bIns="0" lIns="0" spcFirstLastPara="1" rIns="0" wrap="square" tIns="0">
            <a:noAutofit/>
          </a:bodyPr>
          <a:lstStyle/>
          <a:p>
            <a:pPr indent="0" lvl="0" marL="0" marR="0" rtl="0" algn="ctr">
              <a:lnSpc>
                <a:spcPct val="133333"/>
              </a:lnSpc>
              <a:spcBef>
                <a:spcPts val="0"/>
              </a:spcBef>
              <a:spcAft>
                <a:spcPts val="0"/>
              </a:spcAft>
              <a:buNone/>
            </a:pPr>
            <a:r>
              <a:rPr b="1" i="0" lang="en-US" sz="1350" u="none" cap="none" strike="noStrike">
                <a:solidFill>
                  <a:srgbClr val="141A21"/>
                </a:solidFill>
                <a:latin typeface="IBM Plex Sans"/>
                <a:ea typeface="IBM Plex Sans"/>
                <a:cs typeface="IBM Plex Sans"/>
                <a:sym typeface="IBM Plex Sans"/>
              </a:rPr>
              <a:t>A · gleichmäßig</a:t>
            </a:r>
            <a:endParaRPr/>
          </a:p>
        </p:txBody>
      </p:sp>
      <p:sp>
        <p:nvSpPr>
          <p:cNvPr id="268" name="Google Shape;268;h510714b4cc47d3b6_0_406"/>
          <p:cNvSpPr txBox="1"/>
          <p:nvPr/>
        </p:nvSpPr>
        <p:spPr>
          <a:xfrm>
            <a:off x="1243022" y="5334000"/>
            <a:ext cx="2724300" cy="209700"/>
          </a:xfrm>
          <a:prstGeom prst="rect">
            <a:avLst/>
          </a:prstGeom>
          <a:noFill/>
          <a:ln>
            <a:noFill/>
          </a:ln>
        </p:spPr>
        <p:txBody>
          <a:bodyPr anchorCtr="0" anchor="t" bIns="0" lIns="0" spcFirstLastPara="1" rIns="0" wrap="square" tIns="0">
            <a:noAutofit/>
          </a:bodyPr>
          <a:lstStyle/>
          <a:p>
            <a:pPr indent="0" lvl="0" marL="0" marR="0" rtl="0" algn="ctr">
              <a:lnSpc>
                <a:spcPct val="137500"/>
              </a:lnSpc>
              <a:spcBef>
                <a:spcPts val="0"/>
              </a:spcBef>
              <a:spcAft>
                <a:spcPts val="0"/>
              </a:spcAft>
              <a:buNone/>
            </a:pPr>
            <a:r>
              <a:rPr b="0" i="0" lang="en-US" sz="1200" u="none" cap="none" strike="noStrike">
                <a:solidFill>
                  <a:srgbClr val="4E5A68"/>
                </a:solidFill>
                <a:latin typeface="IBM Plex Sans"/>
                <a:ea typeface="IBM Plex Sans"/>
                <a:cs typeface="IBM Plex Sans"/>
                <a:sym typeface="IBM Plex Sans"/>
              </a:rPr>
              <a:t>10 · 10 · 10 · 10 kWh</a:t>
            </a:r>
            <a:endParaRPr/>
          </a:p>
        </p:txBody>
      </p:sp>
      <p:sp>
        <p:nvSpPr>
          <p:cNvPr id="269" name="Google Shape;269;h510714b4cc47d3b6_0_406"/>
          <p:cNvSpPr/>
          <p:nvPr/>
        </p:nvSpPr>
        <p:spPr>
          <a:xfrm>
            <a:off x="4367248" y="3865563"/>
            <a:ext cx="705000" cy="1087500"/>
          </a:xfrm>
          <a:prstGeom prst="rect">
            <a:avLst/>
          </a:prstGeom>
          <a:solidFill>
            <a:srgbClr val="8C99A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270" name="Google Shape;270;h510714b4cc47d3b6_0_406"/>
          <p:cNvSpPr txBox="1"/>
          <p:nvPr/>
        </p:nvSpPr>
        <p:spPr>
          <a:xfrm>
            <a:off x="4227230" y="3579813"/>
            <a:ext cx="984900" cy="228600"/>
          </a:xfrm>
          <a:prstGeom prst="rect">
            <a:avLst/>
          </a:prstGeom>
          <a:noFill/>
          <a:ln>
            <a:noFill/>
          </a:ln>
        </p:spPr>
        <p:txBody>
          <a:bodyPr anchorCtr="0" anchor="t" bIns="0" lIns="0" spcFirstLastPara="1" rIns="0" wrap="square" tIns="0">
            <a:noAutofit/>
          </a:bodyPr>
          <a:lstStyle/>
          <a:p>
            <a:pPr indent="0" lvl="0" marL="0" marR="0" rtl="0" algn="ctr">
              <a:lnSpc>
                <a:spcPct val="133333"/>
              </a:lnSpc>
              <a:spcBef>
                <a:spcPts val="0"/>
              </a:spcBef>
              <a:spcAft>
                <a:spcPts val="0"/>
              </a:spcAft>
              <a:buNone/>
            </a:pPr>
            <a:r>
              <a:rPr b="1" i="0" lang="en-US" sz="1350" u="none" cap="none" strike="noStrike">
                <a:solidFill>
                  <a:srgbClr val="141A21"/>
                </a:solidFill>
                <a:latin typeface="IBM Plex Sans"/>
                <a:ea typeface="IBM Plex Sans"/>
                <a:cs typeface="IBM Plex Sans"/>
                <a:sym typeface="IBM Plex Sans"/>
              </a:rPr>
              <a:t>10 kWh</a:t>
            </a:r>
            <a:endParaRPr/>
          </a:p>
        </p:txBody>
      </p:sp>
      <p:sp>
        <p:nvSpPr>
          <p:cNvPr id="271" name="Google Shape;271;h510714b4cc47d3b6_0_406"/>
          <p:cNvSpPr/>
          <p:nvPr/>
        </p:nvSpPr>
        <p:spPr>
          <a:xfrm>
            <a:off x="5148304" y="2778125"/>
            <a:ext cx="705000" cy="2175000"/>
          </a:xfrm>
          <a:prstGeom prst="rect">
            <a:avLst/>
          </a:prstGeom>
          <a:solidFill>
            <a:srgbClr val="0090C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272" name="Google Shape;272;h510714b4cc47d3b6_0_406"/>
          <p:cNvSpPr txBox="1"/>
          <p:nvPr/>
        </p:nvSpPr>
        <p:spPr>
          <a:xfrm>
            <a:off x="5008286" y="2492375"/>
            <a:ext cx="984900" cy="228600"/>
          </a:xfrm>
          <a:prstGeom prst="rect">
            <a:avLst/>
          </a:prstGeom>
          <a:noFill/>
          <a:ln>
            <a:noFill/>
          </a:ln>
        </p:spPr>
        <p:txBody>
          <a:bodyPr anchorCtr="0" anchor="t" bIns="0" lIns="0" spcFirstLastPara="1" rIns="0" wrap="square" tIns="0">
            <a:noAutofit/>
          </a:bodyPr>
          <a:lstStyle/>
          <a:p>
            <a:pPr indent="0" lvl="0" marL="0" marR="0" rtl="0" algn="ctr">
              <a:lnSpc>
                <a:spcPct val="133333"/>
              </a:lnSpc>
              <a:spcBef>
                <a:spcPts val="0"/>
              </a:spcBef>
              <a:spcAft>
                <a:spcPts val="0"/>
              </a:spcAft>
              <a:buNone/>
            </a:pPr>
            <a:r>
              <a:rPr b="1" i="0" lang="en-US" sz="1350" u="none" cap="none" strike="noStrike">
                <a:solidFill>
                  <a:srgbClr val="141A21"/>
                </a:solidFill>
                <a:latin typeface="IBM Plex Sans"/>
                <a:ea typeface="IBM Plex Sans"/>
                <a:cs typeface="IBM Plex Sans"/>
                <a:sym typeface="IBM Plex Sans"/>
              </a:rPr>
              <a:t>20 kWh</a:t>
            </a:r>
            <a:endParaRPr/>
          </a:p>
        </p:txBody>
      </p:sp>
      <p:sp>
        <p:nvSpPr>
          <p:cNvPr id="273" name="Google Shape;273;h510714b4cc47d3b6_0_406"/>
          <p:cNvSpPr txBox="1"/>
          <p:nvPr/>
        </p:nvSpPr>
        <p:spPr>
          <a:xfrm>
            <a:off x="3748119" y="5086350"/>
            <a:ext cx="2724300" cy="228600"/>
          </a:xfrm>
          <a:prstGeom prst="rect">
            <a:avLst/>
          </a:prstGeom>
          <a:noFill/>
          <a:ln>
            <a:noFill/>
          </a:ln>
        </p:spPr>
        <p:txBody>
          <a:bodyPr anchorCtr="0" anchor="t" bIns="0" lIns="0" spcFirstLastPara="1" rIns="0" wrap="square" tIns="0">
            <a:noAutofit/>
          </a:bodyPr>
          <a:lstStyle/>
          <a:p>
            <a:pPr indent="0" lvl="0" marL="0" marR="0" rtl="0" algn="ctr">
              <a:lnSpc>
                <a:spcPct val="133333"/>
              </a:lnSpc>
              <a:spcBef>
                <a:spcPts val="0"/>
              </a:spcBef>
              <a:spcAft>
                <a:spcPts val="0"/>
              </a:spcAft>
              <a:buNone/>
            </a:pPr>
            <a:r>
              <a:rPr b="1" i="0" lang="en-US" sz="1350" u="none" cap="none" strike="noStrike">
                <a:solidFill>
                  <a:srgbClr val="141A21"/>
                </a:solidFill>
                <a:latin typeface="IBM Plex Sans"/>
                <a:ea typeface="IBM Plex Sans"/>
                <a:cs typeface="IBM Plex Sans"/>
                <a:sym typeface="IBM Plex Sans"/>
              </a:rPr>
              <a:t>B · ein großer Fehler</a:t>
            </a:r>
            <a:endParaRPr/>
          </a:p>
        </p:txBody>
      </p:sp>
      <p:sp>
        <p:nvSpPr>
          <p:cNvPr id="274" name="Google Shape;274;h510714b4cc47d3b6_0_406"/>
          <p:cNvSpPr txBox="1"/>
          <p:nvPr/>
        </p:nvSpPr>
        <p:spPr>
          <a:xfrm>
            <a:off x="3748119" y="5334000"/>
            <a:ext cx="2724300" cy="209700"/>
          </a:xfrm>
          <a:prstGeom prst="rect">
            <a:avLst/>
          </a:prstGeom>
          <a:noFill/>
          <a:ln>
            <a:noFill/>
          </a:ln>
        </p:spPr>
        <p:txBody>
          <a:bodyPr anchorCtr="0" anchor="t" bIns="0" lIns="0" spcFirstLastPara="1" rIns="0" wrap="square" tIns="0">
            <a:noAutofit/>
          </a:bodyPr>
          <a:lstStyle/>
          <a:p>
            <a:pPr indent="0" lvl="0" marL="0" marR="0" rtl="0" algn="ctr">
              <a:lnSpc>
                <a:spcPct val="137500"/>
              </a:lnSpc>
              <a:spcBef>
                <a:spcPts val="0"/>
              </a:spcBef>
              <a:spcAft>
                <a:spcPts val="0"/>
              </a:spcAft>
              <a:buNone/>
            </a:pPr>
            <a:r>
              <a:rPr b="0" i="0" lang="en-US" sz="1200" u="none" cap="none" strike="noStrike">
                <a:solidFill>
                  <a:srgbClr val="4E5A68"/>
                </a:solidFill>
                <a:latin typeface="IBM Plex Sans"/>
                <a:ea typeface="IBM Plex Sans"/>
                <a:cs typeface="IBM Plex Sans"/>
                <a:sym typeface="IBM Plex Sans"/>
              </a:rPr>
              <a:t>0 · 0 · 0 · 40 kWh</a:t>
            </a:r>
            <a:endParaRPr/>
          </a:p>
        </p:txBody>
      </p:sp>
      <p:sp>
        <p:nvSpPr>
          <p:cNvPr id="275" name="Google Shape;275;h510714b4cc47d3b6_0_406"/>
          <p:cNvSpPr txBox="1"/>
          <p:nvPr/>
        </p:nvSpPr>
        <p:spPr>
          <a:xfrm>
            <a:off x="914407" y="5619750"/>
            <a:ext cx="5448300" cy="209700"/>
          </a:xfrm>
          <a:prstGeom prst="rect">
            <a:avLst/>
          </a:prstGeom>
          <a:noFill/>
          <a:ln>
            <a:noFill/>
          </a:ln>
        </p:spPr>
        <p:txBody>
          <a:bodyPr anchorCtr="0" anchor="t" bIns="0" lIns="0" spcFirstLastPara="1" rIns="0" wrap="square" tIns="0">
            <a:noAutofit/>
          </a:bodyPr>
          <a:lstStyle/>
          <a:p>
            <a:pPr indent="0" lvl="0" marL="0" marR="0" rtl="0" algn="l">
              <a:lnSpc>
                <a:spcPct val="137500"/>
              </a:lnSpc>
              <a:spcBef>
                <a:spcPts val="0"/>
              </a:spcBef>
              <a:spcAft>
                <a:spcPts val="0"/>
              </a:spcAft>
              <a:buNone/>
            </a:pPr>
            <a:r>
              <a:rPr b="0" i="0" lang="en-US" sz="1200" u="none" cap="none" strike="noStrike">
                <a:solidFill>
                  <a:srgbClr val="657383"/>
                </a:solidFill>
                <a:latin typeface="IBM Plex Sans"/>
                <a:ea typeface="IBM Plex Sans"/>
                <a:cs typeface="IBM Plex Sans"/>
                <a:sym typeface="IBM Plex Sans"/>
              </a:rPr>
              <a:t>Beispiel aus Notebook 13, keine Projektwerte</a:t>
            </a:r>
            <a:endParaRPr/>
          </a:p>
        </p:txBody>
      </p:sp>
      <p:sp>
        <p:nvSpPr>
          <p:cNvPr id="276" name="Google Shape;276;h510714b4cc47d3b6_0_406"/>
          <p:cNvSpPr/>
          <p:nvPr/>
        </p:nvSpPr>
        <p:spPr>
          <a:xfrm>
            <a:off x="6819956" y="1524000"/>
            <a:ext cx="4686300" cy="1714500"/>
          </a:xfrm>
          <a:prstGeom prst="roundRect">
            <a:avLst>
              <a:gd fmla="val 5555" name="adj"/>
            </a:avLst>
          </a:prstGeom>
          <a:solidFill>
            <a:srgbClr val="E4EFF7"/>
          </a:solidFill>
          <a:ln cap="flat" cmpd="sng" w="9525">
            <a:solidFill>
              <a:srgbClr val="BB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277" name="Google Shape;277;h510714b4cc47d3b6_0_406"/>
          <p:cNvSpPr txBox="1"/>
          <p:nvPr/>
        </p:nvSpPr>
        <p:spPr>
          <a:xfrm>
            <a:off x="7048558" y="1714500"/>
            <a:ext cx="4610100" cy="1980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b="1" i="0" lang="en-US" sz="1200" u="none" cap="none" strike="noStrike">
                <a:solidFill>
                  <a:srgbClr val="00718E"/>
                </a:solidFill>
                <a:latin typeface="IBM Plex Sans"/>
                <a:ea typeface="IBM Plex Sans"/>
                <a:cs typeface="IBM Plex Sans"/>
                <a:sym typeface="IBM Plex Sans"/>
              </a:rPr>
              <a:t>FORMEL</a:t>
            </a:r>
            <a:endParaRPr/>
          </a:p>
        </p:txBody>
      </p:sp>
      <p:sp>
        <p:nvSpPr>
          <p:cNvPr id="278" name="Google Shape;278;h510714b4cc47d3b6_0_406"/>
          <p:cNvSpPr txBox="1"/>
          <p:nvPr/>
        </p:nvSpPr>
        <p:spPr>
          <a:xfrm>
            <a:off x="7048558" y="2019300"/>
            <a:ext cx="4693800" cy="2859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b="1" i="0" lang="en-US" sz="1500" u="none" cap="none" strike="noStrike">
                <a:solidFill>
                  <a:srgbClr val="141A21"/>
                </a:solidFill>
                <a:latin typeface="Geist Mono"/>
                <a:ea typeface="Geist Mono"/>
                <a:cs typeface="Geist Mono"/>
                <a:sym typeface="Geist Mono"/>
              </a:rPr>
              <a:t>RMSE = √( Σ (Ist − Prognose)² ÷ n )</a:t>
            </a:r>
            <a:endParaRPr/>
          </a:p>
        </p:txBody>
      </p:sp>
      <p:sp>
        <p:nvSpPr>
          <p:cNvPr id="279" name="Google Shape;279;h510714b4cc47d3b6_0_406"/>
          <p:cNvSpPr txBox="1"/>
          <p:nvPr/>
        </p:nvSpPr>
        <p:spPr>
          <a:xfrm>
            <a:off x="7048558" y="2457450"/>
            <a:ext cx="4267200" cy="609600"/>
          </a:xfrm>
          <a:prstGeom prst="rect">
            <a:avLst/>
          </a:prstGeom>
          <a:noFill/>
          <a:ln>
            <a:noFill/>
          </a:ln>
        </p:spPr>
        <p:txBody>
          <a:bodyPr anchorCtr="0" anchor="t" bIns="0" lIns="0" spcFirstLastPara="1" rIns="0" wrap="square" tIns="0">
            <a:noAutofit/>
          </a:bodyPr>
          <a:lstStyle/>
          <a:p>
            <a:pPr indent="0" lvl="0" marL="0" marR="0" rtl="0" algn="l">
              <a:lnSpc>
                <a:spcPct val="152941"/>
              </a:lnSpc>
              <a:spcBef>
                <a:spcPts val="0"/>
              </a:spcBef>
              <a:spcAft>
                <a:spcPts val="0"/>
              </a:spcAft>
              <a:buNone/>
            </a:pPr>
            <a:r>
              <a:rPr b="0" i="0" lang="en-US" sz="1275" u="none" cap="none" strike="noStrike">
                <a:solidFill>
                  <a:srgbClr val="4E5A68"/>
                </a:solidFill>
                <a:latin typeface="Geist Mono"/>
                <a:ea typeface="Geist Mono"/>
                <a:cs typeface="Geist Mono"/>
                <a:sym typeface="Geist Mono"/>
              </a:rPr>
              <a:t>A: √(4 · 10² ÷ 4) = 10 kWh</a:t>
            </a:r>
            <a:endParaRPr/>
          </a:p>
          <a:p>
            <a:pPr indent="0" lvl="0" marL="0" marR="0" rtl="0" algn="l">
              <a:lnSpc>
                <a:spcPct val="152941"/>
              </a:lnSpc>
              <a:spcBef>
                <a:spcPts val="0"/>
              </a:spcBef>
              <a:spcAft>
                <a:spcPts val="0"/>
              </a:spcAft>
              <a:buNone/>
            </a:pPr>
            <a:r>
              <a:rPr b="0" i="0" lang="en-US" sz="1275" u="none" cap="none" strike="noStrike">
                <a:solidFill>
                  <a:srgbClr val="4E5A68"/>
                </a:solidFill>
                <a:latin typeface="Geist Mono"/>
                <a:ea typeface="Geist Mono"/>
                <a:cs typeface="Geist Mono"/>
                <a:sym typeface="Geist Mono"/>
              </a:rPr>
              <a:t>B: √(40² ÷ 4) = 20 kWh</a:t>
            </a:r>
            <a:endParaRPr/>
          </a:p>
        </p:txBody>
      </p:sp>
      <p:sp>
        <p:nvSpPr>
          <p:cNvPr id="280" name="Google Shape;280;h510714b4cc47d3b6_0_406"/>
          <p:cNvSpPr txBox="1"/>
          <p:nvPr/>
        </p:nvSpPr>
        <p:spPr>
          <a:xfrm>
            <a:off x="6819956" y="3448050"/>
            <a:ext cx="4686300" cy="2476500"/>
          </a:xfrm>
          <a:prstGeom prst="rect">
            <a:avLst/>
          </a:prstGeom>
          <a:noFill/>
          <a:ln>
            <a:noFill/>
          </a:ln>
        </p:spPr>
        <p:txBody>
          <a:bodyPr anchorCtr="0" anchor="t" bIns="0" lIns="0" spcFirstLastPara="1" rIns="0" wrap="square" tIns="0">
            <a:noAutofit/>
          </a:bodyPr>
          <a:lstStyle/>
          <a:p>
            <a:pPr indent="-209550" lvl="0" marL="209550" marR="0" rtl="0" algn="l">
              <a:lnSpc>
                <a:spcPct val="142105"/>
              </a:lnSpc>
              <a:spcBef>
                <a:spcPts val="0"/>
              </a:spcBef>
              <a:spcAft>
                <a:spcPts val="0"/>
              </a:spcAft>
              <a:buClr>
                <a:srgbClr val="141A21"/>
              </a:buClr>
              <a:buSzPts val="1425"/>
              <a:buFont typeface="IBM Plex Sans"/>
              <a:buChar char="•"/>
            </a:pPr>
            <a:r>
              <a:rPr b="0" i="0" lang="en-US" sz="1425" u="none" cap="none" strike="noStrike">
                <a:solidFill>
                  <a:srgbClr val="141A21"/>
                </a:solidFill>
                <a:latin typeface="IBM Plex Sans"/>
                <a:ea typeface="IBM Plex Sans"/>
                <a:cs typeface="IBM Plex Sans"/>
                <a:sym typeface="IBM Plex Sans"/>
              </a:rPr>
              <a:t>Misst in kWh: der Einheit, in der die Beschaffung plant.</a:t>
            </a:r>
            <a:endParaRPr/>
          </a:p>
          <a:p>
            <a:pPr indent="-209550" lvl="0" marL="209550" marR="0" rtl="0" algn="l">
              <a:lnSpc>
                <a:spcPct val="142105"/>
              </a:lnSpc>
              <a:spcBef>
                <a:spcPts val="900"/>
              </a:spcBef>
              <a:spcAft>
                <a:spcPts val="0"/>
              </a:spcAft>
              <a:buClr>
                <a:srgbClr val="141A21"/>
              </a:buClr>
              <a:buSzPts val="1425"/>
              <a:buFont typeface="IBM Plex Sans"/>
              <a:buChar char="•"/>
            </a:pPr>
            <a:r>
              <a:rPr b="0" i="0" lang="en-US" sz="1425" u="none" cap="none" strike="noStrike">
                <a:solidFill>
                  <a:srgbClr val="141A21"/>
                </a:solidFill>
                <a:latin typeface="IBM Plex Sans"/>
                <a:ea typeface="IBM Plex Sans"/>
                <a:cs typeface="IBM Plex Sans"/>
                <a:sym typeface="IBM Plex Sans"/>
              </a:rPr>
              <a:t>Große Abweichungen gleicht die Beschaffung teuer am Spotmarkt aus.</a:t>
            </a:r>
            <a:endParaRPr/>
          </a:p>
          <a:p>
            <a:pPr indent="-209550" lvl="0" marL="209550" marR="0" rtl="0" algn="l">
              <a:lnSpc>
                <a:spcPct val="142105"/>
              </a:lnSpc>
              <a:spcBef>
                <a:spcPts val="900"/>
              </a:spcBef>
              <a:spcAft>
                <a:spcPts val="0"/>
              </a:spcAft>
              <a:buClr>
                <a:srgbClr val="141A21"/>
              </a:buClr>
              <a:buSzPts val="1425"/>
              <a:buFont typeface="IBM Plex Sans"/>
              <a:buChar char="•"/>
            </a:pPr>
            <a:r>
              <a:rPr b="0" i="0" lang="en-US" sz="1425" u="none" cap="none" strike="noStrike">
                <a:solidFill>
                  <a:srgbClr val="141A21"/>
                </a:solidFill>
                <a:latin typeface="IBM Plex Sans"/>
                <a:ea typeface="IBM Plex Sans"/>
                <a:cs typeface="IBM Plex Sans"/>
                <a:sym typeface="IBM Plex Sans"/>
              </a:rPr>
              <a:t>MAE und R² ergänzen, entscheiden aber nicht.</a:t>
            </a:r>
            <a:endParaRPr/>
          </a:p>
        </p:txBody>
      </p:sp>
      <p:cxnSp>
        <p:nvCxnSpPr>
          <p:cNvPr id="281" name="Google Shape;281;h510714b4cc47d3b6_0_406"/>
          <p:cNvCxnSpPr/>
          <p:nvPr/>
        </p:nvCxnSpPr>
        <p:spPr>
          <a:xfrm>
            <a:off x="0" y="6153150"/>
            <a:ext cx="12192000" cy="0"/>
          </a:xfrm>
          <a:prstGeom prst="straightConnector1">
            <a:avLst/>
          </a:prstGeom>
          <a:noFill/>
          <a:ln cap="flat" cmpd="sng" w="9525">
            <a:solidFill>
              <a:srgbClr val="E4E9EF"/>
            </a:solidFill>
            <a:prstDash val="solid"/>
            <a:round/>
            <a:headEnd len="sm" w="sm" type="none"/>
            <a:tailEnd len="sm" w="sm" type="none"/>
          </a:ln>
          <a:effectLst>
            <a:outerShdw blurRad="40000" rotWithShape="0" dir="5400000" dist="20000">
              <a:srgbClr val="000000">
                <a:alpha val="38040"/>
              </a:srgbClr>
            </a:outerShdw>
          </a:effectLst>
        </p:spPr>
      </p:cxnSp>
      <p:pic>
        <p:nvPicPr>
          <p:cNvPr descr="image.png" id="282" name="Google Shape;282;h510714b4cc47d3b6_0_406"/>
          <p:cNvPicPr preferRelativeResize="0"/>
          <p:nvPr/>
        </p:nvPicPr>
        <p:blipFill rotWithShape="1">
          <a:blip r:embed="rId3">
            <a:alphaModFix/>
          </a:blip>
          <a:srcRect b="0" l="0" r="0" t="0"/>
          <a:stretch/>
        </p:blipFill>
        <p:spPr>
          <a:xfrm>
            <a:off x="685806" y="6362700"/>
            <a:ext cx="715863" cy="247650"/>
          </a:xfrm>
          <a:prstGeom prst="rect">
            <a:avLst/>
          </a:prstGeom>
          <a:noFill/>
          <a:ln>
            <a:noFill/>
          </a:ln>
        </p:spPr>
      </p:pic>
      <p:sp>
        <p:nvSpPr>
          <p:cNvPr id="283" name="Google Shape;283;h510714b4cc47d3b6_0_406"/>
          <p:cNvSpPr txBox="1"/>
          <p:nvPr/>
        </p:nvSpPr>
        <p:spPr>
          <a:xfrm>
            <a:off x="1562113" y="6391275"/>
            <a:ext cx="2891700" cy="1905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None/>
            </a:pPr>
            <a:r>
              <a:rPr b="0" i="0" lang="en-US" sz="1200" u="none" cap="none" strike="noStrike">
                <a:solidFill>
                  <a:srgbClr val="4E5A68"/>
                </a:solidFill>
                <a:latin typeface="IBM Plex Sans"/>
                <a:ea typeface="IBM Plex Sans"/>
                <a:cs typeface="IBM Plex Sans"/>
                <a:sym typeface="IBM Plex Sans"/>
              </a:rPr>
              <a:t>Verbrauchsprognose &amp; Frühwarnung</a:t>
            </a:r>
            <a:endParaRPr/>
          </a:p>
        </p:txBody>
      </p:sp>
      <p:sp>
        <p:nvSpPr>
          <p:cNvPr id="284" name="Google Shape;284;h510714b4cc47d3b6_0_406"/>
          <p:cNvSpPr txBox="1"/>
          <p:nvPr/>
        </p:nvSpPr>
        <p:spPr>
          <a:xfrm>
            <a:off x="10835729" y="6391275"/>
            <a:ext cx="670500" cy="190500"/>
          </a:xfrm>
          <a:prstGeom prst="rect">
            <a:avLst/>
          </a:prstGeom>
          <a:noFill/>
          <a:ln>
            <a:noFill/>
          </a:ln>
        </p:spPr>
        <p:txBody>
          <a:bodyPr anchorCtr="0" anchor="t" bIns="0" lIns="0" spcFirstLastPara="1" rIns="0" wrap="square" tIns="0">
            <a:noAutofit/>
          </a:bodyPr>
          <a:lstStyle/>
          <a:p>
            <a:pPr indent="0" lvl="0" marL="0" marR="0" rtl="0" algn="r">
              <a:lnSpc>
                <a:spcPct val="125000"/>
              </a:lnSpc>
              <a:spcBef>
                <a:spcPts val="0"/>
              </a:spcBef>
              <a:spcAft>
                <a:spcPts val="0"/>
              </a:spcAft>
              <a:buNone/>
            </a:pPr>
            <a:r>
              <a:rPr b="0" i="0" lang="en-US" sz="1200" u="none" cap="none" strike="noStrike">
                <a:solidFill>
                  <a:srgbClr val="4E5A68"/>
                </a:solidFill>
                <a:latin typeface="IBM Plex Sans"/>
                <a:ea typeface="IBM Plex Sans"/>
                <a:cs typeface="IBM Plex Sans"/>
                <a:sym typeface="IBM Plex Sans"/>
              </a:rPr>
              <a:t>5 / 9</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9" name="Shape 289"/>
        <p:cNvGrpSpPr/>
        <p:nvPr/>
      </p:nvGrpSpPr>
      <p:grpSpPr>
        <a:xfrm>
          <a:off x="0" y="0"/>
          <a:ext cx="0" cy="0"/>
          <a:chOff x="0" y="0"/>
          <a:chExt cx="0" cy="0"/>
        </a:xfrm>
      </p:grpSpPr>
      <p:sp>
        <p:nvSpPr>
          <p:cNvPr id="290" name="Google Shape;290;h510714b4cc47d3b6_0_521"/>
          <p:cNvSpPr txBox="1"/>
          <p:nvPr/>
        </p:nvSpPr>
        <p:spPr>
          <a:xfrm>
            <a:off x="685806" y="457200"/>
            <a:ext cx="8591400" cy="1905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None/>
            </a:pPr>
            <a:r>
              <a:rPr b="1" i="0" lang="en-US" sz="1200" u="none" cap="none" strike="noStrike">
                <a:solidFill>
                  <a:srgbClr val="00718E"/>
                </a:solidFill>
                <a:latin typeface="IBM Plex Sans"/>
                <a:ea typeface="IBM Plex Sans"/>
                <a:cs typeface="IBM Plex Sans"/>
                <a:sym typeface="IBM Plex Sans"/>
              </a:rPr>
              <a:t>KAPITEL 4 · MODELLWAHL · KIKO</a:t>
            </a:r>
            <a:endParaRPr/>
          </a:p>
        </p:txBody>
      </p:sp>
      <p:sp>
        <p:nvSpPr>
          <p:cNvPr id="291" name="Google Shape;291;h510714b4cc47d3b6_0_521"/>
          <p:cNvSpPr txBox="1"/>
          <p:nvPr/>
        </p:nvSpPr>
        <p:spPr>
          <a:xfrm>
            <a:off x="685806" y="762000"/>
            <a:ext cx="10820400" cy="438300"/>
          </a:xfrm>
          <a:prstGeom prst="rect">
            <a:avLst/>
          </a:prstGeom>
          <a:noFill/>
          <a:ln>
            <a:noFill/>
          </a:ln>
        </p:spPr>
        <p:txBody>
          <a:bodyPr anchorCtr="0" anchor="t" bIns="0" lIns="0" spcFirstLastPara="1" rIns="0" wrap="square" tIns="0">
            <a:noAutofit/>
          </a:bodyPr>
          <a:lstStyle/>
          <a:p>
            <a:pPr indent="0" lvl="0" marL="0" marR="0" rtl="0" algn="l">
              <a:lnSpc>
                <a:spcPct val="112500"/>
              </a:lnSpc>
              <a:spcBef>
                <a:spcPts val="0"/>
              </a:spcBef>
              <a:spcAft>
                <a:spcPts val="0"/>
              </a:spcAft>
              <a:buNone/>
            </a:pPr>
            <a:r>
              <a:rPr b="1" i="0" lang="en-US" sz="3000" u="none" cap="none" strike="noStrike">
                <a:solidFill>
                  <a:srgbClr val="141A21"/>
                </a:solidFill>
                <a:latin typeface="IBM Plex Sans"/>
                <a:ea typeface="IBM Plex Sans"/>
                <a:cs typeface="IBM Plex Sans"/>
                <a:sym typeface="IBM Plex Sans"/>
              </a:rPr>
              <a:t>Random Forest gewinnt die Auswahl in 2024</a:t>
            </a:r>
            <a:endParaRPr/>
          </a:p>
        </p:txBody>
      </p:sp>
      <p:sp>
        <p:nvSpPr>
          <p:cNvPr id="292" name="Google Shape;292;h510714b4cc47d3b6_0_521"/>
          <p:cNvSpPr/>
          <p:nvPr/>
        </p:nvSpPr>
        <p:spPr>
          <a:xfrm>
            <a:off x="685806" y="1524000"/>
            <a:ext cx="6667500" cy="4476900"/>
          </a:xfrm>
          <a:prstGeom prst="roundRect">
            <a:avLst>
              <a:gd fmla="val 2127" name="adj"/>
            </a:avLst>
          </a:prstGeom>
          <a:solidFill>
            <a:srgbClr val="FFFFFF"/>
          </a:solidFill>
          <a:ln cap="flat" cmpd="sng" w="9525">
            <a:solidFill>
              <a:srgbClr val="D2DA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293" name="Google Shape;293;h510714b4cc47d3b6_0_521"/>
          <p:cNvSpPr txBox="1"/>
          <p:nvPr/>
        </p:nvSpPr>
        <p:spPr>
          <a:xfrm>
            <a:off x="914407" y="1714500"/>
            <a:ext cx="6191400" cy="247800"/>
          </a:xfrm>
          <a:prstGeom prst="rect">
            <a:avLst/>
          </a:prstGeom>
          <a:noFill/>
          <a:ln>
            <a:noFill/>
          </a:ln>
        </p:spPr>
        <p:txBody>
          <a:bodyPr anchorCtr="0" anchor="t" bIns="0" lIns="0" spcFirstLastPara="1" rIns="0" wrap="square" tIns="0">
            <a:noAutofit/>
          </a:bodyPr>
          <a:lstStyle/>
          <a:p>
            <a:pPr indent="0" lvl="0" marL="0" marR="0" rtl="0" algn="l">
              <a:lnSpc>
                <a:spcPct val="136842"/>
              </a:lnSpc>
              <a:spcBef>
                <a:spcPts val="0"/>
              </a:spcBef>
              <a:spcAft>
                <a:spcPts val="0"/>
              </a:spcAft>
              <a:buNone/>
            </a:pPr>
            <a:r>
              <a:rPr b="1" i="0" lang="en-US" sz="1425" u="none" cap="none" strike="noStrike">
                <a:solidFill>
                  <a:srgbClr val="141A21"/>
                </a:solidFill>
                <a:latin typeface="IBM Plex Sans"/>
                <a:ea typeface="IBM Plex Sans"/>
                <a:cs typeface="IBM Plex Sans"/>
                <a:sym typeface="IBM Plex Sans"/>
              </a:rPr>
              <a:t>Ø RMSE über drei zeitliche Folds 2024</a:t>
            </a:r>
            <a:endParaRPr/>
          </a:p>
        </p:txBody>
      </p:sp>
      <p:sp>
        <p:nvSpPr>
          <p:cNvPr id="294" name="Google Shape;294;h510714b4cc47d3b6_0_521"/>
          <p:cNvSpPr txBox="1"/>
          <p:nvPr/>
        </p:nvSpPr>
        <p:spPr>
          <a:xfrm>
            <a:off x="914407" y="1962150"/>
            <a:ext cx="6191400" cy="209700"/>
          </a:xfrm>
          <a:prstGeom prst="rect">
            <a:avLst/>
          </a:prstGeom>
          <a:noFill/>
          <a:ln>
            <a:noFill/>
          </a:ln>
        </p:spPr>
        <p:txBody>
          <a:bodyPr anchorCtr="0" anchor="t" bIns="0" lIns="0" spcFirstLastPara="1" rIns="0" wrap="square" tIns="0">
            <a:noAutofit/>
          </a:bodyPr>
          <a:lstStyle/>
          <a:p>
            <a:pPr indent="0" lvl="0" marL="0" marR="0" rtl="0" algn="l">
              <a:lnSpc>
                <a:spcPct val="137500"/>
              </a:lnSpc>
              <a:spcBef>
                <a:spcPts val="0"/>
              </a:spcBef>
              <a:spcAft>
                <a:spcPts val="0"/>
              </a:spcAft>
              <a:buNone/>
            </a:pPr>
            <a:r>
              <a:rPr b="0" i="0" lang="en-US" sz="1200" u="none" cap="none" strike="noStrike">
                <a:solidFill>
                  <a:srgbClr val="4E5A68"/>
                </a:solidFill>
                <a:latin typeface="IBM Plex Sans"/>
                <a:ea typeface="IBM Plex Sans"/>
                <a:cs typeface="IBM Plex Sans"/>
                <a:sym typeface="IBM Plex Sans"/>
              </a:rPr>
              <a:t>in kWh · Raute je Fold, Strich ±1 Standardabweichung</a:t>
            </a:r>
            <a:endParaRPr/>
          </a:p>
        </p:txBody>
      </p:sp>
      <p:pic>
        <p:nvPicPr>
          <p:cNvPr descr="s06_svg07.png" id="295" name="Google Shape;295;h510714b4cc47d3b6_0_521"/>
          <p:cNvPicPr preferRelativeResize="0"/>
          <p:nvPr/>
        </p:nvPicPr>
        <p:blipFill rotWithShape="1">
          <a:blip r:embed="rId3">
            <a:alphaModFix/>
          </a:blip>
          <a:srcRect b="0" l="0" r="0" t="0"/>
          <a:stretch/>
        </p:blipFill>
        <p:spPr>
          <a:xfrm>
            <a:off x="914408" y="2381250"/>
            <a:ext cx="6210300" cy="2833510"/>
          </a:xfrm>
          <a:prstGeom prst="rect">
            <a:avLst/>
          </a:prstGeom>
          <a:noFill/>
          <a:ln>
            <a:noFill/>
          </a:ln>
        </p:spPr>
      </p:pic>
      <p:sp>
        <p:nvSpPr>
          <p:cNvPr id="296" name="Google Shape;296;h510714b4cc47d3b6_0_521"/>
          <p:cNvSpPr/>
          <p:nvPr/>
        </p:nvSpPr>
        <p:spPr>
          <a:xfrm>
            <a:off x="7581962" y="1524000"/>
            <a:ext cx="3924300" cy="1371600"/>
          </a:xfrm>
          <a:prstGeom prst="roundRect">
            <a:avLst>
              <a:gd fmla="val 6944" name="adj"/>
            </a:avLst>
          </a:prstGeom>
          <a:solidFill>
            <a:srgbClr val="FFFFFF"/>
          </a:solidFill>
          <a:ln cap="flat" cmpd="sng" w="9525">
            <a:solidFill>
              <a:srgbClr val="D2DA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297" name="Google Shape;297;h510714b4cc47d3b6_0_521"/>
          <p:cNvSpPr txBox="1"/>
          <p:nvPr/>
        </p:nvSpPr>
        <p:spPr>
          <a:xfrm>
            <a:off x="7810564" y="1733550"/>
            <a:ext cx="3467100" cy="2229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b="1" i="0" lang="en-US" sz="1350" u="none" cap="none" strike="noStrike">
                <a:solidFill>
                  <a:srgbClr val="141A21"/>
                </a:solidFill>
                <a:latin typeface="IBM Plex Sans"/>
                <a:ea typeface="IBM Plex Sans"/>
                <a:cs typeface="IBM Plex Sans"/>
                <a:sym typeface="IBM Plex Sans"/>
              </a:rPr>
              <a:t>Knapp vor der linearen Regression</a:t>
            </a:r>
            <a:endParaRPr/>
          </a:p>
        </p:txBody>
      </p:sp>
      <p:sp>
        <p:nvSpPr>
          <p:cNvPr id="298" name="Google Shape;298;h510714b4cc47d3b6_0_521"/>
          <p:cNvSpPr txBox="1"/>
          <p:nvPr/>
        </p:nvSpPr>
        <p:spPr>
          <a:xfrm>
            <a:off x="7810564" y="2032635"/>
            <a:ext cx="3467100" cy="672600"/>
          </a:xfrm>
          <a:prstGeom prst="rect">
            <a:avLst/>
          </a:prstGeom>
          <a:noFill/>
          <a:ln>
            <a:noFill/>
          </a:ln>
        </p:spPr>
        <p:txBody>
          <a:bodyPr anchorCtr="0" anchor="t" bIns="0" lIns="0" spcFirstLastPara="1" rIns="0" wrap="square" tIns="0">
            <a:noAutofit/>
          </a:bodyPr>
          <a:lstStyle/>
          <a:p>
            <a:pPr indent="0" lvl="0" marL="0" marR="0" rtl="0" algn="l">
              <a:lnSpc>
                <a:spcPct val="144941"/>
              </a:lnSpc>
              <a:spcBef>
                <a:spcPts val="0"/>
              </a:spcBef>
              <a:spcAft>
                <a:spcPts val="0"/>
              </a:spcAft>
              <a:buNone/>
            </a:pPr>
            <a:r>
              <a:rPr b="0" i="0" lang="en-US" sz="1275" u="none" cap="none" strike="noStrike">
                <a:solidFill>
                  <a:srgbClr val="4E5A68"/>
                </a:solidFill>
                <a:latin typeface="IBM Plex Sans"/>
                <a:ea typeface="IBM Plex Sans"/>
                <a:cs typeface="IBM Plex Sans"/>
                <a:sym typeface="IBM Plex Sans"/>
              </a:rPr>
              <a:t>13.272 gegen 13.643 kWh: der Wald erfasst nichtlineare Effekte.</a:t>
            </a:r>
            <a:endParaRPr/>
          </a:p>
        </p:txBody>
      </p:sp>
      <p:sp>
        <p:nvSpPr>
          <p:cNvPr id="299" name="Google Shape;299;h510714b4cc47d3b6_0_521"/>
          <p:cNvSpPr/>
          <p:nvPr/>
        </p:nvSpPr>
        <p:spPr>
          <a:xfrm>
            <a:off x="7581962" y="3028950"/>
            <a:ext cx="3924300" cy="1371600"/>
          </a:xfrm>
          <a:prstGeom prst="roundRect">
            <a:avLst>
              <a:gd fmla="val 6944" name="adj"/>
            </a:avLst>
          </a:prstGeom>
          <a:solidFill>
            <a:srgbClr val="FFFFFF"/>
          </a:solidFill>
          <a:ln cap="flat" cmpd="sng" w="9525">
            <a:solidFill>
              <a:srgbClr val="D2DA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300" name="Google Shape;300;h510714b4cc47d3b6_0_521"/>
          <p:cNvSpPr txBox="1"/>
          <p:nvPr/>
        </p:nvSpPr>
        <p:spPr>
          <a:xfrm>
            <a:off x="7810564" y="3238500"/>
            <a:ext cx="3467100" cy="2229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b="1" i="0" lang="en-US" sz="1350" u="none" cap="none" strike="noStrike">
                <a:solidFill>
                  <a:srgbClr val="141A21"/>
                </a:solidFill>
                <a:latin typeface="IBM Plex Sans"/>
                <a:ea typeface="IBM Plex Sans"/>
                <a:cs typeface="IBM Plex Sans"/>
                <a:sym typeface="IBM Plex Sans"/>
              </a:rPr>
              <a:t>Klar vor einfachen Regeln</a:t>
            </a:r>
            <a:endParaRPr/>
          </a:p>
        </p:txBody>
      </p:sp>
      <p:sp>
        <p:nvSpPr>
          <p:cNvPr id="301" name="Google Shape;301;h510714b4cc47d3b6_0_521"/>
          <p:cNvSpPr txBox="1"/>
          <p:nvPr/>
        </p:nvSpPr>
        <p:spPr>
          <a:xfrm>
            <a:off x="7810564" y="3537585"/>
            <a:ext cx="3467100" cy="672600"/>
          </a:xfrm>
          <a:prstGeom prst="rect">
            <a:avLst/>
          </a:prstGeom>
          <a:noFill/>
          <a:ln>
            <a:noFill/>
          </a:ln>
        </p:spPr>
        <p:txBody>
          <a:bodyPr anchorCtr="0" anchor="t" bIns="0" lIns="0" spcFirstLastPara="1" rIns="0" wrap="square" tIns="0">
            <a:noAutofit/>
          </a:bodyPr>
          <a:lstStyle/>
          <a:p>
            <a:pPr indent="0" lvl="0" marL="0" marR="0" rtl="0" algn="l">
              <a:lnSpc>
                <a:spcPct val="144941"/>
              </a:lnSpc>
              <a:spcBef>
                <a:spcPts val="0"/>
              </a:spcBef>
              <a:spcAft>
                <a:spcPts val="0"/>
              </a:spcAft>
              <a:buNone/>
            </a:pPr>
            <a:r>
              <a:rPr b="0" i="0" lang="en-US" sz="1275" u="none" cap="none" strike="noStrike">
                <a:solidFill>
                  <a:srgbClr val="4E5A68"/>
                </a:solidFill>
                <a:latin typeface="IBM Plex Sans"/>
                <a:ea typeface="IBM Plex Sans"/>
                <a:cs typeface="IBM Plex Sans"/>
                <a:sym typeface="IBM Plex Sans"/>
              </a:rPr>
              <a:t>3-Monats-Mittel 15.483, Vormonat 18.460 kWh.</a:t>
            </a:r>
            <a:endParaRPr/>
          </a:p>
        </p:txBody>
      </p:sp>
      <p:sp>
        <p:nvSpPr>
          <p:cNvPr id="302" name="Google Shape;302;h510714b4cc47d3b6_0_521"/>
          <p:cNvSpPr/>
          <p:nvPr/>
        </p:nvSpPr>
        <p:spPr>
          <a:xfrm>
            <a:off x="7581962" y="4533900"/>
            <a:ext cx="3924300" cy="1371600"/>
          </a:xfrm>
          <a:prstGeom prst="roundRect">
            <a:avLst>
              <a:gd fmla="val 6944" name="adj"/>
            </a:avLst>
          </a:prstGeom>
          <a:solidFill>
            <a:srgbClr val="FFFFFF"/>
          </a:solidFill>
          <a:ln cap="flat" cmpd="sng" w="9525">
            <a:solidFill>
              <a:srgbClr val="D2DA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303" name="Google Shape;303;h510714b4cc47d3b6_0_521"/>
          <p:cNvSpPr txBox="1"/>
          <p:nvPr/>
        </p:nvSpPr>
        <p:spPr>
          <a:xfrm>
            <a:off x="7810564" y="4743450"/>
            <a:ext cx="3467100" cy="2229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b="1" i="0" lang="en-US" sz="1350" u="none" cap="none" strike="noStrike">
                <a:solidFill>
                  <a:srgbClr val="141A21"/>
                </a:solidFill>
                <a:latin typeface="IBM Plex Sans"/>
                <a:ea typeface="IBM Plex Sans"/>
                <a:cs typeface="IBM Plex Sans"/>
                <a:sym typeface="IBM Plex Sans"/>
              </a:rPr>
              <a:t>Fold 1 ist für alle am schwersten</a:t>
            </a:r>
            <a:endParaRPr/>
          </a:p>
        </p:txBody>
      </p:sp>
      <p:sp>
        <p:nvSpPr>
          <p:cNvPr id="304" name="Google Shape;304;h510714b4cc47d3b6_0_521"/>
          <p:cNvSpPr txBox="1"/>
          <p:nvPr/>
        </p:nvSpPr>
        <p:spPr>
          <a:xfrm>
            <a:off x="7810564" y="5042535"/>
            <a:ext cx="3467100" cy="672600"/>
          </a:xfrm>
          <a:prstGeom prst="rect">
            <a:avLst/>
          </a:prstGeom>
          <a:noFill/>
          <a:ln>
            <a:noFill/>
          </a:ln>
        </p:spPr>
        <p:txBody>
          <a:bodyPr anchorCtr="0" anchor="t" bIns="0" lIns="0" spcFirstLastPara="1" rIns="0" wrap="square" tIns="0">
            <a:noAutofit/>
          </a:bodyPr>
          <a:lstStyle/>
          <a:p>
            <a:pPr indent="0" lvl="0" marL="0" marR="0" rtl="0" algn="l">
              <a:lnSpc>
                <a:spcPct val="144941"/>
              </a:lnSpc>
              <a:spcBef>
                <a:spcPts val="0"/>
              </a:spcBef>
              <a:spcAft>
                <a:spcPts val="0"/>
              </a:spcAft>
              <a:buNone/>
            </a:pPr>
            <a:r>
              <a:rPr b="0" i="0" lang="en-US" sz="1275" u="none" cap="none" strike="noStrike">
                <a:solidFill>
                  <a:srgbClr val="4E5A68"/>
                </a:solidFill>
                <a:latin typeface="IBM Plex Sans"/>
                <a:ea typeface="IBM Plex Sans"/>
                <a:cs typeface="IBM Plex Sans"/>
                <a:sym typeface="IBM Plex Sans"/>
              </a:rPr>
              <a:t>Mai–Jun zieht jeden Mittelwert hoch.</a:t>
            </a:r>
            <a:endParaRPr/>
          </a:p>
        </p:txBody>
      </p:sp>
      <p:cxnSp>
        <p:nvCxnSpPr>
          <p:cNvPr id="305" name="Google Shape;305;h510714b4cc47d3b6_0_521"/>
          <p:cNvCxnSpPr/>
          <p:nvPr/>
        </p:nvCxnSpPr>
        <p:spPr>
          <a:xfrm>
            <a:off x="0" y="6153150"/>
            <a:ext cx="12192000" cy="0"/>
          </a:xfrm>
          <a:prstGeom prst="straightConnector1">
            <a:avLst/>
          </a:prstGeom>
          <a:noFill/>
          <a:ln cap="flat" cmpd="sng" w="9525">
            <a:solidFill>
              <a:srgbClr val="E4E9EF"/>
            </a:solidFill>
            <a:prstDash val="solid"/>
            <a:round/>
            <a:headEnd len="sm" w="sm" type="none"/>
            <a:tailEnd len="sm" w="sm" type="none"/>
          </a:ln>
          <a:effectLst>
            <a:outerShdw blurRad="40000" rotWithShape="0" dir="5400000" dist="20000">
              <a:srgbClr val="000000">
                <a:alpha val="38040"/>
              </a:srgbClr>
            </a:outerShdw>
          </a:effectLst>
        </p:spPr>
      </p:cxnSp>
      <p:pic>
        <p:nvPicPr>
          <p:cNvPr descr="image.png" id="306" name="Google Shape;306;h510714b4cc47d3b6_0_521"/>
          <p:cNvPicPr preferRelativeResize="0"/>
          <p:nvPr/>
        </p:nvPicPr>
        <p:blipFill rotWithShape="1">
          <a:blip r:embed="rId4">
            <a:alphaModFix/>
          </a:blip>
          <a:srcRect b="0" l="0" r="0" t="0"/>
          <a:stretch/>
        </p:blipFill>
        <p:spPr>
          <a:xfrm>
            <a:off x="685806" y="6362700"/>
            <a:ext cx="715863" cy="247650"/>
          </a:xfrm>
          <a:prstGeom prst="rect">
            <a:avLst/>
          </a:prstGeom>
          <a:noFill/>
          <a:ln>
            <a:noFill/>
          </a:ln>
        </p:spPr>
      </p:pic>
      <p:sp>
        <p:nvSpPr>
          <p:cNvPr id="307" name="Google Shape;307;h510714b4cc47d3b6_0_521"/>
          <p:cNvSpPr txBox="1"/>
          <p:nvPr/>
        </p:nvSpPr>
        <p:spPr>
          <a:xfrm>
            <a:off x="1562113" y="6391275"/>
            <a:ext cx="2891700" cy="1905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None/>
            </a:pPr>
            <a:r>
              <a:rPr b="0" i="0" lang="en-US" sz="1200" u="none" cap="none" strike="noStrike">
                <a:solidFill>
                  <a:srgbClr val="4E5A68"/>
                </a:solidFill>
                <a:latin typeface="IBM Plex Sans"/>
                <a:ea typeface="IBM Plex Sans"/>
                <a:cs typeface="IBM Plex Sans"/>
                <a:sym typeface="IBM Plex Sans"/>
              </a:rPr>
              <a:t>Verbrauchsprognose &amp; Frühwarnung</a:t>
            </a:r>
            <a:endParaRPr/>
          </a:p>
        </p:txBody>
      </p:sp>
      <p:sp>
        <p:nvSpPr>
          <p:cNvPr id="308" name="Google Shape;308;h510714b4cc47d3b6_0_521"/>
          <p:cNvSpPr txBox="1"/>
          <p:nvPr/>
        </p:nvSpPr>
        <p:spPr>
          <a:xfrm>
            <a:off x="10835729" y="6391275"/>
            <a:ext cx="670500" cy="190500"/>
          </a:xfrm>
          <a:prstGeom prst="rect">
            <a:avLst/>
          </a:prstGeom>
          <a:noFill/>
          <a:ln>
            <a:noFill/>
          </a:ln>
        </p:spPr>
        <p:txBody>
          <a:bodyPr anchorCtr="0" anchor="t" bIns="0" lIns="0" spcFirstLastPara="1" rIns="0" wrap="square" tIns="0">
            <a:noAutofit/>
          </a:bodyPr>
          <a:lstStyle/>
          <a:p>
            <a:pPr indent="0" lvl="0" marL="0" marR="0" rtl="0" algn="r">
              <a:lnSpc>
                <a:spcPct val="125000"/>
              </a:lnSpc>
              <a:spcBef>
                <a:spcPts val="0"/>
              </a:spcBef>
              <a:spcAft>
                <a:spcPts val="0"/>
              </a:spcAft>
              <a:buNone/>
            </a:pPr>
            <a:r>
              <a:rPr b="0" i="0" lang="en-US" sz="1200" u="none" cap="none" strike="noStrike">
                <a:solidFill>
                  <a:srgbClr val="4E5A68"/>
                </a:solidFill>
                <a:latin typeface="IBM Plex Sans"/>
                <a:ea typeface="IBM Plex Sans"/>
                <a:cs typeface="IBM Plex Sans"/>
                <a:sym typeface="IBM Plex Sans"/>
              </a:rPr>
              <a:t>6 / 9</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3" name="Shape 313"/>
        <p:cNvGrpSpPr/>
        <p:nvPr/>
      </p:nvGrpSpPr>
      <p:grpSpPr>
        <a:xfrm>
          <a:off x="0" y="0"/>
          <a:ext cx="0" cy="0"/>
          <a:chOff x="0" y="0"/>
          <a:chExt cx="0" cy="0"/>
        </a:xfrm>
      </p:grpSpPr>
      <p:sp>
        <p:nvSpPr>
          <p:cNvPr id="314" name="Google Shape;314;h510714b4cc47d3b6_0_619"/>
          <p:cNvSpPr txBox="1"/>
          <p:nvPr/>
        </p:nvSpPr>
        <p:spPr>
          <a:xfrm>
            <a:off x="685806" y="457200"/>
            <a:ext cx="8591400" cy="1905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None/>
            </a:pPr>
            <a:r>
              <a:rPr b="1" i="0" lang="en-US" sz="1200" u="none" cap="none" strike="noStrike">
                <a:solidFill>
                  <a:srgbClr val="00718E"/>
                </a:solidFill>
                <a:latin typeface="IBM Plex Sans"/>
                <a:ea typeface="IBM Plex Sans"/>
                <a:cs typeface="IBM Plex Sans"/>
                <a:sym typeface="IBM Plex Sans"/>
              </a:rPr>
              <a:t>KAPITEL 4 · SCHWELLE · KIKO</a:t>
            </a:r>
            <a:endParaRPr/>
          </a:p>
        </p:txBody>
      </p:sp>
      <p:sp>
        <p:nvSpPr>
          <p:cNvPr id="315" name="Google Shape;315;h510714b4cc47d3b6_0_619"/>
          <p:cNvSpPr txBox="1"/>
          <p:nvPr/>
        </p:nvSpPr>
        <p:spPr>
          <a:xfrm>
            <a:off x="685806" y="762000"/>
            <a:ext cx="10820400" cy="438300"/>
          </a:xfrm>
          <a:prstGeom prst="rect">
            <a:avLst/>
          </a:prstGeom>
          <a:noFill/>
          <a:ln>
            <a:noFill/>
          </a:ln>
        </p:spPr>
        <p:txBody>
          <a:bodyPr anchorCtr="0" anchor="t" bIns="0" lIns="0" spcFirstLastPara="1" rIns="0" wrap="square" tIns="0">
            <a:noAutofit/>
          </a:bodyPr>
          <a:lstStyle/>
          <a:p>
            <a:pPr indent="0" lvl="0" marL="0" marR="0" rtl="0" algn="l">
              <a:lnSpc>
                <a:spcPct val="112500"/>
              </a:lnSpc>
              <a:spcBef>
                <a:spcPts val="0"/>
              </a:spcBef>
              <a:spcAft>
                <a:spcPts val="0"/>
              </a:spcAft>
              <a:buNone/>
            </a:pPr>
            <a:r>
              <a:rPr b="1" i="0" lang="en-US" sz="3000" u="none" cap="none" strike="noStrike">
                <a:solidFill>
                  <a:srgbClr val="141A21"/>
                </a:solidFill>
                <a:latin typeface="IBM Plex Sans"/>
                <a:ea typeface="IBM Plex Sans"/>
                <a:cs typeface="IBM Plex Sans"/>
                <a:sym typeface="IBM Plex Sans"/>
              </a:rPr>
              <a:t>Ungewöhnlich ist, was 99 von 100 Fehler übertrifft</a:t>
            </a:r>
            <a:endParaRPr/>
          </a:p>
        </p:txBody>
      </p:sp>
      <p:grpSp>
        <p:nvGrpSpPr>
          <p:cNvPr id="316" name="Google Shape;316;h510714b4cc47d3b6_0_619"/>
          <p:cNvGrpSpPr/>
          <p:nvPr/>
        </p:nvGrpSpPr>
        <p:grpSpPr>
          <a:xfrm>
            <a:off x="647700" y="1543050"/>
            <a:ext cx="419100" cy="304800"/>
            <a:chOff x="647700" y="1543050"/>
            <a:chExt cx="419100" cy="304800"/>
          </a:xfrm>
        </p:grpSpPr>
        <p:sp>
          <p:nvSpPr>
            <p:cNvPr id="317" name="Google Shape;317;h510714b4cc47d3b6_0_619"/>
            <p:cNvSpPr/>
            <p:nvPr/>
          </p:nvSpPr>
          <p:spPr>
            <a:xfrm>
              <a:off x="704850" y="1543050"/>
              <a:ext cx="304800" cy="304800"/>
            </a:xfrm>
            <a:prstGeom prst="ellipse">
              <a:avLst/>
            </a:prstGeom>
            <a:solidFill>
              <a:srgbClr val="084878"/>
            </a:solidFill>
            <a:ln cap="flat" cmpd="sng" w="1905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318" name="Google Shape;318;h510714b4cc47d3b6_0_619"/>
            <p:cNvSpPr txBox="1"/>
            <p:nvPr/>
          </p:nvSpPr>
          <p:spPr>
            <a:xfrm>
              <a:off x="647700" y="1543050"/>
              <a:ext cx="419100" cy="304800"/>
            </a:xfrm>
            <a:prstGeom prst="rect">
              <a:avLst/>
            </a:prstGeom>
            <a:noFill/>
            <a:ln>
              <a:noFill/>
            </a:ln>
          </p:spPr>
          <p:txBody>
            <a:bodyPr anchorCtr="0" anchor="ctr" bIns="0" lIns="0" spcFirstLastPara="1" rIns="0" wrap="square" tIns="0">
              <a:noAutofit/>
            </a:bodyPr>
            <a:lstStyle/>
            <a:p>
              <a:pPr indent="0" lvl="0" marL="0" marR="0" rtl="0" algn="ctr">
                <a:lnSpc>
                  <a:spcPct val="188235"/>
                </a:lnSpc>
                <a:spcBef>
                  <a:spcPts val="0"/>
                </a:spcBef>
                <a:spcAft>
                  <a:spcPts val="0"/>
                </a:spcAft>
                <a:buNone/>
              </a:pPr>
              <a:r>
                <a:rPr b="1" i="0" lang="en-US" sz="1275" u="none" cap="none" strike="noStrike">
                  <a:solidFill>
                    <a:srgbClr val="FFFFFF"/>
                  </a:solidFill>
                  <a:latin typeface="Geist Mono"/>
                  <a:ea typeface="Geist Mono"/>
                  <a:cs typeface="Geist Mono"/>
                  <a:sym typeface="Geist Mono"/>
                </a:rPr>
                <a:t>1</a:t>
              </a:r>
              <a:endParaRPr/>
            </a:p>
          </p:txBody>
        </p:sp>
      </p:grpSp>
      <p:sp>
        <p:nvSpPr>
          <p:cNvPr id="319" name="Google Shape;319;h510714b4cc47d3b6_0_619"/>
          <p:cNvSpPr txBox="1"/>
          <p:nvPr/>
        </p:nvSpPr>
        <p:spPr>
          <a:xfrm>
            <a:off x="1162060" y="1562100"/>
            <a:ext cx="4000500" cy="2667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None/>
            </a:pPr>
            <a:r>
              <a:rPr b="1" i="0" lang="en-US" sz="1500" u="none" cap="none" strike="noStrike">
                <a:solidFill>
                  <a:srgbClr val="141A21"/>
                </a:solidFill>
                <a:latin typeface="IBM Plex Sans"/>
                <a:ea typeface="IBM Plex Sans"/>
                <a:cs typeface="IBM Plex Sans"/>
                <a:sym typeface="IBM Plex Sans"/>
              </a:rPr>
              <a:t>Abweichung messen</a:t>
            </a:r>
            <a:endParaRPr/>
          </a:p>
        </p:txBody>
      </p:sp>
      <p:sp>
        <p:nvSpPr>
          <p:cNvPr id="320" name="Google Shape;320;h510714b4cc47d3b6_0_619"/>
          <p:cNvSpPr txBox="1"/>
          <p:nvPr/>
        </p:nvSpPr>
        <p:spPr>
          <a:xfrm>
            <a:off x="1162060" y="1847850"/>
            <a:ext cx="4000500" cy="495300"/>
          </a:xfrm>
          <a:prstGeom prst="rect">
            <a:avLst/>
          </a:prstGeom>
          <a:noFill/>
          <a:ln>
            <a:noFill/>
          </a:ln>
        </p:spPr>
        <p:txBody>
          <a:bodyPr anchorCtr="0" anchor="t" bIns="0" lIns="0" spcFirstLastPara="1" rIns="0" wrap="square" tIns="0">
            <a:noAutofit/>
          </a:bodyPr>
          <a:lstStyle/>
          <a:p>
            <a:pPr indent="0" lvl="0" marL="0" marR="0" rtl="0" algn="l">
              <a:lnSpc>
                <a:spcPct val="141176"/>
              </a:lnSpc>
              <a:spcBef>
                <a:spcPts val="0"/>
              </a:spcBef>
              <a:spcAft>
                <a:spcPts val="0"/>
              </a:spcAft>
              <a:buNone/>
            </a:pPr>
            <a:r>
              <a:rPr b="0" i="0" lang="en-US" sz="1275" u="none" cap="none" strike="noStrike">
                <a:solidFill>
                  <a:srgbClr val="4E5A68"/>
                </a:solidFill>
                <a:latin typeface="IBM Plex Sans"/>
                <a:ea typeface="IBM Plex Sans"/>
                <a:cs typeface="IBM Plex Sans"/>
                <a:sym typeface="IBM Plex Sans"/>
              </a:rPr>
              <a:t>Nach Monatsende: Ist minus Prognose, in Vollaststunden.</a:t>
            </a:r>
            <a:endParaRPr/>
          </a:p>
        </p:txBody>
      </p:sp>
      <p:grpSp>
        <p:nvGrpSpPr>
          <p:cNvPr id="321" name="Google Shape;321;h510714b4cc47d3b6_0_619"/>
          <p:cNvGrpSpPr/>
          <p:nvPr/>
        </p:nvGrpSpPr>
        <p:grpSpPr>
          <a:xfrm>
            <a:off x="647700" y="2457450"/>
            <a:ext cx="419100" cy="304800"/>
            <a:chOff x="647700" y="2457450"/>
            <a:chExt cx="419100" cy="304800"/>
          </a:xfrm>
        </p:grpSpPr>
        <p:sp>
          <p:nvSpPr>
            <p:cNvPr id="322" name="Google Shape;322;h510714b4cc47d3b6_0_619"/>
            <p:cNvSpPr/>
            <p:nvPr/>
          </p:nvSpPr>
          <p:spPr>
            <a:xfrm>
              <a:off x="704850" y="2457450"/>
              <a:ext cx="304800" cy="304800"/>
            </a:xfrm>
            <a:prstGeom prst="ellipse">
              <a:avLst/>
            </a:prstGeom>
            <a:solidFill>
              <a:srgbClr val="084878"/>
            </a:solidFill>
            <a:ln cap="flat" cmpd="sng" w="1905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323" name="Google Shape;323;h510714b4cc47d3b6_0_619"/>
            <p:cNvSpPr txBox="1"/>
            <p:nvPr/>
          </p:nvSpPr>
          <p:spPr>
            <a:xfrm>
              <a:off x="647700" y="2457450"/>
              <a:ext cx="419100" cy="304800"/>
            </a:xfrm>
            <a:prstGeom prst="rect">
              <a:avLst/>
            </a:prstGeom>
            <a:noFill/>
            <a:ln>
              <a:noFill/>
            </a:ln>
          </p:spPr>
          <p:txBody>
            <a:bodyPr anchorCtr="0" anchor="ctr" bIns="0" lIns="0" spcFirstLastPara="1" rIns="0" wrap="square" tIns="0">
              <a:noAutofit/>
            </a:bodyPr>
            <a:lstStyle/>
            <a:p>
              <a:pPr indent="0" lvl="0" marL="0" marR="0" rtl="0" algn="ctr">
                <a:lnSpc>
                  <a:spcPct val="188235"/>
                </a:lnSpc>
                <a:spcBef>
                  <a:spcPts val="0"/>
                </a:spcBef>
                <a:spcAft>
                  <a:spcPts val="0"/>
                </a:spcAft>
                <a:buNone/>
              </a:pPr>
              <a:r>
                <a:rPr b="1" i="0" lang="en-US" sz="1275" u="none" cap="none" strike="noStrike">
                  <a:solidFill>
                    <a:srgbClr val="FFFFFF"/>
                  </a:solidFill>
                  <a:latin typeface="Geist Mono"/>
                  <a:ea typeface="Geist Mono"/>
                  <a:cs typeface="Geist Mono"/>
                  <a:sym typeface="Geist Mono"/>
                </a:rPr>
                <a:t>2</a:t>
              </a:r>
              <a:endParaRPr/>
            </a:p>
          </p:txBody>
        </p:sp>
      </p:grpSp>
      <p:sp>
        <p:nvSpPr>
          <p:cNvPr id="324" name="Google Shape;324;h510714b4cc47d3b6_0_619"/>
          <p:cNvSpPr txBox="1"/>
          <p:nvPr/>
        </p:nvSpPr>
        <p:spPr>
          <a:xfrm>
            <a:off x="1162060" y="2476500"/>
            <a:ext cx="4000500" cy="2667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None/>
            </a:pPr>
            <a:r>
              <a:rPr b="1" i="0" lang="en-US" sz="1500" u="none" cap="none" strike="noStrike">
                <a:solidFill>
                  <a:srgbClr val="141A21"/>
                </a:solidFill>
                <a:latin typeface="IBM Plex Sans"/>
                <a:ea typeface="IBM Plex Sans"/>
                <a:cs typeface="IBM Plex Sans"/>
                <a:sym typeface="IBM Plex Sans"/>
              </a:rPr>
              <a:t>Normale Fehler sammeln</a:t>
            </a:r>
            <a:endParaRPr/>
          </a:p>
        </p:txBody>
      </p:sp>
      <p:sp>
        <p:nvSpPr>
          <p:cNvPr id="325" name="Google Shape;325;h510714b4cc47d3b6_0_619"/>
          <p:cNvSpPr txBox="1"/>
          <p:nvPr/>
        </p:nvSpPr>
        <p:spPr>
          <a:xfrm>
            <a:off x="1162060" y="2762250"/>
            <a:ext cx="4000500" cy="495300"/>
          </a:xfrm>
          <a:prstGeom prst="rect">
            <a:avLst/>
          </a:prstGeom>
          <a:noFill/>
          <a:ln>
            <a:noFill/>
          </a:ln>
        </p:spPr>
        <p:txBody>
          <a:bodyPr anchorCtr="0" anchor="t" bIns="0" lIns="0" spcFirstLastPara="1" rIns="0" wrap="square" tIns="0">
            <a:noAutofit/>
          </a:bodyPr>
          <a:lstStyle/>
          <a:p>
            <a:pPr indent="0" lvl="0" marL="0" marR="0" rtl="0" algn="l">
              <a:lnSpc>
                <a:spcPct val="141176"/>
              </a:lnSpc>
              <a:spcBef>
                <a:spcPts val="0"/>
              </a:spcBef>
              <a:spcAft>
                <a:spcPts val="0"/>
              </a:spcAft>
              <a:buNone/>
            </a:pPr>
            <a:r>
              <a:rPr b="0" i="0" lang="en-US" sz="1275" u="none" cap="none" strike="noStrike">
                <a:solidFill>
                  <a:srgbClr val="4E5A68"/>
                </a:solidFill>
                <a:latin typeface="IBM Plex Sans"/>
                <a:ea typeface="IBM Plex Sans"/>
                <a:cs typeface="IBM Plex Sans"/>
                <a:sym typeface="IBM Plex Sans"/>
              </a:rPr>
              <a:t>1.397 echte Vorhersagefehler aus Nov–Dez 2024, der Größe nach sortiert.</a:t>
            </a:r>
            <a:endParaRPr/>
          </a:p>
        </p:txBody>
      </p:sp>
      <p:grpSp>
        <p:nvGrpSpPr>
          <p:cNvPr id="326" name="Google Shape;326;h510714b4cc47d3b6_0_619"/>
          <p:cNvGrpSpPr/>
          <p:nvPr/>
        </p:nvGrpSpPr>
        <p:grpSpPr>
          <a:xfrm>
            <a:off x="647700" y="3371850"/>
            <a:ext cx="419100" cy="304800"/>
            <a:chOff x="647700" y="3371850"/>
            <a:chExt cx="419100" cy="304800"/>
          </a:xfrm>
        </p:grpSpPr>
        <p:sp>
          <p:nvSpPr>
            <p:cNvPr id="327" name="Google Shape;327;h510714b4cc47d3b6_0_619"/>
            <p:cNvSpPr/>
            <p:nvPr/>
          </p:nvSpPr>
          <p:spPr>
            <a:xfrm>
              <a:off x="704850" y="3371850"/>
              <a:ext cx="304800" cy="304800"/>
            </a:xfrm>
            <a:prstGeom prst="ellipse">
              <a:avLst/>
            </a:prstGeom>
            <a:solidFill>
              <a:srgbClr val="084878"/>
            </a:solidFill>
            <a:ln cap="flat" cmpd="sng" w="1905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328" name="Google Shape;328;h510714b4cc47d3b6_0_619"/>
            <p:cNvSpPr txBox="1"/>
            <p:nvPr/>
          </p:nvSpPr>
          <p:spPr>
            <a:xfrm>
              <a:off x="647700" y="3371850"/>
              <a:ext cx="419100" cy="304800"/>
            </a:xfrm>
            <a:prstGeom prst="rect">
              <a:avLst/>
            </a:prstGeom>
            <a:noFill/>
            <a:ln>
              <a:noFill/>
            </a:ln>
          </p:spPr>
          <p:txBody>
            <a:bodyPr anchorCtr="0" anchor="ctr" bIns="0" lIns="0" spcFirstLastPara="1" rIns="0" wrap="square" tIns="0">
              <a:noAutofit/>
            </a:bodyPr>
            <a:lstStyle/>
            <a:p>
              <a:pPr indent="0" lvl="0" marL="0" marR="0" rtl="0" algn="ctr">
                <a:lnSpc>
                  <a:spcPct val="188235"/>
                </a:lnSpc>
                <a:spcBef>
                  <a:spcPts val="0"/>
                </a:spcBef>
                <a:spcAft>
                  <a:spcPts val="0"/>
                </a:spcAft>
                <a:buNone/>
              </a:pPr>
              <a:r>
                <a:rPr b="1" i="0" lang="en-US" sz="1275" u="none" cap="none" strike="noStrike">
                  <a:solidFill>
                    <a:srgbClr val="FFFFFF"/>
                  </a:solidFill>
                  <a:latin typeface="Geist Mono"/>
                  <a:ea typeface="Geist Mono"/>
                  <a:cs typeface="Geist Mono"/>
                  <a:sym typeface="Geist Mono"/>
                </a:rPr>
                <a:t>3</a:t>
              </a:r>
              <a:endParaRPr/>
            </a:p>
          </p:txBody>
        </p:sp>
      </p:grpSp>
      <p:sp>
        <p:nvSpPr>
          <p:cNvPr id="329" name="Google Shape;329;h510714b4cc47d3b6_0_619"/>
          <p:cNvSpPr txBox="1"/>
          <p:nvPr/>
        </p:nvSpPr>
        <p:spPr>
          <a:xfrm>
            <a:off x="1162060" y="3390900"/>
            <a:ext cx="4000500" cy="2667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None/>
            </a:pPr>
            <a:r>
              <a:rPr b="1" i="0" lang="en-US" sz="1500" u="none" cap="none" strike="noStrike">
                <a:solidFill>
                  <a:srgbClr val="141A21"/>
                </a:solidFill>
                <a:latin typeface="IBM Plex Sans"/>
                <a:ea typeface="IBM Plex Sans"/>
                <a:cs typeface="IBM Plex Sans"/>
                <a:sym typeface="IBM Plex Sans"/>
              </a:rPr>
              <a:t>Grenze ziehen</a:t>
            </a:r>
            <a:endParaRPr/>
          </a:p>
        </p:txBody>
      </p:sp>
      <p:sp>
        <p:nvSpPr>
          <p:cNvPr id="330" name="Google Shape;330;h510714b4cc47d3b6_0_619"/>
          <p:cNvSpPr txBox="1"/>
          <p:nvPr/>
        </p:nvSpPr>
        <p:spPr>
          <a:xfrm>
            <a:off x="1162060" y="3676650"/>
            <a:ext cx="4000500" cy="495300"/>
          </a:xfrm>
          <a:prstGeom prst="rect">
            <a:avLst/>
          </a:prstGeom>
          <a:noFill/>
          <a:ln>
            <a:noFill/>
          </a:ln>
        </p:spPr>
        <p:txBody>
          <a:bodyPr anchorCtr="0" anchor="t" bIns="0" lIns="0" spcFirstLastPara="1" rIns="0" wrap="square" tIns="0">
            <a:noAutofit/>
          </a:bodyPr>
          <a:lstStyle/>
          <a:p>
            <a:pPr indent="0" lvl="0" marL="0" marR="0" rtl="0" algn="l">
              <a:lnSpc>
                <a:spcPct val="141176"/>
              </a:lnSpc>
              <a:spcBef>
                <a:spcPts val="0"/>
              </a:spcBef>
              <a:spcAft>
                <a:spcPts val="0"/>
              </a:spcAft>
              <a:buNone/>
            </a:pPr>
            <a:r>
              <a:rPr b="0" i="0" lang="en-US" sz="1275" u="none" cap="none" strike="noStrike">
                <a:solidFill>
                  <a:srgbClr val="4E5A68"/>
                </a:solidFill>
                <a:latin typeface="IBM Plex Sans"/>
                <a:ea typeface="IBM Plex Sans"/>
                <a:cs typeface="IBM Plex Sans"/>
                <a:sym typeface="IBM Plex Sans"/>
              </a:rPr>
              <a:t>99 von 100 Fehlern liegen darunter: 144,4 VLS-h, vor 2025 eingefroren.</a:t>
            </a:r>
            <a:endParaRPr/>
          </a:p>
        </p:txBody>
      </p:sp>
      <p:sp>
        <p:nvSpPr>
          <p:cNvPr id="331" name="Google Shape;331;h510714b4cc47d3b6_0_619"/>
          <p:cNvSpPr/>
          <p:nvPr/>
        </p:nvSpPr>
        <p:spPr>
          <a:xfrm>
            <a:off x="685806" y="4286250"/>
            <a:ext cx="4476900" cy="952500"/>
          </a:xfrm>
          <a:prstGeom prst="roundRect">
            <a:avLst>
              <a:gd fmla="val 10000" name="adj"/>
            </a:avLst>
          </a:prstGeom>
          <a:solidFill>
            <a:srgbClr val="E3F3F7"/>
          </a:solidFill>
          <a:ln cap="flat" cmpd="sng" w="9525">
            <a:solidFill>
              <a:srgbClr val="B2DEE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332" name="Google Shape;332;h510714b4cc47d3b6_0_619"/>
          <p:cNvSpPr txBox="1"/>
          <p:nvPr/>
        </p:nvSpPr>
        <p:spPr>
          <a:xfrm>
            <a:off x="914408" y="4495800"/>
            <a:ext cx="4019700" cy="552600"/>
          </a:xfrm>
          <a:prstGeom prst="rect">
            <a:avLst/>
          </a:prstGeom>
          <a:noFill/>
          <a:ln>
            <a:noFill/>
          </a:ln>
        </p:spPr>
        <p:txBody>
          <a:bodyPr anchorCtr="0" anchor="t" bIns="0" lIns="0" spcFirstLastPara="1" rIns="0" wrap="square" tIns="0">
            <a:noAutofit/>
          </a:bodyPr>
          <a:lstStyle/>
          <a:p>
            <a:pPr indent="0" lvl="0" marL="0" marR="0" rtl="0" algn="l">
              <a:lnSpc>
                <a:spcPct val="144941"/>
              </a:lnSpc>
              <a:spcBef>
                <a:spcPts val="0"/>
              </a:spcBef>
              <a:spcAft>
                <a:spcPts val="0"/>
              </a:spcAft>
              <a:buNone/>
            </a:pPr>
            <a:r>
              <a:rPr b="0" i="0" lang="en-US" sz="1275" u="none" cap="none" strike="noStrike">
                <a:solidFill>
                  <a:srgbClr val="141A21"/>
                </a:solidFill>
                <a:latin typeface="IBM Plex Sans"/>
                <a:ea typeface="IBM Plex Sans"/>
                <a:cs typeface="IBM Plex Sans"/>
                <a:sym typeface="IBM Plex Sans"/>
              </a:rPr>
              <a:t>99 % ist der Startwert für den Pilot. Wie viele Hinweise das Team schafft, zeigt Patrick im Dashboard.</a:t>
            </a:r>
            <a:endParaRPr/>
          </a:p>
        </p:txBody>
      </p:sp>
      <p:sp>
        <p:nvSpPr>
          <p:cNvPr id="333" name="Google Shape;333;h510714b4cc47d3b6_0_619"/>
          <p:cNvSpPr/>
          <p:nvPr/>
        </p:nvSpPr>
        <p:spPr>
          <a:xfrm>
            <a:off x="5448345" y="1524000"/>
            <a:ext cx="6057900" cy="3500100"/>
          </a:xfrm>
          <a:prstGeom prst="roundRect">
            <a:avLst>
              <a:gd fmla="val 2721" name="adj"/>
            </a:avLst>
          </a:prstGeom>
          <a:solidFill>
            <a:srgbClr val="FFFFFF"/>
          </a:solidFill>
          <a:ln cap="flat" cmpd="sng" w="9525">
            <a:solidFill>
              <a:srgbClr val="D2DA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pic>
        <p:nvPicPr>
          <p:cNvPr descr="s07_svg12.png" id="334" name="Google Shape;334;h510714b4cc47d3b6_0_619"/>
          <p:cNvPicPr preferRelativeResize="0"/>
          <p:nvPr/>
        </p:nvPicPr>
        <p:blipFill rotWithShape="1">
          <a:blip r:embed="rId3">
            <a:alphaModFix/>
          </a:blip>
          <a:srcRect b="0" l="0" r="0" t="0"/>
          <a:stretch/>
        </p:blipFill>
        <p:spPr>
          <a:xfrm>
            <a:off x="5562646" y="1638300"/>
            <a:ext cx="5829301" cy="3271547"/>
          </a:xfrm>
          <a:prstGeom prst="rect">
            <a:avLst/>
          </a:prstGeom>
          <a:noFill/>
          <a:ln>
            <a:noFill/>
          </a:ln>
        </p:spPr>
      </p:pic>
      <p:sp>
        <p:nvSpPr>
          <p:cNvPr id="335" name="Google Shape;335;h510714b4cc47d3b6_0_619"/>
          <p:cNvSpPr/>
          <p:nvPr/>
        </p:nvSpPr>
        <p:spPr>
          <a:xfrm>
            <a:off x="685806" y="5391150"/>
            <a:ext cx="10820400" cy="571500"/>
          </a:xfrm>
          <a:prstGeom prst="roundRect">
            <a:avLst>
              <a:gd fmla="val 16666" name="adj"/>
            </a:avLst>
          </a:prstGeom>
          <a:solidFill>
            <a:srgbClr val="08487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336" name="Google Shape;336;h510714b4cc47d3b6_0_619"/>
          <p:cNvSpPr/>
          <p:nvPr/>
        </p:nvSpPr>
        <p:spPr>
          <a:xfrm>
            <a:off x="876307" y="5524500"/>
            <a:ext cx="755100" cy="312300"/>
          </a:xfrm>
          <a:prstGeom prst="roundRect">
            <a:avLst>
              <a:gd fmla="val 50000" name="adj"/>
            </a:avLst>
          </a:prstGeom>
          <a:solidFill>
            <a:srgbClr val="215A86"/>
          </a:solidFill>
          <a:ln cap="flat" cmpd="sng" w="9525">
            <a:solidFill>
              <a:srgbClr val="43749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337" name="Google Shape;337;h510714b4cc47d3b6_0_619"/>
          <p:cNvSpPr txBox="1"/>
          <p:nvPr/>
        </p:nvSpPr>
        <p:spPr>
          <a:xfrm>
            <a:off x="838550" y="5524500"/>
            <a:ext cx="830700" cy="3123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b="1" i="0" lang="en-US" sz="1200" u="none" cap="none" strike="noStrike">
                <a:solidFill>
                  <a:srgbClr val="FFFFFF"/>
                </a:solidFill>
                <a:latin typeface="IBM Plex Sans"/>
                <a:ea typeface="IBM Plex Sans"/>
                <a:cs typeface="IBM Plex Sans"/>
                <a:sym typeface="IBM Plex Sans"/>
              </a:rPr>
              <a:t>Faktor</a:t>
            </a:r>
            <a:endParaRPr/>
          </a:p>
        </p:txBody>
      </p:sp>
      <p:sp>
        <p:nvSpPr>
          <p:cNvPr id="338" name="Google Shape;338;h510714b4cc47d3b6_0_619"/>
          <p:cNvSpPr txBox="1"/>
          <p:nvPr/>
        </p:nvSpPr>
        <p:spPr>
          <a:xfrm>
            <a:off x="1821957" y="5391150"/>
            <a:ext cx="9429900" cy="571500"/>
          </a:xfrm>
          <a:prstGeom prst="rect">
            <a:avLst/>
          </a:prstGeom>
          <a:noFill/>
          <a:ln>
            <a:noFill/>
          </a:ln>
        </p:spPr>
        <p:txBody>
          <a:bodyPr anchorCtr="0" anchor="ctr" bIns="0" lIns="0" spcFirstLastPara="1" rIns="0" wrap="square" tIns="0">
            <a:noAutofit/>
          </a:bodyPr>
          <a:lstStyle/>
          <a:p>
            <a:pPr indent="0" lvl="0" marL="0" marR="0" rtl="0" algn="l">
              <a:lnSpc>
                <a:spcPct val="136842"/>
              </a:lnSpc>
              <a:spcBef>
                <a:spcPts val="0"/>
              </a:spcBef>
              <a:spcAft>
                <a:spcPts val="0"/>
              </a:spcAft>
              <a:buNone/>
            </a:pPr>
            <a:r>
              <a:rPr b="0" i="0" lang="en-US" sz="1425" u="none" cap="none" strike="noStrike">
                <a:solidFill>
                  <a:srgbClr val="FFFFFF"/>
                </a:solidFill>
                <a:latin typeface="Geist Mono"/>
                <a:ea typeface="Geist Mono"/>
                <a:cs typeface="Geist Mono"/>
                <a:sym typeface="Geist Mono"/>
              </a:rPr>
              <a:t>F = Abweichung ÷ 144,4 VLS-h  ·  ab F ≥ 1 Prüfhinweis  ·  ZL-00147: F = 2,3</a:t>
            </a:r>
            <a:endParaRPr/>
          </a:p>
        </p:txBody>
      </p:sp>
      <p:cxnSp>
        <p:nvCxnSpPr>
          <p:cNvPr id="339" name="Google Shape;339;h510714b4cc47d3b6_0_619"/>
          <p:cNvCxnSpPr/>
          <p:nvPr/>
        </p:nvCxnSpPr>
        <p:spPr>
          <a:xfrm>
            <a:off x="0" y="6153150"/>
            <a:ext cx="12192000" cy="0"/>
          </a:xfrm>
          <a:prstGeom prst="straightConnector1">
            <a:avLst/>
          </a:prstGeom>
          <a:noFill/>
          <a:ln cap="flat" cmpd="sng" w="9525">
            <a:solidFill>
              <a:srgbClr val="E4E9EF"/>
            </a:solidFill>
            <a:prstDash val="solid"/>
            <a:round/>
            <a:headEnd len="sm" w="sm" type="none"/>
            <a:tailEnd len="sm" w="sm" type="none"/>
          </a:ln>
          <a:effectLst>
            <a:outerShdw blurRad="40000" rotWithShape="0" dir="5400000" dist="20000">
              <a:srgbClr val="000000">
                <a:alpha val="38040"/>
              </a:srgbClr>
            </a:outerShdw>
          </a:effectLst>
        </p:spPr>
      </p:cxnSp>
      <p:pic>
        <p:nvPicPr>
          <p:cNvPr descr="image.png" id="340" name="Google Shape;340;h510714b4cc47d3b6_0_619"/>
          <p:cNvPicPr preferRelativeResize="0"/>
          <p:nvPr/>
        </p:nvPicPr>
        <p:blipFill rotWithShape="1">
          <a:blip r:embed="rId4">
            <a:alphaModFix/>
          </a:blip>
          <a:srcRect b="0" l="0" r="0" t="0"/>
          <a:stretch/>
        </p:blipFill>
        <p:spPr>
          <a:xfrm>
            <a:off x="685806" y="6362700"/>
            <a:ext cx="715863" cy="247650"/>
          </a:xfrm>
          <a:prstGeom prst="rect">
            <a:avLst/>
          </a:prstGeom>
          <a:noFill/>
          <a:ln>
            <a:noFill/>
          </a:ln>
        </p:spPr>
      </p:pic>
      <p:sp>
        <p:nvSpPr>
          <p:cNvPr id="341" name="Google Shape;341;h510714b4cc47d3b6_0_619"/>
          <p:cNvSpPr txBox="1"/>
          <p:nvPr/>
        </p:nvSpPr>
        <p:spPr>
          <a:xfrm>
            <a:off x="1562113" y="6391275"/>
            <a:ext cx="2891700" cy="1905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None/>
            </a:pPr>
            <a:r>
              <a:rPr b="0" i="0" lang="en-US" sz="1200" u="none" cap="none" strike="noStrike">
                <a:solidFill>
                  <a:srgbClr val="4E5A68"/>
                </a:solidFill>
                <a:latin typeface="IBM Plex Sans"/>
                <a:ea typeface="IBM Plex Sans"/>
                <a:cs typeface="IBM Plex Sans"/>
                <a:sym typeface="IBM Plex Sans"/>
              </a:rPr>
              <a:t>Verbrauchsprognose &amp; Frühwarnung</a:t>
            </a:r>
            <a:endParaRPr/>
          </a:p>
        </p:txBody>
      </p:sp>
      <p:sp>
        <p:nvSpPr>
          <p:cNvPr id="342" name="Google Shape;342;h510714b4cc47d3b6_0_619"/>
          <p:cNvSpPr txBox="1"/>
          <p:nvPr/>
        </p:nvSpPr>
        <p:spPr>
          <a:xfrm>
            <a:off x="10835729" y="6391275"/>
            <a:ext cx="670500" cy="190500"/>
          </a:xfrm>
          <a:prstGeom prst="rect">
            <a:avLst/>
          </a:prstGeom>
          <a:noFill/>
          <a:ln>
            <a:noFill/>
          </a:ln>
        </p:spPr>
        <p:txBody>
          <a:bodyPr anchorCtr="0" anchor="t" bIns="0" lIns="0" spcFirstLastPara="1" rIns="0" wrap="square" tIns="0">
            <a:noAutofit/>
          </a:bodyPr>
          <a:lstStyle/>
          <a:p>
            <a:pPr indent="0" lvl="0" marL="0" marR="0" rtl="0" algn="r">
              <a:lnSpc>
                <a:spcPct val="125000"/>
              </a:lnSpc>
              <a:spcBef>
                <a:spcPts val="0"/>
              </a:spcBef>
              <a:spcAft>
                <a:spcPts val="0"/>
              </a:spcAft>
              <a:buNone/>
            </a:pPr>
            <a:r>
              <a:rPr b="0" i="0" lang="en-US" sz="1200" u="none" cap="none" strike="noStrike">
                <a:solidFill>
                  <a:srgbClr val="4E5A68"/>
                </a:solidFill>
                <a:latin typeface="IBM Plex Sans"/>
                <a:ea typeface="IBM Plex Sans"/>
                <a:cs typeface="IBM Plex Sans"/>
                <a:sym typeface="IBM Plex Sans"/>
              </a:rPr>
              <a:t>7 / 9</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7" name="Shape 347"/>
        <p:cNvGrpSpPr/>
        <p:nvPr/>
      </p:nvGrpSpPr>
      <p:grpSpPr>
        <a:xfrm>
          <a:off x="0" y="0"/>
          <a:ext cx="0" cy="0"/>
          <a:chOff x="0" y="0"/>
          <a:chExt cx="0" cy="0"/>
        </a:xfrm>
      </p:grpSpPr>
      <p:sp>
        <p:nvSpPr>
          <p:cNvPr id="348" name="Google Shape;348;h510714b4cc47d3b6_0_727"/>
          <p:cNvSpPr txBox="1"/>
          <p:nvPr/>
        </p:nvSpPr>
        <p:spPr>
          <a:xfrm>
            <a:off x="685806" y="457200"/>
            <a:ext cx="8591400" cy="1905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None/>
            </a:pPr>
            <a:r>
              <a:rPr b="1" i="0" lang="en-US" sz="1200" u="none" cap="none" strike="noStrike">
                <a:solidFill>
                  <a:srgbClr val="00718E"/>
                </a:solidFill>
                <a:latin typeface="IBM Plex Sans"/>
                <a:ea typeface="IBM Plex Sans"/>
                <a:cs typeface="IBM Plex Sans"/>
                <a:sym typeface="IBM Plex Sans"/>
              </a:rPr>
              <a:t>KAPITEL 4 · PRÜFFALL · KIKO</a:t>
            </a:r>
            <a:endParaRPr/>
          </a:p>
        </p:txBody>
      </p:sp>
      <p:sp>
        <p:nvSpPr>
          <p:cNvPr id="349" name="Google Shape;349;h510714b4cc47d3b6_0_727"/>
          <p:cNvSpPr txBox="1"/>
          <p:nvPr/>
        </p:nvSpPr>
        <p:spPr>
          <a:xfrm>
            <a:off x="685806" y="762000"/>
            <a:ext cx="10820400" cy="438300"/>
          </a:xfrm>
          <a:prstGeom prst="rect">
            <a:avLst/>
          </a:prstGeom>
          <a:noFill/>
          <a:ln>
            <a:noFill/>
          </a:ln>
        </p:spPr>
        <p:txBody>
          <a:bodyPr anchorCtr="0" anchor="t" bIns="0" lIns="0" spcFirstLastPara="1" rIns="0" wrap="square" tIns="0">
            <a:noAutofit/>
          </a:bodyPr>
          <a:lstStyle/>
          <a:p>
            <a:pPr indent="0" lvl="0" marL="0" marR="0" rtl="0" algn="l">
              <a:lnSpc>
                <a:spcPct val="112500"/>
              </a:lnSpc>
              <a:spcBef>
                <a:spcPts val="0"/>
              </a:spcBef>
              <a:spcAft>
                <a:spcPts val="0"/>
              </a:spcAft>
              <a:buNone/>
            </a:pPr>
            <a:r>
              <a:rPr b="1" i="0" lang="en-US" sz="3000" u="none" cap="none" strike="noStrike">
                <a:solidFill>
                  <a:srgbClr val="141A21"/>
                </a:solidFill>
                <a:latin typeface="IBM Plex Sans"/>
                <a:ea typeface="IBM Plex Sans"/>
                <a:cs typeface="IBM Plex Sans"/>
                <a:sym typeface="IBM Plex Sans"/>
              </a:rPr>
              <a:t>ZL-00147: im August 2,3-mal so groß wie erlaubt</a:t>
            </a:r>
            <a:endParaRPr/>
          </a:p>
        </p:txBody>
      </p:sp>
      <p:sp>
        <p:nvSpPr>
          <p:cNvPr id="350" name="Google Shape;350;h510714b4cc47d3b6_0_727"/>
          <p:cNvSpPr/>
          <p:nvPr/>
        </p:nvSpPr>
        <p:spPr>
          <a:xfrm>
            <a:off x="685806" y="1524000"/>
            <a:ext cx="5562600" cy="3926400"/>
          </a:xfrm>
          <a:prstGeom prst="roundRect">
            <a:avLst>
              <a:gd fmla="val 2425" name="adj"/>
            </a:avLst>
          </a:prstGeom>
          <a:solidFill>
            <a:srgbClr val="FFFFFF"/>
          </a:solidFill>
          <a:ln cap="flat" cmpd="sng" w="9525">
            <a:solidFill>
              <a:srgbClr val="D2DA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pic>
        <p:nvPicPr>
          <p:cNvPr descr="s10_svg08.png" id="351" name="Google Shape;351;h510714b4cc47d3b6_0_727"/>
          <p:cNvPicPr preferRelativeResize="0"/>
          <p:nvPr/>
        </p:nvPicPr>
        <p:blipFill rotWithShape="1">
          <a:blip r:embed="rId3">
            <a:alphaModFix/>
          </a:blip>
          <a:srcRect b="0" l="0" r="0" t="0"/>
          <a:stretch/>
        </p:blipFill>
        <p:spPr>
          <a:xfrm>
            <a:off x="800107" y="1638300"/>
            <a:ext cx="5333999" cy="3697746"/>
          </a:xfrm>
          <a:prstGeom prst="rect">
            <a:avLst/>
          </a:prstGeom>
          <a:noFill/>
          <a:ln>
            <a:noFill/>
          </a:ln>
        </p:spPr>
      </p:pic>
      <p:sp>
        <p:nvSpPr>
          <p:cNvPr id="352" name="Google Shape;352;h510714b4cc47d3b6_0_727"/>
          <p:cNvSpPr/>
          <p:nvPr/>
        </p:nvSpPr>
        <p:spPr>
          <a:xfrm>
            <a:off x="6553254" y="1524000"/>
            <a:ext cx="4953000" cy="1428900"/>
          </a:xfrm>
          <a:prstGeom prst="roundRect">
            <a:avLst>
              <a:gd fmla="val 6666" name="adj"/>
            </a:avLst>
          </a:prstGeom>
          <a:solidFill>
            <a:srgbClr val="FFFFFF"/>
          </a:solidFill>
          <a:ln cap="flat" cmpd="sng" w="9525">
            <a:solidFill>
              <a:srgbClr val="D2DA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353" name="Google Shape;353;h510714b4cc47d3b6_0_727"/>
          <p:cNvSpPr txBox="1"/>
          <p:nvPr/>
        </p:nvSpPr>
        <p:spPr>
          <a:xfrm>
            <a:off x="6800906" y="1752600"/>
            <a:ext cx="4457700" cy="2286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None/>
            </a:pPr>
            <a:r>
              <a:rPr b="0" i="0" lang="en-US" sz="1350" u="none" cap="none" strike="noStrike">
                <a:solidFill>
                  <a:srgbClr val="4E5A68"/>
                </a:solidFill>
                <a:latin typeface="IBM Plex Sans"/>
                <a:ea typeface="IBM Plex Sans"/>
                <a:cs typeface="IBM Plex Sans"/>
                <a:sym typeface="IBM Plex Sans"/>
              </a:rPr>
              <a:t>Faktor im August 2025</a:t>
            </a:r>
            <a:endParaRPr/>
          </a:p>
        </p:txBody>
      </p:sp>
      <p:sp>
        <p:nvSpPr>
          <p:cNvPr id="354" name="Google Shape;354;h510714b4cc47d3b6_0_727"/>
          <p:cNvSpPr txBox="1"/>
          <p:nvPr/>
        </p:nvSpPr>
        <p:spPr>
          <a:xfrm>
            <a:off x="6800906" y="2038350"/>
            <a:ext cx="1341000" cy="4953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b="1" i="0" lang="en-US" sz="3000" u="none" cap="none" strike="noStrike">
                <a:solidFill>
                  <a:srgbClr val="B3261E"/>
                </a:solidFill>
                <a:latin typeface="Geist Mono"/>
                <a:ea typeface="Geist Mono"/>
                <a:cs typeface="Geist Mono"/>
                <a:sym typeface="Geist Mono"/>
              </a:rPr>
              <a:t>+2,30</a:t>
            </a:r>
            <a:endParaRPr/>
          </a:p>
        </p:txBody>
      </p:sp>
      <p:sp>
        <p:nvSpPr>
          <p:cNvPr id="355" name="Google Shape;355;h510714b4cc47d3b6_0_727"/>
          <p:cNvSpPr txBox="1"/>
          <p:nvPr/>
        </p:nvSpPr>
        <p:spPr>
          <a:xfrm>
            <a:off x="6800906" y="2590800"/>
            <a:ext cx="4457700" cy="209700"/>
          </a:xfrm>
          <a:prstGeom prst="rect">
            <a:avLst/>
          </a:prstGeom>
          <a:noFill/>
          <a:ln>
            <a:noFill/>
          </a:ln>
        </p:spPr>
        <p:txBody>
          <a:bodyPr anchorCtr="0" anchor="t" bIns="0" lIns="0" spcFirstLastPara="1" rIns="0" wrap="square" tIns="0">
            <a:noAutofit/>
          </a:bodyPr>
          <a:lstStyle/>
          <a:p>
            <a:pPr indent="0" lvl="0" marL="0" marR="0" rtl="0" algn="l">
              <a:lnSpc>
                <a:spcPct val="137500"/>
              </a:lnSpc>
              <a:spcBef>
                <a:spcPts val="0"/>
              </a:spcBef>
              <a:spcAft>
                <a:spcPts val="0"/>
              </a:spcAft>
              <a:buNone/>
            </a:pPr>
            <a:r>
              <a:rPr b="0" i="0" lang="en-US" sz="1200" u="none" cap="none" strike="noStrike">
                <a:solidFill>
                  <a:srgbClr val="4E5A68"/>
                </a:solidFill>
                <a:latin typeface="IBM Plex Sans"/>
                <a:ea typeface="IBM Plex Sans"/>
                <a:cs typeface="IBM Plex Sans"/>
                <a:sym typeface="IBM Plex Sans"/>
              </a:rPr>
              <a:t>Residuum 331,8 VLS-h ÷ Schwelle 144,4 VLS-h</a:t>
            </a:r>
            <a:endParaRPr/>
          </a:p>
        </p:txBody>
      </p:sp>
      <p:sp>
        <p:nvSpPr>
          <p:cNvPr id="356" name="Google Shape;356;h510714b4cc47d3b6_0_727"/>
          <p:cNvSpPr/>
          <p:nvPr/>
        </p:nvSpPr>
        <p:spPr>
          <a:xfrm>
            <a:off x="6553254" y="3143250"/>
            <a:ext cx="4953000" cy="2857500"/>
          </a:xfrm>
          <a:prstGeom prst="roundRect">
            <a:avLst>
              <a:gd fmla="val 3333" name="adj"/>
            </a:avLst>
          </a:prstGeom>
          <a:solidFill>
            <a:srgbClr val="FFFFFF"/>
          </a:solidFill>
          <a:ln cap="flat" cmpd="sng" w="9525">
            <a:solidFill>
              <a:srgbClr val="D2DA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357" name="Google Shape;357;h510714b4cc47d3b6_0_727"/>
          <p:cNvSpPr txBox="1"/>
          <p:nvPr/>
        </p:nvSpPr>
        <p:spPr>
          <a:xfrm>
            <a:off x="6781856" y="3352800"/>
            <a:ext cx="4924500" cy="1980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b="1" i="0" lang="en-US" sz="1200" u="none" cap="none" strike="noStrike">
                <a:solidFill>
                  <a:srgbClr val="00718E"/>
                </a:solidFill>
                <a:latin typeface="IBM Plex Sans"/>
                <a:ea typeface="IBM Plex Sans"/>
                <a:cs typeface="IBM Plex Sans"/>
                <a:sym typeface="IBM Plex Sans"/>
              </a:rPr>
              <a:t>BEWERTUNG IM COCKPIT</a:t>
            </a:r>
            <a:endParaRPr/>
          </a:p>
        </p:txBody>
      </p:sp>
      <p:sp>
        <p:nvSpPr>
          <p:cNvPr id="358" name="Google Shape;358;h510714b4cc47d3b6_0_727"/>
          <p:cNvSpPr txBox="1"/>
          <p:nvPr/>
        </p:nvSpPr>
        <p:spPr>
          <a:xfrm>
            <a:off x="6781856" y="3733800"/>
            <a:ext cx="2381400" cy="381000"/>
          </a:xfrm>
          <a:prstGeom prst="rect">
            <a:avLst/>
          </a:prstGeom>
          <a:noFill/>
          <a:ln>
            <a:noFill/>
          </a:ln>
        </p:spPr>
        <p:txBody>
          <a:bodyPr anchorCtr="0" anchor="ctr" bIns="0" lIns="0" spcFirstLastPara="1" rIns="0" wrap="square" tIns="0">
            <a:noAutofit/>
          </a:bodyPr>
          <a:lstStyle/>
          <a:p>
            <a:pPr indent="0" lvl="0" marL="0" marR="0" rtl="0" algn="l">
              <a:lnSpc>
                <a:spcPct val="136842"/>
              </a:lnSpc>
              <a:spcBef>
                <a:spcPts val="0"/>
              </a:spcBef>
              <a:spcAft>
                <a:spcPts val="0"/>
              </a:spcAft>
              <a:buNone/>
            </a:pPr>
            <a:r>
              <a:rPr b="0" i="0" lang="en-US" sz="1425" u="none" cap="none" strike="noStrike">
                <a:solidFill>
                  <a:srgbClr val="141A21"/>
                </a:solidFill>
                <a:latin typeface="IBM Plex Sans"/>
                <a:ea typeface="IBM Plex Sans"/>
                <a:cs typeface="IBM Plex Sans"/>
                <a:sym typeface="IBM Plex Sans"/>
              </a:rPr>
              <a:t>Messwert gültig?</a:t>
            </a:r>
            <a:endParaRPr/>
          </a:p>
        </p:txBody>
      </p:sp>
      <p:sp>
        <p:nvSpPr>
          <p:cNvPr id="359" name="Google Shape;359;h510714b4cc47d3b6_0_727"/>
          <p:cNvSpPr/>
          <p:nvPr/>
        </p:nvSpPr>
        <p:spPr>
          <a:xfrm>
            <a:off x="9429827" y="3752850"/>
            <a:ext cx="458100" cy="312300"/>
          </a:xfrm>
          <a:prstGeom prst="roundRect">
            <a:avLst>
              <a:gd fmla="val 50000" name="adj"/>
            </a:avLst>
          </a:prstGeom>
          <a:solidFill>
            <a:srgbClr val="E3F3F7"/>
          </a:solidFill>
          <a:ln cap="flat" cmpd="sng" w="9525">
            <a:solidFill>
              <a:srgbClr val="B2DEE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360" name="Google Shape;360;h510714b4cc47d3b6_0_727"/>
          <p:cNvSpPr txBox="1"/>
          <p:nvPr/>
        </p:nvSpPr>
        <p:spPr>
          <a:xfrm>
            <a:off x="9406929" y="3752850"/>
            <a:ext cx="503700" cy="3123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b="1" i="0" lang="en-US" sz="1200" u="none" cap="none" strike="noStrike">
                <a:solidFill>
                  <a:srgbClr val="005E77"/>
                </a:solidFill>
                <a:latin typeface="IBM Plex Sans"/>
                <a:ea typeface="IBM Plex Sans"/>
                <a:cs typeface="IBM Plex Sans"/>
                <a:sym typeface="IBM Plex Sans"/>
              </a:rPr>
              <a:t>Ja</a:t>
            </a:r>
            <a:endParaRPr/>
          </a:p>
        </p:txBody>
      </p:sp>
      <p:sp>
        <p:nvSpPr>
          <p:cNvPr id="361" name="Google Shape;361;h510714b4cc47d3b6_0_727"/>
          <p:cNvSpPr/>
          <p:nvPr/>
        </p:nvSpPr>
        <p:spPr>
          <a:xfrm>
            <a:off x="9983044" y="3752850"/>
            <a:ext cx="616500" cy="312300"/>
          </a:xfrm>
          <a:prstGeom prst="roundRect">
            <a:avLst>
              <a:gd fmla="val 50000" name="adj"/>
            </a:avLst>
          </a:prstGeom>
          <a:solidFill>
            <a:srgbClr val="FBE9E7"/>
          </a:solidFill>
          <a:ln cap="flat" cmpd="sng" w="9525">
            <a:solidFill>
              <a:srgbClr val="F3C6C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362" name="Google Shape;362;h510714b4cc47d3b6_0_727"/>
          <p:cNvSpPr txBox="1"/>
          <p:nvPr/>
        </p:nvSpPr>
        <p:spPr>
          <a:xfrm>
            <a:off x="9952221" y="3752850"/>
            <a:ext cx="678000" cy="3123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b="1" i="0" lang="en-US" sz="1200" u="none" cap="none" strike="noStrike">
                <a:solidFill>
                  <a:srgbClr val="951C15"/>
                </a:solidFill>
                <a:latin typeface="IBM Plex Sans"/>
                <a:ea typeface="IBM Plex Sans"/>
                <a:cs typeface="IBM Plex Sans"/>
                <a:sym typeface="IBM Plex Sans"/>
              </a:rPr>
              <a:t>Nein</a:t>
            </a:r>
            <a:endParaRPr/>
          </a:p>
        </p:txBody>
      </p:sp>
      <p:sp>
        <p:nvSpPr>
          <p:cNvPr id="363" name="Google Shape;363;h510714b4cc47d3b6_0_727"/>
          <p:cNvSpPr txBox="1"/>
          <p:nvPr/>
        </p:nvSpPr>
        <p:spPr>
          <a:xfrm>
            <a:off x="6781856" y="4305300"/>
            <a:ext cx="2381400" cy="381000"/>
          </a:xfrm>
          <a:prstGeom prst="rect">
            <a:avLst/>
          </a:prstGeom>
          <a:noFill/>
          <a:ln>
            <a:noFill/>
          </a:ln>
        </p:spPr>
        <p:txBody>
          <a:bodyPr anchorCtr="0" anchor="ctr" bIns="0" lIns="0" spcFirstLastPara="1" rIns="0" wrap="square" tIns="0">
            <a:noAutofit/>
          </a:bodyPr>
          <a:lstStyle/>
          <a:p>
            <a:pPr indent="0" lvl="0" marL="0" marR="0" rtl="0" algn="l">
              <a:lnSpc>
                <a:spcPct val="136842"/>
              </a:lnSpc>
              <a:spcBef>
                <a:spcPts val="0"/>
              </a:spcBef>
              <a:spcAft>
                <a:spcPts val="0"/>
              </a:spcAft>
              <a:buNone/>
            </a:pPr>
            <a:r>
              <a:rPr b="0" i="0" lang="en-US" sz="1425" u="none" cap="none" strike="noStrike">
                <a:solidFill>
                  <a:srgbClr val="141A21"/>
                </a:solidFill>
                <a:latin typeface="IBM Plex Sans"/>
                <a:ea typeface="IBM Plex Sans"/>
                <a:cs typeface="IBM Plex Sans"/>
                <a:sym typeface="IBM Plex Sans"/>
              </a:rPr>
              <a:t>Abweichung erklärt?</a:t>
            </a:r>
            <a:endParaRPr/>
          </a:p>
        </p:txBody>
      </p:sp>
      <p:sp>
        <p:nvSpPr>
          <p:cNvPr id="364" name="Google Shape;364;h510714b4cc47d3b6_0_727"/>
          <p:cNvSpPr/>
          <p:nvPr/>
        </p:nvSpPr>
        <p:spPr>
          <a:xfrm>
            <a:off x="9429827" y="4324350"/>
            <a:ext cx="458100" cy="312300"/>
          </a:xfrm>
          <a:prstGeom prst="roundRect">
            <a:avLst>
              <a:gd fmla="val 50000" name="adj"/>
            </a:avLst>
          </a:prstGeom>
          <a:solidFill>
            <a:srgbClr val="E3F3F7"/>
          </a:solidFill>
          <a:ln cap="flat" cmpd="sng" w="9525">
            <a:solidFill>
              <a:srgbClr val="B2DEE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365" name="Google Shape;365;h510714b4cc47d3b6_0_727"/>
          <p:cNvSpPr txBox="1"/>
          <p:nvPr/>
        </p:nvSpPr>
        <p:spPr>
          <a:xfrm>
            <a:off x="9406929" y="4324350"/>
            <a:ext cx="503700" cy="3123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b="1" i="0" lang="en-US" sz="1200" u="none" cap="none" strike="noStrike">
                <a:solidFill>
                  <a:srgbClr val="005E77"/>
                </a:solidFill>
                <a:latin typeface="IBM Plex Sans"/>
                <a:ea typeface="IBM Plex Sans"/>
                <a:cs typeface="IBM Plex Sans"/>
                <a:sym typeface="IBM Plex Sans"/>
              </a:rPr>
              <a:t>Ja</a:t>
            </a:r>
            <a:endParaRPr/>
          </a:p>
        </p:txBody>
      </p:sp>
      <p:sp>
        <p:nvSpPr>
          <p:cNvPr id="366" name="Google Shape;366;h510714b4cc47d3b6_0_727"/>
          <p:cNvSpPr/>
          <p:nvPr/>
        </p:nvSpPr>
        <p:spPr>
          <a:xfrm>
            <a:off x="9983044" y="4324350"/>
            <a:ext cx="616500" cy="312300"/>
          </a:xfrm>
          <a:prstGeom prst="roundRect">
            <a:avLst>
              <a:gd fmla="val 50000" name="adj"/>
            </a:avLst>
          </a:prstGeom>
          <a:solidFill>
            <a:srgbClr val="FBE9E7"/>
          </a:solidFill>
          <a:ln cap="flat" cmpd="sng" w="9525">
            <a:solidFill>
              <a:srgbClr val="F3C6C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367" name="Google Shape;367;h510714b4cc47d3b6_0_727"/>
          <p:cNvSpPr txBox="1"/>
          <p:nvPr/>
        </p:nvSpPr>
        <p:spPr>
          <a:xfrm>
            <a:off x="9952221" y="4324350"/>
            <a:ext cx="678000" cy="3123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b="1" i="0" lang="en-US" sz="1200" u="none" cap="none" strike="noStrike">
                <a:solidFill>
                  <a:srgbClr val="951C15"/>
                </a:solidFill>
                <a:latin typeface="IBM Plex Sans"/>
                <a:ea typeface="IBM Plex Sans"/>
                <a:cs typeface="IBM Plex Sans"/>
                <a:sym typeface="IBM Plex Sans"/>
              </a:rPr>
              <a:t>Nein</a:t>
            </a:r>
            <a:endParaRPr/>
          </a:p>
        </p:txBody>
      </p:sp>
      <p:sp>
        <p:nvSpPr>
          <p:cNvPr id="368" name="Google Shape;368;h510714b4cc47d3b6_0_727"/>
          <p:cNvSpPr txBox="1"/>
          <p:nvPr/>
        </p:nvSpPr>
        <p:spPr>
          <a:xfrm>
            <a:off x="6781856" y="4876800"/>
            <a:ext cx="2381400" cy="381000"/>
          </a:xfrm>
          <a:prstGeom prst="rect">
            <a:avLst/>
          </a:prstGeom>
          <a:noFill/>
          <a:ln>
            <a:noFill/>
          </a:ln>
        </p:spPr>
        <p:txBody>
          <a:bodyPr anchorCtr="0" anchor="ctr" bIns="0" lIns="0" spcFirstLastPara="1" rIns="0" wrap="square" tIns="0">
            <a:noAutofit/>
          </a:bodyPr>
          <a:lstStyle/>
          <a:p>
            <a:pPr indent="0" lvl="0" marL="0" marR="0" rtl="0" algn="l">
              <a:lnSpc>
                <a:spcPct val="136842"/>
              </a:lnSpc>
              <a:spcBef>
                <a:spcPts val="0"/>
              </a:spcBef>
              <a:spcAft>
                <a:spcPts val="0"/>
              </a:spcAft>
              <a:buNone/>
            </a:pPr>
            <a:r>
              <a:rPr b="0" i="0" lang="en-US" sz="1425" u="none" cap="none" strike="noStrike">
                <a:solidFill>
                  <a:srgbClr val="141A21"/>
                </a:solidFill>
                <a:latin typeface="IBM Plex Sans"/>
                <a:ea typeface="IBM Plex Sans"/>
                <a:cs typeface="IBM Plex Sans"/>
                <a:sym typeface="IBM Plex Sans"/>
              </a:rPr>
              <a:t>Ursache</a:t>
            </a:r>
            <a:endParaRPr/>
          </a:p>
        </p:txBody>
      </p:sp>
      <p:sp>
        <p:nvSpPr>
          <p:cNvPr id="369" name="Google Shape;369;h510714b4cc47d3b6_0_727"/>
          <p:cNvSpPr/>
          <p:nvPr/>
        </p:nvSpPr>
        <p:spPr>
          <a:xfrm>
            <a:off x="9429827" y="4895850"/>
            <a:ext cx="1848000" cy="342900"/>
          </a:xfrm>
          <a:prstGeom prst="roundRect">
            <a:avLst>
              <a:gd fmla="val 27777" name="adj"/>
            </a:avLst>
          </a:prstGeom>
          <a:solidFill>
            <a:srgbClr val="F1F4F7"/>
          </a:solidFill>
          <a:ln cap="flat" cmpd="sng" w="9525">
            <a:solidFill>
              <a:srgbClr val="D2DA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370" name="Google Shape;370;h510714b4cc47d3b6_0_727"/>
          <p:cNvSpPr txBox="1"/>
          <p:nvPr/>
        </p:nvSpPr>
        <p:spPr>
          <a:xfrm>
            <a:off x="9544128" y="4895850"/>
            <a:ext cx="1844100" cy="342900"/>
          </a:xfrm>
          <a:prstGeom prst="rect">
            <a:avLst/>
          </a:prstGeom>
          <a:noFill/>
          <a:ln>
            <a:noFill/>
          </a:ln>
        </p:spPr>
        <p:txBody>
          <a:bodyPr anchorCtr="0" anchor="ctr" bIns="0" lIns="0" spcFirstLastPara="1" rIns="0" wrap="square" tIns="0">
            <a:noAutofit/>
          </a:bodyPr>
          <a:lstStyle/>
          <a:p>
            <a:pPr indent="0" lvl="0" marL="0" marR="0" rtl="0" algn="l">
              <a:lnSpc>
                <a:spcPct val="137500"/>
              </a:lnSpc>
              <a:spcBef>
                <a:spcPts val="0"/>
              </a:spcBef>
              <a:spcAft>
                <a:spcPts val="0"/>
              </a:spcAft>
              <a:buNone/>
            </a:pPr>
            <a:r>
              <a:rPr b="0" i="0" lang="en-US" sz="1200" u="none" cap="none" strike="noStrike">
                <a:solidFill>
                  <a:srgbClr val="657383"/>
                </a:solidFill>
                <a:latin typeface="IBM Plex Sans"/>
                <a:ea typeface="IBM Plex Sans"/>
                <a:cs typeface="IBM Plex Sans"/>
                <a:sym typeface="IBM Plex Sans"/>
              </a:rPr>
              <a:t>Freitext</a:t>
            </a:r>
            <a:endParaRPr/>
          </a:p>
        </p:txBody>
      </p:sp>
      <p:sp>
        <p:nvSpPr>
          <p:cNvPr id="371" name="Google Shape;371;h510714b4cc47d3b6_0_727"/>
          <p:cNvSpPr txBox="1"/>
          <p:nvPr/>
        </p:nvSpPr>
        <p:spPr>
          <a:xfrm>
            <a:off x="6781856" y="5429250"/>
            <a:ext cx="4476900" cy="419100"/>
          </a:xfrm>
          <a:prstGeom prst="rect">
            <a:avLst/>
          </a:prstGeom>
          <a:noFill/>
          <a:ln>
            <a:noFill/>
          </a:ln>
        </p:spPr>
        <p:txBody>
          <a:bodyPr anchorCtr="0" anchor="ctr" bIns="0" lIns="0" spcFirstLastPara="1" rIns="0" wrap="square" tIns="0">
            <a:noAutofit/>
          </a:bodyPr>
          <a:lstStyle/>
          <a:p>
            <a:pPr indent="0" lvl="0" marL="0" marR="0" rtl="0" algn="l">
              <a:lnSpc>
                <a:spcPct val="136842"/>
              </a:lnSpc>
              <a:spcBef>
                <a:spcPts val="0"/>
              </a:spcBef>
              <a:spcAft>
                <a:spcPts val="0"/>
              </a:spcAft>
              <a:buNone/>
            </a:pPr>
            <a:r>
              <a:rPr b="1" i="0" lang="en-US" sz="1425" u="none" cap="none" strike="noStrike">
                <a:solidFill>
                  <a:srgbClr val="005E77"/>
                </a:solidFill>
                <a:latin typeface="IBM Plex Sans"/>
                <a:ea typeface="IBM Plex Sans"/>
                <a:cs typeface="IBM Plex Sans"/>
                <a:sym typeface="IBM Plex Sans"/>
              </a:rPr>
              <a:t>Jede Bewertung ist ein Label für später.</a:t>
            </a:r>
            <a:endParaRPr/>
          </a:p>
        </p:txBody>
      </p:sp>
      <p:cxnSp>
        <p:nvCxnSpPr>
          <p:cNvPr id="372" name="Google Shape;372;h510714b4cc47d3b6_0_727"/>
          <p:cNvCxnSpPr/>
          <p:nvPr/>
        </p:nvCxnSpPr>
        <p:spPr>
          <a:xfrm>
            <a:off x="0" y="6153150"/>
            <a:ext cx="12192000" cy="0"/>
          </a:xfrm>
          <a:prstGeom prst="straightConnector1">
            <a:avLst/>
          </a:prstGeom>
          <a:noFill/>
          <a:ln cap="flat" cmpd="sng" w="9525">
            <a:solidFill>
              <a:srgbClr val="E4E9EF"/>
            </a:solidFill>
            <a:prstDash val="solid"/>
            <a:round/>
            <a:headEnd len="sm" w="sm" type="none"/>
            <a:tailEnd len="sm" w="sm" type="none"/>
          </a:ln>
          <a:effectLst>
            <a:outerShdw blurRad="40000" rotWithShape="0" dir="5400000" dist="20000">
              <a:srgbClr val="000000">
                <a:alpha val="38040"/>
              </a:srgbClr>
            </a:outerShdw>
          </a:effectLst>
        </p:spPr>
      </p:cxnSp>
      <p:pic>
        <p:nvPicPr>
          <p:cNvPr descr="image.png" id="373" name="Google Shape;373;h510714b4cc47d3b6_0_727"/>
          <p:cNvPicPr preferRelativeResize="0"/>
          <p:nvPr/>
        </p:nvPicPr>
        <p:blipFill rotWithShape="1">
          <a:blip r:embed="rId4">
            <a:alphaModFix/>
          </a:blip>
          <a:srcRect b="0" l="0" r="0" t="0"/>
          <a:stretch/>
        </p:blipFill>
        <p:spPr>
          <a:xfrm>
            <a:off x="685806" y="6362700"/>
            <a:ext cx="715863" cy="247650"/>
          </a:xfrm>
          <a:prstGeom prst="rect">
            <a:avLst/>
          </a:prstGeom>
          <a:noFill/>
          <a:ln>
            <a:noFill/>
          </a:ln>
        </p:spPr>
      </p:pic>
      <p:sp>
        <p:nvSpPr>
          <p:cNvPr id="374" name="Google Shape;374;h510714b4cc47d3b6_0_727"/>
          <p:cNvSpPr txBox="1"/>
          <p:nvPr/>
        </p:nvSpPr>
        <p:spPr>
          <a:xfrm>
            <a:off x="1562113" y="6391275"/>
            <a:ext cx="2891700" cy="1905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None/>
            </a:pPr>
            <a:r>
              <a:rPr b="0" i="0" lang="en-US" sz="1200" u="none" cap="none" strike="noStrike">
                <a:solidFill>
                  <a:srgbClr val="4E5A68"/>
                </a:solidFill>
                <a:latin typeface="IBM Plex Sans"/>
                <a:ea typeface="IBM Plex Sans"/>
                <a:cs typeface="IBM Plex Sans"/>
                <a:sym typeface="IBM Plex Sans"/>
              </a:rPr>
              <a:t>Verbrauchsprognose &amp; Frühwarnung</a:t>
            </a:r>
            <a:endParaRPr/>
          </a:p>
        </p:txBody>
      </p:sp>
      <p:sp>
        <p:nvSpPr>
          <p:cNvPr id="375" name="Google Shape;375;h510714b4cc47d3b6_0_727"/>
          <p:cNvSpPr txBox="1"/>
          <p:nvPr/>
        </p:nvSpPr>
        <p:spPr>
          <a:xfrm>
            <a:off x="10835729" y="6391275"/>
            <a:ext cx="670500" cy="190500"/>
          </a:xfrm>
          <a:prstGeom prst="rect">
            <a:avLst/>
          </a:prstGeom>
          <a:noFill/>
          <a:ln>
            <a:noFill/>
          </a:ln>
        </p:spPr>
        <p:txBody>
          <a:bodyPr anchorCtr="0" anchor="t" bIns="0" lIns="0" spcFirstLastPara="1" rIns="0" wrap="square" tIns="0">
            <a:noAutofit/>
          </a:bodyPr>
          <a:lstStyle/>
          <a:p>
            <a:pPr indent="0" lvl="0" marL="0" marR="0" rtl="0" algn="r">
              <a:lnSpc>
                <a:spcPct val="125000"/>
              </a:lnSpc>
              <a:spcBef>
                <a:spcPts val="0"/>
              </a:spcBef>
              <a:spcAft>
                <a:spcPts val="0"/>
              </a:spcAft>
              <a:buNone/>
            </a:pPr>
            <a:r>
              <a:rPr b="0" i="0" lang="en-US" sz="1200" u="none" cap="none" strike="noStrike">
                <a:solidFill>
                  <a:srgbClr val="4E5A68"/>
                </a:solidFill>
                <a:latin typeface="IBM Plex Sans"/>
                <a:ea typeface="IBM Plex Sans"/>
                <a:cs typeface="IBM Plex Sans"/>
                <a:sym typeface="IBM Plex Sans"/>
              </a:rPr>
              <a:t>8 / 9</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3659"/>
        </a:solidFill>
      </p:bgPr>
    </p:bg>
    <p:spTree>
      <p:nvGrpSpPr>
        <p:cNvPr id="380" name="Shape 380"/>
        <p:cNvGrpSpPr/>
        <p:nvPr/>
      </p:nvGrpSpPr>
      <p:grpSpPr>
        <a:xfrm>
          <a:off x="0" y="0"/>
          <a:ext cx="0" cy="0"/>
          <a:chOff x="0" y="0"/>
          <a:chExt cx="0" cy="0"/>
        </a:xfrm>
      </p:grpSpPr>
      <p:grpSp>
        <p:nvGrpSpPr>
          <p:cNvPr id="381" name="Google Shape;381;h510714b4cc47d3b6_0_1315"/>
          <p:cNvGrpSpPr/>
          <p:nvPr/>
        </p:nvGrpSpPr>
        <p:grpSpPr>
          <a:xfrm>
            <a:off x="685800" y="361950"/>
            <a:ext cx="304800" cy="304800"/>
            <a:chOff x="685800" y="361950"/>
            <a:chExt cx="304800" cy="304800"/>
          </a:xfrm>
        </p:grpSpPr>
        <p:sp>
          <p:nvSpPr>
            <p:cNvPr id="382" name="Google Shape;382;h510714b4cc47d3b6_0_1315"/>
            <p:cNvSpPr/>
            <p:nvPr/>
          </p:nvSpPr>
          <p:spPr>
            <a:xfrm>
              <a:off x="685800" y="361950"/>
              <a:ext cx="304800" cy="304800"/>
            </a:xfrm>
            <a:prstGeom prst="ellipse">
              <a:avLst/>
            </a:prstGeom>
            <a:solidFill>
              <a:srgbClr val="6CC0D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pic>
          <p:nvPicPr>
            <p:cNvPr descr="clipboard-check__04263F.png" id="383" name="Google Shape;383;h510714b4cc47d3b6_0_1315"/>
            <p:cNvPicPr preferRelativeResize="0"/>
            <p:nvPr/>
          </p:nvPicPr>
          <p:blipFill rotWithShape="1">
            <a:blip r:embed="rId3">
              <a:alphaModFix/>
            </a:blip>
            <a:srcRect b="0" l="0" r="0" t="0"/>
            <a:stretch/>
          </p:blipFill>
          <p:spPr>
            <a:xfrm>
              <a:off x="758952" y="435102"/>
              <a:ext cx="158496" cy="158496"/>
            </a:xfrm>
            <a:prstGeom prst="rect">
              <a:avLst/>
            </a:prstGeom>
            <a:noFill/>
            <a:ln>
              <a:noFill/>
            </a:ln>
          </p:spPr>
        </p:pic>
      </p:grpSp>
      <p:sp>
        <p:nvSpPr>
          <p:cNvPr id="384" name="Google Shape;384;h510714b4cc47d3b6_0_1315"/>
          <p:cNvSpPr txBox="1"/>
          <p:nvPr/>
        </p:nvSpPr>
        <p:spPr>
          <a:xfrm>
            <a:off x="1104909" y="385762"/>
            <a:ext cx="7334400" cy="2571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None/>
            </a:pPr>
            <a:r>
              <a:rPr b="0" i="0" lang="en-US" sz="1500" u="none" cap="none" strike="noStrike">
                <a:solidFill>
                  <a:srgbClr val="6CC0D2"/>
                </a:solidFill>
                <a:latin typeface="IBM Plex Sans"/>
                <a:ea typeface="IBM Plex Sans"/>
                <a:cs typeface="IBM Plex Sans"/>
                <a:sym typeface="IBM Plex Sans"/>
              </a:rPr>
              <a:t>Was passiert mit dem Hinweis, und was lernen wir daraus?</a:t>
            </a:r>
            <a:endParaRPr/>
          </a:p>
        </p:txBody>
      </p:sp>
      <p:sp>
        <p:nvSpPr>
          <p:cNvPr id="385" name="Google Shape;385;h510714b4cc47d3b6_0_1315"/>
          <p:cNvSpPr txBox="1"/>
          <p:nvPr/>
        </p:nvSpPr>
        <p:spPr>
          <a:xfrm>
            <a:off x="685806" y="762000"/>
            <a:ext cx="10820400" cy="390600"/>
          </a:xfrm>
          <a:prstGeom prst="rect">
            <a:avLst/>
          </a:prstGeom>
          <a:noFill/>
          <a:ln>
            <a:noFill/>
          </a:ln>
        </p:spPr>
        <p:txBody>
          <a:bodyPr anchorCtr="0" anchor="t" bIns="0" lIns="0" spcFirstLastPara="1" rIns="0" wrap="square" tIns="0">
            <a:noAutofit/>
          </a:bodyPr>
          <a:lstStyle/>
          <a:p>
            <a:pPr indent="0" lvl="0" marL="0" marR="0" rtl="0" algn="l">
              <a:lnSpc>
                <a:spcPct val="113888"/>
              </a:lnSpc>
              <a:spcBef>
                <a:spcPts val="0"/>
              </a:spcBef>
              <a:spcAft>
                <a:spcPts val="0"/>
              </a:spcAft>
              <a:buNone/>
            </a:pPr>
            <a:r>
              <a:rPr b="1" i="0" lang="en-US" sz="2700" u="none" cap="none" strike="noStrike">
                <a:solidFill>
                  <a:srgbClr val="FFFFFF"/>
                </a:solidFill>
                <a:latin typeface="IBM Plex Sans"/>
                <a:ea typeface="IBM Plex Sans"/>
                <a:cs typeface="IBM Plex Sans"/>
                <a:sym typeface="IBM Plex Sans"/>
              </a:rPr>
              <a:t>Prüfen, bewerten und aus dem Feedback lernen</a:t>
            </a:r>
            <a:endParaRPr/>
          </a:p>
        </p:txBody>
      </p:sp>
      <p:sp>
        <p:nvSpPr>
          <p:cNvPr id="386" name="Google Shape;386;h510714b4cc47d3b6_0_1315"/>
          <p:cNvSpPr/>
          <p:nvPr/>
        </p:nvSpPr>
        <p:spPr>
          <a:xfrm>
            <a:off x="685806" y="1362075"/>
            <a:ext cx="6153300" cy="2373000"/>
          </a:xfrm>
          <a:prstGeom prst="roundRect">
            <a:avLst>
              <a:gd fmla="val 4013" name="adj"/>
            </a:avLst>
          </a:prstGeom>
          <a:solidFill>
            <a:srgbClr val="15426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grpSp>
        <p:nvGrpSpPr>
          <p:cNvPr id="387" name="Google Shape;387;h510714b4cc47d3b6_0_1315"/>
          <p:cNvGrpSpPr/>
          <p:nvPr/>
        </p:nvGrpSpPr>
        <p:grpSpPr>
          <a:xfrm>
            <a:off x="809625" y="1419225"/>
            <a:ext cx="247800" cy="247800"/>
            <a:chOff x="809625" y="1419225"/>
            <a:chExt cx="247800" cy="247800"/>
          </a:xfrm>
        </p:grpSpPr>
        <p:sp>
          <p:nvSpPr>
            <p:cNvPr id="388" name="Google Shape;388;h510714b4cc47d3b6_0_1315"/>
            <p:cNvSpPr/>
            <p:nvPr/>
          </p:nvSpPr>
          <p:spPr>
            <a:xfrm>
              <a:off x="809625" y="1419225"/>
              <a:ext cx="247800" cy="247800"/>
            </a:xfrm>
            <a:prstGeom prst="ellipse">
              <a:avLst/>
            </a:prstGeom>
            <a:solidFill>
              <a:srgbClr val="6CC0D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pic>
          <p:nvPicPr>
            <p:cNvPr descr="file-search__04263F.png" id="389" name="Google Shape;389;h510714b4cc47d3b6_0_1315"/>
            <p:cNvPicPr preferRelativeResize="0"/>
            <p:nvPr/>
          </p:nvPicPr>
          <p:blipFill rotWithShape="1">
            <a:blip r:embed="rId4">
              <a:alphaModFix/>
            </a:blip>
            <a:srcRect b="0" l="0" r="0" t="0"/>
            <a:stretch/>
          </p:blipFill>
          <p:spPr>
            <a:xfrm>
              <a:off x="869061" y="1478661"/>
              <a:ext cx="128778" cy="128778"/>
            </a:xfrm>
            <a:prstGeom prst="rect">
              <a:avLst/>
            </a:prstGeom>
            <a:noFill/>
            <a:ln>
              <a:noFill/>
            </a:ln>
          </p:spPr>
        </p:pic>
      </p:grpSp>
      <p:sp>
        <p:nvSpPr>
          <p:cNvPr id="390" name="Google Shape;390;h510714b4cc47d3b6_0_1315"/>
          <p:cNvSpPr txBox="1"/>
          <p:nvPr/>
        </p:nvSpPr>
        <p:spPr>
          <a:xfrm>
            <a:off x="1152534" y="1371600"/>
            <a:ext cx="6139800" cy="342900"/>
          </a:xfrm>
          <a:prstGeom prst="rect">
            <a:avLst/>
          </a:prstGeom>
          <a:noFill/>
          <a:ln>
            <a:noFill/>
          </a:ln>
        </p:spPr>
        <p:txBody>
          <a:bodyPr anchorCtr="0" anchor="ctr" bIns="0" lIns="0" spcFirstLastPara="1" rIns="0" wrap="square" tIns="0">
            <a:noAutofit/>
          </a:bodyPr>
          <a:lstStyle/>
          <a:p>
            <a:pPr indent="0" lvl="0" marL="0" marR="0" rtl="0" algn="l">
              <a:lnSpc>
                <a:spcPct val="130358"/>
              </a:lnSpc>
              <a:spcBef>
                <a:spcPts val="0"/>
              </a:spcBef>
              <a:spcAft>
                <a:spcPts val="0"/>
              </a:spcAft>
              <a:buNone/>
            </a:pPr>
            <a:r>
              <a:rPr b="1" i="0" lang="en-US" sz="1087" u="none" cap="none" strike="noStrike">
                <a:solidFill>
                  <a:srgbClr val="FFFFFF"/>
                </a:solidFill>
                <a:latin typeface="IBM Plex Sans"/>
                <a:ea typeface="IBM Plex Sans"/>
                <a:cs typeface="IBM Plex Sans"/>
                <a:sym typeface="IBM Plex Sans"/>
              </a:rPr>
              <a:t>Fallakte · Warum wurde der Fall markiert?</a:t>
            </a:r>
            <a:endParaRPr/>
          </a:p>
        </p:txBody>
      </p:sp>
      <p:pic>
        <p:nvPicPr>
          <p:cNvPr descr="image.png" id="391" name="Google Shape;391;h510714b4cc47d3b6_0_1315"/>
          <p:cNvPicPr preferRelativeResize="0"/>
          <p:nvPr/>
        </p:nvPicPr>
        <p:blipFill rotWithShape="1">
          <a:blip r:embed="rId5">
            <a:alphaModFix/>
          </a:blip>
          <a:srcRect b="0" l="0" r="0" t="0"/>
          <a:stretch/>
        </p:blipFill>
        <p:spPr>
          <a:xfrm>
            <a:off x="695331" y="1714500"/>
            <a:ext cx="6134100" cy="2011109"/>
          </a:xfrm>
          <a:prstGeom prst="rect">
            <a:avLst/>
          </a:prstGeom>
          <a:noFill/>
          <a:ln>
            <a:noFill/>
          </a:ln>
        </p:spPr>
      </p:pic>
      <p:sp>
        <p:nvSpPr>
          <p:cNvPr id="392" name="Google Shape;392;h510714b4cc47d3b6_0_1315"/>
          <p:cNvSpPr/>
          <p:nvPr/>
        </p:nvSpPr>
        <p:spPr>
          <a:xfrm>
            <a:off x="685806" y="1362075"/>
            <a:ext cx="6153300" cy="2373000"/>
          </a:xfrm>
          <a:prstGeom prst="roundRect">
            <a:avLst>
              <a:gd fmla="val 4013" name="adj"/>
            </a:avLst>
          </a:prstGeom>
          <a:noFill/>
          <a:ln cap="flat" cmpd="sng" w="9525">
            <a:solidFill>
              <a:srgbClr val="3A607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393" name="Google Shape;393;h510714b4cc47d3b6_0_1315"/>
          <p:cNvSpPr/>
          <p:nvPr/>
        </p:nvSpPr>
        <p:spPr>
          <a:xfrm>
            <a:off x="5252357" y="2590393"/>
            <a:ext cx="1559400" cy="621300"/>
          </a:xfrm>
          <a:prstGeom prst="roundRect">
            <a:avLst>
              <a:gd fmla="val 12264" name="adj"/>
            </a:avLst>
          </a:prstGeom>
          <a:noFill/>
          <a:ln cap="flat" cmpd="sng" w="38100">
            <a:solidFill>
              <a:srgbClr val="114D6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394" name="Google Shape;394;h510714b4cc47d3b6_0_1315"/>
          <p:cNvSpPr/>
          <p:nvPr/>
        </p:nvSpPr>
        <p:spPr>
          <a:xfrm>
            <a:off x="5285694" y="2623731"/>
            <a:ext cx="1492800" cy="554700"/>
          </a:xfrm>
          <a:prstGeom prst="roundRect">
            <a:avLst>
              <a:gd fmla="val 8586" name="adj"/>
            </a:avLst>
          </a:prstGeom>
          <a:noFill/>
          <a:ln cap="flat" cmpd="sng" w="28575">
            <a:solidFill>
              <a:srgbClr val="0080A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395" name="Google Shape;395;h510714b4cc47d3b6_0_1315"/>
          <p:cNvSpPr/>
          <p:nvPr/>
        </p:nvSpPr>
        <p:spPr>
          <a:xfrm>
            <a:off x="6258890" y="2409418"/>
            <a:ext cx="533700" cy="205800"/>
          </a:xfrm>
          <a:prstGeom prst="roundRect">
            <a:avLst>
              <a:gd fmla="val 23148" name="adj"/>
            </a:avLst>
          </a:prstGeom>
          <a:solidFill>
            <a:srgbClr val="00718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396" name="Google Shape;396;h510714b4cc47d3b6_0_1315"/>
          <p:cNvSpPr txBox="1"/>
          <p:nvPr/>
        </p:nvSpPr>
        <p:spPr>
          <a:xfrm>
            <a:off x="6232201" y="2409418"/>
            <a:ext cx="587100" cy="2058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US" sz="975" u="none" cap="none" strike="noStrike">
                <a:solidFill>
                  <a:srgbClr val="FFFFFF"/>
                </a:solidFill>
                <a:latin typeface="IBM Plex Sans"/>
                <a:ea typeface="IBM Plex Sans"/>
                <a:cs typeface="IBM Plex Sans"/>
                <a:sym typeface="IBM Plex Sans"/>
              </a:rPr>
              <a:t>Faktor</a:t>
            </a:r>
            <a:endParaRPr/>
          </a:p>
        </p:txBody>
      </p:sp>
      <p:sp>
        <p:nvSpPr>
          <p:cNvPr id="397" name="Google Shape;397;h510714b4cc47d3b6_0_1315"/>
          <p:cNvSpPr/>
          <p:nvPr/>
        </p:nvSpPr>
        <p:spPr>
          <a:xfrm>
            <a:off x="713086" y="3213837"/>
            <a:ext cx="6098700" cy="490500"/>
          </a:xfrm>
          <a:prstGeom prst="roundRect">
            <a:avLst>
              <a:gd fmla="val 15532" name="adj"/>
            </a:avLst>
          </a:prstGeom>
          <a:noFill/>
          <a:ln cap="flat" cmpd="sng" w="38100">
            <a:solidFill>
              <a:srgbClr val="114D6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398" name="Google Shape;398;h510714b4cc47d3b6_0_1315"/>
          <p:cNvSpPr/>
          <p:nvPr/>
        </p:nvSpPr>
        <p:spPr>
          <a:xfrm>
            <a:off x="746423" y="3247174"/>
            <a:ext cx="6031800" cy="423900"/>
          </a:xfrm>
          <a:prstGeom prst="roundRect">
            <a:avLst>
              <a:gd fmla="val 11234" name="adj"/>
            </a:avLst>
          </a:prstGeom>
          <a:noFill/>
          <a:ln cap="flat" cmpd="sng" w="28575">
            <a:solidFill>
              <a:srgbClr val="0080A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399" name="Google Shape;399;h510714b4cc47d3b6_0_1315"/>
          <p:cNvSpPr/>
          <p:nvPr/>
        </p:nvSpPr>
        <p:spPr>
          <a:xfrm>
            <a:off x="732136" y="3032862"/>
            <a:ext cx="863100" cy="205800"/>
          </a:xfrm>
          <a:prstGeom prst="roundRect">
            <a:avLst>
              <a:gd fmla="val 23148" name="adj"/>
            </a:avLst>
          </a:prstGeom>
          <a:solidFill>
            <a:srgbClr val="00718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400" name="Google Shape;400;h510714b4cc47d3b6_0_1315"/>
          <p:cNvSpPr txBox="1"/>
          <p:nvPr/>
        </p:nvSpPr>
        <p:spPr>
          <a:xfrm>
            <a:off x="688978" y="3032862"/>
            <a:ext cx="949500" cy="2058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US" sz="975" u="none" cap="none" strike="noStrike">
                <a:solidFill>
                  <a:srgbClr val="FFFFFF"/>
                </a:solidFill>
                <a:latin typeface="IBM Plex Sans"/>
                <a:ea typeface="IBM Plex Sans"/>
                <a:cs typeface="IBM Plex Sans"/>
                <a:sym typeface="IBM Plex Sans"/>
              </a:rPr>
              <a:t>Begründung</a:t>
            </a:r>
            <a:endParaRPr/>
          </a:p>
        </p:txBody>
      </p:sp>
      <p:sp>
        <p:nvSpPr>
          <p:cNvPr id="401" name="Google Shape;401;h510714b4cc47d3b6_0_1315"/>
          <p:cNvSpPr/>
          <p:nvPr/>
        </p:nvSpPr>
        <p:spPr>
          <a:xfrm>
            <a:off x="685806" y="3830955"/>
            <a:ext cx="6153300" cy="1461600"/>
          </a:xfrm>
          <a:prstGeom prst="roundRect">
            <a:avLst>
              <a:gd fmla="val 6516" name="adj"/>
            </a:avLst>
          </a:prstGeom>
          <a:solidFill>
            <a:srgbClr val="15426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grpSp>
        <p:nvGrpSpPr>
          <p:cNvPr id="402" name="Google Shape;402;h510714b4cc47d3b6_0_1315"/>
          <p:cNvGrpSpPr/>
          <p:nvPr/>
        </p:nvGrpSpPr>
        <p:grpSpPr>
          <a:xfrm>
            <a:off x="809625" y="3888105"/>
            <a:ext cx="247800" cy="247800"/>
            <a:chOff x="809625" y="3888105"/>
            <a:chExt cx="247800" cy="247800"/>
          </a:xfrm>
        </p:grpSpPr>
        <p:sp>
          <p:nvSpPr>
            <p:cNvPr id="403" name="Google Shape;403;h510714b4cc47d3b6_0_1315"/>
            <p:cNvSpPr/>
            <p:nvPr/>
          </p:nvSpPr>
          <p:spPr>
            <a:xfrm>
              <a:off x="809625" y="3888105"/>
              <a:ext cx="247800" cy="247800"/>
            </a:xfrm>
            <a:prstGeom prst="ellipse">
              <a:avLst/>
            </a:prstGeom>
            <a:solidFill>
              <a:srgbClr val="6CC0D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pic>
          <p:nvPicPr>
            <p:cNvPr descr="list-checks__04263F.png" id="404" name="Google Shape;404;h510714b4cc47d3b6_0_1315"/>
            <p:cNvPicPr preferRelativeResize="0"/>
            <p:nvPr/>
          </p:nvPicPr>
          <p:blipFill rotWithShape="1">
            <a:blip r:embed="rId6">
              <a:alphaModFix/>
            </a:blip>
            <a:srcRect b="0" l="0" r="0" t="0"/>
            <a:stretch/>
          </p:blipFill>
          <p:spPr>
            <a:xfrm>
              <a:off x="869061" y="3947541"/>
              <a:ext cx="128778" cy="128778"/>
            </a:xfrm>
            <a:prstGeom prst="rect">
              <a:avLst/>
            </a:prstGeom>
            <a:noFill/>
            <a:ln>
              <a:noFill/>
            </a:ln>
          </p:spPr>
        </p:pic>
      </p:grpSp>
      <p:sp>
        <p:nvSpPr>
          <p:cNvPr id="405" name="Google Shape;405;h510714b4cc47d3b6_0_1315"/>
          <p:cNvSpPr txBox="1"/>
          <p:nvPr/>
        </p:nvSpPr>
        <p:spPr>
          <a:xfrm>
            <a:off x="1152534" y="3840480"/>
            <a:ext cx="6139800" cy="342900"/>
          </a:xfrm>
          <a:prstGeom prst="rect">
            <a:avLst/>
          </a:prstGeom>
          <a:noFill/>
          <a:ln>
            <a:noFill/>
          </a:ln>
        </p:spPr>
        <p:txBody>
          <a:bodyPr anchorCtr="0" anchor="ctr" bIns="0" lIns="0" spcFirstLastPara="1" rIns="0" wrap="square" tIns="0">
            <a:noAutofit/>
          </a:bodyPr>
          <a:lstStyle/>
          <a:p>
            <a:pPr indent="0" lvl="0" marL="0" marR="0" rtl="0" algn="l">
              <a:lnSpc>
                <a:spcPct val="130358"/>
              </a:lnSpc>
              <a:spcBef>
                <a:spcPts val="0"/>
              </a:spcBef>
              <a:spcAft>
                <a:spcPts val="0"/>
              </a:spcAft>
              <a:buNone/>
            </a:pPr>
            <a:r>
              <a:rPr b="1" i="0" lang="en-US" sz="1087" u="none" cap="none" strike="noStrike">
                <a:solidFill>
                  <a:srgbClr val="FFFFFF"/>
                </a:solidFill>
                <a:latin typeface="IBM Plex Sans"/>
                <a:ea typeface="IBM Plex Sans"/>
                <a:cs typeface="IBM Plex Sans"/>
                <a:sym typeface="IBM Plex Sans"/>
              </a:rPr>
              <a:t>Gespeichert · Status in der Prüfwarteschlange</a:t>
            </a:r>
            <a:endParaRPr/>
          </a:p>
        </p:txBody>
      </p:sp>
      <p:pic>
        <p:nvPicPr>
          <p:cNvPr descr="image.png" id="406" name="Google Shape;406;h510714b4cc47d3b6_0_1315"/>
          <p:cNvPicPr preferRelativeResize="0"/>
          <p:nvPr/>
        </p:nvPicPr>
        <p:blipFill rotWithShape="1">
          <a:blip r:embed="rId7">
            <a:alphaModFix/>
          </a:blip>
          <a:srcRect b="0" l="0" r="0" t="0"/>
          <a:stretch/>
        </p:blipFill>
        <p:spPr>
          <a:xfrm>
            <a:off x="695331" y="4183380"/>
            <a:ext cx="6134100" cy="1099756"/>
          </a:xfrm>
          <a:prstGeom prst="rect">
            <a:avLst/>
          </a:prstGeom>
          <a:noFill/>
          <a:ln>
            <a:noFill/>
          </a:ln>
        </p:spPr>
      </p:pic>
      <p:sp>
        <p:nvSpPr>
          <p:cNvPr id="407" name="Google Shape;407;h510714b4cc47d3b6_0_1315"/>
          <p:cNvSpPr/>
          <p:nvPr/>
        </p:nvSpPr>
        <p:spPr>
          <a:xfrm>
            <a:off x="685806" y="3830955"/>
            <a:ext cx="6153300" cy="1461600"/>
          </a:xfrm>
          <a:prstGeom prst="roundRect">
            <a:avLst>
              <a:gd fmla="val 6516" name="adj"/>
            </a:avLst>
          </a:prstGeom>
          <a:noFill/>
          <a:ln cap="flat" cmpd="sng" w="9525">
            <a:solidFill>
              <a:srgbClr val="3A607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408" name="Google Shape;408;h510714b4cc47d3b6_0_1315"/>
          <p:cNvSpPr/>
          <p:nvPr/>
        </p:nvSpPr>
        <p:spPr>
          <a:xfrm>
            <a:off x="5509991" y="5000145"/>
            <a:ext cx="982800" cy="279900"/>
          </a:xfrm>
          <a:prstGeom prst="roundRect">
            <a:avLst>
              <a:gd fmla="val 27209" name="adj"/>
            </a:avLst>
          </a:prstGeom>
          <a:noFill/>
          <a:ln cap="flat" cmpd="sng" w="38100">
            <a:solidFill>
              <a:srgbClr val="114D6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409" name="Google Shape;409;h510714b4cc47d3b6_0_1315"/>
          <p:cNvSpPr/>
          <p:nvPr/>
        </p:nvSpPr>
        <p:spPr>
          <a:xfrm>
            <a:off x="5543328" y="5033482"/>
            <a:ext cx="916200" cy="213300"/>
          </a:xfrm>
          <a:prstGeom prst="roundRect">
            <a:avLst>
              <a:gd fmla="val 22320" name="adj"/>
            </a:avLst>
          </a:prstGeom>
          <a:noFill/>
          <a:ln cap="flat" cmpd="sng" w="28575">
            <a:solidFill>
              <a:srgbClr val="0080A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410" name="Google Shape;410;h510714b4cc47d3b6_0_1315"/>
          <p:cNvSpPr/>
          <p:nvPr/>
        </p:nvSpPr>
        <p:spPr>
          <a:xfrm>
            <a:off x="5943630" y="4819170"/>
            <a:ext cx="530100" cy="205800"/>
          </a:xfrm>
          <a:prstGeom prst="roundRect">
            <a:avLst>
              <a:gd fmla="val 23148" name="adj"/>
            </a:avLst>
          </a:prstGeom>
          <a:solidFill>
            <a:srgbClr val="00718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411" name="Google Shape;411;h510714b4cc47d3b6_0_1315"/>
          <p:cNvSpPr txBox="1"/>
          <p:nvPr/>
        </p:nvSpPr>
        <p:spPr>
          <a:xfrm>
            <a:off x="5917127" y="4819170"/>
            <a:ext cx="583200" cy="2058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US" sz="975" u="none" cap="none" strike="noStrike">
                <a:solidFill>
                  <a:srgbClr val="FFFFFF"/>
                </a:solidFill>
                <a:latin typeface="IBM Plex Sans"/>
                <a:ea typeface="IBM Plex Sans"/>
                <a:cs typeface="IBM Plex Sans"/>
                <a:sym typeface="IBM Plex Sans"/>
              </a:rPr>
              <a:t>Status</a:t>
            </a:r>
            <a:endParaRPr/>
          </a:p>
        </p:txBody>
      </p:sp>
      <p:sp>
        <p:nvSpPr>
          <p:cNvPr id="412" name="Google Shape;412;h510714b4cc47d3b6_0_1315"/>
          <p:cNvSpPr/>
          <p:nvPr/>
        </p:nvSpPr>
        <p:spPr>
          <a:xfrm>
            <a:off x="7029508" y="1362075"/>
            <a:ext cx="4476900" cy="3790200"/>
          </a:xfrm>
          <a:prstGeom prst="roundRect">
            <a:avLst>
              <a:gd fmla="val 2512" name="adj"/>
            </a:avLst>
          </a:prstGeom>
          <a:solidFill>
            <a:srgbClr val="15426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grpSp>
        <p:nvGrpSpPr>
          <p:cNvPr id="413" name="Google Shape;413;h510714b4cc47d3b6_0_1315"/>
          <p:cNvGrpSpPr/>
          <p:nvPr/>
        </p:nvGrpSpPr>
        <p:grpSpPr>
          <a:xfrm>
            <a:off x="7153275" y="1419225"/>
            <a:ext cx="247800" cy="247800"/>
            <a:chOff x="7153275" y="1419225"/>
            <a:chExt cx="247800" cy="247800"/>
          </a:xfrm>
        </p:grpSpPr>
        <p:sp>
          <p:nvSpPr>
            <p:cNvPr id="414" name="Google Shape;414;h510714b4cc47d3b6_0_1315"/>
            <p:cNvSpPr/>
            <p:nvPr/>
          </p:nvSpPr>
          <p:spPr>
            <a:xfrm>
              <a:off x="7153275" y="1419225"/>
              <a:ext cx="247800" cy="247800"/>
            </a:xfrm>
            <a:prstGeom prst="ellipse">
              <a:avLst/>
            </a:prstGeom>
            <a:solidFill>
              <a:srgbClr val="6CC0D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pic>
          <p:nvPicPr>
            <p:cNvPr descr="pencil-line__04263F.png" id="415" name="Google Shape;415;h510714b4cc47d3b6_0_1315"/>
            <p:cNvPicPr preferRelativeResize="0"/>
            <p:nvPr/>
          </p:nvPicPr>
          <p:blipFill rotWithShape="1">
            <a:blip r:embed="rId8">
              <a:alphaModFix/>
            </a:blip>
            <a:srcRect b="0" l="0" r="0" t="0"/>
            <a:stretch/>
          </p:blipFill>
          <p:spPr>
            <a:xfrm>
              <a:off x="7212711" y="1478661"/>
              <a:ext cx="128778" cy="128778"/>
            </a:xfrm>
            <a:prstGeom prst="rect">
              <a:avLst/>
            </a:prstGeom>
            <a:noFill/>
            <a:ln>
              <a:noFill/>
            </a:ln>
          </p:spPr>
        </p:pic>
      </p:grpSp>
      <p:sp>
        <p:nvSpPr>
          <p:cNvPr id="416" name="Google Shape;416;h510714b4cc47d3b6_0_1315"/>
          <p:cNvSpPr txBox="1"/>
          <p:nvPr/>
        </p:nvSpPr>
        <p:spPr>
          <a:xfrm>
            <a:off x="7496236" y="1371600"/>
            <a:ext cx="4295700" cy="342900"/>
          </a:xfrm>
          <a:prstGeom prst="rect">
            <a:avLst/>
          </a:prstGeom>
          <a:noFill/>
          <a:ln>
            <a:noFill/>
          </a:ln>
        </p:spPr>
        <p:txBody>
          <a:bodyPr anchorCtr="0" anchor="ctr" bIns="0" lIns="0" spcFirstLastPara="1" rIns="0" wrap="square" tIns="0">
            <a:noAutofit/>
          </a:bodyPr>
          <a:lstStyle/>
          <a:p>
            <a:pPr indent="0" lvl="0" marL="0" marR="0" rtl="0" algn="l">
              <a:lnSpc>
                <a:spcPct val="130358"/>
              </a:lnSpc>
              <a:spcBef>
                <a:spcPts val="0"/>
              </a:spcBef>
              <a:spcAft>
                <a:spcPts val="0"/>
              </a:spcAft>
              <a:buNone/>
            </a:pPr>
            <a:r>
              <a:rPr b="1" i="0" lang="en-US" sz="1087" u="none" cap="none" strike="noStrike">
                <a:solidFill>
                  <a:srgbClr val="FFFFFF"/>
                </a:solidFill>
                <a:latin typeface="IBM Plex Sans"/>
                <a:ea typeface="IBM Plex Sans"/>
                <a:cs typeface="IBM Plex Sans"/>
                <a:sym typeface="IBM Plex Sans"/>
              </a:rPr>
              <a:t>Bewertung dokumentieren · Beispieleingabe</a:t>
            </a:r>
            <a:endParaRPr/>
          </a:p>
        </p:txBody>
      </p:sp>
      <p:pic>
        <p:nvPicPr>
          <p:cNvPr descr="image.png" id="417" name="Google Shape;417;h510714b4cc47d3b6_0_1315"/>
          <p:cNvPicPr preferRelativeResize="0"/>
          <p:nvPr/>
        </p:nvPicPr>
        <p:blipFill rotWithShape="1">
          <a:blip r:embed="rId9">
            <a:alphaModFix/>
          </a:blip>
          <a:srcRect b="0" l="0" r="0" t="0"/>
          <a:stretch/>
        </p:blipFill>
        <p:spPr>
          <a:xfrm>
            <a:off x="7039033" y="1714500"/>
            <a:ext cx="4457701" cy="3428377"/>
          </a:xfrm>
          <a:prstGeom prst="rect">
            <a:avLst/>
          </a:prstGeom>
          <a:noFill/>
          <a:ln>
            <a:noFill/>
          </a:ln>
        </p:spPr>
      </p:pic>
      <p:sp>
        <p:nvSpPr>
          <p:cNvPr id="418" name="Google Shape;418;h510714b4cc47d3b6_0_1315"/>
          <p:cNvSpPr/>
          <p:nvPr/>
        </p:nvSpPr>
        <p:spPr>
          <a:xfrm>
            <a:off x="7029508" y="1362075"/>
            <a:ext cx="4476900" cy="3790200"/>
          </a:xfrm>
          <a:prstGeom prst="roundRect">
            <a:avLst>
              <a:gd fmla="val 2512" name="adj"/>
            </a:avLst>
          </a:prstGeom>
          <a:noFill/>
          <a:ln cap="flat" cmpd="sng" w="9525">
            <a:solidFill>
              <a:srgbClr val="3A607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419" name="Google Shape;419;h510714b4cc47d3b6_0_1315"/>
          <p:cNvSpPr/>
          <p:nvPr/>
        </p:nvSpPr>
        <p:spPr>
          <a:xfrm>
            <a:off x="7100222" y="3107941"/>
            <a:ext cx="4335300" cy="401400"/>
          </a:xfrm>
          <a:prstGeom prst="roundRect">
            <a:avLst>
              <a:gd fmla="val 18978" name="adj"/>
            </a:avLst>
          </a:prstGeom>
          <a:noFill/>
          <a:ln cap="flat" cmpd="sng" w="38100">
            <a:solidFill>
              <a:srgbClr val="114D6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420" name="Google Shape;420;h510714b4cc47d3b6_0_1315"/>
          <p:cNvSpPr/>
          <p:nvPr/>
        </p:nvSpPr>
        <p:spPr>
          <a:xfrm>
            <a:off x="7133560" y="3141279"/>
            <a:ext cx="4268700" cy="334800"/>
          </a:xfrm>
          <a:prstGeom prst="roundRect">
            <a:avLst>
              <a:gd fmla="val 14223" name="adj"/>
            </a:avLst>
          </a:prstGeom>
          <a:noFill/>
          <a:ln cap="flat" cmpd="sng" w="28575">
            <a:solidFill>
              <a:srgbClr val="0080A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421" name="Google Shape;421;h510714b4cc47d3b6_0_1315"/>
          <p:cNvSpPr/>
          <p:nvPr/>
        </p:nvSpPr>
        <p:spPr>
          <a:xfrm>
            <a:off x="10521172" y="2926966"/>
            <a:ext cx="895500" cy="205800"/>
          </a:xfrm>
          <a:prstGeom prst="roundRect">
            <a:avLst>
              <a:gd fmla="val 23148" name="adj"/>
            </a:avLst>
          </a:prstGeom>
          <a:solidFill>
            <a:srgbClr val="00718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422" name="Google Shape;422;h510714b4cc47d3b6_0_1315"/>
          <p:cNvSpPr txBox="1"/>
          <p:nvPr/>
        </p:nvSpPr>
        <p:spPr>
          <a:xfrm>
            <a:off x="10476405" y="2926966"/>
            <a:ext cx="984900" cy="2058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US" sz="975" u="none" cap="none" strike="noStrike">
                <a:solidFill>
                  <a:srgbClr val="FFFFFF"/>
                </a:solidFill>
                <a:latin typeface="IBM Plex Sans"/>
                <a:ea typeface="IBM Plex Sans"/>
                <a:cs typeface="IBM Plex Sans"/>
                <a:sym typeface="IBM Plex Sans"/>
              </a:rPr>
              <a:t>Label-Quelle</a:t>
            </a:r>
            <a:endParaRPr/>
          </a:p>
        </p:txBody>
      </p:sp>
      <p:sp>
        <p:nvSpPr>
          <p:cNvPr id="423" name="Google Shape;423;h510714b4cc47d3b6_0_1315"/>
          <p:cNvSpPr/>
          <p:nvPr/>
        </p:nvSpPr>
        <p:spPr>
          <a:xfrm>
            <a:off x="685806" y="5295900"/>
            <a:ext cx="10820400" cy="419100"/>
          </a:xfrm>
          <a:prstGeom prst="roundRect">
            <a:avLst>
              <a:gd fmla="val 22727" name="adj"/>
            </a:avLst>
          </a:prstGeom>
          <a:solidFill>
            <a:srgbClr val="174465"/>
          </a:solidFill>
          <a:ln cap="flat" cmpd="sng" w="9525">
            <a:solidFill>
              <a:srgbClr val="2E567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424" name="Google Shape;424;h510714b4cc47d3b6_0_1315"/>
          <p:cNvSpPr/>
          <p:nvPr/>
        </p:nvSpPr>
        <p:spPr>
          <a:xfrm>
            <a:off x="828682" y="5414962"/>
            <a:ext cx="1638300" cy="190500"/>
          </a:xfrm>
          <a:prstGeom prst="roundRect">
            <a:avLst>
              <a:gd fmla="val 20000" name="adj"/>
            </a:avLst>
          </a:prstGeom>
          <a:solidFill>
            <a:srgbClr val="335A7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425" name="Google Shape;425;h510714b4cc47d3b6_0_1315"/>
          <p:cNvSpPr txBox="1"/>
          <p:nvPr/>
        </p:nvSpPr>
        <p:spPr>
          <a:xfrm>
            <a:off x="746766" y="5414962"/>
            <a:ext cx="1802100" cy="190500"/>
          </a:xfrm>
          <a:prstGeom prst="rect">
            <a:avLst/>
          </a:prstGeom>
          <a:noFill/>
          <a:ln>
            <a:noFill/>
          </a:ln>
        </p:spPr>
        <p:txBody>
          <a:bodyPr anchorCtr="0" anchor="ctr" bIns="0" lIns="0" spcFirstLastPara="1" rIns="0" wrap="square" tIns="0">
            <a:noAutofit/>
          </a:bodyPr>
          <a:lstStyle/>
          <a:p>
            <a:pPr indent="0" lvl="0" marL="0" marR="0" rtl="0" algn="ctr">
              <a:lnSpc>
                <a:spcPct val="125988"/>
              </a:lnSpc>
              <a:spcBef>
                <a:spcPts val="0"/>
              </a:spcBef>
              <a:spcAft>
                <a:spcPts val="0"/>
              </a:spcAft>
              <a:buNone/>
            </a:pPr>
            <a:r>
              <a:rPr b="0" i="0" lang="en-US" sz="1012" u="none" cap="none" strike="noStrike">
                <a:solidFill>
                  <a:srgbClr val="FFFFFF"/>
                </a:solidFill>
                <a:latin typeface="Geist Mono"/>
                <a:ea typeface="Geist Mono"/>
                <a:cs typeface="Geist Mono"/>
                <a:sym typeface="Geist Mono"/>
              </a:rPr>
              <a:t>Messwert gültig = Ja</a:t>
            </a:r>
            <a:endParaRPr/>
          </a:p>
        </p:txBody>
      </p:sp>
      <p:sp>
        <p:nvSpPr>
          <p:cNvPr id="426" name="Google Shape;426;h510714b4cc47d3b6_0_1315"/>
          <p:cNvSpPr txBox="1"/>
          <p:nvPr/>
        </p:nvSpPr>
        <p:spPr>
          <a:xfrm>
            <a:off x="2466995" y="5414962"/>
            <a:ext cx="244500" cy="180900"/>
          </a:xfrm>
          <a:prstGeom prst="rect">
            <a:avLst/>
          </a:prstGeom>
          <a:noFill/>
          <a:ln>
            <a:noFill/>
          </a:ln>
        </p:spPr>
        <p:txBody>
          <a:bodyPr anchorCtr="0" anchor="t" bIns="0" lIns="0" spcFirstLastPara="1" rIns="0" wrap="square" tIns="0">
            <a:noAutofit/>
          </a:bodyPr>
          <a:lstStyle/>
          <a:p>
            <a:pPr indent="0" lvl="0" marL="0" marR="0" rtl="0" algn="l">
              <a:lnSpc>
                <a:spcPct val="131094"/>
              </a:lnSpc>
              <a:spcBef>
                <a:spcPts val="0"/>
              </a:spcBef>
              <a:spcAft>
                <a:spcPts val="0"/>
              </a:spcAft>
              <a:buNone/>
            </a:pPr>
            <a:r>
              <a:rPr b="0" i="0" lang="en-US" sz="1087" u="none" cap="none" strike="noStrike">
                <a:solidFill>
                  <a:srgbClr val="BBD7EA"/>
                </a:solidFill>
                <a:latin typeface="IBM Plex Sans"/>
                <a:ea typeface="IBM Plex Sans"/>
                <a:cs typeface="IBM Plex Sans"/>
                <a:sym typeface="IBM Plex Sans"/>
              </a:rPr>
              <a:t> + </a:t>
            </a:r>
            <a:endParaRPr/>
          </a:p>
        </p:txBody>
      </p:sp>
      <p:sp>
        <p:nvSpPr>
          <p:cNvPr id="427" name="Google Shape;427;h510714b4cc47d3b6_0_1315"/>
          <p:cNvSpPr/>
          <p:nvPr/>
        </p:nvSpPr>
        <p:spPr>
          <a:xfrm>
            <a:off x="2616158" y="5414962"/>
            <a:ext cx="2024100" cy="190500"/>
          </a:xfrm>
          <a:prstGeom prst="roundRect">
            <a:avLst>
              <a:gd fmla="val 20000" name="adj"/>
            </a:avLst>
          </a:prstGeom>
          <a:solidFill>
            <a:srgbClr val="335A7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428" name="Google Shape;428;h510714b4cc47d3b6_0_1315"/>
          <p:cNvSpPr txBox="1"/>
          <p:nvPr/>
        </p:nvSpPr>
        <p:spPr>
          <a:xfrm>
            <a:off x="2514954" y="5414962"/>
            <a:ext cx="2226600" cy="190500"/>
          </a:xfrm>
          <a:prstGeom prst="rect">
            <a:avLst/>
          </a:prstGeom>
          <a:noFill/>
          <a:ln>
            <a:noFill/>
          </a:ln>
        </p:spPr>
        <p:txBody>
          <a:bodyPr anchorCtr="0" anchor="ctr" bIns="0" lIns="0" spcFirstLastPara="1" rIns="0" wrap="square" tIns="0">
            <a:noAutofit/>
          </a:bodyPr>
          <a:lstStyle/>
          <a:p>
            <a:pPr indent="0" lvl="0" marL="0" marR="0" rtl="0" algn="ctr">
              <a:lnSpc>
                <a:spcPct val="125988"/>
              </a:lnSpc>
              <a:spcBef>
                <a:spcPts val="0"/>
              </a:spcBef>
              <a:spcAft>
                <a:spcPts val="0"/>
              </a:spcAft>
              <a:buNone/>
            </a:pPr>
            <a:r>
              <a:rPr b="0" i="0" lang="en-US" sz="1012" u="none" cap="none" strike="noStrike">
                <a:solidFill>
                  <a:srgbClr val="FFFFFF"/>
                </a:solidFill>
                <a:latin typeface="Geist Mono"/>
                <a:ea typeface="Geist Mono"/>
                <a:cs typeface="Geist Mono"/>
                <a:sym typeface="Geist Mono"/>
              </a:rPr>
              <a:t>Abweichung erklärt = Nein</a:t>
            </a:r>
            <a:endParaRPr/>
          </a:p>
        </p:txBody>
      </p:sp>
      <p:sp>
        <p:nvSpPr>
          <p:cNvPr id="429" name="Google Shape;429;h510714b4cc47d3b6_0_1315"/>
          <p:cNvSpPr txBox="1"/>
          <p:nvPr/>
        </p:nvSpPr>
        <p:spPr>
          <a:xfrm>
            <a:off x="4640237" y="5414962"/>
            <a:ext cx="277500" cy="180900"/>
          </a:xfrm>
          <a:prstGeom prst="rect">
            <a:avLst/>
          </a:prstGeom>
          <a:noFill/>
          <a:ln>
            <a:noFill/>
          </a:ln>
        </p:spPr>
        <p:txBody>
          <a:bodyPr anchorCtr="0" anchor="t" bIns="0" lIns="0" spcFirstLastPara="1" rIns="0" wrap="square" tIns="0">
            <a:noAutofit/>
          </a:bodyPr>
          <a:lstStyle/>
          <a:p>
            <a:pPr indent="0" lvl="0" marL="0" marR="0" rtl="0" algn="l">
              <a:lnSpc>
                <a:spcPct val="131094"/>
              </a:lnSpc>
              <a:spcBef>
                <a:spcPts val="0"/>
              </a:spcBef>
              <a:spcAft>
                <a:spcPts val="0"/>
              </a:spcAft>
              <a:buNone/>
            </a:pPr>
            <a:r>
              <a:rPr b="0" i="0" lang="en-US" sz="1087" u="none" cap="none" strike="noStrike">
                <a:solidFill>
                  <a:srgbClr val="BBD7EA"/>
                </a:solidFill>
                <a:latin typeface="IBM Plex Sans"/>
                <a:ea typeface="IBM Plex Sans"/>
                <a:cs typeface="IBM Plex Sans"/>
                <a:sym typeface="IBM Plex Sans"/>
              </a:rPr>
              <a:t> ⇒ </a:t>
            </a:r>
            <a:endParaRPr/>
          </a:p>
        </p:txBody>
      </p:sp>
      <p:sp>
        <p:nvSpPr>
          <p:cNvPr id="430" name="Google Shape;430;h510714b4cc47d3b6_0_1315"/>
          <p:cNvSpPr txBox="1"/>
          <p:nvPr/>
        </p:nvSpPr>
        <p:spPr>
          <a:xfrm>
            <a:off x="4822548" y="5414962"/>
            <a:ext cx="1545000" cy="180900"/>
          </a:xfrm>
          <a:prstGeom prst="rect">
            <a:avLst/>
          </a:prstGeom>
          <a:noFill/>
          <a:ln>
            <a:noFill/>
          </a:ln>
        </p:spPr>
        <p:txBody>
          <a:bodyPr anchorCtr="0" anchor="t" bIns="0" lIns="0" spcFirstLastPara="1" rIns="0" wrap="square" tIns="0">
            <a:noAutofit/>
          </a:bodyPr>
          <a:lstStyle/>
          <a:p>
            <a:pPr indent="0" lvl="0" marL="0" marR="0" rtl="0" algn="l">
              <a:lnSpc>
                <a:spcPct val="131094"/>
              </a:lnSpc>
              <a:spcBef>
                <a:spcPts val="0"/>
              </a:spcBef>
              <a:spcAft>
                <a:spcPts val="0"/>
              </a:spcAft>
              <a:buNone/>
            </a:pPr>
            <a:r>
              <a:rPr b="1" i="0" lang="en-US" sz="1087" u="none" cap="none" strike="noStrike">
                <a:solidFill>
                  <a:srgbClr val="FFFFFF"/>
                </a:solidFill>
                <a:latin typeface="IBM Plex Sans"/>
                <a:ea typeface="IBM Plex Sans"/>
                <a:cs typeface="IBM Plex Sans"/>
                <a:sym typeface="IBM Plex Sans"/>
              </a:rPr>
              <a:t>bestätigte Anomalie</a:t>
            </a:r>
            <a:endParaRPr/>
          </a:p>
        </p:txBody>
      </p:sp>
      <p:sp>
        <p:nvSpPr>
          <p:cNvPr id="431" name="Google Shape;431;h510714b4cc47d3b6_0_1315"/>
          <p:cNvSpPr txBox="1"/>
          <p:nvPr/>
        </p:nvSpPr>
        <p:spPr>
          <a:xfrm>
            <a:off x="6246165" y="5414962"/>
            <a:ext cx="230100" cy="180900"/>
          </a:xfrm>
          <a:prstGeom prst="rect">
            <a:avLst/>
          </a:prstGeom>
          <a:noFill/>
          <a:ln>
            <a:noFill/>
          </a:ln>
        </p:spPr>
        <p:txBody>
          <a:bodyPr anchorCtr="0" anchor="t" bIns="0" lIns="0" spcFirstLastPara="1" rIns="0" wrap="square" tIns="0">
            <a:noAutofit/>
          </a:bodyPr>
          <a:lstStyle/>
          <a:p>
            <a:pPr indent="0" lvl="0" marL="0" marR="0" rtl="0" algn="l">
              <a:lnSpc>
                <a:spcPct val="131094"/>
              </a:lnSpc>
              <a:spcBef>
                <a:spcPts val="0"/>
              </a:spcBef>
              <a:spcAft>
                <a:spcPts val="0"/>
              </a:spcAft>
              <a:buNone/>
            </a:pPr>
            <a:r>
              <a:rPr b="0" i="0" lang="en-US" sz="1087" u="none" cap="none" strike="noStrike">
                <a:solidFill>
                  <a:srgbClr val="6CC0D2"/>
                </a:solidFill>
                <a:latin typeface="IBM Plex Sans"/>
                <a:ea typeface="IBM Plex Sans"/>
                <a:cs typeface="IBM Plex Sans"/>
                <a:sym typeface="IBM Plex Sans"/>
              </a:rPr>
              <a:t>→</a:t>
            </a:r>
            <a:endParaRPr/>
          </a:p>
        </p:txBody>
      </p:sp>
      <p:grpSp>
        <p:nvGrpSpPr>
          <p:cNvPr id="432" name="Google Shape;432;h510714b4cc47d3b6_0_1315"/>
          <p:cNvGrpSpPr/>
          <p:nvPr/>
        </p:nvGrpSpPr>
        <p:grpSpPr>
          <a:xfrm>
            <a:off x="6457102" y="5381625"/>
            <a:ext cx="247800" cy="247800"/>
            <a:chOff x="6457102" y="5381625"/>
            <a:chExt cx="247800" cy="247800"/>
          </a:xfrm>
        </p:grpSpPr>
        <p:sp>
          <p:nvSpPr>
            <p:cNvPr id="433" name="Google Shape;433;h510714b4cc47d3b6_0_1315"/>
            <p:cNvSpPr/>
            <p:nvPr/>
          </p:nvSpPr>
          <p:spPr>
            <a:xfrm>
              <a:off x="6457102" y="5381625"/>
              <a:ext cx="247800" cy="247800"/>
            </a:xfrm>
            <a:prstGeom prst="ellipse">
              <a:avLst/>
            </a:prstGeom>
            <a:solidFill>
              <a:srgbClr val="6CC0D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pic>
          <p:nvPicPr>
            <p:cNvPr descr="badge-check__04263F.png" id="434" name="Google Shape;434;h510714b4cc47d3b6_0_1315"/>
            <p:cNvPicPr preferRelativeResize="0"/>
            <p:nvPr/>
          </p:nvPicPr>
          <p:blipFill rotWithShape="1">
            <a:blip r:embed="rId10">
              <a:alphaModFix/>
            </a:blip>
            <a:srcRect b="0" l="0" r="0" t="0"/>
            <a:stretch/>
          </p:blipFill>
          <p:spPr>
            <a:xfrm>
              <a:off x="6516538" y="5441061"/>
              <a:ext cx="128778" cy="128778"/>
            </a:xfrm>
            <a:prstGeom prst="rect">
              <a:avLst/>
            </a:prstGeom>
            <a:noFill/>
            <a:ln>
              <a:noFill/>
            </a:ln>
          </p:spPr>
        </p:pic>
      </p:grpSp>
      <p:sp>
        <p:nvSpPr>
          <p:cNvPr id="435" name="Google Shape;435;h510714b4cc47d3b6_0_1315"/>
          <p:cNvSpPr txBox="1"/>
          <p:nvPr/>
        </p:nvSpPr>
        <p:spPr>
          <a:xfrm>
            <a:off x="6781008" y="5414962"/>
            <a:ext cx="1306500" cy="180900"/>
          </a:xfrm>
          <a:prstGeom prst="rect">
            <a:avLst/>
          </a:prstGeom>
          <a:noFill/>
          <a:ln>
            <a:noFill/>
          </a:ln>
        </p:spPr>
        <p:txBody>
          <a:bodyPr anchorCtr="0" anchor="t" bIns="0" lIns="0" spcFirstLastPara="1" rIns="0" wrap="square" tIns="0">
            <a:noAutofit/>
          </a:bodyPr>
          <a:lstStyle/>
          <a:p>
            <a:pPr indent="0" lvl="0" marL="0" marR="0" rtl="0" algn="l">
              <a:lnSpc>
                <a:spcPct val="131094"/>
              </a:lnSpc>
              <a:spcBef>
                <a:spcPts val="0"/>
              </a:spcBef>
              <a:spcAft>
                <a:spcPts val="0"/>
              </a:spcAft>
              <a:buNone/>
            </a:pPr>
            <a:r>
              <a:rPr b="0" i="0" lang="en-US" sz="1087" u="none" cap="none" strike="noStrike">
                <a:solidFill>
                  <a:srgbClr val="FFFFFF"/>
                </a:solidFill>
                <a:latin typeface="IBM Plex Sans"/>
                <a:ea typeface="IBM Plex Sans"/>
                <a:cs typeface="IBM Plex Sans"/>
                <a:sym typeface="IBM Plex Sans"/>
              </a:rPr>
              <a:t>Precision messen</a:t>
            </a:r>
            <a:endParaRPr/>
          </a:p>
        </p:txBody>
      </p:sp>
      <p:sp>
        <p:nvSpPr>
          <p:cNvPr id="436" name="Google Shape;436;h510714b4cc47d3b6_0_1315"/>
          <p:cNvSpPr txBox="1"/>
          <p:nvPr/>
        </p:nvSpPr>
        <p:spPr>
          <a:xfrm>
            <a:off x="7987788" y="5414962"/>
            <a:ext cx="230100" cy="180900"/>
          </a:xfrm>
          <a:prstGeom prst="rect">
            <a:avLst/>
          </a:prstGeom>
          <a:noFill/>
          <a:ln>
            <a:noFill/>
          </a:ln>
        </p:spPr>
        <p:txBody>
          <a:bodyPr anchorCtr="0" anchor="t" bIns="0" lIns="0" spcFirstLastPara="1" rIns="0" wrap="square" tIns="0">
            <a:noAutofit/>
          </a:bodyPr>
          <a:lstStyle/>
          <a:p>
            <a:pPr indent="0" lvl="0" marL="0" marR="0" rtl="0" algn="l">
              <a:lnSpc>
                <a:spcPct val="131094"/>
              </a:lnSpc>
              <a:spcBef>
                <a:spcPts val="0"/>
              </a:spcBef>
              <a:spcAft>
                <a:spcPts val="0"/>
              </a:spcAft>
              <a:buNone/>
            </a:pPr>
            <a:r>
              <a:rPr b="0" i="0" lang="en-US" sz="1087" u="none" cap="none" strike="noStrike">
                <a:solidFill>
                  <a:srgbClr val="6CC0D2"/>
                </a:solidFill>
                <a:latin typeface="IBM Plex Sans"/>
                <a:ea typeface="IBM Plex Sans"/>
                <a:cs typeface="IBM Plex Sans"/>
                <a:sym typeface="IBM Plex Sans"/>
              </a:rPr>
              <a:t>→</a:t>
            </a:r>
            <a:endParaRPr/>
          </a:p>
        </p:txBody>
      </p:sp>
      <p:grpSp>
        <p:nvGrpSpPr>
          <p:cNvPr id="437" name="Google Shape;437;h510714b4cc47d3b6_0_1315"/>
          <p:cNvGrpSpPr/>
          <p:nvPr/>
        </p:nvGrpSpPr>
        <p:grpSpPr>
          <a:xfrm>
            <a:off x="8198710" y="5381625"/>
            <a:ext cx="247800" cy="247800"/>
            <a:chOff x="8198710" y="5381625"/>
            <a:chExt cx="247800" cy="247800"/>
          </a:xfrm>
        </p:grpSpPr>
        <p:sp>
          <p:nvSpPr>
            <p:cNvPr id="438" name="Google Shape;438;h510714b4cc47d3b6_0_1315"/>
            <p:cNvSpPr/>
            <p:nvPr/>
          </p:nvSpPr>
          <p:spPr>
            <a:xfrm>
              <a:off x="8198710" y="5381625"/>
              <a:ext cx="247800" cy="247800"/>
            </a:xfrm>
            <a:prstGeom prst="ellipse">
              <a:avLst/>
            </a:prstGeom>
            <a:solidFill>
              <a:srgbClr val="6CC0D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pic>
          <p:nvPicPr>
            <p:cNvPr descr="scan-search__04263F.png" id="439" name="Google Shape;439;h510714b4cc47d3b6_0_1315"/>
            <p:cNvPicPr preferRelativeResize="0"/>
            <p:nvPr/>
          </p:nvPicPr>
          <p:blipFill rotWithShape="1">
            <a:blip r:embed="rId11">
              <a:alphaModFix/>
            </a:blip>
            <a:srcRect b="0" l="0" r="0" t="0"/>
            <a:stretch/>
          </p:blipFill>
          <p:spPr>
            <a:xfrm>
              <a:off x="8258146" y="5441061"/>
              <a:ext cx="128778" cy="128778"/>
            </a:xfrm>
            <a:prstGeom prst="rect">
              <a:avLst/>
            </a:prstGeom>
            <a:noFill/>
            <a:ln>
              <a:noFill/>
            </a:ln>
          </p:spPr>
        </p:pic>
      </p:grpSp>
      <p:sp>
        <p:nvSpPr>
          <p:cNvPr id="440" name="Google Shape;440;h510714b4cc47d3b6_0_1315"/>
          <p:cNvSpPr txBox="1"/>
          <p:nvPr/>
        </p:nvSpPr>
        <p:spPr>
          <a:xfrm>
            <a:off x="8522630" y="5414962"/>
            <a:ext cx="1531200" cy="180900"/>
          </a:xfrm>
          <a:prstGeom prst="rect">
            <a:avLst/>
          </a:prstGeom>
          <a:noFill/>
          <a:ln>
            <a:noFill/>
          </a:ln>
        </p:spPr>
        <p:txBody>
          <a:bodyPr anchorCtr="0" anchor="t" bIns="0" lIns="0" spcFirstLastPara="1" rIns="0" wrap="square" tIns="0">
            <a:noAutofit/>
          </a:bodyPr>
          <a:lstStyle/>
          <a:p>
            <a:pPr indent="0" lvl="0" marL="0" marR="0" rtl="0" algn="l">
              <a:lnSpc>
                <a:spcPct val="131094"/>
              </a:lnSpc>
              <a:spcBef>
                <a:spcPts val="0"/>
              </a:spcBef>
              <a:spcAft>
                <a:spcPts val="0"/>
              </a:spcAft>
              <a:buNone/>
            </a:pPr>
            <a:r>
              <a:rPr b="0" i="0" lang="en-US" sz="1087" u="none" cap="none" strike="noStrike">
                <a:solidFill>
                  <a:srgbClr val="FFFFFF"/>
                </a:solidFill>
                <a:latin typeface="IBM Plex Sans"/>
                <a:ea typeface="IBM Plex Sans"/>
                <a:cs typeface="IBM Plex Sans"/>
                <a:sym typeface="IBM Plex Sans"/>
              </a:rPr>
              <a:t>Stichprobe für Recall</a:t>
            </a:r>
            <a:endParaRPr/>
          </a:p>
        </p:txBody>
      </p:sp>
      <p:sp>
        <p:nvSpPr>
          <p:cNvPr id="441" name="Google Shape;441;h510714b4cc47d3b6_0_1315"/>
          <p:cNvSpPr txBox="1"/>
          <p:nvPr/>
        </p:nvSpPr>
        <p:spPr>
          <a:xfrm>
            <a:off x="9933818" y="5414962"/>
            <a:ext cx="230100" cy="180900"/>
          </a:xfrm>
          <a:prstGeom prst="rect">
            <a:avLst/>
          </a:prstGeom>
          <a:noFill/>
          <a:ln>
            <a:noFill/>
          </a:ln>
        </p:spPr>
        <p:txBody>
          <a:bodyPr anchorCtr="0" anchor="t" bIns="0" lIns="0" spcFirstLastPara="1" rIns="0" wrap="square" tIns="0">
            <a:noAutofit/>
          </a:bodyPr>
          <a:lstStyle/>
          <a:p>
            <a:pPr indent="0" lvl="0" marL="0" marR="0" rtl="0" algn="l">
              <a:lnSpc>
                <a:spcPct val="131094"/>
              </a:lnSpc>
              <a:spcBef>
                <a:spcPts val="0"/>
              </a:spcBef>
              <a:spcAft>
                <a:spcPts val="0"/>
              </a:spcAft>
              <a:buNone/>
            </a:pPr>
            <a:r>
              <a:rPr b="0" i="0" lang="en-US" sz="1087" u="none" cap="none" strike="noStrike">
                <a:solidFill>
                  <a:srgbClr val="6CC0D2"/>
                </a:solidFill>
                <a:latin typeface="IBM Plex Sans"/>
                <a:ea typeface="IBM Plex Sans"/>
                <a:cs typeface="IBM Plex Sans"/>
                <a:sym typeface="IBM Plex Sans"/>
              </a:rPr>
              <a:t>→</a:t>
            </a:r>
            <a:endParaRPr/>
          </a:p>
        </p:txBody>
      </p:sp>
      <p:grpSp>
        <p:nvGrpSpPr>
          <p:cNvPr id="442" name="Google Shape;442;h510714b4cc47d3b6_0_1315"/>
          <p:cNvGrpSpPr/>
          <p:nvPr/>
        </p:nvGrpSpPr>
        <p:grpSpPr>
          <a:xfrm>
            <a:off x="10144725" y="5381625"/>
            <a:ext cx="247800" cy="247800"/>
            <a:chOff x="10144725" y="5381625"/>
            <a:chExt cx="247800" cy="247800"/>
          </a:xfrm>
        </p:grpSpPr>
        <p:sp>
          <p:nvSpPr>
            <p:cNvPr id="443" name="Google Shape;443;h510714b4cc47d3b6_0_1315"/>
            <p:cNvSpPr/>
            <p:nvPr/>
          </p:nvSpPr>
          <p:spPr>
            <a:xfrm>
              <a:off x="10144725" y="5381625"/>
              <a:ext cx="247800" cy="247800"/>
            </a:xfrm>
            <a:prstGeom prst="ellipse">
              <a:avLst/>
            </a:prstGeom>
            <a:solidFill>
              <a:srgbClr val="6CC0D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pic>
          <p:nvPicPr>
            <p:cNvPr descr="tags__04263F.png" id="444" name="Google Shape;444;h510714b4cc47d3b6_0_1315"/>
            <p:cNvPicPr preferRelativeResize="0"/>
            <p:nvPr/>
          </p:nvPicPr>
          <p:blipFill rotWithShape="1">
            <a:blip r:embed="rId12">
              <a:alphaModFix/>
            </a:blip>
            <a:srcRect b="0" l="0" r="0" t="0"/>
            <a:stretch/>
          </p:blipFill>
          <p:spPr>
            <a:xfrm>
              <a:off x="10204161" y="5441061"/>
              <a:ext cx="128778" cy="128778"/>
            </a:xfrm>
            <a:prstGeom prst="rect">
              <a:avLst/>
            </a:prstGeom>
            <a:noFill/>
            <a:ln>
              <a:noFill/>
            </a:ln>
          </p:spPr>
        </p:pic>
      </p:grpSp>
      <p:sp>
        <p:nvSpPr>
          <p:cNvPr id="445" name="Google Shape;445;h510714b4cc47d3b6_0_1315"/>
          <p:cNvSpPr txBox="1"/>
          <p:nvPr/>
        </p:nvSpPr>
        <p:spPr>
          <a:xfrm>
            <a:off x="10468661" y="5414962"/>
            <a:ext cx="1019400" cy="180900"/>
          </a:xfrm>
          <a:prstGeom prst="rect">
            <a:avLst/>
          </a:prstGeom>
          <a:noFill/>
          <a:ln>
            <a:noFill/>
          </a:ln>
        </p:spPr>
        <p:txBody>
          <a:bodyPr anchorCtr="0" anchor="t" bIns="0" lIns="0" spcFirstLastPara="1" rIns="0" wrap="square" tIns="0">
            <a:noAutofit/>
          </a:bodyPr>
          <a:lstStyle/>
          <a:p>
            <a:pPr indent="0" lvl="0" marL="0" marR="0" rtl="0" algn="l">
              <a:lnSpc>
                <a:spcPct val="131094"/>
              </a:lnSpc>
              <a:spcBef>
                <a:spcPts val="0"/>
              </a:spcBef>
              <a:spcAft>
                <a:spcPts val="0"/>
              </a:spcAft>
              <a:buNone/>
            </a:pPr>
            <a:r>
              <a:rPr b="0" i="0" lang="en-US" sz="1087" u="none" cap="none" strike="noStrike">
                <a:solidFill>
                  <a:srgbClr val="FFFFFF"/>
                </a:solidFill>
                <a:latin typeface="IBM Plex Sans"/>
                <a:ea typeface="IBM Plex Sans"/>
                <a:cs typeface="IBM Plex Sans"/>
                <a:sym typeface="IBM Plex Sans"/>
              </a:rPr>
              <a:t>Klassifikation</a:t>
            </a:r>
            <a:endParaRPr/>
          </a:p>
        </p:txBody>
      </p:sp>
      <p:sp>
        <p:nvSpPr>
          <p:cNvPr id="446" name="Google Shape;446;h510714b4cc47d3b6_0_1315"/>
          <p:cNvSpPr/>
          <p:nvPr/>
        </p:nvSpPr>
        <p:spPr>
          <a:xfrm>
            <a:off x="8497799" y="5791200"/>
            <a:ext cx="3008400" cy="314400"/>
          </a:xfrm>
          <a:prstGeom prst="roundRect">
            <a:avLst>
              <a:gd fmla="val 50000" name="adj"/>
            </a:avLst>
          </a:prstGeom>
          <a:solidFill>
            <a:srgbClr val="6CC0D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pic>
        <p:nvPicPr>
          <p:cNvPr descr="arrow-right__04263F.png" id="447" name="Google Shape;447;h510714b4cc47d3b6_0_1315"/>
          <p:cNvPicPr preferRelativeResize="0"/>
          <p:nvPr/>
        </p:nvPicPr>
        <p:blipFill rotWithShape="1">
          <a:blip r:embed="rId13">
            <a:alphaModFix/>
          </a:blip>
          <a:srcRect b="0" l="0" r="0" t="0"/>
          <a:stretch/>
        </p:blipFill>
        <p:spPr>
          <a:xfrm>
            <a:off x="8650200" y="5862638"/>
            <a:ext cx="171450" cy="171450"/>
          </a:xfrm>
          <a:prstGeom prst="rect">
            <a:avLst/>
          </a:prstGeom>
          <a:noFill/>
          <a:ln>
            <a:noFill/>
          </a:ln>
        </p:spPr>
      </p:pic>
      <p:sp>
        <p:nvSpPr>
          <p:cNvPr id="448" name="Google Shape;448;h510714b4cc47d3b6_0_1315"/>
          <p:cNvSpPr txBox="1"/>
          <p:nvPr/>
        </p:nvSpPr>
        <p:spPr>
          <a:xfrm>
            <a:off x="8897852" y="5791200"/>
            <a:ext cx="2785500" cy="314400"/>
          </a:xfrm>
          <a:prstGeom prst="rect">
            <a:avLst/>
          </a:prstGeom>
          <a:noFill/>
          <a:ln>
            <a:noFill/>
          </a:ln>
        </p:spPr>
        <p:txBody>
          <a:bodyPr anchorCtr="0" anchor="ctr" bIns="0" lIns="0" spcFirstLastPara="1" rIns="0" wrap="square" tIns="0">
            <a:noAutofit/>
          </a:bodyPr>
          <a:lstStyle/>
          <a:p>
            <a:pPr indent="0" lvl="0" marL="0" marR="0" rtl="0" algn="l">
              <a:lnSpc>
                <a:spcPct val="129955"/>
              </a:lnSpc>
              <a:spcBef>
                <a:spcPts val="0"/>
              </a:spcBef>
              <a:spcAft>
                <a:spcPts val="0"/>
              </a:spcAft>
              <a:buNone/>
            </a:pPr>
            <a:r>
              <a:rPr b="1" i="0" lang="en-US" sz="1125" u="none" cap="none" strike="noStrike">
                <a:solidFill>
                  <a:srgbClr val="04263F"/>
                </a:solidFill>
                <a:latin typeface="IBM Plex Sans"/>
                <a:ea typeface="IBM Plex Sans"/>
                <a:cs typeface="IBM Plex Sans"/>
                <a:sym typeface="IBM Plex Sans"/>
              </a:rPr>
              <a:t>Patrick: Ergebnisse &amp; Empfehlungen</a:t>
            </a:r>
            <a:endParaRPr/>
          </a:p>
        </p:txBody>
      </p:sp>
      <p:cxnSp>
        <p:nvCxnSpPr>
          <p:cNvPr id="449" name="Google Shape;449;h510714b4cc47d3b6_0_1315"/>
          <p:cNvCxnSpPr/>
          <p:nvPr/>
        </p:nvCxnSpPr>
        <p:spPr>
          <a:xfrm>
            <a:off x="0" y="6219825"/>
            <a:ext cx="12192000" cy="0"/>
          </a:xfrm>
          <a:prstGeom prst="straightConnector1">
            <a:avLst/>
          </a:prstGeom>
          <a:noFill/>
          <a:ln cap="flat" cmpd="sng" w="9525">
            <a:solidFill>
              <a:srgbClr val="2E5674"/>
            </a:solidFill>
            <a:prstDash val="solid"/>
            <a:round/>
            <a:headEnd len="sm" w="sm" type="none"/>
            <a:tailEnd len="sm" w="sm" type="none"/>
          </a:ln>
          <a:effectLst>
            <a:outerShdw blurRad="40000" rotWithShape="0" dir="5400000" dist="20000">
              <a:srgbClr val="000000">
                <a:alpha val="38040"/>
              </a:srgbClr>
            </a:outerShdw>
          </a:effectLst>
        </p:spPr>
      </p:cxnSp>
      <p:sp>
        <p:nvSpPr>
          <p:cNvPr id="450" name="Google Shape;450;h510714b4cc47d3b6_0_1315"/>
          <p:cNvSpPr/>
          <p:nvPr/>
        </p:nvSpPr>
        <p:spPr>
          <a:xfrm>
            <a:off x="685806" y="6400800"/>
            <a:ext cx="609600" cy="247800"/>
          </a:xfrm>
          <a:prstGeom prst="roundRect">
            <a:avLst>
              <a:gd fmla="val 15384"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pic>
        <p:nvPicPr>
          <p:cNvPr descr="image.png" id="451" name="Google Shape;451;h510714b4cc47d3b6_0_1315"/>
          <p:cNvPicPr preferRelativeResize="0"/>
          <p:nvPr/>
        </p:nvPicPr>
        <p:blipFill rotWithShape="1">
          <a:blip r:embed="rId14">
            <a:alphaModFix/>
          </a:blip>
          <a:srcRect b="0" l="0" r="0" t="0"/>
          <a:stretch/>
        </p:blipFill>
        <p:spPr>
          <a:xfrm>
            <a:off x="742956" y="6438900"/>
            <a:ext cx="495598" cy="171450"/>
          </a:xfrm>
          <a:prstGeom prst="rect">
            <a:avLst/>
          </a:prstGeom>
          <a:noFill/>
          <a:ln>
            <a:noFill/>
          </a:ln>
        </p:spPr>
      </p:pic>
      <p:sp>
        <p:nvSpPr>
          <p:cNvPr id="452" name="Google Shape;452;h510714b4cc47d3b6_0_1315"/>
          <p:cNvSpPr txBox="1"/>
          <p:nvPr/>
        </p:nvSpPr>
        <p:spPr>
          <a:xfrm>
            <a:off x="1447812" y="6429375"/>
            <a:ext cx="2891700" cy="1905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None/>
            </a:pPr>
            <a:r>
              <a:rPr b="0" i="0" lang="en-US" sz="1200" u="none" cap="none" strike="noStrike">
                <a:solidFill>
                  <a:srgbClr val="7FB4D8"/>
                </a:solidFill>
                <a:latin typeface="IBM Plex Sans"/>
                <a:ea typeface="IBM Plex Sans"/>
                <a:cs typeface="IBM Plex Sans"/>
                <a:sym typeface="IBM Plex Sans"/>
              </a:rPr>
              <a:t>Verbrauchsprognose &amp; Frühwarnung</a:t>
            </a:r>
            <a:endParaRPr/>
          </a:p>
        </p:txBody>
      </p:sp>
      <p:cxnSp>
        <p:nvCxnSpPr>
          <p:cNvPr id="453" name="Google Shape;453;h510714b4cc47d3b6_0_1315"/>
          <p:cNvCxnSpPr/>
          <p:nvPr/>
        </p:nvCxnSpPr>
        <p:spPr>
          <a:xfrm>
            <a:off x="4248185" y="6419850"/>
            <a:ext cx="0" cy="209700"/>
          </a:xfrm>
          <a:prstGeom prst="straightConnector1">
            <a:avLst/>
          </a:prstGeom>
          <a:noFill/>
          <a:ln cap="flat" cmpd="sng" w="9525">
            <a:solidFill>
              <a:srgbClr val="2E5674"/>
            </a:solidFill>
            <a:prstDash val="solid"/>
            <a:round/>
            <a:headEnd len="sm" w="sm" type="none"/>
            <a:tailEnd len="sm" w="sm" type="none"/>
          </a:ln>
          <a:effectLst>
            <a:outerShdw blurRad="40000" rotWithShape="0" dir="5400000" dist="20000">
              <a:srgbClr val="000000">
                <a:alpha val="38040"/>
              </a:srgbClr>
            </a:outerShdw>
          </a:effectLst>
        </p:spPr>
      </p:cxnSp>
      <p:grpSp>
        <p:nvGrpSpPr>
          <p:cNvPr id="454" name="Google Shape;454;h510714b4cc47d3b6_0_1315"/>
          <p:cNvGrpSpPr/>
          <p:nvPr/>
        </p:nvGrpSpPr>
        <p:grpSpPr>
          <a:xfrm>
            <a:off x="4410075" y="6419850"/>
            <a:ext cx="209700" cy="209700"/>
            <a:chOff x="4410075" y="6419850"/>
            <a:chExt cx="209700" cy="209700"/>
          </a:xfrm>
        </p:grpSpPr>
        <p:sp>
          <p:nvSpPr>
            <p:cNvPr id="455" name="Google Shape;455;h510714b4cc47d3b6_0_1315"/>
            <p:cNvSpPr/>
            <p:nvPr/>
          </p:nvSpPr>
          <p:spPr>
            <a:xfrm>
              <a:off x="4410075" y="6419850"/>
              <a:ext cx="209700" cy="209700"/>
            </a:xfrm>
            <a:prstGeom prst="ellipse">
              <a:avLst/>
            </a:prstGeom>
            <a:solidFill>
              <a:srgbClr val="6CC0D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pic>
          <p:nvPicPr>
            <p:cNvPr descr="split__04263F.png" id="456" name="Google Shape;456;h510714b4cc47d3b6_0_1315"/>
            <p:cNvPicPr preferRelativeResize="0"/>
            <p:nvPr/>
          </p:nvPicPr>
          <p:blipFill rotWithShape="1">
            <a:blip r:embed="rId15">
              <a:alphaModFix/>
            </a:blip>
            <a:srcRect b="0" l="0" r="0" t="0"/>
            <a:stretch/>
          </p:blipFill>
          <p:spPr>
            <a:xfrm>
              <a:off x="4460367" y="6470142"/>
              <a:ext cx="108966" cy="108966"/>
            </a:xfrm>
            <a:prstGeom prst="rect">
              <a:avLst/>
            </a:prstGeom>
            <a:noFill/>
            <a:ln>
              <a:noFill/>
            </a:ln>
          </p:spPr>
        </p:pic>
      </p:grpSp>
      <p:sp>
        <p:nvSpPr>
          <p:cNvPr id="457" name="Google Shape;457;h510714b4cc47d3b6_0_1315"/>
          <p:cNvSpPr txBox="1"/>
          <p:nvPr/>
        </p:nvSpPr>
        <p:spPr>
          <a:xfrm>
            <a:off x="4676813" y="6438900"/>
            <a:ext cx="324000" cy="171600"/>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None/>
            </a:pPr>
            <a:r>
              <a:rPr b="1" i="0" lang="en-US" sz="1050" u="none" cap="none" strike="noStrike">
                <a:solidFill>
                  <a:srgbClr val="6CC0D2"/>
                </a:solidFill>
                <a:latin typeface="Geist Mono"/>
                <a:ea typeface="Geist Mono"/>
                <a:cs typeface="Geist Mono"/>
                <a:sym typeface="Geist Mono"/>
              </a:rPr>
              <a:t>07</a:t>
            </a:r>
            <a:endParaRPr/>
          </a:p>
        </p:txBody>
      </p:sp>
      <p:sp>
        <p:nvSpPr>
          <p:cNvPr id="458" name="Google Shape;458;h510714b4cc47d3b6_0_1315"/>
          <p:cNvSpPr txBox="1"/>
          <p:nvPr/>
        </p:nvSpPr>
        <p:spPr>
          <a:xfrm>
            <a:off x="4893985" y="6438900"/>
            <a:ext cx="1001100" cy="171600"/>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None/>
            </a:pPr>
            <a:r>
              <a:rPr b="0" i="0" lang="en-US" sz="1050" u="none" cap="none" strike="noStrike">
                <a:solidFill>
                  <a:srgbClr val="BBD7EA"/>
                </a:solidFill>
                <a:latin typeface="IBM Plex Sans"/>
                <a:ea typeface="IBM Plex Sans"/>
                <a:cs typeface="IBM Plex Sans"/>
                <a:sym typeface="IBM Plex Sans"/>
              </a:rPr>
              <a:t>Entscheidung</a:t>
            </a:r>
            <a:endParaRPr/>
          </a:p>
        </p:txBody>
      </p:sp>
      <p:grpSp>
        <p:nvGrpSpPr>
          <p:cNvPr id="459" name="Google Shape;459;h510714b4cc47d3b6_0_1315"/>
          <p:cNvGrpSpPr/>
          <p:nvPr/>
        </p:nvGrpSpPr>
        <p:grpSpPr>
          <a:xfrm>
            <a:off x="5830157" y="6426994"/>
            <a:ext cx="195300" cy="195300"/>
            <a:chOff x="5830157" y="6426994"/>
            <a:chExt cx="195300" cy="195300"/>
          </a:xfrm>
        </p:grpSpPr>
        <p:sp>
          <p:nvSpPr>
            <p:cNvPr id="460" name="Google Shape;460;h510714b4cc47d3b6_0_1315"/>
            <p:cNvSpPr/>
            <p:nvPr/>
          </p:nvSpPr>
          <p:spPr>
            <a:xfrm>
              <a:off x="5830157" y="6426994"/>
              <a:ext cx="195300" cy="195300"/>
            </a:xfrm>
            <a:prstGeom prst="ellipse">
              <a:avLst/>
            </a:prstGeom>
            <a:solidFill>
              <a:srgbClr val="1F4A6A"/>
            </a:solidFill>
            <a:ln cap="flat" cmpd="sng" w="14275">
              <a:solidFill>
                <a:srgbClr val="42668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pic>
          <p:nvPicPr>
            <p:cNvPr descr="target__9CC3E0.png" id="461" name="Google Shape;461;h510714b4cc47d3b6_0_1315"/>
            <p:cNvPicPr preferRelativeResize="0"/>
            <p:nvPr/>
          </p:nvPicPr>
          <p:blipFill rotWithShape="1">
            <a:blip r:embed="rId16">
              <a:alphaModFix/>
            </a:blip>
            <a:srcRect b="0" l="0" r="0" t="0"/>
            <a:stretch/>
          </p:blipFill>
          <p:spPr>
            <a:xfrm>
              <a:off x="5873305" y="6470142"/>
              <a:ext cx="108966" cy="108966"/>
            </a:xfrm>
            <a:prstGeom prst="rect">
              <a:avLst/>
            </a:prstGeom>
            <a:noFill/>
            <a:ln>
              <a:noFill/>
            </a:ln>
          </p:spPr>
        </p:pic>
      </p:grpSp>
      <p:sp>
        <p:nvSpPr>
          <p:cNvPr id="462" name="Google Shape;462;h510714b4cc47d3b6_0_1315"/>
          <p:cNvSpPr txBox="1"/>
          <p:nvPr/>
        </p:nvSpPr>
        <p:spPr>
          <a:xfrm>
            <a:off x="6089763" y="6438900"/>
            <a:ext cx="324000" cy="171600"/>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None/>
            </a:pPr>
            <a:r>
              <a:rPr b="1" i="0" lang="en-US" sz="1050" u="none" cap="none" strike="noStrike">
                <a:solidFill>
                  <a:srgbClr val="6CC0D2"/>
                </a:solidFill>
                <a:latin typeface="Geist Mono"/>
                <a:ea typeface="Geist Mono"/>
                <a:cs typeface="Geist Mono"/>
                <a:sym typeface="Geist Mono"/>
              </a:rPr>
              <a:t>08</a:t>
            </a:r>
            <a:endParaRPr/>
          </a:p>
        </p:txBody>
      </p:sp>
      <p:sp>
        <p:nvSpPr>
          <p:cNvPr id="463" name="Google Shape;463;h510714b4cc47d3b6_0_1315"/>
          <p:cNvSpPr txBox="1"/>
          <p:nvPr/>
        </p:nvSpPr>
        <p:spPr>
          <a:xfrm>
            <a:off x="6306935" y="6438900"/>
            <a:ext cx="578700" cy="171600"/>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None/>
            </a:pPr>
            <a:r>
              <a:rPr b="0" i="0" lang="en-US" sz="1050" u="none" cap="none" strike="noStrike">
                <a:solidFill>
                  <a:srgbClr val="BBD7EA"/>
                </a:solidFill>
                <a:latin typeface="IBM Plex Sans"/>
                <a:ea typeface="IBM Plex Sans"/>
                <a:cs typeface="IBM Plex Sans"/>
                <a:sym typeface="IBM Plex Sans"/>
              </a:rPr>
              <a:t>Impact</a:t>
            </a:r>
            <a:endParaRPr/>
          </a:p>
        </p:txBody>
      </p:sp>
      <p:grpSp>
        <p:nvGrpSpPr>
          <p:cNvPr id="464" name="Google Shape;464;h510714b4cc47d3b6_0_1315"/>
          <p:cNvGrpSpPr/>
          <p:nvPr/>
        </p:nvGrpSpPr>
        <p:grpSpPr>
          <a:xfrm>
            <a:off x="6859048" y="6426994"/>
            <a:ext cx="195300" cy="195300"/>
            <a:chOff x="6859048" y="6426994"/>
            <a:chExt cx="195300" cy="195300"/>
          </a:xfrm>
        </p:grpSpPr>
        <p:sp>
          <p:nvSpPr>
            <p:cNvPr id="465" name="Google Shape;465;h510714b4cc47d3b6_0_1315"/>
            <p:cNvSpPr/>
            <p:nvPr/>
          </p:nvSpPr>
          <p:spPr>
            <a:xfrm>
              <a:off x="6859048" y="6426994"/>
              <a:ext cx="195300" cy="195300"/>
            </a:xfrm>
            <a:prstGeom prst="ellipse">
              <a:avLst/>
            </a:prstGeom>
            <a:solidFill>
              <a:srgbClr val="1F4A6A"/>
            </a:solidFill>
            <a:ln cap="flat" cmpd="sng" w="14275">
              <a:solidFill>
                <a:srgbClr val="42668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pic>
          <p:nvPicPr>
            <p:cNvPr descr="activity__9CC3E0.png" id="466" name="Google Shape;466;h510714b4cc47d3b6_0_1315"/>
            <p:cNvPicPr preferRelativeResize="0"/>
            <p:nvPr/>
          </p:nvPicPr>
          <p:blipFill rotWithShape="1">
            <a:blip r:embed="rId17">
              <a:alphaModFix/>
            </a:blip>
            <a:srcRect b="0" l="0" r="0" t="0"/>
            <a:stretch/>
          </p:blipFill>
          <p:spPr>
            <a:xfrm>
              <a:off x="6902196" y="6470142"/>
              <a:ext cx="108966" cy="108966"/>
            </a:xfrm>
            <a:prstGeom prst="rect">
              <a:avLst/>
            </a:prstGeom>
            <a:noFill/>
            <a:ln>
              <a:noFill/>
            </a:ln>
          </p:spPr>
        </p:pic>
      </p:grpSp>
      <p:sp>
        <p:nvSpPr>
          <p:cNvPr id="467" name="Google Shape;467;h510714b4cc47d3b6_0_1315"/>
          <p:cNvSpPr txBox="1"/>
          <p:nvPr/>
        </p:nvSpPr>
        <p:spPr>
          <a:xfrm>
            <a:off x="7118662" y="6438900"/>
            <a:ext cx="324000" cy="171600"/>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None/>
            </a:pPr>
            <a:r>
              <a:rPr b="1" i="0" lang="en-US" sz="1050" u="none" cap="none" strike="noStrike">
                <a:solidFill>
                  <a:srgbClr val="6CC0D2"/>
                </a:solidFill>
                <a:latin typeface="Geist Mono"/>
                <a:ea typeface="Geist Mono"/>
                <a:cs typeface="Geist Mono"/>
                <a:sym typeface="Geist Mono"/>
              </a:rPr>
              <a:t>10</a:t>
            </a:r>
            <a:endParaRPr/>
          </a:p>
        </p:txBody>
      </p:sp>
      <p:sp>
        <p:nvSpPr>
          <p:cNvPr id="468" name="Google Shape;468;h510714b4cc47d3b6_0_1315"/>
          <p:cNvSpPr txBox="1"/>
          <p:nvPr/>
        </p:nvSpPr>
        <p:spPr>
          <a:xfrm>
            <a:off x="7335834" y="6438900"/>
            <a:ext cx="811800" cy="171600"/>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None/>
            </a:pPr>
            <a:r>
              <a:rPr b="0" i="0" lang="en-US" sz="1050" u="none" cap="none" strike="noStrike">
                <a:solidFill>
                  <a:srgbClr val="BBD7EA"/>
                </a:solidFill>
                <a:latin typeface="IBM Plex Sans"/>
                <a:ea typeface="IBM Plex Sans"/>
                <a:cs typeface="IBM Plex Sans"/>
                <a:sym typeface="IBM Plex Sans"/>
              </a:rPr>
              <a:t>Monitoring</a:t>
            </a:r>
            <a:endParaRPr/>
          </a:p>
        </p:txBody>
      </p:sp>
      <p:sp>
        <p:nvSpPr>
          <p:cNvPr id="469" name="Google Shape;469;h510714b4cc47d3b6_0_1315"/>
          <p:cNvSpPr txBox="1"/>
          <p:nvPr/>
        </p:nvSpPr>
        <p:spPr>
          <a:xfrm>
            <a:off x="9456498" y="6429375"/>
            <a:ext cx="1257300" cy="190500"/>
          </a:xfrm>
          <a:prstGeom prst="rect">
            <a:avLst/>
          </a:prstGeom>
          <a:noFill/>
          <a:ln>
            <a:noFill/>
          </a:ln>
        </p:spPr>
        <p:txBody>
          <a:bodyPr anchorCtr="0" anchor="t" bIns="0" lIns="0" spcFirstLastPara="1" rIns="0" wrap="square" tIns="0">
            <a:noAutofit/>
          </a:bodyPr>
          <a:lstStyle/>
          <a:p>
            <a:pPr indent="0" lvl="0" marL="0" marR="0" rtl="0" algn="r">
              <a:lnSpc>
                <a:spcPct val="125000"/>
              </a:lnSpc>
              <a:spcBef>
                <a:spcPts val="0"/>
              </a:spcBef>
              <a:spcAft>
                <a:spcPts val="0"/>
              </a:spcAft>
              <a:buNone/>
            </a:pPr>
            <a:r>
              <a:rPr b="1" i="0" lang="en-US" sz="1200" u="none" cap="none" strike="noStrike">
                <a:solidFill>
                  <a:srgbClr val="BBD7EA"/>
                </a:solidFill>
                <a:latin typeface="IBM Plex Sans"/>
                <a:ea typeface="IBM Plex Sans"/>
                <a:cs typeface="IBM Plex Sans"/>
                <a:sym typeface="IBM Plex Sans"/>
              </a:rPr>
              <a:t>Kiko</a:t>
            </a:r>
            <a:endParaRPr/>
          </a:p>
        </p:txBody>
      </p:sp>
      <p:sp>
        <p:nvSpPr>
          <p:cNvPr id="470" name="Google Shape;470;h510714b4cc47d3b6_0_1315"/>
          <p:cNvSpPr txBox="1"/>
          <p:nvPr/>
        </p:nvSpPr>
        <p:spPr>
          <a:xfrm>
            <a:off x="10802201" y="6424612"/>
            <a:ext cx="704100" cy="200100"/>
          </a:xfrm>
          <a:prstGeom prst="rect">
            <a:avLst/>
          </a:prstGeom>
          <a:noFill/>
          <a:ln>
            <a:noFill/>
          </a:ln>
        </p:spPr>
        <p:txBody>
          <a:bodyPr anchorCtr="0" anchor="t" bIns="0" lIns="0" spcFirstLastPara="1" rIns="0" wrap="square" tIns="0">
            <a:noAutofit/>
          </a:bodyPr>
          <a:lstStyle/>
          <a:p>
            <a:pPr indent="0" lvl="0" marL="0" marR="0" rtl="0" algn="r">
              <a:lnSpc>
                <a:spcPct val="131250"/>
              </a:lnSpc>
              <a:spcBef>
                <a:spcPts val="0"/>
              </a:spcBef>
              <a:spcAft>
                <a:spcPts val="0"/>
              </a:spcAft>
              <a:buNone/>
            </a:pPr>
            <a:r>
              <a:rPr b="0" i="0" lang="en-US" sz="1200" u="none" cap="none" strike="noStrike">
                <a:solidFill>
                  <a:srgbClr val="7FB4D8"/>
                </a:solidFill>
                <a:latin typeface="Geist Mono"/>
                <a:ea typeface="Geist Mono"/>
                <a:cs typeface="Geist Mono"/>
                <a:sym typeface="Geist Mono"/>
              </a:rPr>
              <a:t>16 / 21</a:t>
            </a:r>
            <a:endParaRPr/>
          </a:p>
        </p:txBody>
      </p:sp>
      <p:sp>
        <p:nvSpPr>
          <p:cNvPr id="471" name="Google Shape;471;h510714b4cc47d3b6_0_1315"/>
          <p:cNvSpPr txBox="1"/>
          <p:nvPr/>
        </p:nvSpPr>
        <p:spPr>
          <a:xfrm>
            <a:off x="6267501" y="428625"/>
            <a:ext cx="3143400" cy="171600"/>
          </a:xfrm>
          <a:prstGeom prst="rect">
            <a:avLst/>
          </a:prstGeom>
          <a:noFill/>
          <a:ln>
            <a:noFill/>
          </a:ln>
        </p:spPr>
        <p:txBody>
          <a:bodyPr anchorCtr="0" anchor="t" bIns="0" lIns="0" spcFirstLastPara="1" rIns="0" wrap="square" tIns="0">
            <a:noAutofit/>
          </a:bodyPr>
          <a:lstStyle/>
          <a:p>
            <a:pPr indent="0" lvl="0" marL="0" marR="0" rtl="0" algn="r">
              <a:lnSpc>
                <a:spcPct val="128571"/>
              </a:lnSpc>
              <a:spcBef>
                <a:spcPts val="0"/>
              </a:spcBef>
              <a:spcAft>
                <a:spcPts val="0"/>
              </a:spcAft>
              <a:buNone/>
            </a:pPr>
            <a:r>
              <a:rPr b="1" i="0" lang="en-US" sz="1050" u="none" cap="none" strike="noStrike">
                <a:solidFill>
                  <a:srgbClr val="6CC0D2"/>
                </a:solidFill>
                <a:latin typeface="IBM Plex Sans"/>
                <a:ea typeface="IBM Plex Sans"/>
                <a:cs typeface="IBM Plex Sans"/>
                <a:sym typeface="IBM Plex Sans"/>
              </a:rPr>
              <a:t>04 · Methodik und Modell · Kiko</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3659"/>
        </a:solidFill>
      </p:bgPr>
    </p:bg>
    <p:spTree>
      <p:nvGrpSpPr>
        <p:cNvPr id="476" name="Shape 476"/>
        <p:cNvGrpSpPr/>
        <p:nvPr/>
      </p:nvGrpSpPr>
      <p:grpSpPr>
        <a:xfrm>
          <a:off x="0" y="0"/>
          <a:ext cx="0" cy="0"/>
          <a:chOff x="0" y="0"/>
          <a:chExt cx="0" cy="0"/>
        </a:xfrm>
      </p:grpSpPr>
      <p:sp>
        <p:nvSpPr>
          <p:cNvPr id="477" name="Google Shape;477;h510714b4cc47d3b6_0_834"/>
          <p:cNvSpPr txBox="1"/>
          <p:nvPr/>
        </p:nvSpPr>
        <p:spPr>
          <a:xfrm>
            <a:off x="685806" y="457200"/>
            <a:ext cx="8591400" cy="1905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None/>
            </a:pPr>
            <a:r>
              <a:rPr b="1" i="0" lang="en-US" sz="1200" u="none" cap="none" strike="noStrike">
                <a:solidFill>
                  <a:srgbClr val="6CC0D2"/>
                </a:solidFill>
                <a:latin typeface="IBM Plex Sans"/>
                <a:ea typeface="IBM Plex Sans"/>
                <a:cs typeface="IBM Plex Sans"/>
                <a:sym typeface="IBM Plex Sans"/>
              </a:rPr>
              <a:t>AUSBLICK · KIKO</a:t>
            </a:r>
            <a:endParaRPr/>
          </a:p>
        </p:txBody>
      </p:sp>
      <p:sp>
        <p:nvSpPr>
          <p:cNvPr id="478" name="Google Shape;478;h510714b4cc47d3b6_0_834"/>
          <p:cNvSpPr txBox="1"/>
          <p:nvPr/>
        </p:nvSpPr>
        <p:spPr>
          <a:xfrm>
            <a:off x="685806" y="762000"/>
            <a:ext cx="10820400" cy="438300"/>
          </a:xfrm>
          <a:prstGeom prst="rect">
            <a:avLst/>
          </a:prstGeom>
          <a:noFill/>
          <a:ln>
            <a:noFill/>
          </a:ln>
        </p:spPr>
        <p:txBody>
          <a:bodyPr anchorCtr="0" anchor="t" bIns="0" lIns="0" spcFirstLastPara="1" rIns="0" wrap="square" tIns="0">
            <a:noAutofit/>
          </a:bodyPr>
          <a:lstStyle/>
          <a:p>
            <a:pPr indent="0" lvl="0" marL="0" marR="0" rtl="0" algn="l">
              <a:lnSpc>
                <a:spcPct val="112500"/>
              </a:lnSpc>
              <a:spcBef>
                <a:spcPts val="0"/>
              </a:spcBef>
              <a:spcAft>
                <a:spcPts val="0"/>
              </a:spcAft>
              <a:buNone/>
            </a:pPr>
            <a:r>
              <a:rPr b="1" i="0" lang="en-US" sz="3000" u="none" cap="none" strike="noStrike">
                <a:solidFill>
                  <a:srgbClr val="FFFFFF"/>
                </a:solidFill>
                <a:latin typeface="IBM Plex Sans"/>
                <a:ea typeface="IBM Plex Sans"/>
                <a:cs typeface="IBM Plex Sans"/>
                <a:sym typeface="IBM Plex Sans"/>
              </a:rPr>
              <a:t>Aus Bewertungen wird ein Klassifikationsmodell</a:t>
            </a:r>
            <a:endParaRPr/>
          </a:p>
        </p:txBody>
      </p:sp>
      <p:sp>
        <p:nvSpPr>
          <p:cNvPr id="479" name="Google Shape;479;h510714b4cc47d3b6_0_834"/>
          <p:cNvSpPr/>
          <p:nvPr/>
        </p:nvSpPr>
        <p:spPr>
          <a:xfrm>
            <a:off x="685806" y="1524000"/>
            <a:ext cx="3486300" cy="2495700"/>
          </a:xfrm>
          <a:prstGeom prst="roundRect">
            <a:avLst>
              <a:gd fmla="val 3816" name="adj"/>
            </a:avLst>
          </a:prstGeom>
          <a:solidFill>
            <a:srgbClr val="174465"/>
          </a:solidFill>
          <a:ln cap="flat" cmpd="sng" w="9525">
            <a:solidFill>
              <a:srgbClr val="2E567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480" name="Google Shape;480;h510714b4cc47d3b6_0_834"/>
          <p:cNvSpPr txBox="1"/>
          <p:nvPr/>
        </p:nvSpPr>
        <p:spPr>
          <a:xfrm>
            <a:off x="933458" y="1752600"/>
            <a:ext cx="1257300" cy="3810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None/>
            </a:pPr>
            <a:r>
              <a:rPr b="1" i="0" lang="en-US" sz="2400" u="none" cap="none" strike="noStrike">
                <a:solidFill>
                  <a:srgbClr val="6CC0D2"/>
                </a:solidFill>
                <a:latin typeface="Geist Mono"/>
                <a:ea typeface="Geist Mono"/>
                <a:cs typeface="Geist Mono"/>
                <a:sym typeface="Geist Mono"/>
              </a:rPr>
              <a:t>01</a:t>
            </a:r>
            <a:endParaRPr/>
          </a:p>
        </p:txBody>
      </p:sp>
      <p:sp>
        <p:nvSpPr>
          <p:cNvPr id="481" name="Google Shape;481;h510714b4cc47d3b6_0_834"/>
          <p:cNvSpPr txBox="1"/>
          <p:nvPr/>
        </p:nvSpPr>
        <p:spPr>
          <a:xfrm>
            <a:off x="933458" y="2247900"/>
            <a:ext cx="2991000" cy="285900"/>
          </a:xfrm>
          <a:prstGeom prst="rect">
            <a:avLst/>
          </a:prstGeom>
          <a:noFill/>
          <a:ln>
            <a:noFill/>
          </a:ln>
        </p:spPr>
        <p:txBody>
          <a:bodyPr anchorCtr="0" anchor="t" bIns="0" lIns="0" spcFirstLastPara="1" rIns="0" wrap="square" tIns="0">
            <a:noAutofit/>
          </a:bodyPr>
          <a:lstStyle/>
          <a:p>
            <a:pPr indent="0" lvl="0" marL="0" marR="0" rtl="0" algn="l">
              <a:lnSpc>
                <a:spcPct val="131818"/>
              </a:lnSpc>
              <a:spcBef>
                <a:spcPts val="0"/>
              </a:spcBef>
              <a:spcAft>
                <a:spcPts val="0"/>
              </a:spcAft>
              <a:buNone/>
            </a:pPr>
            <a:r>
              <a:rPr b="1" i="0" lang="en-US" sz="1650" u="none" cap="none" strike="noStrike">
                <a:solidFill>
                  <a:srgbClr val="FFFFFF"/>
                </a:solidFill>
                <a:latin typeface="IBM Plex Sans"/>
                <a:ea typeface="IBM Plex Sans"/>
                <a:cs typeface="IBM Plex Sans"/>
                <a:sym typeface="IBM Plex Sans"/>
              </a:rPr>
              <a:t>Prüfhinweise bewerten</a:t>
            </a:r>
            <a:endParaRPr/>
          </a:p>
        </p:txBody>
      </p:sp>
      <p:sp>
        <p:nvSpPr>
          <p:cNvPr id="482" name="Google Shape;482;h510714b4cc47d3b6_0_834"/>
          <p:cNvSpPr txBox="1"/>
          <p:nvPr/>
        </p:nvSpPr>
        <p:spPr>
          <a:xfrm>
            <a:off x="933458" y="2628900"/>
            <a:ext cx="2991000" cy="1257300"/>
          </a:xfrm>
          <a:prstGeom prst="rect">
            <a:avLst/>
          </a:prstGeom>
          <a:noFill/>
          <a:ln>
            <a:noFill/>
          </a:ln>
        </p:spPr>
        <p:txBody>
          <a:bodyPr anchorCtr="0" anchor="t" bIns="0" lIns="0" spcFirstLastPara="1" rIns="0" wrap="square" tIns="0">
            <a:noAutofit/>
          </a:bodyPr>
          <a:lstStyle/>
          <a:p>
            <a:pPr indent="0" lvl="0" marL="0" marR="0" rtl="0" algn="l">
              <a:lnSpc>
                <a:spcPct val="142105"/>
              </a:lnSpc>
              <a:spcBef>
                <a:spcPts val="0"/>
              </a:spcBef>
              <a:spcAft>
                <a:spcPts val="0"/>
              </a:spcAft>
              <a:buNone/>
            </a:pPr>
            <a:r>
              <a:rPr b="0" i="0" lang="en-US" sz="1425" u="none" cap="none" strike="noStrike">
                <a:solidFill>
                  <a:srgbClr val="BBD7EA"/>
                </a:solidFill>
                <a:latin typeface="IBM Plex Sans"/>
                <a:ea typeface="IBM Plex Sans"/>
                <a:cs typeface="IBM Plex Sans"/>
                <a:sym typeface="IBM Plex Sans"/>
              </a:rPr>
              <a:t>Jede Prüfung speichert: Messwert gültig? Abweichung erklärt? Ursache.</a:t>
            </a:r>
            <a:endParaRPr/>
          </a:p>
        </p:txBody>
      </p:sp>
      <p:sp>
        <p:nvSpPr>
          <p:cNvPr id="483" name="Google Shape;483;h510714b4cc47d3b6_0_834"/>
          <p:cNvSpPr/>
          <p:nvPr/>
        </p:nvSpPr>
        <p:spPr>
          <a:xfrm>
            <a:off x="4352961" y="1524000"/>
            <a:ext cx="3486300" cy="2495700"/>
          </a:xfrm>
          <a:prstGeom prst="roundRect">
            <a:avLst>
              <a:gd fmla="val 3816" name="adj"/>
            </a:avLst>
          </a:prstGeom>
          <a:solidFill>
            <a:srgbClr val="174465"/>
          </a:solidFill>
          <a:ln cap="flat" cmpd="sng" w="9525">
            <a:solidFill>
              <a:srgbClr val="2E567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484" name="Google Shape;484;h510714b4cc47d3b6_0_834"/>
          <p:cNvSpPr txBox="1"/>
          <p:nvPr/>
        </p:nvSpPr>
        <p:spPr>
          <a:xfrm>
            <a:off x="4600613" y="1752600"/>
            <a:ext cx="1257300" cy="3810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None/>
            </a:pPr>
            <a:r>
              <a:rPr b="1" i="0" lang="en-US" sz="2400" u="none" cap="none" strike="noStrike">
                <a:solidFill>
                  <a:srgbClr val="6CC0D2"/>
                </a:solidFill>
                <a:latin typeface="Geist Mono"/>
                <a:ea typeface="Geist Mono"/>
                <a:cs typeface="Geist Mono"/>
                <a:sym typeface="Geist Mono"/>
              </a:rPr>
              <a:t>02</a:t>
            </a:r>
            <a:endParaRPr/>
          </a:p>
        </p:txBody>
      </p:sp>
      <p:sp>
        <p:nvSpPr>
          <p:cNvPr id="485" name="Google Shape;485;h510714b4cc47d3b6_0_834"/>
          <p:cNvSpPr txBox="1"/>
          <p:nvPr/>
        </p:nvSpPr>
        <p:spPr>
          <a:xfrm>
            <a:off x="4600613" y="2247900"/>
            <a:ext cx="2991000" cy="285900"/>
          </a:xfrm>
          <a:prstGeom prst="rect">
            <a:avLst/>
          </a:prstGeom>
          <a:noFill/>
          <a:ln>
            <a:noFill/>
          </a:ln>
        </p:spPr>
        <p:txBody>
          <a:bodyPr anchorCtr="0" anchor="t" bIns="0" lIns="0" spcFirstLastPara="1" rIns="0" wrap="square" tIns="0">
            <a:noAutofit/>
          </a:bodyPr>
          <a:lstStyle/>
          <a:p>
            <a:pPr indent="0" lvl="0" marL="0" marR="0" rtl="0" algn="l">
              <a:lnSpc>
                <a:spcPct val="131818"/>
              </a:lnSpc>
              <a:spcBef>
                <a:spcPts val="0"/>
              </a:spcBef>
              <a:spcAft>
                <a:spcPts val="0"/>
              </a:spcAft>
              <a:buNone/>
            </a:pPr>
            <a:r>
              <a:rPr b="1" i="0" lang="en-US" sz="1650" u="none" cap="none" strike="noStrike">
                <a:solidFill>
                  <a:srgbClr val="FFFFFF"/>
                </a:solidFill>
                <a:latin typeface="IBM Plex Sans"/>
                <a:ea typeface="IBM Plex Sans"/>
                <a:cs typeface="IBM Plex Sans"/>
                <a:sym typeface="IBM Plex Sans"/>
              </a:rPr>
              <a:t>Klassifikation trainieren</a:t>
            </a:r>
            <a:endParaRPr/>
          </a:p>
        </p:txBody>
      </p:sp>
      <p:sp>
        <p:nvSpPr>
          <p:cNvPr id="486" name="Google Shape;486;h510714b4cc47d3b6_0_834"/>
          <p:cNvSpPr txBox="1"/>
          <p:nvPr/>
        </p:nvSpPr>
        <p:spPr>
          <a:xfrm>
            <a:off x="4600613" y="2628900"/>
            <a:ext cx="2991000" cy="1257300"/>
          </a:xfrm>
          <a:prstGeom prst="rect">
            <a:avLst/>
          </a:prstGeom>
          <a:noFill/>
          <a:ln>
            <a:noFill/>
          </a:ln>
        </p:spPr>
        <p:txBody>
          <a:bodyPr anchorCtr="0" anchor="t" bIns="0" lIns="0" spcFirstLastPara="1" rIns="0" wrap="square" tIns="0">
            <a:noAutofit/>
          </a:bodyPr>
          <a:lstStyle/>
          <a:p>
            <a:pPr indent="0" lvl="0" marL="0" marR="0" rtl="0" algn="l">
              <a:lnSpc>
                <a:spcPct val="142105"/>
              </a:lnSpc>
              <a:spcBef>
                <a:spcPts val="0"/>
              </a:spcBef>
              <a:spcAft>
                <a:spcPts val="0"/>
              </a:spcAft>
              <a:buNone/>
            </a:pPr>
            <a:r>
              <a:rPr b="0" i="0" lang="en-US" sz="1425" u="none" cap="none" strike="noStrike">
                <a:solidFill>
                  <a:srgbClr val="BBD7EA"/>
                </a:solidFill>
                <a:latin typeface="IBM Plex Sans"/>
                <a:ea typeface="IBM Plex Sans"/>
                <a:cs typeface="IBM Plex Sans"/>
                <a:sym typeface="IBM Plex Sans"/>
              </a:rPr>
              <a:t>Mit genug bestätigten Fällen schätzt ein zweites Modell je Hinweis die Wahrscheinlichkeit in %.</a:t>
            </a:r>
            <a:endParaRPr/>
          </a:p>
        </p:txBody>
      </p:sp>
      <p:sp>
        <p:nvSpPr>
          <p:cNvPr id="487" name="Google Shape;487;h510714b4cc47d3b6_0_834"/>
          <p:cNvSpPr/>
          <p:nvPr/>
        </p:nvSpPr>
        <p:spPr>
          <a:xfrm>
            <a:off x="8020116" y="1524000"/>
            <a:ext cx="3486300" cy="2495700"/>
          </a:xfrm>
          <a:prstGeom prst="roundRect">
            <a:avLst>
              <a:gd fmla="val 3816" name="adj"/>
            </a:avLst>
          </a:prstGeom>
          <a:solidFill>
            <a:srgbClr val="174465"/>
          </a:solidFill>
          <a:ln cap="flat" cmpd="sng" w="9525">
            <a:solidFill>
              <a:srgbClr val="2E567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488" name="Google Shape;488;h510714b4cc47d3b6_0_834"/>
          <p:cNvSpPr txBox="1"/>
          <p:nvPr/>
        </p:nvSpPr>
        <p:spPr>
          <a:xfrm>
            <a:off x="8267768" y="1752600"/>
            <a:ext cx="1257300" cy="3810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None/>
            </a:pPr>
            <a:r>
              <a:rPr b="1" i="0" lang="en-US" sz="2400" u="none" cap="none" strike="noStrike">
                <a:solidFill>
                  <a:srgbClr val="6CC0D2"/>
                </a:solidFill>
                <a:latin typeface="Geist Mono"/>
                <a:ea typeface="Geist Mono"/>
                <a:cs typeface="Geist Mono"/>
                <a:sym typeface="Geist Mono"/>
              </a:rPr>
              <a:t>03</a:t>
            </a:r>
            <a:endParaRPr/>
          </a:p>
        </p:txBody>
      </p:sp>
      <p:sp>
        <p:nvSpPr>
          <p:cNvPr id="489" name="Google Shape;489;h510714b4cc47d3b6_0_834"/>
          <p:cNvSpPr txBox="1"/>
          <p:nvPr/>
        </p:nvSpPr>
        <p:spPr>
          <a:xfrm>
            <a:off x="8267768" y="2247900"/>
            <a:ext cx="2991000" cy="285900"/>
          </a:xfrm>
          <a:prstGeom prst="rect">
            <a:avLst/>
          </a:prstGeom>
          <a:noFill/>
          <a:ln>
            <a:noFill/>
          </a:ln>
        </p:spPr>
        <p:txBody>
          <a:bodyPr anchorCtr="0" anchor="t" bIns="0" lIns="0" spcFirstLastPara="1" rIns="0" wrap="square" tIns="0">
            <a:noAutofit/>
          </a:bodyPr>
          <a:lstStyle/>
          <a:p>
            <a:pPr indent="0" lvl="0" marL="0" marR="0" rtl="0" algn="l">
              <a:lnSpc>
                <a:spcPct val="131818"/>
              </a:lnSpc>
              <a:spcBef>
                <a:spcPts val="0"/>
              </a:spcBef>
              <a:spcAft>
                <a:spcPts val="0"/>
              </a:spcAft>
              <a:buNone/>
            </a:pPr>
            <a:r>
              <a:rPr b="1" i="0" lang="en-US" sz="1650" u="none" cap="none" strike="noStrike">
                <a:solidFill>
                  <a:srgbClr val="FFFFFF"/>
                </a:solidFill>
                <a:latin typeface="IBM Plex Sans"/>
                <a:ea typeface="IBM Plex Sans"/>
                <a:cs typeface="IBM Plex Sans"/>
                <a:sym typeface="IBM Plex Sans"/>
              </a:rPr>
              <a:t>Workflow automatisieren</a:t>
            </a:r>
            <a:endParaRPr/>
          </a:p>
        </p:txBody>
      </p:sp>
      <p:sp>
        <p:nvSpPr>
          <p:cNvPr id="490" name="Google Shape;490;h510714b4cc47d3b6_0_834"/>
          <p:cNvSpPr txBox="1"/>
          <p:nvPr/>
        </p:nvSpPr>
        <p:spPr>
          <a:xfrm>
            <a:off x="8267768" y="2628900"/>
            <a:ext cx="2991000" cy="1257300"/>
          </a:xfrm>
          <a:prstGeom prst="rect">
            <a:avLst/>
          </a:prstGeom>
          <a:noFill/>
          <a:ln>
            <a:noFill/>
          </a:ln>
        </p:spPr>
        <p:txBody>
          <a:bodyPr anchorCtr="0" anchor="t" bIns="0" lIns="0" spcFirstLastPara="1" rIns="0" wrap="square" tIns="0">
            <a:noAutofit/>
          </a:bodyPr>
          <a:lstStyle/>
          <a:p>
            <a:pPr indent="0" lvl="0" marL="0" marR="0" rtl="0" algn="l">
              <a:lnSpc>
                <a:spcPct val="142105"/>
              </a:lnSpc>
              <a:spcBef>
                <a:spcPts val="0"/>
              </a:spcBef>
              <a:spcAft>
                <a:spcPts val="0"/>
              </a:spcAft>
              <a:buNone/>
            </a:pPr>
            <a:r>
              <a:rPr b="0" i="0" lang="en-US" sz="1425" u="none" cap="none" strike="noStrike">
                <a:solidFill>
                  <a:srgbClr val="BBD7EA"/>
                </a:solidFill>
                <a:latin typeface="IBM Plex Sans"/>
                <a:ea typeface="IBM Plex Sans"/>
                <a:cs typeface="IBM Plex Sans"/>
                <a:sym typeface="IBM Plex Sans"/>
              </a:rPr>
              <a:t>Hinweise nach Wahrscheinlichkeit automatisiert vorsortieren; der Mensch entscheidet.</a:t>
            </a:r>
            <a:endParaRPr/>
          </a:p>
        </p:txBody>
      </p:sp>
      <p:sp>
        <p:nvSpPr>
          <p:cNvPr id="491" name="Google Shape;491;h510714b4cc47d3b6_0_834"/>
          <p:cNvSpPr/>
          <p:nvPr/>
        </p:nvSpPr>
        <p:spPr>
          <a:xfrm>
            <a:off x="685806" y="4191000"/>
            <a:ext cx="10820400" cy="666900"/>
          </a:xfrm>
          <a:prstGeom prst="roundRect">
            <a:avLst>
              <a:gd fmla="val 14285" name="adj"/>
            </a:avLst>
          </a:prstGeom>
          <a:solidFill>
            <a:srgbClr val="174465"/>
          </a:solidFill>
          <a:ln cap="flat" cmpd="sng" w="9525">
            <a:solidFill>
              <a:srgbClr val="2E567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492" name="Google Shape;492;h510714b4cc47d3b6_0_834"/>
          <p:cNvSpPr/>
          <p:nvPr/>
        </p:nvSpPr>
        <p:spPr>
          <a:xfrm>
            <a:off x="876307" y="4362450"/>
            <a:ext cx="991500" cy="312300"/>
          </a:xfrm>
          <a:prstGeom prst="roundRect">
            <a:avLst>
              <a:gd fmla="val 50000" name="adj"/>
            </a:avLst>
          </a:prstGeom>
          <a:solidFill>
            <a:srgbClr val="2E5774"/>
          </a:solidFill>
          <a:ln cap="flat" cmpd="sng" w="9525">
            <a:solidFill>
              <a:srgbClr val="4F718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493" name="Google Shape;493;h510714b4cc47d3b6_0_834"/>
          <p:cNvSpPr txBox="1"/>
          <p:nvPr/>
        </p:nvSpPr>
        <p:spPr>
          <a:xfrm>
            <a:off x="826739" y="4362450"/>
            <a:ext cx="1090500" cy="3123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b="1" i="0" lang="en-US" sz="1200" u="none" cap="none" strike="noStrike">
                <a:solidFill>
                  <a:srgbClr val="FFFFFF"/>
                </a:solidFill>
                <a:latin typeface="IBM Plex Sans"/>
                <a:ea typeface="IBM Plex Sans"/>
                <a:cs typeface="IBM Plex Sans"/>
                <a:sym typeface="IBM Plex Sans"/>
              </a:rPr>
              <a:t>Vorbehalt</a:t>
            </a:r>
            <a:endParaRPr/>
          </a:p>
        </p:txBody>
      </p:sp>
      <p:sp>
        <p:nvSpPr>
          <p:cNvPr id="494" name="Google Shape;494;h510714b4cc47d3b6_0_834"/>
          <p:cNvSpPr txBox="1"/>
          <p:nvPr/>
        </p:nvSpPr>
        <p:spPr>
          <a:xfrm>
            <a:off x="2020079" y="4191000"/>
            <a:ext cx="9295500" cy="666900"/>
          </a:xfrm>
          <a:prstGeom prst="rect">
            <a:avLst/>
          </a:prstGeom>
          <a:noFill/>
          <a:ln>
            <a:noFill/>
          </a:ln>
        </p:spPr>
        <p:txBody>
          <a:bodyPr anchorCtr="0" anchor="ctr" bIns="0" lIns="0" spcFirstLastPara="1" rIns="0" wrap="square" tIns="0">
            <a:noAutofit/>
          </a:bodyPr>
          <a:lstStyle/>
          <a:p>
            <a:pPr indent="0" lvl="0" marL="0" marR="0" rtl="0" algn="l">
              <a:lnSpc>
                <a:spcPct val="138888"/>
              </a:lnSpc>
              <a:spcBef>
                <a:spcPts val="0"/>
              </a:spcBef>
              <a:spcAft>
                <a:spcPts val="0"/>
              </a:spcAft>
              <a:buNone/>
            </a:pPr>
            <a:r>
              <a:rPr b="0" i="0" lang="en-US" sz="1350" u="none" cap="none" strike="noStrike">
                <a:solidFill>
                  <a:srgbClr val="FFFFFF"/>
                </a:solidFill>
                <a:latin typeface="IBM Plex Sans"/>
                <a:ea typeface="IBM Plex Sans"/>
                <a:cs typeface="IBM Plex Sans"/>
                <a:sym typeface="IBM Plex Sans"/>
              </a:rPr>
              <a:t>Das Modell ersetzt keine Abrechnungsentscheidung — es flaggt nur Untersuchungswürdiges.</a:t>
            </a:r>
            <a:endParaRPr/>
          </a:p>
        </p:txBody>
      </p:sp>
      <p:sp>
        <p:nvSpPr>
          <p:cNvPr id="495" name="Google Shape;495;h510714b4cc47d3b6_0_834"/>
          <p:cNvSpPr txBox="1"/>
          <p:nvPr/>
        </p:nvSpPr>
        <p:spPr>
          <a:xfrm>
            <a:off x="685806" y="5067300"/>
            <a:ext cx="10820400" cy="60960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None/>
            </a:pPr>
            <a:r>
              <a:rPr b="1" i="0" lang="en-US" sz="1500" u="none" cap="none" strike="noStrike">
                <a:solidFill>
                  <a:srgbClr val="6CC0D2"/>
                </a:solidFill>
                <a:latin typeface="IBM Plex Sans"/>
                <a:ea typeface="IBM Plex Sans"/>
                <a:cs typeface="IBM Plex Sans"/>
                <a:sym typeface="IBM Plex Sans"/>
              </a:rPr>
              <a:t>Weiter mit Patrick: Ergebnisse 2025 und wie hinterlegte echte Zählerwerte das Retraining der Prognose verbessern.</a:t>
            </a:r>
            <a:endParaRPr/>
          </a:p>
        </p:txBody>
      </p:sp>
      <p:cxnSp>
        <p:nvCxnSpPr>
          <p:cNvPr id="496" name="Google Shape;496;h510714b4cc47d3b6_0_834"/>
          <p:cNvCxnSpPr/>
          <p:nvPr/>
        </p:nvCxnSpPr>
        <p:spPr>
          <a:xfrm>
            <a:off x="0" y="6153150"/>
            <a:ext cx="12192000" cy="0"/>
          </a:xfrm>
          <a:prstGeom prst="straightConnector1">
            <a:avLst/>
          </a:prstGeom>
          <a:noFill/>
          <a:ln cap="flat" cmpd="sng" w="9525">
            <a:solidFill>
              <a:srgbClr val="2E5674"/>
            </a:solidFill>
            <a:prstDash val="solid"/>
            <a:round/>
            <a:headEnd len="sm" w="sm" type="none"/>
            <a:tailEnd len="sm" w="sm" type="none"/>
          </a:ln>
          <a:effectLst>
            <a:outerShdw blurRad="40000" rotWithShape="0" dir="5400000" dist="20000">
              <a:srgbClr val="000000">
                <a:alpha val="38040"/>
              </a:srgbClr>
            </a:outerShdw>
          </a:effectLst>
        </p:spPr>
      </p:cxnSp>
      <p:sp>
        <p:nvSpPr>
          <p:cNvPr id="497" name="Google Shape;497;h510714b4cc47d3b6_0_834"/>
          <p:cNvSpPr/>
          <p:nvPr/>
        </p:nvSpPr>
        <p:spPr>
          <a:xfrm>
            <a:off x="685806" y="6343650"/>
            <a:ext cx="666900" cy="285900"/>
          </a:xfrm>
          <a:prstGeom prst="roundRect">
            <a:avLst>
              <a:gd fmla="val 13333"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pic>
        <p:nvPicPr>
          <p:cNvPr descr="image.png" id="498" name="Google Shape;498;h510714b4cc47d3b6_0_834"/>
          <p:cNvPicPr preferRelativeResize="0"/>
          <p:nvPr/>
        </p:nvPicPr>
        <p:blipFill rotWithShape="1">
          <a:blip r:embed="rId3">
            <a:alphaModFix/>
          </a:blip>
          <a:srcRect b="0" l="0" r="0" t="0"/>
          <a:stretch/>
        </p:blipFill>
        <p:spPr>
          <a:xfrm>
            <a:off x="742956" y="6381750"/>
            <a:ext cx="605730" cy="209550"/>
          </a:xfrm>
          <a:prstGeom prst="rect">
            <a:avLst/>
          </a:prstGeom>
          <a:noFill/>
          <a:ln>
            <a:noFill/>
          </a:ln>
        </p:spPr>
      </p:pic>
      <p:sp>
        <p:nvSpPr>
          <p:cNvPr id="499" name="Google Shape;499;h510714b4cc47d3b6_0_834"/>
          <p:cNvSpPr txBox="1"/>
          <p:nvPr/>
        </p:nvSpPr>
        <p:spPr>
          <a:xfrm>
            <a:off x="1504962" y="6391275"/>
            <a:ext cx="2891700" cy="1905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None/>
            </a:pPr>
            <a:r>
              <a:rPr b="0" i="0" lang="en-US" sz="1200" u="none" cap="none" strike="noStrike">
                <a:solidFill>
                  <a:srgbClr val="7FB4D8"/>
                </a:solidFill>
                <a:latin typeface="IBM Plex Sans"/>
                <a:ea typeface="IBM Plex Sans"/>
                <a:cs typeface="IBM Plex Sans"/>
                <a:sym typeface="IBM Plex Sans"/>
              </a:rPr>
              <a:t>Verbrauchsprognose &amp; Frühwarnung</a:t>
            </a:r>
            <a:endParaRPr/>
          </a:p>
        </p:txBody>
      </p:sp>
      <p:sp>
        <p:nvSpPr>
          <p:cNvPr id="500" name="Google Shape;500;h510714b4cc47d3b6_0_834"/>
          <p:cNvSpPr txBox="1"/>
          <p:nvPr/>
        </p:nvSpPr>
        <p:spPr>
          <a:xfrm>
            <a:off x="10835729" y="6391275"/>
            <a:ext cx="670500" cy="190500"/>
          </a:xfrm>
          <a:prstGeom prst="rect">
            <a:avLst/>
          </a:prstGeom>
          <a:noFill/>
          <a:ln>
            <a:noFill/>
          </a:ln>
        </p:spPr>
        <p:txBody>
          <a:bodyPr anchorCtr="0" anchor="t" bIns="0" lIns="0" spcFirstLastPara="1" rIns="0" wrap="square" tIns="0">
            <a:noAutofit/>
          </a:bodyPr>
          <a:lstStyle/>
          <a:p>
            <a:pPr indent="0" lvl="0" marL="0" marR="0" rtl="0" algn="r">
              <a:lnSpc>
                <a:spcPct val="125000"/>
              </a:lnSpc>
              <a:spcBef>
                <a:spcPts val="0"/>
              </a:spcBef>
              <a:spcAft>
                <a:spcPts val="0"/>
              </a:spcAft>
              <a:buNone/>
            </a:pPr>
            <a:r>
              <a:rPr b="0" i="0" lang="en-US" sz="1200" u="none" cap="none" strike="noStrike">
                <a:solidFill>
                  <a:srgbClr val="7FB4D8"/>
                </a:solidFill>
                <a:latin typeface="IBM Plex Sans"/>
                <a:ea typeface="IBM Plex Sans"/>
                <a:cs typeface="IBM Plex Sans"/>
                <a:sym typeface="IBM Plex Sans"/>
              </a:rPr>
              <a:t>9 / 9</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63659"/>
        </a:solidFill>
      </p:bgPr>
    </p:bg>
    <p:spTree>
      <p:nvGrpSpPr>
        <p:cNvPr id="505" name="Shape 505"/>
        <p:cNvGrpSpPr/>
        <p:nvPr/>
      </p:nvGrpSpPr>
      <p:grpSpPr>
        <a:xfrm>
          <a:off x="0" y="0"/>
          <a:ext cx="0" cy="0"/>
          <a:chOff x="0" y="0"/>
          <a:chExt cx="0" cy="0"/>
        </a:xfrm>
      </p:grpSpPr>
      <p:sp>
        <p:nvSpPr>
          <p:cNvPr id="506" name="Google Shape;506;h3fbf580b30600811_1_0"/>
          <p:cNvSpPr txBox="1"/>
          <p:nvPr/>
        </p:nvSpPr>
        <p:spPr>
          <a:xfrm>
            <a:off x="685807" y="438912"/>
            <a:ext cx="9601200" cy="184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1200" u="none" cap="none" strike="noStrike">
                <a:solidFill>
                  <a:srgbClr val="6CC0D2"/>
                </a:solidFill>
                <a:latin typeface="IBM Plex Sans"/>
                <a:ea typeface="IBM Plex Sans"/>
                <a:cs typeface="IBM Plex Sans"/>
                <a:sym typeface="IBM Plex Sans"/>
              </a:rPr>
              <a:t>KAPITEL 05 UND 06 · PATRICK OLMO HEDERER</a:t>
            </a:r>
            <a:endParaRPr/>
          </a:p>
        </p:txBody>
      </p:sp>
      <p:cxnSp>
        <p:nvCxnSpPr>
          <p:cNvPr id="507" name="Google Shape;507;h3fbf580b30600811_1_0"/>
          <p:cNvCxnSpPr/>
          <p:nvPr/>
        </p:nvCxnSpPr>
        <p:spPr>
          <a:xfrm>
            <a:off x="685807" y="6336792"/>
            <a:ext cx="10820400" cy="0"/>
          </a:xfrm>
          <a:prstGeom prst="straightConnector1">
            <a:avLst/>
          </a:prstGeom>
          <a:noFill/>
          <a:ln cap="flat" cmpd="sng" w="9525">
            <a:solidFill>
              <a:srgbClr val="0A5A93"/>
            </a:solidFill>
            <a:prstDash val="solid"/>
            <a:round/>
            <a:headEnd len="sm" w="sm" type="none"/>
            <a:tailEnd len="sm" w="sm" type="none"/>
          </a:ln>
        </p:spPr>
      </p:cxnSp>
      <p:sp>
        <p:nvSpPr>
          <p:cNvPr id="508" name="Google Shape;508;h3fbf580b30600811_1_0"/>
          <p:cNvSpPr txBox="1"/>
          <p:nvPr/>
        </p:nvSpPr>
        <p:spPr>
          <a:xfrm>
            <a:off x="685807" y="6473952"/>
            <a:ext cx="7315200" cy="169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1100" u="none" cap="none" strike="noStrike">
                <a:solidFill>
                  <a:srgbClr val="7FB4D8"/>
                </a:solidFill>
                <a:latin typeface="IBM Plex Sans"/>
                <a:ea typeface="IBM Plex Sans"/>
                <a:cs typeface="IBM Plex Sans"/>
                <a:sym typeface="IBM Plex Sans"/>
              </a:rPr>
              <a:t>Verbrauchsprognose &amp; Frühwarnung · Patrick Olmo Hederer</a:t>
            </a:r>
            <a:endParaRPr/>
          </a:p>
        </p:txBody>
      </p:sp>
      <p:sp>
        <p:nvSpPr>
          <p:cNvPr id="509" name="Google Shape;509;h3fbf580b30600811_1_0"/>
          <p:cNvSpPr txBox="1"/>
          <p:nvPr/>
        </p:nvSpPr>
        <p:spPr>
          <a:xfrm>
            <a:off x="10591908" y="6473952"/>
            <a:ext cx="914400" cy="169200"/>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None/>
            </a:pPr>
            <a:r>
              <a:rPr b="0" i="0" lang="en-US" sz="1100" u="none" cap="none" strike="noStrike">
                <a:solidFill>
                  <a:srgbClr val="7FB4D8"/>
                </a:solidFill>
                <a:latin typeface="Geist Mono"/>
                <a:ea typeface="Geist Mono"/>
                <a:cs typeface="Geist Mono"/>
                <a:sym typeface="Geist Mono"/>
              </a:rPr>
              <a:t>1</a:t>
            </a:r>
            <a:endParaRPr/>
          </a:p>
        </p:txBody>
      </p:sp>
      <p:sp>
        <p:nvSpPr>
          <p:cNvPr id="510" name="Google Shape;510;h3fbf580b30600811_1_0"/>
          <p:cNvSpPr txBox="1"/>
          <p:nvPr/>
        </p:nvSpPr>
        <p:spPr>
          <a:xfrm>
            <a:off x="685807" y="1234440"/>
            <a:ext cx="6583800" cy="2135700"/>
          </a:xfrm>
          <a:prstGeom prst="rect">
            <a:avLst/>
          </a:prstGeom>
          <a:noFill/>
          <a:ln>
            <a:noFill/>
          </a:ln>
        </p:spPr>
        <p:txBody>
          <a:bodyPr anchorCtr="0" anchor="t" bIns="0" lIns="0" spcFirstLastPara="1" rIns="0" wrap="square" tIns="0">
            <a:spAutoFit/>
          </a:bodyPr>
          <a:lstStyle/>
          <a:p>
            <a:pPr indent="0" lvl="0" marL="0" marR="0" rtl="0" algn="l">
              <a:lnSpc>
                <a:spcPct val="102000"/>
              </a:lnSpc>
              <a:spcBef>
                <a:spcPts val="0"/>
              </a:spcBef>
              <a:spcAft>
                <a:spcPts val="0"/>
              </a:spcAft>
              <a:buNone/>
            </a:pPr>
            <a:r>
              <a:rPr b="1" i="0" lang="en-US" sz="4400" u="none" cap="none" strike="noStrike">
                <a:solidFill>
                  <a:srgbClr val="FFFFFF"/>
                </a:solidFill>
                <a:latin typeface="IBM Plex Sans"/>
                <a:ea typeface="IBM Plex Sans"/>
                <a:cs typeface="IBM Plex Sans"/>
                <a:sym typeface="IBM Plex Sans"/>
              </a:rPr>
              <a:t>Ergebnisse, Empfehlungen</a:t>
            </a:r>
            <a:endParaRPr/>
          </a:p>
          <a:p>
            <a:pPr indent="0" lvl="0" marL="0" marR="0" rtl="0" algn="l">
              <a:lnSpc>
                <a:spcPct val="102000"/>
              </a:lnSpc>
              <a:spcBef>
                <a:spcPts val="600"/>
              </a:spcBef>
              <a:spcAft>
                <a:spcPts val="0"/>
              </a:spcAft>
              <a:buNone/>
            </a:pPr>
            <a:r>
              <a:rPr b="1" i="0" lang="en-US" sz="4400" u="none" cap="none" strike="noStrike">
                <a:solidFill>
                  <a:srgbClr val="FFFFFF"/>
                </a:solidFill>
                <a:latin typeface="IBM Plex Sans"/>
                <a:ea typeface="IBM Plex Sans"/>
                <a:cs typeface="IBM Plex Sans"/>
                <a:sym typeface="IBM Plex Sans"/>
              </a:rPr>
              <a:t>und Ausblick</a:t>
            </a:r>
            <a:endParaRPr/>
          </a:p>
        </p:txBody>
      </p:sp>
      <p:sp>
        <p:nvSpPr>
          <p:cNvPr id="511" name="Google Shape;511;h3fbf580b30600811_1_0"/>
          <p:cNvSpPr txBox="1"/>
          <p:nvPr/>
        </p:nvSpPr>
        <p:spPr>
          <a:xfrm>
            <a:off x="685807" y="3429000"/>
            <a:ext cx="5852100" cy="661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2000" u="none" cap="none" strike="noStrike">
                <a:solidFill>
                  <a:srgbClr val="BBD7EA"/>
                </a:solidFill>
                <a:latin typeface="IBM Plex Sans"/>
                <a:ea typeface="IBM Plex Sans"/>
                <a:cs typeface="IBM Plex Sans"/>
                <a:sym typeface="IBM Plex Sans"/>
              </a:rPr>
              <a:t>Was das Projekt für die StadtWerke Westhafen leistet – und wie es weitergeht.</a:t>
            </a:r>
            <a:endParaRPr/>
          </a:p>
        </p:txBody>
      </p:sp>
      <p:sp>
        <p:nvSpPr>
          <p:cNvPr id="512" name="Google Shape;512;h3fbf580b30600811_1_0"/>
          <p:cNvSpPr/>
          <p:nvPr/>
        </p:nvSpPr>
        <p:spPr>
          <a:xfrm>
            <a:off x="7543877" y="1325880"/>
            <a:ext cx="3959400" cy="1234500"/>
          </a:xfrm>
          <a:prstGeom prst="roundRect">
            <a:avLst>
              <a:gd fmla="val 6000" name="adj"/>
            </a:avLst>
          </a:prstGeom>
          <a:solidFill>
            <a:srgbClr val="084878"/>
          </a:solidFill>
          <a:ln cap="flat" cmpd="sng" w="12700">
            <a:solidFill>
              <a:srgbClr val="0A5A9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513" name="Google Shape;513;h3fbf580b30600811_1_0"/>
          <p:cNvSpPr txBox="1"/>
          <p:nvPr/>
        </p:nvSpPr>
        <p:spPr>
          <a:xfrm>
            <a:off x="7772480" y="1508760"/>
            <a:ext cx="914400" cy="307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2000">
                <a:solidFill>
                  <a:srgbClr val="6CC0D2"/>
                </a:solidFill>
                <a:latin typeface="Geist Mono"/>
                <a:ea typeface="Geist Mono"/>
                <a:cs typeface="Geist Mono"/>
                <a:sym typeface="Geist Mono"/>
              </a:rPr>
              <a:t>01</a:t>
            </a:r>
            <a:endParaRPr/>
          </a:p>
        </p:txBody>
      </p:sp>
      <p:sp>
        <p:nvSpPr>
          <p:cNvPr id="514" name="Google Shape;514;h3fbf580b30600811_1_0"/>
          <p:cNvSpPr txBox="1"/>
          <p:nvPr/>
        </p:nvSpPr>
        <p:spPr>
          <a:xfrm>
            <a:off x="7772480" y="1892807"/>
            <a:ext cx="3566100" cy="5442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lang="en-US" sz="1700">
                <a:solidFill>
                  <a:srgbClr val="FFFFFF"/>
                </a:solidFill>
                <a:latin typeface="IBM Plex Sans"/>
                <a:ea typeface="IBM Plex Sans"/>
                <a:cs typeface="IBM Plex Sans"/>
                <a:sym typeface="IBM Plex Sans"/>
              </a:rPr>
              <a:t>Wie gut ist die Prognose – und warum?</a:t>
            </a:r>
            <a:endParaRPr/>
          </a:p>
        </p:txBody>
      </p:sp>
      <p:sp>
        <p:nvSpPr>
          <p:cNvPr id="515" name="Google Shape;515;h3fbf580b30600811_1_0"/>
          <p:cNvSpPr/>
          <p:nvPr/>
        </p:nvSpPr>
        <p:spPr>
          <a:xfrm>
            <a:off x="7543877" y="2788920"/>
            <a:ext cx="3959400" cy="1234500"/>
          </a:xfrm>
          <a:prstGeom prst="roundRect">
            <a:avLst>
              <a:gd fmla="val 6000" name="adj"/>
            </a:avLst>
          </a:prstGeom>
          <a:solidFill>
            <a:srgbClr val="084878"/>
          </a:solidFill>
          <a:ln cap="flat" cmpd="sng" w="12700">
            <a:solidFill>
              <a:srgbClr val="0A5A9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516" name="Google Shape;516;h3fbf580b30600811_1_0"/>
          <p:cNvSpPr txBox="1"/>
          <p:nvPr/>
        </p:nvSpPr>
        <p:spPr>
          <a:xfrm>
            <a:off x="7772480" y="2971800"/>
            <a:ext cx="914400" cy="307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2000">
                <a:solidFill>
                  <a:srgbClr val="6CC0D2"/>
                </a:solidFill>
                <a:latin typeface="Geist Mono"/>
                <a:ea typeface="Geist Mono"/>
                <a:cs typeface="Geist Mono"/>
                <a:sym typeface="Geist Mono"/>
              </a:rPr>
              <a:t>02</a:t>
            </a:r>
            <a:endParaRPr/>
          </a:p>
        </p:txBody>
      </p:sp>
      <p:sp>
        <p:nvSpPr>
          <p:cNvPr id="517" name="Google Shape;517;h3fbf580b30600811_1_0"/>
          <p:cNvSpPr txBox="1"/>
          <p:nvPr/>
        </p:nvSpPr>
        <p:spPr>
          <a:xfrm>
            <a:off x="7772480" y="3355848"/>
            <a:ext cx="3566100" cy="5442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lang="en-US" sz="1700">
                <a:solidFill>
                  <a:srgbClr val="FFFFFF"/>
                </a:solidFill>
                <a:latin typeface="IBM Plex Sans"/>
                <a:ea typeface="IBM Plex Sans"/>
                <a:cs typeface="IBM Plex Sans"/>
                <a:sym typeface="IBM Plex Sans"/>
              </a:rPr>
              <a:t>Wie arbeiten Beschaffung und Netzmanagement damit?</a:t>
            </a:r>
            <a:endParaRPr/>
          </a:p>
        </p:txBody>
      </p:sp>
      <p:sp>
        <p:nvSpPr>
          <p:cNvPr id="518" name="Google Shape;518;h3fbf580b30600811_1_0"/>
          <p:cNvSpPr/>
          <p:nvPr/>
        </p:nvSpPr>
        <p:spPr>
          <a:xfrm>
            <a:off x="7543877" y="4251960"/>
            <a:ext cx="3959400" cy="1234500"/>
          </a:xfrm>
          <a:prstGeom prst="roundRect">
            <a:avLst>
              <a:gd fmla="val 6000" name="adj"/>
            </a:avLst>
          </a:prstGeom>
          <a:solidFill>
            <a:srgbClr val="084878"/>
          </a:solidFill>
          <a:ln cap="flat" cmpd="sng" w="12700">
            <a:solidFill>
              <a:srgbClr val="0A5A9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519" name="Google Shape;519;h3fbf580b30600811_1_0"/>
          <p:cNvSpPr txBox="1"/>
          <p:nvPr/>
        </p:nvSpPr>
        <p:spPr>
          <a:xfrm>
            <a:off x="7772480" y="4434840"/>
            <a:ext cx="914400" cy="307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2000">
                <a:solidFill>
                  <a:srgbClr val="6CC0D2"/>
                </a:solidFill>
                <a:latin typeface="Geist Mono"/>
                <a:ea typeface="Geist Mono"/>
                <a:cs typeface="Geist Mono"/>
                <a:sym typeface="Geist Mono"/>
              </a:rPr>
              <a:t>03</a:t>
            </a:r>
            <a:endParaRPr/>
          </a:p>
        </p:txBody>
      </p:sp>
      <p:sp>
        <p:nvSpPr>
          <p:cNvPr id="520" name="Google Shape;520;h3fbf580b30600811_1_0"/>
          <p:cNvSpPr txBox="1"/>
          <p:nvPr/>
        </p:nvSpPr>
        <p:spPr>
          <a:xfrm>
            <a:off x="7772480" y="4818888"/>
            <a:ext cx="3566100" cy="26160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lang="en-US" sz="1700">
                <a:solidFill>
                  <a:srgbClr val="FFFFFF"/>
                </a:solidFill>
                <a:latin typeface="IBM Plex Sans"/>
                <a:ea typeface="IBM Plex Sans"/>
                <a:cs typeface="IBM Plex Sans"/>
                <a:sym typeface="IBM Plex Sans"/>
              </a:rPr>
              <a:t>Was sollte SWW als Nächstes tun?</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5" name="Shape 525"/>
        <p:cNvGrpSpPr/>
        <p:nvPr/>
      </p:nvGrpSpPr>
      <p:grpSpPr>
        <a:xfrm>
          <a:off x="0" y="0"/>
          <a:ext cx="0" cy="0"/>
          <a:chOff x="0" y="0"/>
          <a:chExt cx="0" cy="0"/>
        </a:xfrm>
      </p:grpSpPr>
      <p:sp>
        <p:nvSpPr>
          <p:cNvPr id="526" name="Google Shape;526;h3fbf580b30600811_1_19"/>
          <p:cNvSpPr txBox="1"/>
          <p:nvPr/>
        </p:nvSpPr>
        <p:spPr>
          <a:xfrm>
            <a:off x="685807" y="438912"/>
            <a:ext cx="9601200" cy="184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200">
                <a:solidFill>
                  <a:srgbClr val="00718E"/>
                </a:solidFill>
                <a:latin typeface="IBM Plex Sans"/>
                <a:ea typeface="IBM Plex Sans"/>
                <a:cs typeface="IBM Plex Sans"/>
                <a:sym typeface="IBM Plex Sans"/>
              </a:rPr>
              <a:t>05 · ERGEBNISSE · MODELL-PERFORMANCE</a:t>
            </a:r>
            <a:endParaRPr/>
          </a:p>
        </p:txBody>
      </p:sp>
      <p:sp>
        <p:nvSpPr>
          <p:cNvPr id="527" name="Google Shape;527;h3fbf580b30600811_1_19"/>
          <p:cNvSpPr txBox="1"/>
          <p:nvPr/>
        </p:nvSpPr>
        <p:spPr>
          <a:xfrm>
            <a:off x="685807" y="731520"/>
            <a:ext cx="10820400" cy="4617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lang="en-US" sz="3000">
                <a:solidFill>
                  <a:srgbClr val="141A21"/>
                </a:solidFill>
                <a:latin typeface="IBM Plex Sans"/>
                <a:ea typeface="IBM Plex Sans"/>
                <a:cs typeface="IBM Plex Sans"/>
                <a:sym typeface="IBM Plex Sans"/>
              </a:rPr>
              <a:t>Die Prognose ist 15,9 % genauer als die beste Baseline</a:t>
            </a:r>
            <a:endParaRPr/>
          </a:p>
        </p:txBody>
      </p:sp>
      <p:cxnSp>
        <p:nvCxnSpPr>
          <p:cNvPr id="528" name="Google Shape;528;h3fbf580b30600811_1_19"/>
          <p:cNvCxnSpPr/>
          <p:nvPr/>
        </p:nvCxnSpPr>
        <p:spPr>
          <a:xfrm>
            <a:off x="685807" y="6336792"/>
            <a:ext cx="10820400" cy="0"/>
          </a:xfrm>
          <a:prstGeom prst="straightConnector1">
            <a:avLst/>
          </a:prstGeom>
          <a:noFill/>
          <a:ln cap="flat" cmpd="sng" w="9525">
            <a:solidFill>
              <a:srgbClr val="E4E9EF"/>
            </a:solidFill>
            <a:prstDash val="solid"/>
            <a:round/>
            <a:headEnd len="sm" w="sm" type="none"/>
            <a:tailEnd len="sm" w="sm" type="none"/>
          </a:ln>
        </p:spPr>
      </p:cxnSp>
      <p:pic>
        <p:nvPicPr>
          <p:cNvPr descr="logo-sww-wordmark.png" id="529" name="Google Shape;529;h3fbf580b30600811_1_19"/>
          <p:cNvPicPr preferRelativeResize="0"/>
          <p:nvPr/>
        </p:nvPicPr>
        <p:blipFill rotWithShape="1">
          <a:blip r:embed="rId3">
            <a:alphaModFix/>
          </a:blip>
          <a:srcRect b="0" l="0" r="0" t="0"/>
          <a:stretch/>
        </p:blipFill>
        <p:spPr>
          <a:xfrm>
            <a:off x="685807" y="6437376"/>
            <a:ext cx="687629" cy="237744"/>
          </a:xfrm>
          <a:prstGeom prst="rect">
            <a:avLst/>
          </a:prstGeom>
          <a:noFill/>
          <a:ln>
            <a:noFill/>
          </a:ln>
        </p:spPr>
      </p:pic>
      <p:sp>
        <p:nvSpPr>
          <p:cNvPr id="530" name="Google Shape;530;h3fbf580b30600811_1_19"/>
          <p:cNvSpPr txBox="1"/>
          <p:nvPr/>
        </p:nvSpPr>
        <p:spPr>
          <a:xfrm>
            <a:off x="1920260" y="6473952"/>
            <a:ext cx="7315200" cy="169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lang="en-US" sz="1100">
                <a:solidFill>
                  <a:srgbClr val="4E5A68"/>
                </a:solidFill>
                <a:latin typeface="IBM Plex Sans"/>
                <a:ea typeface="IBM Plex Sans"/>
                <a:cs typeface="IBM Plex Sans"/>
                <a:sym typeface="IBM Plex Sans"/>
              </a:rPr>
              <a:t>Verbrauchsprognose &amp; Frühwarnung · Patrick Olmo Hederer</a:t>
            </a:r>
            <a:endParaRPr/>
          </a:p>
        </p:txBody>
      </p:sp>
      <p:sp>
        <p:nvSpPr>
          <p:cNvPr id="531" name="Google Shape;531;h3fbf580b30600811_1_19"/>
          <p:cNvSpPr txBox="1"/>
          <p:nvPr/>
        </p:nvSpPr>
        <p:spPr>
          <a:xfrm>
            <a:off x="10591908" y="6473952"/>
            <a:ext cx="914400" cy="169200"/>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None/>
            </a:pPr>
            <a:r>
              <a:rPr b="0" lang="en-US" sz="1100">
                <a:solidFill>
                  <a:srgbClr val="4E5A68"/>
                </a:solidFill>
                <a:latin typeface="Geist Mono"/>
                <a:ea typeface="Geist Mono"/>
                <a:cs typeface="Geist Mono"/>
                <a:sym typeface="Geist Mono"/>
              </a:rPr>
              <a:t>2</a:t>
            </a:r>
            <a:endParaRPr/>
          </a:p>
        </p:txBody>
      </p:sp>
      <p:sp>
        <p:nvSpPr>
          <p:cNvPr id="532" name="Google Shape;532;h3fbf580b30600811_1_19"/>
          <p:cNvSpPr/>
          <p:nvPr/>
        </p:nvSpPr>
        <p:spPr>
          <a:xfrm>
            <a:off x="685807" y="1874519"/>
            <a:ext cx="3931800" cy="2148900"/>
          </a:xfrm>
          <a:prstGeom prst="roundRect">
            <a:avLst>
              <a:gd fmla="val 6000" name="adj"/>
            </a:avLst>
          </a:prstGeom>
          <a:solidFill>
            <a:srgbClr val="063659"/>
          </a:solidFill>
          <a:ln cap="flat" cmpd="sng" w="12700">
            <a:solidFill>
              <a:srgbClr val="04263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533" name="Google Shape;533;h3fbf580b30600811_1_19"/>
          <p:cNvSpPr txBox="1"/>
          <p:nvPr/>
        </p:nvSpPr>
        <p:spPr>
          <a:xfrm>
            <a:off x="960130" y="2084831"/>
            <a:ext cx="3474600" cy="184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200">
                <a:solidFill>
                  <a:srgbClr val="6CC0D2"/>
                </a:solidFill>
                <a:latin typeface="IBM Plex Sans"/>
                <a:ea typeface="IBM Plex Sans"/>
                <a:cs typeface="IBM Plex Sans"/>
                <a:sym typeface="IBM Plex Sans"/>
              </a:rPr>
              <a:t>HAUPTMETRIK · RMSE · TESTJAHR 2025</a:t>
            </a:r>
            <a:endParaRPr/>
          </a:p>
        </p:txBody>
      </p:sp>
      <p:sp>
        <p:nvSpPr>
          <p:cNvPr id="534" name="Google Shape;534;h3fbf580b30600811_1_19"/>
          <p:cNvSpPr txBox="1"/>
          <p:nvPr/>
        </p:nvSpPr>
        <p:spPr>
          <a:xfrm>
            <a:off x="960130" y="2450592"/>
            <a:ext cx="3474600" cy="831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5400">
                <a:solidFill>
                  <a:srgbClr val="FFFFFF"/>
                </a:solidFill>
                <a:latin typeface="Geist Mono"/>
                <a:ea typeface="Geist Mono"/>
                <a:cs typeface="Geist Mono"/>
                <a:sym typeface="Geist Mono"/>
              </a:rPr>
              <a:t>9.188</a:t>
            </a:r>
            <a:r>
              <a:rPr b="1" lang="en-US" sz="2000">
                <a:solidFill>
                  <a:srgbClr val="BBD7EA"/>
                </a:solidFill>
                <a:latin typeface="IBM Plex Sans"/>
                <a:ea typeface="IBM Plex Sans"/>
                <a:cs typeface="IBM Plex Sans"/>
                <a:sym typeface="IBM Plex Sans"/>
              </a:rPr>
              <a:t> kWh</a:t>
            </a:r>
            <a:endParaRPr/>
          </a:p>
        </p:txBody>
      </p:sp>
      <p:sp>
        <p:nvSpPr>
          <p:cNvPr id="535" name="Google Shape;535;h3fbf580b30600811_1_19"/>
          <p:cNvSpPr txBox="1"/>
          <p:nvPr/>
        </p:nvSpPr>
        <p:spPr>
          <a:xfrm>
            <a:off x="960130" y="3383280"/>
            <a:ext cx="3474600" cy="484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lang="en-US" sz="1500">
                <a:solidFill>
                  <a:srgbClr val="BBD7EA"/>
                </a:solidFill>
                <a:latin typeface="IBM Plex Sans"/>
                <a:ea typeface="IBM Plex Sans"/>
                <a:cs typeface="IBM Plex Sans"/>
                <a:sym typeface="IBM Plex Sans"/>
              </a:rPr>
              <a:t>statt 10.922 kWh mit dem Ø der bis zu 3 Vormonate</a:t>
            </a:r>
            <a:endParaRPr/>
          </a:p>
        </p:txBody>
      </p:sp>
      <p:sp>
        <p:nvSpPr>
          <p:cNvPr id="536" name="Google Shape;536;h3fbf580b30600811_1_19"/>
          <p:cNvSpPr/>
          <p:nvPr/>
        </p:nvSpPr>
        <p:spPr>
          <a:xfrm>
            <a:off x="685807" y="4206240"/>
            <a:ext cx="1874400" cy="1737300"/>
          </a:xfrm>
          <a:prstGeom prst="roundRect">
            <a:avLst>
              <a:gd fmla="val 6000" name="adj"/>
            </a:avLst>
          </a:prstGeom>
          <a:solidFill>
            <a:srgbClr val="FFFFFF"/>
          </a:solidFill>
          <a:ln cap="flat" cmpd="sng" w="12700">
            <a:solidFill>
              <a:srgbClr val="D2DA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537" name="Google Shape;537;h3fbf580b30600811_1_19"/>
          <p:cNvSpPr txBox="1"/>
          <p:nvPr/>
        </p:nvSpPr>
        <p:spPr>
          <a:xfrm>
            <a:off x="914409" y="4389120"/>
            <a:ext cx="1417200" cy="215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400">
                <a:solidFill>
                  <a:srgbClr val="4E5A68"/>
                </a:solidFill>
                <a:latin typeface="IBM Plex Sans"/>
                <a:ea typeface="IBM Plex Sans"/>
                <a:cs typeface="IBM Plex Sans"/>
                <a:sym typeface="IBM Plex Sans"/>
              </a:rPr>
              <a:t>MAE</a:t>
            </a:r>
            <a:endParaRPr/>
          </a:p>
        </p:txBody>
      </p:sp>
      <p:sp>
        <p:nvSpPr>
          <p:cNvPr id="538" name="Google Shape;538;h3fbf580b30600811_1_19"/>
          <p:cNvSpPr txBox="1"/>
          <p:nvPr/>
        </p:nvSpPr>
        <p:spPr>
          <a:xfrm>
            <a:off x="914409" y="4709159"/>
            <a:ext cx="1417200" cy="369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2400">
                <a:solidFill>
                  <a:srgbClr val="141A21"/>
                </a:solidFill>
                <a:latin typeface="Geist Mono"/>
                <a:ea typeface="Geist Mono"/>
                <a:cs typeface="Geist Mono"/>
                <a:sym typeface="Geist Mono"/>
              </a:rPr>
              <a:t>3.725</a:t>
            </a:r>
            <a:r>
              <a:rPr b="1" lang="en-US" sz="1500">
                <a:solidFill>
                  <a:srgbClr val="4E5A68"/>
                </a:solidFill>
                <a:latin typeface="IBM Plex Sans"/>
                <a:ea typeface="IBM Plex Sans"/>
                <a:cs typeface="IBM Plex Sans"/>
                <a:sym typeface="IBM Plex Sans"/>
              </a:rPr>
              <a:t> kWh</a:t>
            </a:r>
            <a:endParaRPr/>
          </a:p>
        </p:txBody>
      </p:sp>
      <p:sp>
        <p:nvSpPr>
          <p:cNvPr id="539" name="Google Shape;539;h3fbf580b30600811_1_19"/>
          <p:cNvSpPr txBox="1"/>
          <p:nvPr/>
        </p:nvSpPr>
        <p:spPr>
          <a:xfrm>
            <a:off x="914409" y="5376672"/>
            <a:ext cx="1417200" cy="2001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lang="en-US" sz="1300">
                <a:solidFill>
                  <a:srgbClr val="4E5A68"/>
                </a:solidFill>
                <a:latin typeface="IBM Plex Sans"/>
                <a:ea typeface="IBM Plex Sans"/>
                <a:cs typeface="IBM Plex Sans"/>
                <a:sym typeface="IBM Plex Sans"/>
              </a:rPr>
              <a:t>Baseline 4.930</a:t>
            </a:r>
            <a:endParaRPr/>
          </a:p>
        </p:txBody>
      </p:sp>
      <p:sp>
        <p:nvSpPr>
          <p:cNvPr id="540" name="Google Shape;540;h3fbf580b30600811_1_19"/>
          <p:cNvSpPr/>
          <p:nvPr/>
        </p:nvSpPr>
        <p:spPr>
          <a:xfrm>
            <a:off x="2743228" y="4206240"/>
            <a:ext cx="1874400" cy="1737300"/>
          </a:xfrm>
          <a:prstGeom prst="roundRect">
            <a:avLst>
              <a:gd fmla="val 6000" name="adj"/>
            </a:avLst>
          </a:prstGeom>
          <a:solidFill>
            <a:srgbClr val="FFFFFF"/>
          </a:solidFill>
          <a:ln cap="flat" cmpd="sng" w="12700">
            <a:solidFill>
              <a:srgbClr val="D2DA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541" name="Google Shape;541;h3fbf580b30600811_1_19"/>
          <p:cNvSpPr txBox="1"/>
          <p:nvPr/>
        </p:nvSpPr>
        <p:spPr>
          <a:xfrm>
            <a:off x="2971830" y="4389120"/>
            <a:ext cx="1417200" cy="215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400">
                <a:solidFill>
                  <a:srgbClr val="4E5A68"/>
                </a:solidFill>
                <a:latin typeface="IBM Plex Sans"/>
                <a:ea typeface="IBM Plex Sans"/>
                <a:cs typeface="IBM Plex Sans"/>
                <a:sym typeface="IBM Plex Sans"/>
              </a:rPr>
              <a:t>R²</a:t>
            </a:r>
            <a:endParaRPr/>
          </a:p>
        </p:txBody>
      </p:sp>
      <p:sp>
        <p:nvSpPr>
          <p:cNvPr id="542" name="Google Shape;542;h3fbf580b30600811_1_19"/>
          <p:cNvSpPr txBox="1"/>
          <p:nvPr/>
        </p:nvSpPr>
        <p:spPr>
          <a:xfrm>
            <a:off x="2971830" y="4709159"/>
            <a:ext cx="1417200" cy="369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2400">
                <a:solidFill>
                  <a:srgbClr val="141A21"/>
                </a:solidFill>
                <a:latin typeface="Geist Mono"/>
                <a:ea typeface="Geist Mono"/>
                <a:cs typeface="Geist Mono"/>
                <a:sym typeface="Geist Mono"/>
              </a:rPr>
              <a:t>0,901</a:t>
            </a:r>
            <a:endParaRPr/>
          </a:p>
        </p:txBody>
      </p:sp>
      <p:sp>
        <p:nvSpPr>
          <p:cNvPr id="543" name="Google Shape;543;h3fbf580b30600811_1_19"/>
          <p:cNvSpPr txBox="1"/>
          <p:nvPr/>
        </p:nvSpPr>
        <p:spPr>
          <a:xfrm>
            <a:off x="2971830" y="5376672"/>
            <a:ext cx="1417200" cy="2001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lang="en-US" sz="1300">
                <a:solidFill>
                  <a:srgbClr val="4E5A68"/>
                </a:solidFill>
                <a:latin typeface="IBM Plex Sans"/>
                <a:ea typeface="IBM Plex Sans"/>
                <a:cs typeface="IBM Plex Sans"/>
                <a:sym typeface="IBM Plex Sans"/>
              </a:rPr>
              <a:t>Baseline 0,860</a:t>
            </a:r>
            <a:endParaRPr/>
          </a:p>
        </p:txBody>
      </p:sp>
      <p:pic>
        <p:nvPicPr>
          <p:cNvPr descr="rmse.png" id="544" name="Google Shape;544;h3fbf580b30600811_1_19"/>
          <p:cNvPicPr preferRelativeResize="0"/>
          <p:nvPr/>
        </p:nvPicPr>
        <p:blipFill rotWithShape="1">
          <a:blip r:embed="rId4">
            <a:alphaModFix/>
          </a:blip>
          <a:srcRect b="0" l="0" r="0" t="0"/>
          <a:stretch/>
        </p:blipFill>
        <p:spPr>
          <a:xfrm>
            <a:off x="4983531" y="1828800"/>
            <a:ext cx="6537960" cy="3407159"/>
          </a:xfrm>
          <a:prstGeom prst="rect">
            <a:avLst/>
          </a:prstGeom>
          <a:noFill/>
          <a:ln>
            <a:noFill/>
          </a:ln>
        </p:spPr>
      </p:pic>
      <p:sp>
        <p:nvSpPr>
          <p:cNvPr id="545" name="Google Shape;545;h3fbf580b30600811_1_19"/>
          <p:cNvSpPr/>
          <p:nvPr/>
        </p:nvSpPr>
        <p:spPr>
          <a:xfrm>
            <a:off x="5074972" y="5504688"/>
            <a:ext cx="6428100" cy="567000"/>
          </a:xfrm>
          <a:prstGeom prst="roundRect">
            <a:avLst>
              <a:gd fmla="val 6000" name="adj"/>
            </a:avLst>
          </a:prstGeom>
          <a:solidFill>
            <a:srgbClr val="E3F3F7"/>
          </a:solidFill>
          <a:ln cap="flat" cmpd="sng" w="12700">
            <a:solidFill>
              <a:srgbClr val="B2DEE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546" name="Google Shape;546;h3fbf580b30600811_1_19"/>
          <p:cNvSpPr txBox="1"/>
          <p:nvPr/>
        </p:nvSpPr>
        <p:spPr>
          <a:xfrm>
            <a:off x="5257854" y="5605272"/>
            <a:ext cx="6126600" cy="463200"/>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lang="en-US" sz="1400">
                <a:solidFill>
                  <a:srgbClr val="005E77"/>
                </a:solidFill>
                <a:latin typeface="IBM Plex Sans"/>
                <a:ea typeface="IBM Plex Sans"/>
                <a:cs typeface="IBM Plex Sans"/>
                <a:sym typeface="IBM Plex Sans"/>
              </a:rPr>
              <a:t>Random Forest schlägt beide Baselines; getestet auf 8.398 Zähler-Monaten 2025, gelernt nur aus 2024.</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1" name="Shape 551"/>
        <p:cNvGrpSpPr/>
        <p:nvPr/>
      </p:nvGrpSpPr>
      <p:grpSpPr>
        <a:xfrm>
          <a:off x="0" y="0"/>
          <a:ext cx="0" cy="0"/>
          <a:chOff x="0" y="0"/>
          <a:chExt cx="0" cy="0"/>
        </a:xfrm>
      </p:grpSpPr>
      <p:sp>
        <p:nvSpPr>
          <p:cNvPr id="552" name="Google Shape;552;h3fbf580b30600811_1_44"/>
          <p:cNvSpPr txBox="1"/>
          <p:nvPr/>
        </p:nvSpPr>
        <p:spPr>
          <a:xfrm>
            <a:off x="685807" y="438912"/>
            <a:ext cx="9601200" cy="184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200">
                <a:solidFill>
                  <a:srgbClr val="00718E"/>
                </a:solidFill>
                <a:latin typeface="IBM Plex Sans"/>
                <a:ea typeface="IBM Plex Sans"/>
                <a:cs typeface="IBM Plex Sans"/>
                <a:sym typeface="IBM Plex Sans"/>
              </a:rPr>
              <a:t>05 · ERGEBNISSE · TOP-3-TREIBER</a:t>
            </a:r>
            <a:endParaRPr/>
          </a:p>
        </p:txBody>
      </p:sp>
      <p:sp>
        <p:nvSpPr>
          <p:cNvPr id="553" name="Google Shape;553;h3fbf580b30600811_1_44"/>
          <p:cNvSpPr txBox="1"/>
          <p:nvPr/>
        </p:nvSpPr>
        <p:spPr>
          <a:xfrm>
            <a:off x="685807" y="731520"/>
            <a:ext cx="10820400" cy="4617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lang="en-US" sz="3000">
                <a:solidFill>
                  <a:srgbClr val="141A21"/>
                </a:solidFill>
                <a:latin typeface="IBM Plex Sans"/>
                <a:ea typeface="IBM Plex Sans"/>
                <a:cs typeface="IBM Plex Sans"/>
                <a:sym typeface="IBM Plex Sans"/>
              </a:rPr>
              <a:t>Historie, Produktionsplan und Wartung tragen die Prognose </a:t>
            </a:r>
            <a:endParaRPr/>
          </a:p>
        </p:txBody>
      </p:sp>
      <p:cxnSp>
        <p:nvCxnSpPr>
          <p:cNvPr id="554" name="Google Shape;554;h3fbf580b30600811_1_44"/>
          <p:cNvCxnSpPr/>
          <p:nvPr/>
        </p:nvCxnSpPr>
        <p:spPr>
          <a:xfrm>
            <a:off x="685807" y="6336792"/>
            <a:ext cx="10820400" cy="0"/>
          </a:xfrm>
          <a:prstGeom prst="straightConnector1">
            <a:avLst/>
          </a:prstGeom>
          <a:noFill/>
          <a:ln cap="flat" cmpd="sng" w="9525">
            <a:solidFill>
              <a:srgbClr val="E4E9EF"/>
            </a:solidFill>
            <a:prstDash val="solid"/>
            <a:round/>
            <a:headEnd len="sm" w="sm" type="none"/>
            <a:tailEnd len="sm" w="sm" type="none"/>
          </a:ln>
        </p:spPr>
      </p:cxnSp>
      <p:pic>
        <p:nvPicPr>
          <p:cNvPr descr="logo-sww-wordmark.png" id="555" name="Google Shape;555;h3fbf580b30600811_1_44"/>
          <p:cNvPicPr preferRelativeResize="0"/>
          <p:nvPr/>
        </p:nvPicPr>
        <p:blipFill rotWithShape="1">
          <a:blip r:embed="rId3">
            <a:alphaModFix/>
          </a:blip>
          <a:srcRect b="0" l="0" r="0" t="0"/>
          <a:stretch/>
        </p:blipFill>
        <p:spPr>
          <a:xfrm>
            <a:off x="685807" y="6437376"/>
            <a:ext cx="687629" cy="237744"/>
          </a:xfrm>
          <a:prstGeom prst="rect">
            <a:avLst/>
          </a:prstGeom>
          <a:noFill/>
          <a:ln>
            <a:noFill/>
          </a:ln>
        </p:spPr>
      </p:pic>
      <p:sp>
        <p:nvSpPr>
          <p:cNvPr id="556" name="Google Shape;556;h3fbf580b30600811_1_44"/>
          <p:cNvSpPr txBox="1"/>
          <p:nvPr/>
        </p:nvSpPr>
        <p:spPr>
          <a:xfrm>
            <a:off x="1920260" y="6473952"/>
            <a:ext cx="7315200" cy="169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lang="en-US" sz="1100">
                <a:solidFill>
                  <a:srgbClr val="4E5A68"/>
                </a:solidFill>
                <a:latin typeface="IBM Plex Sans"/>
                <a:ea typeface="IBM Plex Sans"/>
                <a:cs typeface="IBM Plex Sans"/>
                <a:sym typeface="IBM Plex Sans"/>
              </a:rPr>
              <a:t>Verbrauchsprognose &amp; Frühwarnung · Patrick Olmo Hederer</a:t>
            </a:r>
            <a:endParaRPr/>
          </a:p>
        </p:txBody>
      </p:sp>
      <p:sp>
        <p:nvSpPr>
          <p:cNvPr id="557" name="Google Shape;557;h3fbf580b30600811_1_44"/>
          <p:cNvSpPr txBox="1"/>
          <p:nvPr/>
        </p:nvSpPr>
        <p:spPr>
          <a:xfrm>
            <a:off x="10591908" y="6473952"/>
            <a:ext cx="914400" cy="169200"/>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None/>
            </a:pPr>
            <a:r>
              <a:rPr b="0" lang="en-US" sz="1100">
                <a:solidFill>
                  <a:srgbClr val="4E5A68"/>
                </a:solidFill>
                <a:latin typeface="Geist Mono"/>
                <a:ea typeface="Geist Mono"/>
                <a:cs typeface="Geist Mono"/>
                <a:sym typeface="Geist Mono"/>
              </a:rPr>
              <a:t>3</a:t>
            </a:r>
            <a:endParaRPr/>
          </a:p>
        </p:txBody>
      </p:sp>
      <p:pic>
        <p:nvPicPr>
          <p:cNvPr descr="importance.png" id="558" name="Google Shape;558;h3fbf580b30600811_1_44"/>
          <p:cNvPicPr preferRelativeResize="0"/>
          <p:nvPr/>
        </p:nvPicPr>
        <p:blipFill rotWithShape="1">
          <a:blip r:embed="rId4">
            <a:alphaModFix/>
          </a:blip>
          <a:srcRect b="0" l="0" r="0" t="0"/>
          <a:stretch/>
        </p:blipFill>
        <p:spPr>
          <a:xfrm>
            <a:off x="640087" y="1828800"/>
            <a:ext cx="5806441" cy="3448256"/>
          </a:xfrm>
          <a:prstGeom prst="rect">
            <a:avLst/>
          </a:prstGeom>
          <a:noFill/>
          <a:ln>
            <a:noFill/>
          </a:ln>
        </p:spPr>
      </p:pic>
      <p:sp>
        <p:nvSpPr>
          <p:cNvPr id="559" name="Google Shape;559;h3fbf580b30600811_1_44"/>
          <p:cNvSpPr txBox="1"/>
          <p:nvPr/>
        </p:nvSpPr>
        <p:spPr>
          <a:xfrm>
            <a:off x="685807" y="5852160"/>
            <a:ext cx="5669400" cy="2001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lang="en-US" sz="1300">
                <a:solidFill>
                  <a:srgbClr val="4E5A68"/>
                </a:solidFill>
                <a:latin typeface="IBM Plex Sans"/>
                <a:ea typeface="IBM Plex Sans"/>
                <a:cs typeface="IBM Plex Sans"/>
                <a:sym typeface="IBM Plex Sans"/>
              </a:rPr>
              <a:t>Permutation Importance zeigt den Nutzen für das Modell, keine Ursache.</a:t>
            </a:r>
            <a:endParaRPr/>
          </a:p>
        </p:txBody>
      </p:sp>
      <p:sp>
        <p:nvSpPr>
          <p:cNvPr id="560" name="Google Shape;560;h3fbf580b30600811_1_44"/>
          <p:cNvSpPr txBox="1"/>
          <p:nvPr/>
        </p:nvSpPr>
        <p:spPr>
          <a:xfrm>
            <a:off x="6720909" y="1874519"/>
            <a:ext cx="4782300" cy="184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200">
                <a:solidFill>
                  <a:srgbClr val="00718E"/>
                </a:solidFill>
                <a:latin typeface="IBM Plex Sans"/>
                <a:ea typeface="IBM Plex Sans"/>
                <a:cs typeface="IBM Plex Sans"/>
                <a:sym typeface="IBM Plex Sans"/>
              </a:rPr>
              <a:t>PLAUSIBILITÄT AUS DER EDA</a:t>
            </a:r>
            <a:endParaRPr/>
          </a:p>
        </p:txBody>
      </p:sp>
      <p:sp>
        <p:nvSpPr>
          <p:cNvPr id="561" name="Google Shape;561;h3fbf580b30600811_1_44"/>
          <p:cNvSpPr/>
          <p:nvPr/>
        </p:nvSpPr>
        <p:spPr>
          <a:xfrm>
            <a:off x="6720909" y="2240280"/>
            <a:ext cx="384000" cy="384000"/>
          </a:xfrm>
          <a:prstGeom prst="ellipse">
            <a:avLst/>
          </a:prstGeom>
          <a:solidFill>
            <a:srgbClr val="084878"/>
          </a:solidFill>
          <a:ln cap="flat" cmpd="sng" w="2540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US" sz="1600">
                <a:solidFill>
                  <a:srgbClr val="FFFFFF"/>
                </a:solidFill>
                <a:latin typeface="Geist Mono"/>
                <a:ea typeface="Geist Mono"/>
                <a:cs typeface="Geist Mono"/>
                <a:sym typeface="Geist Mono"/>
              </a:rPr>
              <a:t>1</a:t>
            </a:r>
            <a:endParaRPr/>
          </a:p>
        </p:txBody>
      </p:sp>
      <p:sp>
        <p:nvSpPr>
          <p:cNvPr id="562" name="Google Shape;562;h3fbf580b30600811_1_44"/>
          <p:cNvSpPr txBox="1"/>
          <p:nvPr/>
        </p:nvSpPr>
        <p:spPr>
          <a:xfrm>
            <a:off x="7251266" y="2258568"/>
            <a:ext cx="4233600" cy="8511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600">
                <a:solidFill>
                  <a:srgbClr val="141A21"/>
                </a:solidFill>
                <a:latin typeface="IBM Plex Sans"/>
                <a:ea typeface="IBM Plex Sans"/>
                <a:cs typeface="IBM Plex Sans"/>
                <a:sym typeface="IBM Plex Sans"/>
              </a:rPr>
              <a:t>Verbrauchshistorie</a:t>
            </a:r>
            <a:endParaRPr/>
          </a:p>
          <a:p>
            <a:pPr indent="0" lvl="0" marL="0" marR="0" rtl="0" algn="l">
              <a:lnSpc>
                <a:spcPct val="115000"/>
              </a:lnSpc>
              <a:spcBef>
                <a:spcPts val="300"/>
              </a:spcBef>
              <a:spcAft>
                <a:spcPts val="0"/>
              </a:spcAft>
              <a:buNone/>
            </a:pPr>
            <a:r>
              <a:rPr b="0" lang="en-US" sz="1600">
                <a:solidFill>
                  <a:srgbClr val="4E5A68"/>
                </a:solidFill>
                <a:latin typeface="IBM Plex Sans"/>
                <a:ea typeface="IBM Plex Sans"/>
                <a:cs typeface="IBM Plex Sans"/>
                <a:sym typeface="IBM Plex Sans"/>
              </a:rPr>
              <a:t>Zähler verhalten sich stabil: Nur 8 % der Streuung liegen innerhalb eines Zählers.</a:t>
            </a:r>
            <a:endParaRPr/>
          </a:p>
        </p:txBody>
      </p:sp>
      <p:sp>
        <p:nvSpPr>
          <p:cNvPr id="563" name="Google Shape;563;h3fbf580b30600811_1_44"/>
          <p:cNvSpPr/>
          <p:nvPr/>
        </p:nvSpPr>
        <p:spPr>
          <a:xfrm>
            <a:off x="6720909" y="3264408"/>
            <a:ext cx="384000" cy="384000"/>
          </a:xfrm>
          <a:prstGeom prst="ellipse">
            <a:avLst/>
          </a:prstGeom>
          <a:solidFill>
            <a:srgbClr val="084878"/>
          </a:solidFill>
          <a:ln cap="flat" cmpd="sng" w="2540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US" sz="1600">
                <a:solidFill>
                  <a:srgbClr val="FFFFFF"/>
                </a:solidFill>
                <a:latin typeface="Geist Mono"/>
                <a:ea typeface="Geist Mono"/>
                <a:cs typeface="Geist Mono"/>
                <a:sym typeface="Geist Mono"/>
              </a:rPr>
              <a:t>2</a:t>
            </a:r>
            <a:endParaRPr/>
          </a:p>
        </p:txBody>
      </p:sp>
      <p:sp>
        <p:nvSpPr>
          <p:cNvPr id="564" name="Google Shape;564;h3fbf580b30600811_1_44"/>
          <p:cNvSpPr txBox="1"/>
          <p:nvPr/>
        </p:nvSpPr>
        <p:spPr>
          <a:xfrm>
            <a:off x="7251266" y="3282696"/>
            <a:ext cx="4233600" cy="8511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600">
                <a:solidFill>
                  <a:srgbClr val="141A21"/>
                </a:solidFill>
                <a:latin typeface="IBM Plex Sans"/>
                <a:ea typeface="IBM Plex Sans"/>
                <a:cs typeface="IBM Plex Sans"/>
                <a:sym typeface="IBM Plex Sans"/>
              </a:rPr>
              <a:t>Produktionsplan</a:t>
            </a:r>
            <a:endParaRPr/>
          </a:p>
          <a:p>
            <a:pPr indent="0" lvl="0" marL="0" marR="0" rtl="0" algn="l">
              <a:lnSpc>
                <a:spcPct val="115000"/>
              </a:lnSpc>
              <a:spcBef>
                <a:spcPts val="300"/>
              </a:spcBef>
              <a:spcAft>
                <a:spcPts val="0"/>
              </a:spcAft>
              <a:buNone/>
            </a:pPr>
            <a:r>
              <a:rPr b="0" lang="en-US" sz="1600">
                <a:solidFill>
                  <a:srgbClr val="4E5A68"/>
                </a:solidFill>
                <a:latin typeface="IBM Plex Sans"/>
                <a:ea typeface="IBM Plex Sans"/>
                <a:cs typeface="IBM Plex Sans"/>
                <a:sym typeface="IBM Plex Sans"/>
              </a:rPr>
              <a:t>In der EDA der stärkste normierte Treiber (ρ = 0,66).</a:t>
            </a:r>
            <a:endParaRPr/>
          </a:p>
        </p:txBody>
      </p:sp>
      <p:sp>
        <p:nvSpPr>
          <p:cNvPr id="565" name="Google Shape;565;h3fbf580b30600811_1_44"/>
          <p:cNvSpPr/>
          <p:nvPr/>
        </p:nvSpPr>
        <p:spPr>
          <a:xfrm>
            <a:off x="6720909" y="4288536"/>
            <a:ext cx="384000" cy="384000"/>
          </a:xfrm>
          <a:prstGeom prst="ellipse">
            <a:avLst/>
          </a:prstGeom>
          <a:solidFill>
            <a:srgbClr val="084878"/>
          </a:solidFill>
          <a:ln cap="flat" cmpd="sng" w="2540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US" sz="1600">
                <a:solidFill>
                  <a:srgbClr val="FFFFFF"/>
                </a:solidFill>
                <a:latin typeface="Geist Mono"/>
                <a:ea typeface="Geist Mono"/>
                <a:cs typeface="Geist Mono"/>
                <a:sym typeface="Geist Mono"/>
              </a:rPr>
              <a:t>3</a:t>
            </a:r>
            <a:endParaRPr/>
          </a:p>
        </p:txBody>
      </p:sp>
      <p:sp>
        <p:nvSpPr>
          <p:cNvPr id="566" name="Google Shape;566;h3fbf580b30600811_1_44"/>
          <p:cNvSpPr txBox="1"/>
          <p:nvPr/>
        </p:nvSpPr>
        <p:spPr>
          <a:xfrm>
            <a:off x="7251266" y="4306824"/>
            <a:ext cx="4233600" cy="8511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600">
                <a:solidFill>
                  <a:srgbClr val="141A21"/>
                </a:solidFill>
                <a:latin typeface="IBM Plex Sans"/>
                <a:ea typeface="IBM Plex Sans"/>
                <a:cs typeface="IBM Plex Sans"/>
                <a:sym typeface="IBM Plex Sans"/>
              </a:rPr>
              <a:t>Wartung</a:t>
            </a:r>
            <a:endParaRPr/>
          </a:p>
          <a:p>
            <a:pPr indent="0" lvl="0" marL="0" marR="0" rtl="0" algn="l">
              <a:lnSpc>
                <a:spcPct val="115000"/>
              </a:lnSpc>
              <a:spcBef>
                <a:spcPts val="300"/>
              </a:spcBef>
              <a:spcAft>
                <a:spcPts val="0"/>
              </a:spcAft>
              <a:buNone/>
            </a:pPr>
            <a:r>
              <a:rPr b="0" lang="en-US" sz="1600">
                <a:solidFill>
                  <a:srgbClr val="4E5A68"/>
                </a:solidFill>
                <a:latin typeface="IBM Plex Sans"/>
                <a:ea typeface="IBM Plex Sans"/>
                <a:cs typeface="IBM Plex Sans"/>
                <a:sym typeface="IBM Plex Sans"/>
              </a:rPr>
              <a:t>In Wartungsmonaten 29 % weniger Verbrauch (Median), planbar vorab.</a:t>
            </a:r>
            <a:endParaRPr/>
          </a:p>
        </p:txBody>
      </p:sp>
      <p:sp>
        <p:nvSpPr>
          <p:cNvPr id="567" name="Google Shape;567;h3fbf580b30600811_1_44"/>
          <p:cNvSpPr/>
          <p:nvPr/>
        </p:nvSpPr>
        <p:spPr>
          <a:xfrm>
            <a:off x="6720909" y="5349240"/>
            <a:ext cx="4782300" cy="731400"/>
          </a:xfrm>
          <a:prstGeom prst="roundRect">
            <a:avLst>
              <a:gd fmla="val 6000" name="adj"/>
            </a:avLst>
          </a:prstGeom>
          <a:solidFill>
            <a:srgbClr val="E3F3F7"/>
          </a:solidFill>
          <a:ln cap="flat" cmpd="sng" w="12700">
            <a:solidFill>
              <a:srgbClr val="B2DEE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568" name="Google Shape;568;h3fbf580b30600811_1_44"/>
          <p:cNvSpPr txBox="1"/>
          <p:nvPr/>
        </p:nvSpPr>
        <p:spPr>
          <a:xfrm>
            <a:off x="6903791" y="5422392"/>
            <a:ext cx="4416600" cy="665100"/>
          </a:xfrm>
          <a:prstGeom prst="rect">
            <a:avLst/>
          </a:prstGeom>
          <a:noFill/>
          <a:ln>
            <a:noFill/>
          </a:ln>
        </p:spPr>
        <p:txBody>
          <a:bodyPr anchorCtr="0" anchor="ctr" bIns="0" lIns="0" spcFirstLastPara="1" rIns="0" wrap="square" tIns="0">
            <a:spAutoFit/>
          </a:bodyPr>
          <a:lstStyle/>
          <a:p>
            <a:pPr indent="0" lvl="0" marL="0" marR="0" rtl="0" algn="l">
              <a:lnSpc>
                <a:spcPct val="110000"/>
              </a:lnSpc>
              <a:spcBef>
                <a:spcPts val="0"/>
              </a:spcBef>
              <a:spcAft>
                <a:spcPts val="0"/>
              </a:spcAft>
              <a:buNone/>
            </a:pPr>
            <a:r>
              <a:rPr b="0" lang="en-US" sz="1350">
                <a:solidFill>
                  <a:srgbClr val="005E77"/>
                </a:solidFill>
                <a:latin typeface="IBM Plex Sans"/>
                <a:ea typeface="IBM Plex Sans"/>
                <a:cs typeface="IBM Plex Sans"/>
                <a:sym typeface="IBM Plex Sans"/>
              </a:rPr>
              <a:t>Wetter wirkt klein: Der Heizeffekt ist großteils saisonale Produktion. Der Kundentyp steckt nach der Normierung bereits in der Historie.</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3" name="Shape 573"/>
        <p:cNvGrpSpPr/>
        <p:nvPr/>
      </p:nvGrpSpPr>
      <p:grpSpPr>
        <a:xfrm>
          <a:off x="0" y="0"/>
          <a:ext cx="0" cy="0"/>
          <a:chOff x="0" y="0"/>
          <a:chExt cx="0" cy="0"/>
        </a:xfrm>
      </p:grpSpPr>
      <p:sp>
        <p:nvSpPr>
          <p:cNvPr id="574" name="Google Shape;574;h3fbf580b30600811_1_65"/>
          <p:cNvSpPr txBox="1"/>
          <p:nvPr/>
        </p:nvSpPr>
        <p:spPr>
          <a:xfrm>
            <a:off x="685807" y="438912"/>
            <a:ext cx="9601200" cy="184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200">
                <a:solidFill>
                  <a:srgbClr val="00718E"/>
                </a:solidFill>
                <a:latin typeface="IBM Plex Sans"/>
                <a:ea typeface="IBM Plex Sans"/>
                <a:cs typeface="IBM Plex Sans"/>
                <a:sym typeface="IBM Plex Sans"/>
              </a:rPr>
              <a:t>05 · ERGEBNISSE · VERBRAUCHS-COCKPIT · BESCHAFFUNG</a:t>
            </a:r>
            <a:endParaRPr/>
          </a:p>
        </p:txBody>
      </p:sp>
      <p:sp>
        <p:nvSpPr>
          <p:cNvPr id="575" name="Google Shape;575;h3fbf580b30600811_1_65"/>
          <p:cNvSpPr txBox="1"/>
          <p:nvPr/>
        </p:nvSpPr>
        <p:spPr>
          <a:xfrm>
            <a:off x="685807" y="731520"/>
            <a:ext cx="10820400" cy="9465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lang="en-US" sz="3000">
                <a:solidFill>
                  <a:srgbClr val="141A21"/>
                </a:solidFill>
                <a:latin typeface="IBM Plex Sans"/>
                <a:ea typeface="IBM Plex Sans"/>
                <a:cs typeface="IBM Plex Sans"/>
                <a:sym typeface="IBM Plex Sans"/>
              </a:rPr>
              <a:t>Die Beschaffung sieht vor Monatsbeginn Menge, Spanne und Treffsicherheit</a:t>
            </a:r>
            <a:endParaRPr/>
          </a:p>
        </p:txBody>
      </p:sp>
      <p:cxnSp>
        <p:nvCxnSpPr>
          <p:cNvPr id="576" name="Google Shape;576;h3fbf580b30600811_1_65"/>
          <p:cNvCxnSpPr/>
          <p:nvPr/>
        </p:nvCxnSpPr>
        <p:spPr>
          <a:xfrm>
            <a:off x="685807" y="6336792"/>
            <a:ext cx="10820400" cy="0"/>
          </a:xfrm>
          <a:prstGeom prst="straightConnector1">
            <a:avLst/>
          </a:prstGeom>
          <a:noFill/>
          <a:ln cap="flat" cmpd="sng" w="9525">
            <a:solidFill>
              <a:srgbClr val="E4E9EF"/>
            </a:solidFill>
            <a:prstDash val="solid"/>
            <a:round/>
            <a:headEnd len="sm" w="sm" type="none"/>
            <a:tailEnd len="sm" w="sm" type="none"/>
          </a:ln>
        </p:spPr>
      </p:cxnSp>
      <p:pic>
        <p:nvPicPr>
          <p:cNvPr descr="logo-sww-wordmark.png" id="577" name="Google Shape;577;h3fbf580b30600811_1_65"/>
          <p:cNvPicPr preferRelativeResize="0"/>
          <p:nvPr/>
        </p:nvPicPr>
        <p:blipFill rotWithShape="1">
          <a:blip r:embed="rId3">
            <a:alphaModFix/>
          </a:blip>
          <a:srcRect b="0" l="0" r="0" t="0"/>
          <a:stretch/>
        </p:blipFill>
        <p:spPr>
          <a:xfrm>
            <a:off x="685807" y="6437376"/>
            <a:ext cx="687629" cy="237744"/>
          </a:xfrm>
          <a:prstGeom prst="rect">
            <a:avLst/>
          </a:prstGeom>
          <a:noFill/>
          <a:ln>
            <a:noFill/>
          </a:ln>
        </p:spPr>
      </p:pic>
      <p:sp>
        <p:nvSpPr>
          <p:cNvPr id="578" name="Google Shape;578;h3fbf580b30600811_1_65"/>
          <p:cNvSpPr txBox="1"/>
          <p:nvPr/>
        </p:nvSpPr>
        <p:spPr>
          <a:xfrm>
            <a:off x="1920260" y="6473952"/>
            <a:ext cx="7315200" cy="169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lang="en-US" sz="1100">
                <a:solidFill>
                  <a:srgbClr val="4E5A68"/>
                </a:solidFill>
                <a:latin typeface="IBM Plex Sans"/>
                <a:ea typeface="IBM Plex Sans"/>
                <a:cs typeface="IBM Plex Sans"/>
                <a:sym typeface="IBM Plex Sans"/>
              </a:rPr>
              <a:t>Verbrauchsprognose &amp; Frühwarnung · Patrick Olmo Hederer</a:t>
            </a:r>
            <a:endParaRPr/>
          </a:p>
        </p:txBody>
      </p:sp>
      <p:sp>
        <p:nvSpPr>
          <p:cNvPr id="579" name="Google Shape;579;h3fbf580b30600811_1_65"/>
          <p:cNvSpPr txBox="1"/>
          <p:nvPr/>
        </p:nvSpPr>
        <p:spPr>
          <a:xfrm>
            <a:off x="10591908" y="6473952"/>
            <a:ext cx="914400" cy="169200"/>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None/>
            </a:pPr>
            <a:r>
              <a:rPr b="0" lang="en-US" sz="1100">
                <a:solidFill>
                  <a:srgbClr val="4E5A68"/>
                </a:solidFill>
                <a:latin typeface="Geist Mono"/>
                <a:ea typeface="Geist Mono"/>
                <a:cs typeface="Geist Mono"/>
                <a:sym typeface="Geist Mono"/>
              </a:rPr>
              <a:t>4</a:t>
            </a:r>
            <a:endParaRPr/>
          </a:p>
        </p:txBody>
      </p:sp>
      <p:pic>
        <p:nvPicPr>
          <p:cNvPr descr="prognose_crop.png" id="580" name="Google Shape;580;h3fbf580b30600811_1_65"/>
          <p:cNvPicPr preferRelativeResize="0"/>
          <p:nvPr/>
        </p:nvPicPr>
        <p:blipFill rotWithShape="1">
          <a:blip r:embed="rId4">
            <a:alphaModFix/>
          </a:blip>
          <a:srcRect b="0" l="0" r="0" t="0"/>
          <a:stretch/>
        </p:blipFill>
        <p:spPr>
          <a:xfrm>
            <a:off x="685807" y="1828800"/>
            <a:ext cx="7574860" cy="4297680"/>
          </a:xfrm>
          <a:prstGeom prst="rect">
            <a:avLst/>
          </a:prstGeom>
          <a:noFill/>
          <a:ln cap="flat" cmpd="sng" w="12700">
            <a:solidFill>
              <a:srgbClr val="D2DAE2"/>
            </a:solidFill>
            <a:prstDash val="solid"/>
            <a:round/>
            <a:headEnd len="sm" w="sm" type="none"/>
            <a:tailEnd len="sm" w="sm" type="none"/>
          </a:ln>
        </p:spPr>
      </p:pic>
      <p:sp>
        <p:nvSpPr>
          <p:cNvPr id="581" name="Google Shape;581;h3fbf580b30600811_1_65"/>
          <p:cNvSpPr/>
          <p:nvPr/>
        </p:nvSpPr>
        <p:spPr>
          <a:xfrm>
            <a:off x="1879994" y="2547884"/>
            <a:ext cx="384000" cy="384000"/>
          </a:xfrm>
          <a:prstGeom prst="ellipse">
            <a:avLst/>
          </a:prstGeom>
          <a:solidFill>
            <a:srgbClr val="A86505"/>
          </a:solidFill>
          <a:ln cap="flat" cmpd="sng" w="2540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US" sz="1600">
                <a:solidFill>
                  <a:srgbClr val="FFFFFF"/>
                </a:solidFill>
                <a:latin typeface="Geist Mono"/>
                <a:ea typeface="Geist Mono"/>
                <a:cs typeface="Geist Mono"/>
                <a:sym typeface="Geist Mono"/>
              </a:rPr>
              <a:t>1</a:t>
            </a:r>
            <a:endParaRPr/>
          </a:p>
        </p:txBody>
      </p:sp>
      <p:sp>
        <p:nvSpPr>
          <p:cNvPr id="582" name="Google Shape;582;h3fbf580b30600811_1_65"/>
          <p:cNvSpPr/>
          <p:nvPr/>
        </p:nvSpPr>
        <p:spPr>
          <a:xfrm>
            <a:off x="6508280" y="2547884"/>
            <a:ext cx="384000" cy="384000"/>
          </a:xfrm>
          <a:prstGeom prst="ellipse">
            <a:avLst/>
          </a:prstGeom>
          <a:solidFill>
            <a:srgbClr val="A86505"/>
          </a:solidFill>
          <a:ln cap="flat" cmpd="sng" w="2540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US" sz="1600">
                <a:solidFill>
                  <a:srgbClr val="FFFFFF"/>
                </a:solidFill>
                <a:latin typeface="Geist Mono"/>
                <a:ea typeface="Geist Mono"/>
                <a:cs typeface="Geist Mono"/>
                <a:sym typeface="Geist Mono"/>
              </a:rPr>
              <a:t>2</a:t>
            </a:r>
            <a:endParaRPr/>
          </a:p>
        </p:txBody>
      </p:sp>
      <p:sp>
        <p:nvSpPr>
          <p:cNvPr id="583" name="Google Shape;583;h3fbf580b30600811_1_65"/>
          <p:cNvSpPr/>
          <p:nvPr/>
        </p:nvSpPr>
        <p:spPr>
          <a:xfrm>
            <a:off x="4432747" y="4215384"/>
            <a:ext cx="384000" cy="384000"/>
          </a:xfrm>
          <a:prstGeom prst="ellipse">
            <a:avLst/>
          </a:prstGeom>
          <a:solidFill>
            <a:srgbClr val="A86505"/>
          </a:solidFill>
          <a:ln cap="flat" cmpd="sng" w="2540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US" sz="1600">
                <a:solidFill>
                  <a:srgbClr val="FFFFFF"/>
                </a:solidFill>
                <a:latin typeface="Geist Mono"/>
                <a:ea typeface="Geist Mono"/>
                <a:cs typeface="Geist Mono"/>
                <a:sym typeface="Geist Mono"/>
              </a:rPr>
              <a:t>3</a:t>
            </a:r>
            <a:endParaRPr/>
          </a:p>
        </p:txBody>
      </p:sp>
      <p:sp>
        <p:nvSpPr>
          <p:cNvPr id="584" name="Google Shape;584;h3fbf580b30600811_1_65"/>
          <p:cNvSpPr/>
          <p:nvPr/>
        </p:nvSpPr>
        <p:spPr>
          <a:xfrm>
            <a:off x="8580786" y="1874519"/>
            <a:ext cx="384000" cy="384000"/>
          </a:xfrm>
          <a:prstGeom prst="ellipse">
            <a:avLst/>
          </a:prstGeom>
          <a:solidFill>
            <a:srgbClr val="A86505"/>
          </a:solidFill>
          <a:ln cap="flat" cmpd="sng" w="2540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US" sz="1600">
                <a:solidFill>
                  <a:srgbClr val="FFFFFF"/>
                </a:solidFill>
                <a:latin typeface="Geist Mono"/>
                <a:ea typeface="Geist Mono"/>
                <a:cs typeface="Geist Mono"/>
                <a:sym typeface="Geist Mono"/>
              </a:rPr>
              <a:t>1</a:t>
            </a:r>
            <a:endParaRPr/>
          </a:p>
        </p:txBody>
      </p:sp>
      <p:sp>
        <p:nvSpPr>
          <p:cNvPr id="585" name="Google Shape;585;h3fbf580b30600811_1_65"/>
          <p:cNvSpPr txBox="1"/>
          <p:nvPr/>
        </p:nvSpPr>
        <p:spPr>
          <a:xfrm>
            <a:off x="9111143" y="1892807"/>
            <a:ext cx="2395200" cy="800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500">
                <a:solidFill>
                  <a:srgbClr val="141A21"/>
                </a:solidFill>
                <a:latin typeface="IBM Plex Sans"/>
                <a:ea typeface="IBM Plex Sans"/>
                <a:cs typeface="IBM Plex Sans"/>
                <a:sym typeface="IBM Plex Sans"/>
              </a:rPr>
              <a:t>Menge für Dezember</a:t>
            </a:r>
            <a:endParaRPr/>
          </a:p>
          <a:p>
            <a:pPr indent="0" lvl="0" marL="0" marR="0" rtl="0" algn="l">
              <a:lnSpc>
                <a:spcPct val="115000"/>
              </a:lnSpc>
              <a:spcBef>
                <a:spcPts val="300"/>
              </a:spcBef>
              <a:spcAft>
                <a:spcPts val="0"/>
              </a:spcAft>
              <a:buNone/>
            </a:pPr>
            <a:r>
              <a:rPr b="0" lang="en-US" sz="1500">
                <a:solidFill>
                  <a:srgbClr val="4E5A68"/>
                </a:solidFill>
                <a:latin typeface="IBM Plex Sans"/>
                <a:ea typeface="IBM Plex Sans"/>
                <a:cs typeface="IBM Plex Sans"/>
                <a:sym typeface="IBM Plex Sans"/>
              </a:rPr>
              <a:t>17.284.534 kWh, Spanne ± 652.379 kWh.</a:t>
            </a:r>
            <a:endParaRPr/>
          </a:p>
        </p:txBody>
      </p:sp>
      <p:sp>
        <p:nvSpPr>
          <p:cNvPr id="586" name="Google Shape;586;h3fbf580b30600811_1_65"/>
          <p:cNvSpPr/>
          <p:nvPr/>
        </p:nvSpPr>
        <p:spPr>
          <a:xfrm>
            <a:off x="8580786" y="3063239"/>
            <a:ext cx="384000" cy="384000"/>
          </a:xfrm>
          <a:prstGeom prst="ellipse">
            <a:avLst/>
          </a:prstGeom>
          <a:solidFill>
            <a:srgbClr val="A86505"/>
          </a:solidFill>
          <a:ln cap="flat" cmpd="sng" w="2540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US" sz="1600">
                <a:solidFill>
                  <a:srgbClr val="FFFFFF"/>
                </a:solidFill>
                <a:latin typeface="Geist Mono"/>
                <a:ea typeface="Geist Mono"/>
                <a:cs typeface="Geist Mono"/>
                <a:sym typeface="Geist Mono"/>
              </a:rPr>
              <a:t>2</a:t>
            </a:r>
            <a:endParaRPr/>
          </a:p>
        </p:txBody>
      </p:sp>
      <p:sp>
        <p:nvSpPr>
          <p:cNvPr id="587" name="Google Shape;587;h3fbf580b30600811_1_65"/>
          <p:cNvSpPr txBox="1"/>
          <p:nvPr/>
        </p:nvSpPr>
        <p:spPr>
          <a:xfrm>
            <a:off x="9111143" y="3081527"/>
            <a:ext cx="2395200" cy="10659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500">
                <a:solidFill>
                  <a:srgbClr val="141A21"/>
                </a:solidFill>
                <a:latin typeface="IBM Plex Sans"/>
                <a:ea typeface="IBM Plex Sans"/>
                <a:cs typeface="IBM Plex Sans"/>
                <a:sym typeface="IBM Plex Sans"/>
              </a:rPr>
              <a:t>Treffsicherheit bisher</a:t>
            </a:r>
            <a:endParaRPr/>
          </a:p>
          <a:p>
            <a:pPr indent="0" lvl="0" marL="0" marR="0" rtl="0" algn="l">
              <a:lnSpc>
                <a:spcPct val="115000"/>
              </a:lnSpc>
              <a:spcBef>
                <a:spcPts val="300"/>
              </a:spcBef>
              <a:spcAft>
                <a:spcPts val="0"/>
              </a:spcAft>
              <a:buNone/>
            </a:pPr>
            <a:r>
              <a:rPr b="0" lang="en-US" sz="1500">
                <a:solidFill>
                  <a:srgbClr val="4E5A68"/>
                </a:solidFill>
                <a:latin typeface="IBM Plex Sans"/>
                <a:ea typeface="IBM Plex Sans"/>
                <a:cs typeface="IBM Plex Sans"/>
                <a:sym typeface="IBM Plex Sans"/>
              </a:rPr>
              <a:t>Ø ± 3,8 % Abweichung je Monat im Portfolio, 01–11/2025.</a:t>
            </a:r>
            <a:endParaRPr/>
          </a:p>
        </p:txBody>
      </p:sp>
      <p:sp>
        <p:nvSpPr>
          <p:cNvPr id="588" name="Google Shape;588;h3fbf580b30600811_1_65"/>
          <p:cNvSpPr/>
          <p:nvPr/>
        </p:nvSpPr>
        <p:spPr>
          <a:xfrm>
            <a:off x="8580786" y="4251960"/>
            <a:ext cx="384000" cy="384000"/>
          </a:xfrm>
          <a:prstGeom prst="ellipse">
            <a:avLst/>
          </a:prstGeom>
          <a:solidFill>
            <a:srgbClr val="A86505"/>
          </a:solidFill>
          <a:ln cap="flat" cmpd="sng" w="2540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US" sz="1600">
                <a:solidFill>
                  <a:srgbClr val="FFFFFF"/>
                </a:solidFill>
                <a:latin typeface="Geist Mono"/>
                <a:ea typeface="Geist Mono"/>
                <a:cs typeface="Geist Mono"/>
                <a:sym typeface="Geist Mono"/>
              </a:rPr>
              <a:t>3</a:t>
            </a:r>
            <a:endParaRPr/>
          </a:p>
        </p:txBody>
      </p:sp>
      <p:sp>
        <p:nvSpPr>
          <p:cNvPr id="589" name="Google Shape;589;h3fbf580b30600811_1_65"/>
          <p:cNvSpPr txBox="1"/>
          <p:nvPr/>
        </p:nvSpPr>
        <p:spPr>
          <a:xfrm>
            <a:off x="9111143" y="4270248"/>
            <a:ext cx="2395200" cy="10659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500">
                <a:solidFill>
                  <a:srgbClr val="141A21"/>
                </a:solidFill>
                <a:latin typeface="IBM Plex Sans"/>
                <a:ea typeface="IBM Plex Sans"/>
                <a:cs typeface="IBM Plex Sans"/>
                <a:sym typeface="IBM Plex Sans"/>
              </a:rPr>
              <a:t>Prognose gegen Ist</a:t>
            </a:r>
            <a:endParaRPr/>
          </a:p>
          <a:p>
            <a:pPr indent="0" lvl="0" marL="0" marR="0" rtl="0" algn="l">
              <a:lnSpc>
                <a:spcPct val="115000"/>
              </a:lnSpc>
              <a:spcBef>
                <a:spcPts val="300"/>
              </a:spcBef>
              <a:spcAft>
                <a:spcPts val="0"/>
              </a:spcAft>
              <a:buNone/>
            </a:pPr>
            <a:r>
              <a:rPr b="0" lang="en-US" sz="1500">
                <a:solidFill>
                  <a:srgbClr val="4E5A68"/>
                </a:solidFill>
                <a:latin typeface="IBM Plex Sans"/>
                <a:ea typeface="IBM Plex Sans"/>
                <a:cs typeface="IBM Plex Sans"/>
                <a:sym typeface="IBM Plex Sans"/>
              </a:rPr>
              <a:t>Grün = innerhalb ± 5 %, orange = daneben. Filter nach Branche und Kunde.</a:t>
            </a:r>
            <a:endParaRPr/>
          </a:p>
        </p:txBody>
      </p:sp>
      <p:sp>
        <p:nvSpPr>
          <p:cNvPr id="590" name="Google Shape;590;h3fbf580b30600811_1_65">
            <a:hlinkClick r:id="rId5"/>
          </p:cNvPr>
          <p:cNvSpPr/>
          <p:nvPr/>
        </p:nvSpPr>
        <p:spPr>
          <a:xfrm>
            <a:off x="8580786" y="5669280"/>
            <a:ext cx="2925600" cy="384000"/>
          </a:xfrm>
          <a:prstGeom prst="roundRect">
            <a:avLst>
              <a:gd fmla="val 50000" name="adj"/>
            </a:avLst>
          </a:prstGeom>
          <a:solidFill>
            <a:srgbClr val="FFFFFF"/>
          </a:solidFill>
          <a:ln cap="flat" cmpd="sng" w="12700">
            <a:solidFill>
              <a:srgbClr val="0080A0"/>
            </a:solidFill>
            <a:prstDash val="solid"/>
            <a:round/>
            <a:headEnd len="sm" w="sm" type="none"/>
            <a:tailEnd len="sm" w="sm" type="none"/>
          </a:ln>
        </p:spPr>
        <p:txBody>
          <a:bodyPr anchorCtr="0" anchor="ctr" bIns="0" lIns="91425" spcFirstLastPara="1" rIns="91425" wrap="square" tIns="0">
            <a:noAutofit/>
          </a:bodyPr>
          <a:lstStyle/>
          <a:p>
            <a:pPr indent="0" lvl="0" marL="0" marR="0" rtl="0" algn="ctr">
              <a:spcBef>
                <a:spcPts val="0"/>
              </a:spcBef>
              <a:spcAft>
                <a:spcPts val="0"/>
              </a:spcAft>
              <a:buNone/>
            </a:pPr>
            <a:r>
              <a:rPr b="1" lang="en-US" sz="1400">
                <a:solidFill>
                  <a:srgbClr val="00718E"/>
                </a:solidFill>
                <a:latin typeface="IBM Plex Sans"/>
                <a:ea typeface="IBM Plex Sans"/>
                <a:cs typeface="IBM Plex Sans"/>
                <a:sym typeface="IBM Plex Sans"/>
              </a:rPr>
              <a:t>Cockpit öffnen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5" name="Shape 595"/>
        <p:cNvGrpSpPr/>
        <p:nvPr/>
      </p:nvGrpSpPr>
      <p:grpSpPr>
        <a:xfrm>
          <a:off x="0" y="0"/>
          <a:ext cx="0" cy="0"/>
          <a:chOff x="0" y="0"/>
          <a:chExt cx="0" cy="0"/>
        </a:xfrm>
      </p:grpSpPr>
      <p:sp>
        <p:nvSpPr>
          <p:cNvPr id="596" name="Google Shape;596;h3fbf580b30600811_1_86"/>
          <p:cNvSpPr txBox="1"/>
          <p:nvPr/>
        </p:nvSpPr>
        <p:spPr>
          <a:xfrm>
            <a:off x="685807" y="438912"/>
            <a:ext cx="9601200" cy="184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200">
                <a:solidFill>
                  <a:srgbClr val="00718E"/>
                </a:solidFill>
                <a:latin typeface="IBM Plex Sans"/>
                <a:ea typeface="IBM Plex Sans"/>
                <a:cs typeface="IBM Plex Sans"/>
                <a:sym typeface="IBM Plex Sans"/>
              </a:rPr>
              <a:t>05 · ERGEBNISSE · VERBRAUCHS-COCKPIT · NETZMANAGEMENT</a:t>
            </a:r>
            <a:endParaRPr/>
          </a:p>
        </p:txBody>
      </p:sp>
      <p:sp>
        <p:nvSpPr>
          <p:cNvPr id="597" name="Google Shape;597;h3fbf580b30600811_1_86"/>
          <p:cNvSpPr txBox="1"/>
          <p:nvPr/>
        </p:nvSpPr>
        <p:spPr>
          <a:xfrm>
            <a:off x="685807" y="731520"/>
            <a:ext cx="10820400" cy="9465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lang="en-US" sz="3000">
                <a:solidFill>
                  <a:srgbClr val="141A21"/>
                </a:solidFill>
                <a:latin typeface="IBM Plex Sans"/>
                <a:ea typeface="IBM Plex Sans"/>
                <a:cs typeface="IBM Plex Sans"/>
                <a:sym typeface="IBM Plex Sans"/>
              </a:rPr>
              <a:t>Das Netzmanagement erhält nach jedem Monat eine priorisierte Prüfliste</a:t>
            </a:r>
            <a:endParaRPr/>
          </a:p>
        </p:txBody>
      </p:sp>
      <p:cxnSp>
        <p:nvCxnSpPr>
          <p:cNvPr id="598" name="Google Shape;598;h3fbf580b30600811_1_86"/>
          <p:cNvCxnSpPr/>
          <p:nvPr/>
        </p:nvCxnSpPr>
        <p:spPr>
          <a:xfrm>
            <a:off x="685807" y="6336792"/>
            <a:ext cx="10820400" cy="0"/>
          </a:xfrm>
          <a:prstGeom prst="straightConnector1">
            <a:avLst/>
          </a:prstGeom>
          <a:noFill/>
          <a:ln cap="flat" cmpd="sng" w="9525">
            <a:solidFill>
              <a:srgbClr val="E4E9EF"/>
            </a:solidFill>
            <a:prstDash val="solid"/>
            <a:round/>
            <a:headEnd len="sm" w="sm" type="none"/>
            <a:tailEnd len="sm" w="sm" type="none"/>
          </a:ln>
        </p:spPr>
      </p:cxnSp>
      <p:pic>
        <p:nvPicPr>
          <p:cNvPr descr="logo-sww-wordmark.png" id="599" name="Google Shape;599;h3fbf580b30600811_1_86"/>
          <p:cNvPicPr preferRelativeResize="0"/>
          <p:nvPr/>
        </p:nvPicPr>
        <p:blipFill rotWithShape="1">
          <a:blip r:embed="rId3">
            <a:alphaModFix/>
          </a:blip>
          <a:srcRect b="0" l="0" r="0" t="0"/>
          <a:stretch/>
        </p:blipFill>
        <p:spPr>
          <a:xfrm>
            <a:off x="685807" y="6437376"/>
            <a:ext cx="687629" cy="237744"/>
          </a:xfrm>
          <a:prstGeom prst="rect">
            <a:avLst/>
          </a:prstGeom>
          <a:noFill/>
          <a:ln>
            <a:noFill/>
          </a:ln>
        </p:spPr>
      </p:pic>
      <p:sp>
        <p:nvSpPr>
          <p:cNvPr id="600" name="Google Shape;600;h3fbf580b30600811_1_86"/>
          <p:cNvSpPr txBox="1"/>
          <p:nvPr/>
        </p:nvSpPr>
        <p:spPr>
          <a:xfrm>
            <a:off x="1920260" y="6473952"/>
            <a:ext cx="7315200" cy="169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lang="en-US" sz="1100">
                <a:solidFill>
                  <a:srgbClr val="4E5A68"/>
                </a:solidFill>
                <a:latin typeface="IBM Plex Sans"/>
                <a:ea typeface="IBM Plex Sans"/>
                <a:cs typeface="IBM Plex Sans"/>
                <a:sym typeface="IBM Plex Sans"/>
              </a:rPr>
              <a:t>Verbrauchsprognose &amp; Frühwarnung · Patrick Olmo Hederer</a:t>
            </a:r>
            <a:endParaRPr/>
          </a:p>
        </p:txBody>
      </p:sp>
      <p:sp>
        <p:nvSpPr>
          <p:cNvPr id="601" name="Google Shape;601;h3fbf580b30600811_1_86"/>
          <p:cNvSpPr txBox="1"/>
          <p:nvPr/>
        </p:nvSpPr>
        <p:spPr>
          <a:xfrm>
            <a:off x="10591908" y="6473952"/>
            <a:ext cx="914400" cy="169200"/>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None/>
            </a:pPr>
            <a:r>
              <a:rPr b="0" lang="en-US" sz="1100">
                <a:solidFill>
                  <a:srgbClr val="4E5A68"/>
                </a:solidFill>
                <a:latin typeface="Geist Mono"/>
                <a:ea typeface="Geist Mono"/>
                <a:cs typeface="Geist Mono"/>
                <a:sym typeface="Geist Mono"/>
              </a:rPr>
              <a:t>5</a:t>
            </a:r>
            <a:endParaRPr/>
          </a:p>
        </p:txBody>
      </p:sp>
      <p:pic>
        <p:nvPicPr>
          <p:cNvPr descr="anomalien_crop.png" id="602" name="Google Shape;602;h3fbf580b30600811_1_86"/>
          <p:cNvPicPr preferRelativeResize="0"/>
          <p:nvPr/>
        </p:nvPicPr>
        <p:blipFill rotWithShape="1">
          <a:blip r:embed="rId4">
            <a:alphaModFix/>
          </a:blip>
          <a:srcRect b="0" l="0" r="0" t="0"/>
          <a:stretch/>
        </p:blipFill>
        <p:spPr>
          <a:xfrm>
            <a:off x="685807" y="1828800"/>
            <a:ext cx="7755210" cy="4297681"/>
          </a:xfrm>
          <a:prstGeom prst="rect">
            <a:avLst/>
          </a:prstGeom>
          <a:noFill/>
          <a:ln cap="flat" cmpd="sng" w="12700">
            <a:solidFill>
              <a:srgbClr val="D2DAE2"/>
            </a:solidFill>
            <a:prstDash val="solid"/>
            <a:round/>
            <a:headEnd len="sm" w="sm" type="none"/>
            <a:tailEnd len="sm" w="sm" type="none"/>
          </a:ln>
        </p:spPr>
      </p:pic>
      <p:sp>
        <p:nvSpPr>
          <p:cNvPr id="603" name="Google Shape;603;h3fbf580b30600811_1_86"/>
          <p:cNvSpPr/>
          <p:nvPr/>
        </p:nvSpPr>
        <p:spPr>
          <a:xfrm>
            <a:off x="1912999" y="2569372"/>
            <a:ext cx="384000" cy="384000"/>
          </a:xfrm>
          <a:prstGeom prst="ellipse">
            <a:avLst/>
          </a:prstGeom>
          <a:solidFill>
            <a:srgbClr val="A86505"/>
          </a:solidFill>
          <a:ln cap="flat" cmpd="sng" w="2540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US" sz="1600">
                <a:solidFill>
                  <a:srgbClr val="FFFFFF"/>
                </a:solidFill>
                <a:latin typeface="Geist Mono"/>
                <a:ea typeface="Geist Mono"/>
                <a:cs typeface="Geist Mono"/>
                <a:sym typeface="Geist Mono"/>
              </a:rPr>
              <a:t>1</a:t>
            </a:r>
            <a:endParaRPr/>
          </a:p>
        </p:txBody>
      </p:sp>
      <p:sp>
        <p:nvSpPr>
          <p:cNvPr id="604" name="Google Shape;604;h3fbf580b30600811_1_86"/>
          <p:cNvSpPr/>
          <p:nvPr/>
        </p:nvSpPr>
        <p:spPr>
          <a:xfrm>
            <a:off x="1967286" y="3433206"/>
            <a:ext cx="384000" cy="384000"/>
          </a:xfrm>
          <a:prstGeom prst="ellipse">
            <a:avLst/>
          </a:prstGeom>
          <a:solidFill>
            <a:srgbClr val="A86505"/>
          </a:solidFill>
          <a:ln cap="flat" cmpd="sng" w="2540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US" sz="1600">
                <a:solidFill>
                  <a:srgbClr val="FFFFFF"/>
                </a:solidFill>
                <a:latin typeface="Geist Mono"/>
                <a:ea typeface="Geist Mono"/>
                <a:cs typeface="Geist Mono"/>
                <a:sym typeface="Geist Mono"/>
              </a:rPr>
              <a:t>2</a:t>
            </a:r>
            <a:endParaRPr/>
          </a:p>
        </p:txBody>
      </p:sp>
      <p:sp>
        <p:nvSpPr>
          <p:cNvPr id="605" name="Google Shape;605;h3fbf580b30600811_1_86"/>
          <p:cNvSpPr/>
          <p:nvPr/>
        </p:nvSpPr>
        <p:spPr>
          <a:xfrm>
            <a:off x="5961261" y="3673876"/>
            <a:ext cx="384000" cy="384000"/>
          </a:xfrm>
          <a:prstGeom prst="ellipse">
            <a:avLst/>
          </a:prstGeom>
          <a:solidFill>
            <a:srgbClr val="A86505"/>
          </a:solidFill>
          <a:ln cap="flat" cmpd="sng" w="2540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US" sz="1600">
                <a:solidFill>
                  <a:srgbClr val="FFFFFF"/>
                </a:solidFill>
                <a:latin typeface="Geist Mono"/>
                <a:ea typeface="Geist Mono"/>
                <a:cs typeface="Geist Mono"/>
                <a:sym typeface="Geist Mono"/>
              </a:rPr>
              <a:t>3</a:t>
            </a:r>
            <a:endParaRPr/>
          </a:p>
        </p:txBody>
      </p:sp>
      <p:sp>
        <p:nvSpPr>
          <p:cNvPr id="606" name="Google Shape;606;h3fbf580b30600811_1_86"/>
          <p:cNvSpPr/>
          <p:nvPr/>
        </p:nvSpPr>
        <p:spPr>
          <a:xfrm>
            <a:off x="8761142" y="1874519"/>
            <a:ext cx="384000" cy="384000"/>
          </a:xfrm>
          <a:prstGeom prst="ellipse">
            <a:avLst/>
          </a:prstGeom>
          <a:solidFill>
            <a:srgbClr val="A86505"/>
          </a:solidFill>
          <a:ln cap="flat" cmpd="sng" w="2540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US" sz="1600">
                <a:solidFill>
                  <a:srgbClr val="FFFFFF"/>
                </a:solidFill>
                <a:latin typeface="Geist Mono"/>
                <a:ea typeface="Geist Mono"/>
                <a:cs typeface="Geist Mono"/>
                <a:sym typeface="Geist Mono"/>
              </a:rPr>
              <a:t>1</a:t>
            </a:r>
            <a:endParaRPr/>
          </a:p>
        </p:txBody>
      </p:sp>
      <p:sp>
        <p:nvSpPr>
          <p:cNvPr id="607" name="Google Shape;607;h3fbf580b30600811_1_86"/>
          <p:cNvSpPr txBox="1"/>
          <p:nvPr/>
        </p:nvSpPr>
        <p:spPr>
          <a:xfrm>
            <a:off x="9291499" y="1892807"/>
            <a:ext cx="2214900" cy="10659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500">
                <a:solidFill>
                  <a:srgbClr val="141A21"/>
                </a:solidFill>
                <a:latin typeface="IBM Plex Sans"/>
                <a:ea typeface="IBM Plex Sans"/>
                <a:cs typeface="IBM Plex Sans"/>
                <a:sym typeface="IBM Plex Sans"/>
              </a:rPr>
              <a:t>Offene Prüfhinweise</a:t>
            </a:r>
            <a:endParaRPr/>
          </a:p>
          <a:p>
            <a:pPr indent="0" lvl="0" marL="0" marR="0" rtl="0" algn="l">
              <a:lnSpc>
                <a:spcPct val="115000"/>
              </a:lnSpc>
              <a:spcBef>
                <a:spcPts val="300"/>
              </a:spcBef>
              <a:spcAft>
                <a:spcPts val="0"/>
              </a:spcAft>
              <a:buNone/>
            </a:pPr>
            <a:r>
              <a:rPr b="0" lang="en-US" sz="1500">
                <a:solidFill>
                  <a:srgbClr val="4E5A68"/>
                </a:solidFill>
                <a:latin typeface="IBM Plex Sans"/>
                <a:ea typeface="IBM Plex Sans"/>
                <a:cs typeface="IBM Plex Sans"/>
                <a:sym typeface="IBM Plex Sans"/>
              </a:rPr>
              <a:t>12/2025: 10 Fälle; 2025 gesamt 114, Ø 9,5 je Monat.</a:t>
            </a:r>
            <a:endParaRPr/>
          </a:p>
        </p:txBody>
      </p:sp>
      <p:sp>
        <p:nvSpPr>
          <p:cNvPr id="608" name="Google Shape;608;h3fbf580b30600811_1_86"/>
          <p:cNvSpPr/>
          <p:nvPr/>
        </p:nvSpPr>
        <p:spPr>
          <a:xfrm>
            <a:off x="8761142" y="3063239"/>
            <a:ext cx="384000" cy="384000"/>
          </a:xfrm>
          <a:prstGeom prst="ellipse">
            <a:avLst/>
          </a:prstGeom>
          <a:solidFill>
            <a:srgbClr val="A86505"/>
          </a:solidFill>
          <a:ln cap="flat" cmpd="sng" w="2540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US" sz="1600">
                <a:solidFill>
                  <a:srgbClr val="FFFFFF"/>
                </a:solidFill>
                <a:latin typeface="Geist Mono"/>
                <a:ea typeface="Geist Mono"/>
                <a:cs typeface="Geist Mono"/>
                <a:sym typeface="Geist Mono"/>
              </a:rPr>
              <a:t>2</a:t>
            </a:r>
            <a:endParaRPr/>
          </a:p>
        </p:txBody>
      </p:sp>
      <p:sp>
        <p:nvSpPr>
          <p:cNvPr id="609" name="Google Shape;609;h3fbf580b30600811_1_86"/>
          <p:cNvSpPr txBox="1"/>
          <p:nvPr/>
        </p:nvSpPr>
        <p:spPr>
          <a:xfrm>
            <a:off x="9291499" y="3081527"/>
            <a:ext cx="2214900" cy="10659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500">
                <a:solidFill>
                  <a:srgbClr val="141A21"/>
                </a:solidFill>
                <a:latin typeface="IBM Plex Sans"/>
                <a:ea typeface="IBM Plex Sans"/>
                <a:cs typeface="IBM Plex Sans"/>
                <a:sym typeface="IBM Plex Sans"/>
              </a:rPr>
              <a:t>Nach Dringlichkeit</a:t>
            </a:r>
            <a:endParaRPr/>
          </a:p>
          <a:p>
            <a:pPr indent="0" lvl="0" marL="0" marR="0" rtl="0" algn="l">
              <a:lnSpc>
                <a:spcPct val="115000"/>
              </a:lnSpc>
              <a:spcBef>
                <a:spcPts val="300"/>
              </a:spcBef>
              <a:spcAft>
                <a:spcPts val="0"/>
              </a:spcAft>
              <a:buNone/>
            </a:pPr>
            <a:r>
              <a:rPr b="0" lang="en-US" sz="1500">
                <a:solidFill>
                  <a:srgbClr val="4E5A68"/>
                </a:solidFill>
                <a:latin typeface="IBM Plex Sans"/>
                <a:ea typeface="IBM Plex Sans"/>
                <a:cs typeface="IBM Plex Sans"/>
                <a:sym typeface="IBM Plex Sans"/>
              </a:rPr>
              <a:t>Erwartet gegen gemessen, je Zähler und Kunde.</a:t>
            </a:r>
            <a:endParaRPr/>
          </a:p>
        </p:txBody>
      </p:sp>
      <p:sp>
        <p:nvSpPr>
          <p:cNvPr id="610" name="Google Shape;610;h3fbf580b30600811_1_86"/>
          <p:cNvSpPr/>
          <p:nvPr/>
        </p:nvSpPr>
        <p:spPr>
          <a:xfrm>
            <a:off x="8761142" y="4251960"/>
            <a:ext cx="384000" cy="384000"/>
          </a:xfrm>
          <a:prstGeom prst="ellipse">
            <a:avLst/>
          </a:prstGeom>
          <a:solidFill>
            <a:srgbClr val="A86505"/>
          </a:solidFill>
          <a:ln cap="flat" cmpd="sng" w="2540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US" sz="1600">
                <a:solidFill>
                  <a:srgbClr val="FFFFFF"/>
                </a:solidFill>
                <a:latin typeface="Geist Mono"/>
                <a:ea typeface="Geist Mono"/>
                <a:cs typeface="Geist Mono"/>
                <a:sym typeface="Geist Mono"/>
              </a:rPr>
              <a:t>3</a:t>
            </a:r>
            <a:endParaRPr/>
          </a:p>
        </p:txBody>
      </p:sp>
      <p:sp>
        <p:nvSpPr>
          <p:cNvPr id="611" name="Google Shape;611;h3fbf580b30600811_1_86"/>
          <p:cNvSpPr txBox="1"/>
          <p:nvPr/>
        </p:nvSpPr>
        <p:spPr>
          <a:xfrm>
            <a:off x="9291499" y="4270248"/>
            <a:ext cx="2214900" cy="10659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500">
                <a:solidFill>
                  <a:srgbClr val="141A21"/>
                </a:solidFill>
                <a:latin typeface="IBM Plex Sans"/>
                <a:ea typeface="IBM Plex Sans"/>
                <a:cs typeface="IBM Plex Sans"/>
                <a:sym typeface="IBM Plex Sans"/>
              </a:rPr>
              <a:t>Einordnung</a:t>
            </a:r>
            <a:endParaRPr/>
          </a:p>
          <a:p>
            <a:pPr indent="0" lvl="0" marL="0" marR="0" rtl="0" algn="l">
              <a:lnSpc>
                <a:spcPct val="115000"/>
              </a:lnSpc>
              <a:spcBef>
                <a:spcPts val="300"/>
              </a:spcBef>
              <a:spcAft>
                <a:spcPts val="0"/>
              </a:spcAft>
              <a:buNone/>
            </a:pPr>
            <a:r>
              <a:rPr b="0" lang="en-US" sz="1500">
                <a:solidFill>
                  <a:srgbClr val="4E5A68"/>
                </a:solidFill>
                <a:latin typeface="IBM Plex Sans"/>
                <a:ea typeface="IBM Plex Sans"/>
                <a:cs typeface="IBM Plex Sans"/>
                <a:sym typeface="IBM Plex Sans"/>
              </a:rPr>
              <a:t>Mehr-/Minderverbrauch (2025: 68 zu 46), wiederholt auffällig.</a:t>
            </a:r>
            <a:endParaRPr/>
          </a:p>
        </p:txBody>
      </p:sp>
      <p:sp>
        <p:nvSpPr>
          <p:cNvPr id="612" name="Google Shape;612;h3fbf580b30600811_1_86">
            <a:hlinkClick r:id="rId5"/>
          </p:cNvPr>
          <p:cNvSpPr/>
          <p:nvPr/>
        </p:nvSpPr>
        <p:spPr>
          <a:xfrm>
            <a:off x="8761142" y="5669280"/>
            <a:ext cx="2745000" cy="384000"/>
          </a:xfrm>
          <a:prstGeom prst="roundRect">
            <a:avLst>
              <a:gd fmla="val 50000" name="adj"/>
            </a:avLst>
          </a:prstGeom>
          <a:solidFill>
            <a:srgbClr val="FFFFFF"/>
          </a:solidFill>
          <a:ln cap="flat" cmpd="sng" w="12700">
            <a:solidFill>
              <a:srgbClr val="0080A0"/>
            </a:solidFill>
            <a:prstDash val="solid"/>
            <a:round/>
            <a:headEnd len="sm" w="sm" type="none"/>
            <a:tailEnd len="sm" w="sm" type="none"/>
          </a:ln>
        </p:spPr>
        <p:txBody>
          <a:bodyPr anchorCtr="0" anchor="ctr" bIns="0" lIns="91425" spcFirstLastPara="1" rIns="91425" wrap="square" tIns="0">
            <a:noAutofit/>
          </a:bodyPr>
          <a:lstStyle/>
          <a:p>
            <a:pPr indent="0" lvl="0" marL="0" marR="0" rtl="0" algn="ctr">
              <a:spcBef>
                <a:spcPts val="0"/>
              </a:spcBef>
              <a:spcAft>
                <a:spcPts val="0"/>
              </a:spcAft>
              <a:buNone/>
            </a:pPr>
            <a:r>
              <a:rPr b="1" lang="en-US" sz="1400">
                <a:solidFill>
                  <a:srgbClr val="00718E"/>
                </a:solidFill>
                <a:latin typeface="IBM Plex Sans"/>
                <a:ea typeface="IBM Plex Sans"/>
                <a:cs typeface="IBM Plex Sans"/>
                <a:sym typeface="IBM Plex Sans"/>
              </a:rPr>
              <a:t>Cockpit öffnen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7" name="Shape 617"/>
        <p:cNvGrpSpPr/>
        <p:nvPr/>
      </p:nvGrpSpPr>
      <p:grpSpPr>
        <a:xfrm>
          <a:off x="0" y="0"/>
          <a:ext cx="0" cy="0"/>
          <a:chOff x="0" y="0"/>
          <a:chExt cx="0" cy="0"/>
        </a:xfrm>
      </p:grpSpPr>
      <p:sp>
        <p:nvSpPr>
          <p:cNvPr id="618" name="Google Shape;618;h3fbf580b30600811_1_107"/>
          <p:cNvSpPr txBox="1"/>
          <p:nvPr/>
        </p:nvSpPr>
        <p:spPr>
          <a:xfrm>
            <a:off x="685807" y="438912"/>
            <a:ext cx="9601200" cy="184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200">
                <a:solidFill>
                  <a:srgbClr val="00718E"/>
                </a:solidFill>
                <a:latin typeface="IBM Plex Sans"/>
                <a:ea typeface="IBM Plex Sans"/>
                <a:cs typeface="IBM Plex Sans"/>
                <a:sym typeface="IBM Plex Sans"/>
              </a:rPr>
              <a:t>05 · ERGEBNISSE · GESCHÄFTSNUTZEN</a:t>
            </a:r>
            <a:endParaRPr/>
          </a:p>
        </p:txBody>
      </p:sp>
      <p:sp>
        <p:nvSpPr>
          <p:cNvPr id="619" name="Google Shape;619;h3fbf580b30600811_1_107"/>
          <p:cNvSpPr txBox="1"/>
          <p:nvPr/>
        </p:nvSpPr>
        <p:spPr>
          <a:xfrm>
            <a:off x="685807" y="731520"/>
            <a:ext cx="10820400" cy="9465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lang="en-US" sz="3000">
                <a:solidFill>
                  <a:srgbClr val="141A21"/>
                </a:solidFill>
                <a:latin typeface="IBM Plex Sans"/>
                <a:ea typeface="IBM Plex Sans"/>
                <a:cs typeface="IBM Plex Sans"/>
                <a:sym typeface="IBM Plex Sans"/>
              </a:rPr>
              <a:t>Der Nutzen ist in kWh und Prüffällen messbar – in Euro noch nicht</a:t>
            </a:r>
            <a:endParaRPr/>
          </a:p>
        </p:txBody>
      </p:sp>
      <p:cxnSp>
        <p:nvCxnSpPr>
          <p:cNvPr id="620" name="Google Shape;620;h3fbf580b30600811_1_107"/>
          <p:cNvCxnSpPr/>
          <p:nvPr/>
        </p:nvCxnSpPr>
        <p:spPr>
          <a:xfrm>
            <a:off x="685807" y="6336792"/>
            <a:ext cx="10820400" cy="0"/>
          </a:xfrm>
          <a:prstGeom prst="straightConnector1">
            <a:avLst/>
          </a:prstGeom>
          <a:noFill/>
          <a:ln cap="flat" cmpd="sng" w="9525">
            <a:solidFill>
              <a:srgbClr val="E4E9EF"/>
            </a:solidFill>
            <a:prstDash val="solid"/>
            <a:round/>
            <a:headEnd len="sm" w="sm" type="none"/>
            <a:tailEnd len="sm" w="sm" type="none"/>
          </a:ln>
        </p:spPr>
      </p:cxnSp>
      <p:pic>
        <p:nvPicPr>
          <p:cNvPr descr="logo-sww-wordmark.png" id="621" name="Google Shape;621;h3fbf580b30600811_1_107"/>
          <p:cNvPicPr preferRelativeResize="0"/>
          <p:nvPr/>
        </p:nvPicPr>
        <p:blipFill rotWithShape="1">
          <a:blip r:embed="rId3">
            <a:alphaModFix/>
          </a:blip>
          <a:srcRect b="0" l="0" r="0" t="0"/>
          <a:stretch/>
        </p:blipFill>
        <p:spPr>
          <a:xfrm>
            <a:off x="685807" y="6437376"/>
            <a:ext cx="687629" cy="237744"/>
          </a:xfrm>
          <a:prstGeom prst="rect">
            <a:avLst/>
          </a:prstGeom>
          <a:noFill/>
          <a:ln>
            <a:noFill/>
          </a:ln>
        </p:spPr>
      </p:pic>
      <p:sp>
        <p:nvSpPr>
          <p:cNvPr id="622" name="Google Shape;622;h3fbf580b30600811_1_107"/>
          <p:cNvSpPr txBox="1"/>
          <p:nvPr/>
        </p:nvSpPr>
        <p:spPr>
          <a:xfrm>
            <a:off x="1920260" y="6473952"/>
            <a:ext cx="7315200" cy="169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lang="en-US" sz="1100">
                <a:solidFill>
                  <a:srgbClr val="4E5A68"/>
                </a:solidFill>
                <a:latin typeface="IBM Plex Sans"/>
                <a:ea typeface="IBM Plex Sans"/>
                <a:cs typeface="IBM Plex Sans"/>
                <a:sym typeface="IBM Plex Sans"/>
              </a:rPr>
              <a:t>Verbrauchsprognose &amp; Frühwarnung · Patrick Olmo Hederer</a:t>
            </a:r>
            <a:endParaRPr/>
          </a:p>
        </p:txBody>
      </p:sp>
      <p:sp>
        <p:nvSpPr>
          <p:cNvPr id="623" name="Google Shape;623;h3fbf580b30600811_1_107"/>
          <p:cNvSpPr txBox="1"/>
          <p:nvPr/>
        </p:nvSpPr>
        <p:spPr>
          <a:xfrm>
            <a:off x="10591908" y="6473952"/>
            <a:ext cx="914400" cy="169200"/>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None/>
            </a:pPr>
            <a:r>
              <a:rPr b="0" lang="en-US" sz="1100">
                <a:solidFill>
                  <a:srgbClr val="4E5A68"/>
                </a:solidFill>
                <a:latin typeface="Geist Mono"/>
                <a:ea typeface="Geist Mono"/>
                <a:cs typeface="Geist Mono"/>
                <a:sym typeface="Geist Mono"/>
              </a:rPr>
              <a:t>6</a:t>
            </a:r>
            <a:endParaRPr/>
          </a:p>
        </p:txBody>
      </p:sp>
      <p:sp>
        <p:nvSpPr>
          <p:cNvPr id="624" name="Google Shape;624;h3fbf580b30600811_1_107"/>
          <p:cNvSpPr/>
          <p:nvPr/>
        </p:nvSpPr>
        <p:spPr>
          <a:xfrm>
            <a:off x="685807" y="1920240"/>
            <a:ext cx="3456300" cy="2148900"/>
          </a:xfrm>
          <a:prstGeom prst="roundRect">
            <a:avLst>
              <a:gd fmla="val 6000" name="adj"/>
            </a:avLst>
          </a:prstGeom>
          <a:solidFill>
            <a:srgbClr val="063659"/>
          </a:solidFill>
          <a:ln cap="flat" cmpd="sng" w="12700">
            <a:solidFill>
              <a:srgbClr val="04263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625" name="Google Shape;625;h3fbf580b30600811_1_107"/>
          <p:cNvSpPr txBox="1"/>
          <p:nvPr/>
        </p:nvSpPr>
        <p:spPr>
          <a:xfrm>
            <a:off x="914409" y="2103120"/>
            <a:ext cx="2999100" cy="215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400">
                <a:solidFill>
                  <a:srgbClr val="BBD7EA"/>
                </a:solidFill>
                <a:latin typeface="IBM Plex Sans"/>
                <a:ea typeface="IBM Plex Sans"/>
                <a:cs typeface="IBM Plex Sans"/>
                <a:sym typeface="IBM Plex Sans"/>
              </a:rPr>
              <a:t>Beschaffung · Portfolio je Monat</a:t>
            </a:r>
            <a:endParaRPr/>
          </a:p>
        </p:txBody>
      </p:sp>
      <p:sp>
        <p:nvSpPr>
          <p:cNvPr id="626" name="Google Shape;626;h3fbf580b30600811_1_107"/>
          <p:cNvSpPr txBox="1"/>
          <p:nvPr/>
        </p:nvSpPr>
        <p:spPr>
          <a:xfrm>
            <a:off x="914409" y="2423160"/>
            <a:ext cx="2999100" cy="523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3400">
                <a:solidFill>
                  <a:srgbClr val="FFFFFF"/>
                </a:solidFill>
                <a:latin typeface="Geist Mono"/>
                <a:ea typeface="Geist Mono"/>
                <a:cs typeface="Geist Mono"/>
                <a:sym typeface="Geist Mono"/>
              </a:rPr>
              <a:t>± 4,2</a:t>
            </a:r>
            <a:r>
              <a:rPr b="1" lang="en-US" sz="1500">
                <a:solidFill>
                  <a:srgbClr val="BBD7EA"/>
                </a:solidFill>
                <a:latin typeface="IBM Plex Sans"/>
                <a:ea typeface="IBM Plex Sans"/>
                <a:cs typeface="IBM Plex Sans"/>
                <a:sym typeface="IBM Plex Sans"/>
              </a:rPr>
              <a:t> %</a:t>
            </a:r>
            <a:endParaRPr/>
          </a:p>
        </p:txBody>
      </p:sp>
      <p:sp>
        <p:nvSpPr>
          <p:cNvPr id="627" name="Google Shape;627;h3fbf580b30600811_1_107"/>
          <p:cNvSpPr txBox="1"/>
          <p:nvPr/>
        </p:nvSpPr>
        <p:spPr>
          <a:xfrm>
            <a:off x="914409" y="3502152"/>
            <a:ext cx="2999100" cy="420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lang="en-US" sz="1300">
                <a:solidFill>
                  <a:srgbClr val="BBD7EA"/>
                </a:solidFill>
                <a:latin typeface="IBM Plex Sans"/>
                <a:ea typeface="IBM Plex Sans"/>
                <a:cs typeface="IBM Plex Sans"/>
                <a:sym typeface="IBM Plex Sans"/>
              </a:rPr>
              <a:t>Ø Abweichung 2025 statt ± 9,0 % mit der Fortschreibung</a:t>
            </a:r>
            <a:endParaRPr/>
          </a:p>
        </p:txBody>
      </p:sp>
      <p:sp>
        <p:nvSpPr>
          <p:cNvPr id="628" name="Google Shape;628;h3fbf580b30600811_1_107"/>
          <p:cNvSpPr/>
          <p:nvPr/>
        </p:nvSpPr>
        <p:spPr>
          <a:xfrm>
            <a:off x="4370876" y="1920240"/>
            <a:ext cx="3456300" cy="2148900"/>
          </a:xfrm>
          <a:prstGeom prst="roundRect">
            <a:avLst>
              <a:gd fmla="val 6000" name="adj"/>
            </a:avLst>
          </a:prstGeom>
          <a:solidFill>
            <a:srgbClr val="FFFFFF"/>
          </a:solidFill>
          <a:ln cap="flat" cmpd="sng" w="12700">
            <a:solidFill>
              <a:srgbClr val="D2DA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629" name="Google Shape;629;h3fbf580b30600811_1_107"/>
          <p:cNvSpPr txBox="1"/>
          <p:nvPr/>
        </p:nvSpPr>
        <p:spPr>
          <a:xfrm>
            <a:off x="4599478" y="2103120"/>
            <a:ext cx="2999100" cy="215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400">
                <a:solidFill>
                  <a:srgbClr val="4E5A68"/>
                </a:solidFill>
                <a:latin typeface="IBM Plex Sans"/>
                <a:ea typeface="IBM Plex Sans"/>
                <a:cs typeface="IBM Plex Sans"/>
                <a:sym typeface="IBM Plex Sans"/>
              </a:rPr>
              <a:t>Beschaffung · Fehler je Zähler</a:t>
            </a:r>
            <a:endParaRPr/>
          </a:p>
        </p:txBody>
      </p:sp>
      <p:sp>
        <p:nvSpPr>
          <p:cNvPr id="630" name="Google Shape;630;h3fbf580b30600811_1_107"/>
          <p:cNvSpPr txBox="1"/>
          <p:nvPr/>
        </p:nvSpPr>
        <p:spPr>
          <a:xfrm>
            <a:off x="4599478" y="2423160"/>
            <a:ext cx="2999100" cy="523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3400">
                <a:solidFill>
                  <a:srgbClr val="141A21"/>
                </a:solidFill>
                <a:latin typeface="Geist Mono"/>
                <a:ea typeface="Geist Mono"/>
                <a:cs typeface="Geist Mono"/>
                <a:sym typeface="Geist Mono"/>
              </a:rPr>
              <a:t>−24</a:t>
            </a:r>
            <a:r>
              <a:rPr b="1" lang="en-US" sz="1500">
                <a:solidFill>
                  <a:srgbClr val="4E5A68"/>
                </a:solidFill>
                <a:latin typeface="IBM Plex Sans"/>
                <a:ea typeface="IBM Plex Sans"/>
                <a:cs typeface="IBM Plex Sans"/>
                <a:sym typeface="IBM Plex Sans"/>
              </a:rPr>
              <a:t> %</a:t>
            </a:r>
            <a:endParaRPr/>
          </a:p>
        </p:txBody>
      </p:sp>
      <p:sp>
        <p:nvSpPr>
          <p:cNvPr id="631" name="Google Shape;631;h3fbf580b30600811_1_107"/>
          <p:cNvSpPr txBox="1"/>
          <p:nvPr/>
        </p:nvSpPr>
        <p:spPr>
          <a:xfrm>
            <a:off x="4599478" y="3502152"/>
            <a:ext cx="2999100" cy="420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lang="en-US" sz="1300">
                <a:solidFill>
                  <a:srgbClr val="4E5A68"/>
                </a:solidFill>
                <a:latin typeface="IBM Plex Sans"/>
                <a:ea typeface="IBM Plex Sans"/>
                <a:cs typeface="IBM Plex Sans"/>
                <a:sym typeface="IBM Plex Sans"/>
              </a:rPr>
              <a:t>Summe absoluter Fehler 2025: 41,4 → 31,3 GWh</a:t>
            </a:r>
            <a:endParaRPr/>
          </a:p>
        </p:txBody>
      </p:sp>
      <p:sp>
        <p:nvSpPr>
          <p:cNvPr id="632" name="Google Shape;632;h3fbf580b30600811_1_107"/>
          <p:cNvSpPr/>
          <p:nvPr/>
        </p:nvSpPr>
        <p:spPr>
          <a:xfrm>
            <a:off x="8055946" y="1920240"/>
            <a:ext cx="3456300" cy="2148900"/>
          </a:xfrm>
          <a:prstGeom prst="roundRect">
            <a:avLst>
              <a:gd fmla="val 6000" name="adj"/>
            </a:avLst>
          </a:prstGeom>
          <a:solidFill>
            <a:srgbClr val="FFFFFF"/>
          </a:solidFill>
          <a:ln cap="flat" cmpd="sng" w="12700">
            <a:solidFill>
              <a:srgbClr val="D2DA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633" name="Google Shape;633;h3fbf580b30600811_1_107"/>
          <p:cNvSpPr txBox="1"/>
          <p:nvPr/>
        </p:nvSpPr>
        <p:spPr>
          <a:xfrm>
            <a:off x="8284548" y="2103120"/>
            <a:ext cx="2999100" cy="215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400">
                <a:solidFill>
                  <a:srgbClr val="4E5A68"/>
                </a:solidFill>
                <a:latin typeface="IBM Plex Sans"/>
                <a:ea typeface="IBM Plex Sans"/>
                <a:cs typeface="IBM Plex Sans"/>
                <a:sym typeface="IBM Plex Sans"/>
              </a:rPr>
              <a:t>Netzmanagement · Prüfvolumen</a:t>
            </a:r>
            <a:endParaRPr/>
          </a:p>
        </p:txBody>
      </p:sp>
      <p:sp>
        <p:nvSpPr>
          <p:cNvPr id="634" name="Google Shape;634;h3fbf580b30600811_1_107"/>
          <p:cNvSpPr txBox="1"/>
          <p:nvPr/>
        </p:nvSpPr>
        <p:spPr>
          <a:xfrm>
            <a:off x="8284548" y="2423160"/>
            <a:ext cx="2999100" cy="523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3400">
                <a:solidFill>
                  <a:srgbClr val="141A21"/>
                </a:solidFill>
                <a:latin typeface="Geist Mono"/>
                <a:ea typeface="Geist Mono"/>
                <a:cs typeface="Geist Mono"/>
                <a:sym typeface="Geist Mono"/>
              </a:rPr>
              <a:t>9,5</a:t>
            </a:r>
            <a:r>
              <a:rPr b="1" lang="en-US" sz="1500">
                <a:solidFill>
                  <a:srgbClr val="4E5A68"/>
                </a:solidFill>
                <a:latin typeface="IBM Plex Sans"/>
                <a:ea typeface="IBM Plex Sans"/>
                <a:cs typeface="IBM Plex Sans"/>
                <a:sym typeface="IBM Plex Sans"/>
              </a:rPr>
              <a:t> Fälle / Monat</a:t>
            </a:r>
            <a:endParaRPr/>
          </a:p>
        </p:txBody>
      </p:sp>
      <p:sp>
        <p:nvSpPr>
          <p:cNvPr id="635" name="Google Shape;635;h3fbf580b30600811_1_107"/>
          <p:cNvSpPr txBox="1"/>
          <p:nvPr/>
        </p:nvSpPr>
        <p:spPr>
          <a:xfrm>
            <a:off x="8284548" y="3502152"/>
            <a:ext cx="2999100" cy="420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lang="en-US" sz="1300">
                <a:solidFill>
                  <a:srgbClr val="4E5A68"/>
                </a:solidFill>
                <a:latin typeface="IBM Plex Sans"/>
                <a:ea typeface="IBM Plex Sans"/>
                <a:cs typeface="IBM Plex Sans"/>
                <a:sym typeface="IBM Plex Sans"/>
              </a:rPr>
              <a:t>nach jedem Monatsabschluss statt erst in der Quartalsauswertung</a:t>
            </a:r>
            <a:endParaRPr/>
          </a:p>
        </p:txBody>
      </p:sp>
      <p:sp>
        <p:nvSpPr>
          <p:cNvPr id="636" name="Google Shape;636;h3fbf580b30600811_1_107"/>
          <p:cNvSpPr/>
          <p:nvPr/>
        </p:nvSpPr>
        <p:spPr>
          <a:xfrm>
            <a:off x="685807" y="4343400"/>
            <a:ext cx="10820400" cy="1691700"/>
          </a:xfrm>
          <a:prstGeom prst="roundRect">
            <a:avLst>
              <a:gd fmla="val 6000" name="adj"/>
            </a:avLst>
          </a:prstGeom>
          <a:solidFill>
            <a:srgbClr val="F1F4F7"/>
          </a:solidFill>
          <a:ln cap="flat" cmpd="sng" w="12700">
            <a:solidFill>
              <a:srgbClr val="D2DA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637" name="Google Shape;637;h3fbf580b30600811_1_107"/>
          <p:cNvSpPr txBox="1"/>
          <p:nvPr/>
        </p:nvSpPr>
        <p:spPr>
          <a:xfrm>
            <a:off x="960130" y="4526280"/>
            <a:ext cx="2743200" cy="184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200">
                <a:solidFill>
                  <a:srgbClr val="00718E"/>
                </a:solidFill>
                <a:latin typeface="IBM Plex Sans"/>
                <a:ea typeface="IBM Plex Sans"/>
                <a:cs typeface="IBM Plex Sans"/>
                <a:sym typeface="IBM Plex Sans"/>
              </a:rPr>
              <a:t>VORBEHALT</a:t>
            </a:r>
            <a:endParaRPr/>
          </a:p>
        </p:txBody>
      </p:sp>
      <p:sp>
        <p:nvSpPr>
          <p:cNvPr id="638" name="Google Shape;638;h3fbf580b30600811_1_107"/>
          <p:cNvSpPr txBox="1"/>
          <p:nvPr/>
        </p:nvSpPr>
        <p:spPr>
          <a:xfrm>
            <a:off x="960130" y="4846320"/>
            <a:ext cx="10271700" cy="6321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600">
                <a:solidFill>
                  <a:srgbClr val="141A21"/>
                </a:solidFill>
                <a:latin typeface="IBM Plex Sans"/>
                <a:ea typeface="IBM Plex Sans"/>
                <a:cs typeface="IBM Plex Sans"/>
                <a:sym typeface="IBM Plex Sans"/>
              </a:rPr>
              <a:t>Kein Euro-Wert: </a:t>
            </a:r>
            <a:r>
              <a:rPr b="0" lang="en-US" sz="1600">
                <a:solidFill>
                  <a:srgbClr val="4E5A68"/>
                </a:solidFill>
                <a:latin typeface="IBM Plex Sans"/>
                <a:ea typeface="IBM Plex Sans"/>
                <a:cs typeface="IBM Plex Sans"/>
                <a:sym typeface="IBM Plex Sans"/>
              </a:rPr>
              <a:t>Spotmarktpreise, Prüfkosten je Fall und bestätigte Befunde liegen im Projekt nicht vor.</a:t>
            </a:r>
            <a:endParaRPr/>
          </a:p>
          <a:p>
            <a:pPr indent="0" lvl="0" marL="0" marR="0" rtl="0" algn="l">
              <a:lnSpc>
                <a:spcPct val="115000"/>
              </a:lnSpc>
              <a:spcBef>
                <a:spcPts val="800"/>
              </a:spcBef>
              <a:spcAft>
                <a:spcPts val="0"/>
              </a:spcAft>
              <a:buNone/>
            </a:pPr>
            <a:r>
              <a:rPr b="1" lang="en-US" sz="1600">
                <a:solidFill>
                  <a:srgbClr val="141A21"/>
                </a:solidFill>
                <a:latin typeface="IBM Plex Sans"/>
                <a:ea typeface="IBM Plex Sans"/>
                <a:cs typeface="IBM Plex Sans"/>
                <a:sym typeface="IBM Plex Sans"/>
              </a:rPr>
              <a:t>Retrospektiv: </a:t>
            </a:r>
            <a:r>
              <a:rPr b="0" lang="en-US" sz="1600">
                <a:solidFill>
                  <a:srgbClr val="4E5A68"/>
                </a:solidFill>
                <a:latin typeface="IBM Plex Sans"/>
                <a:ea typeface="IBM Plex Sans"/>
                <a:cs typeface="IBM Plex Sans"/>
                <a:sym typeface="IBM Plex Sans"/>
              </a:rPr>
              <a:t>2025 wurde im Nachhinein geprüft; der Nachweis im laufenden Betrieb steht noch aus.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3" name="Shape 643"/>
        <p:cNvGrpSpPr/>
        <p:nvPr/>
      </p:nvGrpSpPr>
      <p:grpSpPr>
        <a:xfrm>
          <a:off x="0" y="0"/>
          <a:ext cx="0" cy="0"/>
          <a:chOff x="0" y="0"/>
          <a:chExt cx="0" cy="0"/>
        </a:xfrm>
      </p:grpSpPr>
      <p:sp>
        <p:nvSpPr>
          <p:cNvPr id="644" name="Google Shape;644;h3fbf580b30600811_1_132"/>
          <p:cNvSpPr txBox="1"/>
          <p:nvPr/>
        </p:nvSpPr>
        <p:spPr>
          <a:xfrm>
            <a:off x="685807" y="438912"/>
            <a:ext cx="9601200" cy="184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200">
                <a:solidFill>
                  <a:srgbClr val="00718E"/>
                </a:solidFill>
                <a:latin typeface="IBM Plex Sans"/>
                <a:ea typeface="IBM Plex Sans"/>
                <a:cs typeface="IBM Plex Sans"/>
                <a:sym typeface="IBM Plex Sans"/>
              </a:rPr>
              <a:t>06 · EMPFEHLUNGEN</a:t>
            </a:r>
            <a:endParaRPr/>
          </a:p>
        </p:txBody>
      </p:sp>
      <p:sp>
        <p:nvSpPr>
          <p:cNvPr id="645" name="Google Shape;645;h3fbf580b30600811_1_132"/>
          <p:cNvSpPr txBox="1"/>
          <p:nvPr/>
        </p:nvSpPr>
        <p:spPr>
          <a:xfrm>
            <a:off x="685807" y="731520"/>
            <a:ext cx="10820400" cy="4617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lang="en-US" sz="3000">
                <a:solidFill>
                  <a:srgbClr val="141A21"/>
                </a:solidFill>
                <a:latin typeface="IBM Plex Sans"/>
                <a:ea typeface="IBM Plex Sans"/>
                <a:cs typeface="IBM Plex Sans"/>
                <a:sym typeface="IBM Plex Sans"/>
              </a:rPr>
              <a:t>Zwei Empfehlungen für die StadtWerke Westhafen</a:t>
            </a:r>
            <a:endParaRPr/>
          </a:p>
        </p:txBody>
      </p:sp>
      <p:cxnSp>
        <p:nvCxnSpPr>
          <p:cNvPr id="646" name="Google Shape;646;h3fbf580b30600811_1_132"/>
          <p:cNvCxnSpPr/>
          <p:nvPr/>
        </p:nvCxnSpPr>
        <p:spPr>
          <a:xfrm>
            <a:off x="685807" y="6336792"/>
            <a:ext cx="10820400" cy="0"/>
          </a:xfrm>
          <a:prstGeom prst="straightConnector1">
            <a:avLst/>
          </a:prstGeom>
          <a:noFill/>
          <a:ln cap="flat" cmpd="sng" w="9525">
            <a:solidFill>
              <a:srgbClr val="E4E9EF"/>
            </a:solidFill>
            <a:prstDash val="solid"/>
            <a:round/>
            <a:headEnd len="sm" w="sm" type="none"/>
            <a:tailEnd len="sm" w="sm" type="none"/>
          </a:ln>
        </p:spPr>
      </p:cxnSp>
      <p:pic>
        <p:nvPicPr>
          <p:cNvPr descr="logo-sww-wordmark.png" id="647" name="Google Shape;647;h3fbf580b30600811_1_132"/>
          <p:cNvPicPr preferRelativeResize="0"/>
          <p:nvPr/>
        </p:nvPicPr>
        <p:blipFill rotWithShape="1">
          <a:blip r:embed="rId3">
            <a:alphaModFix/>
          </a:blip>
          <a:srcRect b="0" l="0" r="0" t="0"/>
          <a:stretch/>
        </p:blipFill>
        <p:spPr>
          <a:xfrm>
            <a:off x="685807" y="6437376"/>
            <a:ext cx="687629" cy="237744"/>
          </a:xfrm>
          <a:prstGeom prst="rect">
            <a:avLst/>
          </a:prstGeom>
          <a:noFill/>
          <a:ln>
            <a:noFill/>
          </a:ln>
        </p:spPr>
      </p:pic>
      <p:sp>
        <p:nvSpPr>
          <p:cNvPr id="648" name="Google Shape;648;h3fbf580b30600811_1_132"/>
          <p:cNvSpPr txBox="1"/>
          <p:nvPr/>
        </p:nvSpPr>
        <p:spPr>
          <a:xfrm>
            <a:off x="1920260" y="6473952"/>
            <a:ext cx="7315200" cy="169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lang="en-US" sz="1100">
                <a:solidFill>
                  <a:srgbClr val="4E5A68"/>
                </a:solidFill>
                <a:latin typeface="IBM Plex Sans"/>
                <a:ea typeface="IBM Plex Sans"/>
                <a:cs typeface="IBM Plex Sans"/>
                <a:sym typeface="IBM Plex Sans"/>
              </a:rPr>
              <a:t>Verbrauchsprognose &amp; Frühwarnung · Patrick Olmo Hederer</a:t>
            </a:r>
            <a:endParaRPr/>
          </a:p>
        </p:txBody>
      </p:sp>
      <p:sp>
        <p:nvSpPr>
          <p:cNvPr id="649" name="Google Shape;649;h3fbf580b30600811_1_132"/>
          <p:cNvSpPr txBox="1"/>
          <p:nvPr/>
        </p:nvSpPr>
        <p:spPr>
          <a:xfrm>
            <a:off x="10591908" y="6473952"/>
            <a:ext cx="914400" cy="169200"/>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None/>
            </a:pPr>
            <a:r>
              <a:rPr b="0" lang="en-US" sz="1100">
                <a:solidFill>
                  <a:srgbClr val="4E5A68"/>
                </a:solidFill>
                <a:latin typeface="Geist Mono"/>
                <a:ea typeface="Geist Mono"/>
                <a:cs typeface="Geist Mono"/>
                <a:sym typeface="Geist Mono"/>
              </a:rPr>
              <a:t>7</a:t>
            </a:r>
            <a:endParaRPr/>
          </a:p>
        </p:txBody>
      </p:sp>
      <p:sp>
        <p:nvSpPr>
          <p:cNvPr id="650" name="Google Shape;650;h3fbf580b30600811_1_132"/>
          <p:cNvSpPr/>
          <p:nvPr/>
        </p:nvSpPr>
        <p:spPr>
          <a:xfrm>
            <a:off x="685807" y="1828800"/>
            <a:ext cx="5273100" cy="3612000"/>
          </a:xfrm>
          <a:prstGeom prst="roundRect">
            <a:avLst>
              <a:gd fmla="val 6000" name="adj"/>
            </a:avLst>
          </a:prstGeom>
          <a:solidFill>
            <a:srgbClr val="FFFFFF"/>
          </a:solidFill>
          <a:ln cap="flat" cmpd="sng" w="12700">
            <a:solidFill>
              <a:srgbClr val="D2DA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651" name="Google Shape;651;h3fbf580b30600811_1_132"/>
          <p:cNvSpPr txBox="1"/>
          <p:nvPr/>
        </p:nvSpPr>
        <p:spPr>
          <a:xfrm>
            <a:off x="960130" y="2011680"/>
            <a:ext cx="914400" cy="400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2600">
                <a:solidFill>
                  <a:srgbClr val="00718E"/>
                </a:solidFill>
                <a:latin typeface="Geist Mono"/>
                <a:ea typeface="Geist Mono"/>
                <a:cs typeface="Geist Mono"/>
                <a:sym typeface="Geist Mono"/>
              </a:rPr>
              <a:t>01</a:t>
            </a:r>
            <a:endParaRPr/>
          </a:p>
        </p:txBody>
      </p:sp>
      <p:sp>
        <p:nvSpPr>
          <p:cNvPr id="652" name="Google Shape;652;h3fbf580b30600811_1_132"/>
          <p:cNvSpPr txBox="1"/>
          <p:nvPr/>
        </p:nvSpPr>
        <p:spPr>
          <a:xfrm>
            <a:off x="960130" y="2514600"/>
            <a:ext cx="4724400" cy="5994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lang="en-US" sz="1900">
                <a:solidFill>
                  <a:srgbClr val="084878"/>
                </a:solidFill>
                <a:latin typeface="IBM Plex Sans"/>
                <a:ea typeface="IBM Plex Sans"/>
                <a:cs typeface="IBM Plex Sans"/>
                <a:sym typeface="IBM Plex Sans"/>
              </a:rPr>
              <a:t>Prognose monatlich in die Beschaffung übernehmen – zuerst für die Industrie</a:t>
            </a:r>
            <a:endParaRPr/>
          </a:p>
        </p:txBody>
      </p:sp>
      <p:sp>
        <p:nvSpPr>
          <p:cNvPr id="653" name="Google Shape;653;h3fbf580b30600811_1_132"/>
          <p:cNvSpPr txBox="1"/>
          <p:nvPr/>
        </p:nvSpPr>
        <p:spPr>
          <a:xfrm>
            <a:off x="960130" y="3474720"/>
            <a:ext cx="4724400" cy="1738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500">
                <a:solidFill>
                  <a:srgbClr val="141A21"/>
                </a:solidFill>
                <a:latin typeface="IBM Plex Sans"/>
                <a:ea typeface="IBM Plex Sans"/>
                <a:cs typeface="IBM Plex Sans"/>
                <a:sym typeface="IBM Plex Sans"/>
              </a:rPr>
              <a:t>Warum: </a:t>
            </a:r>
            <a:r>
              <a:rPr b="0" lang="en-US" sz="1500">
                <a:solidFill>
                  <a:srgbClr val="4E5A68"/>
                </a:solidFill>
                <a:latin typeface="IBM Plex Sans"/>
                <a:ea typeface="IBM Plex Sans"/>
                <a:cs typeface="IBM Plex Sans"/>
                <a:sym typeface="IBM Plex Sans"/>
              </a:rPr>
              <a:t>Industrie = 68 % des Verbrauchs bei 32 % der Zähler.</a:t>
            </a:r>
            <a:endParaRPr/>
          </a:p>
          <a:p>
            <a:pPr indent="0" lvl="0" marL="0" marR="0" rtl="0" algn="l">
              <a:lnSpc>
                <a:spcPct val="115000"/>
              </a:lnSpc>
              <a:spcBef>
                <a:spcPts val="700"/>
              </a:spcBef>
              <a:spcAft>
                <a:spcPts val="0"/>
              </a:spcAft>
              <a:buNone/>
            </a:pPr>
            <a:r>
              <a:rPr b="1" lang="en-US" sz="1500">
                <a:solidFill>
                  <a:srgbClr val="141A21"/>
                </a:solidFill>
                <a:latin typeface="IBM Plex Sans"/>
                <a:ea typeface="IBM Plex Sans"/>
                <a:cs typeface="IBM Plex Sans"/>
                <a:sym typeface="IBM Plex Sans"/>
              </a:rPr>
              <a:t>Effekt: </a:t>
            </a:r>
            <a:r>
              <a:rPr b="0" lang="en-US" sz="1500">
                <a:solidFill>
                  <a:srgbClr val="4E5A68"/>
                </a:solidFill>
                <a:latin typeface="IBM Plex Sans"/>
                <a:ea typeface="IBM Plex Sans"/>
                <a:cs typeface="IBM Plex Sans"/>
                <a:sym typeface="IBM Plex Sans"/>
              </a:rPr>
              <a:t>Fehler je Industriezähler −16 % (18.278 → 15.305 kWh RMSE); weniger Spotmarkt-Ausgleich.</a:t>
            </a:r>
            <a:endParaRPr/>
          </a:p>
          <a:p>
            <a:pPr indent="0" lvl="0" marL="0" marR="0" rtl="0" algn="l">
              <a:lnSpc>
                <a:spcPct val="115000"/>
              </a:lnSpc>
              <a:spcBef>
                <a:spcPts val="700"/>
              </a:spcBef>
              <a:spcAft>
                <a:spcPts val="0"/>
              </a:spcAft>
              <a:buNone/>
            </a:pPr>
            <a:r>
              <a:rPr b="1" lang="en-US" sz="1500">
                <a:solidFill>
                  <a:srgbClr val="141A21"/>
                </a:solidFill>
                <a:latin typeface="IBM Plex Sans"/>
                <a:ea typeface="IBM Plex Sans"/>
                <a:cs typeface="IBM Plex Sans"/>
                <a:sym typeface="IBM Plex Sans"/>
              </a:rPr>
              <a:t>Voraussetzung: </a:t>
            </a:r>
            <a:r>
              <a:rPr b="0" lang="en-US" sz="1500">
                <a:solidFill>
                  <a:srgbClr val="4E5A68"/>
                </a:solidFill>
                <a:latin typeface="IBM Plex Sans"/>
                <a:ea typeface="IBM Plex Sans"/>
                <a:cs typeface="IBM Plex Sans"/>
                <a:sym typeface="IBM Plex Sans"/>
              </a:rPr>
              <a:t>Produktionsplan und Wartung liegen vor Monatsbeginn vor.</a:t>
            </a:r>
            <a:endParaRPr/>
          </a:p>
        </p:txBody>
      </p:sp>
      <p:sp>
        <p:nvSpPr>
          <p:cNvPr id="654" name="Google Shape;654;h3fbf580b30600811_1_132"/>
          <p:cNvSpPr/>
          <p:nvPr/>
        </p:nvSpPr>
        <p:spPr>
          <a:xfrm>
            <a:off x="6233223" y="1828800"/>
            <a:ext cx="5273100" cy="3612000"/>
          </a:xfrm>
          <a:prstGeom prst="roundRect">
            <a:avLst>
              <a:gd fmla="val 6000" name="adj"/>
            </a:avLst>
          </a:prstGeom>
          <a:solidFill>
            <a:srgbClr val="FFFFFF"/>
          </a:solidFill>
          <a:ln cap="flat" cmpd="sng" w="12700">
            <a:solidFill>
              <a:srgbClr val="D2DA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655" name="Google Shape;655;h3fbf580b30600811_1_132"/>
          <p:cNvSpPr txBox="1"/>
          <p:nvPr/>
        </p:nvSpPr>
        <p:spPr>
          <a:xfrm>
            <a:off x="6507546" y="2011680"/>
            <a:ext cx="914400" cy="400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2600">
                <a:solidFill>
                  <a:srgbClr val="00718E"/>
                </a:solidFill>
                <a:latin typeface="Geist Mono"/>
                <a:ea typeface="Geist Mono"/>
                <a:cs typeface="Geist Mono"/>
                <a:sym typeface="Geist Mono"/>
              </a:rPr>
              <a:t>02</a:t>
            </a:r>
            <a:endParaRPr/>
          </a:p>
        </p:txBody>
      </p:sp>
      <p:sp>
        <p:nvSpPr>
          <p:cNvPr id="656" name="Google Shape;656;h3fbf580b30600811_1_132"/>
          <p:cNvSpPr txBox="1"/>
          <p:nvPr/>
        </p:nvSpPr>
        <p:spPr>
          <a:xfrm>
            <a:off x="6507546" y="2514600"/>
            <a:ext cx="4724400" cy="5994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lang="en-US" sz="1900">
                <a:solidFill>
                  <a:srgbClr val="084878"/>
                </a:solidFill>
                <a:latin typeface="IBM Plex Sans"/>
                <a:ea typeface="IBM Plex Sans"/>
                <a:cs typeface="IBM Plex Sans"/>
                <a:sym typeface="IBM Plex Sans"/>
              </a:rPr>
              <a:t>Prüfliste jeden Monat abarbeiten und jedes Ergebnis dokumentieren</a:t>
            </a:r>
            <a:endParaRPr/>
          </a:p>
        </p:txBody>
      </p:sp>
      <p:sp>
        <p:nvSpPr>
          <p:cNvPr id="657" name="Google Shape;657;h3fbf580b30600811_1_132"/>
          <p:cNvSpPr txBox="1"/>
          <p:nvPr/>
        </p:nvSpPr>
        <p:spPr>
          <a:xfrm>
            <a:off x="6507546" y="3474720"/>
            <a:ext cx="4724400" cy="1738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500">
                <a:solidFill>
                  <a:srgbClr val="141A21"/>
                </a:solidFill>
                <a:latin typeface="IBM Plex Sans"/>
                <a:ea typeface="IBM Plex Sans"/>
                <a:cs typeface="IBM Plex Sans"/>
                <a:sym typeface="IBM Plex Sans"/>
              </a:rPr>
              <a:t>Warum: </a:t>
            </a:r>
            <a:r>
              <a:rPr b="0" lang="en-US" sz="1500">
                <a:solidFill>
                  <a:srgbClr val="4E5A68"/>
                </a:solidFill>
                <a:latin typeface="IBM Plex Sans"/>
                <a:ea typeface="IBM Plex Sans"/>
                <a:cs typeface="IBM Plex Sans"/>
                <a:sym typeface="IBM Plex Sans"/>
              </a:rPr>
              <a:t>Ø 9,5 Hinweise je Monat, rund 2 pro Woche – planbarer Aufwand.</a:t>
            </a:r>
            <a:endParaRPr/>
          </a:p>
          <a:p>
            <a:pPr indent="0" lvl="0" marL="0" marR="0" rtl="0" algn="l">
              <a:lnSpc>
                <a:spcPct val="115000"/>
              </a:lnSpc>
              <a:spcBef>
                <a:spcPts val="700"/>
              </a:spcBef>
              <a:spcAft>
                <a:spcPts val="0"/>
              </a:spcAft>
              <a:buNone/>
            </a:pPr>
            <a:r>
              <a:rPr b="1" lang="en-US" sz="1500">
                <a:solidFill>
                  <a:srgbClr val="141A21"/>
                </a:solidFill>
                <a:latin typeface="IBM Plex Sans"/>
                <a:ea typeface="IBM Plex Sans"/>
                <a:cs typeface="IBM Plex Sans"/>
                <a:sym typeface="IBM Plex Sans"/>
              </a:rPr>
              <a:t>Effekt: </a:t>
            </a:r>
            <a:r>
              <a:rPr b="0" lang="en-US" sz="1500">
                <a:solidFill>
                  <a:srgbClr val="4E5A68"/>
                </a:solidFill>
                <a:latin typeface="IBM Plex Sans"/>
                <a:ea typeface="IBM Plex Sans"/>
                <a:cs typeface="IBM Plex Sans"/>
                <a:sym typeface="IBM Plex Sans"/>
              </a:rPr>
              <a:t>Auffälligkeiten nach 1 statt bis zu 3 Monaten; aus den Ergebnissen wird die Trefferquote messbar.</a:t>
            </a:r>
            <a:endParaRPr/>
          </a:p>
          <a:p>
            <a:pPr indent="0" lvl="0" marL="0" marR="0" rtl="0" algn="l">
              <a:lnSpc>
                <a:spcPct val="115000"/>
              </a:lnSpc>
              <a:spcBef>
                <a:spcPts val="700"/>
              </a:spcBef>
              <a:spcAft>
                <a:spcPts val="0"/>
              </a:spcAft>
              <a:buNone/>
            </a:pPr>
            <a:r>
              <a:rPr b="1" lang="en-US" sz="1500">
                <a:solidFill>
                  <a:srgbClr val="141A21"/>
                </a:solidFill>
                <a:latin typeface="IBM Plex Sans"/>
                <a:ea typeface="IBM Plex Sans"/>
                <a:cs typeface="IBM Plex Sans"/>
                <a:sym typeface="IBM Plex Sans"/>
              </a:rPr>
              <a:t>Damit: </a:t>
            </a:r>
            <a:r>
              <a:rPr b="0" lang="en-US" sz="1500">
                <a:solidFill>
                  <a:srgbClr val="4E5A68"/>
                </a:solidFill>
                <a:latin typeface="IBM Plex Sans"/>
                <a:ea typeface="IBM Plex Sans"/>
                <a:cs typeface="IBM Plex Sans"/>
                <a:sym typeface="IBM Plex Sans"/>
              </a:rPr>
              <a:t>Schwelle begründet anpassen statt nach Gefühl.</a:t>
            </a:r>
            <a:endParaRPr/>
          </a:p>
        </p:txBody>
      </p:sp>
      <p:sp>
        <p:nvSpPr>
          <p:cNvPr id="658" name="Google Shape;658;h3fbf580b30600811_1_132"/>
          <p:cNvSpPr/>
          <p:nvPr/>
        </p:nvSpPr>
        <p:spPr>
          <a:xfrm>
            <a:off x="685807" y="5623560"/>
            <a:ext cx="10820400" cy="502800"/>
          </a:xfrm>
          <a:prstGeom prst="roundRect">
            <a:avLst>
              <a:gd fmla="val 6000" name="adj"/>
            </a:avLst>
          </a:prstGeom>
          <a:solidFill>
            <a:srgbClr val="063659"/>
          </a:solidFill>
          <a:ln cap="flat" cmpd="sng" w="12700">
            <a:solidFill>
              <a:srgbClr val="04263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659" name="Google Shape;659;h3fbf580b30600811_1_132"/>
          <p:cNvSpPr txBox="1"/>
          <p:nvPr/>
        </p:nvSpPr>
        <p:spPr>
          <a:xfrm>
            <a:off x="960130" y="5669280"/>
            <a:ext cx="10271700" cy="246300"/>
          </a:xfrm>
          <a:prstGeom prst="rect">
            <a:avLst/>
          </a:prstGeom>
          <a:noFill/>
          <a:ln>
            <a:noFill/>
          </a:ln>
        </p:spPr>
        <p:txBody>
          <a:bodyPr anchorCtr="0" anchor="ctr" bIns="0" lIns="0" spcFirstLastPara="1" rIns="0" wrap="square" tIns="0">
            <a:spAutoFit/>
          </a:bodyPr>
          <a:lstStyle/>
          <a:p>
            <a:pPr indent="0" lvl="0" marL="0" marR="0" rtl="0" algn="l">
              <a:lnSpc>
                <a:spcPct val="115000"/>
              </a:lnSpc>
              <a:spcBef>
                <a:spcPts val="0"/>
              </a:spcBef>
              <a:spcAft>
                <a:spcPts val="0"/>
              </a:spcAft>
              <a:buNone/>
            </a:pPr>
            <a:r>
              <a:rPr b="1" lang="en-US" sz="1600">
                <a:solidFill>
                  <a:srgbClr val="FFFFFF"/>
                </a:solidFill>
                <a:latin typeface="IBM Plex Sans"/>
                <a:ea typeface="IBM Plex Sans"/>
                <a:cs typeface="IBM Plex Sans"/>
                <a:sym typeface="IBM Plex Sans"/>
              </a:rPr>
              <a:t>Das Modell priorisiert – die Entscheidung trifft die Fachabteilung.</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64" name="Shape 664"/>
        <p:cNvGrpSpPr/>
        <p:nvPr/>
      </p:nvGrpSpPr>
      <p:grpSpPr>
        <a:xfrm>
          <a:off x="0" y="0"/>
          <a:ext cx="0" cy="0"/>
          <a:chOff x="0" y="0"/>
          <a:chExt cx="0" cy="0"/>
        </a:xfrm>
      </p:grpSpPr>
      <p:sp>
        <p:nvSpPr>
          <p:cNvPr id="665" name="Google Shape;665;h3fbf580b30600811_1_152"/>
          <p:cNvSpPr txBox="1"/>
          <p:nvPr/>
        </p:nvSpPr>
        <p:spPr>
          <a:xfrm>
            <a:off x="685807" y="438912"/>
            <a:ext cx="9601200" cy="184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200">
                <a:solidFill>
                  <a:srgbClr val="00718E"/>
                </a:solidFill>
                <a:latin typeface="IBM Plex Sans"/>
                <a:ea typeface="IBM Plex Sans"/>
                <a:cs typeface="IBM Plex Sans"/>
                <a:sym typeface="IBM Plex Sans"/>
              </a:rPr>
              <a:t>06 · EMPFEHLUNGEN UND AUSBLICK</a:t>
            </a:r>
            <a:endParaRPr/>
          </a:p>
        </p:txBody>
      </p:sp>
      <p:sp>
        <p:nvSpPr>
          <p:cNvPr id="666" name="Google Shape;666;h3fbf580b30600811_1_152"/>
          <p:cNvSpPr txBox="1"/>
          <p:nvPr/>
        </p:nvSpPr>
        <p:spPr>
          <a:xfrm>
            <a:off x="685807" y="731520"/>
            <a:ext cx="10820400" cy="4617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lang="en-US" sz="3000">
                <a:solidFill>
                  <a:srgbClr val="141A21"/>
                </a:solidFill>
                <a:latin typeface="IBM Plex Sans"/>
                <a:ea typeface="IBM Plex Sans"/>
                <a:cs typeface="IBM Plex Sans"/>
                <a:sym typeface="IBM Plex Sans"/>
              </a:rPr>
              <a:t>Vier Schritte bis zum Regelbetrieb</a:t>
            </a:r>
            <a:endParaRPr/>
          </a:p>
        </p:txBody>
      </p:sp>
      <p:cxnSp>
        <p:nvCxnSpPr>
          <p:cNvPr id="667" name="Google Shape;667;h3fbf580b30600811_1_152"/>
          <p:cNvCxnSpPr/>
          <p:nvPr/>
        </p:nvCxnSpPr>
        <p:spPr>
          <a:xfrm>
            <a:off x="685807" y="6336792"/>
            <a:ext cx="10820400" cy="0"/>
          </a:xfrm>
          <a:prstGeom prst="straightConnector1">
            <a:avLst/>
          </a:prstGeom>
          <a:noFill/>
          <a:ln cap="flat" cmpd="sng" w="9525">
            <a:solidFill>
              <a:srgbClr val="E4E9EF"/>
            </a:solidFill>
            <a:prstDash val="solid"/>
            <a:round/>
            <a:headEnd len="sm" w="sm" type="none"/>
            <a:tailEnd len="sm" w="sm" type="none"/>
          </a:ln>
        </p:spPr>
      </p:cxnSp>
      <p:pic>
        <p:nvPicPr>
          <p:cNvPr descr="logo-sww-wordmark.png" id="668" name="Google Shape;668;h3fbf580b30600811_1_152"/>
          <p:cNvPicPr preferRelativeResize="0"/>
          <p:nvPr/>
        </p:nvPicPr>
        <p:blipFill rotWithShape="1">
          <a:blip r:embed="rId3">
            <a:alphaModFix/>
          </a:blip>
          <a:srcRect b="0" l="0" r="0" t="0"/>
          <a:stretch/>
        </p:blipFill>
        <p:spPr>
          <a:xfrm>
            <a:off x="685807" y="6437376"/>
            <a:ext cx="687629" cy="237744"/>
          </a:xfrm>
          <a:prstGeom prst="rect">
            <a:avLst/>
          </a:prstGeom>
          <a:noFill/>
          <a:ln>
            <a:noFill/>
          </a:ln>
        </p:spPr>
      </p:pic>
      <p:sp>
        <p:nvSpPr>
          <p:cNvPr id="669" name="Google Shape;669;h3fbf580b30600811_1_152"/>
          <p:cNvSpPr txBox="1"/>
          <p:nvPr/>
        </p:nvSpPr>
        <p:spPr>
          <a:xfrm>
            <a:off x="1920260" y="6473952"/>
            <a:ext cx="7315200" cy="169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lang="en-US" sz="1100">
                <a:solidFill>
                  <a:srgbClr val="4E5A68"/>
                </a:solidFill>
                <a:latin typeface="IBM Plex Sans"/>
                <a:ea typeface="IBM Plex Sans"/>
                <a:cs typeface="IBM Plex Sans"/>
                <a:sym typeface="IBM Plex Sans"/>
              </a:rPr>
              <a:t>Verbrauchsprognose &amp; Frühwarnung · Patrick Olmo Hederer</a:t>
            </a:r>
            <a:endParaRPr/>
          </a:p>
        </p:txBody>
      </p:sp>
      <p:sp>
        <p:nvSpPr>
          <p:cNvPr id="670" name="Google Shape;670;h3fbf580b30600811_1_152"/>
          <p:cNvSpPr txBox="1"/>
          <p:nvPr/>
        </p:nvSpPr>
        <p:spPr>
          <a:xfrm>
            <a:off x="10591908" y="6473952"/>
            <a:ext cx="914400" cy="169200"/>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None/>
            </a:pPr>
            <a:r>
              <a:rPr b="0" lang="en-US" sz="1100">
                <a:solidFill>
                  <a:srgbClr val="4E5A68"/>
                </a:solidFill>
                <a:latin typeface="Geist Mono"/>
                <a:ea typeface="Geist Mono"/>
                <a:cs typeface="Geist Mono"/>
                <a:sym typeface="Geist Mono"/>
              </a:rPr>
              <a:t>8</a:t>
            </a:r>
            <a:endParaRPr/>
          </a:p>
        </p:txBody>
      </p:sp>
      <p:cxnSp>
        <p:nvCxnSpPr>
          <p:cNvPr id="671" name="Google Shape;671;h3fbf580b30600811_1_152"/>
          <p:cNvCxnSpPr/>
          <p:nvPr/>
        </p:nvCxnSpPr>
        <p:spPr>
          <a:xfrm>
            <a:off x="914409" y="2112264"/>
            <a:ext cx="8252400" cy="0"/>
          </a:xfrm>
          <a:prstGeom prst="straightConnector1">
            <a:avLst/>
          </a:prstGeom>
          <a:noFill/>
          <a:ln cap="flat" cmpd="sng" w="25400">
            <a:solidFill>
              <a:srgbClr val="6CC0D2"/>
            </a:solidFill>
            <a:prstDash val="solid"/>
            <a:round/>
            <a:headEnd len="sm" w="sm" type="none"/>
            <a:tailEnd len="sm" w="sm" type="none"/>
          </a:ln>
        </p:spPr>
      </p:cxnSp>
      <p:sp>
        <p:nvSpPr>
          <p:cNvPr id="672" name="Google Shape;672;h3fbf580b30600811_1_152"/>
          <p:cNvSpPr/>
          <p:nvPr/>
        </p:nvSpPr>
        <p:spPr>
          <a:xfrm>
            <a:off x="722383" y="1920240"/>
            <a:ext cx="384000" cy="384000"/>
          </a:xfrm>
          <a:prstGeom prst="ellipse">
            <a:avLst/>
          </a:prstGeom>
          <a:solidFill>
            <a:srgbClr val="00718E"/>
          </a:solidFill>
          <a:ln cap="flat" cmpd="sng" w="2540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US" sz="1600">
                <a:solidFill>
                  <a:srgbClr val="FFFFFF"/>
                </a:solidFill>
                <a:latin typeface="Geist Mono"/>
                <a:ea typeface="Geist Mono"/>
                <a:cs typeface="Geist Mono"/>
                <a:sym typeface="Geist Mono"/>
              </a:rPr>
              <a:t>1</a:t>
            </a:r>
            <a:endParaRPr/>
          </a:p>
        </p:txBody>
      </p:sp>
      <p:sp>
        <p:nvSpPr>
          <p:cNvPr id="673" name="Google Shape;673;h3fbf580b30600811_1_152"/>
          <p:cNvSpPr txBox="1"/>
          <p:nvPr/>
        </p:nvSpPr>
        <p:spPr>
          <a:xfrm>
            <a:off x="685807" y="2487168"/>
            <a:ext cx="2568000" cy="2925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900">
                <a:solidFill>
                  <a:srgbClr val="084878"/>
                </a:solidFill>
                <a:latin typeface="IBM Plex Sans"/>
                <a:ea typeface="IBM Plex Sans"/>
                <a:cs typeface="IBM Plex Sans"/>
                <a:sym typeface="IBM Plex Sans"/>
              </a:rPr>
              <a:t>Daten sichern</a:t>
            </a:r>
            <a:endParaRPr/>
          </a:p>
        </p:txBody>
      </p:sp>
      <p:sp>
        <p:nvSpPr>
          <p:cNvPr id="674" name="Google Shape;674;h3fbf580b30600811_1_152"/>
          <p:cNvSpPr txBox="1"/>
          <p:nvPr/>
        </p:nvSpPr>
        <p:spPr>
          <a:xfrm>
            <a:off x="685807" y="2880360"/>
            <a:ext cx="2476500" cy="97320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lang="en-US" sz="1450">
                <a:solidFill>
                  <a:srgbClr val="4E5A68"/>
                </a:solidFill>
                <a:latin typeface="IBM Plex Sans"/>
                <a:ea typeface="IBM Plex Sans"/>
                <a:cs typeface="IBM Plex Sans"/>
                <a:sym typeface="IBM Plex Sans"/>
              </a:rPr>
              <a:t>Einheit kWh und Datumsformat an der Quelle festlegen; Plandaten vor Monatsbeginn.</a:t>
            </a:r>
            <a:endParaRPr/>
          </a:p>
        </p:txBody>
      </p:sp>
      <p:sp>
        <p:nvSpPr>
          <p:cNvPr id="675" name="Google Shape;675;h3fbf580b30600811_1_152"/>
          <p:cNvSpPr txBox="1"/>
          <p:nvPr/>
        </p:nvSpPr>
        <p:spPr>
          <a:xfrm>
            <a:off x="685807" y="4041648"/>
            <a:ext cx="2568000" cy="169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100">
                <a:solidFill>
                  <a:srgbClr val="00718E"/>
                </a:solidFill>
                <a:latin typeface="IBM Plex Sans"/>
                <a:ea typeface="IBM Plex Sans"/>
                <a:cs typeface="IBM Plex Sans"/>
                <a:sym typeface="IBM Plex Sans"/>
              </a:rPr>
              <a:t>DATENANALYSE</a:t>
            </a:r>
            <a:endParaRPr/>
          </a:p>
        </p:txBody>
      </p:sp>
      <p:sp>
        <p:nvSpPr>
          <p:cNvPr id="676" name="Google Shape;676;h3fbf580b30600811_1_152"/>
          <p:cNvSpPr/>
          <p:nvPr/>
        </p:nvSpPr>
        <p:spPr>
          <a:xfrm>
            <a:off x="3473231" y="1920240"/>
            <a:ext cx="384000" cy="384000"/>
          </a:xfrm>
          <a:prstGeom prst="ellipse">
            <a:avLst/>
          </a:prstGeom>
          <a:solidFill>
            <a:srgbClr val="00718E"/>
          </a:solidFill>
          <a:ln cap="flat" cmpd="sng" w="2540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US" sz="1600">
                <a:solidFill>
                  <a:srgbClr val="FFFFFF"/>
                </a:solidFill>
                <a:latin typeface="Geist Mono"/>
                <a:ea typeface="Geist Mono"/>
                <a:cs typeface="Geist Mono"/>
                <a:sym typeface="Geist Mono"/>
              </a:rPr>
              <a:t>2</a:t>
            </a:r>
            <a:endParaRPr/>
          </a:p>
        </p:txBody>
      </p:sp>
      <p:sp>
        <p:nvSpPr>
          <p:cNvPr id="677" name="Google Shape;677;h3fbf580b30600811_1_152"/>
          <p:cNvSpPr txBox="1"/>
          <p:nvPr/>
        </p:nvSpPr>
        <p:spPr>
          <a:xfrm>
            <a:off x="3436654" y="2487168"/>
            <a:ext cx="2568000" cy="2925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900">
                <a:solidFill>
                  <a:srgbClr val="084878"/>
                </a:solidFill>
                <a:latin typeface="IBM Plex Sans"/>
                <a:ea typeface="IBM Plex Sans"/>
                <a:cs typeface="IBM Plex Sans"/>
                <a:sym typeface="IBM Plex Sans"/>
              </a:rPr>
              <a:t>Rollen festlegen</a:t>
            </a:r>
            <a:endParaRPr/>
          </a:p>
        </p:txBody>
      </p:sp>
      <p:sp>
        <p:nvSpPr>
          <p:cNvPr id="678" name="Google Shape;678;h3fbf580b30600811_1_152"/>
          <p:cNvSpPr txBox="1"/>
          <p:nvPr/>
        </p:nvSpPr>
        <p:spPr>
          <a:xfrm>
            <a:off x="3436654" y="2880360"/>
            <a:ext cx="2476500" cy="97320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lang="en-US" sz="1450">
                <a:solidFill>
                  <a:srgbClr val="4E5A68"/>
                </a:solidFill>
                <a:latin typeface="IBM Plex Sans"/>
                <a:ea typeface="IBM Plex Sans"/>
                <a:cs typeface="IBM Plex Sans"/>
                <a:sym typeface="IBM Plex Sans"/>
              </a:rPr>
              <a:t>Verantwortliche und Prüfzeit je Woche benennen; Datenschutz für das Cockpit klären.</a:t>
            </a:r>
            <a:endParaRPr/>
          </a:p>
        </p:txBody>
      </p:sp>
      <p:sp>
        <p:nvSpPr>
          <p:cNvPr id="679" name="Google Shape;679;h3fbf580b30600811_1_152"/>
          <p:cNvSpPr txBox="1"/>
          <p:nvPr/>
        </p:nvSpPr>
        <p:spPr>
          <a:xfrm>
            <a:off x="3436654" y="4041648"/>
            <a:ext cx="2568000" cy="169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100">
                <a:solidFill>
                  <a:srgbClr val="00718E"/>
                </a:solidFill>
                <a:latin typeface="IBM Plex Sans"/>
                <a:ea typeface="IBM Plex Sans"/>
                <a:cs typeface="IBM Plex Sans"/>
                <a:sym typeface="IBM Plex Sans"/>
              </a:rPr>
              <a:t>BESCHAFFUNG · NETZ</a:t>
            </a:r>
            <a:endParaRPr/>
          </a:p>
        </p:txBody>
      </p:sp>
      <p:sp>
        <p:nvSpPr>
          <p:cNvPr id="680" name="Google Shape;680;h3fbf580b30600811_1_152"/>
          <p:cNvSpPr/>
          <p:nvPr/>
        </p:nvSpPr>
        <p:spPr>
          <a:xfrm>
            <a:off x="6224079" y="1920240"/>
            <a:ext cx="384000" cy="384000"/>
          </a:xfrm>
          <a:prstGeom prst="ellipse">
            <a:avLst/>
          </a:prstGeom>
          <a:solidFill>
            <a:srgbClr val="00718E"/>
          </a:solidFill>
          <a:ln cap="flat" cmpd="sng" w="2540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US" sz="1600">
                <a:solidFill>
                  <a:srgbClr val="FFFFFF"/>
                </a:solidFill>
                <a:latin typeface="Geist Mono"/>
                <a:ea typeface="Geist Mono"/>
                <a:cs typeface="Geist Mono"/>
                <a:sym typeface="Geist Mono"/>
              </a:rPr>
              <a:t>3</a:t>
            </a:r>
            <a:endParaRPr/>
          </a:p>
        </p:txBody>
      </p:sp>
      <p:sp>
        <p:nvSpPr>
          <p:cNvPr id="681" name="Google Shape;681;h3fbf580b30600811_1_152"/>
          <p:cNvSpPr txBox="1"/>
          <p:nvPr/>
        </p:nvSpPr>
        <p:spPr>
          <a:xfrm>
            <a:off x="6187502" y="2487168"/>
            <a:ext cx="2568000" cy="2925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900">
                <a:solidFill>
                  <a:srgbClr val="084878"/>
                </a:solidFill>
                <a:latin typeface="IBM Plex Sans"/>
                <a:ea typeface="IBM Plex Sans"/>
                <a:cs typeface="IBM Plex Sans"/>
                <a:sym typeface="IBM Plex Sans"/>
              </a:rPr>
              <a:t>Parallel testen</a:t>
            </a:r>
            <a:endParaRPr/>
          </a:p>
        </p:txBody>
      </p:sp>
      <p:sp>
        <p:nvSpPr>
          <p:cNvPr id="682" name="Google Shape;682;h3fbf580b30600811_1_152"/>
          <p:cNvSpPr txBox="1"/>
          <p:nvPr/>
        </p:nvSpPr>
        <p:spPr>
          <a:xfrm>
            <a:off x="6187502" y="2880360"/>
            <a:ext cx="2476500" cy="97320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lang="en-US" sz="1450">
                <a:solidFill>
                  <a:srgbClr val="4E5A68"/>
                </a:solidFill>
                <a:latin typeface="IBM Plex Sans"/>
                <a:ea typeface="IBM Plex Sans"/>
                <a:cs typeface="IBM Plex Sans"/>
                <a:sym typeface="IBM Plex Sans"/>
              </a:rPr>
              <a:t>Einige Monate neben der bisherigen Planung; Erfolgskriterien vorab festlegen.</a:t>
            </a:r>
            <a:endParaRPr/>
          </a:p>
        </p:txBody>
      </p:sp>
      <p:sp>
        <p:nvSpPr>
          <p:cNvPr id="683" name="Google Shape;683;h3fbf580b30600811_1_152"/>
          <p:cNvSpPr txBox="1"/>
          <p:nvPr/>
        </p:nvSpPr>
        <p:spPr>
          <a:xfrm>
            <a:off x="6187502" y="4041648"/>
            <a:ext cx="2568000" cy="169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100">
                <a:solidFill>
                  <a:srgbClr val="00718E"/>
                </a:solidFill>
                <a:latin typeface="IBM Plex Sans"/>
                <a:ea typeface="IBM Plex Sans"/>
                <a:cs typeface="IBM Plex Sans"/>
                <a:sym typeface="IBM Plex Sans"/>
              </a:rPr>
              <a:t>ALLE</a:t>
            </a:r>
            <a:endParaRPr/>
          </a:p>
        </p:txBody>
      </p:sp>
      <p:sp>
        <p:nvSpPr>
          <p:cNvPr id="684" name="Google Shape;684;h3fbf580b30600811_1_152"/>
          <p:cNvSpPr/>
          <p:nvPr/>
        </p:nvSpPr>
        <p:spPr>
          <a:xfrm>
            <a:off x="8974927" y="1920240"/>
            <a:ext cx="384000" cy="384000"/>
          </a:xfrm>
          <a:prstGeom prst="ellipse">
            <a:avLst/>
          </a:prstGeom>
          <a:solidFill>
            <a:srgbClr val="00718E"/>
          </a:solidFill>
          <a:ln cap="flat" cmpd="sng" w="2540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US" sz="1600">
                <a:solidFill>
                  <a:srgbClr val="FFFFFF"/>
                </a:solidFill>
                <a:latin typeface="Geist Mono"/>
                <a:ea typeface="Geist Mono"/>
                <a:cs typeface="Geist Mono"/>
                <a:sym typeface="Geist Mono"/>
              </a:rPr>
              <a:t>4</a:t>
            </a:r>
            <a:endParaRPr/>
          </a:p>
        </p:txBody>
      </p:sp>
      <p:sp>
        <p:nvSpPr>
          <p:cNvPr id="685" name="Google Shape;685;h3fbf580b30600811_1_152"/>
          <p:cNvSpPr txBox="1"/>
          <p:nvPr/>
        </p:nvSpPr>
        <p:spPr>
          <a:xfrm>
            <a:off x="8938351" y="2487168"/>
            <a:ext cx="2568000" cy="2925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900">
                <a:solidFill>
                  <a:srgbClr val="084878"/>
                </a:solidFill>
                <a:latin typeface="IBM Plex Sans"/>
                <a:ea typeface="IBM Plex Sans"/>
                <a:cs typeface="IBM Plex Sans"/>
                <a:sym typeface="IBM Plex Sans"/>
              </a:rPr>
              <a:t>Übernehmen</a:t>
            </a:r>
            <a:endParaRPr/>
          </a:p>
        </p:txBody>
      </p:sp>
      <p:sp>
        <p:nvSpPr>
          <p:cNvPr id="686" name="Google Shape;686;h3fbf580b30600811_1_152"/>
          <p:cNvSpPr txBox="1"/>
          <p:nvPr/>
        </p:nvSpPr>
        <p:spPr>
          <a:xfrm>
            <a:off x="8938351" y="2880360"/>
            <a:ext cx="2476500" cy="72300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0" lang="en-US" sz="1450">
                <a:solidFill>
                  <a:srgbClr val="4E5A68"/>
                </a:solidFill>
                <a:latin typeface="IBM Plex Sans"/>
                <a:ea typeface="IBM Plex Sans"/>
                <a:cs typeface="IBM Plex Sans"/>
                <a:sym typeface="IBM Plex Sans"/>
              </a:rPr>
              <a:t>Fehler und Hinweisvolumen monatlich überwachen; neu trainieren nur bei Bedarf.</a:t>
            </a:r>
            <a:endParaRPr/>
          </a:p>
        </p:txBody>
      </p:sp>
      <p:sp>
        <p:nvSpPr>
          <p:cNvPr id="687" name="Google Shape;687;h3fbf580b30600811_1_152"/>
          <p:cNvSpPr txBox="1"/>
          <p:nvPr/>
        </p:nvSpPr>
        <p:spPr>
          <a:xfrm>
            <a:off x="8938351" y="4041648"/>
            <a:ext cx="2568000" cy="169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100">
                <a:solidFill>
                  <a:srgbClr val="00718E"/>
                </a:solidFill>
                <a:latin typeface="IBM Plex Sans"/>
                <a:ea typeface="IBM Plex Sans"/>
                <a:cs typeface="IBM Plex Sans"/>
                <a:sym typeface="IBM Plex Sans"/>
              </a:rPr>
              <a:t>DATENANALYSE</a:t>
            </a:r>
            <a:endParaRPr/>
          </a:p>
        </p:txBody>
      </p:sp>
      <p:sp>
        <p:nvSpPr>
          <p:cNvPr id="688" name="Google Shape;688;h3fbf580b30600811_1_152"/>
          <p:cNvSpPr/>
          <p:nvPr/>
        </p:nvSpPr>
        <p:spPr>
          <a:xfrm>
            <a:off x="685807" y="4526280"/>
            <a:ext cx="10820400" cy="1600200"/>
          </a:xfrm>
          <a:prstGeom prst="roundRect">
            <a:avLst>
              <a:gd fmla="val 6000" name="adj"/>
            </a:avLst>
          </a:prstGeom>
          <a:solidFill>
            <a:srgbClr val="063659"/>
          </a:solidFill>
          <a:ln cap="flat" cmpd="sng" w="12700">
            <a:solidFill>
              <a:srgbClr val="04263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689" name="Google Shape;689;h3fbf580b30600811_1_152"/>
          <p:cNvSpPr txBox="1"/>
          <p:nvPr/>
        </p:nvSpPr>
        <p:spPr>
          <a:xfrm>
            <a:off x="960130" y="4681728"/>
            <a:ext cx="2743200" cy="184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200">
                <a:solidFill>
                  <a:srgbClr val="6CC0D2"/>
                </a:solidFill>
                <a:latin typeface="IBM Plex Sans"/>
                <a:ea typeface="IBM Plex Sans"/>
                <a:cs typeface="IBM Plex Sans"/>
                <a:sym typeface="IBM Plex Sans"/>
              </a:rPr>
              <a:t>AUSBLICK</a:t>
            </a:r>
            <a:endParaRPr/>
          </a:p>
        </p:txBody>
      </p:sp>
      <p:sp>
        <p:nvSpPr>
          <p:cNvPr id="690" name="Google Shape;690;h3fbf580b30600811_1_152"/>
          <p:cNvSpPr txBox="1"/>
          <p:nvPr/>
        </p:nvSpPr>
        <p:spPr>
          <a:xfrm>
            <a:off x="960130" y="5001768"/>
            <a:ext cx="3271500" cy="7749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450">
                <a:solidFill>
                  <a:srgbClr val="FFFFFF"/>
                </a:solidFill>
                <a:latin typeface="IBM Plex Sans"/>
                <a:ea typeface="IBM Plex Sans"/>
                <a:cs typeface="IBM Plex Sans"/>
                <a:sym typeface="IBM Plex Sans"/>
              </a:rPr>
              <a:t>Prüfergebnisse → Klassifikation</a:t>
            </a:r>
            <a:endParaRPr/>
          </a:p>
          <a:p>
            <a:pPr indent="0" lvl="0" marL="0" marR="0" rtl="0" algn="l">
              <a:lnSpc>
                <a:spcPct val="115000"/>
              </a:lnSpc>
              <a:spcBef>
                <a:spcPts val="300"/>
              </a:spcBef>
              <a:spcAft>
                <a:spcPts val="0"/>
              </a:spcAft>
              <a:buNone/>
            </a:pPr>
            <a:r>
              <a:rPr b="0" lang="en-US" sz="1450">
                <a:solidFill>
                  <a:srgbClr val="BBD7EA"/>
                </a:solidFill>
                <a:latin typeface="IBM Plex Sans"/>
                <a:ea typeface="IBM Plex Sans"/>
                <a:cs typeface="IBM Plex Sans"/>
                <a:sym typeface="IBM Plex Sans"/>
              </a:rPr>
              <a:t>sortiert Hinweise nach der Chance, sich zu bestätigen.</a:t>
            </a:r>
            <a:endParaRPr/>
          </a:p>
        </p:txBody>
      </p:sp>
      <p:sp>
        <p:nvSpPr>
          <p:cNvPr id="691" name="Google Shape;691;h3fbf580b30600811_1_152"/>
          <p:cNvSpPr txBox="1"/>
          <p:nvPr/>
        </p:nvSpPr>
        <p:spPr>
          <a:xfrm>
            <a:off x="4460285" y="5001768"/>
            <a:ext cx="3271500" cy="518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450">
                <a:solidFill>
                  <a:srgbClr val="FFFFFF"/>
                </a:solidFill>
                <a:latin typeface="IBM Plex Sans"/>
                <a:ea typeface="IBM Plex Sans"/>
                <a:cs typeface="IBM Plex Sans"/>
                <a:sym typeface="IBM Plex Sans"/>
              </a:rPr>
              <a:t>Preise + Prüfkosten → Euro</a:t>
            </a:r>
            <a:endParaRPr/>
          </a:p>
          <a:p>
            <a:pPr indent="0" lvl="0" marL="0" marR="0" rtl="0" algn="l">
              <a:lnSpc>
                <a:spcPct val="115000"/>
              </a:lnSpc>
              <a:spcBef>
                <a:spcPts val="300"/>
              </a:spcBef>
              <a:spcAft>
                <a:spcPts val="0"/>
              </a:spcAft>
              <a:buNone/>
            </a:pPr>
            <a:r>
              <a:rPr b="0" lang="en-US" sz="1450">
                <a:solidFill>
                  <a:srgbClr val="BBD7EA"/>
                </a:solidFill>
                <a:latin typeface="IBM Plex Sans"/>
                <a:ea typeface="IBM Plex Sans"/>
                <a:cs typeface="IBM Plex Sans"/>
                <a:sym typeface="IBM Plex Sans"/>
              </a:rPr>
              <a:t>Nutzen belastbar statt geschätzt.</a:t>
            </a:r>
            <a:endParaRPr/>
          </a:p>
        </p:txBody>
      </p:sp>
      <p:sp>
        <p:nvSpPr>
          <p:cNvPr id="692" name="Google Shape;692;h3fbf580b30600811_1_152"/>
          <p:cNvSpPr txBox="1"/>
          <p:nvPr/>
        </p:nvSpPr>
        <p:spPr>
          <a:xfrm>
            <a:off x="7960441" y="5001768"/>
            <a:ext cx="3271500" cy="7749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450">
                <a:solidFill>
                  <a:srgbClr val="FFFFFF"/>
                </a:solidFill>
                <a:latin typeface="IBM Plex Sans"/>
                <a:ea typeface="IBM Plex Sans"/>
                <a:cs typeface="IBM Plex Sans"/>
                <a:sym typeface="IBM Plex Sans"/>
              </a:rPr>
              <a:t>Mehr Zähler und Datenquellen</a:t>
            </a:r>
            <a:endParaRPr/>
          </a:p>
          <a:p>
            <a:pPr indent="0" lvl="0" marL="0" marR="0" rtl="0" algn="l">
              <a:lnSpc>
                <a:spcPct val="115000"/>
              </a:lnSpc>
              <a:spcBef>
                <a:spcPts val="300"/>
              </a:spcBef>
              <a:spcAft>
                <a:spcPts val="0"/>
              </a:spcAft>
              <a:buNone/>
            </a:pPr>
            <a:r>
              <a:rPr b="0" lang="en-US" sz="1450">
                <a:solidFill>
                  <a:srgbClr val="BBD7EA"/>
                </a:solidFill>
                <a:latin typeface="IBM Plex Sans"/>
                <a:ea typeface="IBM Plex Sans"/>
                <a:cs typeface="IBM Plex Sans"/>
                <a:sym typeface="IBM Plex Sans"/>
              </a:rPr>
              <a:t>Wetter-, Betriebs- und Produktionsdaten, weitere Kunden.</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6" name="Shape 696"/>
        <p:cNvGrpSpPr/>
        <p:nvPr/>
      </p:nvGrpSpPr>
      <p:grpSpPr>
        <a:xfrm>
          <a:off x="0" y="0"/>
          <a:ext cx="0" cy="0"/>
          <a:chOff x="0" y="0"/>
          <a:chExt cx="0" cy="0"/>
        </a:xfrm>
      </p:grpSpPr>
      <p:sp>
        <p:nvSpPr>
          <p:cNvPr id="697" name="Google Shape;697;h3fbf580b30600811_0_125"/>
          <p:cNvSpPr txBox="1"/>
          <p:nvPr/>
        </p:nvSpPr>
        <p:spPr>
          <a:xfrm>
            <a:off x="356616" y="283464"/>
            <a:ext cx="5486400" cy="261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100" u="none" cap="none" strike="noStrike">
                <a:solidFill>
                  <a:srgbClr val="2563EB"/>
                </a:solidFill>
                <a:latin typeface="Arial"/>
                <a:ea typeface="Arial"/>
                <a:cs typeface="Arial"/>
                <a:sym typeface="Arial"/>
              </a:rPr>
              <a:t>BLOCK 1 · KAPITEL 6 · EMPFEHLUNGEN UND AUSBLICK</a:t>
            </a:r>
            <a:endParaRPr/>
          </a:p>
        </p:txBody>
      </p:sp>
      <p:sp>
        <p:nvSpPr>
          <p:cNvPr id="698" name="Google Shape;698;h3fbf580b30600811_0_125"/>
          <p:cNvSpPr txBox="1"/>
          <p:nvPr/>
        </p:nvSpPr>
        <p:spPr>
          <a:xfrm>
            <a:off x="356616" y="539496"/>
            <a:ext cx="114300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600" u="none" cap="none" strike="noStrike">
                <a:solidFill>
                  <a:srgbClr val="1F2937"/>
                </a:solidFill>
                <a:latin typeface="Arial"/>
                <a:ea typeface="Arial"/>
                <a:cs typeface="Arial"/>
                <a:sym typeface="Arial"/>
              </a:rPr>
              <a:t>Persönliches Fazit</a:t>
            </a:r>
            <a:endParaRPr/>
          </a:p>
        </p:txBody>
      </p:sp>
      <p:sp>
        <p:nvSpPr>
          <p:cNvPr id="699" name="Google Shape;699;h3fbf580b30600811_0_125"/>
          <p:cNvSpPr txBox="1"/>
          <p:nvPr/>
        </p:nvSpPr>
        <p:spPr>
          <a:xfrm>
            <a:off x="539496" y="1618488"/>
            <a:ext cx="10972800" cy="3437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lang="en-US" sz="1700">
                <a:solidFill>
                  <a:srgbClr val="1F2937"/>
                </a:solidFill>
              </a:rPr>
              <a:t>•„Datenbereinigung ist keine rein technische Routine: Erst der Vergleich mit der technisch möglichen Monatsenergie trennt Messfehler von plausiblen Verbrauchswerten.“ (Iana Kraievska)</a:t>
            </a:r>
            <a:endParaRPr sz="1700">
              <a:solidFill>
                <a:srgbClr val="1F2937"/>
              </a:solidFill>
            </a:endParaRPr>
          </a:p>
          <a:p>
            <a:pPr indent="0" lvl="0" marL="0" marR="0" rtl="0" algn="l">
              <a:lnSpc>
                <a:spcPct val="100000"/>
              </a:lnSpc>
              <a:spcBef>
                <a:spcPts val="0"/>
              </a:spcBef>
              <a:spcAft>
                <a:spcPts val="0"/>
              </a:spcAft>
              <a:buNone/>
            </a:pPr>
            <a:r>
              <a:t/>
            </a:r>
            <a:endParaRPr sz="1700">
              <a:solidFill>
                <a:srgbClr val="1F2937"/>
              </a:solidFill>
            </a:endParaRPr>
          </a:p>
          <a:p>
            <a:pPr indent="0" lvl="0" marL="0" marR="0" rtl="0" algn="l">
              <a:lnSpc>
                <a:spcPct val="100000"/>
              </a:lnSpc>
              <a:spcBef>
                <a:spcPts val="0"/>
              </a:spcBef>
              <a:spcAft>
                <a:spcPts val="0"/>
              </a:spcAft>
              <a:buNone/>
            </a:pPr>
            <a:r>
              <a:rPr lang="en-US" sz="1700">
                <a:solidFill>
                  <a:srgbClr val="1F2937"/>
                </a:solidFill>
              </a:rPr>
              <a:t>•„Bei Zeitreihendaten ist die Validierung wichtiger als die Wahl des komplexesten Modells.” (Kiko Ramon Lukas)</a:t>
            </a:r>
            <a:endParaRPr sz="1700">
              <a:solidFill>
                <a:srgbClr val="1F2937"/>
              </a:solidFill>
            </a:endParaRPr>
          </a:p>
          <a:p>
            <a:pPr indent="0" lvl="0" marL="0" marR="0" rtl="0" algn="l">
              <a:lnSpc>
                <a:spcPct val="100000"/>
              </a:lnSpc>
              <a:spcBef>
                <a:spcPts val="0"/>
              </a:spcBef>
              <a:spcAft>
                <a:spcPts val="0"/>
              </a:spcAft>
              <a:buClr>
                <a:srgbClr val="000000"/>
              </a:buClr>
              <a:buFont typeface="Arial"/>
              <a:buNone/>
            </a:pPr>
            <a:r>
              <a:t/>
            </a:r>
            <a:endParaRPr sz="1700">
              <a:solidFill>
                <a:srgbClr val="1F2937"/>
              </a:solidFill>
            </a:endParaRPr>
          </a:p>
          <a:p>
            <a:pPr indent="0" lvl="0" marL="0" marR="0" rtl="0" algn="l">
              <a:lnSpc>
                <a:spcPct val="100000"/>
              </a:lnSpc>
              <a:spcBef>
                <a:spcPts val="0"/>
              </a:spcBef>
              <a:spcAft>
                <a:spcPts val="0"/>
              </a:spcAft>
              <a:buNone/>
            </a:pPr>
            <a:r>
              <a:rPr b="0" i="0" lang="en-US" sz="1700" u="none" cap="none" strike="noStrike">
                <a:solidFill>
                  <a:srgbClr val="1F2937"/>
                </a:solidFill>
                <a:latin typeface="Arial"/>
                <a:ea typeface="Arial"/>
                <a:cs typeface="Arial"/>
                <a:sym typeface="Arial"/>
              </a:rPr>
              <a:t>•</a:t>
            </a:r>
            <a:r>
              <a:rPr lang="en-US" sz="1700">
                <a:solidFill>
                  <a:srgbClr val="1F2937"/>
                </a:solidFill>
              </a:rPr>
              <a:t> „Eine auffällige Korrelation beweist noch keinen Treiber: Normierung verschiebt die Korrelationen und hilft dem Modell sein Training zu spezifizieren.</a:t>
            </a:r>
            <a:r>
              <a:rPr b="0" i="0" lang="en-US" sz="1700" u="none" cap="none" strike="noStrike">
                <a:solidFill>
                  <a:srgbClr val="1F2937"/>
                </a:solidFill>
                <a:latin typeface="Arial"/>
                <a:ea typeface="Arial"/>
                <a:cs typeface="Arial"/>
                <a:sym typeface="Arial"/>
              </a:rPr>
              <a:t>“ (Patrick Olmo Hederer)</a:t>
            </a:r>
            <a:endParaRPr b="0" i="0" sz="1700" u="none" cap="none" strike="noStrike">
              <a:solidFill>
                <a:srgbClr val="1F2937"/>
              </a:solidFill>
              <a:latin typeface="Arial"/>
              <a:ea typeface="Arial"/>
              <a:cs typeface="Arial"/>
              <a:sym typeface="Arial"/>
            </a:endParaRPr>
          </a:p>
          <a:p>
            <a:pPr indent="0" lvl="0" marL="0" marR="0" rtl="0" algn="l">
              <a:lnSpc>
                <a:spcPct val="100000"/>
              </a:lnSpc>
              <a:spcBef>
                <a:spcPts val="0"/>
              </a:spcBef>
              <a:spcAft>
                <a:spcPts val="0"/>
              </a:spcAft>
              <a:buNone/>
            </a:pPr>
            <a:r>
              <a:t/>
            </a:r>
            <a:endParaRPr sz="1700">
              <a:solidFill>
                <a:srgbClr val="1F2937"/>
              </a:solidFill>
            </a:endParaRPr>
          </a:p>
          <a:p>
            <a:pPr indent="0" lvl="0" marL="0" marR="0" rtl="0" algn="l">
              <a:lnSpc>
                <a:spcPct val="100000"/>
              </a:lnSpc>
              <a:spcBef>
                <a:spcPts val="800"/>
              </a:spcBef>
              <a:spcAft>
                <a:spcPts val="0"/>
              </a:spcAft>
              <a:buNone/>
            </a:pPr>
            <a:r>
              <a:rPr b="0" i="0" lang="en-US" sz="1700" u="none" cap="none" strike="noStrike">
                <a:solidFill>
                  <a:srgbClr val="1F2937"/>
                </a:solidFill>
                <a:latin typeface="Arial"/>
                <a:ea typeface="Arial"/>
                <a:cs typeface="Arial"/>
                <a:sym typeface="Arial"/>
              </a:rPr>
              <a:t>• Antwort auf die Projektfrage: Historie und Plandaten liefern vor jedem Monat eine Prognose je Zähler, 15,9 % genauer als die einfache Fortschreibung.</a:t>
            </a:r>
            <a:endParaRPr/>
          </a:p>
          <a:p>
            <a:pPr indent="0" lvl="0" marL="0" marR="0" rtl="0" algn="l">
              <a:lnSpc>
                <a:spcPct val="100000"/>
              </a:lnSpc>
              <a:spcBef>
                <a:spcPts val="800"/>
              </a:spcBef>
              <a:spcAft>
                <a:spcPts val="0"/>
              </a:spcAft>
              <a:buNone/>
            </a:pPr>
            <a:r>
              <a:rPr b="0" i="0" lang="en-US" sz="1700" u="none" cap="none" strike="noStrike">
                <a:solidFill>
                  <a:srgbClr val="1F2937"/>
                </a:solidFill>
                <a:latin typeface="Arial"/>
                <a:ea typeface="Arial"/>
                <a:cs typeface="Arial"/>
                <a:sym typeface="Arial"/>
              </a:rPr>
              <a:t>• Große Abweichungen landen nach Monatsende auf einer Prüfliste – nicht erst im Quartal.</a:t>
            </a:r>
            <a:endParaRPr b="0" i="0" sz="1700" u="none" cap="none" strike="noStrike">
              <a:solidFill>
                <a:srgbClr val="1F2937"/>
              </a:solidFill>
              <a:latin typeface="Arial"/>
              <a:ea typeface="Arial"/>
              <a:cs typeface="Arial"/>
              <a:sym typeface="Arial"/>
            </a:endParaRPr>
          </a:p>
          <a:p>
            <a:pPr indent="0" lvl="0" marL="0" rtl="0" algn="l">
              <a:spcBef>
                <a:spcPts val="0"/>
              </a:spcBef>
              <a:spcAft>
                <a:spcPts val="0"/>
              </a:spcAft>
              <a:buClr>
                <a:schemeClr val="dk1"/>
              </a:buClr>
              <a:buFont typeface="Arial"/>
              <a:buNone/>
            </a:pPr>
            <a:r>
              <a:t/>
            </a:r>
            <a:endParaRPr sz="1700">
              <a:solidFill>
                <a:srgbClr val="1F2937"/>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4" name="Shape 704"/>
        <p:cNvGrpSpPr/>
        <p:nvPr/>
      </p:nvGrpSpPr>
      <p:grpSpPr>
        <a:xfrm>
          <a:off x="0" y="0"/>
          <a:ext cx="0" cy="0"/>
          <a:chOff x="0" y="0"/>
          <a:chExt cx="0" cy="0"/>
        </a:xfrm>
      </p:grpSpPr>
      <p:sp>
        <p:nvSpPr>
          <p:cNvPr id="705" name="Google Shape;705;p11"/>
          <p:cNvSpPr txBox="1"/>
          <p:nvPr/>
        </p:nvSpPr>
        <p:spPr>
          <a:xfrm>
            <a:off x="540000" y="2880000"/>
            <a:ext cx="10800000" cy="720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4400" u="none" cap="none" strike="noStrike">
                <a:solidFill>
                  <a:srgbClr val="1F2937"/>
                </a:solidFill>
                <a:latin typeface="Arial"/>
                <a:ea typeface="Arial"/>
                <a:cs typeface="Arial"/>
                <a:sym typeface="Arial"/>
              </a:rPr>
              <a:t>Vielen Dank.</a:t>
            </a:r>
            <a:endParaRPr/>
          </a:p>
        </p:txBody>
      </p:sp>
      <p:sp>
        <p:nvSpPr>
          <p:cNvPr id="706" name="Google Shape;706;p11"/>
          <p:cNvSpPr txBox="1"/>
          <p:nvPr/>
        </p:nvSpPr>
        <p:spPr>
          <a:xfrm>
            <a:off x="540000" y="3960000"/>
            <a:ext cx="10800000" cy="720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200" u="none" cap="none" strike="noStrike">
                <a:solidFill>
                  <a:srgbClr val="606060"/>
                </a:solidFill>
                <a:latin typeface="Arial"/>
                <a:ea typeface="Arial"/>
                <a:cs typeface="Arial"/>
                <a:sym typeface="Arial"/>
              </a:rPr>
              <a:t>Wir freuen uns auf das Fachgespräch.</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1" name="Shape 711"/>
        <p:cNvGrpSpPr/>
        <p:nvPr/>
      </p:nvGrpSpPr>
      <p:grpSpPr>
        <a:xfrm>
          <a:off x="0" y="0"/>
          <a:ext cx="0" cy="0"/>
          <a:chOff x="0" y="0"/>
          <a:chExt cx="0" cy="0"/>
        </a:xfrm>
      </p:grpSpPr>
      <p:sp>
        <p:nvSpPr>
          <p:cNvPr id="712" name="Google Shape;712;p12"/>
          <p:cNvSpPr txBox="1"/>
          <p:nvPr/>
        </p:nvSpPr>
        <p:spPr>
          <a:xfrm>
            <a:off x="540000" y="2880000"/>
            <a:ext cx="10800000" cy="720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4400" u="none" cap="none" strike="noStrike">
                <a:solidFill>
                  <a:srgbClr val="1F2937"/>
                </a:solidFill>
                <a:latin typeface="Arial"/>
                <a:ea typeface="Arial"/>
                <a:cs typeface="Arial"/>
                <a:sym typeface="Arial"/>
              </a:rPr>
              <a:t>Backup</a:t>
            </a:r>
            <a:endParaRPr/>
          </a:p>
        </p:txBody>
      </p:sp>
      <p:sp>
        <p:nvSpPr>
          <p:cNvPr id="713" name="Google Shape;713;p12"/>
          <p:cNvSpPr txBox="1"/>
          <p:nvPr/>
        </p:nvSpPr>
        <p:spPr>
          <a:xfrm>
            <a:off x="540000" y="3960000"/>
            <a:ext cx="10800000" cy="720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1800" u="none" cap="none" strike="noStrike">
                <a:solidFill>
                  <a:srgbClr val="606060"/>
                </a:solidFill>
                <a:latin typeface="Arial"/>
                <a:ea typeface="Arial"/>
                <a:cs typeface="Arial"/>
                <a:sym typeface="Arial"/>
              </a:rPr>
              <a:t>Detail-Folien für mögliche Rückfragen.</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graphicFrame>
        <p:nvGraphicFramePr>
          <p:cNvPr id="718" name="Google Shape;718;g3f8dcff49c5_0_44"/>
          <p:cNvGraphicFramePr/>
          <p:nvPr/>
        </p:nvGraphicFramePr>
        <p:xfrm>
          <a:off x="334338" y="329950"/>
          <a:ext cx="3000000" cy="3000000"/>
        </p:xfrm>
        <a:graphic>
          <a:graphicData uri="http://schemas.openxmlformats.org/drawingml/2006/table">
            <a:tbl>
              <a:tblPr>
                <a:noFill/>
                <a:tableStyleId>{D81028F4-D13A-40BA-8AC4-B97C08D46F45}</a:tableStyleId>
              </a:tblPr>
              <a:tblGrid>
                <a:gridCol w="4571225"/>
                <a:gridCol w="1679825"/>
                <a:gridCol w="1577300"/>
                <a:gridCol w="3577200"/>
              </a:tblGrid>
              <a:tr h="333375">
                <a:tc>
                  <a:txBody>
                    <a:bodyPr/>
                    <a:lstStyle/>
                    <a:p>
                      <a:pPr indent="0" lvl="0" marL="0" rtl="0" algn="ctr">
                        <a:lnSpc>
                          <a:spcPct val="100000"/>
                        </a:lnSpc>
                        <a:spcBef>
                          <a:spcPts val="0"/>
                        </a:spcBef>
                        <a:spcAft>
                          <a:spcPts val="0"/>
                        </a:spcAft>
                        <a:buNone/>
                      </a:pPr>
                      <a:r>
                        <a:rPr b="1" lang="en-US" sz="2000"/>
                        <a:t>Problem</a:t>
                      </a:r>
                      <a:endParaRPr b="1" sz="2000"/>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b="1" lang="en-US" sz="2000"/>
                        <a:t>Anzahl</a:t>
                      </a:r>
                      <a:endParaRPr b="1" sz="2000"/>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b="1" lang="en-US" sz="2000"/>
                        <a:t>Anteil</a:t>
                      </a:r>
                      <a:endParaRPr b="1" sz="2000"/>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b="1" lang="en-US" sz="2000"/>
                        <a:t>Maßnahme</a:t>
                      </a:r>
                      <a:endParaRPr b="1" sz="2000"/>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33375">
                <a:tc>
                  <a:txBody>
                    <a:bodyPr/>
                    <a:lstStyle/>
                    <a:p>
                      <a:pPr indent="0" lvl="0" marL="0" rtl="0" algn="l">
                        <a:lnSpc>
                          <a:spcPct val="100000"/>
                        </a:lnSpc>
                        <a:spcBef>
                          <a:spcPts val="0"/>
                        </a:spcBef>
                        <a:spcAft>
                          <a:spcPts val="0"/>
                        </a:spcAft>
                        <a:buNone/>
                      </a:pPr>
                      <a:r>
                        <a:rPr lang="en-US" sz="2000">
                          <a:solidFill>
                            <a:srgbClr val="188038"/>
                          </a:solidFill>
                          <a:latin typeface="Roboto Mono"/>
                          <a:ea typeface="Roboto Mono"/>
                          <a:cs typeface="Roboto Mono"/>
                          <a:sym typeface="Roboto Mono"/>
                        </a:rPr>
                        <a:t>kundentyp</a:t>
                      </a:r>
                      <a:r>
                        <a:rPr lang="en-US" sz="2000"/>
                        <a:t> – Inkonsistenzen</a:t>
                      </a:r>
                      <a:endParaRPr sz="2000"/>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2000"/>
                        <a:t>505</a:t>
                      </a:r>
                      <a:endParaRPr sz="2000"/>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2000"/>
                        <a:t>3,0 %</a:t>
                      </a:r>
                      <a:endParaRPr sz="2000"/>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2000"/>
                        <a:t>Vereinheitlicht</a:t>
                      </a:r>
                      <a:endParaRPr sz="2000"/>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33375">
                <a:tc>
                  <a:txBody>
                    <a:bodyPr/>
                    <a:lstStyle/>
                    <a:p>
                      <a:pPr indent="0" lvl="0" marL="0" rtl="0" algn="l">
                        <a:lnSpc>
                          <a:spcPct val="100000"/>
                        </a:lnSpc>
                        <a:spcBef>
                          <a:spcPts val="0"/>
                        </a:spcBef>
                        <a:spcAft>
                          <a:spcPts val="0"/>
                        </a:spcAft>
                        <a:buNone/>
                      </a:pPr>
                      <a:r>
                        <a:rPr lang="en-US" sz="2000">
                          <a:solidFill>
                            <a:srgbClr val="188038"/>
                          </a:solidFill>
                          <a:latin typeface="Roboto Mono"/>
                          <a:ea typeface="Roboto Mono"/>
                          <a:cs typeface="Roboto Mono"/>
                          <a:sym typeface="Roboto Mono"/>
                        </a:rPr>
                        <a:t>monat</a:t>
                      </a:r>
                      <a:r>
                        <a:rPr lang="en-US" sz="2000"/>
                        <a:t> – Inkonsistenzen</a:t>
                      </a:r>
                      <a:endParaRPr sz="2000"/>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2000"/>
                        <a:t>11.316</a:t>
                      </a:r>
                      <a:endParaRPr sz="2000"/>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2000"/>
                        <a:t>67,3 %</a:t>
                      </a:r>
                      <a:endParaRPr sz="2000"/>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2000"/>
                        <a:t>Datumsformat vereinheitlicht</a:t>
                      </a:r>
                      <a:endParaRPr sz="2000"/>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33375">
                <a:tc>
                  <a:txBody>
                    <a:bodyPr/>
                    <a:lstStyle/>
                    <a:p>
                      <a:pPr indent="0" lvl="0" marL="0" rtl="0" algn="l">
                        <a:lnSpc>
                          <a:spcPct val="100000"/>
                        </a:lnSpc>
                        <a:spcBef>
                          <a:spcPts val="0"/>
                        </a:spcBef>
                        <a:spcAft>
                          <a:spcPts val="0"/>
                        </a:spcAft>
                        <a:buNone/>
                      </a:pPr>
                      <a:r>
                        <a:rPr lang="en-US" sz="2000">
                          <a:solidFill>
                            <a:srgbClr val="188038"/>
                          </a:solidFill>
                          <a:latin typeface="Roboto Mono"/>
                          <a:ea typeface="Roboto Mono"/>
                          <a:cs typeface="Roboto Mono"/>
                          <a:sym typeface="Roboto Mono"/>
                        </a:rPr>
                        <a:t>verbrauch_kwh</a:t>
                      </a:r>
                      <a:r>
                        <a:rPr lang="en-US" sz="2000"/>
                        <a:t> – MWh-Werte</a:t>
                      </a:r>
                      <a:endParaRPr sz="2000"/>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2000"/>
                        <a:t>672</a:t>
                      </a:r>
                      <a:endParaRPr sz="2000"/>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2000"/>
                        <a:t>4,0 %</a:t>
                      </a:r>
                      <a:endParaRPr sz="2000"/>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2000"/>
                        <a:t>MWh → kWh</a:t>
                      </a:r>
                      <a:endParaRPr sz="2000"/>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33375">
                <a:tc>
                  <a:txBody>
                    <a:bodyPr/>
                    <a:lstStyle/>
                    <a:p>
                      <a:pPr indent="0" lvl="0" marL="0" rtl="0" algn="l">
                        <a:lnSpc>
                          <a:spcPct val="100000"/>
                        </a:lnSpc>
                        <a:spcBef>
                          <a:spcPts val="0"/>
                        </a:spcBef>
                        <a:spcAft>
                          <a:spcPts val="0"/>
                        </a:spcAft>
                        <a:buNone/>
                      </a:pPr>
                      <a:r>
                        <a:rPr lang="en-US" sz="2000"/>
                        <a:t>Duplikate</a:t>
                      </a:r>
                      <a:endParaRPr sz="2000"/>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2000"/>
                        <a:t>30</a:t>
                      </a:r>
                      <a:endParaRPr sz="2000"/>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2000"/>
                        <a:t>0,2 %</a:t>
                      </a:r>
                      <a:endParaRPr sz="2000"/>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2000"/>
                        <a:t>Entfernt</a:t>
                      </a:r>
                      <a:endParaRPr sz="2000"/>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33375">
                <a:tc>
                  <a:txBody>
                    <a:bodyPr/>
                    <a:lstStyle/>
                    <a:p>
                      <a:pPr indent="0" lvl="0" marL="0" rtl="0" algn="l">
                        <a:lnSpc>
                          <a:spcPct val="100000"/>
                        </a:lnSpc>
                        <a:spcBef>
                          <a:spcPts val="0"/>
                        </a:spcBef>
                        <a:spcAft>
                          <a:spcPts val="0"/>
                        </a:spcAft>
                        <a:buNone/>
                      </a:pPr>
                      <a:r>
                        <a:rPr lang="en-US" sz="2000">
                          <a:solidFill>
                            <a:srgbClr val="188038"/>
                          </a:solidFill>
                          <a:latin typeface="Roboto Mono"/>
                          <a:ea typeface="Roboto Mono"/>
                          <a:cs typeface="Roboto Mono"/>
                          <a:sym typeface="Roboto Mono"/>
                        </a:rPr>
                        <a:t>mittlere_temperatur_c</a:t>
                      </a:r>
                      <a:r>
                        <a:rPr lang="en-US" sz="2000"/>
                        <a:t> – fehlend</a:t>
                      </a:r>
                      <a:endParaRPr sz="2000"/>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2000"/>
                        <a:t>504</a:t>
                      </a:r>
                      <a:endParaRPr sz="2000"/>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2000"/>
                        <a:t>3,0 %</a:t>
                      </a:r>
                      <a:endParaRPr sz="2000"/>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2000"/>
                        <a:t>Für EDA beibehalten</a:t>
                      </a:r>
                      <a:endParaRPr sz="2000"/>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33375">
                <a:tc>
                  <a:txBody>
                    <a:bodyPr/>
                    <a:lstStyle/>
                    <a:p>
                      <a:pPr indent="0" lvl="0" marL="0" rtl="0" algn="l">
                        <a:lnSpc>
                          <a:spcPct val="100000"/>
                        </a:lnSpc>
                        <a:spcBef>
                          <a:spcPts val="0"/>
                        </a:spcBef>
                        <a:spcAft>
                          <a:spcPts val="0"/>
                        </a:spcAft>
                        <a:buNone/>
                      </a:pPr>
                      <a:r>
                        <a:rPr lang="en-US" sz="2000">
                          <a:solidFill>
                            <a:srgbClr val="188038"/>
                          </a:solidFill>
                          <a:latin typeface="Roboto Mono"/>
                          <a:ea typeface="Roboto Mono"/>
                          <a:cs typeface="Roboto Mono"/>
                          <a:sym typeface="Roboto Mono"/>
                        </a:rPr>
                        <a:t>produktionsplan_index</a:t>
                      </a:r>
                      <a:r>
                        <a:rPr lang="en-US" sz="2000"/>
                        <a:t> – fehlend</a:t>
                      </a:r>
                      <a:endParaRPr sz="2000"/>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2000"/>
                        <a:t>672</a:t>
                      </a:r>
                      <a:endParaRPr sz="2000"/>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2000"/>
                        <a:t>4,0 %</a:t>
                      </a:r>
                      <a:endParaRPr sz="2000"/>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2000"/>
                        <a:t>Für EDA beibehalten</a:t>
                      </a:r>
                      <a:endParaRPr sz="2000"/>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33375">
                <a:tc>
                  <a:txBody>
                    <a:bodyPr/>
                    <a:lstStyle/>
                    <a:p>
                      <a:pPr indent="0" lvl="0" marL="0" rtl="0" algn="l">
                        <a:lnSpc>
                          <a:spcPct val="100000"/>
                        </a:lnSpc>
                        <a:spcBef>
                          <a:spcPts val="0"/>
                        </a:spcBef>
                        <a:spcAft>
                          <a:spcPts val="0"/>
                        </a:spcAft>
                        <a:buNone/>
                      </a:pPr>
                      <a:r>
                        <a:rPr lang="en-US" sz="2000">
                          <a:solidFill>
                            <a:srgbClr val="188038"/>
                          </a:solidFill>
                          <a:latin typeface="Roboto Mono"/>
                          <a:ea typeface="Roboto Mono"/>
                          <a:cs typeface="Roboto Mono"/>
                          <a:sym typeface="Roboto Mono"/>
                        </a:rPr>
                        <a:t>vormonat_verbrauch_kwh</a:t>
                      </a:r>
                      <a:r>
                        <a:rPr lang="en-US" sz="2000"/>
                        <a:t> – fehlend</a:t>
                      </a:r>
                      <a:endParaRPr sz="2000"/>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2000"/>
                        <a:t>700</a:t>
                      </a:r>
                      <a:endParaRPr sz="2000"/>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2000"/>
                        <a:t>4,2 %</a:t>
                      </a:r>
                      <a:endParaRPr sz="2000"/>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2000"/>
                        <a:t>Strukturell bedingt</a:t>
                      </a:r>
                      <a:endParaRPr sz="2000"/>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33375">
                <a:tc>
                  <a:txBody>
                    <a:bodyPr/>
                    <a:lstStyle/>
                    <a:p>
                      <a:pPr indent="0" lvl="0" marL="0" rtl="0" algn="l">
                        <a:lnSpc>
                          <a:spcPct val="100000"/>
                        </a:lnSpc>
                        <a:spcBef>
                          <a:spcPts val="0"/>
                        </a:spcBef>
                        <a:spcAft>
                          <a:spcPts val="0"/>
                        </a:spcAft>
                        <a:buNone/>
                      </a:pPr>
                      <a:r>
                        <a:rPr lang="en-US" sz="2000">
                          <a:solidFill>
                            <a:srgbClr val="188038"/>
                          </a:solidFill>
                          <a:latin typeface="Roboto Mono"/>
                          <a:ea typeface="Roboto Mono"/>
                          <a:cs typeface="Roboto Mono"/>
                          <a:sym typeface="Roboto Mono"/>
                        </a:rPr>
                        <a:t>letzte_3_monate_durchschnitt_kwh</a:t>
                      </a:r>
                      <a:r>
                        <a:rPr lang="en-US" sz="2000"/>
                        <a:t> – fehlend</a:t>
                      </a:r>
                      <a:endParaRPr sz="2000"/>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2000"/>
                        <a:t>1</a:t>
                      </a:r>
                      <a:endParaRPr sz="2000"/>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2000"/>
                        <a:t>&lt;0,1 %</a:t>
                      </a:r>
                      <a:endParaRPr sz="2000"/>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2000"/>
                        <a:t>Geprüft</a:t>
                      </a:r>
                      <a:endParaRPr sz="2000"/>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33375">
                <a:tc>
                  <a:txBody>
                    <a:bodyPr/>
                    <a:lstStyle/>
                    <a:p>
                      <a:pPr indent="0" lvl="0" marL="0" rtl="0" algn="l">
                        <a:lnSpc>
                          <a:spcPct val="100000"/>
                        </a:lnSpc>
                        <a:spcBef>
                          <a:spcPts val="0"/>
                        </a:spcBef>
                        <a:spcAft>
                          <a:spcPts val="0"/>
                        </a:spcAft>
                        <a:buNone/>
                      </a:pPr>
                      <a:r>
                        <a:rPr lang="en-US" sz="2000">
                          <a:solidFill>
                            <a:srgbClr val="188038"/>
                          </a:solidFill>
                          <a:latin typeface="Roboto Mono"/>
                          <a:ea typeface="Roboto Mono"/>
                          <a:cs typeface="Roboto Mono"/>
                          <a:sym typeface="Roboto Mono"/>
                        </a:rPr>
                        <a:t>vorjahr_monat_verbrauch_kwh</a:t>
                      </a:r>
                      <a:r>
                        <a:rPr lang="en-US" sz="2000"/>
                        <a:t> – fehlend</a:t>
                      </a:r>
                      <a:endParaRPr sz="2000"/>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2000"/>
                        <a:t>8.400</a:t>
                      </a:r>
                      <a:endParaRPr sz="2000"/>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2000"/>
                        <a:t>50</a:t>
                      </a:r>
                      <a:r>
                        <a:rPr lang="en-US" sz="2000"/>
                        <a:t> %</a:t>
                      </a:r>
                      <a:endParaRPr sz="2000"/>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2000"/>
                        <a:t>Strukturell bedingt</a:t>
                      </a:r>
                      <a:endParaRPr sz="2000"/>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33375">
                <a:tc>
                  <a:txBody>
                    <a:bodyPr/>
                    <a:lstStyle/>
                    <a:p>
                      <a:pPr indent="0" lvl="0" marL="0" rtl="0" algn="l">
                        <a:lnSpc>
                          <a:spcPct val="100000"/>
                        </a:lnSpc>
                        <a:spcBef>
                          <a:spcPts val="0"/>
                        </a:spcBef>
                        <a:spcAft>
                          <a:spcPts val="0"/>
                        </a:spcAft>
                        <a:buNone/>
                      </a:pPr>
                      <a:r>
                        <a:rPr lang="en-US" sz="2000">
                          <a:solidFill>
                            <a:srgbClr val="188038"/>
                          </a:solidFill>
                          <a:latin typeface="Roboto Mono"/>
                          <a:ea typeface="Roboto Mono"/>
                          <a:cs typeface="Roboto Mono"/>
                          <a:sym typeface="Roboto Mono"/>
                        </a:rPr>
                        <a:t>verbrauch_kwh</a:t>
                      </a:r>
                      <a:r>
                        <a:rPr lang="en-US" sz="2000"/>
                        <a:t> – fehlend</a:t>
                      </a:r>
                      <a:endParaRPr sz="2000"/>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2000"/>
                        <a:t>3</a:t>
                      </a:r>
                      <a:endParaRPr sz="2000"/>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2000"/>
                        <a:t>&lt;0,1 %</a:t>
                      </a:r>
                      <a:endParaRPr sz="2000"/>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2000"/>
                        <a:t>Post-hoc imputiert</a:t>
                      </a:r>
                      <a:endParaRPr sz="2000"/>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33375">
                <a:tc>
                  <a:txBody>
                    <a:bodyPr/>
                    <a:lstStyle/>
                    <a:p>
                      <a:pPr indent="0" lvl="0" marL="0" rtl="0" algn="l">
                        <a:lnSpc>
                          <a:spcPct val="100000"/>
                        </a:lnSpc>
                        <a:spcBef>
                          <a:spcPts val="0"/>
                        </a:spcBef>
                        <a:spcAft>
                          <a:spcPts val="0"/>
                        </a:spcAft>
                        <a:buNone/>
                      </a:pPr>
                      <a:r>
                        <a:rPr lang="en-US" sz="2000">
                          <a:solidFill>
                            <a:srgbClr val="188038"/>
                          </a:solidFill>
                          <a:latin typeface="Roboto Mono"/>
                          <a:ea typeface="Roboto Mono"/>
                          <a:cs typeface="Roboto Mono"/>
                          <a:sym typeface="Roboto Mono"/>
                        </a:rPr>
                        <a:t>verbrauch_kwh</a:t>
                      </a:r>
                      <a:r>
                        <a:rPr lang="en-US" sz="2000"/>
                        <a:t> – Ausreißer</a:t>
                      </a:r>
                      <a:endParaRPr sz="2000"/>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2000"/>
                        <a:t>20</a:t>
                      </a:r>
                      <a:endParaRPr sz="2000"/>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2000"/>
                        <a:t>0,1 %</a:t>
                      </a:r>
                      <a:endParaRPr sz="2000"/>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n-US" sz="2000"/>
                        <a:t>Geprüft </a:t>
                      </a:r>
                      <a:endParaRPr sz="2000"/>
                    </a:p>
                  </a:txBody>
                  <a:tcPr marT="76200" marB="76200" marR="114300" marL="1143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23" name="Shape 723"/>
        <p:cNvGrpSpPr/>
        <p:nvPr/>
      </p:nvGrpSpPr>
      <p:grpSpPr>
        <a:xfrm>
          <a:off x="0" y="0"/>
          <a:ext cx="0" cy="0"/>
          <a:chOff x="0" y="0"/>
          <a:chExt cx="0" cy="0"/>
        </a:xfrm>
      </p:grpSpPr>
      <p:sp>
        <p:nvSpPr>
          <p:cNvPr id="724" name="Google Shape;724;h3fbf580b30600811_1_259"/>
          <p:cNvSpPr txBox="1"/>
          <p:nvPr/>
        </p:nvSpPr>
        <p:spPr>
          <a:xfrm>
            <a:off x="685807" y="438912"/>
            <a:ext cx="9601200" cy="184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200">
                <a:solidFill>
                  <a:srgbClr val="00718E"/>
                </a:solidFill>
                <a:latin typeface="IBM Plex Sans"/>
                <a:ea typeface="IBM Plex Sans"/>
                <a:cs typeface="IBM Plex Sans"/>
                <a:sym typeface="IBM Plex Sans"/>
              </a:rPr>
              <a:t>BACKUP · EDA</a:t>
            </a:r>
            <a:endParaRPr/>
          </a:p>
        </p:txBody>
      </p:sp>
      <p:sp>
        <p:nvSpPr>
          <p:cNvPr id="725" name="Google Shape;725;h3fbf580b30600811_1_259"/>
          <p:cNvSpPr txBox="1"/>
          <p:nvPr/>
        </p:nvSpPr>
        <p:spPr>
          <a:xfrm>
            <a:off x="685807" y="731520"/>
            <a:ext cx="10820400" cy="4617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lang="en-US" sz="3000">
                <a:solidFill>
                  <a:srgbClr val="141A21"/>
                </a:solidFill>
                <a:latin typeface="IBM Plex Sans"/>
                <a:ea typeface="IBM Plex Sans"/>
                <a:cs typeface="IBM Plex Sans"/>
                <a:sym typeface="IBM Plex Sans"/>
              </a:rPr>
              <a:t>Erst die Normierung macht die eigentlichen Treiber sichtbar</a:t>
            </a:r>
            <a:endParaRPr/>
          </a:p>
        </p:txBody>
      </p:sp>
      <p:cxnSp>
        <p:nvCxnSpPr>
          <p:cNvPr id="726" name="Google Shape;726;h3fbf580b30600811_1_259"/>
          <p:cNvCxnSpPr/>
          <p:nvPr/>
        </p:nvCxnSpPr>
        <p:spPr>
          <a:xfrm>
            <a:off x="685807" y="6336792"/>
            <a:ext cx="10820400" cy="0"/>
          </a:xfrm>
          <a:prstGeom prst="straightConnector1">
            <a:avLst/>
          </a:prstGeom>
          <a:noFill/>
          <a:ln cap="flat" cmpd="sng" w="9525">
            <a:solidFill>
              <a:srgbClr val="E4E9EF"/>
            </a:solidFill>
            <a:prstDash val="solid"/>
            <a:round/>
            <a:headEnd len="sm" w="sm" type="none"/>
            <a:tailEnd len="sm" w="sm" type="none"/>
          </a:ln>
        </p:spPr>
      </p:cxnSp>
      <p:pic>
        <p:nvPicPr>
          <p:cNvPr descr="logo-sww-wordmark.png" id="727" name="Google Shape;727;h3fbf580b30600811_1_259"/>
          <p:cNvPicPr preferRelativeResize="0"/>
          <p:nvPr/>
        </p:nvPicPr>
        <p:blipFill rotWithShape="1">
          <a:blip r:embed="rId3">
            <a:alphaModFix/>
          </a:blip>
          <a:srcRect b="0" l="0" r="0" t="0"/>
          <a:stretch/>
        </p:blipFill>
        <p:spPr>
          <a:xfrm>
            <a:off x="685807" y="6437376"/>
            <a:ext cx="687629" cy="237744"/>
          </a:xfrm>
          <a:prstGeom prst="rect">
            <a:avLst/>
          </a:prstGeom>
          <a:noFill/>
          <a:ln>
            <a:noFill/>
          </a:ln>
        </p:spPr>
      </p:pic>
      <p:sp>
        <p:nvSpPr>
          <p:cNvPr id="728" name="Google Shape;728;h3fbf580b30600811_1_259"/>
          <p:cNvSpPr txBox="1"/>
          <p:nvPr/>
        </p:nvSpPr>
        <p:spPr>
          <a:xfrm>
            <a:off x="1920260" y="6473952"/>
            <a:ext cx="7315200" cy="169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lang="en-US" sz="1100">
                <a:solidFill>
                  <a:srgbClr val="4E5A68"/>
                </a:solidFill>
                <a:latin typeface="IBM Plex Sans"/>
                <a:ea typeface="IBM Plex Sans"/>
                <a:cs typeface="IBM Plex Sans"/>
                <a:sym typeface="IBM Plex Sans"/>
              </a:rPr>
              <a:t>Verbrauchsprognose &amp; Frühwarnung · Patrick Olmo Hederer</a:t>
            </a:r>
            <a:endParaRPr/>
          </a:p>
        </p:txBody>
      </p:sp>
      <p:sp>
        <p:nvSpPr>
          <p:cNvPr id="729" name="Google Shape;729;h3fbf580b30600811_1_259"/>
          <p:cNvSpPr txBox="1"/>
          <p:nvPr/>
        </p:nvSpPr>
        <p:spPr>
          <a:xfrm>
            <a:off x="10591908" y="6473952"/>
            <a:ext cx="914400" cy="169200"/>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None/>
            </a:pPr>
            <a:r>
              <a:rPr b="0" lang="en-US" sz="1100">
                <a:solidFill>
                  <a:srgbClr val="4E5A68"/>
                </a:solidFill>
                <a:latin typeface="Geist Mono"/>
                <a:ea typeface="Geist Mono"/>
                <a:cs typeface="Geist Mono"/>
                <a:sym typeface="Geist Mono"/>
              </a:rPr>
              <a:t>B1</a:t>
            </a:r>
            <a:endParaRPr/>
          </a:p>
        </p:txBody>
      </p:sp>
      <p:pic>
        <p:nvPicPr>
          <p:cNvPr descr="corr.png" id="730" name="Google Shape;730;h3fbf580b30600811_1_259"/>
          <p:cNvPicPr preferRelativeResize="0"/>
          <p:nvPr/>
        </p:nvPicPr>
        <p:blipFill rotWithShape="1">
          <a:blip r:embed="rId4">
            <a:alphaModFix/>
          </a:blip>
          <a:srcRect b="0" l="0" r="0" t="0"/>
          <a:stretch/>
        </p:blipFill>
        <p:spPr>
          <a:xfrm>
            <a:off x="685807" y="1783080"/>
            <a:ext cx="8070218" cy="4206241"/>
          </a:xfrm>
          <a:prstGeom prst="rect">
            <a:avLst/>
          </a:prstGeom>
          <a:noFill/>
          <a:ln>
            <a:noFill/>
          </a:ln>
        </p:spPr>
      </p:pic>
      <p:sp>
        <p:nvSpPr>
          <p:cNvPr id="731" name="Google Shape;731;h3fbf580b30600811_1_259"/>
          <p:cNvSpPr txBox="1"/>
          <p:nvPr/>
        </p:nvSpPr>
        <p:spPr>
          <a:xfrm>
            <a:off x="8732610" y="1874519"/>
            <a:ext cx="2743200" cy="184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200">
                <a:solidFill>
                  <a:srgbClr val="00718E"/>
                </a:solidFill>
                <a:latin typeface="IBM Plex Sans"/>
                <a:ea typeface="IBM Plex Sans"/>
                <a:cs typeface="IBM Plex Sans"/>
                <a:sym typeface="IBM Plex Sans"/>
              </a:rPr>
              <a:t>LESEHILFE</a:t>
            </a:r>
            <a:endParaRPr/>
          </a:p>
        </p:txBody>
      </p:sp>
      <p:sp>
        <p:nvSpPr>
          <p:cNvPr id="732" name="Google Shape;732;h3fbf580b30600811_1_259"/>
          <p:cNvSpPr txBox="1"/>
          <p:nvPr/>
        </p:nvSpPr>
        <p:spPr>
          <a:xfrm>
            <a:off x="8732610" y="2240280"/>
            <a:ext cx="2773800" cy="2662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500">
                <a:solidFill>
                  <a:srgbClr val="141A21"/>
                </a:solidFill>
                <a:latin typeface="IBM Plex Sans"/>
                <a:ea typeface="IBM Plex Sans"/>
                <a:cs typeface="IBM Plex Sans"/>
                <a:sym typeface="IBM Plex Sans"/>
              </a:rPr>
              <a:t>Roh </a:t>
            </a:r>
            <a:r>
              <a:rPr b="0" lang="en-US" sz="1500">
                <a:solidFill>
                  <a:srgbClr val="4E5A68"/>
                </a:solidFill>
                <a:latin typeface="IBM Plex Sans"/>
                <a:ea typeface="IBM Plex Sans"/>
                <a:cs typeface="IBM Plex Sans"/>
                <a:sym typeface="IBM Plex Sans"/>
              </a:rPr>
              <a:t>messen Vormonat und Vertragsleistung nur die Größe des Zählers.</a:t>
            </a:r>
            <a:endParaRPr/>
          </a:p>
          <a:p>
            <a:pPr indent="0" lvl="0" marL="0" marR="0" rtl="0" algn="l">
              <a:lnSpc>
                <a:spcPct val="115000"/>
              </a:lnSpc>
              <a:spcBef>
                <a:spcPts val="1200"/>
              </a:spcBef>
              <a:spcAft>
                <a:spcPts val="0"/>
              </a:spcAft>
              <a:buNone/>
            </a:pPr>
            <a:r>
              <a:rPr b="1" lang="en-US" sz="1500">
                <a:solidFill>
                  <a:srgbClr val="141A21"/>
                </a:solidFill>
                <a:latin typeface="IBM Plex Sans"/>
                <a:ea typeface="IBM Plex Sans"/>
                <a:cs typeface="IBM Plex Sans"/>
                <a:sym typeface="IBM Plex Sans"/>
              </a:rPr>
              <a:t>Normiert </a:t>
            </a:r>
            <a:r>
              <a:rPr b="0" lang="en-US" sz="1500">
                <a:solidFill>
                  <a:srgbClr val="4E5A68"/>
                </a:solidFill>
                <a:latin typeface="IBM Plex Sans"/>
                <a:ea typeface="IBM Plex Sans"/>
                <a:cs typeface="IBM Plex Sans"/>
                <a:sym typeface="IBM Plex Sans"/>
              </a:rPr>
              <a:t>treten Produktionsplan, Heizgradtage und Wartung hervor.</a:t>
            </a:r>
            <a:endParaRPr/>
          </a:p>
          <a:p>
            <a:pPr indent="0" lvl="0" marL="0" marR="0" rtl="0" algn="l">
              <a:lnSpc>
                <a:spcPct val="115000"/>
              </a:lnSpc>
              <a:spcBef>
                <a:spcPts val="1200"/>
              </a:spcBef>
              <a:spcAft>
                <a:spcPts val="0"/>
              </a:spcAft>
              <a:buNone/>
            </a:pPr>
            <a:r>
              <a:rPr b="1" lang="en-US" sz="1500">
                <a:solidFill>
                  <a:srgbClr val="141A21"/>
                </a:solidFill>
                <a:latin typeface="IBM Plex Sans"/>
                <a:ea typeface="IBM Plex Sans"/>
                <a:cs typeface="IBM Plex Sans"/>
                <a:sym typeface="IBM Plex Sans"/>
              </a:rPr>
              <a:t>92 % </a:t>
            </a:r>
            <a:r>
              <a:rPr b="0" lang="en-US" sz="1500">
                <a:solidFill>
                  <a:srgbClr val="4E5A68"/>
                </a:solidFill>
                <a:latin typeface="IBM Plex Sans"/>
                <a:ea typeface="IBM Plex Sans"/>
                <a:cs typeface="IBM Plex Sans"/>
                <a:sym typeface="IBM Plex Sans"/>
              </a:rPr>
              <a:t>der Streuung liegen zwischen den Zählern – daher die Zielgröße Vollaststunden.</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37" name="Shape 737"/>
        <p:cNvGrpSpPr/>
        <p:nvPr/>
      </p:nvGrpSpPr>
      <p:grpSpPr>
        <a:xfrm>
          <a:off x="0" y="0"/>
          <a:ext cx="0" cy="0"/>
          <a:chOff x="0" y="0"/>
          <a:chExt cx="0" cy="0"/>
        </a:xfrm>
      </p:grpSpPr>
      <p:sp>
        <p:nvSpPr>
          <p:cNvPr id="738" name="Google Shape;738;h3fbf580b30600811_1_272"/>
          <p:cNvSpPr txBox="1"/>
          <p:nvPr/>
        </p:nvSpPr>
        <p:spPr>
          <a:xfrm>
            <a:off x="685807" y="438912"/>
            <a:ext cx="9601200" cy="184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200">
                <a:solidFill>
                  <a:srgbClr val="00718E"/>
                </a:solidFill>
                <a:latin typeface="IBM Plex Sans"/>
                <a:ea typeface="IBM Plex Sans"/>
                <a:cs typeface="IBM Plex Sans"/>
                <a:sym typeface="IBM Plex Sans"/>
              </a:rPr>
              <a:t>BACKUP · GRENZEN</a:t>
            </a:r>
            <a:endParaRPr/>
          </a:p>
        </p:txBody>
      </p:sp>
      <p:sp>
        <p:nvSpPr>
          <p:cNvPr id="739" name="Google Shape;739;h3fbf580b30600811_1_272"/>
          <p:cNvSpPr txBox="1"/>
          <p:nvPr/>
        </p:nvSpPr>
        <p:spPr>
          <a:xfrm>
            <a:off x="685807" y="731520"/>
            <a:ext cx="10820400" cy="4617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lang="en-US" sz="3000">
                <a:solidFill>
                  <a:srgbClr val="141A21"/>
                </a:solidFill>
                <a:latin typeface="IBM Plex Sans"/>
                <a:ea typeface="IBM Plex Sans"/>
                <a:cs typeface="IBM Plex Sans"/>
                <a:sym typeface="IBM Plex Sans"/>
              </a:rPr>
              <a:t>Was die Ergebnisse belegen – und was nicht</a:t>
            </a:r>
            <a:endParaRPr/>
          </a:p>
        </p:txBody>
      </p:sp>
      <p:cxnSp>
        <p:nvCxnSpPr>
          <p:cNvPr id="740" name="Google Shape;740;h3fbf580b30600811_1_272"/>
          <p:cNvCxnSpPr/>
          <p:nvPr/>
        </p:nvCxnSpPr>
        <p:spPr>
          <a:xfrm>
            <a:off x="685807" y="6336792"/>
            <a:ext cx="10820400" cy="0"/>
          </a:xfrm>
          <a:prstGeom prst="straightConnector1">
            <a:avLst/>
          </a:prstGeom>
          <a:noFill/>
          <a:ln cap="flat" cmpd="sng" w="9525">
            <a:solidFill>
              <a:srgbClr val="E4E9EF"/>
            </a:solidFill>
            <a:prstDash val="solid"/>
            <a:round/>
            <a:headEnd len="sm" w="sm" type="none"/>
            <a:tailEnd len="sm" w="sm" type="none"/>
          </a:ln>
        </p:spPr>
      </p:cxnSp>
      <p:pic>
        <p:nvPicPr>
          <p:cNvPr descr="logo-sww-wordmark.png" id="741" name="Google Shape;741;h3fbf580b30600811_1_272"/>
          <p:cNvPicPr preferRelativeResize="0"/>
          <p:nvPr/>
        </p:nvPicPr>
        <p:blipFill rotWithShape="1">
          <a:blip r:embed="rId3">
            <a:alphaModFix/>
          </a:blip>
          <a:srcRect b="0" l="0" r="0" t="0"/>
          <a:stretch/>
        </p:blipFill>
        <p:spPr>
          <a:xfrm>
            <a:off x="685807" y="6437376"/>
            <a:ext cx="687629" cy="237744"/>
          </a:xfrm>
          <a:prstGeom prst="rect">
            <a:avLst/>
          </a:prstGeom>
          <a:noFill/>
          <a:ln>
            <a:noFill/>
          </a:ln>
        </p:spPr>
      </p:pic>
      <p:sp>
        <p:nvSpPr>
          <p:cNvPr id="742" name="Google Shape;742;h3fbf580b30600811_1_272"/>
          <p:cNvSpPr txBox="1"/>
          <p:nvPr/>
        </p:nvSpPr>
        <p:spPr>
          <a:xfrm>
            <a:off x="1920260" y="6473952"/>
            <a:ext cx="7315200" cy="169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lang="en-US" sz="1100">
                <a:solidFill>
                  <a:srgbClr val="4E5A68"/>
                </a:solidFill>
                <a:latin typeface="IBM Plex Sans"/>
                <a:ea typeface="IBM Plex Sans"/>
                <a:cs typeface="IBM Plex Sans"/>
                <a:sym typeface="IBM Plex Sans"/>
              </a:rPr>
              <a:t>Verbrauchsprognose &amp; Frühwarnung · Patrick Olmo Hederer</a:t>
            </a:r>
            <a:endParaRPr/>
          </a:p>
        </p:txBody>
      </p:sp>
      <p:sp>
        <p:nvSpPr>
          <p:cNvPr id="743" name="Google Shape;743;h3fbf580b30600811_1_272"/>
          <p:cNvSpPr txBox="1"/>
          <p:nvPr/>
        </p:nvSpPr>
        <p:spPr>
          <a:xfrm>
            <a:off x="10591908" y="6473952"/>
            <a:ext cx="914400" cy="169200"/>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None/>
            </a:pPr>
            <a:r>
              <a:rPr b="0" lang="en-US" sz="1100">
                <a:solidFill>
                  <a:srgbClr val="4E5A68"/>
                </a:solidFill>
                <a:latin typeface="Geist Mono"/>
                <a:ea typeface="Geist Mono"/>
                <a:cs typeface="Geist Mono"/>
                <a:sym typeface="Geist Mono"/>
              </a:rPr>
              <a:t>B2</a:t>
            </a:r>
            <a:endParaRPr/>
          </a:p>
        </p:txBody>
      </p:sp>
      <p:sp>
        <p:nvSpPr>
          <p:cNvPr id="744" name="Google Shape;744;h3fbf580b30600811_1_272"/>
          <p:cNvSpPr/>
          <p:nvPr/>
        </p:nvSpPr>
        <p:spPr>
          <a:xfrm>
            <a:off x="685807" y="1828800"/>
            <a:ext cx="3454500" cy="2651700"/>
          </a:xfrm>
          <a:prstGeom prst="roundRect">
            <a:avLst>
              <a:gd fmla="val 6000" name="adj"/>
            </a:avLst>
          </a:prstGeom>
          <a:solidFill>
            <a:srgbClr val="EDF6E9"/>
          </a:solidFill>
          <a:ln cap="flat" cmpd="sng" w="12700">
            <a:solidFill>
              <a:srgbClr val="CFE7C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745" name="Google Shape;745;h3fbf580b30600811_1_272"/>
          <p:cNvSpPr txBox="1"/>
          <p:nvPr/>
        </p:nvSpPr>
        <p:spPr>
          <a:xfrm>
            <a:off x="960130" y="2011680"/>
            <a:ext cx="2905800" cy="307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2000">
                <a:solidFill>
                  <a:srgbClr val="2F7A33"/>
                </a:solidFill>
                <a:latin typeface="IBM Plex Sans"/>
                <a:ea typeface="IBM Plex Sans"/>
                <a:cs typeface="IBM Plex Sans"/>
                <a:sym typeface="IBM Plex Sans"/>
              </a:rPr>
              <a:t>Belegt</a:t>
            </a:r>
            <a:endParaRPr/>
          </a:p>
        </p:txBody>
      </p:sp>
      <p:sp>
        <p:nvSpPr>
          <p:cNvPr id="746" name="Google Shape;746;h3fbf580b30600811_1_272"/>
          <p:cNvSpPr txBox="1"/>
          <p:nvPr/>
        </p:nvSpPr>
        <p:spPr>
          <a:xfrm>
            <a:off x="960130" y="2514600"/>
            <a:ext cx="2905800" cy="11979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lang="en-US" sz="1500">
                <a:solidFill>
                  <a:srgbClr val="141A21"/>
                </a:solidFill>
                <a:latin typeface="IBM Plex Sans"/>
                <a:ea typeface="IBM Plex Sans"/>
                <a:cs typeface="IBM Plex Sans"/>
                <a:sym typeface="IBM Plex Sans"/>
              </a:rPr>
              <a:t>• Modell schlägt beide Baselines 2024 und 2025</a:t>
            </a:r>
            <a:endParaRPr/>
          </a:p>
          <a:p>
            <a:pPr indent="0" lvl="0" marL="0" marR="0" rtl="0" algn="l">
              <a:lnSpc>
                <a:spcPct val="110000"/>
              </a:lnSpc>
              <a:spcBef>
                <a:spcPts val="800"/>
              </a:spcBef>
              <a:spcAft>
                <a:spcPts val="0"/>
              </a:spcAft>
              <a:buNone/>
            </a:pPr>
            <a:r>
              <a:rPr b="0" lang="en-US" sz="1500">
                <a:solidFill>
                  <a:srgbClr val="141A21"/>
                </a:solidFill>
                <a:latin typeface="IBM Plex Sans"/>
                <a:ea typeface="IBM Plex Sans"/>
                <a:cs typeface="IBM Plex Sans"/>
                <a:sym typeface="IBM Plex Sans"/>
              </a:rPr>
              <a:t>• RMSE 9.188 kWh, −15,9 %</a:t>
            </a:r>
            <a:endParaRPr/>
          </a:p>
          <a:p>
            <a:pPr indent="0" lvl="0" marL="0" marR="0" rtl="0" algn="l">
              <a:lnSpc>
                <a:spcPct val="110000"/>
              </a:lnSpc>
              <a:spcBef>
                <a:spcPts val="800"/>
              </a:spcBef>
              <a:spcAft>
                <a:spcPts val="0"/>
              </a:spcAft>
              <a:buNone/>
            </a:pPr>
            <a:r>
              <a:rPr b="0" lang="en-US" sz="1500">
                <a:solidFill>
                  <a:srgbClr val="141A21"/>
                </a:solidFill>
                <a:latin typeface="IBM Plex Sans"/>
                <a:ea typeface="IBM Plex Sans"/>
                <a:cs typeface="IBM Plex Sans"/>
                <a:sym typeface="IBM Plex Sans"/>
              </a:rPr>
              <a:t>• Treiber decken sich mit der EDA</a:t>
            </a:r>
            <a:endParaRPr/>
          </a:p>
        </p:txBody>
      </p:sp>
      <p:sp>
        <p:nvSpPr>
          <p:cNvPr id="747" name="Google Shape;747;h3fbf580b30600811_1_272"/>
          <p:cNvSpPr/>
          <p:nvPr/>
        </p:nvSpPr>
        <p:spPr>
          <a:xfrm>
            <a:off x="4368844" y="1828800"/>
            <a:ext cx="3454500" cy="2651700"/>
          </a:xfrm>
          <a:prstGeom prst="roundRect">
            <a:avLst>
              <a:gd fmla="val 6000" name="adj"/>
            </a:avLst>
          </a:prstGeom>
          <a:solidFill>
            <a:srgbClr val="FDF3E0"/>
          </a:solidFill>
          <a:ln cap="flat" cmpd="sng" w="12700">
            <a:solidFill>
              <a:srgbClr val="F7DFA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748" name="Google Shape;748;h3fbf580b30600811_1_272"/>
          <p:cNvSpPr txBox="1"/>
          <p:nvPr/>
        </p:nvSpPr>
        <p:spPr>
          <a:xfrm>
            <a:off x="4643167" y="2011680"/>
            <a:ext cx="2905800" cy="307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2000">
                <a:solidFill>
                  <a:srgbClr val="7F4C03"/>
                </a:solidFill>
                <a:latin typeface="IBM Plex Sans"/>
                <a:ea typeface="IBM Plex Sans"/>
                <a:cs typeface="IBM Plex Sans"/>
                <a:sym typeface="IBM Plex Sans"/>
              </a:rPr>
              <a:t>Annahme</a:t>
            </a:r>
            <a:endParaRPr/>
          </a:p>
        </p:txBody>
      </p:sp>
      <p:sp>
        <p:nvSpPr>
          <p:cNvPr id="749" name="Google Shape;749;h3fbf580b30600811_1_272"/>
          <p:cNvSpPr txBox="1"/>
          <p:nvPr/>
        </p:nvSpPr>
        <p:spPr>
          <a:xfrm>
            <a:off x="4643167" y="2514600"/>
            <a:ext cx="2905800" cy="1452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lang="en-US" sz="1500">
                <a:solidFill>
                  <a:srgbClr val="141A21"/>
                </a:solidFill>
                <a:latin typeface="IBM Plex Sans"/>
                <a:ea typeface="IBM Plex Sans"/>
                <a:cs typeface="IBM Plex Sans"/>
                <a:sym typeface="IBM Plex Sans"/>
              </a:rPr>
              <a:t>• Schwelle q99 = bearbeitbares Prüfvolumen</a:t>
            </a:r>
            <a:endParaRPr/>
          </a:p>
          <a:p>
            <a:pPr indent="0" lvl="0" marL="0" marR="0" rtl="0" algn="l">
              <a:lnSpc>
                <a:spcPct val="110000"/>
              </a:lnSpc>
              <a:spcBef>
                <a:spcPts val="800"/>
              </a:spcBef>
              <a:spcAft>
                <a:spcPts val="0"/>
              </a:spcAft>
              <a:buNone/>
            </a:pPr>
            <a:r>
              <a:rPr b="0" lang="en-US" sz="1500">
                <a:solidFill>
                  <a:srgbClr val="141A21"/>
                </a:solidFill>
                <a:latin typeface="IBM Plex Sans"/>
                <a:ea typeface="IBM Plex Sans"/>
                <a:cs typeface="IBM Plex Sans"/>
                <a:sym typeface="IBM Plex Sans"/>
              </a:rPr>
              <a:t>• kein mathematisches Optimum</a:t>
            </a:r>
            <a:endParaRPr/>
          </a:p>
          <a:p>
            <a:pPr indent="0" lvl="0" marL="0" marR="0" rtl="0" algn="l">
              <a:lnSpc>
                <a:spcPct val="110000"/>
              </a:lnSpc>
              <a:spcBef>
                <a:spcPts val="800"/>
              </a:spcBef>
              <a:spcAft>
                <a:spcPts val="0"/>
              </a:spcAft>
              <a:buNone/>
            </a:pPr>
            <a:r>
              <a:rPr b="0" lang="en-US" sz="1500">
                <a:solidFill>
                  <a:srgbClr val="141A21"/>
                </a:solidFill>
                <a:latin typeface="IBM Plex Sans"/>
                <a:ea typeface="IBM Plex Sans"/>
                <a:cs typeface="IBM Plex Sans"/>
                <a:sym typeface="IBM Plex Sans"/>
              </a:rPr>
              <a:t>• Vorteil der Vollaststunden gilt für diesen Datensatz</a:t>
            </a:r>
            <a:endParaRPr/>
          </a:p>
        </p:txBody>
      </p:sp>
      <p:sp>
        <p:nvSpPr>
          <p:cNvPr id="750" name="Google Shape;750;h3fbf580b30600811_1_272"/>
          <p:cNvSpPr/>
          <p:nvPr/>
        </p:nvSpPr>
        <p:spPr>
          <a:xfrm>
            <a:off x="8051882" y="1828800"/>
            <a:ext cx="3454500" cy="2651700"/>
          </a:xfrm>
          <a:prstGeom prst="roundRect">
            <a:avLst>
              <a:gd fmla="val 6000" name="adj"/>
            </a:avLst>
          </a:prstGeom>
          <a:solidFill>
            <a:srgbClr val="FBE9E7"/>
          </a:solidFill>
          <a:ln cap="flat" cmpd="sng" w="12700">
            <a:solidFill>
              <a:srgbClr val="F3C6C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751" name="Google Shape;751;h3fbf580b30600811_1_272"/>
          <p:cNvSpPr txBox="1"/>
          <p:nvPr/>
        </p:nvSpPr>
        <p:spPr>
          <a:xfrm>
            <a:off x="8326204" y="2011680"/>
            <a:ext cx="2905800" cy="307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2000">
                <a:solidFill>
                  <a:srgbClr val="B3261E"/>
                </a:solidFill>
                <a:latin typeface="IBM Plex Sans"/>
                <a:ea typeface="IBM Plex Sans"/>
                <a:cs typeface="IBM Plex Sans"/>
                <a:sym typeface="IBM Plex Sans"/>
              </a:rPr>
              <a:t>Offen</a:t>
            </a:r>
            <a:endParaRPr/>
          </a:p>
        </p:txBody>
      </p:sp>
      <p:sp>
        <p:nvSpPr>
          <p:cNvPr id="752" name="Google Shape;752;h3fbf580b30600811_1_272"/>
          <p:cNvSpPr txBox="1"/>
          <p:nvPr/>
        </p:nvSpPr>
        <p:spPr>
          <a:xfrm>
            <a:off x="8326204" y="2514600"/>
            <a:ext cx="2905800" cy="17061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lang="en-US" sz="1500">
                <a:solidFill>
                  <a:srgbClr val="141A21"/>
                </a:solidFill>
                <a:latin typeface="IBM Plex Sans"/>
                <a:ea typeface="IBM Plex Sans"/>
                <a:cs typeface="IBM Plex Sans"/>
                <a:sym typeface="IBM Plex Sans"/>
              </a:rPr>
              <a:t>• keine Labels: Trefferquote nicht messbar</a:t>
            </a:r>
            <a:endParaRPr/>
          </a:p>
          <a:p>
            <a:pPr indent="0" lvl="0" marL="0" marR="0" rtl="0" algn="l">
              <a:lnSpc>
                <a:spcPct val="110000"/>
              </a:lnSpc>
              <a:spcBef>
                <a:spcPts val="800"/>
              </a:spcBef>
              <a:spcAft>
                <a:spcPts val="0"/>
              </a:spcAft>
              <a:buNone/>
            </a:pPr>
            <a:r>
              <a:rPr b="0" lang="en-US" sz="1500">
                <a:solidFill>
                  <a:srgbClr val="141A21"/>
                </a:solidFill>
                <a:latin typeface="IBM Plex Sans"/>
                <a:ea typeface="IBM Plex Sans"/>
                <a:cs typeface="IBM Plex Sans"/>
                <a:sym typeface="IBM Plex Sans"/>
              </a:rPr>
              <a:t>• kurze Zeitreihe, Fold-Streuung 3.843 kWh</a:t>
            </a:r>
            <a:endParaRPr/>
          </a:p>
          <a:p>
            <a:pPr indent="0" lvl="0" marL="0" marR="0" rtl="0" algn="l">
              <a:lnSpc>
                <a:spcPct val="110000"/>
              </a:lnSpc>
              <a:spcBef>
                <a:spcPts val="800"/>
              </a:spcBef>
              <a:spcAft>
                <a:spcPts val="0"/>
              </a:spcAft>
              <a:buNone/>
            </a:pPr>
            <a:r>
              <a:rPr b="0" lang="en-US" sz="1500">
                <a:solidFill>
                  <a:srgbClr val="141A21"/>
                </a:solidFill>
                <a:latin typeface="IBM Plex Sans"/>
                <a:ea typeface="IBM Plex Sans"/>
                <a:cs typeface="IBM Plex Sans"/>
                <a:sym typeface="IBM Plex Sans"/>
              </a:rPr>
              <a:t>• 2025 retrospektiv, kein Live-Betrieb</a:t>
            </a:r>
            <a:endParaRPr/>
          </a:p>
        </p:txBody>
      </p:sp>
      <p:sp>
        <p:nvSpPr>
          <p:cNvPr id="753" name="Google Shape;753;h3fbf580b30600811_1_272"/>
          <p:cNvSpPr txBox="1"/>
          <p:nvPr/>
        </p:nvSpPr>
        <p:spPr>
          <a:xfrm>
            <a:off x="685807" y="4709160"/>
            <a:ext cx="7315200" cy="215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400">
                <a:solidFill>
                  <a:srgbClr val="00718E"/>
                </a:solidFill>
                <a:latin typeface="IBM Plex Sans"/>
                <a:ea typeface="IBM Plex Sans"/>
                <a:cs typeface="IBM Plex Sans"/>
                <a:sym typeface="IBM Plex Sans"/>
              </a:rPr>
              <a:t>Sensitivität der Schwelle · Prüfhinweise 2025 je Monat</a:t>
            </a:r>
            <a:endParaRPr/>
          </a:p>
        </p:txBody>
      </p:sp>
      <p:sp>
        <p:nvSpPr>
          <p:cNvPr id="754" name="Google Shape;754;h3fbf580b30600811_1_272"/>
          <p:cNvSpPr/>
          <p:nvPr/>
        </p:nvSpPr>
        <p:spPr>
          <a:xfrm>
            <a:off x="685807" y="5074920"/>
            <a:ext cx="2514600" cy="960000"/>
          </a:xfrm>
          <a:prstGeom prst="roundRect">
            <a:avLst>
              <a:gd fmla="val 6000" name="adj"/>
            </a:avLst>
          </a:prstGeom>
          <a:solidFill>
            <a:srgbClr val="F1F4F7"/>
          </a:solidFill>
          <a:ln cap="flat" cmpd="sng" w="12700">
            <a:solidFill>
              <a:srgbClr val="D2DA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755" name="Google Shape;755;h3fbf580b30600811_1_272"/>
          <p:cNvSpPr txBox="1"/>
          <p:nvPr/>
        </p:nvSpPr>
        <p:spPr>
          <a:xfrm>
            <a:off x="914409" y="5166360"/>
            <a:ext cx="1097400" cy="215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400">
                <a:solidFill>
                  <a:srgbClr val="4E5A68"/>
                </a:solidFill>
                <a:latin typeface="IBM Plex Sans"/>
                <a:ea typeface="IBM Plex Sans"/>
                <a:cs typeface="IBM Plex Sans"/>
                <a:sym typeface="IBM Plex Sans"/>
              </a:rPr>
              <a:t>q95</a:t>
            </a:r>
            <a:endParaRPr/>
          </a:p>
        </p:txBody>
      </p:sp>
      <p:sp>
        <p:nvSpPr>
          <p:cNvPr id="756" name="Google Shape;756;h3fbf580b30600811_1_272"/>
          <p:cNvSpPr txBox="1"/>
          <p:nvPr/>
        </p:nvSpPr>
        <p:spPr>
          <a:xfrm>
            <a:off x="914409" y="5468112"/>
            <a:ext cx="2103000" cy="369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2400">
                <a:solidFill>
                  <a:srgbClr val="141A21"/>
                </a:solidFill>
                <a:latin typeface="Geist Mono"/>
                <a:ea typeface="Geist Mono"/>
                <a:cs typeface="Geist Mono"/>
                <a:sym typeface="Geist Mono"/>
              </a:rPr>
              <a:t>33,3</a:t>
            </a:r>
            <a:endParaRPr/>
          </a:p>
        </p:txBody>
      </p:sp>
      <p:sp>
        <p:nvSpPr>
          <p:cNvPr id="757" name="Google Shape;757;h3fbf580b30600811_1_272"/>
          <p:cNvSpPr txBox="1"/>
          <p:nvPr/>
        </p:nvSpPr>
        <p:spPr>
          <a:xfrm>
            <a:off x="2011701" y="5559552"/>
            <a:ext cx="1097400" cy="184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lang="en-US" sz="1200">
                <a:solidFill>
                  <a:srgbClr val="4E5A68"/>
                </a:solidFill>
                <a:latin typeface="IBM Plex Sans"/>
                <a:ea typeface="IBM Plex Sans"/>
                <a:cs typeface="IBM Plex Sans"/>
                <a:sym typeface="IBM Plex Sans"/>
              </a:rPr>
              <a:t>400 / Jahr</a:t>
            </a:r>
            <a:endParaRPr/>
          </a:p>
        </p:txBody>
      </p:sp>
      <p:sp>
        <p:nvSpPr>
          <p:cNvPr id="758" name="Google Shape;758;h3fbf580b30600811_1_272"/>
          <p:cNvSpPr/>
          <p:nvPr/>
        </p:nvSpPr>
        <p:spPr>
          <a:xfrm>
            <a:off x="3383315" y="5074920"/>
            <a:ext cx="2514600" cy="960000"/>
          </a:xfrm>
          <a:prstGeom prst="roundRect">
            <a:avLst>
              <a:gd fmla="val 6000" name="adj"/>
            </a:avLst>
          </a:prstGeom>
          <a:solidFill>
            <a:srgbClr val="F1F4F7"/>
          </a:solidFill>
          <a:ln cap="flat" cmpd="sng" w="12700">
            <a:solidFill>
              <a:srgbClr val="D2DA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759" name="Google Shape;759;h3fbf580b30600811_1_272"/>
          <p:cNvSpPr txBox="1"/>
          <p:nvPr/>
        </p:nvSpPr>
        <p:spPr>
          <a:xfrm>
            <a:off x="3611917" y="5166360"/>
            <a:ext cx="1097400" cy="215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400">
                <a:solidFill>
                  <a:srgbClr val="4E5A68"/>
                </a:solidFill>
                <a:latin typeface="IBM Plex Sans"/>
                <a:ea typeface="IBM Plex Sans"/>
                <a:cs typeface="IBM Plex Sans"/>
                <a:sym typeface="IBM Plex Sans"/>
              </a:rPr>
              <a:t>q97,5</a:t>
            </a:r>
            <a:endParaRPr/>
          </a:p>
        </p:txBody>
      </p:sp>
      <p:sp>
        <p:nvSpPr>
          <p:cNvPr id="760" name="Google Shape;760;h3fbf580b30600811_1_272"/>
          <p:cNvSpPr txBox="1"/>
          <p:nvPr/>
        </p:nvSpPr>
        <p:spPr>
          <a:xfrm>
            <a:off x="3611917" y="5468112"/>
            <a:ext cx="2103000" cy="369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2400">
                <a:solidFill>
                  <a:srgbClr val="141A21"/>
                </a:solidFill>
                <a:latin typeface="Geist Mono"/>
                <a:ea typeface="Geist Mono"/>
                <a:cs typeface="Geist Mono"/>
                <a:sym typeface="Geist Mono"/>
              </a:rPr>
              <a:t>21,3</a:t>
            </a:r>
            <a:endParaRPr/>
          </a:p>
        </p:txBody>
      </p:sp>
      <p:sp>
        <p:nvSpPr>
          <p:cNvPr id="761" name="Google Shape;761;h3fbf580b30600811_1_272"/>
          <p:cNvSpPr txBox="1"/>
          <p:nvPr/>
        </p:nvSpPr>
        <p:spPr>
          <a:xfrm>
            <a:off x="4709208" y="5559552"/>
            <a:ext cx="1097400" cy="184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lang="en-US" sz="1200">
                <a:solidFill>
                  <a:srgbClr val="4E5A68"/>
                </a:solidFill>
                <a:latin typeface="IBM Plex Sans"/>
                <a:ea typeface="IBM Plex Sans"/>
                <a:cs typeface="IBM Plex Sans"/>
                <a:sym typeface="IBM Plex Sans"/>
              </a:rPr>
              <a:t>256 / Jahr</a:t>
            </a:r>
            <a:endParaRPr/>
          </a:p>
        </p:txBody>
      </p:sp>
      <p:sp>
        <p:nvSpPr>
          <p:cNvPr id="762" name="Google Shape;762;h3fbf580b30600811_1_272"/>
          <p:cNvSpPr/>
          <p:nvPr/>
        </p:nvSpPr>
        <p:spPr>
          <a:xfrm>
            <a:off x="6080822" y="5074920"/>
            <a:ext cx="2514600" cy="960000"/>
          </a:xfrm>
          <a:prstGeom prst="roundRect">
            <a:avLst>
              <a:gd fmla="val 6000" name="adj"/>
            </a:avLst>
          </a:prstGeom>
          <a:solidFill>
            <a:srgbClr val="063659"/>
          </a:solidFill>
          <a:ln cap="flat" cmpd="sng" w="12700">
            <a:solidFill>
              <a:srgbClr val="04263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763" name="Google Shape;763;h3fbf580b30600811_1_272"/>
          <p:cNvSpPr txBox="1"/>
          <p:nvPr/>
        </p:nvSpPr>
        <p:spPr>
          <a:xfrm>
            <a:off x="6309425" y="5166360"/>
            <a:ext cx="1097400" cy="215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400">
                <a:solidFill>
                  <a:srgbClr val="6CC0D2"/>
                </a:solidFill>
                <a:latin typeface="IBM Plex Sans"/>
                <a:ea typeface="IBM Plex Sans"/>
                <a:cs typeface="IBM Plex Sans"/>
                <a:sym typeface="IBM Plex Sans"/>
              </a:rPr>
              <a:t>q99</a:t>
            </a:r>
            <a:endParaRPr/>
          </a:p>
        </p:txBody>
      </p:sp>
      <p:sp>
        <p:nvSpPr>
          <p:cNvPr id="764" name="Google Shape;764;h3fbf580b30600811_1_272"/>
          <p:cNvSpPr txBox="1"/>
          <p:nvPr/>
        </p:nvSpPr>
        <p:spPr>
          <a:xfrm>
            <a:off x="6309425" y="5468112"/>
            <a:ext cx="2103000" cy="369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2400">
                <a:solidFill>
                  <a:srgbClr val="FFFFFF"/>
                </a:solidFill>
                <a:latin typeface="Geist Mono"/>
                <a:ea typeface="Geist Mono"/>
                <a:cs typeface="Geist Mono"/>
                <a:sym typeface="Geist Mono"/>
              </a:rPr>
              <a:t>9,5</a:t>
            </a:r>
            <a:endParaRPr/>
          </a:p>
        </p:txBody>
      </p:sp>
      <p:sp>
        <p:nvSpPr>
          <p:cNvPr id="765" name="Google Shape;765;h3fbf580b30600811_1_272"/>
          <p:cNvSpPr txBox="1"/>
          <p:nvPr/>
        </p:nvSpPr>
        <p:spPr>
          <a:xfrm>
            <a:off x="7406716" y="5559552"/>
            <a:ext cx="1097400" cy="184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lang="en-US" sz="1200">
                <a:solidFill>
                  <a:srgbClr val="BBD7EA"/>
                </a:solidFill>
                <a:latin typeface="IBM Plex Sans"/>
                <a:ea typeface="IBM Plex Sans"/>
                <a:cs typeface="IBM Plex Sans"/>
                <a:sym typeface="IBM Plex Sans"/>
              </a:rPr>
              <a:t>114 / Jahr</a:t>
            </a:r>
            <a:endParaRPr/>
          </a:p>
        </p:txBody>
      </p:sp>
      <p:sp>
        <p:nvSpPr>
          <p:cNvPr id="766" name="Google Shape;766;h3fbf580b30600811_1_272"/>
          <p:cNvSpPr/>
          <p:nvPr/>
        </p:nvSpPr>
        <p:spPr>
          <a:xfrm>
            <a:off x="8778330" y="5074920"/>
            <a:ext cx="2514600" cy="960000"/>
          </a:xfrm>
          <a:prstGeom prst="roundRect">
            <a:avLst>
              <a:gd fmla="val 6000" name="adj"/>
            </a:avLst>
          </a:prstGeom>
          <a:solidFill>
            <a:srgbClr val="F1F4F7"/>
          </a:solidFill>
          <a:ln cap="flat" cmpd="sng" w="12700">
            <a:solidFill>
              <a:srgbClr val="D2DA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BM Plex Sans"/>
              <a:ea typeface="IBM Plex Sans"/>
              <a:cs typeface="IBM Plex Sans"/>
              <a:sym typeface="IBM Plex Sans"/>
            </a:endParaRPr>
          </a:p>
        </p:txBody>
      </p:sp>
      <p:sp>
        <p:nvSpPr>
          <p:cNvPr id="767" name="Google Shape;767;h3fbf580b30600811_1_272"/>
          <p:cNvSpPr txBox="1"/>
          <p:nvPr/>
        </p:nvSpPr>
        <p:spPr>
          <a:xfrm>
            <a:off x="9006932" y="5166360"/>
            <a:ext cx="1097400" cy="215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400">
                <a:solidFill>
                  <a:srgbClr val="4E5A68"/>
                </a:solidFill>
                <a:latin typeface="IBM Plex Sans"/>
                <a:ea typeface="IBM Plex Sans"/>
                <a:cs typeface="IBM Plex Sans"/>
                <a:sym typeface="IBM Plex Sans"/>
              </a:rPr>
              <a:t>q99,5</a:t>
            </a:r>
            <a:endParaRPr/>
          </a:p>
        </p:txBody>
      </p:sp>
      <p:sp>
        <p:nvSpPr>
          <p:cNvPr id="768" name="Google Shape;768;h3fbf580b30600811_1_272"/>
          <p:cNvSpPr txBox="1"/>
          <p:nvPr/>
        </p:nvSpPr>
        <p:spPr>
          <a:xfrm>
            <a:off x="9006932" y="5468112"/>
            <a:ext cx="2103000" cy="369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2400">
                <a:solidFill>
                  <a:srgbClr val="141A21"/>
                </a:solidFill>
                <a:latin typeface="Geist Mono"/>
                <a:ea typeface="Geist Mono"/>
                <a:cs typeface="Geist Mono"/>
                <a:sym typeface="Geist Mono"/>
              </a:rPr>
              <a:t>5,8</a:t>
            </a:r>
            <a:endParaRPr/>
          </a:p>
        </p:txBody>
      </p:sp>
      <p:sp>
        <p:nvSpPr>
          <p:cNvPr id="769" name="Google Shape;769;h3fbf580b30600811_1_272"/>
          <p:cNvSpPr txBox="1"/>
          <p:nvPr/>
        </p:nvSpPr>
        <p:spPr>
          <a:xfrm>
            <a:off x="10104224" y="5559552"/>
            <a:ext cx="1097400" cy="184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lang="en-US" sz="1200">
                <a:solidFill>
                  <a:srgbClr val="4E5A68"/>
                </a:solidFill>
                <a:latin typeface="IBM Plex Sans"/>
                <a:ea typeface="IBM Plex Sans"/>
                <a:cs typeface="IBM Plex Sans"/>
                <a:sym typeface="IBM Plex Sans"/>
              </a:rPr>
              <a:t>69 / Jahr</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74" name="Shape 774"/>
        <p:cNvGrpSpPr/>
        <p:nvPr/>
      </p:nvGrpSpPr>
      <p:grpSpPr>
        <a:xfrm>
          <a:off x="0" y="0"/>
          <a:ext cx="0" cy="0"/>
          <a:chOff x="0" y="0"/>
          <a:chExt cx="0" cy="0"/>
        </a:xfrm>
      </p:grpSpPr>
      <p:sp>
        <p:nvSpPr>
          <p:cNvPr id="775" name="Google Shape;775;h3fbf580b30600811_1_308"/>
          <p:cNvSpPr txBox="1"/>
          <p:nvPr/>
        </p:nvSpPr>
        <p:spPr>
          <a:xfrm>
            <a:off x="685807" y="438912"/>
            <a:ext cx="9601200" cy="184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lang="en-US" sz="1200">
                <a:solidFill>
                  <a:srgbClr val="00718E"/>
                </a:solidFill>
                <a:latin typeface="IBM Plex Sans"/>
                <a:ea typeface="IBM Plex Sans"/>
                <a:cs typeface="IBM Plex Sans"/>
                <a:sym typeface="IBM Plex Sans"/>
              </a:rPr>
              <a:t>BACKUP · VERBRAUCHS-COCKPIT · PRÜFFALL</a:t>
            </a:r>
            <a:endParaRPr/>
          </a:p>
        </p:txBody>
      </p:sp>
      <p:sp>
        <p:nvSpPr>
          <p:cNvPr id="776" name="Google Shape;776;h3fbf580b30600811_1_308"/>
          <p:cNvSpPr txBox="1"/>
          <p:nvPr/>
        </p:nvSpPr>
        <p:spPr>
          <a:xfrm>
            <a:off x="685807" y="731520"/>
            <a:ext cx="10820400" cy="4617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lang="en-US" sz="3000">
                <a:solidFill>
                  <a:srgbClr val="141A21"/>
                </a:solidFill>
                <a:latin typeface="IBM Plex Sans"/>
                <a:ea typeface="IBM Plex Sans"/>
                <a:cs typeface="IBM Plex Sans"/>
                <a:sym typeface="IBM Plex Sans"/>
              </a:rPr>
              <a:t>Ein Prüffall auf einen Blick: Erwartung, Messung, Toleranz</a:t>
            </a:r>
            <a:endParaRPr/>
          </a:p>
        </p:txBody>
      </p:sp>
      <p:cxnSp>
        <p:nvCxnSpPr>
          <p:cNvPr id="777" name="Google Shape;777;h3fbf580b30600811_1_308"/>
          <p:cNvCxnSpPr/>
          <p:nvPr/>
        </p:nvCxnSpPr>
        <p:spPr>
          <a:xfrm>
            <a:off x="685807" y="6336792"/>
            <a:ext cx="10820400" cy="0"/>
          </a:xfrm>
          <a:prstGeom prst="straightConnector1">
            <a:avLst/>
          </a:prstGeom>
          <a:noFill/>
          <a:ln cap="flat" cmpd="sng" w="9525">
            <a:solidFill>
              <a:srgbClr val="E4E9EF"/>
            </a:solidFill>
            <a:prstDash val="solid"/>
            <a:round/>
            <a:headEnd len="sm" w="sm" type="none"/>
            <a:tailEnd len="sm" w="sm" type="none"/>
          </a:ln>
        </p:spPr>
      </p:cxnSp>
      <p:pic>
        <p:nvPicPr>
          <p:cNvPr descr="logo-sww-wordmark.png" id="778" name="Google Shape;778;h3fbf580b30600811_1_308"/>
          <p:cNvPicPr preferRelativeResize="0"/>
          <p:nvPr/>
        </p:nvPicPr>
        <p:blipFill rotWithShape="1">
          <a:blip r:embed="rId3">
            <a:alphaModFix/>
          </a:blip>
          <a:srcRect b="0" l="0" r="0" t="0"/>
          <a:stretch/>
        </p:blipFill>
        <p:spPr>
          <a:xfrm>
            <a:off x="685807" y="6437376"/>
            <a:ext cx="687629" cy="237744"/>
          </a:xfrm>
          <a:prstGeom prst="rect">
            <a:avLst/>
          </a:prstGeom>
          <a:noFill/>
          <a:ln>
            <a:noFill/>
          </a:ln>
        </p:spPr>
      </p:pic>
      <p:sp>
        <p:nvSpPr>
          <p:cNvPr id="779" name="Google Shape;779;h3fbf580b30600811_1_308"/>
          <p:cNvSpPr txBox="1"/>
          <p:nvPr/>
        </p:nvSpPr>
        <p:spPr>
          <a:xfrm>
            <a:off x="1920260" y="6473952"/>
            <a:ext cx="7315200" cy="169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lang="en-US" sz="1100">
                <a:solidFill>
                  <a:srgbClr val="4E5A68"/>
                </a:solidFill>
                <a:latin typeface="IBM Plex Sans"/>
                <a:ea typeface="IBM Plex Sans"/>
                <a:cs typeface="IBM Plex Sans"/>
                <a:sym typeface="IBM Plex Sans"/>
              </a:rPr>
              <a:t>Verbrauchsprognose &amp; Frühwarnung · Patrick Olmo Hederer</a:t>
            </a:r>
            <a:endParaRPr/>
          </a:p>
        </p:txBody>
      </p:sp>
      <p:sp>
        <p:nvSpPr>
          <p:cNvPr id="780" name="Google Shape;780;h3fbf580b30600811_1_308"/>
          <p:cNvSpPr txBox="1"/>
          <p:nvPr/>
        </p:nvSpPr>
        <p:spPr>
          <a:xfrm>
            <a:off x="10591908" y="6473952"/>
            <a:ext cx="914400" cy="169200"/>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None/>
            </a:pPr>
            <a:r>
              <a:rPr b="0" lang="en-US" sz="1100">
                <a:solidFill>
                  <a:srgbClr val="4E5A68"/>
                </a:solidFill>
                <a:latin typeface="Geist Mono"/>
                <a:ea typeface="Geist Mono"/>
                <a:cs typeface="Geist Mono"/>
                <a:sym typeface="Geist Mono"/>
              </a:rPr>
              <a:t>B3</a:t>
            </a:r>
            <a:endParaRPr/>
          </a:p>
        </p:txBody>
      </p:sp>
      <p:pic>
        <p:nvPicPr>
          <p:cNvPr descr="prueffall_crop.png" id="781" name="Google Shape;781;h3fbf580b30600811_1_308"/>
          <p:cNvPicPr preferRelativeResize="0"/>
          <p:nvPr/>
        </p:nvPicPr>
        <p:blipFill rotWithShape="1">
          <a:blip r:embed="rId4">
            <a:alphaModFix/>
          </a:blip>
          <a:srcRect b="0" l="0" r="0" t="0"/>
          <a:stretch/>
        </p:blipFill>
        <p:spPr>
          <a:xfrm>
            <a:off x="685807" y="1828800"/>
            <a:ext cx="7894319" cy="3563408"/>
          </a:xfrm>
          <a:prstGeom prst="rect">
            <a:avLst/>
          </a:prstGeom>
          <a:noFill/>
          <a:ln cap="flat" cmpd="sng" w="12700">
            <a:solidFill>
              <a:srgbClr val="D2DAE2"/>
            </a:solidFill>
            <a:prstDash val="solid"/>
            <a:round/>
            <a:headEnd len="sm" w="sm" type="none"/>
            <a:tailEnd len="sm" w="sm" type="none"/>
          </a:ln>
        </p:spPr>
      </p:pic>
      <p:sp>
        <p:nvSpPr>
          <p:cNvPr id="782" name="Google Shape;782;h3fbf580b30600811_1_308"/>
          <p:cNvSpPr txBox="1"/>
          <p:nvPr/>
        </p:nvSpPr>
        <p:spPr>
          <a:xfrm>
            <a:off x="8900250" y="1874519"/>
            <a:ext cx="2606100" cy="1662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lang="en-US" sz="1600">
                <a:solidFill>
                  <a:srgbClr val="4E5A68"/>
                </a:solidFill>
                <a:latin typeface="IBM Plex Sans"/>
                <a:ea typeface="IBM Plex Sans"/>
                <a:cs typeface="IBM Plex Sans"/>
                <a:sym typeface="IBM Plex Sans"/>
              </a:rPr>
              <a:t>ZL-00337 · 12/2025: gemessen 123.244 kWh statt erwartet 33.711 kWh – die Toleranz dieses Anschlusses ist 4-fach überschritten.</a:t>
            </a:r>
            <a:endParaRPr/>
          </a:p>
        </p:txBody>
      </p:sp>
      <p:sp>
        <p:nvSpPr>
          <p:cNvPr id="783" name="Google Shape;783;h3fbf580b30600811_1_308">
            <a:hlinkClick r:id="rId5"/>
          </p:cNvPr>
          <p:cNvSpPr/>
          <p:nvPr/>
        </p:nvSpPr>
        <p:spPr>
          <a:xfrm>
            <a:off x="8900250" y="3931920"/>
            <a:ext cx="2606100" cy="384000"/>
          </a:xfrm>
          <a:prstGeom prst="roundRect">
            <a:avLst>
              <a:gd fmla="val 50000" name="adj"/>
            </a:avLst>
          </a:prstGeom>
          <a:solidFill>
            <a:srgbClr val="FFFFFF"/>
          </a:solidFill>
          <a:ln cap="flat" cmpd="sng" w="12700">
            <a:solidFill>
              <a:srgbClr val="0080A0"/>
            </a:solidFill>
            <a:prstDash val="solid"/>
            <a:round/>
            <a:headEnd len="sm" w="sm" type="none"/>
            <a:tailEnd len="sm" w="sm" type="none"/>
          </a:ln>
        </p:spPr>
        <p:txBody>
          <a:bodyPr anchorCtr="0" anchor="ctr" bIns="0" lIns="91425" spcFirstLastPara="1" rIns="91425" wrap="square" tIns="0">
            <a:noAutofit/>
          </a:bodyPr>
          <a:lstStyle/>
          <a:p>
            <a:pPr indent="0" lvl="0" marL="0" marR="0" rtl="0" algn="ctr">
              <a:spcBef>
                <a:spcPts val="0"/>
              </a:spcBef>
              <a:spcAft>
                <a:spcPts val="0"/>
              </a:spcAft>
              <a:buNone/>
            </a:pPr>
            <a:r>
              <a:rPr b="1" lang="en-US" sz="1400">
                <a:solidFill>
                  <a:srgbClr val="00718E"/>
                </a:solidFill>
                <a:latin typeface="IBM Plex Sans"/>
                <a:ea typeface="IBM Plex Sans"/>
                <a:cs typeface="IBM Plex Sans"/>
                <a:sym typeface="IBM Plex Sans"/>
              </a:rPr>
              <a:t>Cockpit öffnen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88" name="Shape 788"/>
        <p:cNvGrpSpPr/>
        <p:nvPr/>
      </p:nvGrpSpPr>
      <p:grpSpPr>
        <a:xfrm>
          <a:off x="0" y="0"/>
          <a:ext cx="0" cy="0"/>
          <a:chOff x="0" y="0"/>
          <a:chExt cx="0" cy="0"/>
        </a:xfrm>
      </p:grpSpPr>
      <p:sp>
        <p:nvSpPr>
          <p:cNvPr id="789" name="Google Shape;789;h510714b4cc47d3b6_0_937"/>
          <p:cNvSpPr txBox="1"/>
          <p:nvPr/>
        </p:nvSpPr>
        <p:spPr>
          <a:xfrm>
            <a:off x="685806" y="457200"/>
            <a:ext cx="8591400" cy="1905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None/>
            </a:pPr>
            <a:r>
              <a:rPr b="1" i="0" lang="en-US" sz="1200" u="none" cap="none" strike="noStrike">
                <a:solidFill>
                  <a:srgbClr val="00718E"/>
                </a:solidFill>
                <a:latin typeface="IBM Plex Sans"/>
                <a:ea typeface="IBM Plex Sans"/>
                <a:cs typeface="IBM Plex Sans"/>
                <a:sym typeface="IBM Plex Sans"/>
              </a:rPr>
              <a:t>BACKUP · MODELLWAHL · KIKO</a:t>
            </a:r>
            <a:endParaRPr/>
          </a:p>
        </p:txBody>
      </p:sp>
      <p:sp>
        <p:nvSpPr>
          <p:cNvPr id="790" name="Google Shape;790;h510714b4cc47d3b6_0_937"/>
          <p:cNvSpPr txBox="1"/>
          <p:nvPr/>
        </p:nvSpPr>
        <p:spPr>
          <a:xfrm>
            <a:off x="685806" y="762000"/>
            <a:ext cx="10820400" cy="438300"/>
          </a:xfrm>
          <a:prstGeom prst="rect">
            <a:avLst/>
          </a:prstGeom>
          <a:noFill/>
          <a:ln>
            <a:noFill/>
          </a:ln>
        </p:spPr>
        <p:txBody>
          <a:bodyPr anchorCtr="0" anchor="t" bIns="0" lIns="0" spcFirstLastPara="1" rIns="0" wrap="square" tIns="0">
            <a:noAutofit/>
          </a:bodyPr>
          <a:lstStyle/>
          <a:p>
            <a:pPr indent="0" lvl="0" marL="0" marR="0" rtl="0" algn="l">
              <a:lnSpc>
                <a:spcPct val="112529"/>
              </a:lnSpc>
              <a:spcBef>
                <a:spcPts val="0"/>
              </a:spcBef>
              <a:spcAft>
                <a:spcPts val="0"/>
              </a:spcAft>
              <a:buNone/>
            </a:pPr>
            <a:r>
              <a:rPr b="1" i="0" lang="en-US" sz="2953" u="none" cap="none" strike="noStrike">
                <a:solidFill>
                  <a:srgbClr val="141A21"/>
                </a:solidFill>
                <a:latin typeface="IBM Plex Sans"/>
                <a:ea typeface="IBM Plex Sans"/>
                <a:cs typeface="IBM Plex Sans"/>
                <a:sym typeface="IBM Plex Sans"/>
              </a:rPr>
              <a:t>Acht kontrollierte Kombinationen, entschieden nur in 2024</a:t>
            </a:r>
            <a:endParaRPr/>
          </a:p>
        </p:txBody>
      </p:sp>
      <p:graphicFrame>
        <p:nvGraphicFramePr>
          <p:cNvPr id="791" name="Google Shape;791;h510714b4cc47d3b6_0_937"/>
          <p:cNvGraphicFramePr/>
          <p:nvPr/>
        </p:nvGraphicFramePr>
        <p:xfrm>
          <a:off x="685806" y="1524000"/>
          <a:ext cx="3000000" cy="3000000"/>
        </p:xfrm>
        <a:graphic>
          <a:graphicData uri="http://schemas.openxmlformats.org/drawingml/2006/table">
            <a:tbl>
              <a:tblPr>
                <a:noFill/>
                <a:tableStyleId>{1020491D-08E3-4181-921C-9FBC3C191FCD}</a:tableStyleId>
              </a:tblPr>
              <a:tblGrid>
                <a:gridCol w="1905025"/>
                <a:gridCol w="1905025"/>
                <a:gridCol w="2095525"/>
                <a:gridCol w="2381275"/>
                <a:gridCol w="2533675"/>
              </a:tblGrid>
              <a:tr h="457200">
                <a:tc>
                  <a:txBody>
                    <a:bodyPr/>
                    <a:lstStyle/>
                    <a:p>
                      <a:pPr indent="0" lvl="0" marL="0" marR="0" rtl="0" algn="l">
                        <a:lnSpc>
                          <a:spcPct val="130000"/>
                        </a:lnSpc>
                        <a:spcBef>
                          <a:spcPts val="0"/>
                        </a:spcBef>
                        <a:spcAft>
                          <a:spcPts val="0"/>
                        </a:spcAft>
                        <a:buNone/>
                      </a:pPr>
                      <a:r>
                        <a:rPr b="1" i="0" lang="en-US" sz="1200" u="none" cap="none" strike="noStrike">
                          <a:solidFill>
                            <a:srgbClr val="FFFFFF"/>
                          </a:solidFill>
                          <a:latin typeface="IBM Plex Sans"/>
                          <a:ea typeface="IBM Plex Sans"/>
                          <a:cs typeface="IBM Plex Sans"/>
                          <a:sym typeface="IBM Plex Sans"/>
                        </a:rPr>
                        <a:t>Baumtiefe</a:t>
                      </a:r>
                      <a:endParaRPr/>
                    </a:p>
                  </a:txBody>
                  <a:tcPr marT="38100" marB="38100" marR="114300" marL="114300" anchor="ctr">
                    <a:lnL cap="flat" cmpd="sng" w="9525">
                      <a:solidFill>
                        <a:srgbClr val="D2DAE2"/>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2DAE2"/>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4263F"/>
                    </a:solidFill>
                  </a:tcPr>
                </a:tc>
                <a:tc>
                  <a:txBody>
                    <a:bodyPr/>
                    <a:lstStyle/>
                    <a:p>
                      <a:pPr indent="0" lvl="0" marL="0" marR="0" rtl="0" algn="l">
                        <a:lnSpc>
                          <a:spcPct val="130000"/>
                        </a:lnSpc>
                        <a:spcBef>
                          <a:spcPts val="0"/>
                        </a:spcBef>
                        <a:spcAft>
                          <a:spcPts val="0"/>
                        </a:spcAft>
                        <a:buNone/>
                      </a:pPr>
                      <a:r>
                        <a:rPr b="1" i="0" lang="en-US" sz="1200" u="none" cap="none" strike="noStrike">
                          <a:solidFill>
                            <a:srgbClr val="FFFFFF"/>
                          </a:solidFill>
                          <a:latin typeface="IBM Plex Sans"/>
                          <a:ea typeface="IBM Plex Sans"/>
                          <a:cs typeface="IBM Plex Sans"/>
                          <a:sym typeface="IBM Plex Sans"/>
                        </a:rPr>
                        <a:t>Merkmalsanteil</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2DAE2"/>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4263F"/>
                    </a:solidFill>
                  </a:tcPr>
                </a:tc>
                <a:tc>
                  <a:txBody>
                    <a:bodyPr/>
                    <a:lstStyle/>
                    <a:p>
                      <a:pPr indent="0" lvl="0" marL="0" marR="0" rtl="0" algn="l">
                        <a:lnSpc>
                          <a:spcPct val="130000"/>
                        </a:lnSpc>
                        <a:spcBef>
                          <a:spcPts val="0"/>
                        </a:spcBef>
                        <a:spcAft>
                          <a:spcPts val="0"/>
                        </a:spcAft>
                        <a:buNone/>
                      </a:pPr>
                      <a:r>
                        <a:rPr b="1" i="0" lang="en-US" sz="1200" u="none" cap="none" strike="noStrike">
                          <a:solidFill>
                            <a:srgbClr val="FFFFFF"/>
                          </a:solidFill>
                          <a:latin typeface="IBM Plex Sans"/>
                          <a:ea typeface="IBM Plex Sans"/>
                          <a:cs typeface="IBM Plex Sans"/>
                          <a:sym typeface="IBM Plex Sans"/>
                        </a:rPr>
                        <a:t>Min. Fälle je Blatt</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2DAE2"/>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4263F"/>
                    </a:solidFill>
                  </a:tcPr>
                </a:tc>
                <a:tc>
                  <a:txBody>
                    <a:bodyPr/>
                    <a:lstStyle/>
                    <a:p>
                      <a:pPr indent="0" lvl="0" marL="0" marR="0" rtl="0" algn="l">
                        <a:lnSpc>
                          <a:spcPct val="130000"/>
                        </a:lnSpc>
                        <a:spcBef>
                          <a:spcPts val="0"/>
                        </a:spcBef>
                        <a:spcAft>
                          <a:spcPts val="0"/>
                        </a:spcAft>
                        <a:buNone/>
                      </a:pPr>
                      <a:r>
                        <a:rPr b="1" i="0" lang="en-US" sz="1200" u="none" cap="none" strike="noStrike">
                          <a:solidFill>
                            <a:srgbClr val="FFFFFF"/>
                          </a:solidFill>
                          <a:latin typeface="IBM Plex Sans"/>
                          <a:ea typeface="IBM Plex Sans"/>
                          <a:cs typeface="IBM Plex Sans"/>
                          <a:sym typeface="IBM Plex Sans"/>
                        </a:rPr>
                        <a:t>CV-RMSE (kWh)</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2DAE2"/>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4263F"/>
                    </a:solidFill>
                  </a:tcPr>
                </a:tc>
                <a:tc>
                  <a:txBody>
                    <a:bodyPr/>
                    <a:lstStyle/>
                    <a:p>
                      <a:pPr indent="0" lvl="0" marL="0" marR="0" rtl="0" algn="l">
                        <a:lnSpc>
                          <a:spcPct val="130000"/>
                        </a:lnSpc>
                        <a:spcBef>
                          <a:spcPts val="0"/>
                        </a:spcBef>
                        <a:spcAft>
                          <a:spcPts val="0"/>
                        </a:spcAft>
                        <a:buNone/>
                      </a:pPr>
                      <a:r>
                        <a:rPr b="1" i="0" lang="en-US" sz="1200" u="none" cap="none" strike="noStrike">
                          <a:solidFill>
                            <a:srgbClr val="FFFFFF"/>
                          </a:solidFill>
                          <a:latin typeface="IBM Plex Sans"/>
                          <a:ea typeface="IBM Plex Sans"/>
                          <a:cs typeface="IBM Plex Sans"/>
                          <a:sym typeface="IBM Plex Sans"/>
                        </a:rPr>
                        <a:t>Fold-Streuung (Std., kWh)</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D2DAE2"/>
                      </a:solidFill>
                      <a:prstDash val="solid"/>
                      <a:round/>
                      <a:headEnd len="sm" w="sm" type="none"/>
                      <a:tailEnd len="sm" w="sm" type="none"/>
                    </a:lnR>
                    <a:lnT cap="flat" cmpd="sng" w="9525">
                      <a:solidFill>
                        <a:srgbClr val="D2DAE2"/>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4263F"/>
                    </a:solidFill>
                  </a:tcPr>
                </a:tc>
              </a:tr>
              <a:tr h="419100">
                <a:tc>
                  <a:txBody>
                    <a:bodyPr/>
                    <a:lstStyle/>
                    <a:p>
                      <a:pPr indent="0" lvl="0" marL="0" marR="0" rtl="0" algn="l">
                        <a:lnSpc>
                          <a:spcPct val="129960"/>
                        </a:lnSpc>
                        <a:spcBef>
                          <a:spcPts val="0"/>
                        </a:spcBef>
                        <a:spcAft>
                          <a:spcPts val="0"/>
                        </a:spcAft>
                        <a:buNone/>
                      </a:pPr>
                      <a:r>
                        <a:rPr b="0" i="0" lang="en-US" sz="1275" u="none" cap="none" strike="noStrike">
                          <a:solidFill>
                            <a:srgbClr val="141A21"/>
                          </a:solidFill>
                          <a:latin typeface="IBM Plex Sans"/>
                          <a:ea typeface="IBM Plex Sans"/>
                          <a:cs typeface="IBM Plex Sans"/>
                          <a:sym typeface="IBM Plex Sans"/>
                        </a:rPr>
                        <a:t>8</a:t>
                      </a:r>
                      <a:endParaRPr/>
                    </a:p>
                  </a:txBody>
                  <a:tcPr marT="38100" marB="38100" marR="114300" marL="114300" anchor="ctr">
                    <a:lnL cap="flat" cmpd="sng" w="9525">
                      <a:solidFill>
                        <a:srgbClr val="D2DAE2"/>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E3F3F7"/>
                    </a:solidFill>
                  </a:tcPr>
                </a:tc>
                <a:tc>
                  <a:txBody>
                    <a:bodyPr/>
                    <a:lstStyle/>
                    <a:p>
                      <a:pPr indent="0" lvl="0" marL="0" marR="0" rtl="0" algn="l">
                        <a:lnSpc>
                          <a:spcPct val="129960"/>
                        </a:lnSpc>
                        <a:spcBef>
                          <a:spcPts val="0"/>
                        </a:spcBef>
                        <a:spcAft>
                          <a:spcPts val="0"/>
                        </a:spcAft>
                        <a:buNone/>
                      </a:pPr>
                      <a:r>
                        <a:rPr b="0" i="0" lang="en-US" sz="1275" u="none" cap="none" strike="noStrike">
                          <a:solidFill>
                            <a:srgbClr val="141A21"/>
                          </a:solidFill>
                          <a:latin typeface="IBM Plex Sans"/>
                          <a:ea typeface="IBM Plex Sans"/>
                          <a:cs typeface="IBM Plex Sans"/>
                          <a:sym typeface="IBM Plex Sans"/>
                        </a:rPr>
                        <a:t>0,7</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E3F3F7"/>
                    </a:solidFill>
                  </a:tcPr>
                </a:tc>
                <a:tc>
                  <a:txBody>
                    <a:bodyPr/>
                    <a:lstStyle/>
                    <a:p>
                      <a:pPr indent="0" lvl="0" marL="0" marR="0" rtl="0" algn="l">
                        <a:lnSpc>
                          <a:spcPct val="129960"/>
                        </a:lnSpc>
                        <a:spcBef>
                          <a:spcPts val="0"/>
                        </a:spcBef>
                        <a:spcAft>
                          <a:spcPts val="0"/>
                        </a:spcAft>
                        <a:buNone/>
                      </a:pPr>
                      <a:r>
                        <a:rPr b="0" i="0" lang="en-US" sz="1275" u="none" cap="none" strike="noStrike">
                          <a:solidFill>
                            <a:srgbClr val="141A21"/>
                          </a:solidFill>
                          <a:latin typeface="IBM Plex Sans"/>
                          <a:ea typeface="IBM Plex Sans"/>
                          <a:cs typeface="IBM Plex Sans"/>
                          <a:sym typeface="IBM Plex Sans"/>
                        </a:rPr>
                        <a:t>5</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E3F3F7"/>
                    </a:solidFill>
                  </a:tcPr>
                </a:tc>
                <a:tc>
                  <a:txBody>
                    <a:bodyPr/>
                    <a:lstStyle/>
                    <a:p>
                      <a:pPr indent="0" lvl="0" marL="0" marR="0" rtl="0" algn="r">
                        <a:lnSpc>
                          <a:spcPct val="129960"/>
                        </a:lnSpc>
                        <a:spcBef>
                          <a:spcPts val="0"/>
                        </a:spcBef>
                        <a:spcAft>
                          <a:spcPts val="0"/>
                        </a:spcAft>
                        <a:buNone/>
                      </a:pPr>
                      <a:r>
                        <a:rPr b="0" i="0" lang="en-US" sz="1275" u="none" cap="none" strike="noStrike">
                          <a:solidFill>
                            <a:srgbClr val="141A21"/>
                          </a:solidFill>
                          <a:latin typeface="IBM Plex Sans"/>
                          <a:ea typeface="IBM Plex Sans"/>
                          <a:cs typeface="IBM Plex Sans"/>
                          <a:sym typeface="IBM Plex Sans"/>
                        </a:rPr>
                        <a:t>13.272</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E3F3F7"/>
                    </a:solidFill>
                  </a:tcPr>
                </a:tc>
                <a:tc>
                  <a:txBody>
                    <a:bodyPr/>
                    <a:lstStyle/>
                    <a:p>
                      <a:pPr indent="0" lvl="0" marL="0" marR="0" rtl="0" algn="r">
                        <a:lnSpc>
                          <a:spcPct val="129960"/>
                        </a:lnSpc>
                        <a:spcBef>
                          <a:spcPts val="0"/>
                        </a:spcBef>
                        <a:spcAft>
                          <a:spcPts val="0"/>
                        </a:spcAft>
                        <a:buNone/>
                      </a:pPr>
                      <a:r>
                        <a:rPr b="0" i="0" lang="en-US" sz="1275" u="none" cap="none" strike="noStrike">
                          <a:solidFill>
                            <a:srgbClr val="141A21"/>
                          </a:solidFill>
                          <a:latin typeface="IBM Plex Sans"/>
                          <a:ea typeface="IBM Plex Sans"/>
                          <a:cs typeface="IBM Plex Sans"/>
                          <a:sym typeface="IBM Plex Sans"/>
                        </a:rPr>
                        <a:t>3.843</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D2DAE2"/>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E3F3F7"/>
                    </a:solidFill>
                  </a:tcPr>
                </a:tc>
              </a:tr>
              <a:tr h="419100">
                <a:tc>
                  <a:txBody>
                    <a:bodyPr/>
                    <a:lstStyle/>
                    <a:p>
                      <a:pPr indent="0" lvl="0" marL="0" marR="0" rtl="0" algn="l">
                        <a:lnSpc>
                          <a:spcPct val="129960"/>
                        </a:lnSpc>
                        <a:spcBef>
                          <a:spcPts val="0"/>
                        </a:spcBef>
                        <a:spcAft>
                          <a:spcPts val="0"/>
                        </a:spcAft>
                        <a:buNone/>
                      </a:pPr>
                      <a:r>
                        <a:rPr b="0" i="0" lang="en-US" sz="1275" u="none" cap="none" strike="noStrike">
                          <a:solidFill>
                            <a:srgbClr val="141A21"/>
                          </a:solidFill>
                          <a:latin typeface="IBM Plex Sans"/>
                          <a:ea typeface="IBM Plex Sans"/>
                          <a:cs typeface="IBM Plex Sans"/>
                          <a:sym typeface="IBM Plex Sans"/>
                        </a:rPr>
                        <a:t>unbegrenzt</a:t>
                      </a:r>
                      <a:endParaRPr/>
                    </a:p>
                  </a:txBody>
                  <a:tcPr marT="38100" marB="38100" marR="114300" marL="114300" anchor="ctr">
                    <a:lnL cap="flat" cmpd="sng" w="9525">
                      <a:solidFill>
                        <a:srgbClr val="D2DAE2"/>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FFFFFF"/>
                    </a:solidFill>
                  </a:tcPr>
                </a:tc>
                <a:tc>
                  <a:txBody>
                    <a:bodyPr/>
                    <a:lstStyle/>
                    <a:p>
                      <a:pPr indent="0" lvl="0" marL="0" marR="0" rtl="0" algn="l">
                        <a:lnSpc>
                          <a:spcPct val="129960"/>
                        </a:lnSpc>
                        <a:spcBef>
                          <a:spcPts val="0"/>
                        </a:spcBef>
                        <a:spcAft>
                          <a:spcPts val="0"/>
                        </a:spcAft>
                        <a:buNone/>
                      </a:pPr>
                      <a:r>
                        <a:rPr b="0" i="0" lang="en-US" sz="1275" u="none" cap="none" strike="noStrike">
                          <a:solidFill>
                            <a:srgbClr val="141A21"/>
                          </a:solidFill>
                          <a:latin typeface="IBM Plex Sans"/>
                          <a:ea typeface="IBM Plex Sans"/>
                          <a:cs typeface="IBM Plex Sans"/>
                          <a:sym typeface="IBM Plex Sans"/>
                        </a:rPr>
                        <a:t>0,7</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FFFFFF"/>
                    </a:solidFill>
                  </a:tcPr>
                </a:tc>
                <a:tc>
                  <a:txBody>
                    <a:bodyPr/>
                    <a:lstStyle/>
                    <a:p>
                      <a:pPr indent="0" lvl="0" marL="0" marR="0" rtl="0" algn="l">
                        <a:lnSpc>
                          <a:spcPct val="129960"/>
                        </a:lnSpc>
                        <a:spcBef>
                          <a:spcPts val="0"/>
                        </a:spcBef>
                        <a:spcAft>
                          <a:spcPts val="0"/>
                        </a:spcAft>
                        <a:buNone/>
                      </a:pPr>
                      <a:r>
                        <a:rPr b="0" i="0" lang="en-US" sz="1275" u="none" cap="none" strike="noStrike">
                          <a:solidFill>
                            <a:srgbClr val="141A21"/>
                          </a:solidFill>
                          <a:latin typeface="IBM Plex Sans"/>
                          <a:ea typeface="IBM Plex Sans"/>
                          <a:cs typeface="IBM Plex Sans"/>
                          <a:sym typeface="IBM Plex Sans"/>
                        </a:rPr>
                        <a:t>5</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FFFFFF"/>
                    </a:solidFill>
                  </a:tcPr>
                </a:tc>
                <a:tc>
                  <a:txBody>
                    <a:bodyPr/>
                    <a:lstStyle/>
                    <a:p>
                      <a:pPr indent="0" lvl="0" marL="0" marR="0" rtl="0" algn="r">
                        <a:lnSpc>
                          <a:spcPct val="129960"/>
                        </a:lnSpc>
                        <a:spcBef>
                          <a:spcPts val="0"/>
                        </a:spcBef>
                        <a:spcAft>
                          <a:spcPts val="0"/>
                        </a:spcAft>
                        <a:buNone/>
                      </a:pPr>
                      <a:r>
                        <a:rPr b="0" i="0" lang="en-US" sz="1275" u="none" cap="none" strike="noStrike">
                          <a:solidFill>
                            <a:srgbClr val="141A21"/>
                          </a:solidFill>
                          <a:latin typeface="IBM Plex Sans"/>
                          <a:ea typeface="IBM Plex Sans"/>
                          <a:cs typeface="IBM Plex Sans"/>
                          <a:sym typeface="IBM Plex Sans"/>
                        </a:rPr>
                        <a:t>13.331</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FFFFFF"/>
                    </a:solidFill>
                  </a:tcPr>
                </a:tc>
                <a:tc>
                  <a:txBody>
                    <a:bodyPr/>
                    <a:lstStyle/>
                    <a:p>
                      <a:pPr indent="0" lvl="0" marL="0" marR="0" rtl="0" algn="r">
                        <a:lnSpc>
                          <a:spcPct val="129960"/>
                        </a:lnSpc>
                        <a:spcBef>
                          <a:spcPts val="0"/>
                        </a:spcBef>
                        <a:spcAft>
                          <a:spcPts val="0"/>
                        </a:spcAft>
                        <a:buNone/>
                      </a:pPr>
                      <a:r>
                        <a:rPr b="0" i="0" lang="en-US" sz="1275" u="none" cap="none" strike="noStrike">
                          <a:solidFill>
                            <a:srgbClr val="141A21"/>
                          </a:solidFill>
                          <a:latin typeface="IBM Plex Sans"/>
                          <a:ea typeface="IBM Plex Sans"/>
                          <a:cs typeface="IBM Plex Sans"/>
                          <a:sym typeface="IBM Plex Sans"/>
                        </a:rPr>
                        <a:t>3.849</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D2DAE2"/>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FFFFFF"/>
                    </a:solidFill>
                  </a:tcPr>
                </a:tc>
              </a:tr>
              <a:tr h="419100">
                <a:tc>
                  <a:txBody>
                    <a:bodyPr/>
                    <a:lstStyle/>
                    <a:p>
                      <a:pPr indent="0" lvl="0" marL="0" marR="0" rtl="0" algn="l">
                        <a:lnSpc>
                          <a:spcPct val="129960"/>
                        </a:lnSpc>
                        <a:spcBef>
                          <a:spcPts val="0"/>
                        </a:spcBef>
                        <a:spcAft>
                          <a:spcPts val="0"/>
                        </a:spcAft>
                        <a:buNone/>
                      </a:pPr>
                      <a:r>
                        <a:rPr b="0" i="0" lang="en-US" sz="1275" u="none" cap="none" strike="noStrike">
                          <a:solidFill>
                            <a:srgbClr val="141A21"/>
                          </a:solidFill>
                          <a:latin typeface="IBM Plex Sans"/>
                          <a:ea typeface="IBM Plex Sans"/>
                          <a:cs typeface="IBM Plex Sans"/>
                          <a:sym typeface="IBM Plex Sans"/>
                        </a:rPr>
                        <a:t>8</a:t>
                      </a:r>
                      <a:endParaRPr/>
                    </a:p>
                  </a:txBody>
                  <a:tcPr marT="38100" marB="38100" marR="114300" marL="114300" anchor="ctr">
                    <a:lnL cap="flat" cmpd="sng" w="9525">
                      <a:solidFill>
                        <a:srgbClr val="D2DAE2"/>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FFFFFF"/>
                    </a:solidFill>
                  </a:tcPr>
                </a:tc>
                <a:tc>
                  <a:txBody>
                    <a:bodyPr/>
                    <a:lstStyle/>
                    <a:p>
                      <a:pPr indent="0" lvl="0" marL="0" marR="0" rtl="0" algn="l">
                        <a:lnSpc>
                          <a:spcPct val="129960"/>
                        </a:lnSpc>
                        <a:spcBef>
                          <a:spcPts val="0"/>
                        </a:spcBef>
                        <a:spcAft>
                          <a:spcPts val="0"/>
                        </a:spcAft>
                        <a:buNone/>
                      </a:pPr>
                      <a:r>
                        <a:rPr b="0" i="0" lang="en-US" sz="1275" u="none" cap="none" strike="noStrike">
                          <a:solidFill>
                            <a:srgbClr val="141A21"/>
                          </a:solidFill>
                          <a:latin typeface="IBM Plex Sans"/>
                          <a:ea typeface="IBM Plex Sans"/>
                          <a:cs typeface="IBM Plex Sans"/>
                          <a:sym typeface="IBM Plex Sans"/>
                        </a:rPr>
                        <a:t>1,0</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FFFFFF"/>
                    </a:solidFill>
                  </a:tcPr>
                </a:tc>
                <a:tc>
                  <a:txBody>
                    <a:bodyPr/>
                    <a:lstStyle/>
                    <a:p>
                      <a:pPr indent="0" lvl="0" marL="0" marR="0" rtl="0" algn="l">
                        <a:lnSpc>
                          <a:spcPct val="129960"/>
                        </a:lnSpc>
                        <a:spcBef>
                          <a:spcPts val="0"/>
                        </a:spcBef>
                        <a:spcAft>
                          <a:spcPts val="0"/>
                        </a:spcAft>
                        <a:buNone/>
                      </a:pPr>
                      <a:r>
                        <a:rPr b="0" i="0" lang="en-US" sz="1275" u="none" cap="none" strike="noStrike">
                          <a:solidFill>
                            <a:srgbClr val="141A21"/>
                          </a:solidFill>
                          <a:latin typeface="IBM Plex Sans"/>
                          <a:ea typeface="IBM Plex Sans"/>
                          <a:cs typeface="IBM Plex Sans"/>
                          <a:sym typeface="IBM Plex Sans"/>
                        </a:rPr>
                        <a:t>5</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FFFFFF"/>
                    </a:solidFill>
                  </a:tcPr>
                </a:tc>
                <a:tc>
                  <a:txBody>
                    <a:bodyPr/>
                    <a:lstStyle/>
                    <a:p>
                      <a:pPr indent="0" lvl="0" marL="0" marR="0" rtl="0" algn="r">
                        <a:lnSpc>
                          <a:spcPct val="129960"/>
                        </a:lnSpc>
                        <a:spcBef>
                          <a:spcPts val="0"/>
                        </a:spcBef>
                        <a:spcAft>
                          <a:spcPts val="0"/>
                        </a:spcAft>
                        <a:buNone/>
                      </a:pPr>
                      <a:r>
                        <a:rPr b="0" i="0" lang="en-US" sz="1275" u="none" cap="none" strike="noStrike">
                          <a:solidFill>
                            <a:srgbClr val="141A21"/>
                          </a:solidFill>
                          <a:latin typeface="IBM Plex Sans"/>
                          <a:ea typeface="IBM Plex Sans"/>
                          <a:cs typeface="IBM Plex Sans"/>
                          <a:sym typeface="IBM Plex Sans"/>
                        </a:rPr>
                        <a:t>13.355</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FFFFFF"/>
                    </a:solidFill>
                  </a:tcPr>
                </a:tc>
                <a:tc>
                  <a:txBody>
                    <a:bodyPr/>
                    <a:lstStyle/>
                    <a:p>
                      <a:pPr indent="0" lvl="0" marL="0" marR="0" rtl="0" algn="r">
                        <a:lnSpc>
                          <a:spcPct val="129960"/>
                        </a:lnSpc>
                        <a:spcBef>
                          <a:spcPts val="0"/>
                        </a:spcBef>
                        <a:spcAft>
                          <a:spcPts val="0"/>
                        </a:spcAft>
                        <a:buNone/>
                      </a:pPr>
                      <a:r>
                        <a:rPr b="0" i="0" lang="en-US" sz="1275" u="none" cap="none" strike="noStrike">
                          <a:solidFill>
                            <a:srgbClr val="141A21"/>
                          </a:solidFill>
                          <a:latin typeface="IBM Plex Sans"/>
                          <a:ea typeface="IBM Plex Sans"/>
                          <a:cs typeface="IBM Plex Sans"/>
                          <a:sym typeface="IBM Plex Sans"/>
                        </a:rPr>
                        <a:t>3.757</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D2DAE2"/>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FFFFFF"/>
                    </a:solidFill>
                  </a:tcPr>
                </a:tc>
              </a:tr>
              <a:tr h="419100">
                <a:tc>
                  <a:txBody>
                    <a:bodyPr/>
                    <a:lstStyle/>
                    <a:p>
                      <a:pPr indent="0" lvl="0" marL="0" marR="0" rtl="0" algn="l">
                        <a:lnSpc>
                          <a:spcPct val="129960"/>
                        </a:lnSpc>
                        <a:spcBef>
                          <a:spcPts val="0"/>
                        </a:spcBef>
                        <a:spcAft>
                          <a:spcPts val="0"/>
                        </a:spcAft>
                        <a:buNone/>
                      </a:pPr>
                      <a:r>
                        <a:rPr b="0" i="0" lang="en-US" sz="1275" u="none" cap="none" strike="noStrike">
                          <a:solidFill>
                            <a:srgbClr val="141A21"/>
                          </a:solidFill>
                          <a:latin typeface="IBM Plex Sans"/>
                          <a:ea typeface="IBM Plex Sans"/>
                          <a:cs typeface="IBM Plex Sans"/>
                          <a:sym typeface="IBM Plex Sans"/>
                        </a:rPr>
                        <a:t>unbegrenzt</a:t>
                      </a:r>
                      <a:endParaRPr/>
                    </a:p>
                  </a:txBody>
                  <a:tcPr marT="38100" marB="38100" marR="114300" marL="114300" anchor="ctr">
                    <a:lnL cap="flat" cmpd="sng" w="9525">
                      <a:solidFill>
                        <a:srgbClr val="D2DAE2"/>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FFFFFF"/>
                    </a:solidFill>
                  </a:tcPr>
                </a:tc>
                <a:tc>
                  <a:txBody>
                    <a:bodyPr/>
                    <a:lstStyle/>
                    <a:p>
                      <a:pPr indent="0" lvl="0" marL="0" marR="0" rtl="0" algn="l">
                        <a:lnSpc>
                          <a:spcPct val="129960"/>
                        </a:lnSpc>
                        <a:spcBef>
                          <a:spcPts val="0"/>
                        </a:spcBef>
                        <a:spcAft>
                          <a:spcPts val="0"/>
                        </a:spcAft>
                        <a:buNone/>
                      </a:pPr>
                      <a:r>
                        <a:rPr b="0" i="0" lang="en-US" sz="1275" u="none" cap="none" strike="noStrike">
                          <a:solidFill>
                            <a:srgbClr val="141A21"/>
                          </a:solidFill>
                          <a:latin typeface="IBM Plex Sans"/>
                          <a:ea typeface="IBM Plex Sans"/>
                          <a:cs typeface="IBM Plex Sans"/>
                          <a:sym typeface="IBM Plex Sans"/>
                        </a:rPr>
                        <a:t>1,0</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FFFFFF"/>
                    </a:solidFill>
                  </a:tcPr>
                </a:tc>
                <a:tc>
                  <a:txBody>
                    <a:bodyPr/>
                    <a:lstStyle/>
                    <a:p>
                      <a:pPr indent="0" lvl="0" marL="0" marR="0" rtl="0" algn="l">
                        <a:lnSpc>
                          <a:spcPct val="129960"/>
                        </a:lnSpc>
                        <a:spcBef>
                          <a:spcPts val="0"/>
                        </a:spcBef>
                        <a:spcAft>
                          <a:spcPts val="0"/>
                        </a:spcAft>
                        <a:buNone/>
                      </a:pPr>
                      <a:r>
                        <a:rPr b="0" i="0" lang="en-US" sz="1275" u="none" cap="none" strike="noStrike">
                          <a:solidFill>
                            <a:srgbClr val="141A21"/>
                          </a:solidFill>
                          <a:latin typeface="IBM Plex Sans"/>
                          <a:ea typeface="IBM Plex Sans"/>
                          <a:cs typeface="IBM Plex Sans"/>
                          <a:sym typeface="IBM Plex Sans"/>
                        </a:rPr>
                        <a:t>5</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FFFFFF"/>
                    </a:solidFill>
                  </a:tcPr>
                </a:tc>
                <a:tc>
                  <a:txBody>
                    <a:bodyPr/>
                    <a:lstStyle/>
                    <a:p>
                      <a:pPr indent="0" lvl="0" marL="0" marR="0" rtl="0" algn="r">
                        <a:lnSpc>
                          <a:spcPct val="129960"/>
                        </a:lnSpc>
                        <a:spcBef>
                          <a:spcPts val="0"/>
                        </a:spcBef>
                        <a:spcAft>
                          <a:spcPts val="0"/>
                        </a:spcAft>
                        <a:buNone/>
                      </a:pPr>
                      <a:r>
                        <a:rPr b="0" i="0" lang="en-US" sz="1275" u="none" cap="none" strike="noStrike">
                          <a:solidFill>
                            <a:srgbClr val="141A21"/>
                          </a:solidFill>
                          <a:latin typeface="IBM Plex Sans"/>
                          <a:ea typeface="IBM Plex Sans"/>
                          <a:cs typeface="IBM Plex Sans"/>
                          <a:sym typeface="IBM Plex Sans"/>
                        </a:rPr>
                        <a:t>13.422</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FFFFFF"/>
                    </a:solidFill>
                  </a:tcPr>
                </a:tc>
                <a:tc>
                  <a:txBody>
                    <a:bodyPr/>
                    <a:lstStyle/>
                    <a:p>
                      <a:pPr indent="0" lvl="0" marL="0" marR="0" rtl="0" algn="r">
                        <a:lnSpc>
                          <a:spcPct val="129960"/>
                        </a:lnSpc>
                        <a:spcBef>
                          <a:spcPts val="0"/>
                        </a:spcBef>
                        <a:spcAft>
                          <a:spcPts val="0"/>
                        </a:spcAft>
                        <a:buNone/>
                      </a:pPr>
                      <a:r>
                        <a:rPr b="0" i="0" lang="en-US" sz="1275" u="none" cap="none" strike="noStrike">
                          <a:solidFill>
                            <a:srgbClr val="141A21"/>
                          </a:solidFill>
                          <a:latin typeface="IBM Plex Sans"/>
                          <a:ea typeface="IBM Plex Sans"/>
                          <a:cs typeface="IBM Plex Sans"/>
                          <a:sym typeface="IBM Plex Sans"/>
                        </a:rPr>
                        <a:t>3.729</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D2DAE2"/>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FFFFFF"/>
                    </a:solidFill>
                  </a:tcPr>
                </a:tc>
              </a:tr>
              <a:tr h="419100">
                <a:tc>
                  <a:txBody>
                    <a:bodyPr/>
                    <a:lstStyle/>
                    <a:p>
                      <a:pPr indent="0" lvl="0" marL="0" marR="0" rtl="0" algn="l">
                        <a:lnSpc>
                          <a:spcPct val="129960"/>
                        </a:lnSpc>
                        <a:spcBef>
                          <a:spcPts val="0"/>
                        </a:spcBef>
                        <a:spcAft>
                          <a:spcPts val="0"/>
                        </a:spcAft>
                        <a:buNone/>
                      </a:pPr>
                      <a:r>
                        <a:rPr b="0" i="0" lang="en-US" sz="1275" u="none" cap="none" strike="noStrike">
                          <a:solidFill>
                            <a:srgbClr val="141A21"/>
                          </a:solidFill>
                          <a:latin typeface="IBM Plex Sans"/>
                          <a:ea typeface="IBM Plex Sans"/>
                          <a:cs typeface="IBM Plex Sans"/>
                          <a:sym typeface="IBM Plex Sans"/>
                        </a:rPr>
                        <a:t>unbegrenzt</a:t>
                      </a:r>
                      <a:endParaRPr/>
                    </a:p>
                  </a:txBody>
                  <a:tcPr marT="38100" marB="38100" marR="114300" marL="114300" anchor="ctr">
                    <a:lnL cap="flat" cmpd="sng" w="9525">
                      <a:solidFill>
                        <a:srgbClr val="D2DAE2"/>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FFFFFF"/>
                    </a:solidFill>
                  </a:tcPr>
                </a:tc>
                <a:tc>
                  <a:txBody>
                    <a:bodyPr/>
                    <a:lstStyle/>
                    <a:p>
                      <a:pPr indent="0" lvl="0" marL="0" marR="0" rtl="0" algn="l">
                        <a:lnSpc>
                          <a:spcPct val="129960"/>
                        </a:lnSpc>
                        <a:spcBef>
                          <a:spcPts val="0"/>
                        </a:spcBef>
                        <a:spcAft>
                          <a:spcPts val="0"/>
                        </a:spcAft>
                        <a:buNone/>
                      </a:pPr>
                      <a:r>
                        <a:rPr b="0" i="0" lang="en-US" sz="1275" u="none" cap="none" strike="noStrike">
                          <a:solidFill>
                            <a:srgbClr val="141A21"/>
                          </a:solidFill>
                          <a:latin typeface="IBM Plex Sans"/>
                          <a:ea typeface="IBM Plex Sans"/>
                          <a:cs typeface="IBM Plex Sans"/>
                          <a:sym typeface="IBM Plex Sans"/>
                        </a:rPr>
                        <a:t>0,7</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FFFFFF"/>
                    </a:solidFill>
                  </a:tcPr>
                </a:tc>
                <a:tc>
                  <a:txBody>
                    <a:bodyPr/>
                    <a:lstStyle/>
                    <a:p>
                      <a:pPr indent="0" lvl="0" marL="0" marR="0" rtl="0" algn="l">
                        <a:lnSpc>
                          <a:spcPct val="129960"/>
                        </a:lnSpc>
                        <a:spcBef>
                          <a:spcPts val="0"/>
                        </a:spcBef>
                        <a:spcAft>
                          <a:spcPts val="0"/>
                        </a:spcAft>
                        <a:buNone/>
                      </a:pPr>
                      <a:r>
                        <a:rPr b="0" i="0" lang="en-US" sz="1275" u="none" cap="none" strike="noStrike">
                          <a:solidFill>
                            <a:srgbClr val="141A21"/>
                          </a:solidFill>
                          <a:latin typeface="IBM Plex Sans"/>
                          <a:ea typeface="IBM Plex Sans"/>
                          <a:cs typeface="IBM Plex Sans"/>
                          <a:sym typeface="IBM Plex Sans"/>
                        </a:rPr>
                        <a:t>20</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FFFFFF"/>
                    </a:solidFill>
                  </a:tcPr>
                </a:tc>
                <a:tc>
                  <a:txBody>
                    <a:bodyPr/>
                    <a:lstStyle/>
                    <a:p>
                      <a:pPr indent="0" lvl="0" marL="0" marR="0" rtl="0" algn="r">
                        <a:lnSpc>
                          <a:spcPct val="129960"/>
                        </a:lnSpc>
                        <a:spcBef>
                          <a:spcPts val="0"/>
                        </a:spcBef>
                        <a:spcAft>
                          <a:spcPts val="0"/>
                        </a:spcAft>
                        <a:buNone/>
                      </a:pPr>
                      <a:r>
                        <a:rPr b="0" i="0" lang="en-US" sz="1275" u="none" cap="none" strike="noStrike">
                          <a:solidFill>
                            <a:srgbClr val="141A21"/>
                          </a:solidFill>
                          <a:latin typeface="IBM Plex Sans"/>
                          <a:ea typeface="IBM Plex Sans"/>
                          <a:cs typeface="IBM Plex Sans"/>
                          <a:sym typeface="IBM Plex Sans"/>
                        </a:rPr>
                        <a:t>13.473</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FFFFFF"/>
                    </a:solidFill>
                  </a:tcPr>
                </a:tc>
                <a:tc>
                  <a:txBody>
                    <a:bodyPr/>
                    <a:lstStyle/>
                    <a:p>
                      <a:pPr indent="0" lvl="0" marL="0" marR="0" rtl="0" algn="r">
                        <a:lnSpc>
                          <a:spcPct val="129960"/>
                        </a:lnSpc>
                        <a:spcBef>
                          <a:spcPts val="0"/>
                        </a:spcBef>
                        <a:spcAft>
                          <a:spcPts val="0"/>
                        </a:spcAft>
                        <a:buNone/>
                      </a:pPr>
                      <a:r>
                        <a:rPr b="0" i="0" lang="en-US" sz="1275" u="none" cap="none" strike="noStrike">
                          <a:solidFill>
                            <a:srgbClr val="141A21"/>
                          </a:solidFill>
                          <a:latin typeface="IBM Plex Sans"/>
                          <a:ea typeface="IBM Plex Sans"/>
                          <a:cs typeface="IBM Plex Sans"/>
                          <a:sym typeface="IBM Plex Sans"/>
                        </a:rPr>
                        <a:t>4.021</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D2DAE2"/>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FFFFFF"/>
                    </a:solidFill>
                  </a:tcPr>
                </a:tc>
              </a:tr>
              <a:tr h="419100">
                <a:tc>
                  <a:txBody>
                    <a:bodyPr/>
                    <a:lstStyle/>
                    <a:p>
                      <a:pPr indent="0" lvl="0" marL="0" marR="0" rtl="0" algn="l">
                        <a:lnSpc>
                          <a:spcPct val="129960"/>
                        </a:lnSpc>
                        <a:spcBef>
                          <a:spcPts val="0"/>
                        </a:spcBef>
                        <a:spcAft>
                          <a:spcPts val="0"/>
                        </a:spcAft>
                        <a:buNone/>
                      </a:pPr>
                      <a:r>
                        <a:rPr b="0" i="0" lang="en-US" sz="1275" u="none" cap="none" strike="noStrike">
                          <a:solidFill>
                            <a:srgbClr val="141A21"/>
                          </a:solidFill>
                          <a:latin typeface="IBM Plex Sans"/>
                          <a:ea typeface="IBM Plex Sans"/>
                          <a:cs typeface="IBM Plex Sans"/>
                          <a:sym typeface="IBM Plex Sans"/>
                        </a:rPr>
                        <a:t>8</a:t>
                      </a:r>
                      <a:endParaRPr/>
                    </a:p>
                  </a:txBody>
                  <a:tcPr marT="38100" marB="38100" marR="114300" marL="114300" anchor="ctr">
                    <a:lnL cap="flat" cmpd="sng" w="9525">
                      <a:solidFill>
                        <a:srgbClr val="D2DAE2"/>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FFFFFF"/>
                    </a:solidFill>
                  </a:tcPr>
                </a:tc>
                <a:tc>
                  <a:txBody>
                    <a:bodyPr/>
                    <a:lstStyle/>
                    <a:p>
                      <a:pPr indent="0" lvl="0" marL="0" marR="0" rtl="0" algn="l">
                        <a:lnSpc>
                          <a:spcPct val="129960"/>
                        </a:lnSpc>
                        <a:spcBef>
                          <a:spcPts val="0"/>
                        </a:spcBef>
                        <a:spcAft>
                          <a:spcPts val="0"/>
                        </a:spcAft>
                        <a:buNone/>
                      </a:pPr>
                      <a:r>
                        <a:rPr b="0" i="0" lang="en-US" sz="1275" u="none" cap="none" strike="noStrike">
                          <a:solidFill>
                            <a:srgbClr val="141A21"/>
                          </a:solidFill>
                          <a:latin typeface="IBM Plex Sans"/>
                          <a:ea typeface="IBM Plex Sans"/>
                          <a:cs typeface="IBM Plex Sans"/>
                          <a:sym typeface="IBM Plex Sans"/>
                        </a:rPr>
                        <a:t>0,7</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FFFFFF"/>
                    </a:solidFill>
                  </a:tcPr>
                </a:tc>
                <a:tc>
                  <a:txBody>
                    <a:bodyPr/>
                    <a:lstStyle/>
                    <a:p>
                      <a:pPr indent="0" lvl="0" marL="0" marR="0" rtl="0" algn="l">
                        <a:lnSpc>
                          <a:spcPct val="129960"/>
                        </a:lnSpc>
                        <a:spcBef>
                          <a:spcPts val="0"/>
                        </a:spcBef>
                        <a:spcAft>
                          <a:spcPts val="0"/>
                        </a:spcAft>
                        <a:buNone/>
                      </a:pPr>
                      <a:r>
                        <a:rPr b="0" i="0" lang="en-US" sz="1275" u="none" cap="none" strike="noStrike">
                          <a:solidFill>
                            <a:srgbClr val="141A21"/>
                          </a:solidFill>
                          <a:latin typeface="IBM Plex Sans"/>
                          <a:ea typeface="IBM Plex Sans"/>
                          <a:cs typeface="IBM Plex Sans"/>
                          <a:sym typeface="IBM Plex Sans"/>
                        </a:rPr>
                        <a:t>20</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FFFFFF"/>
                    </a:solidFill>
                  </a:tcPr>
                </a:tc>
                <a:tc>
                  <a:txBody>
                    <a:bodyPr/>
                    <a:lstStyle/>
                    <a:p>
                      <a:pPr indent="0" lvl="0" marL="0" marR="0" rtl="0" algn="r">
                        <a:lnSpc>
                          <a:spcPct val="129960"/>
                        </a:lnSpc>
                        <a:spcBef>
                          <a:spcPts val="0"/>
                        </a:spcBef>
                        <a:spcAft>
                          <a:spcPts val="0"/>
                        </a:spcAft>
                        <a:buNone/>
                      </a:pPr>
                      <a:r>
                        <a:rPr b="0" i="0" lang="en-US" sz="1275" u="none" cap="none" strike="noStrike">
                          <a:solidFill>
                            <a:srgbClr val="141A21"/>
                          </a:solidFill>
                          <a:latin typeface="IBM Plex Sans"/>
                          <a:ea typeface="IBM Plex Sans"/>
                          <a:cs typeface="IBM Plex Sans"/>
                          <a:sym typeface="IBM Plex Sans"/>
                        </a:rPr>
                        <a:t>13.481</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FFFFFF"/>
                    </a:solidFill>
                  </a:tcPr>
                </a:tc>
                <a:tc>
                  <a:txBody>
                    <a:bodyPr/>
                    <a:lstStyle/>
                    <a:p>
                      <a:pPr indent="0" lvl="0" marL="0" marR="0" rtl="0" algn="r">
                        <a:lnSpc>
                          <a:spcPct val="129960"/>
                        </a:lnSpc>
                        <a:spcBef>
                          <a:spcPts val="0"/>
                        </a:spcBef>
                        <a:spcAft>
                          <a:spcPts val="0"/>
                        </a:spcAft>
                        <a:buNone/>
                      </a:pPr>
                      <a:r>
                        <a:rPr b="0" i="0" lang="en-US" sz="1275" u="none" cap="none" strike="noStrike">
                          <a:solidFill>
                            <a:srgbClr val="141A21"/>
                          </a:solidFill>
                          <a:latin typeface="IBM Plex Sans"/>
                          <a:ea typeface="IBM Plex Sans"/>
                          <a:cs typeface="IBM Plex Sans"/>
                          <a:sym typeface="IBM Plex Sans"/>
                        </a:rPr>
                        <a:t>4.015</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D2DAE2"/>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FFFFFF"/>
                    </a:solidFill>
                  </a:tcPr>
                </a:tc>
              </a:tr>
              <a:tr h="419100">
                <a:tc>
                  <a:txBody>
                    <a:bodyPr/>
                    <a:lstStyle/>
                    <a:p>
                      <a:pPr indent="0" lvl="0" marL="0" marR="0" rtl="0" algn="l">
                        <a:lnSpc>
                          <a:spcPct val="129960"/>
                        </a:lnSpc>
                        <a:spcBef>
                          <a:spcPts val="0"/>
                        </a:spcBef>
                        <a:spcAft>
                          <a:spcPts val="0"/>
                        </a:spcAft>
                        <a:buNone/>
                      </a:pPr>
                      <a:r>
                        <a:rPr b="0" i="0" lang="en-US" sz="1275" u="none" cap="none" strike="noStrike">
                          <a:solidFill>
                            <a:srgbClr val="141A21"/>
                          </a:solidFill>
                          <a:latin typeface="IBM Plex Sans"/>
                          <a:ea typeface="IBM Plex Sans"/>
                          <a:cs typeface="IBM Plex Sans"/>
                          <a:sym typeface="IBM Plex Sans"/>
                        </a:rPr>
                        <a:t>8</a:t>
                      </a:r>
                      <a:endParaRPr/>
                    </a:p>
                  </a:txBody>
                  <a:tcPr marT="38100" marB="38100" marR="114300" marL="114300" anchor="ctr">
                    <a:lnL cap="flat" cmpd="sng" w="9525">
                      <a:solidFill>
                        <a:srgbClr val="D2DAE2"/>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FFFFFF"/>
                    </a:solidFill>
                  </a:tcPr>
                </a:tc>
                <a:tc>
                  <a:txBody>
                    <a:bodyPr/>
                    <a:lstStyle/>
                    <a:p>
                      <a:pPr indent="0" lvl="0" marL="0" marR="0" rtl="0" algn="l">
                        <a:lnSpc>
                          <a:spcPct val="129960"/>
                        </a:lnSpc>
                        <a:spcBef>
                          <a:spcPts val="0"/>
                        </a:spcBef>
                        <a:spcAft>
                          <a:spcPts val="0"/>
                        </a:spcAft>
                        <a:buNone/>
                      </a:pPr>
                      <a:r>
                        <a:rPr b="0" i="0" lang="en-US" sz="1275" u="none" cap="none" strike="noStrike">
                          <a:solidFill>
                            <a:srgbClr val="141A21"/>
                          </a:solidFill>
                          <a:latin typeface="IBM Plex Sans"/>
                          <a:ea typeface="IBM Plex Sans"/>
                          <a:cs typeface="IBM Plex Sans"/>
                          <a:sym typeface="IBM Plex Sans"/>
                        </a:rPr>
                        <a:t>1,0</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FFFFFF"/>
                    </a:solidFill>
                  </a:tcPr>
                </a:tc>
                <a:tc>
                  <a:txBody>
                    <a:bodyPr/>
                    <a:lstStyle/>
                    <a:p>
                      <a:pPr indent="0" lvl="0" marL="0" marR="0" rtl="0" algn="l">
                        <a:lnSpc>
                          <a:spcPct val="129960"/>
                        </a:lnSpc>
                        <a:spcBef>
                          <a:spcPts val="0"/>
                        </a:spcBef>
                        <a:spcAft>
                          <a:spcPts val="0"/>
                        </a:spcAft>
                        <a:buNone/>
                      </a:pPr>
                      <a:r>
                        <a:rPr b="0" i="0" lang="en-US" sz="1275" u="none" cap="none" strike="noStrike">
                          <a:solidFill>
                            <a:srgbClr val="141A21"/>
                          </a:solidFill>
                          <a:latin typeface="IBM Plex Sans"/>
                          <a:ea typeface="IBM Plex Sans"/>
                          <a:cs typeface="IBM Plex Sans"/>
                          <a:sym typeface="IBM Plex Sans"/>
                        </a:rPr>
                        <a:t>20</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FFFFFF"/>
                    </a:solidFill>
                  </a:tcPr>
                </a:tc>
                <a:tc>
                  <a:txBody>
                    <a:bodyPr/>
                    <a:lstStyle/>
                    <a:p>
                      <a:pPr indent="0" lvl="0" marL="0" marR="0" rtl="0" algn="r">
                        <a:lnSpc>
                          <a:spcPct val="129960"/>
                        </a:lnSpc>
                        <a:spcBef>
                          <a:spcPts val="0"/>
                        </a:spcBef>
                        <a:spcAft>
                          <a:spcPts val="0"/>
                        </a:spcAft>
                        <a:buNone/>
                      </a:pPr>
                      <a:r>
                        <a:rPr b="0" i="0" lang="en-US" sz="1275" u="none" cap="none" strike="noStrike">
                          <a:solidFill>
                            <a:srgbClr val="141A21"/>
                          </a:solidFill>
                          <a:latin typeface="IBM Plex Sans"/>
                          <a:ea typeface="IBM Plex Sans"/>
                          <a:cs typeface="IBM Plex Sans"/>
                          <a:sym typeface="IBM Plex Sans"/>
                        </a:rPr>
                        <a:t>13.549</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FFFFFF"/>
                    </a:solidFill>
                  </a:tcPr>
                </a:tc>
                <a:tc>
                  <a:txBody>
                    <a:bodyPr/>
                    <a:lstStyle/>
                    <a:p>
                      <a:pPr indent="0" lvl="0" marL="0" marR="0" rtl="0" algn="r">
                        <a:lnSpc>
                          <a:spcPct val="129960"/>
                        </a:lnSpc>
                        <a:spcBef>
                          <a:spcPts val="0"/>
                        </a:spcBef>
                        <a:spcAft>
                          <a:spcPts val="0"/>
                        </a:spcAft>
                        <a:buNone/>
                      </a:pPr>
                      <a:r>
                        <a:rPr b="0" i="0" lang="en-US" sz="1275" u="none" cap="none" strike="noStrike">
                          <a:solidFill>
                            <a:srgbClr val="141A21"/>
                          </a:solidFill>
                          <a:latin typeface="IBM Plex Sans"/>
                          <a:ea typeface="IBM Plex Sans"/>
                          <a:cs typeface="IBM Plex Sans"/>
                          <a:sym typeface="IBM Plex Sans"/>
                        </a:rPr>
                        <a:t>3.941</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D2DAE2"/>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FFFFFF"/>
                    </a:solidFill>
                  </a:tcPr>
                </a:tc>
              </a:tr>
              <a:tr h="419100">
                <a:tc>
                  <a:txBody>
                    <a:bodyPr/>
                    <a:lstStyle/>
                    <a:p>
                      <a:pPr indent="0" lvl="0" marL="0" marR="0" rtl="0" algn="l">
                        <a:lnSpc>
                          <a:spcPct val="129960"/>
                        </a:lnSpc>
                        <a:spcBef>
                          <a:spcPts val="0"/>
                        </a:spcBef>
                        <a:spcAft>
                          <a:spcPts val="0"/>
                        </a:spcAft>
                        <a:buNone/>
                      </a:pPr>
                      <a:r>
                        <a:rPr b="0" i="0" lang="en-US" sz="1275" u="none" cap="none" strike="noStrike">
                          <a:solidFill>
                            <a:srgbClr val="141A21"/>
                          </a:solidFill>
                          <a:latin typeface="IBM Plex Sans"/>
                          <a:ea typeface="IBM Plex Sans"/>
                          <a:cs typeface="IBM Plex Sans"/>
                          <a:sym typeface="IBM Plex Sans"/>
                        </a:rPr>
                        <a:t>unbegrenzt</a:t>
                      </a:r>
                      <a:endParaRPr/>
                    </a:p>
                  </a:txBody>
                  <a:tcPr marT="38100" marB="38100" marR="114300" marL="114300" anchor="ctr">
                    <a:lnL cap="flat" cmpd="sng" w="9525">
                      <a:solidFill>
                        <a:srgbClr val="D2DAE2"/>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D2DAE2"/>
                      </a:solidFill>
                      <a:prstDash val="solid"/>
                      <a:round/>
                      <a:headEnd len="sm" w="sm" type="none"/>
                      <a:tailEnd len="sm" w="sm" type="none"/>
                    </a:lnB>
                    <a:solidFill>
                      <a:srgbClr val="FFFFFF"/>
                    </a:solidFill>
                  </a:tcPr>
                </a:tc>
                <a:tc>
                  <a:txBody>
                    <a:bodyPr/>
                    <a:lstStyle/>
                    <a:p>
                      <a:pPr indent="0" lvl="0" marL="0" marR="0" rtl="0" algn="l">
                        <a:lnSpc>
                          <a:spcPct val="129960"/>
                        </a:lnSpc>
                        <a:spcBef>
                          <a:spcPts val="0"/>
                        </a:spcBef>
                        <a:spcAft>
                          <a:spcPts val="0"/>
                        </a:spcAft>
                        <a:buNone/>
                      </a:pPr>
                      <a:r>
                        <a:rPr b="0" i="0" lang="en-US" sz="1275" u="none" cap="none" strike="noStrike">
                          <a:solidFill>
                            <a:srgbClr val="141A21"/>
                          </a:solidFill>
                          <a:latin typeface="IBM Plex Sans"/>
                          <a:ea typeface="IBM Plex Sans"/>
                          <a:cs typeface="IBM Plex Sans"/>
                          <a:sym typeface="IBM Plex Sans"/>
                        </a:rPr>
                        <a:t>1,0</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D2DAE2"/>
                      </a:solidFill>
                      <a:prstDash val="solid"/>
                      <a:round/>
                      <a:headEnd len="sm" w="sm" type="none"/>
                      <a:tailEnd len="sm" w="sm" type="none"/>
                    </a:lnB>
                    <a:solidFill>
                      <a:srgbClr val="FFFFFF"/>
                    </a:solidFill>
                  </a:tcPr>
                </a:tc>
                <a:tc>
                  <a:txBody>
                    <a:bodyPr/>
                    <a:lstStyle/>
                    <a:p>
                      <a:pPr indent="0" lvl="0" marL="0" marR="0" rtl="0" algn="l">
                        <a:lnSpc>
                          <a:spcPct val="129960"/>
                        </a:lnSpc>
                        <a:spcBef>
                          <a:spcPts val="0"/>
                        </a:spcBef>
                        <a:spcAft>
                          <a:spcPts val="0"/>
                        </a:spcAft>
                        <a:buNone/>
                      </a:pPr>
                      <a:r>
                        <a:rPr b="0" i="0" lang="en-US" sz="1275" u="none" cap="none" strike="noStrike">
                          <a:solidFill>
                            <a:srgbClr val="141A21"/>
                          </a:solidFill>
                          <a:latin typeface="IBM Plex Sans"/>
                          <a:ea typeface="IBM Plex Sans"/>
                          <a:cs typeface="IBM Plex Sans"/>
                          <a:sym typeface="IBM Plex Sans"/>
                        </a:rPr>
                        <a:t>20</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D2DAE2"/>
                      </a:solidFill>
                      <a:prstDash val="solid"/>
                      <a:round/>
                      <a:headEnd len="sm" w="sm" type="none"/>
                      <a:tailEnd len="sm" w="sm" type="none"/>
                    </a:lnB>
                    <a:solidFill>
                      <a:srgbClr val="FFFFFF"/>
                    </a:solidFill>
                  </a:tcPr>
                </a:tc>
                <a:tc>
                  <a:txBody>
                    <a:bodyPr/>
                    <a:lstStyle/>
                    <a:p>
                      <a:pPr indent="0" lvl="0" marL="0" marR="0" rtl="0" algn="r">
                        <a:lnSpc>
                          <a:spcPct val="129960"/>
                        </a:lnSpc>
                        <a:spcBef>
                          <a:spcPts val="0"/>
                        </a:spcBef>
                        <a:spcAft>
                          <a:spcPts val="0"/>
                        </a:spcAft>
                        <a:buNone/>
                      </a:pPr>
                      <a:r>
                        <a:rPr b="0" i="0" lang="en-US" sz="1275" u="none" cap="none" strike="noStrike">
                          <a:solidFill>
                            <a:srgbClr val="141A21"/>
                          </a:solidFill>
                          <a:latin typeface="IBM Plex Sans"/>
                          <a:ea typeface="IBM Plex Sans"/>
                          <a:cs typeface="IBM Plex Sans"/>
                          <a:sym typeface="IBM Plex Sans"/>
                        </a:rPr>
                        <a:t>13.565</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D2DAE2"/>
                      </a:solidFill>
                      <a:prstDash val="solid"/>
                      <a:round/>
                      <a:headEnd len="sm" w="sm" type="none"/>
                      <a:tailEnd len="sm" w="sm" type="none"/>
                    </a:lnB>
                    <a:solidFill>
                      <a:srgbClr val="FFFFFF"/>
                    </a:solidFill>
                  </a:tcPr>
                </a:tc>
                <a:tc>
                  <a:txBody>
                    <a:bodyPr/>
                    <a:lstStyle/>
                    <a:p>
                      <a:pPr indent="0" lvl="0" marL="0" marR="0" rtl="0" algn="r">
                        <a:lnSpc>
                          <a:spcPct val="129960"/>
                        </a:lnSpc>
                        <a:spcBef>
                          <a:spcPts val="0"/>
                        </a:spcBef>
                        <a:spcAft>
                          <a:spcPts val="0"/>
                        </a:spcAft>
                        <a:buNone/>
                      </a:pPr>
                      <a:r>
                        <a:rPr b="0" i="0" lang="en-US" sz="1275" u="none" cap="none" strike="noStrike">
                          <a:solidFill>
                            <a:srgbClr val="141A21"/>
                          </a:solidFill>
                          <a:latin typeface="IBM Plex Sans"/>
                          <a:ea typeface="IBM Plex Sans"/>
                          <a:cs typeface="IBM Plex Sans"/>
                          <a:sym typeface="IBM Plex Sans"/>
                        </a:rPr>
                        <a:t>3.923</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D2DAE2"/>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D2DAE2"/>
                      </a:solidFill>
                      <a:prstDash val="solid"/>
                      <a:round/>
                      <a:headEnd len="sm" w="sm" type="none"/>
                      <a:tailEnd len="sm" w="sm" type="none"/>
                    </a:lnB>
                    <a:solidFill>
                      <a:srgbClr val="FFFFFF"/>
                    </a:solidFill>
                  </a:tcPr>
                </a:tc>
              </a:tr>
            </a:tbl>
          </a:graphicData>
        </a:graphic>
      </p:graphicFrame>
      <p:sp>
        <p:nvSpPr>
          <p:cNvPr id="792" name="Google Shape;792;h510714b4cc47d3b6_0_937"/>
          <p:cNvSpPr txBox="1"/>
          <p:nvPr/>
        </p:nvSpPr>
        <p:spPr>
          <a:xfrm>
            <a:off x="685806" y="5505450"/>
            <a:ext cx="10820400" cy="247800"/>
          </a:xfrm>
          <a:prstGeom prst="rect">
            <a:avLst/>
          </a:prstGeom>
          <a:noFill/>
          <a:ln>
            <a:noFill/>
          </a:ln>
        </p:spPr>
        <p:txBody>
          <a:bodyPr anchorCtr="0" anchor="t" bIns="0" lIns="0" spcFirstLastPara="1" rIns="0" wrap="square" tIns="0">
            <a:noAutofit/>
          </a:bodyPr>
          <a:lstStyle/>
          <a:p>
            <a:pPr indent="0" lvl="0" marL="0" marR="0" rtl="0" algn="l">
              <a:lnSpc>
                <a:spcPct val="144444"/>
              </a:lnSpc>
              <a:spcBef>
                <a:spcPts val="0"/>
              </a:spcBef>
              <a:spcAft>
                <a:spcPts val="0"/>
              </a:spcAft>
              <a:buNone/>
            </a:pPr>
            <a:r>
              <a:rPr b="0" i="0" lang="en-US" sz="1350" u="none" cap="none" strike="noStrike">
                <a:solidFill>
                  <a:srgbClr val="4E5A68"/>
                </a:solidFill>
                <a:latin typeface="IBM Plex Sans"/>
                <a:ea typeface="IBM Plex Sans"/>
                <a:cs typeface="IBM Plex Sans"/>
                <a:sym typeface="IBM Plex Sans"/>
              </a:rPr>
              <a:t>300 Bäume, random_state = 42. Die Unterschiede sind klein; entscheidend ist die zeitliche Prüfung.</a:t>
            </a:r>
            <a:endParaRPr/>
          </a:p>
        </p:txBody>
      </p:sp>
      <p:cxnSp>
        <p:nvCxnSpPr>
          <p:cNvPr id="793" name="Google Shape;793;h510714b4cc47d3b6_0_937"/>
          <p:cNvCxnSpPr/>
          <p:nvPr/>
        </p:nvCxnSpPr>
        <p:spPr>
          <a:xfrm>
            <a:off x="0" y="6153150"/>
            <a:ext cx="12192000" cy="0"/>
          </a:xfrm>
          <a:prstGeom prst="straightConnector1">
            <a:avLst/>
          </a:prstGeom>
          <a:noFill/>
          <a:ln cap="flat" cmpd="sng" w="9525">
            <a:solidFill>
              <a:srgbClr val="E4E9EF"/>
            </a:solidFill>
            <a:prstDash val="solid"/>
            <a:round/>
            <a:headEnd len="sm" w="sm" type="none"/>
            <a:tailEnd len="sm" w="sm" type="none"/>
          </a:ln>
          <a:effectLst>
            <a:outerShdw blurRad="40000" rotWithShape="0" dir="5400000" dist="20000">
              <a:srgbClr val="000000">
                <a:alpha val="38040"/>
              </a:srgbClr>
            </a:outerShdw>
          </a:effectLst>
        </p:spPr>
      </p:cxnSp>
      <p:pic>
        <p:nvPicPr>
          <p:cNvPr descr="image.png" id="794" name="Google Shape;794;h510714b4cc47d3b6_0_937"/>
          <p:cNvPicPr preferRelativeResize="0"/>
          <p:nvPr/>
        </p:nvPicPr>
        <p:blipFill rotWithShape="1">
          <a:blip r:embed="rId3">
            <a:alphaModFix/>
          </a:blip>
          <a:srcRect b="0" l="0" r="0" t="0"/>
          <a:stretch/>
        </p:blipFill>
        <p:spPr>
          <a:xfrm>
            <a:off x="685806" y="6362700"/>
            <a:ext cx="715863" cy="247650"/>
          </a:xfrm>
          <a:prstGeom prst="rect">
            <a:avLst/>
          </a:prstGeom>
          <a:noFill/>
          <a:ln>
            <a:noFill/>
          </a:ln>
        </p:spPr>
      </p:pic>
      <p:sp>
        <p:nvSpPr>
          <p:cNvPr id="795" name="Google Shape;795;h510714b4cc47d3b6_0_937"/>
          <p:cNvSpPr txBox="1"/>
          <p:nvPr/>
        </p:nvSpPr>
        <p:spPr>
          <a:xfrm>
            <a:off x="1562113" y="6391275"/>
            <a:ext cx="2891700" cy="1905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None/>
            </a:pPr>
            <a:r>
              <a:rPr b="0" i="0" lang="en-US" sz="1200" u="none" cap="none" strike="noStrike">
                <a:solidFill>
                  <a:srgbClr val="4E5A68"/>
                </a:solidFill>
                <a:latin typeface="IBM Plex Sans"/>
                <a:ea typeface="IBM Plex Sans"/>
                <a:cs typeface="IBM Plex Sans"/>
                <a:sym typeface="IBM Plex Sans"/>
              </a:rPr>
              <a:t>Verbrauchsprognose &amp; Frühwarnung</a:t>
            </a:r>
            <a:endParaRPr/>
          </a:p>
        </p:txBody>
      </p:sp>
      <p:sp>
        <p:nvSpPr>
          <p:cNvPr id="796" name="Google Shape;796;h510714b4cc47d3b6_0_937"/>
          <p:cNvSpPr txBox="1"/>
          <p:nvPr/>
        </p:nvSpPr>
        <p:spPr>
          <a:xfrm>
            <a:off x="10835729" y="6391275"/>
            <a:ext cx="670500" cy="190500"/>
          </a:xfrm>
          <a:prstGeom prst="rect">
            <a:avLst/>
          </a:prstGeom>
          <a:noFill/>
          <a:ln>
            <a:noFill/>
          </a:ln>
        </p:spPr>
        <p:txBody>
          <a:bodyPr anchorCtr="0" anchor="t" bIns="0" lIns="0" spcFirstLastPara="1" rIns="0" wrap="square" tIns="0">
            <a:noAutofit/>
          </a:bodyPr>
          <a:lstStyle/>
          <a:p>
            <a:pPr indent="0" lvl="0" marL="0" marR="0" rtl="0" algn="r">
              <a:lnSpc>
                <a:spcPct val="125000"/>
              </a:lnSpc>
              <a:spcBef>
                <a:spcPts val="0"/>
              </a:spcBef>
              <a:spcAft>
                <a:spcPts val="0"/>
              </a:spcAft>
              <a:buNone/>
            </a:pPr>
            <a:r>
              <a:rPr b="0" i="0" lang="en-US" sz="1200" u="none" cap="none" strike="noStrike">
                <a:solidFill>
                  <a:srgbClr val="4E5A68"/>
                </a:solidFill>
                <a:latin typeface="IBM Plex Sans"/>
                <a:ea typeface="IBM Plex Sans"/>
                <a:cs typeface="IBM Plex Sans"/>
                <a:sym typeface="IBM Plex Sans"/>
              </a:rPr>
              <a:t>B1</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01" name="Shape 801"/>
        <p:cNvGrpSpPr/>
        <p:nvPr/>
      </p:nvGrpSpPr>
      <p:grpSpPr>
        <a:xfrm>
          <a:off x="0" y="0"/>
          <a:ext cx="0" cy="0"/>
          <a:chOff x="0" y="0"/>
          <a:chExt cx="0" cy="0"/>
        </a:xfrm>
      </p:grpSpPr>
      <p:sp>
        <p:nvSpPr>
          <p:cNvPr id="802" name="Google Shape;802;h510714b4cc47d3b6_0_1024"/>
          <p:cNvSpPr txBox="1"/>
          <p:nvPr/>
        </p:nvSpPr>
        <p:spPr>
          <a:xfrm>
            <a:off x="685806" y="457200"/>
            <a:ext cx="8591400" cy="1905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None/>
            </a:pPr>
            <a:r>
              <a:rPr b="1" i="0" lang="en-US" sz="1200" u="none" cap="none" strike="noStrike">
                <a:solidFill>
                  <a:srgbClr val="00718E"/>
                </a:solidFill>
                <a:latin typeface="IBM Plex Sans"/>
                <a:ea typeface="IBM Plex Sans"/>
                <a:cs typeface="IBM Plex Sans"/>
                <a:sym typeface="IBM Plex Sans"/>
              </a:rPr>
              <a:t>BACKUP · MERKMALE · KIKO</a:t>
            </a:r>
            <a:endParaRPr/>
          </a:p>
        </p:txBody>
      </p:sp>
      <p:sp>
        <p:nvSpPr>
          <p:cNvPr id="803" name="Google Shape;803;h510714b4cc47d3b6_0_1024"/>
          <p:cNvSpPr txBox="1"/>
          <p:nvPr/>
        </p:nvSpPr>
        <p:spPr>
          <a:xfrm>
            <a:off x="685806" y="762000"/>
            <a:ext cx="10820400" cy="438300"/>
          </a:xfrm>
          <a:prstGeom prst="rect">
            <a:avLst/>
          </a:prstGeom>
          <a:noFill/>
          <a:ln>
            <a:noFill/>
          </a:ln>
        </p:spPr>
        <p:txBody>
          <a:bodyPr anchorCtr="0" anchor="t" bIns="0" lIns="0" spcFirstLastPara="1" rIns="0" wrap="square" tIns="0">
            <a:noAutofit/>
          </a:bodyPr>
          <a:lstStyle/>
          <a:p>
            <a:pPr indent="0" lvl="0" marL="0" marR="0" rtl="0" algn="l">
              <a:lnSpc>
                <a:spcPct val="112500"/>
              </a:lnSpc>
              <a:spcBef>
                <a:spcPts val="0"/>
              </a:spcBef>
              <a:spcAft>
                <a:spcPts val="0"/>
              </a:spcAft>
              <a:buNone/>
            </a:pPr>
            <a:r>
              <a:rPr b="1" i="0" lang="en-US" sz="3000" u="none" cap="none" strike="noStrike">
                <a:solidFill>
                  <a:srgbClr val="141A21"/>
                </a:solidFill>
                <a:latin typeface="IBM Plex Sans"/>
                <a:ea typeface="IBM Plex Sans"/>
                <a:cs typeface="IBM Plex Sans"/>
                <a:sym typeface="IBM Plex Sans"/>
              </a:rPr>
              <a:t>Lag-Merkmale verschieben bekannte Historie nach vorn</a:t>
            </a:r>
            <a:endParaRPr/>
          </a:p>
        </p:txBody>
      </p:sp>
      <p:sp>
        <p:nvSpPr>
          <p:cNvPr id="804" name="Google Shape;804;h510714b4cc47d3b6_0_1024"/>
          <p:cNvSpPr/>
          <p:nvPr/>
        </p:nvSpPr>
        <p:spPr>
          <a:xfrm>
            <a:off x="685806" y="1524000"/>
            <a:ext cx="5943600" cy="3596100"/>
          </a:xfrm>
          <a:prstGeom prst="roundRect">
            <a:avLst>
              <a:gd fmla="val 2648" name="adj"/>
            </a:avLst>
          </a:prstGeom>
          <a:solidFill>
            <a:srgbClr val="FFFFFF"/>
          </a:solidFill>
          <a:ln cap="flat" cmpd="sng" w="9525">
            <a:solidFill>
              <a:srgbClr val="D2DA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pic>
        <p:nvPicPr>
          <p:cNvPr descr="s15_svg01.png" id="805" name="Google Shape;805;h510714b4cc47d3b6_0_1024"/>
          <p:cNvPicPr preferRelativeResize="0"/>
          <p:nvPr/>
        </p:nvPicPr>
        <p:blipFill rotWithShape="1">
          <a:blip r:embed="rId3">
            <a:alphaModFix/>
          </a:blip>
          <a:srcRect b="0" l="0" r="0" t="0"/>
          <a:stretch/>
        </p:blipFill>
        <p:spPr>
          <a:xfrm>
            <a:off x="800107" y="1638300"/>
            <a:ext cx="5715000" cy="3367591"/>
          </a:xfrm>
          <a:prstGeom prst="rect">
            <a:avLst/>
          </a:prstGeom>
          <a:noFill/>
          <a:ln>
            <a:noFill/>
          </a:ln>
        </p:spPr>
      </p:pic>
      <p:sp>
        <p:nvSpPr>
          <p:cNvPr id="806" name="Google Shape;806;h510714b4cc47d3b6_0_1024"/>
          <p:cNvSpPr/>
          <p:nvPr/>
        </p:nvSpPr>
        <p:spPr>
          <a:xfrm>
            <a:off x="6934257" y="1524000"/>
            <a:ext cx="4572000" cy="1219200"/>
          </a:xfrm>
          <a:prstGeom prst="roundRect">
            <a:avLst>
              <a:gd fmla="val 7812" name="adj"/>
            </a:avLst>
          </a:prstGeom>
          <a:solidFill>
            <a:srgbClr val="FFFFFF"/>
          </a:solidFill>
          <a:ln cap="flat" cmpd="sng" w="9525">
            <a:solidFill>
              <a:srgbClr val="D2DA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807" name="Google Shape;807;h510714b4cc47d3b6_0_1024"/>
          <p:cNvSpPr txBox="1"/>
          <p:nvPr/>
        </p:nvSpPr>
        <p:spPr>
          <a:xfrm>
            <a:off x="7162859" y="1733550"/>
            <a:ext cx="4114800" cy="2229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b="1" i="0" lang="en-US" sz="1350" u="none" cap="none" strike="noStrike">
                <a:solidFill>
                  <a:srgbClr val="141A21"/>
                </a:solidFill>
                <a:latin typeface="IBM Plex Sans"/>
                <a:ea typeface="IBM Plex Sans"/>
                <a:cs typeface="IBM Plex Sans"/>
                <a:sym typeface="IBM Plex Sans"/>
              </a:rPr>
              <a:t>Januar 2024</a:t>
            </a:r>
            <a:endParaRPr/>
          </a:p>
        </p:txBody>
      </p:sp>
      <p:sp>
        <p:nvSpPr>
          <p:cNvPr id="808" name="Google Shape;808;h510714b4cc47d3b6_0_1024"/>
          <p:cNvSpPr txBox="1"/>
          <p:nvPr/>
        </p:nvSpPr>
        <p:spPr>
          <a:xfrm>
            <a:off x="7162859" y="2032635"/>
            <a:ext cx="4114800" cy="520200"/>
          </a:xfrm>
          <a:prstGeom prst="rect">
            <a:avLst/>
          </a:prstGeom>
          <a:noFill/>
          <a:ln>
            <a:noFill/>
          </a:ln>
        </p:spPr>
        <p:txBody>
          <a:bodyPr anchorCtr="0" anchor="t" bIns="0" lIns="0" spcFirstLastPara="1" rIns="0" wrap="square" tIns="0">
            <a:noAutofit/>
          </a:bodyPr>
          <a:lstStyle/>
          <a:p>
            <a:pPr indent="0" lvl="0" marL="0" marR="0" rtl="0" algn="l">
              <a:lnSpc>
                <a:spcPct val="144941"/>
              </a:lnSpc>
              <a:spcBef>
                <a:spcPts val="0"/>
              </a:spcBef>
              <a:spcAft>
                <a:spcPts val="0"/>
              </a:spcAft>
              <a:buNone/>
            </a:pPr>
            <a:r>
              <a:rPr b="0" i="0" lang="en-US" sz="1275" u="none" cap="none" strike="noStrike">
                <a:solidFill>
                  <a:srgbClr val="4E5A68"/>
                </a:solidFill>
                <a:latin typeface="IBM Plex Sans"/>
                <a:ea typeface="IBM Plex Sans"/>
                <a:cs typeface="IBM Plex Sans"/>
                <a:sym typeface="IBM Plex Sans"/>
              </a:rPr>
              <a:t>Echter Kaltstart ohne Historie; bleibt leer.</a:t>
            </a:r>
            <a:endParaRPr/>
          </a:p>
        </p:txBody>
      </p:sp>
      <p:sp>
        <p:nvSpPr>
          <p:cNvPr id="809" name="Google Shape;809;h510714b4cc47d3b6_0_1024"/>
          <p:cNvSpPr/>
          <p:nvPr/>
        </p:nvSpPr>
        <p:spPr>
          <a:xfrm>
            <a:off x="6934257" y="2876550"/>
            <a:ext cx="4572000" cy="1219200"/>
          </a:xfrm>
          <a:prstGeom prst="roundRect">
            <a:avLst>
              <a:gd fmla="val 7812" name="adj"/>
            </a:avLst>
          </a:prstGeom>
          <a:solidFill>
            <a:srgbClr val="FFFFFF"/>
          </a:solidFill>
          <a:ln cap="flat" cmpd="sng" w="9525">
            <a:solidFill>
              <a:srgbClr val="D2DA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810" name="Google Shape;810;h510714b4cc47d3b6_0_1024"/>
          <p:cNvSpPr txBox="1"/>
          <p:nvPr/>
        </p:nvSpPr>
        <p:spPr>
          <a:xfrm>
            <a:off x="7162859" y="3086100"/>
            <a:ext cx="4114800" cy="2229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b="1" i="0" lang="en-US" sz="1350" u="none" cap="none" strike="noStrike">
                <a:solidFill>
                  <a:srgbClr val="141A21"/>
                </a:solidFill>
                <a:latin typeface="IBM Plex Sans"/>
                <a:ea typeface="IBM Plex Sans"/>
                <a:cs typeface="IBM Plex Sans"/>
                <a:sym typeface="IBM Plex Sans"/>
              </a:rPr>
              <a:t>Februar und März</a:t>
            </a:r>
            <a:endParaRPr/>
          </a:p>
        </p:txBody>
      </p:sp>
      <p:sp>
        <p:nvSpPr>
          <p:cNvPr id="811" name="Google Shape;811;h510714b4cc47d3b6_0_1024"/>
          <p:cNvSpPr txBox="1"/>
          <p:nvPr/>
        </p:nvSpPr>
        <p:spPr>
          <a:xfrm>
            <a:off x="7162859" y="3385185"/>
            <a:ext cx="4114800" cy="520200"/>
          </a:xfrm>
          <a:prstGeom prst="rect">
            <a:avLst/>
          </a:prstGeom>
          <a:noFill/>
          <a:ln>
            <a:noFill/>
          </a:ln>
        </p:spPr>
        <p:txBody>
          <a:bodyPr anchorCtr="0" anchor="t" bIns="0" lIns="0" spcFirstLastPara="1" rIns="0" wrap="square" tIns="0">
            <a:noAutofit/>
          </a:bodyPr>
          <a:lstStyle/>
          <a:p>
            <a:pPr indent="0" lvl="0" marL="0" marR="0" rtl="0" algn="l">
              <a:lnSpc>
                <a:spcPct val="144941"/>
              </a:lnSpc>
              <a:spcBef>
                <a:spcPts val="0"/>
              </a:spcBef>
              <a:spcAft>
                <a:spcPts val="0"/>
              </a:spcAft>
              <a:buNone/>
            </a:pPr>
            <a:r>
              <a:rPr b="0" i="0" lang="en-US" sz="1275" u="none" cap="none" strike="noStrike">
                <a:solidFill>
                  <a:srgbClr val="4E5A68"/>
                </a:solidFill>
                <a:latin typeface="IBM Plex Sans"/>
                <a:ea typeface="IBM Plex Sans"/>
                <a:cs typeface="IBM Plex Sans"/>
                <a:sym typeface="IBM Plex Sans"/>
              </a:rPr>
              <a:t>Nutzen die verfügbare Historie (1 bzw. 2 Monate).</a:t>
            </a:r>
            <a:endParaRPr/>
          </a:p>
        </p:txBody>
      </p:sp>
      <p:sp>
        <p:nvSpPr>
          <p:cNvPr id="812" name="Google Shape;812;h510714b4cc47d3b6_0_1024"/>
          <p:cNvSpPr/>
          <p:nvPr/>
        </p:nvSpPr>
        <p:spPr>
          <a:xfrm>
            <a:off x="6934257" y="4229100"/>
            <a:ext cx="4572000" cy="1219200"/>
          </a:xfrm>
          <a:prstGeom prst="roundRect">
            <a:avLst>
              <a:gd fmla="val 7812" name="adj"/>
            </a:avLst>
          </a:prstGeom>
          <a:solidFill>
            <a:srgbClr val="FFFFFF"/>
          </a:solidFill>
          <a:ln cap="flat" cmpd="sng" w="9525">
            <a:solidFill>
              <a:srgbClr val="D2DA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813" name="Google Shape;813;h510714b4cc47d3b6_0_1024"/>
          <p:cNvSpPr txBox="1"/>
          <p:nvPr/>
        </p:nvSpPr>
        <p:spPr>
          <a:xfrm>
            <a:off x="7162859" y="4438650"/>
            <a:ext cx="4114800" cy="2229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b="1" i="0" lang="en-US" sz="1350" u="none" cap="none" strike="noStrike">
                <a:solidFill>
                  <a:srgbClr val="141A21"/>
                </a:solidFill>
                <a:latin typeface="IBM Plex Sans"/>
                <a:ea typeface="IBM Plex Sans"/>
                <a:cs typeface="IBM Plex Sans"/>
                <a:sym typeface="IBM Plex Sans"/>
              </a:rPr>
              <a:t>Ab April</a:t>
            </a:r>
            <a:endParaRPr/>
          </a:p>
        </p:txBody>
      </p:sp>
      <p:sp>
        <p:nvSpPr>
          <p:cNvPr id="814" name="Google Shape;814;h510714b4cc47d3b6_0_1024"/>
          <p:cNvSpPr txBox="1"/>
          <p:nvPr/>
        </p:nvSpPr>
        <p:spPr>
          <a:xfrm>
            <a:off x="7162859" y="4737735"/>
            <a:ext cx="4114800" cy="520200"/>
          </a:xfrm>
          <a:prstGeom prst="rect">
            <a:avLst/>
          </a:prstGeom>
          <a:noFill/>
          <a:ln>
            <a:noFill/>
          </a:ln>
        </p:spPr>
        <p:txBody>
          <a:bodyPr anchorCtr="0" anchor="t" bIns="0" lIns="0" spcFirstLastPara="1" rIns="0" wrap="square" tIns="0">
            <a:noAutofit/>
          </a:bodyPr>
          <a:lstStyle/>
          <a:p>
            <a:pPr indent="0" lvl="0" marL="0" marR="0" rtl="0" algn="l">
              <a:lnSpc>
                <a:spcPct val="144941"/>
              </a:lnSpc>
              <a:spcBef>
                <a:spcPts val="0"/>
              </a:spcBef>
              <a:spcAft>
                <a:spcPts val="0"/>
              </a:spcAft>
              <a:buNone/>
            </a:pPr>
            <a:r>
              <a:rPr b="0" i="0" lang="en-US" sz="1275" u="none" cap="none" strike="noStrike">
                <a:solidFill>
                  <a:srgbClr val="4E5A68"/>
                </a:solidFill>
                <a:latin typeface="IBM Plex Sans"/>
                <a:ea typeface="IBM Plex Sans"/>
                <a:cs typeface="IBM Plex Sans"/>
                <a:sym typeface="IBM Plex Sans"/>
              </a:rPr>
              <a:t>Mittel aus bis zu drei abgeschlossenen Vormonaten.</a:t>
            </a:r>
            <a:endParaRPr/>
          </a:p>
        </p:txBody>
      </p:sp>
      <p:sp>
        <p:nvSpPr>
          <p:cNvPr id="815" name="Google Shape;815;h510714b4cc47d3b6_0_1024"/>
          <p:cNvSpPr txBox="1"/>
          <p:nvPr/>
        </p:nvSpPr>
        <p:spPr>
          <a:xfrm>
            <a:off x="6934257" y="5619750"/>
            <a:ext cx="4572000" cy="247800"/>
          </a:xfrm>
          <a:prstGeom prst="rect">
            <a:avLst/>
          </a:prstGeom>
          <a:noFill/>
          <a:ln>
            <a:noFill/>
          </a:ln>
        </p:spPr>
        <p:txBody>
          <a:bodyPr anchorCtr="0" anchor="t" bIns="0" lIns="0" spcFirstLastPara="1" rIns="0" wrap="square" tIns="0">
            <a:noAutofit/>
          </a:bodyPr>
          <a:lstStyle/>
          <a:p>
            <a:pPr indent="0" lvl="0" marL="0" marR="0" rtl="0" algn="l">
              <a:lnSpc>
                <a:spcPct val="141176"/>
              </a:lnSpc>
              <a:spcBef>
                <a:spcPts val="0"/>
              </a:spcBef>
              <a:spcAft>
                <a:spcPts val="0"/>
              </a:spcAft>
              <a:buNone/>
            </a:pPr>
            <a:r>
              <a:rPr b="0" i="0" lang="en-US" sz="1275" u="none" cap="none" strike="noStrike">
                <a:solidFill>
                  <a:srgbClr val="4E5A68"/>
                </a:solidFill>
                <a:latin typeface="IBM Plex Sans"/>
                <a:ea typeface="IBM Plex Sans"/>
                <a:cs typeface="IBM Plex Sans"/>
                <a:sym typeface="IBM Plex Sans"/>
              </a:rPr>
              <a:t>1.453 Drei-Monats-Werte bleiben erhalten.</a:t>
            </a:r>
            <a:endParaRPr/>
          </a:p>
        </p:txBody>
      </p:sp>
      <p:cxnSp>
        <p:nvCxnSpPr>
          <p:cNvPr id="816" name="Google Shape;816;h510714b4cc47d3b6_0_1024"/>
          <p:cNvCxnSpPr/>
          <p:nvPr/>
        </p:nvCxnSpPr>
        <p:spPr>
          <a:xfrm>
            <a:off x="0" y="6153150"/>
            <a:ext cx="12192000" cy="0"/>
          </a:xfrm>
          <a:prstGeom prst="straightConnector1">
            <a:avLst/>
          </a:prstGeom>
          <a:noFill/>
          <a:ln cap="flat" cmpd="sng" w="9525">
            <a:solidFill>
              <a:srgbClr val="E4E9EF"/>
            </a:solidFill>
            <a:prstDash val="solid"/>
            <a:round/>
            <a:headEnd len="sm" w="sm" type="none"/>
            <a:tailEnd len="sm" w="sm" type="none"/>
          </a:ln>
          <a:effectLst>
            <a:outerShdw blurRad="40000" rotWithShape="0" dir="5400000" dist="20000">
              <a:srgbClr val="000000">
                <a:alpha val="38040"/>
              </a:srgbClr>
            </a:outerShdw>
          </a:effectLst>
        </p:spPr>
      </p:cxnSp>
      <p:pic>
        <p:nvPicPr>
          <p:cNvPr descr="image.png" id="817" name="Google Shape;817;h510714b4cc47d3b6_0_1024"/>
          <p:cNvPicPr preferRelativeResize="0"/>
          <p:nvPr/>
        </p:nvPicPr>
        <p:blipFill rotWithShape="1">
          <a:blip r:embed="rId4">
            <a:alphaModFix/>
          </a:blip>
          <a:srcRect b="0" l="0" r="0" t="0"/>
          <a:stretch/>
        </p:blipFill>
        <p:spPr>
          <a:xfrm>
            <a:off x="685806" y="6362700"/>
            <a:ext cx="715863" cy="247650"/>
          </a:xfrm>
          <a:prstGeom prst="rect">
            <a:avLst/>
          </a:prstGeom>
          <a:noFill/>
          <a:ln>
            <a:noFill/>
          </a:ln>
        </p:spPr>
      </p:pic>
      <p:sp>
        <p:nvSpPr>
          <p:cNvPr id="818" name="Google Shape;818;h510714b4cc47d3b6_0_1024"/>
          <p:cNvSpPr txBox="1"/>
          <p:nvPr/>
        </p:nvSpPr>
        <p:spPr>
          <a:xfrm>
            <a:off x="1562113" y="6391275"/>
            <a:ext cx="2891700" cy="1905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None/>
            </a:pPr>
            <a:r>
              <a:rPr b="0" i="0" lang="en-US" sz="1200" u="none" cap="none" strike="noStrike">
                <a:solidFill>
                  <a:srgbClr val="4E5A68"/>
                </a:solidFill>
                <a:latin typeface="IBM Plex Sans"/>
                <a:ea typeface="IBM Plex Sans"/>
                <a:cs typeface="IBM Plex Sans"/>
                <a:sym typeface="IBM Plex Sans"/>
              </a:rPr>
              <a:t>Verbrauchsprognose &amp; Frühwarnung</a:t>
            </a:r>
            <a:endParaRPr/>
          </a:p>
        </p:txBody>
      </p:sp>
      <p:sp>
        <p:nvSpPr>
          <p:cNvPr id="819" name="Google Shape;819;h510714b4cc47d3b6_0_1024"/>
          <p:cNvSpPr txBox="1"/>
          <p:nvPr/>
        </p:nvSpPr>
        <p:spPr>
          <a:xfrm>
            <a:off x="10835729" y="6391275"/>
            <a:ext cx="670500" cy="190500"/>
          </a:xfrm>
          <a:prstGeom prst="rect">
            <a:avLst/>
          </a:prstGeom>
          <a:noFill/>
          <a:ln>
            <a:noFill/>
          </a:ln>
        </p:spPr>
        <p:txBody>
          <a:bodyPr anchorCtr="0" anchor="t" bIns="0" lIns="0" spcFirstLastPara="1" rIns="0" wrap="square" tIns="0">
            <a:noAutofit/>
          </a:bodyPr>
          <a:lstStyle/>
          <a:p>
            <a:pPr indent="0" lvl="0" marL="0" marR="0" rtl="0" algn="r">
              <a:lnSpc>
                <a:spcPct val="125000"/>
              </a:lnSpc>
              <a:spcBef>
                <a:spcPts val="0"/>
              </a:spcBef>
              <a:spcAft>
                <a:spcPts val="0"/>
              </a:spcAft>
              <a:buNone/>
            </a:pPr>
            <a:r>
              <a:rPr b="0" i="0" lang="en-US" sz="1200" u="none" cap="none" strike="noStrike">
                <a:solidFill>
                  <a:srgbClr val="4E5A68"/>
                </a:solidFill>
                <a:latin typeface="IBM Plex Sans"/>
                <a:ea typeface="IBM Plex Sans"/>
                <a:cs typeface="IBM Plex Sans"/>
                <a:sym typeface="IBM Plex Sans"/>
              </a:rPr>
              <a:t>B2</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24" name="Shape 824"/>
        <p:cNvGrpSpPr/>
        <p:nvPr/>
      </p:nvGrpSpPr>
      <p:grpSpPr>
        <a:xfrm>
          <a:off x="0" y="0"/>
          <a:ext cx="0" cy="0"/>
          <a:chOff x="0" y="0"/>
          <a:chExt cx="0" cy="0"/>
        </a:xfrm>
      </p:grpSpPr>
      <p:sp>
        <p:nvSpPr>
          <p:cNvPr id="825" name="Google Shape;825;h510714b4cc47d3b6_0_1121"/>
          <p:cNvSpPr txBox="1"/>
          <p:nvPr/>
        </p:nvSpPr>
        <p:spPr>
          <a:xfrm>
            <a:off x="685806" y="457200"/>
            <a:ext cx="8591400" cy="1905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None/>
            </a:pPr>
            <a:r>
              <a:rPr b="1" i="0" lang="en-US" sz="1200" u="none" cap="none" strike="noStrike">
                <a:solidFill>
                  <a:srgbClr val="00718E"/>
                </a:solidFill>
                <a:latin typeface="IBM Plex Sans"/>
                <a:ea typeface="IBM Plex Sans"/>
                <a:cs typeface="IBM Plex Sans"/>
                <a:sym typeface="IBM Plex Sans"/>
              </a:rPr>
              <a:t>BACKUP · SCHWELLE · KIKO</a:t>
            </a:r>
            <a:endParaRPr/>
          </a:p>
        </p:txBody>
      </p:sp>
      <p:sp>
        <p:nvSpPr>
          <p:cNvPr id="826" name="Google Shape;826;h510714b4cc47d3b6_0_1121"/>
          <p:cNvSpPr txBox="1"/>
          <p:nvPr/>
        </p:nvSpPr>
        <p:spPr>
          <a:xfrm>
            <a:off x="685806" y="762000"/>
            <a:ext cx="10820400" cy="438300"/>
          </a:xfrm>
          <a:prstGeom prst="rect">
            <a:avLst/>
          </a:prstGeom>
          <a:noFill/>
          <a:ln>
            <a:noFill/>
          </a:ln>
        </p:spPr>
        <p:txBody>
          <a:bodyPr anchorCtr="0" anchor="t" bIns="0" lIns="0" spcFirstLastPara="1" rIns="0" wrap="square" tIns="0">
            <a:noAutofit/>
          </a:bodyPr>
          <a:lstStyle/>
          <a:p>
            <a:pPr indent="0" lvl="0" marL="0" marR="0" rtl="0" algn="l">
              <a:lnSpc>
                <a:spcPct val="112500"/>
              </a:lnSpc>
              <a:spcBef>
                <a:spcPts val="0"/>
              </a:spcBef>
              <a:spcAft>
                <a:spcPts val="0"/>
              </a:spcAft>
              <a:buNone/>
            </a:pPr>
            <a:r>
              <a:rPr b="1" i="0" lang="en-US" sz="3000" u="none" cap="none" strike="noStrike">
                <a:solidFill>
                  <a:srgbClr val="141A21"/>
                </a:solidFill>
                <a:latin typeface="IBM Plex Sans"/>
                <a:ea typeface="IBM Plex Sans"/>
                <a:cs typeface="IBM Plex Sans"/>
                <a:sym typeface="IBM Plex Sans"/>
              </a:rPr>
              <a:t>Warum die Schwelle aus Nov–Dez 2024 stammt</a:t>
            </a:r>
            <a:endParaRPr/>
          </a:p>
        </p:txBody>
      </p:sp>
      <p:sp>
        <p:nvSpPr>
          <p:cNvPr id="827" name="Google Shape;827;h510714b4cc47d3b6_0_1121"/>
          <p:cNvSpPr/>
          <p:nvPr/>
        </p:nvSpPr>
        <p:spPr>
          <a:xfrm>
            <a:off x="685806" y="1524000"/>
            <a:ext cx="3486300" cy="1905000"/>
          </a:xfrm>
          <a:prstGeom prst="roundRect">
            <a:avLst>
              <a:gd fmla="val 5000" name="adj"/>
            </a:avLst>
          </a:prstGeom>
          <a:solidFill>
            <a:srgbClr val="FFFFFF"/>
          </a:solidFill>
          <a:ln cap="flat" cmpd="sng" w="9525">
            <a:solidFill>
              <a:srgbClr val="D2DA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828" name="Google Shape;828;h510714b4cc47d3b6_0_1121"/>
          <p:cNvSpPr txBox="1"/>
          <p:nvPr/>
        </p:nvSpPr>
        <p:spPr>
          <a:xfrm>
            <a:off x="914408" y="1733550"/>
            <a:ext cx="3029100" cy="235200"/>
          </a:xfrm>
          <a:prstGeom prst="rect">
            <a:avLst/>
          </a:prstGeom>
          <a:noFill/>
          <a:ln>
            <a:noFill/>
          </a:ln>
        </p:spPr>
        <p:txBody>
          <a:bodyPr anchorCtr="0" anchor="t" bIns="0" lIns="0" spcFirstLastPara="1" rIns="0" wrap="square" tIns="0">
            <a:noAutofit/>
          </a:bodyPr>
          <a:lstStyle/>
          <a:p>
            <a:pPr indent="0" lvl="0" marL="0" marR="0" rtl="0" algn="l">
              <a:lnSpc>
                <a:spcPct val="129964"/>
              </a:lnSpc>
              <a:spcBef>
                <a:spcPts val="0"/>
              </a:spcBef>
              <a:spcAft>
                <a:spcPts val="0"/>
              </a:spcAft>
              <a:buNone/>
            </a:pPr>
            <a:r>
              <a:rPr b="1" i="0" lang="en-US" sz="1425" u="none" cap="none" strike="noStrike">
                <a:solidFill>
                  <a:srgbClr val="141A21"/>
                </a:solidFill>
                <a:latin typeface="IBM Plex Sans"/>
                <a:ea typeface="IBM Plex Sans"/>
                <a:cs typeface="IBM Plex Sans"/>
                <a:sym typeface="IBM Plex Sans"/>
              </a:rPr>
              <a:t>Jüngste Monate vor dem Test</a:t>
            </a:r>
            <a:endParaRPr/>
          </a:p>
        </p:txBody>
      </p:sp>
      <p:sp>
        <p:nvSpPr>
          <p:cNvPr id="829" name="Google Shape;829;h510714b4cc47d3b6_0_1121"/>
          <p:cNvSpPr txBox="1"/>
          <p:nvPr/>
        </p:nvSpPr>
        <p:spPr>
          <a:xfrm>
            <a:off x="914408" y="2045018"/>
            <a:ext cx="3029100" cy="1193400"/>
          </a:xfrm>
          <a:prstGeom prst="rect">
            <a:avLst/>
          </a:prstGeom>
          <a:noFill/>
          <a:ln>
            <a:noFill/>
          </a:ln>
        </p:spPr>
        <p:txBody>
          <a:bodyPr anchorCtr="0" anchor="t" bIns="0" lIns="0" spcFirstLastPara="1" rIns="0" wrap="square" tIns="0">
            <a:noAutofit/>
          </a:bodyPr>
          <a:lstStyle/>
          <a:p>
            <a:pPr indent="0" lvl="0" marL="0" marR="0" rtl="0" algn="l">
              <a:lnSpc>
                <a:spcPct val="144963"/>
              </a:lnSpc>
              <a:spcBef>
                <a:spcPts val="0"/>
              </a:spcBef>
              <a:spcAft>
                <a:spcPts val="0"/>
              </a:spcAft>
              <a:buNone/>
            </a:pPr>
            <a:r>
              <a:rPr b="0" i="0" lang="en-US" sz="1350" u="none" cap="none" strike="noStrike">
                <a:solidFill>
                  <a:srgbClr val="4E5A68"/>
                </a:solidFill>
                <a:latin typeface="IBM Plex Sans"/>
                <a:ea typeface="IBM Plex Sans"/>
                <a:cs typeface="IBM Plex Sans"/>
                <a:sym typeface="IBM Plex Sans"/>
              </a:rPr>
              <a:t>November mit einem Modell aus Jan–Okt, Dezember aus Jan–Nov.</a:t>
            </a:r>
            <a:endParaRPr/>
          </a:p>
        </p:txBody>
      </p:sp>
      <p:sp>
        <p:nvSpPr>
          <p:cNvPr id="830" name="Google Shape;830;h510714b4cc47d3b6_0_1121"/>
          <p:cNvSpPr/>
          <p:nvPr/>
        </p:nvSpPr>
        <p:spPr>
          <a:xfrm>
            <a:off x="4352961" y="1524000"/>
            <a:ext cx="3486300" cy="1905000"/>
          </a:xfrm>
          <a:prstGeom prst="roundRect">
            <a:avLst>
              <a:gd fmla="val 5000" name="adj"/>
            </a:avLst>
          </a:prstGeom>
          <a:solidFill>
            <a:srgbClr val="FFFFFF"/>
          </a:solidFill>
          <a:ln cap="flat" cmpd="sng" w="9525">
            <a:solidFill>
              <a:srgbClr val="D2DA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831" name="Google Shape;831;h510714b4cc47d3b6_0_1121"/>
          <p:cNvSpPr txBox="1"/>
          <p:nvPr/>
        </p:nvSpPr>
        <p:spPr>
          <a:xfrm>
            <a:off x="4581563" y="1733550"/>
            <a:ext cx="3029100" cy="235200"/>
          </a:xfrm>
          <a:prstGeom prst="rect">
            <a:avLst/>
          </a:prstGeom>
          <a:noFill/>
          <a:ln>
            <a:noFill/>
          </a:ln>
        </p:spPr>
        <p:txBody>
          <a:bodyPr anchorCtr="0" anchor="t" bIns="0" lIns="0" spcFirstLastPara="1" rIns="0" wrap="square" tIns="0">
            <a:noAutofit/>
          </a:bodyPr>
          <a:lstStyle/>
          <a:p>
            <a:pPr indent="0" lvl="0" marL="0" marR="0" rtl="0" algn="l">
              <a:lnSpc>
                <a:spcPct val="129964"/>
              </a:lnSpc>
              <a:spcBef>
                <a:spcPts val="0"/>
              </a:spcBef>
              <a:spcAft>
                <a:spcPts val="0"/>
              </a:spcAft>
              <a:buNone/>
            </a:pPr>
            <a:r>
              <a:rPr b="1" i="0" lang="en-US" sz="1425" u="none" cap="none" strike="noStrike">
                <a:solidFill>
                  <a:srgbClr val="141A21"/>
                </a:solidFill>
                <a:latin typeface="IBM Plex Sans"/>
                <a:ea typeface="IBM Plex Sans"/>
                <a:cs typeface="IBM Plex Sans"/>
                <a:sym typeface="IBM Plex Sans"/>
              </a:rPr>
              <a:t>Nicht für die Modellwahl genutzt</a:t>
            </a:r>
            <a:endParaRPr/>
          </a:p>
        </p:txBody>
      </p:sp>
      <p:sp>
        <p:nvSpPr>
          <p:cNvPr id="832" name="Google Shape;832;h510714b4cc47d3b6_0_1121"/>
          <p:cNvSpPr txBox="1"/>
          <p:nvPr/>
        </p:nvSpPr>
        <p:spPr>
          <a:xfrm>
            <a:off x="4581563" y="2045018"/>
            <a:ext cx="3029100" cy="1193400"/>
          </a:xfrm>
          <a:prstGeom prst="rect">
            <a:avLst/>
          </a:prstGeom>
          <a:noFill/>
          <a:ln>
            <a:noFill/>
          </a:ln>
        </p:spPr>
        <p:txBody>
          <a:bodyPr anchorCtr="0" anchor="t" bIns="0" lIns="0" spcFirstLastPara="1" rIns="0" wrap="square" tIns="0">
            <a:noAutofit/>
          </a:bodyPr>
          <a:lstStyle/>
          <a:p>
            <a:pPr indent="0" lvl="0" marL="0" marR="0" rtl="0" algn="l">
              <a:lnSpc>
                <a:spcPct val="144963"/>
              </a:lnSpc>
              <a:spcBef>
                <a:spcPts val="0"/>
              </a:spcBef>
              <a:spcAft>
                <a:spcPts val="0"/>
              </a:spcAft>
              <a:buNone/>
            </a:pPr>
            <a:r>
              <a:rPr b="0" i="0" lang="en-US" sz="1350" u="none" cap="none" strike="noStrike">
                <a:solidFill>
                  <a:srgbClr val="4E5A68"/>
                </a:solidFill>
                <a:latin typeface="IBM Plex Sans"/>
                <a:ea typeface="IBM Plex Sans"/>
                <a:cs typeface="IBM Plex Sans"/>
                <a:sym typeface="IBM Plex Sans"/>
              </a:rPr>
              <a:t>Die Folds enden im Oktober; die Fehler sind echte Vorwärtsfehler.</a:t>
            </a:r>
            <a:endParaRPr/>
          </a:p>
        </p:txBody>
      </p:sp>
      <p:sp>
        <p:nvSpPr>
          <p:cNvPr id="833" name="Google Shape;833;h510714b4cc47d3b6_0_1121"/>
          <p:cNvSpPr/>
          <p:nvPr/>
        </p:nvSpPr>
        <p:spPr>
          <a:xfrm>
            <a:off x="8020116" y="1524000"/>
            <a:ext cx="3486300" cy="1905000"/>
          </a:xfrm>
          <a:prstGeom prst="roundRect">
            <a:avLst>
              <a:gd fmla="val 5000" name="adj"/>
            </a:avLst>
          </a:prstGeom>
          <a:solidFill>
            <a:srgbClr val="FFFFFF"/>
          </a:solidFill>
          <a:ln cap="flat" cmpd="sng" w="9525">
            <a:solidFill>
              <a:srgbClr val="D2DA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834" name="Google Shape;834;h510714b4cc47d3b6_0_1121"/>
          <p:cNvSpPr txBox="1"/>
          <p:nvPr/>
        </p:nvSpPr>
        <p:spPr>
          <a:xfrm>
            <a:off x="8248718" y="1733550"/>
            <a:ext cx="3029100" cy="235200"/>
          </a:xfrm>
          <a:prstGeom prst="rect">
            <a:avLst/>
          </a:prstGeom>
          <a:noFill/>
          <a:ln>
            <a:noFill/>
          </a:ln>
        </p:spPr>
        <p:txBody>
          <a:bodyPr anchorCtr="0" anchor="t" bIns="0" lIns="0" spcFirstLastPara="1" rIns="0" wrap="square" tIns="0">
            <a:noAutofit/>
          </a:bodyPr>
          <a:lstStyle/>
          <a:p>
            <a:pPr indent="0" lvl="0" marL="0" marR="0" rtl="0" algn="l">
              <a:lnSpc>
                <a:spcPct val="129964"/>
              </a:lnSpc>
              <a:spcBef>
                <a:spcPts val="0"/>
              </a:spcBef>
              <a:spcAft>
                <a:spcPts val="0"/>
              </a:spcAft>
              <a:buNone/>
            </a:pPr>
            <a:r>
              <a:rPr b="1" i="0" lang="en-US" sz="1425" u="none" cap="none" strike="noStrike">
                <a:solidFill>
                  <a:srgbClr val="141A21"/>
                </a:solidFill>
                <a:latin typeface="IBM Plex Sans"/>
                <a:ea typeface="IBM Plex Sans"/>
                <a:cs typeface="IBM Plex Sans"/>
                <a:sym typeface="IBM Plex Sans"/>
              </a:rPr>
              <a:t>Später geht nicht</a:t>
            </a:r>
            <a:endParaRPr/>
          </a:p>
        </p:txBody>
      </p:sp>
      <p:sp>
        <p:nvSpPr>
          <p:cNvPr id="835" name="Google Shape;835;h510714b4cc47d3b6_0_1121"/>
          <p:cNvSpPr txBox="1"/>
          <p:nvPr/>
        </p:nvSpPr>
        <p:spPr>
          <a:xfrm>
            <a:off x="8248718" y="2045018"/>
            <a:ext cx="3029100" cy="1193400"/>
          </a:xfrm>
          <a:prstGeom prst="rect">
            <a:avLst/>
          </a:prstGeom>
          <a:noFill/>
          <a:ln>
            <a:noFill/>
          </a:ln>
        </p:spPr>
        <p:txBody>
          <a:bodyPr anchorCtr="0" anchor="t" bIns="0" lIns="0" spcFirstLastPara="1" rIns="0" wrap="square" tIns="0">
            <a:noAutofit/>
          </a:bodyPr>
          <a:lstStyle/>
          <a:p>
            <a:pPr indent="0" lvl="0" marL="0" marR="0" rtl="0" algn="l">
              <a:lnSpc>
                <a:spcPct val="144963"/>
              </a:lnSpc>
              <a:spcBef>
                <a:spcPts val="0"/>
              </a:spcBef>
              <a:spcAft>
                <a:spcPts val="0"/>
              </a:spcAft>
              <a:buNone/>
            </a:pPr>
            <a:r>
              <a:rPr b="0" i="0" lang="en-US" sz="1350" u="none" cap="none" strike="noStrike">
                <a:solidFill>
                  <a:srgbClr val="4E5A68"/>
                </a:solidFill>
                <a:latin typeface="IBM Plex Sans"/>
                <a:ea typeface="IBM Plex Sans"/>
                <a:cs typeface="IBM Plex Sans"/>
                <a:sym typeface="IBM Plex Sans"/>
              </a:rPr>
              <a:t>Jede spätere Wahl würde 2025 selbst verwenden, also Leakage.</a:t>
            </a:r>
            <a:endParaRPr/>
          </a:p>
        </p:txBody>
      </p:sp>
      <p:sp>
        <p:nvSpPr>
          <p:cNvPr id="836" name="Google Shape;836;h510714b4cc47d3b6_0_1121"/>
          <p:cNvSpPr/>
          <p:nvPr/>
        </p:nvSpPr>
        <p:spPr>
          <a:xfrm>
            <a:off x="685806" y="3657600"/>
            <a:ext cx="3486300" cy="1905000"/>
          </a:xfrm>
          <a:prstGeom prst="roundRect">
            <a:avLst>
              <a:gd fmla="val 5000" name="adj"/>
            </a:avLst>
          </a:prstGeom>
          <a:solidFill>
            <a:srgbClr val="FFFFFF"/>
          </a:solidFill>
          <a:ln cap="flat" cmpd="sng" w="9525">
            <a:solidFill>
              <a:srgbClr val="D2DA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837" name="Google Shape;837;h510714b4cc47d3b6_0_1121"/>
          <p:cNvSpPr txBox="1"/>
          <p:nvPr/>
        </p:nvSpPr>
        <p:spPr>
          <a:xfrm>
            <a:off x="933458" y="3886200"/>
            <a:ext cx="2991000" cy="2286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None/>
            </a:pPr>
            <a:r>
              <a:rPr b="0" i="0" lang="en-US" sz="1350" u="none" cap="none" strike="noStrike">
                <a:solidFill>
                  <a:srgbClr val="4E5A68"/>
                </a:solidFill>
                <a:latin typeface="IBM Plex Sans"/>
                <a:ea typeface="IBM Plex Sans"/>
                <a:cs typeface="IBM Plex Sans"/>
                <a:sym typeface="IBM Plex Sans"/>
              </a:rPr>
              <a:t>Kalibriert Nov–Dez 2024</a:t>
            </a:r>
            <a:endParaRPr/>
          </a:p>
        </p:txBody>
      </p:sp>
      <p:sp>
        <p:nvSpPr>
          <p:cNvPr id="838" name="Google Shape;838;h510714b4cc47d3b6_0_1121"/>
          <p:cNvSpPr txBox="1"/>
          <p:nvPr/>
        </p:nvSpPr>
        <p:spPr>
          <a:xfrm>
            <a:off x="933458" y="4171950"/>
            <a:ext cx="1341000" cy="4953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b="1" i="0" lang="en-US" sz="3000" u="none" cap="none" strike="noStrike">
                <a:solidFill>
                  <a:srgbClr val="141A21"/>
                </a:solidFill>
                <a:latin typeface="Geist Mono"/>
                <a:ea typeface="Geist Mono"/>
                <a:cs typeface="Geist Mono"/>
                <a:sym typeface="Geist Mono"/>
              </a:rPr>
              <a:t>144,4</a:t>
            </a:r>
            <a:endParaRPr/>
          </a:p>
        </p:txBody>
      </p:sp>
      <p:sp>
        <p:nvSpPr>
          <p:cNvPr id="839" name="Google Shape;839;h510714b4cc47d3b6_0_1121"/>
          <p:cNvSpPr txBox="1"/>
          <p:nvPr/>
        </p:nvSpPr>
        <p:spPr>
          <a:xfrm>
            <a:off x="2190768" y="4343400"/>
            <a:ext cx="612000" cy="2286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None/>
            </a:pPr>
            <a:r>
              <a:rPr b="1" i="0" lang="en-US" sz="1350" u="none" cap="none" strike="noStrike">
                <a:solidFill>
                  <a:srgbClr val="657383"/>
                </a:solidFill>
                <a:latin typeface="IBM Plex Sans"/>
                <a:ea typeface="IBM Plex Sans"/>
                <a:cs typeface="IBM Plex Sans"/>
                <a:sym typeface="IBM Plex Sans"/>
              </a:rPr>
              <a:t>VLS-h</a:t>
            </a:r>
            <a:endParaRPr/>
          </a:p>
        </p:txBody>
      </p:sp>
      <p:sp>
        <p:nvSpPr>
          <p:cNvPr id="840" name="Google Shape;840;h510714b4cc47d3b6_0_1121"/>
          <p:cNvSpPr txBox="1"/>
          <p:nvPr/>
        </p:nvSpPr>
        <p:spPr>
          <a:xfrm>
            <a:off x="933458" y="4724400"/>
            <a:ext cx="2991000" cy="685800"/>
          </a:xfrm>
          <a:prstGeom prst="rect">
            <a:avLst/>
          </a:prstGeom>
          <a:noFill/>
          <a:ln>
            <a:noFill/>
          </a:ln>
        </p:spPr>
        <p:txBody>
          <a:bodyPr anchorCtr="0" anchor="t" bIns="0" lIns="0" spcFirstLastPara="1" rIns="0" wrap="square" tIns="0">
            <a:noAutofit/>
          </a:bodyPr>
          <a:lstStyle/>
          <a:p>
            <a:pPr indent="0" lvl="0" marL="0" marR="0" rtl="0" algn="l">
              <a:lnSpc>
                <a:spcPct val="137500"/>
              </a:lnSpc>
              <a:spcBef>
                <a:spcPts val="0"/>
              </a:spcBef>
              <a:spcAft>
                <a:spcPts val="0"/>
              </a:spcAft>
              <a:buNone/>
            </a:pPr>
            <a:r>
              <a:rPr b="0" i="0" lang="en-US" sz="1200" u="none" cap="none" strike="noStrike">
                <a:solidFill>
                  <a:srgbClr val="4E5A68"/>
                </a:solidFill>
                <a:latin typeface="IBM Plex Sans"/>
                <a:ea typeface="IBM Plex Sans"/>
                <a:cs typeface="IBM Plex Sans"/>
                <a:sym typeface="IBM Plex Sans"/>
              </a:rPr>
              <a:t>q99 aus 1.397 Fehlern, eingefroren</a:t>
            </a:r>
            <a:endParaRPr/>
          </a:p>
        </p:txBody>
      </p:sp>
      <p:sp>
        <p:nvSpPr>
          <p:cNvPr id="841" name="Google Shape;841;h510714b4cc47d3b6_0_1121"/>
          <p:cNvSpPr/>
          <p:nvPr/>
        </p:nvSpPr>
        <p:spPr>
          <a:xfrm>
            <a:off x="4352961" y="3657600"/>
            <a:ext cx="3486300" cy="1905000"/>
          </a:xfrm>
          <a:prstGeom prst="roundRect">
            <a:avLst>
              <a:gd fmla="val 5000" name="adj"/>
            </a:avLst>
          </a:prstGeom>
          <a:solidFill>
            <a:srgbClr val="FFFFFF"/>
          </a:solidFill>
          <a:ln cap="flat" cmpd="sng" w="9525">
            <a:solidFill>
              <a:srgbClr val="D2DA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842" name="Google Shape;842;h510714b4cc47d3b6_0_1121"/>
          <p:cNvSpPr txBox="1"/>
          <p:nvPr/>
        </p:nvSpPr>
        <p:spPr>
          <a:xfrm>
            <a:off x="4600613" y="3886200"/>
            <a:ext cx="2991000" cy="2286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None/>
            </a:pPr>
            <a:r>
              <a:rPr b="0" i="0" lang="en-US" sz="1350" u="none" cap="none" strike="noStrike">
                <a:solidFill>
                  <a:srgbClr val="4E5A68"/>
                </a:solidFill>
                <a:latin typeface="IBM Plex Sans"/>
                <a:ea typeface="IBM Plex Sans"/>
                <a:cs typeface="IBM Plex Sans"/>
                <a:sym typeface="IBM Plex Sans"/>
              </a:rPr>
              <a:t>Nachträglich aus 2025</a:t>
            </a:r>
            <a:endParaRPr/>
          </a:p>
        </p:txBody>
      </p:sp>
      <p:sp>
        <p:nvSpPr>
          <p:cNvPr id="843" name="Google Shape;843;h510714b4cc47d3b6_0_1121"/>
          <p:cNvSpPr txBox="1"/>
          <p:nvPr/>
        </p:nvSpPr>
        <p:spPr>
          <a:xfrm>
            <a:off x="4600613" y="4171950"/>
            <a:ext cx="1341000" cy="4953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b="1" i="0" lang="en-US" sz="3000" u="none" cap="none" strike="noStrike">
                <a:solidFill>
                  <a:srgbClr val="141A21"/>
                </a:solidFill>
                <a:latin typeface="Geist Mono"/>
                <a:ea typeface="Geist Mono"/>
                <a:cs typeface="Geist Mono"/>
                <a:sym typeface="Geist Mono"/>
              </a:rPr>
              <a:t>175,1</a:t>
            </a:r>
            <a:endParaRPr/>
          </a:p>
        </p:txBody>
      </p:sp>
      <p:sp>
        <p:nvSpPr>
          <p:cNvPr id="844" name="Google Shape;844;h510714b4cc47d3b6_0_1121"/>
          <p:cNvSpPr txBox="1"/>
          <p:nvPr/>
        </p:nvSpPr>
        <p:spPr>
          <a:xfrm>
            <a:off x="5857923" y="4343400"/>
            <a:ext cx="612000" cy="2286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None/>
            </a:pPr>
            <a:r>
              <a:rPr b="1" i="0" lang="en-US" sz="1350" u="none" cap="none" strike="noStrike">
                <a:solidFill>
                  <a:srgbClr val="657383"/>
                </a:solidFill>
                <a:latin typeface="IBM Plex Sans"/>
                <a:ea typeface="IBM Plex Sans"/>
                <a:cs typeface="IBM Plex Sans"/>
                <a:sym typeface="IBM Plex Sans"/>
              </a:rPr>
              <a:t>VLS-h</a:t>
            </a:r>
            <a:endParaRPr/>
          </a:p>
        </p:txBody>
      </p:sp>
      <p:sp>
        <p:nvSpPr>
          <p:cNvPr id="845" name="Google Shape;845;h510714b4cc47d3b6_0_1121"/>
          <p:cNvSpPr txBox="1"/>
          <p:nvPr/>
        </p:nvSpPr>
        <p:spPr>
          <a:xfrm>
            <a:off x="4600613" y="4724400"/>
            <a:ext cx="2991000" cy="685800"/>
          </a:xfrm>
          <a:prstGeom prst="rect">
            <a:avLst/>
          </a:prstGeom>
          <a:noFill/>
          <a:ln>
            <a:noFill/>
          </a:ln>
        </p:spPr>
        <p:txBody>
          <a:bodyPr anchorCtr="0" anchor="t" bIns="0" lIns="0" spcFirstLastPara="1" rIns="0" wrap="square" tIns="0">
            <a:noAutofit/>
          </a:bodyPr>
          <a:lstStyle/>
          <a:p>
            <a:pPr indent="0" lvl="0" marL="0" marR="0" rtl="0" algn="l">
              <a:lnSpc>
                <a:spcPct val="137500"/>
              </a:lnSpc>
              <a:spcBef>
                <a:spcPts val="0"/>
              </a:spcBef>
              <a:spcAft>
                <a:spcPts val="0"/>
              </a:spcAft>
              <a:buNone/>
            </a:pPr>
            <a:r>
              <a:rPr b="0" i="0" lang="en-US" sz="1200" u="none" cap="none" strike="noStrike">
                <a:solidFill>
                  <a:srgbClr val="4E5A68"/>
                </a:solidFill>
                <a:latin typeface="IBM Plex Sans"/>
                <a:ea typeface="IBM Plex Sans"/>
                <a:cs typeface="IBM Plex Sans"/>
                <a:sym typeface="IBM Plex Sans"/>
              </a:rPr>
              <a:t>wäre Leakage, nur zur Einordnung</a:t>
            </a:r>
            <a:endParaRPr/>
          </a:p>
        </p:txBody>
      </p:sp>
      <p:sp>
        <p:nvSpPr>
          <p:cNvPr id="846" name="Google Shape;846;h510714b4cc47d3b6_0_1121"/>
          <p:cNvSpPr/>
          <p:nvPr/>
        </p:nvSpPr>
        <p:spPr>
          <a:xfrm>
            <a:off x="8020116" y="3657600"/>
            <a:ext cx="3486300" cy="1905000"/>
          </a:xfrm>
          <a:prstGeom prst="roundRect">
            <a:avLst>
              <a:gd fmla="val 5000" name="adj"/>
            </a:avLst>
          </a:prstGeom>
          <a:solidFill>
            <a:srgbClr val="FFFFFF"/>
          </a:solidFill>
          <a:ln cap="flat" cmpd="sng" w="9525">
            <a:solidFill>
              <a:srgbClr val="D2DAE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IBM Plex Sans"/>
              <a:ea typeface="IBM Plex Sans"/>
              <a:cs typeface="IBM Plex Sans"/>
              <a:sym typeface="IBM Plex Sans"/>
            </a:endParaRPr>
          </a:p>
        </p:txBody>
      </p:sp>
      <p:sp>
        <p:nvSpPr>
          <p:cNvPr id="847" name="Google Shape;847;h510714b4cc47d3b6_0_1121"/>
          <p:cNvSpPr txBox="1"/>
          <p:nvPr/>
        </p:nvSpPr>
        <p:spPr>
          <a:xfrm>
            <a:off x="8267768" y="3886200"/>
            <a:ext cx="2991000" cy="2286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None/>
            </a:pPr>
            <a:r>
              <a:rPr b="0" i="0" lang="en-US" sz="1350" u="none" cap="none" strike="noStrike">
                <a:solidFill>
                  <a:srgbClr val="4E5A68"/>
                </a:solidFill>
                <a:latin typeface="IBM Plex Sans"/>
                <a:ea typeface="IBM Plex Sans"/>
                <a:cs typeface="IBM Plex Sans"/>
                <a:sym typeface="IBM Plex Sans"/>
              </a:rPr>
              <a:t>Typischer Fehler (Median)</a:t>
            </a:r>
            <a:endParaRPr/>
          </a:p>
        </p:txBody>
      </p:sp>
      <p:sp>
        <p:nvSpPr>
          <p:cNvPr id="848" name="Google Shape;848;h510714b4cc47d3b6_0_1121"/>
          <p:cNvSpPr txBox="1"/>
          <p:nvPr/>
        </p:nvSpPr>
        <p:spPr>
          <a:xfrm>
            <a:off x="8267768" y="4171950"/>
            <a:ext cx="2950500" cy="4953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b="1" i="0" lang="en-US" sz="3000" u="none" cap="none" strike="noStrike">
                <a:solidFill>
                  <a:srgbClr val="141A21"/>
                </a:solidFill>
                <a:latin typeface="Geist Mono"/>
                <a:ea typeface="Geist Mono"/>
                <a:cs typeface="Geist Mono"/>
                <a:sym typeface="Geist Mono"/>
              </a:rPr>
              <a:t>17,3 → 17,1</a:t>
            </a:r>
            <a:endParaRPr/>
          </a:p>
        </p:txBody>
      </p:sp>
      <p:sp>
        <p:nvSpPr>
          <p:cNvPr id="849" name="Google Shape;849;h510714b4cc47d3b6_0_1121"/>
          <p:cNvSpPr txBox="1"/>
          <p:nvPr/>
        </p:nvSpPr>
        <p:spPr>
          <a:xfrm>
            <a:off x="8267768" y="4724400"/>
            <a:ext cx="2991000" cy="685800"/>
          </a:xfrm>
          <a:prstGeom prst="rect">
            <a:avLst/>
          </a:prstGeom>
          <a:noFill/>
          <a:ln>
            <a:noFill/>
          </a:ln>
        </p:spPr>
        <p:txBody>
          <a:bodyPr anchorCtr="0" anchor="t" bIns="0" lIns="0" spcFirstLastPara="1" rIns="0" wrap="square" tIns="0">
            <a:noAutofit/>
          </a:bodyPr>
          <a:lstStyle/>
          <a:p>
            <a:pPr indent="0" lvl="0" marL="0" marR="0" rtl="0" algn="l">
              <a:lnSpc>
                <a:spcPct val="137500"/>
              </a:lnSpc>
              <a:spcBef>
                <a:spcPts val="0"/>
              </a:spcBef>
              <a:spcAft>
                <a:spcPts val="0"/>
              </a:spcAft>
              <a:buNone/>
            </a:pPr>
            <a:r>
              <a:rPr b="0" i="0" lang="en-US" sz="1200" u="none" cap="none" strike="noStrike">
                <a:solidFill>
                  <a:srgbClr val="4E5A68"/>
                </a:solidFill>
                <a:latin typeface="IBM Plex Sans"/>
                <a:ea typeface="IBM Plex Sans"/>
                <a:cs typeface="IBM Plex Sans"/>
                <a:sym typeface="IBM Plex Sans"/>
              </a:rPr>
              <a:t>Kalibrierung gegen 2025: gleich groß</a:t>
            </a:r>
            <a:endParaRPr/>
          </a:p>
        </p:txBody>
      </p:sp>
      <p:cxnSp>
        <p:nvCxnSpPr>
          <p:cNvPr id="850" name="Google Shape;850;h510714b4cc47d3b6_0_1121"/>
          <p:cNvCxnSpPr/>
          <p:nvPr/>
        </p:nvCxnSpPr>
        <p:spPr>
          <a:xfrm>
            <a:off x="0" y="6153150"/>
            <a:ext cx="12192000" cy="0"/>
          </a:xfrm>
          <a:prstGeom prst="straightConnector1">
            <a:avLst/>
          </a:prstGeom>
          <a:noFill/>
          <a:ln cap="flat" cmpd="sng" w="9525">
            <a:solidFill>
              <a:srgbClr val="E4E9EF"/>
            </a:solidFill>
            <a:prstDash val="solid"/>
            <a:round/>
            <a:headEnd len="sm" w="sm" type="none"/>
            <a:tailEnd len="sm" w="sm" type="none"/>
          </a:ln>
          <a:effectLst>
            <a:outerShdw blurRad="40000" rotWithShape="0" dir="5400000" dist="20000">
              <a:srgbClr val="000000">
                <a:alpha val="38040"/>
              </a:srgbClr>
            </a:outerShdw>
          </a:effectLst>
        </p:spPr>
      </p:cxnSp>
      <p:pic>
        <p:nvPicPr>
          <p:cNvPr descr="image.png" id="851" name="Google Shape;851;h510714b4cc47d3b6_0_1121"/>
          <p:cNvPicPr preferRelativeResize="0"/>
          <p:nvPr/>
        </p:nvPicPr>
        <p:blipFill rotWithShape="1">
          <a:blip r:embed="rId3">
            <a:alphaModFix/>
          </a:blip>
          <a:srcRect b="0" l="0" r="0" t="0"/>
          <a:stretch/>
        </p:blipFill>
        <p:spPr>
          <a:xfrm>
            <a:off x="685806" y="6362700"/>
            <a:ext cx="715863" cy="247650"/>
          </a:xfrm>
          <a:prstGeom prst="rect">
            <a:avLst/>
          </a:prstGeom>
          <a:noFill/>
          <a:ln>
            <a:noFill/>
          </a:ln>
        </p:spPr>
      </p:pic>
      <p:sp>
        <p:nvSpPr>
          <p:cNvPr id="852" name="Google Shape;852;h510714b4cc47d3b6_0_1121"/>
          <p:cNvSpPr txBox="1"/>
          <p:nvPr/>
        </p:nvSpPr>
        <p:spPr>
          <a:xfrm>
            <a:off x="1562113" y="6391275"/>
            <a:ext cx="2891700" cy="1905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None/>
            </a:pPr>
            <a:r>
              <a:rPr b="0" i="0" lang="en-US" sz="1200" u="none" cap="none" strike="noStrike">
                <a:solidFill>
                  <a:srgbClr val="4E5A68"/>
                </a:solidFill>
                <a:latin typeface="IBM Plex Sans"/>
                <a:ea typeface="IBM Plex Sans"/>
                <a:cs typeface="IBM Plex Sans"/>
                <a:sym typeface="IBM Plex Sans"/>
              </a:rPr>
              <a:t>Verbrauchsprognose &amp; Frühwarnung</a:t>
            </a:r>
            <a:endParaRPr/>
          </a:p>
        </p:txBody>
      </p:sp>
      <p:sp>
        <p:nvSpPr>
          <p:cNvPr id="853" name="Google Shape;853;h510714b4cc47d3b6_0_1121"/>
          <p:cNvSpPr txBox="1"/>
          <p:nvPr/>
        </p:nvSpPr>
        <p:spPr>
          <a:xfrm>
            <a:off x="10835729" y="6391275"/>
            <a:ext cx="670500" cy="190500"/>
          </a:xfrm>
          <a:prstGeom prst="rect">
            <a:avLst/>
          </a:prstGeom>
          <a:noFill/>
          <a:ln>
            <a:noFill/>
          </a:ln>
        </p:spPr>
        <p:txBody>
          <a:bodyPr anchorCtr="0" anchor="t" bIns="0" lIns="0" spcFirstLastPara="1" rIns="0" wrap="square" tIns="0">
            <a:noAutofit/>
          </a:bodyPr>
          <a:lstStyle/>
          <a:p>
            <a:pPr indent="0" lvl="0" marL="0" marR="0" rtl="0" algn="r">
              <a:lnSpc>
                <a:spcPct val="125000"/>
              </a:lnSpc>
              <a:spcBef>
                <a:spcPts val="0"/>
              </a:spcBef>
              <a:spcAft>
                <a:spcPts val="0"/>
              </a:spcAft>
              <a:buNone/>
            </a:pPr>
            <a:r>
              <a:rPr b="0" i="0" lang="en-US" sz="1200" u="none" cap="none" strike="noStrike">
                <a:solidFill>
                  <a:srgbClr val="4E5A68"/>
                </a:solidFill>
                <a:latin typeface="IBM Plex Sans"/>
                <a:ea typeface="IBM Plex Sans"/>
                <a:cs typeface="IBM Plex Sans"/>
                <a:sym typeface="IBM Plex Sans"/>
              </a:rPr>
              <a:t>B3</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58" name="Shape 858"/>
        <p:cNvGrpSpPr/>
        <p:nvPr/>
      </p:nvGrpSpPr>
      <p:grpSpPr>
        <a:xfrm>
          <a:off x="0" y="0"/>
          <a:ext cx="0" cy="0"/>
          <a:chOff x="0" y="0"/>
          <a:chExt cx="0" cy="0"/>
        </a:xfrm>
      </p:grpSpPr>
      <p:sp>
        <p:nvSpPr>
          <p:cNvPr id="859" name="Google Shape;859;h510714b4cc47d3b6_0_1229"/>
          <p:cNvSpPr txBox="1"/>
          <p:nvPr/>
        </p:nvSpPr>
        <p:spPr>
          <a:xfrm>
            <a:off x="685806" y="457200"/>
            <a:ext cx="8591400" cy="1905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None/>
            </a:pPr>
            <a:r>
              <a:rPr b="1" i="0" lang="en-US" sz="1200" u="none" cap="none" strike="noStrike">
                <a:solidFill>
                  <a:srgbClr val="00718E"/>
                </a:solidFill>
                <a:latin typeface="IBM Plex Sans"/>
                <a:ea typeface="IBM Plex Sans"/>
                <a:cs typeface="IBM Plex Sans"/>
                <a:sym typeface="IBM Plex Sans"/>
              </a:rPr>
              <a:t>BACKUP · ML CANVAS · KIKO</a:t>
            </a:r>
            <a:endParaRPr/>
          </a:p>
        </p:txBody>
      </p:sp>
      <p:sp>
        <p:nvSpPr>
          <p:cNvPr id="860" name="Google Shape;860;h510714b4cc47d3b6_0_1229"/>
          <p:cNvSpPr txBox="1"/>
          <p:nvPr/>
        </p:nvSpPr>
        <p:spPr>
          <a:xfrm>
            <a:off x="685806" y="762000"/>
            <a:ext cx="10820400" cy="438300"/>
          </a:xfrm>
          <a:prstGeom prst="rect">
            <a:avLst/>
          </a:prstGeom>
          <a:noFill/>
          <a:ln>
            <a:noFill/>
          </a:ln>
        </p:spPr>
        <p:txBody>
          <a:bodyPr anchorCtr="0" anchor="t" bIns="0" lIns="0" spcFirstLastPara="1" rIns="0" wrap="square" tIns="0">
            <a:noAutofit/>
          </a:bodyPr>
          <a:lstStyle/>
          <a:p>
            <a:pPr indent="0" lvl="0" marL="0" marR="0" rtl="0" algn="l">
              <a:lnSpc>
                <a:spcPct val="112500"/>
              </a:lnSpc>
              <a:spcBef>
                <a:spcPts val="0"/>
              </a:spcBef>
              <a:spcAft>
                <a:spcPts val="0"/>
              </a:spcAft>
              <a:buNone/>
            </a:pPr>
            <a:r>
              <a:rPr b="1" i="0" lang="en-US" sz="3000" u="none" cap="none" strike="noStrike">
                <a:solidFill>
                  <a:srgbClr val="141A21"/>
                </a:solidFill>
                <a:latin typeface="IBM Plex Sans"/>
                <a:ea typeface="IBM Plex Sans"/>
                <a:cs typeface="IBM Plex Sans"/>
                <a:sym typeface="IBM Plex Sans"/>
              </a:rPr>
              <a:t>ML Canvas im Wortlaut von Tabelle A1 des Berichts</a:t>
            </a:r>
            <a:endParaRPr/>
          </a:p>
        </p:txBody>
      </p:sp>
      <p:graphicFrame>
        <p:nvGraphicFramePr>
          <p:cNvPr id="861" name="Google Shape;861;h510714b4cc47d3b6_0_1229"/>
          <p:cNvGraphicFramePr/>
          <p:nvPr/>
        </p:nvGraphicFramePr>
        <p:xfrm>
          <a:off x="685806" y="1428750"/>
          <a:ext cx="3000000" cy="3000000"/>
        </p:xfrm>
        <a:graphic>
          <a:graphicData uri="http://schemas.openxmlformats.org/drawingml/2006/table">
            <a:tbl>
              <a:tblPr>
                <a:noFill/>
                <a:tableStyleId>{1020491D-08E3-4181-921C-9FBC3C191FCD}</a:tableStyleId>
              </a:tblPr>
              <a:tblGrid>
                <a:gridCol w="571500"/>
                <a:gridCol w="1809775"/>
                <a:gridCol w="8439225"/>
              </a:tblGrid>
              <a:tr h="342900">
                <a:tc>
                  <a:txBody>
                    <a:bodyPr/>
                    <a:lstStyle/>
                    <a:p>
                      <a:pPr indent="0" lvl="0" marL="0" marR="0" rtl="0" algn="l">
                        <a:lnSpc>
                          <a:spcPct val="129904"/>
                        </a:lnSpc>
                        <a:spcBef>
                          <a:spcPts val="0"/>
                        </a:spcBef>
                        <a:spcAft>
                          <a:spcPts val="0"/>
                        </a:spcAft>
                        <a:buNone/>
                      </a:pPr>
                      <a:r>
                        <a:rPr b="1" i="0" lang="en-US" sz="1050" u="none" cap="none" strike="noStrike">
                          <a:solidFill>
                            <a:srgbClr val="FFFFFF"/>
                          </a:solidFill>
                          <a:latin typeface="IBM Plex Sans"/>
                          <a:ea typeface="IBM Plex Sans"/>
                          <a:cs typeface="IBM Plex Sans"/>
                          <a:sym typeface="IBM Plex Sans"/>
                        </a:rPr>
                        <a:t>Nr.</a:t>
                      </a:r>
                      <a:endParaRPr/>
                    </a:p>
                  </a:txBody>
                  <a:tcPr marT="38100" marB="38100" marR="114300" marL="114300" anchor="ctr">
                    <a:lnL cap="flat" cmpd="sng" w="9525">
                      <a:solidFill>
                        <a:srgbClr val="D2DAE2"/>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2DAE2"/>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4263F"/>
                    </a:solidFill>
                  </a:tcPr>
                </a:tc>
                <a:tc>
                  <a:txBody>
                    <a:bodyPr/>
                    <a:lstStyle/>
                    <a:p>
                      <a:pPr indent="0" lvl="0" marL="0" marR="0" rtl="0" algn="l">
                        <a:lnSpc>
                          <a:spcPct val="129904"/>
                        </a:lnSpc>
                        <a:spcBef>
                          <a:spcPts val="0"/>
                        </a:spcBef>
                        <a:spcAft>
                          <a:spcPts val="0"/>
                        </a:spcAft>
                        <a:buNone/>
                      </a:pPr>
                      <a:r>
                        <a:rPr b="1" i="0" lang="en-US" sz="1050" u="none" cap="none" strike="noStrike">
                          <a:solidFill>
                            <a:srgbClr val="FFFFFF"/>
                          </a:solidFill>
                          <a:latin typeface="IBM Plex Sans"/>
                          <a:ea typeface="IBM Plex Sans"/>
                          <a:cs typeface="IBM Plex Sans"/>
                          <a:sym typeface="IBM Plex Sans"/>
                        </a:rPr>
                        <a:t>Feld</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2DAE2"/>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4263F"/>
                    </a:solidFill>
                  </a:tcPr>
                </a:tc>
                <a:tc>
                  <a:txBody>
                    <a:bodyPr/>
                    <a:lstStyle/>
                    <a:p>
                      <a:pPr indent="0" lvl="0" marL="0" marR="0" rtl="0" algn="l">
                        <a:lnSpc>
                          <a:spcPct val="129904"/>
                        </a:lnSpc>
                        <a:spcBef>
                          <a:spcPts val="0"/>
                        </a:spcBef>
                        <a:spcAft>
                          <a:spcPts val="0"/>
                        </a:spcAft>
                        <a:buNone/>
                      </a:pPr>
                      <a:r>
                        <a:rPr b="1" i="0" lang="en-US" sz="1050" u="none" cap="none" strike="noStrike">
                          <a:solidFill>
                            <a:srgbClr val="FFFFFF"/>
                          </a:solidFill>
                          <a:latin typeface="IBM Plex Sans"/>
                          <a:ea typeface="IBM Plex Sans"/>
                          <a:cs typeface="IBM Plex Sans"/>
                          <a:sym typeface="IBM Plex Sans"/>
                        </a:rPr>
                        <a:t>Wortlaut (Bericht, Tab. A1)</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D2DAE2"/>
                      </a:solidFill>
                      <a:prstDash val="solid"/>
                      <a:round/>
                      <a:headEnd len="sm" w="sm" type="none"/>
                      <a:tailEnd len="sm" w="sm" type="none"/>
                    </a:lnR>
                    <a:lnT cap="flat" cmpd="sng" w="9525">
                      <a:solidFill>
                        <a:srgbClr val="D2DAE2"/>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4263F"/>
                    </a:solidFill>
                  </a:tcPr>
                </a:tc>
              </a:tr>
              <a:tr h="438150">
                <a:tc>
                  <a:txBody>
                    <a:bodyPr/>
                    <a:lstStyle/>
                    <a:p>
                      <a:pPr indent="0" lvl="0" marL="0" marR="0" rtl="0" algn="l">
                        <a:lnSpc>
                          <a:spcPct val="129904"/>
                        </a:lnSpc>
                        <a:spcBef>
                          <a:spcPts val="0"/>
                        </a:spcBef>
                        <a:spcAft>
                          <a:spcPts val="0"/>
                        </a:spcAft>
                        <a:buNone/>
                      </a:pPr>
                      <a:r>
                        <a:rPr b="0" i="0" lang="en-US" sz="1050" u="none" cap="none" strike="noStrike">
                          <a:solidFill>
                            <a:srgbClr val="141A21"/>
                          </a:solidFill>
                          <a:latin typeface="IBM Plex Sans"/>
                          <a:ea typeface="IBM Plex Sans"/>
                          <a:cs typeface="IBM Plex Sans"/>
                          <a:sym typeface="IBM Plex Sans"/>
                        </a:rPr>
                        <a:t>01</a:t>
                      </a:r>
                      <a:endParaRPr/>
                    </a:p>
                  </a:txBody>
                  <a:tcPr marT="38100" marB="38100" marR="114300" marL="114300" anchor="ctr">
                    <a:lnL cap="flat" cmpd="sng" w="9525">
                      <a:solidFill>
                        <a:srgbClr val="D2DAE2"/>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FFFFFF"/>
                    </a:solidFill>
                  </a:tcPr>
                </a:tc>
                <a:tc>
                  <a:txBody>
                    <a:bodyPr/>
                    <a:lstStyle/>
                    <a:p>
                      <a:pPr indent="0" lvl="0" marL="0" marR="0" rtl="0" algn="l">
                        <a:lnSpc>
                          <a:spcPct val="129904"/>
                        </a:lnSpc>
                        <a:spcBef>
                          <a:spcPts val="0"/>
                        </a:spcBef>
                        <a:spcAft>
                          <a:spcPts val="0"/>
                        </a:spcAft>
                        <a:buNone/>
                      </a:pPr>
                      <a:r>
                        <a:rPr b="0" i="0" lang="en-US" sz="1050" u="none" cap="none" strike="noStrike">
                          <a:solidFill>
                            <a:srgbClr val="141A21"/>
                          </a:solidFill>
                          <a:latin typeface="IBM Plex Sans"/>
                          <a:ea typeface="IBM Plex Sans"/>
                          <a:cs typeface="IBM Plex Sans"/>
                          <a:sym typeface="IBM Plex Sans"/>
                        </a:rPr>
                        <a:t>Mehrwert</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FFFFFF"/>
                    </a:solidFill>
                  </a:tcPr>
                </a:tc>
                <a:tc>
                  <a:txBody>
                    <a:bodyPr/>
                    <a:lstStyle/>
                    <a:p>
                      <a:pPr indent="0" lvl="0" marL="0" marR="0" rtl="0" algn="l">
                        <a:lnSpc>
                          <a:spcPct val="129904"/>
                        </a:lnSpc>
                        <a:spcBef>
                          <a:spcPts val="0"/>
                        </a:spcBef>
                        <a:spcAft>
                          <a:spcPts val="0"/>
                        </a:spcAft>
                        <a:buNone/>
                      </a:pPr>
                      <a:r>
                        <a:rPr b="0" i="0" lang="en-US" sz="1050" u="none" cap="none" strike="noStrike">
                          <a:solidFill>
                            <a:srgbClr val="141A21"/>
                          </a:solidFill>
                          <a:latin typeface="IBM Plex Sans"/>
                          <a:ea typeface="IBM Plex Sans"/>
                          <a:cs typeface="IBM Plex Sans"/>
                          <a:sym typeface="IBM Plex Sans"/>
                        </a:rPr>
                        <a:t>Genauere Folgemonatsplanung und monatliche Prüfung ungewöhnlicher Zählerwerte.</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D2DAE2"/>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FFFFFF"/>
                    </a:solidFill>
                  </a:tcPr>
                </a:tc>
              </a:tr>
              <a:tr h="438150">
                <a:tc>
                  <a:txBody>
                    <a:bodyPr/>
                    <a:lstStyle/>
                    <a:p>
                      <a:pPr indent="0" lvl="0" marL="0" marR="0" rtl="0" algn="l">
                        <a:lnSpc>
                          <a:spcPct val="129904"/>
                        </a:lnSpc>
                        <a:spcBef>
                          <a:spcPts val="0"/>
                        </a:spcBef>
                        <a:spcAft>
                          <a:spcPts val="0"/>
                        </a:spcAft>
                        <a:buNone/>
                      </a:pPr>
                      <a:r>
                        <a:rPr b="0" i="0" lang="en-US" sz="1050" u="none" cap="none" strike="noStrike">
                          <a:solidFill>
                            <a:srgbClr val="141A21"/>
                          </a:solidFill>
                          <a:latin typeface="IBM Plex Sans"/>
                          <a:ea typeface="IBM Plex Sans"/>
                          <a:cs typeface="IBM Plex Sans"/>
                          <a:sym typeface="IBM Plex Sans"/>
                        </a:rPr>
                        <a:t>02</a:t>
                      </a:r>
                      <a:endParaRPr/>
                    </a:p>
                  </a:txBody>
                  <a:tcPr marT="38100" marB="38100" marR="114300" marL="114300" anchor="ctr">
                    <a:lnL cap="flat" cmpd="sng" w="9525">
                      <a:solidFill>
                        <a:srgbClr val="D2DAE2"/>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FFFFFF"/>
                    </a:solidFill>
                  </a:tcPr>
                </a:tc>
                <a:tc>
                  <a:txBody>
                    <a:bodyPr/>
                    <a:lstStyle/>
                    <a:p>
                      <a:pPr indent="0" lvl="0" marL="0" marR="0" rtl="0" algn="l">
                        <a:lnSpc>
                          <a:spcPct val="129904"/>
                        </a:lnSpc>
                        <a:spcBef>
                          <a:spcPts val="0"/>
                        </a:spcBef>
                        <a:spcAft>
                          <a:spcPts val="0"/>
                        </a:spcAft>
                        <a:buNone/>
                      </a:pPr>
                      <a:r>
                        <a:rPr b="0" i="0" lang="en-US" sz="1050" u="none" cap="none" strike="noStrike">
                          <a:solidFill>
                            <a:srgbClr val="141A21"/>
                          </a:solidFill>
                          <a:latin typeface="IBM Plex Sans"/>
                          <a:ea typeface="IBM Plex Sans"/>
                          <a:cs typeface="IBM Plex Sans"/>
                          <a:sym typeface="IBM Plex Sans"/>
                        </a:rPr>
                        <a:t>Datenquellen</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FFFFFF"/>
                    </a:solidFill>
                  </a:tcPr>
                </a:tc>
                <a:tc>
                  <a:txBody>
                    <a:bodyPr/>
                    <a:lstStyle/>
                    <a:p>
                      <a:pPr indent="0" lvl="0" marL="0" marR="0" rtl="0" algn="l">
                        <a:lnSpc>
                          <a:spcPct val="129904"/>
                        </a:lnSpc>
                        <a:spcBef>
                          <a:spcPts val="0"/>
                        </a:spcBef>
                        <a:spcAft>
                          <a:spcPts val="0"/>
                        </a:spcAft>
                        <a:buNone/>
                      </a:pPr>
                      <a:r>
                        <a:rPr b="0" i="0" lang="en-US" sz="1050" u="none" cap="none" strike="noStrike">
                          <a:solidFill>
                            <a:srgbClr val="141A21"/>
                          </a:solidFill>
                          <a:latin typeface="IBM Plex Sans"/>
                          <a:ea typeface="IBM Plex Sans"/>
                          <a:cs typeface="IBM Plex Sans"/>
                          <a:sym typeface="IBM Plex Sans"/>
                        </a:rPr>
                        <a:t>Zählerverbräuche, Verträge, Kundentyp, Kalender, Wetter, Produktionsplan und Wartung.</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D2DAE2"/>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FFFFFF"/>
                    </a:solidFill>
                  </a:tcPr>
                </a:tc>
              </a:tr>
              <a:tr h="438150">
                <a:tc>
                  <a:txBody>
                    <a:bodyPr/>
                    <a:lstStyle/>
                    <a:p>
                      <a:pPr indent="0" lvl="0" marL="0" marR="0" rtl="0" algn="l">
                        <a:lnSpc>
                          <a:spcPct val="129904"/>
                        </a:lnSpc>
                        <a:spcBef>
                          <a:spcPts val="0"/>
                        </a:spcBef>
                        <a:spcAft>
                          <a:spcPts val="0"/>
                        </a:spcAft>
                        <a:buNone/>
                      </a:pPr>
                      <a:r>
                        <a:rPr b="0" i="0" lang="en-US" sz="1050" u="none" cap="none" strike="noStrike">
                          <a:solidFill>
                            <a:srgbClr val="141A21"/>
                          </a:solidFill>
                          <a:latin typeface="IBM Plex Sans"/>
                          <a:ea typeface="IBM Plex Sans"/>
                          <a:cs typeface="IBM Plex Sans"/>
                          <a:sym typeface="IBM Plex Sans"/>
                        </a:rPr>
                        <a:t>03</a:t>
                      </a:r>
                      <a:endParaRPr/>
                    </a:p>
                  </a:txBody>
                  <a:tcPr marT="38100" marB="38100" marR="114300" marL="114300" anchor="ctr">
                    <a:lnL cap="flat" cmpd="sng" w="9525">
                      <a:solidFill>
                        <a:srgbClr val="D2DAE2"/>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E3F3F7"/>
                    </a:solidFill>
                  </a:tcPr>
                </a:tc>
                <a:tc>
                  <a:txBody>
                    <a:bodyPr/>
                    <a:lstStyle/>
                    <a:p>
                      <a:pPr indent="0" lvl="0" marL="0" marR="0" rtl="0" algn="l">
                        <a:lnSpc>
                          <a:spcPct val="129904"/>
                        </a:lnSpc>
                        <a:spcBef>
                          <a:spcPts val="0"/>
                        </a:spcBef>
                        <a:spcAft>
                          <a:spcPts val="0"/>
                        </a:spcAft>
                        <a:buNone/>
                      </a:pPr>
                      <a:r>
                        <a:rPr b="0" i="0" lang="en-US" sz="1050" u="none" cap="none" strike="noStrike">
                          <a:solidFill>
                            <a:srgbClr val="141A21"/>
                          </a:solidFill>
                          <a:latin typeface="IBM Plex Sans"/>
                          <a:ea typeface="IBM Plex Sans"/>
                          <a:cs typeface="IBM Plex Sans"/>
                          <a:sym typeface="IBM Plex Sans"/>
                        </a:rPr>
                        <a:t>Vorhersage</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E3F3F7"/>
                    </a:solidFill>
                  </a:tcPr>
                </a:tc>
                <a:tc>
                  <a:txBody>
                    <a:bodyPr/>
                    <a:lstStyle/>
                    <a:p>
                      <a:pPr indent="0" lvl="0" marL="0" marR="0" rtl="0" algn="l">
                        <a:lnSpc>
                          <a:spcPct val="129904"/>
                        </a:lnSpc>
                        <a:spcBef>
                          <a:spcPts val="0"/>
                        </a:spcBef>
                        <a:spcAft>
                          <a:spcPts val="0"/>
                        </a:spcAft>
                        <a:buNone/>
                      </a:pPr>
                      <a:r>
                        <a:rPr b="0" i="0" lang="en-US" sz="1050" u="none" cap="none" strike="noStrike">
                          <a:solidFill>
                            <a:srgbClr val="141A21"/>
                          </a:solidFill>
                          <a:latin typeface="IBM Plex Sans"/>
                          <a:ea typeface="IBM Plex Sans"/>
                          <a:cs typeface="IBM Plex Sans"/>
                          <a:sym typeface="IBM Plex Sans"/>
                        </a:rPr>
                        <a:t>VLS je Zähler-Monat; Rückrechnung in kWh; große Residuen werden Prüfhinweise.</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D2DAE2"/>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E3F3F7"/>
                    </a:solidFill>
                  </a:tcPr>
                </a:tc>
              </a:tr>
              <a:tr h="438150">
                <a:tc>
                  <a:txBody>
                    <a:bodyPr/>
                    <a:lstStyle/>
                    <a:p>
                      <a:pPr indent="0" lvl="0" marL="0" marR="0" rtl="0" algn="l">
                        <a:lnSpc>
                          <a:spcPct val="129904"/>
                        </a:lnSpc>
                        <a:spcBef>
                          <a:spcPts val="0"/>
                        </a:spcBef>
                        <a:spcAft>
                          <a:spcPts val="0"/>
                        </a:spcAft>
                        <a:buNone/>
                      </a:pPr>
                      <a:r>
                        <a:rPr b="0" i="0" lang="en-US" sz="1050" u="none" cap="none" strike="noStrike">
                          <a:solidFill>
                            <a:srgbClr val="141A21"/>
                          </a:solidFill>
                          <a:latin typeface="IBM Plex Sans"/>
                          <a:ea typeface="IBM Plex Sans"/>
                          <a:cs typeface="IBM Plex Sans"/>
                          <a:sym typeface="IBM Plex Sans"/>
                        </a:rPr>
                        <a:t>04</a:t>
                      </a:r>
                      <a:endParaRPr/>
                    </a:p>
                  </a:txBody>
                  <a:tcPr marT="38100" marB="38100" marR="114300" marL="114300" anchor="ctr">
                    <a:lnL cap="flat" cmpd="sng" w="9525">
                      <a:solidFill>
                        <a:srgbClr val="D2DAE2"/>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E3F3F7"/>
                    </a:solidFill>
                  </a:tcPr>
                </a:tc>
                <a:tc>
                  <a:txBody>
                    <a:bodyPr/>
                    <a:lstStyle/>
                    <a:p>
                      <a:pPr indent="0" lvl="0" marL="0" marR="0" rtl="0" algn="l">
                        <a:lnSpc>
                          <a:spcPct val="129904"/>
                        </a:lnSpc>
                        <a:spcBef>
                          <a:spcPts val="0"/>
                        </a:spcBef>
                        <a:spcAft>
                          <a:spcPts val="0"/>
                        </a:spcAft>
                        <a:buNone/>
                      </a:pPr>
                      <a:r>
                        <a:rPr b="0" i="0" lang="en-US" sz="1050" u="none" cap="none" strike="noStrike">
                          <a:solidFill>
                            <a:srgbClr val="141A21"/>
                          </a:solidFill>
                          <a:latin typeface="IBM Plex Sans"/>
                          <a:ea typeface="IBM Plex Sans"/>
                          <a:cs typeface="IBM Plex Sans"/>
                          <a:sym typeface="IBM Plex Sans"/>
                        </a:rPr>
                        <a:t>Merkmale</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E3F3F7"/>
                    </a:solidFill>
                  </a:tcPr>
                </a:tc>
                <a:tc>
                  <a:txBody>
                    <a:bodyPr/>
                    <a:lstStyle/>
                    <a:p>
                      <a:pPr indent="0" lvl="0" marL="0" marR="0" rtl="0" algn="l">
                        <a:lnSpc>
                          <a:spcPct val="129904"/>
                        </a:lnSpc>
                        <a:spcBef>
                          <a:spcPts val="0"/>
                        </a:spcBef>
                        <a:spcAft>
                          <a:spcPts val="0"/>
                        </a:spcAft>
                        <a:buNone/>
                      </a:pPr>
                      <a:r>
                        <a:rPr b="0" i="0" lang="en-US" sz="1050" u="none" cap="none" strike="noStrike">
                          <a:solidFill>
                            <a:srgbClr val="141A21"/>
                          </a:solidFill>
                          <a:latin typeface="IBM Plex Sans"/>
                          <a:ea typeface="IBM Plex Sans"/>
                          <a:cs typeface="IBM Plex Sans"/>
                          <a:sym typeface="IBM Plex Sans"/>
                        </a:rPr>
                        <a:t>Historie, Saison, Kalender, Wetterprognose, Produktionsplan, Wartung und Kundentyp.</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D2DAE2"/>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E3F3F7"/>
                    </a:solidFill>
                  </a:tcPr>
                </a:tc>
              </a:tr>
              <a:tr h="438150">
                <a:tc>
                  <a:txBody>
                    <a:bodyPr/>
                    <a:lstStyle/>
                    <a:p>
                      <a:pPr indent="0" lvl="0" marL="0" marR="0" rtl="0" algn="l">
                        <a:lnSpc>
                          <a:spcPct val="129904"/>
                        </a:lnSpc>
                        <a:spcBef>
                          <a:spcPts val="0"/>
                        </a:spcBef>
                        <a:spcAft>
                          <a:spcPts val="0"/>
                        </a:spcAft>
                        <a:buNone/>
                      </a:pPr>
                      <a:r>
                        <a:rPr b="0" i="0" lang="en-US" sz="1050" u="none" cap="none" strike="noStrike">
                          <a:solidFill>
                            <a:srgbClr val="141A21"/>
                          </a:solidFill>
                          <a:latin typeface="IBM Plex Sans"/>
                          <a:ea typeface="IBM Plex Sans"/>
                          <a:cs typeface="IBM Plex Sans"/>
                          <a:sym typeface="IBM Plex Sans"/>
                        </a:rPr>
                        <a:t>05</a:t>
                      </a:r>
                      <a:endParaRPr/>
                    </a:p>
                  </a:txBody>
                  <a:tcPr marT="38100" marB="38100" marR="114300" marL="114300" anchor="ctr">
                    <a:lnL cap="flat" cmpd="sng" w="9525">
                      <a:solidFill>
                        <a:srgbClr val="D2DAE2"/>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E3F3F7"/>
                    </a:solidFill>
                  </a:tcPr>
                </a:tc>
                <a:tc>
                  <a:txBody>
                    <a:bodyPr/>
                    <a:lstStyle/>
                    <a:p>
                      <a:pPr indent="0" lvl="0" marL="0" marR="0" rtl="0" algn="l">
                        <a:lnSpc>
                          <a:spcPct val="129904"/>
                        </a:lnSpc>
                        <a:spcBef>
                          <a:spcPts val="0"/>
                        </a:spcBef>
                        <a:spcAft>
                          <a:spcPts val="0"/>
                        </a:spcAft>
                        <a:buNone/>
                      </a:pPr>
                      <a:r>
                        <a:rPr b="0" i="0" lang="en-US" sz="1050" u="none" cap="none" strike="noStrike">
                          <a:solidFill>
                            <a:srgbClr val="141A21"/>
                          </a:solidFill>
                          <a:latin typeface="IBM Plex Sans"/>
                          <a:ea typeface="IBM Plex Sans"/>
                          <a:cs typeface="IBM Plex Sans"/>
                          <a:sym typeface="IBM Plex Sans"/>
                        </a:rPr>
                        <a:t>Lernansatz</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E3F3F7"/>
                    </a:solidFill>
                  </a:tcPr>
                </a:tc>
                <a:tc>
                  <a:txBody>
                    <a:bodyPr/>
                    <a:lstStyle/>
                    <a:p>
                      <a:pPr indent="0" lvl="0" marL="0" marR="0" rtl="0" algn="l">
                        <a:lnSpc>
                          <a:spcPct val="129904"/>
                        </a:lnSpc>
                        <a:spcBef>
                          <a:spcPts val="0"/>
                        </a:spcBef>
                        <a:spcAft>
                          <a:spcPts val="0"/>
                        </a:spcAft>
                        <a:buNone/>
                      </a:pPr>
                      <a:r>
                        <a:rPr b="0" i="0" lang="en-US" sz="1050" u="none" cap="none" strike="noStrike">
                          <a:solidFill>
                            <a:srgbClr val="141A21"/>
                          </a:solidFill>
                          <a:latin typeface="IBM Plex Sans"/>
                          <a:ea typeface="IBM Plex Sans"/>
                          <a:cs typeface="IBM Plex Sans"/>
                          <a:sym typeface="IBM Plex Sans"/>
                        </a:rPr>
                        <a:t>Überwachte Regression; lineare Regression als Referenz, Random Forest als nichtlinearer Vergleich.</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D2DAE2"/>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E3F3F7"/>
                    </a:solidFill>
                  </a:tcPr>
                </a:tc>
              </a:tr>
              <a:tr h="438150">
                <a:tc>
                  <a:txBody>
                    <a:bodyPr/>
                    <a:lstStyle/>
                    <a:p>
                      <a:pPr indent="0" lvl="0" marL="0" marR="0" rtl="0" algn="l">
                        <a:lnSpc>
                          <a:spcPct val="129904"/>
                        </a:lnSpc>
                        <a:spcBef>
                          <a:spcPts val="0"/>
                        </a:spcBef>
                        <a:spcAft>
                          <a:spcPts val="0"/>
                        </a:spcAft>
                        <a:buNone/>
                      </a:pPr>
                      <a:r>
                        <a:rPr b="0" i="0" lang="en-US" sz="1050" u="none" cap="none" strike="noStrike">
                          <a:solidFill>
                            <a:srgbClr val="141A21"/>
                          </a:solidFill>
                          <a:latin typeface="IBM Plex Sans"/>
                          <a:ea typeface="IBM Plex Sans"/>
                          <a:cs typeface="IBM Plex Sans"/>
                          <a:sym typeface="IBM Plex Sans"/>
                        </a:rPr>
                        <a:t>06</a:t>
                      </a:r>
                      <a:endParaRPr/>
                    </a:p>
                  </a:txBody>
                  <a:tcPr marT="38100" marB="38100" marR="114300" marL="114300" anchor="ctr">
                    <a:lnL cap="flat" cmpd="sng" w="9525">
                      <a:solidFill>
                        <a:srgbClr val="D2DAE2"/>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E3F3F7"/>
                    </a:solidFill>
                  </a:tcPr>
                </a:tc>
                <a:tc>
                  <a:txBody>
                    <a:bodyPr/>
                    <a:lstStyle/>
                    <a:p>
                      <a:pPr indent="0" lvl="0" marL="0" marR="0" rtl="0" algn="l">
                        <a:lnSpc>
                          <a:spcPct val="129904"/>
                        </a:lnSpc>
                        <a:spcBef>
                          <a:spcPts val="0"/>
                        </a:spcBef>
                        <a:spcAft>
                          <a:spcPts val="0"/>
                        </a:spcAft>
                        <a:buNone/>
                      </a:pPr>
                      <a:r>
                        <a:rPr b="0" i="0" lang="en-US" sz="1050" u="none" cap="none" strike="noStrike">
                          <a:solidFill>
                            <a:srgbClr val="141A21"/>
                          </a:solidFill>
                          <a:latin typeface="IBM Plex Sans"/>
                          <a:ea typeface="IBM Plex Sans"/>
                          <a:cs typeface="IBM Plex Sans"/>
                          <a:sym typeface="IBM Plex Sans"/>
                        </a:rPr>
                        <a:t>Evaluation</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E3F3F7"/>
                    </a:solidFill>
                  </a:tcPr>
                </a:tc>
                <a:tc>
                  <a:txBody>
                    <a:bodyPr/>
                    <a:lstStyle/>
                    <a:p>
                      <a:pPr indent="0" lvl="0" marL="0" marR="0" rtl="0" algn="l">
                        <a:lnSpc>
                          <a:spcPct val="129904"/>
                        </a:lnSpc>
                        <a:spcBef>
                          <a:spcPts val="0"/>
                        </a:spcBef>
                        <a:spcAft>
                          <a:spcPts val="0"/>
                        </a:spcAft>
                        <a:buNone/>
                      </a:pPr>
                      <a:r>
                        <a:rPr b="0" i="0" lang="en-US" sz="1050" u="none" cap="none" strike="noStrike">
                          <a:solidFill>
                            <a:srgbClr val="141A21"/>
                          </a:solidFill>
                          <a:latin typeface="IBM Plex Sans"/>
                          <a:ea typeface="IBM Plex Sans"/>
                          <a:cs typeface="IBM Plex Sans"/>
                          <a:sym typeface="IBM Plex Sans"/>
                        </a:rPr>
                        <a:t>RMSE in kWh als Hauptmetrik; MAE und R² ergänzend; Vergleich mit zwei Baselines.</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D2DAE2"/>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E3F3F7"/>
                    </a:solidFill>
                  </a:tcPr>
                </a:tc>
              </a:tr>
              <a:tr h="438150">
                <a:tc>
                  <a:txBody>
                    <a:bodyPr/>
                    <a:lstStyle/>
                    <a:p>
                      <a:pPr indent="0" lvl="0" marL="0" marR="0" rtl="0" algn="l">
                        <a:lnSpc>
                          <a:spcPct val="129904"/>
                        </a:lnSpc>
                        <a:spcBef>
                          <a:spcPts val="0"/>
                        </a:spcBef>
                        <a:spcAft>
                          <a:spcPts val="0"/>
                        </a:spcAft>
                        <a:buNone/>
                      </a:pPr>
                      <a:r>
                        <a:rPr b="0" i="0" lang="en-US" sz="1050" u="none" cap="none" strike="noStrike">
                          <a:solidFill>
                            <a:srgbClr val="141A21"/>
                          </a:solidFill>
                          <a:latin typeface="IBM Plex Sans"/>
                          <a:ea typeface="IBM Plex Sans"/>
                          <a:cs typeface="IBM Plex Sans"/>
                          <a:sym typeface="IBM Plex Sans"/>
                        </a:rPr>
                        <a:t>07</a:t>
                      </a:r>
                      <a:endParaRPr/>
                    </a:p>
                  </a:txBody>
                  <a:tcPr marT="38100" marB="38100" marR="114300" marL="114300" anchor="ctr">
                    <a:lnL cap="flat" cmpd="sng" w="9525">
                      <a:solidFill>
                        <a:srgbClr val="D2DAE2"/>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E3F3F7"/>
                    </a:solidFill>
                  </a:tcPr>
                </a:tc>
                <a:tc>
                  <a:txBody>
                    <a:bodyPr/>
                    <a:lstStyle/>
                    <a:p>
                      <a:pPr indent="0" lvl="0" marL="0" marR="0" rtl="0" algn="l">
                        <a:lnSpc>
                          <a:spcPct val="129904"/>
                        </a:lnSpc>
                        <a:spcBef>
                          <a:spcPts val="0"/>
                        </a:spcBef>
                        <a:spcAft>
                          <a:spcPts val="0"/>
                        </a:spcAft>
                        <a:buNone/>
                      </a:pPr>
                      <a:r>
                        <a:rPr b="0" i="0" lang="en-US" sz="1050" u="none" cap="none" strike="noStrike">
                          <a:solidFill>
                            <a:srgbClr val="141A21"/>
                          </a:solidFill>
                          <a:latin typeface="IBM Plex Sans"/>
                          <a:ea typeface="IBM Plex Sans"/>
                          <a:cs typeface="IBM Plex Sans"/>
                          <a:sym typeface="IBM Plex Sans"/>
                        </a:rPr>
                        <a:t>Entscheidung</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E3F3F7"/>
                    </a:solidFill>
                  </a:tcPr>
                </a:tc>
                <a:tc>
                  <a:txBody>
                    <a:bodyPr/>
                    <a:lstStyle/>
                    <a:p>
                      <a:pPr indent="0" lvl="0" marL="0" marR="0" rtl="0" algn="l">
                        <a:lnSpc>
                          <a:spcPct val="129904"/>
                        </a:lnSpc>
                        <a:spcBef>
                          <a:spcPts val="0"/>
                        </a:spcBef>
                        <a:spcAft>
                          <a:spcPts val="0"/>
                        </a:spcAft>
                        <a:buNone/>
                      </a:pPr>
                      <a:r>
                        <a:rPr b="0" i="0" lang="en-US" sz="1050" u="none" cap="none" strike="noStrike">
                          <a:solidFill>
                            <a:srgbClr val="141A21"/>
                          </a:solidFill>
                          <a:latin typeface="IBM Plex Sans"/>
                          <a:ea typeface="IBM Plex Sans"/>
                          <a:cs typeface="IBM Plex Sans"/>
                          <a:sym typeface="IBM Plex Sans"/>
                        </a:rPr>
                        <a:t>Prognose unterstützt Beschaffung; Hinweis führt zur menschlichen Prüfung.</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D2DAE2"/>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E3F3F7"/>
                    </a:solidFill>
                  </a:tcPr>
                </a:tc>
              </a:tr>
              <a:tr h="438150">
                <a:tc>
                  <a:txBody>
                    <a:bodyPr/>
                    <a:lstStyle/>
                    <a:p>
                      <a:pPr indent="0" lvl="0" marL="0" marR="0" rtl="0" algn="l">
                        <a:lnSpc>
                          <a:spcPct val="129904"/>
                        </a:lnSpc>
                        <a:spcBef>
                          <a:spcPts val="0"/>
                        </a:spcBef>
                        <a:spcAft>
                          <a:spcPts val="0"/>
                        </a:spcAft>
                        <a:buNone/>
                      </a:pPr>
                      <a:r>
                        <a:rPr b="0" i="0" lang="en-US" sz="1050" u="none" cap="none" strike="noStrike">
                          <a:solidFill>
                            <a:srgbClr val="141A21"/>
                          </a:solidFill>
                          <a:latin typeface="IBM Plex Sans"/>
                          <a:ea typeface="IBM Plex Sans"/>
                          <a:cs typeface="IBM Plex Sans"/>
                          <a:sym typeface="IBM Plex Sans"/>
                        </a:rPr>
                        <a:t>08</a:t>
                      </a:r>
                      <a:endParaRPr/>
                    </a:p>
                  </a:txBody>
                  <a:tcPr marT="38100" marB="38100" marR="114300" marL="114300" anchor="ctr">
                    <a:lnL cap="flat" cmpd="sng" w="9525">
                      <a:solidFill>
                        <a:srgbClr val="D2DAE2"/>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FFFFFF"/>
                    </a:solidFill>
                  </a:tcPr>
                </a:tc>
                <a:tc>
                  <a:txBody>
                    <a:bodyPr/>
                    <a:lstStyle/>
                    <a:p>
                      <a:pPr indent="0" lvl="0" marL="0" marR="0" rtl="0" algn="l">
                        <a:lnSpc>
                          <a:spcPct val="129904"/>
                        </a:lnSpc>
                        <a:spcBef>
                          <a:spcPts val="0"/>
                        </a:spcBef>
                        <a:spcAft>
                          <a:spcPts val="0"/>
                        </a:spcAft>
                        <a:buNone/>
                      </a:pPr>
                      <a:r>
                        <a:rPr b="0" i="0" lang="en-US" sz="1050" u="none" cap="none" strike="noStrike">
                          <a:solidFill>
                            <a:srgbClr val="141A21"/>
                          </a:solidFill>
                          <a:latin typeface="IBM Plex Sans"/>
                          <a:ea typeface="IBM Plex Sans"/>
                          <a:cs typeface="IBM Plex Sans"/>
                          <a:sym typeface="IBM Plex Sans"/>
                        </a:rPr>
                        <a:t>Impact</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FFFFFF"/>
                    </a:solidFill>
                  </a:tcPr>
                </a:tc>
                <a:tc>
                  <a:txBody>
                    <a:bodyPr/>
                    <a:lstStyle/>
                    <a:p>
                      <a:pPr indent="0" lvl="0" marL="0" marR="0" rtl="0" algn="l">
                        <a:lnSpc>
                          <a:spcPct val="129904"/>
                        </a:lnSpc>
                        <a:spcBef>
                          <a:spcPts val="0"/>
                        </a:spcBef>
                        <a:spcAft>
                          <a:spcPts val="0"/>
                        </a:spcAft>
                        <a:buNone/>
                      </a:pPr>
                      <a:r>
                        <a:rPr b="0" i="0" lang="en-US" sz="1050" u="none" cap="none" strike="noStrike">
                          <a:solidFill>
                            <a:srgbClr val="141A21"/>
                          </a:solidFill>
                          <a:latin typeface="IBM Plex Sans"/>
                          <a:ea typeface="IBM Plex Sans"/>
                          <a:cs typeface="IBM Plex Sans"/>
                          <a:sym typeface="IBM Plex Sans"/>
                        </a:rPr>
                        <a:t>Pilot-KPIs: Fehler, Hinweisvolumen, Prüfzeit und Bestätigungsquote.</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D2DAE2"/>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FFFFFF"/>
                    </a:solidFill>
                  </a:tcPr>
                </a:tc>
              </a:tr>
              <a:tr h="438150">
                <a:tc>
                  <a:txBody>
                    <a:bodyPr/>
                    <a:lstStyle/>
                    <a:p>
                      <a:pPr indent="0" lvl="0" marL="0" marR="0" rtl="0" algn="l">
                        <a:lnSpc>
                          <a:spcPct val="129904"/>
                        </a:lnSpc>
                        <a:spcBef>
                          <a:spcPts val="0"/>
                        </a:spcBef>
                        <a:spcAft>
                          <a:spcPts val="0"/>
                        </a:spcAft>
                        <a:buNone/>
                      </a:pPr>
                      <a:r>
                        <a:rPr b="0" i="0" lang="en-US" sz="1050" u="none" cap="none" strike="noStrike">
                          <a:solidFill>
                            <a:srgbClr val="141A21"/>
                          </a:solidFill>
                          <a:latin typeface="IBM Plex Sans"/>
                          <a:ea typeface="IBM Plex Sans"/>
                          <a:cs typeface="IBM Plex Sans"/>
                          <a:sym typeface="IBM Plex Sans"/>
                        </a:rPr>
                        <a:t>09</a:t>
                      </a:r>
                      <a:endParaRPr/>
                    </a:p>
                  </a:txBody>
                  <a:tcPr marT="38100" marB="38100" marR="114300" marL="114300" anchor="ctr">
                    <a:lnL cap="flat" cmpd="sng" w="9525">
                      <a:solidFill>
                        <a:srgbClr val="D2DAE2"/>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E3F3F7"/>
                    </a:solidFill>
                  </a:tcPr>
                </a:tc>
                <a:tc>
                  <a:txBody>
                    <a:bodyPr/>
                    <a:lstStyle/>
                    <a:p>
                      <a:pPr indent="0" lvl="0" marL="0" marR="0" rtl="0" algn="l">
                        <a:lnSpc>
                          <a:spcPct val="129904"/>
                        </a:lnSpc>
                        <a:spcBef>
                          <a:spcPts val="0"/>
                        </a:spcBef>
                        <a:spcAft>
                          <a:spcPts val="0"/>
                        </a:spcAft>
                        <a:buNone/>
                      </a:pPr>
                      <a:r>
                        <a:rPr b="0" i="0" lang="en-US" sz="1050" u="none" cap="none" strike="noStrike">
                          <a:solidFill>
                            <a:srgbClr val="141A21"/>
                          </a:solidFill>
                          <a:latin typeface="IBM Plex Sans"/>
                          <a:ea typeface="IBM Plex Sans"/>
                          <a:cs typeface="IBM Plex Sans"/>
                          <a:sym typeface="IBM Plex Sans"/>
                        </a:rPr>
                        <a:t>Zeitpunkt</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E3F3F7"/>
                    </a:solidFill>
                  </a:tcPr>
                </a:tc>
                <a:tc>
                  <a:txBody>
                    <a:bodyPr/>
                    <a:lstStyle/>
                    <a:p>
                      <a:pPr indent="0" lvl="0" marL="0" marR="0" rtl="0" algn="l">
                        <a:lnSpc>
                          <a:spcPct val="129904"/>
                        </a:lnSpc>
                        <a:spcBef>
                          <a:spcPts val="0"/>
                        </a:spcBef>
                        <a:spcAft>
                          <a:spcPts val="0"/>
                        </a:spcAft>
                        <a:buNone/>
                      </a:pPr>
                      <a:r>
                        <a:rPr b="0" i="0" lang="en-US" sz="1050" u="none" cap="none" strike="noStrike">
                          <a:solidFill>
                            <a:srgbClr val="141A21"/>
                          </a:solidFill>
                          <a:latin typeface="IBM Plex Sans"/>
                          <a:ea typeface="IBM Plex Sans"/>
                          <a:cs typeface="IBM Plex Sans"/>
                          <a:sym typeface="IBM Plex Sans"/>
                        </a:rPr>
                        <a:t>Prognose vor Monatsbeginn; Residuenprüfung nach Eintreffen des Monatswerts.</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D2DAE2"/>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E4E9EF">
                          <a:alpha val="0"/>
                        </a:srgbClr>
                      </a:solidFill>
                      <a:prstDash val="solid"/>
                      <a:round/>
                      <a:headEnd len="sm" w="sm" type="none"/>
                      <a:tailEnd len="sm" w="sm" type="none"/>
                    </a:lnB>
                    <a:solidFill>
                      <a:srgbClr val="E3F3F7"/>
                    </a:solidFill>
                  </a:tcPr>
                </a:tc>
              </a:tr>
              <a:tr h="438150">
                <a:tc>
                  <a:txBody>
                    <a:bodyPr/>
                    <a:lstStyle/>
                    <a:p>
                      <a:pPr indent="0" lvl="0" marL="0" marR="0" rtl="0" algn="l">
                        <a:lnSpc>
                          <a:spcPct val="129904"/>
                        </a:lnSpc>
                        <a:spcBef>
                          <a:spcPts val="0"/>
                        </a:spcBef>
                        <a:spcAft>
                          <a:spcPts val="0"/>
                        </a:spcAft>
                        <a:buNone/>
                      </a:pPr>
                      <a:r>
                        <a:rPr b="0" i="0" lang="en-US" sz="1050" u="none" cap="none" strike="noStrike">
                          <a:solidFill>
                            <a:srgbClr val="141A21"/>
                          </a:solidFill>
                          <a:latin typeface="IBM Plex Sans"/>
                          <a:ea typeface="IBM Plex Sans"/>
                          <a:cs typeface="IBM Plex Sans"/>
                          <a:sym typeface="IBM Plex Sans"/>
                        </a:rPr>
                        <a:t>10</a:t>
                      </a:r>
                      <a:endParaRPr/>
                    </a:p>
                  </a:txBody>
                  <a:tcPr marT="38100" marB="38100" marR="114300" marL="114300" anchor="ctr">
                    <a:lnL cap="flat" cmpd="sng" w="9525">
                      <a:solidFill>
                        <a:srgbClr val="D2DAE2"/>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D2DAE2"/>
                      </a:solidFill>
                      <a:prstDash val="solid"/>
                      <a:round/>
                      <a:headEnd len="sm" w="sm" type="none"/>
                      <a:tailEnd len="sm" w="sm" type="none"/>
                    </a:lnB>
                    <a:solidFill>
                      <a:srgbClr val="FFFFFF"/>
                    </a:solidFill>
                  </a:tcPr>
                </a:tc>
                <a:tc>
                  <a:txBody>
                    <a:bodyPr/>
                    <a:lstStyle/>
                    <a:p>
                      <a:pPr indent="0" lvl="0" marL="0" marR="0" rtl="0" algn="l">
                        <a:lnSpc>
                          <a:spcPct val="129904"/>
                        </a:lnSpc>
                        <a:spcBef>
                          <a:spcPts val="0"/>
                        </a:spcBef>
                        <a:spcAft>
                          <a:spcPts val="0"/>
                        </a:spcAft>
                        <a:buNone/>
                      </a:pPr>
                      <a:r>
                        <a:rPr b="0" i="0" lang="en-US" sz="1050" u="none" cap="none" strike="noStrike">
                          <a:solidFill>
                            <a:srgbClr val="141A21"/>
                          </a:solidFill>
                          <a:latin typeface="IBM Plex Sans"/>
                          <a:ea typeface="IBM Plex Sans"/>
                          <a:cs typeface="IBM Plex Sans"/>
                          <a:sym typeface="IBM Plex Sans"/>
                        </a:rPr>
                        <a:t>Monitoring</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D2DAE2"/>
                      </a:solidFill>
                      <a:prstDash val="solid"/>
                      <a:round/>
                      <a:headEnd len="sm" w="sm" type="none"/>
                      <a:tailEnd len="sm" w="sm" type="none"/>
                    </a:lnB>
                    <a:solidFill>
                      <a:srgbClr val="FFFFFF"/>
                    </a:solidFill>
                  </a:tcPr>
                </a:tc>
                <a:tc>
                  <a:txBody>
                    <a:bodyPr/>
                    <a:lstStyle/>
                    <a:p>
                      <a:pPr indent="0" lvl="0" marL="0" marR="0" rtl="0" algn="l">
                        <a:lnSpc>
                          <a:spcPct val="129904"/>
                        </a:lnSpc>
                        <a:spcBef>
                          <a:spcPts val="0"/>
                        </a:spcBef>
                        <a:spcAft>
                          <a:spcPts val="0"/>
                        </a:spcAft>
                        <a:buNone/>
                      </a:pPr>
                      <a:r>
                        <a:rPr b="0" i="0" lang="en-US" sz="1050" u="none" cap="none" strike="noStrike">
                          <a:solidFill>
                            <a:srgbClr val="141A21"/>
                          </a:solidFill>
                          <a:latin typeface="IBM Plex Sans"/>
                          <a:ea typeface="IBM Plex Sans"/>
                          <a:cs typeface="IBM Plex Sans"/>
                          <a:sym typeface="IBM Plex Sans"/>
                        </a:rPr>
                        <a:t>Monatliche Fehler-, Drift- und Hinweiskontrolle; Retraining nur bei belegter Verschlechterung.</a:t>
                      </a:r>
                      <a:endParaRPr/>
                    </a:p>
                  </a:txBody>
                  <a:tcPr marT="38100" marB="38100" marR="114300" marL="114300" anchor="ctr">
                    <a:lnL cap="flat" cmpd="sng" w="9525">
                      <a:solidFill>
                        <a:srgbClr val="000000">
                          <a:alpha val="0"/>
                        </a:srgbClr>
                      </a:solidFill>
                      <a:prstDash val="solid"/>
                      <a:round/>
                      <a:headEnd len="sm" w="sm" type="none"/>
                      <a:tailEnd len="sm" w="sm" type="none"/>
                    </a:lnL>
                    <a:lnR cap="flat" cmpd="sng" w="9525">
                      <a:solidFill>
                        <a:srgbClr val="D2DAE2"/>
                      </a:solidFill>
                      <a:prstDash val="solid"/>
                      <a:round/>
                      <a:headEnd len="sm" w="sm" type="none"/>
                      <a:tailEnd len="sm" w="sm" type="none"/>
                    </a:lnR>
                    <a:lnT cap="flat" cmpd="sng" w="9525">
                      <a:solidFill>
                        <a:srgbClr val="E4E9EF">
                          <a:alpha val="0"/>
                        </a:srgbClr>
                      </a:solidFill>
                      <a:prstDash val="solid"/>
                      <a:round/>
                      <a:headEnd len="sm" w="sm" type="none"/>
                      <a:tailEnd len="sm" w="sm" type="none"/>
                    </a:lnT>
                    <a:lnB cap="flat" cmpd="sng" w="9525">
                      <a:solidFill>
                        <a:srgbClr val="D2DAE2"/>
                      </a:solidFill>
                      <a:prstDash val="solid"/>
                      <a:round/>
                      <a:headEnd len="sm" w="sm" type="none"/>
                      <a:tailEnd len="sm" w="sm" type="none"/>
                    </a:lnB>
                    <a:solidFill>
                      <a:srgbClr val="FFFFFF"/>
                    </a:solidFill>
                  </a:tcPr>
                </a:tc>
              </a:tr>
            </a:tbl>
          </a:graphicData>
        </a:graphic>
      </p:graphicFrame>
      <p:cxnSp>
        <p:nvCxnSpPr>
          <p:cNvPr id="862" name="Google Shape;862;h510714b4cc47d3b6_0_1229"/>
          <p:cNvCxnSpPr/>
          <p:nvPr/>
        </p:nvCxnSpPr>
        <p:spPr>
          <a:xfrm>
            <a:off x="0" y="6153150"/>
            <a:ext cx="12192000" cy="0"/>
          </a:xfrm>
          <a:prstGeom prst="straightConnector1">
            <a:avLst/>
          </a:prstGeom>
          <a:noFill/>
          <a:ln cap="flat" cmpd="sng" w="9525">
            <a:solidFill>
              <a:srgbClr val="E4E9EF"/>
            </a:solidFill>
            <a:prstDash val="solid"/>
            <a:round/>
            <a:headEnd len="sm" w="sm" type="none"/>
            <a:tailEnd len="sm" w="sm" type="none"/>
          </a:ln>
          <a:effectLst>
            <a:outerShdw blurRad="40000" rotWithShape="0" dir="5400000" dist="20000">
              <a:srgbClr val="000000">
                <a:alpha val="38040"/>
              </a:srgbClr>
            </a:outerShdw>
          </a:effectLst>
        </p:spPr>
      </p:cxnSp>
      <p:pic>
        <p:nvPicPr>
          <p:cNvPr descr="image.png" id="863" name="Google Shape;863;h510714b4cc47d3b6_0_1229"/>
          <p:cNvPicPr preferRelativeResize="0"/>
          <p:nvPr/>
        </p:nvPicPr>
        <p:blipFill rotWithShape="1">
          <a:blip r:embed="rId3">
            <a:alphaModFix/>
          </a:blip>
          <a:srcRect b="0" l="0" r="0" t="0"/>
          <a:stretch/>
        </p:blipFill>
        <p:spPr>
          <a:xfrm>
            <a:off x="685806" y="6362700"/>
            <a:ext cx="715863" cy="247650"/>
          </a:xfrm>
          <a:prstGeom prst="rect">
            <a:avLst/>
          </a:prstGeom>
          <a:noFill/>
          <a:ln>
            <a:noFill/>
          </a:ln>
        </p:spPr>
      </p:pic>
      <p:sp>
        <p:nvSpPr>
          <p:cNvPr id="864" name="Google Shape;864;h510714b4cc47d3b6_0_1229"/>
          <p:cNvSpPr txBox="1"/>
          <p:nvPr/>
        </p:nvSpPr>
        <p:spPr>
          <a:xfrm>
            <a:off x="1562113" y="6391275"/>
            <a:ext cx="2891700" cy="1905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None/>
            </a:pPr>
            <a:r>
              <a:rPr b="0" i="0" lang="en-US" sz="1200" u="none" cap="none" strike="noStrike">
                <a:solidFill>
                  <a:srgbClr val="4E5A68"/>
                </a:solidFill>
                <a:latin typeface="IBM Plex Sans"/>
                <a:ea typeface="IBM Plex Sans"/>
                <a:cs typeface="IBM Plex Sans"/>
                <a:sym typeface="IBM Plex Sans"/>
              </a:rPr>
              <a:t>Verbrauchsprognose &amp; Frühwarnung</a:t>
            </a:r>
            <a:endParaRPr/>
          </a:p>
        </p:txBody>
      </p:sp>
      <p:sp>
        <p:nvSpPr>
          <p:cNvPr id="865" name="Google Shape;865;h510714b4cc47d3b6_0_1229"/>
          <p:cNvSpPr txBox="1"/>
          <p:nvPr/>
        </p:nvSpPr>
        <p:spPr>
          <a:xfrm>
            <a:off x="10835729" y="6391275"/>
            <a:ext cx="670500" cy="190500"/>
          </a:xfrm>
          <a:prstGeom prst="rect">
            <a:avLst/>
          </a:prstGeom>
          <a:noFill/>
          <a:ln>
            <a:noFill/>
          </a:ln>
        </p:spPr>
        <p:txBody>
          <a:bodyPr anchorCtr="0" anchor="t" bIns="0" lIns="0" spcFirstLastPara="1" rIns="0" wrap="square" tIns="0">
            <a:noAutofit/>
          </a:bodyPr>
          <a:lstStyle/>
          <a:p>
            <a:pPr indent="0" lvl="0" marL="0" marR="0" rtl="0" algn="r">
              <a:lnSpc>
                <a:spcPct val="125000"/>
              </a:lnSpc>
              <a:spcBef>
                <a:spcPts val="0"/>
              </a:spcBef>
              <a:spcAft>
                <a:spcPts val="0"/>
              </a:spcAft>
              <a:buNone/>
            </a:pPr>
            <a:r>
              <a:rPr b="0" i="0" lang="en-US" sz="1200" u="none" cap="none" strike="noStrike">
                <a:solidFill>
                  <a:srgbClr val="4E5A68"/>
                </a:solidFill>
                <a:latin typeface="IBM Plex Sans"/>
                <a:ea typeface="IBM Plex Sans"/>
                <a:cs typeface="IBM Plex Sans"/>
                <a:sym typeface="IBM Plex Sans"/>
              </a:rPr>
              <a:t>B4</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