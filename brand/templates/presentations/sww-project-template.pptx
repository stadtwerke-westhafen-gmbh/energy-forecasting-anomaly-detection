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Ist</c:v>
                </c:pt>
              </c:strCache>
            </c:strRef>
          </c:tx>
          <c:spPr>
            <a:ln w="28575">
              <a:solidFill>
                <a:srgbClr val="084878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14500</c:v>
                </c:pt>
                <c:pt idx="1">
                  <c:v>13900</c:v>
                </c:pt>
                <c:pt idx="2">
                  <c:v>12800</c:v>
                </c:pt>
                <c:pt idx="3">
                  <c:v>11600</c:v>
                </c:pt>
                <c:pt idx="4">
                  <c:v>12300</c:v>
                </c:pt>
                <c:pt idx="5">
                  <c:v>13500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Prognose</c:v>
                </c:pt>
              </c:strCache>
            </c:strRef>
          </c:tx>
          <c:spPr>
            <a:ln w="28575">
              <a:solidFill>
                <a:srgbClr val="0090C8"/>
              </a:solidFill>
              <a:prstDash val="dash"/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14300</c:v>
                </c:pt>
                <c:pt idx="1">
                  <c:v>14100</c:v>
                </c:pt>
                <c:pt idx="2">
                  <c:v>12600</c:v>
                </c:pt>
                <c:pt idx="3">
                  <c:v>11900</c:v>
                </c:pt>
                <c:pt idx="4">
                  <c:v>12500</c:v>
                </c:pt>
                <c:pt idx="5">
                  <c:v>13200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Verbrauch (kWh)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400">
          <a:latin typeface="IBM Plex Sa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Vorlage: Platzhalter und Demowerte durch belegte Projektergebnisse ersetzen. Schriften aus brand/design-system/dist/fonts bei Bedarf lokal installieren.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Vorlage: Platzhalter und Demowerte durch belegte Projektergebnisse ersetzen. Schriften aus brand/design-system/dist/fonts bei Bedarf lokal installieren.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Vorlage: Platzhalter und Demowerte durch belegte Projektergebnisse ersetzen. Schriften aus brand/design-system/dist/fonts bei Bedarf lokal installieren.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Vorlage: Platzhalter und Demowerte durch belegte Projektergebnisse ersetzen. Schriften aus brand/design-system/dist/fonts bei Bedarf lokal installieren.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Vorlage: Platzhalter und Demowerte durch belegte Projektergebnisse ersetzen. Schriften aus brand/design-system/dist/fonts bei Bedarf lokal installieren.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Vorlage: Platzhalter und Demowerte durch belegte Projektergebnisse ersetzen. Schriften aus brand/design-system/dist/fonts bei Bedarf lokal installieren.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Vorlage: Platzhalter und Demowerte durch belegte Projektergebnisse ersetzen. Schriften aus brand/design-system/dist/fonts bei Bedarf lokal installieren.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Vorlage: Platzhalter und Demowerte durch belegte Projektergebnisse ersetzen. Schriften aus brand/design-system/dist/fonts bei Bedarf lokal installieren.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Vorlage: Platzhalter und Demowerte durch belegte Projektergebnisse ersetzen. Schriften aus brand/design-system/dist/fonts bei Bedarf lokal installieren.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Vorlage: Platzhalter und Demowerte durch belegte Projektergebnisse ersetzen. Schriften aus brand/design-system/dist/fonts bei Bedarf lokal installieren.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36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CC0D2"/>
                </a:solidFill>
                <a:latin typeface="IBM Plex Sans"/>
              </a:defRPr>
            </a:pPr>
            <a:r>
              <a:t>DATENANALYSE · GRUPPE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IBM Plex Sans"/>
              </a:defRPr>
            </a:pPr>
            <a:r>
              <a:t>Verbrauchsprognose und</a:t>
            </a:r>
          </a:p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IBM Plex Sans"/>
              </a:defRPr>
            </a:pPr>
            <a:r>
              <a:t>Anomalie-Frühwarnung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BD7EA"/>
                </a:solidFill>
                <a:latin typeface="IBM Plex Sans"/>
              </a:defRPr>
            </a:pPr>
            <a:r>
              <a:t>SWW · [Projekttitel] · [Datum]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BD7EA"/>
                </a:solidFill>
                <a:latin typeface="IBM Plex Sans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86000"/>
            <a:ext cx="3703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ww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68880"/>
            <a:ext cx="3337560" cy="1153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39319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600" b="0">
                <a:solidFill>
                  <a:srgbClr val="FFFFFF"/>
                </a:solidFill>
                <a:latin typeface="IBM Plex Sans"/>
              </a:defRPr>
            </a:pPr>
            <a:r>
              <a:t>[Kernaussage des Projekts in einem Satz]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1206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BD7EA"/>
                </a:solidFill>
                <a:latin typeface="IBM Plex Sans"/>
              </a:defRPr>
            </a:pPr>
            <a:r>
              <a:t>[Team] · [Prüfungstermin] · [Version]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0718E"/>
                </a:solidFill>
                <a:latin typeface="IBM Plex Sans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41A21"/>
                </a:solidFill>
                <a:latin typeface="IBM Plex Sans"/>
              </a:defRPr>
            </a:pPr>
            <a:r>
              <a:t>Der Weg von den Daten zur Entscheidung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E5A68"/>
                </a:solidFill>
                <a:latin typeface="IBM Plex Sans"/>
              </a:defRPr>
            </a:pPr>
            <a:r>
              <a:t>SWW · [Projekttitel] · [Datum]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E5A68"/>
                </a:solidFill>
                <a:latin typeface="IBM Plex San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00718E"/>
                </a:solidFill>
                <a:latin typeface="Geist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0574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141A21"/>
                </a:solidFill>
                <a:latin typeface="IBM Plex Sans"/>
              </a:defRPr>
            </a:pPr>
            <a:r>
              <a:t>Ausgangslage und Datenqualität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9864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00718E"/>
                </a:solidFill>
                <a:latin typeface="Geist Mono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898648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141A21"/>
                </a:solidFill>
                <a:latin typeface="IBM Plex Sans"/>
              </a:defRPr>
            </a:pPr>
            <a:r>
              <a:t>Fragestellung und Modellierung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3989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00718E"/>
                </a:solidFill>
                <a:latin typeface="Geist Mono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39896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141A21"/>
                </a:solidFill>
                <a:latin typeface="IBM Plex Sans"/>
              </a:defRPr>
            </a:pPr>
            <a:r>
              <a:t>Ergebnisse und Anomalien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81144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00718E"/>
                </a:solidFill>
                <a:latin typeface="Geist Mono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581144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141A21"/>
                </a:solidFill>
                <a:latin typeface="IBM Plex Sans"/>
              </a:defRPr>
            </a:pPr>
            <a:r>
              <a:t>Empfehlungen und nächste Schritte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36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CC0D2"/>
                </a:solidFill>
                <a:latin typeface="IBM Plex Sans"/>
              </a:defRPr>
            </a:pPr>
            <a:r>
              <a:t>02 · ABSCHNITT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IBM Plex Sans"/>
              </a:defRPr>
            </a:pPr>
            <a:r>
              <a:t>[Kapitelüberschrift]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BD7EA"/>
                </a:solidFill>
                <a:latin typeface="IBM Plex Sans"/>
              </a:defRPr>
            </a:pPr>
            <a:r>
              <a:t>SWW · [Projekttitel] · [Datum]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BD7EA"/>
                </a:solidFill>
                <a:latin typeface="IBM Plex San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0">
                <a:solidFill>
                  <a:srgbClr val="BBD7EA"/>
                </a:solidFill>
                <a:latin typeface="IBM Plex Sans"/>
              </a:defRPr>
            </a:pPr>
            <a:r>
              <a:t>[Welche Frage wird in diesem Kapitel beantwortet?]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0718E"/>
                </a:solidFill>
                <a:latin typeface="IBM Plex Sans"/>
              </a:defRPr>
            </a:pPr>
            <a:r>
              <a:t>ERGEBNISSE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41A21"/>
                </a:solidFill>
                <a:latin typeface="IBM Plex Sans"/>
              </a:defRPr>
            </a:pPr>
            <a:r>
              <a:t>[Eine klare Aussage zu den Kennzahlen]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E5A68"/>
                </a:solidFill>
                <a:latin typeface="IBM Plex Sans"/>
              </a:defRPr>
            </a:pPr>
            <a:r>
              <a:t>SWW · [Projekttitel] · [Datum]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E5A68"/>
                </a:solidFill>
                <a:latin typeface="IBM Plex San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4E5A68"/>
                </a:solidFill>
                <a:latin typeface="IBM Plex Sans"/>
              </a:defRPr>
            </a:pPr>
            <a: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141A21"/>
                </a:solidFill>
                <a:latin typeface="Geist Mono"/>
              </a:defRPr>
            </a:pPr>
            <a:r>
              <a:t>[Wert]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4E5A68"/>
                </a:solidFill>
                <a:latin typeface="IBM Plex Sans"/>
              </a:defRPr>
            </a:pPr>
            <a:r>
              <a:t>kWh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214884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3774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4E5A68"/>
                </a:solidFill>
                <a:latin typeface="IBM Plex Sans"/>
              </a:defRPr>
            </a:pPr>
            <a: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8036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141A21"/>
                </a:solidFill>
                <a:latin typeface="Geist Mono"/>
              </a:defRPr>
            </a:pPr>
            <a:r>
              <a:t>[Wert]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5204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4E5A68"/>
                </a:solidFill>
                <a:latin typeface="IBM Plex Sans"/>
              </a:defRPr>
            </a:pPr>
            <a:r>
              <a:t>kWh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14884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3774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4E5A68"/>
                </a:solidFill>
                <a:latin typeface="IBM Plex Sans"/>
              </a:defRPr>
            </a:pPr>
            <a:r>
              <a:t>R²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88036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141A21"/>
                </a:solidFill>
                <a:latin typeface="Geist Mono"/>
              </a:defRPr>
            </a:pPr>
            <a:r>
              <a:t>[Wert]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5204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4E5A68"/>
                </a:solidFill>
                <a:latin typeface="IBM Plex Sans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8961119" y="214884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3999" y="23774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4E5A68"/>
                </a:solidFill>
                <a:latin typeface="IBM Plex Sans"/>
              </a:defRPr>
            </a:pPr>
            <a:r>
              <a:t>Auffälligkeiten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9" y="288036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141A21"/>
                </a:solidFill>
                <a:latin typeface="Geist Mono"/>
              </a:defRPr>
            </a:pPr>
            <a:r>
              <a:t>[Wert]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999" y="35204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4E5A68"/>
                </a:solidFill>
                <a:latin typeface="IBM Plex Sans"/>
              </a:defRPr>
            </a:pPr>
            <a:r>
              <a:t>Zähler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7091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E5A68"/>
                </a:solidFill>
                <a:latin typeface="IBM Plex Sans"/>
              </a:defRPr>
            </a:pPr>
            <a:r>
              <a:t>Bezugszeitraum: [MM/JJJJ–MM/JJJJ] · Testverfahren: [zeitlicher Split]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0718E"/>
                </a:solidFill>
                <a:latin typeface="IBM Plex Sans"/>
              </a:defRPr>
            </a:pPr>
            <a:r>
              <a:t>DIAGRAMM · SYNTHETISCHES BEISPIEL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41A21"/>
                </a:solidFill>
                <a:latin typeface="IBM Plex Sans"/>
              </a:defRPr>
            </a:pPr>
            <a:r>
              <a:t>Ist und Prognose gemeinsam beurteilen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E5A68"/>
                </a:solidFill>
                <a:latin typeface="IBM Plex Sans"/>
              </a:defRPr>
            </a:pPr>
            <a:r>
              <a:t>SWW · [Projekttitel] · [Datum]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E5A68"/>
                </a:solidFill>
                <a:latin typeface="IBM Plex Sans"/>
              </a:defRPr>
            </a:pPr>
            <a:r>
              <a:t>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920240"/>
          <a:ext cx="10698480" cy="37490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8704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4E5A68"/>
                </a:solidFill>
                <a:latin typeface="IBM Plex Sans"/>
              </a:defRPr>
            </a:pPr>
            <a:r>
              <a:t>Demodaten · Januar–Juni 2025 · Vor Präsentation durch echte Ergebnisse ersetzen.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0718E"/>
                </a:solidFill>
                <a:latin typeface="IBM Plex Sans"/>
              </a:defRPr>
            </a:pPr>
            <a:r>
              <a:t>VERGLEICH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41A21"/>
                </a:solidFill>
                <a:latin typeface="IBM Plex Sans"/>
              </a:defRPr>
            </a:pPr>
            <a:r>
              <a:t>[Baseline und Modell fair vergleichen]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E5A68"/>
                </a:solidFill>
                <a:latin typeface="IBM Plex Sans"/>
              </a:defRPr>
            </a:pPr>
            <a:r>
              <a:t>SWW · [Projekttitel] · [Datum]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E5A68"/>
                </a:solidFill>
                <a:latin typeface="IBM Plex San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53035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84878"/>
                </a:solidFill>
                <a:latin typeface="IBM Plex Sans"/>
              </a:defRPr>
            </a:pPr>
            <a: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47548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41A21"/>
                </a:solidFill>
                <a:latin typeface="IBM Plex Sans"/>
              </a:defRPr>
            </a:pPr>
            <a:r>
              <a:t>[Methode]</a:t>
            </a:r>
          </a:p>
          <a:p>
            <a:pPr>
              <a:spcAft>
                <a:spcPts val="1200"/>
              </a:spcAft>
              <a:defRPr sz="2000" b="0">
                <a:solidFill>
                  <a:srgbClr val="141A21"/>
                </a:solidFill>
                <a:latin typeface="IBM Plex Sans"/>
              </a:defRPr>
            </a:pPr>
            <a:r>
              <a:t>[MAE / RMSE im gleichen Testzeitraum]</a:t>
            </a:r>
          </a:p>
          <a:p>
            <a:pPr>
              <a:spcAft>
                <a:spcPts val="1200"/>
              </a:spcAft>
              <a:defRPr sz="2000" b="0">
                <a:solidFill>
                  <a:srgbClr val="141A21"/>
                </a:solidFill>
                <a:latin typeface="IBM Plex Sans"/>
              </a:defRPr>
            </a:pPr>
            <a:r>
              <a:t>[Stärken und Grenzen]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57400"/>
            <a:ext cx="53035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84878"/>
                </a:solidFill>
                <a:latin typeface="IBM Plex Sans"/>
              </a:defRPr>
            </a:pPr>
            <a:r>
              <a:t>Modell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063240"/>
            <a:ext cx="47548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41A21"/>
                </a:solidFill>
                <a:latin typeface="IBM Plex Sans"/>
              </a:defRPr>
            </a:pPr>
            <a:r>
              <a:t>[Methode]</a:t>
            </a:r>
          </a:p>
          <a:p>
            <a:pPr>
              <a:spcAft>
                <a:spcPts val="1200"/>
              </a:spcAft>
              <a:defRPr sz="2000" b="0">
                <a:solidFill>
                  <a:srgbClr val="141A21"/>
                </a:solidFill>
                <a:latin typeface="IBM Plex Sans"/>
              </a:defRPr>
            </a:pPr>
            <a:r>
              <a:t>[MAE / RMSE im gleichen Testzeitraum]</a:t>
            </a:r>
          </a:p>
          <a:p>
            <a:pPr>
              <a:spcAft>
                <a:spcPts val="1200"/>
              </a:spcAft>
              <a:defRPr sz="2000" b="0">
                <a:solidFill>
                  <a:srgbClr val="141A21"/>
                </a:solidFill>
                <a:latin typeface="IBM Plex Sans"/>
              </a:defRPr>
            </a:pPr>
            <a:r>
              <a:t>[Stärken und Grenzen]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0718E"/>
                </a:solidFill>
                <a:latin typeface="IBM Plex Sans"/>
              </a:defRPr>
            </a:pPr>
            <a:r>
              <a:t>METHODIK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41A21"/>
                </a:solidFill>
                <a:latin typeface="IBM Plex Sans"/>
              </a:defRPr>
            </a:pPr>
            <a:r>
              <a:t>Die Modellentscheidung nachvollziehbar machen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E5A68"/>
                </a:solidFill>
                <a:latin typeface="IBM Plex Sans"/>
              </a:defRPr>
            </a:pPr>
            <a:r>
              <a:t>SWW · [Projekttitel] · [Datum]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E5A68"/>
                </a:solidFill>
                <a:latin typeface="IBM Plex San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84878"/>
                </a:solidFill>
                <a:latin typeface="IBM Plex Sans"/>
              </a:defRPr>
            </a:pPr>
            <a:r>
              <a:t>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50592"/>
            <a:ext cx="5303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4E5A68"/>
                </a:solidFill>
                <a:latin typeface="IBM Plex Sans"/>
              </a:defRPr>
            </a:pPr>
            <a:r>
              <a:t>[Quellen, Zeitraum, Bereinigung]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011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84878"/>
                </a:solidFill>
                <a:latin typeface="IBM Plex Sans"/>
              </a:defRPr>
            </a:pPr>
            <a:r>
              <a:t>Zielvariable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450592"/>
            <a:ext cx="5303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4E5A68"/>
                </a:solidFill>
                <a:latin typeface="IBM Plex Sans"/>
              </a:defRPr>
            </a:pPr>
            <a:r>
              <a:t>[Definition und Einheit]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84878"/>
                </a:solidFill>
                <a:latin typeface="IBM Plex Sans"/>
              </a:defRPr>
            </a:pPr>
            <a:r>
              <a:t>Validierung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30752"/>
            <a:ext cx="5303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4E5A68"/>
                </a:solidFill>
                <a:latin typeface="IBM Plex Sans"/>
              </a:defRPr>
            </a:pPr>
            <a:r>
              <a:t>[Train / Validierung / Test]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84878"/>
                </a:solidFill>
                <a:latin typeface="IBM Plex Sans"/>
              </a:defRPr>
            </a:pPr>
            <a:r>
              <a:t>Schwellwert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730752"/>
            <a:ext cx="5303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4E5A68"/>
                </a:solidFill>
                <a:latin typeface="IBM Plex Sans"/>
              </a:defRPr>
            </a:pPr>
            <a:r>
              <a:t>[Kalibrierung auf Trainings-/Validierungsdaten]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720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84878"/>
                </a:solidFill>
                <a:latin typeface="IBM Plex Sans"/>
              </a:defRPr>
            </a:pPr>
            <a:r>
              <a:t>Bewertung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010912"/>
            <a:ext cx="5303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4E5A68"/>
                </a:solidFill>
                <a:latin typeface="IBM Plex Sans"/>
              </a:defRPr>
            </a:pPr>
            <a:r>
              <a:t>[Baseline und Metriken]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5720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84878"/>
                </a:solidFill>
                <a:latin typeface="IBM Plex Sans"/>
              </a:defRPr>
            </a:pPr>
            <a:r>
              <a:t>Betrieb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010912"/>
            <a:ext cx="5303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4E5A68"/>
                </a:solidFill>
                <a:latin typeface="IBM Plex Sans"/>
              </a:defRPr>
            </a:pPr>
            <a:r>
              <a:t>[Prüfprozess, Grenzen und Monitoring]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0718E"/>
                </a:solidFill>
                <a:latin typeface="IBM Plex Sans"/>
              </a:defRPr>
            </a:pPr>
            <a:r>
              <a:t>TABELLE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41A21"/>
                </a:solidFill>
                <a:latin typeface="IBM Plex Sans"/>
              </a:defRPr>
            </a:pPr>
            <a:r>
              <a:t>[Befunde mit Quelle und Maßnahme]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E5A68"/>
                </a:solidFill>
                <a:latin typeface="IBM Plex Sans"/>
              </a:defRPr>
            </a:pPr>
            <a:r>
              <a:t>SWW · [Projekttitel] · [Datum]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E5A68"/>
                </a:solidFill>
                <a:latin typeface="IBM Plex Sans"/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2057400"/>
          <a:ext cx="1097280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8867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FFFFF"/>
                          </a:solidFill>
                          <a:latin typeface="IBM Plex Sans"/>
                        </a:defRPr>
                      </a:pPr>
                      <a:r>
                        <a:t>Befund</a:t>
                      </a:r>
                    </a:p>
                  </a:txBody>
                  <a:tcPr>
                    <a:solidFill>
                      <a:srgbClr val="0848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FFFFF"/>
                          </a:solidFill>
                          <a:latin typeface="IBM Plex Sans"/>
                        </a:defRPr>
                      </a:pPr>
                      <a:r>
                        <a:t>Beleg / Zeitraum</a:t>
                      </a:r>
                    </a:p>
                  </a:txBody>
                  <a:tcPr>
                    <a:solidFill>
                      <a:srgbClr val="0848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FFFFF"/>
                          </a:solidFill>
                          <a:latin typeface="IBM Plex Sans"/>
                        </a:defRPr>
                      </a:pPr>
                      <a:r>
                        <a:t>Maßnahme</a:t>
                      </a:r>
                    </a:p>
                  </a:txBody>
                  <a:tcPr>
                    <a:solidFill>
                      <a:srgbClr val="084878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41A21"/>
                          </a:solidFill>
                          <a:latin typeface="IBM Plex Sans"/>
                        </a:defRPr>
                      </a:pPr>
                      <a:r>
                        <a:t>[Befund 1]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41A21"/>
                          </a:solidFill>
                          <a:latin typeface="IBM Plex Sans"/>
                        </a:defRPr>
                      </a:pPr>
                      <a:r>
                        <a:t>[Quelle]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41A21"/>
                          </a:solidFill>
                          <a:latin typeface="IBM Plex Sans"/>
                        </a:defRPr>
                      </a:pPr>
                      <a:r>
                        <a:t>[Nächster Schritt]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41A21"/>
                          </a:solidFill>
                          <a:latin typeface="IBM Plex Sans"/>
                        </a:defRPr>
                      </a:pPr>
                      <a:r>
                        <a:t>[Befund 2]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41A21"/>
                          </a:solidFill>
                          <a:latin typeface="IBM Plex Sans"/>
                        </a:defRPr>
                      </a:pPr>
                      <a:r>
                        <a:t>[Quelle]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41A21"/>
                          </a:solidFill>
                          <a:latin typeface="IBM Plex Sans"/>
                        </a:defRPr>
                      </a:pPr>
                      <a:r>
                        <a:t>[Nächster Schritt]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41A21"/>
                          </a:solidFill>
                          <a:latin typeface="IBM Plex Sans"/>
                        </a:defRPr>
                      </a:pPr>
                      <a:r>
                        <a:t>[Befund 3]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41A21"/>
                          </a:solidFill>
                          <a:latin typeface="IBM Plex Sans"/>
                        </a:defRPr>
                      </a:pPr>
                      <a:r>
                        <a:t>[Quelle]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41A21"/>
                          </a:solidFill>
                          <a:latin typeface="IBM Plex Sans"/>
                        </a:defRPr>
                      </a:pPr>
                      <a:r>
                        <a:t>[Nächster Schritt]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36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CC0D2"/>
                </a:solidFill>
                <a:latin typeface="IBM Plex Sans"/>
              </a:defRPr>
            </a:pPr>
            <a:r>
              <a:t>KERNAUSSAGE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IBM Plex Sans"/>
              </a:defRPr>
            </a:pPr>
            <a:r>
              <a:t>[Die wichtigste Erkenntnis als Aussage]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BD7EA"/>
                </a:solidFill>
                <a:latin typeface="IBM Plex Sans"/>
              </a:defRPr>
            </a:pPr>
            <a:r>
              <a:t>SWW · [Projekttitel] · [Datum]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BD7EA"/>
                </a:solidFill>
                <a:latin typeface="IBM Plex San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0">
                <a:solidFill>
                  <a:srgbClr val="FFFFFF"/>
                </a:solidFill>
                <a:latin typeface="IBM Plex Sans"/>
              </a:defRPr>
            </a:pPr>
            <a:r>
              <a:t>[Beleg, Beobachtung oder begründete Schlussfolgerung in zwei bis drei Sätzen.]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BD7EA"/>
                </a:solidFill>
                <a:latin typeface="IBM Plex Sans"/>
              </a:defRPr>
            </a:pPr>
            <a:r>
              <a:t>Quelle: [Dokument / Auswertung / Zeitraum]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0718E"/>
                </a:solidFill>
                <a:latin typeface="IBM Plex Sans"/>
              </a:defRPr>
            </a:pPr>
            <a:r>
              <a:t>EMPFEHLUNGEN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41A21"/>
                </a:solidFill>
                <a:latin typeface="IBM Plex Sans"/>
              </a:defRPr>
            </a:pPr>
            <a:r>
              <a:t>Aus der Analyse folgt ein klarer nächster Schritt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E5A68"/>
                </a:solidFill>
                <a:latin typeface="IBM Plex Sans"/>
              </a:defRPr>
            </a:pPr>
            <a:r>
              <a:t>SWW · [Projekttitel] · [Datum]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E5A68"/>
                </a:solidFill>
                <a:latin typeface="IBM Plex San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141A21"/>
                </a:solidFill>
                <a:latin typeface="IBM Plex Sans"/>
              </a:defRPr>
            </a:pPr>
            <a:r>
              <a:t>01  [Empfehlung und Verantwortliche]</a:t>
            </a:r>
          </a:p>
          <a:p>
            <a:pPr>
              <a:spcAft>
                <a:spcPts val="1200"/>
              </a:spcAft>
              <a:defRPr sz="2400" b="0">
                <a:solidFill>
                  <a:srgbClr val="141A21"/>
                </a:solidFill>
                <a:latin typeface="IBM Plex Sans"/>
              </a:defRPr>
            </a:pPr>
            <a:r>
              <a:t>02  [Prüfschritt und Termin]</a:t>
            </a:r>
          </a:p>
          <a:p>
            <a:pPr>
              <a:spcAft>
                <a:spcPts val="1200"/>
              </a:spcAft>
              <a:defRPr sz="2400" b="0">
                <a:solidFill>
                  <a:srgbClr val="141A21"/>
                </a:solidFill>
                <a:latin typeface="IBM Plex Sans"/>
              </a:defRPr>
            </a:pPr>
            <a:r>
              <a:t>03  [Offene Frage und Entscheidung]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4E5A68"/>
                </a:solidFill>
                <a:latin typeface="IBM Plex Sans"/>
              </a:defRPr>
            </a:pPr>
            <a:r>
              <a:t>Das Modell ersetzt keine Abrechnungsentscheidung — es flaggt nur Untersuchungswürdiges.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41A21"/>
      </a:dk1>
      <a:lt1>
        <a:srgbClr val="FFFFFF"/>
      </a:lt1>
      <a:dk2>
        <a:srgbClr val="063659"/>
      </a:dk2>
      <a:lt2>
        <a:srgbClr val="F1F4F7"/>
      </a:lt2>
      <a:accent1>
        <a:srgbClr val="084878"/>
      </a:accent1>
      <a:accent2>
        <a:srgbClr val="0080A0"/>
      </a:accent2>
      <a:accent3>
        <a:srgbClr val="2F7A33"/>
      </a:accent3>
      <a:accent4>
        <a:srgbClr val="0090C8"/>
      </a:accent4>
      <a:accent5>
        <a:srgbClr val="A86505"/>
      </a:accent5>
      <a:accent6>
        <a:srgbClr val="B3261E"/>
      </a:accent6>
      <a:hlink>
        <a:srgbClr val="00718E"/>
      </a:hlink>
      <a:folHlink>
        <a:srgbClr val="084878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SWW Projektvorlage</dc:title>
  <dc:subject/>
  <dc:creator>StadtWerke Westhafen · Gruppe 6</dc:creator>
  <cp:keywords/>
  <dc:description>generated using python-pptx</dc:description>
  <cp:lastModifiedBy>Steve Canny</cp:lastModifiedBy>
  <cp:revision>1</cp:revision>
  <dcterms:created xsi:type="dcterms:W3CDTF">2026-09-16T00:00:00Z</dcterms:created>
  <dcterms:modified xsi:type="dcterms:W3CDTF">2026-09-16T00:00:00Z</dcterms:modified>
  <cp:category/>
</cp:coreProperties>
</file>